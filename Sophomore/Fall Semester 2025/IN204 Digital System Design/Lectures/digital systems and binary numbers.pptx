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69" r:id="rId4"/>
    <p:sldId id="268" r:id="rId5"/>
    <p:sldId id="264" r:id="rId6"/>
    <p:sldId id="265" r:id="rId7"/>
    <p:sldId id="266" r:id="rId8"/>
    <p:sldId id="259" r:id="rId9"/>
    <p:sldId id="260" r:id="rId10"/>
    <p:sldId id="261" r:id="rId11"/>
    <p:sldId id="262" r:id="rId12"/>
    <p:sldId id="342" r:id="rId13"/>
    <p:sldId id="267" r:id="rId14"/>
    <p:sldId id="270" r:id="rId15"/>
    <p:sldId id="272" r:id="rId16"/>
    <p:sldId id="273" r:id="rId17"/>
    <p:sldId id="276" r:id="rId18"/>
    <p:sldId id="277" r:id="rId19"/>
    <p:sldId id="278" r:id="rId20"/>
    <p:sldId id="343" r:id="rId21"/>
    <p:sldId id="271" r:id="rId22"/>
    <p:sldId id="279" r:id="rId23"/>
    <p:sldId id="280" r:id="rId24"/>
    <p:sldId id="369" r:id="rId25"/>
    <p:sldId id="281" r:id="rId26"/>
    <p:sldId id="370" r:id="rId27"/>
    <p:sldId id="282" r:id="rId28"/>
    <p:sldId id="371" r:id="rId29"/>
    <p:sldId id="275" r:id="rId30"/>
    <p:sldId id="372" r:id="rId31"/>
    <p:sldId id="286" r:id="rId32"/>
    <p:sldId id="284" r:id="rId33"/>
    <p:sldId id="373" r:id="rId34"/>
    <p:sldId id="285" r:id="rId35"/>
    <p:sldId id="374" r:id="rId36"/>
    <p:sldId id="333" r:id="rId37"/>
    <p:sldId id="338" r:id="rId38"/>
    <p:sldId id="347" r:id="rId39"/>
    <p:sldId id="334" r:id="rId40"/>
    <p:sldId id="339" r:id="rId41"/>
    <p:sldId id="335" r:id="rId42"/>
    <p:sldId id="336" r:id="rId43"/>
    <p:sldId id="337" r:id="rId44"/>
    <p:sldId id="344" r:id="rId45"/>
    <p:sldId id="287" r:id="rId46"/>
    <p:sldId id="289" r:id="rId47"/>
    <p:sldId id="290" r:id="rId48"/>
    <p:sldId id="288" r:id="rId49"/>
    <p:sldId id="291" r:id="rId50"/>
    <p:sldId id="293" r:id="rId51"/>
    <p:sldId id="294" r:id="rId52"/>
    <p:sldId id="292" r:id="rId53"/>
    <p:sldId id="295" r:id="rId54"/>
    <p:sldId id="297" r:id="rId55"/>
    <p:sldId id="316" r:id="rId56"/>
    <p:sldId id="317" r:id="rId57"/>
    <p:sldId id="296" r:id="rId58"/>
    <p:sldId id="298" r:id="rId59"/>
    <p:sldId id="299" r:id="rId60"/>
    <p:sldId id="300" r:id="rId61"/>
    <p:sldId id="302" r:id="rId62"/>
    <p:sldId id="304" r:id="rId63"/>
    <p:sldId id="301" r:id="rId64"/>
    <p:sldId id="305" r:id="rId65"/>
    <p:sldId id="306" r:id="rId66"/>
    <p:sldId id="307" r:id="rId67"/>
    <p:sldId id="308" r:id="rId68"/>
    <p:sldId id="309" r:id="rId69"/>
    <p:sldId id="310" r:id="rId70"/>
    <p:sldId id="311" r:id="rId71"/>
    <p:sldId id="312" r:id="rId72"/>
    <p:sldId id="315" r:id="rId73"/>
    <p:sldId id="313" r:id="rId74"/>
    <p:sldId id="314" r:id="rId75"/>
    <p:sldId id="319" r:id="rId76"/>
    <p:sldId id="320" r:id="rId77"/>
    <p:sldId id="321" r:id="rId78"/>
    <p:sldId id="322" r:id="rId79"/>
    <p:sldId id="324" r:id="rId80"/>
    <p:sldId id="329" r:id="rId81"/>
    <p:sldId id="323" r:id="rId82"/>
    <p:sldId id="327" r:id="rId83"/>
    <p:sldId id="326" r:id="rId84"/>
    <p:sldId id="330" r:id="rId85"/>
    <p:sldId id="328" r:id="rId86"/>
    <p:sldId id="325" r:id="rId87"/>
    <p:sldId id="331" r:id="rId88"/>
    <p:sldId id="332" r:id="rId89"/>
    <p:sldId id="345" r:id="rId90"/>
    <p:sldId id="340" r:id="rId91"/>
    <p:sldId id="341" r:id="rId92"/>
    <p:sldId id="346" r:id="rId93"/>
    <p:sldId id="348" r:id="rId94"/>
    <p:sldId id="349" r:id="rId95"/>
    <p:sldId id="350" r:id="rId96"/>
    <p:sldId id="351" r:id="rId97"/>
    <p:sldId id="358" r:id="rId98"/>
    <p:sldId id="352" r:id="rId99"/>
    <p:sldId id="353" r:id="rId100"/>
    <p:sldId id="354" r:id="rId101"/>
    <p:sldId id="355" r:id="rId102"/>
    <p:sldId id="357" r:id="rId103"/>
    <p:sldId id="356" r:id="rId104"/>
    <p:sldId id="359" r:id="rId105"/>
    <p:sldId id="361" r:id="rId106"/>
    <p:sldId id="360" r:id="rId107"/>
    <p:sldId id="362" r:id="rId108"/>
    <p:sldId id="363" r:id="rId109"/>
    <p:sldId id="364" r:id="rId110"/>
    <p:sldId id="368" r:id="rId111"/>
    <p:sldId id="365" r:id="rId112"/>
    <p:sldId id="366" r:id="rId113"/>
    <p:sldId id="367" r:id="rId114"/>
    <p:sldId id="375" r:id="rId1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/>
          <p:cNvSpPr txBox="1">
            <a:spLocks/>
          </p:cNvSpPr>
          <p:nvPr/>
        </p:nvSpPr>
        <p:spPr>
          <a:xfrm>
            <a:off x="0" y="2116476"/>
            <a:ext cx="12192000" cy="1385297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Lecture 1</a:t>
            </a:r>
          </a:p>
          <a:p>
            <a:r>
              <a:rPr lang="en-US" altLang="zh-TW" sz="4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Digital </a:t>
            </a:r>
            <a:r>
              <a:rPr lang="en-US" altLang="zh-TW" sz="4400" b="1" dirty="0">
                <a:solidFill>
                  <a:schemeClr val="bg1"/>
                </a:solidFill>
                <a:cs typeface="Arial" panose="020B0604020202020204" pitchFamily="34" charset="0"/>
              </a:rPr>
              <a:t>Systems and Binary </a:t>
            </a:r>
            <a:r>
              <a:rPr lang="en-US" altLang="zh-TW" sz="4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Numbers</a:t>
            </a:r>
            <a:endParaRPr lang="en-US" altLang="zh-TW" sz="4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副標題 4"/>
          <p:cNvSpPr>
            <a:spLocks noGrp="1"/>
          </p:cNvSpPr>
          <p:nvPr>
            <p:ph type="subTitle" idx="1"/>
          </p:nvPr>
        </p:nvSpPr>
        <p:spPr>
          <a:xfrm>
            <a:off x="0" y="3598523"/>
            <a:ext cx="12191999" cy="726897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>
            <a:normAutofit fontScale="92500" lnSpcReduction="10000"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cs typeface="Arial" panose="020B0604020202020204" pitchFamily="34" charset="0"/>
              </a:rPr>
              <a:t>Digital Systems</a:t>
            </a:r>
            <a:endParaRPr lang="en-US" altLang="zh-TW" sz="40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850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950103" y="1082820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Digital Circuit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4224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2" name="Picture 4" descr="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30" y="1752486"/>
            <a:ext cx="3990061" cy="2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字方塊 33"/>
          <p:cNvSpPr txBox="1"/>
          <p:nvPr/>
        </p:nvSpPr>
        <p:spPr>
          <a:xfrm>
            <a:off x="4950103" y="1082820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Digital Circuit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7988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2" name="Picture 4" descr="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30" y="1752486"/>
            <a:ext cx="3990061" cy="2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手繪多邊形 18"/>
          <p:cNvSpPr/>
          <p:nvPr/>
        </p:nvSpPr>
        <p:spPr>
          <a:xfrm flipV="1">
            <a:off x="3029256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4" name="Picture 6" descr="Small Logic Gates — The building blocks of digital circuits - Part 2 | Nuts  &amp;amp; Volts Magaz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4" b="2937"/>
          <a:stretch/>
        </p:blipFill>
        <p:spPr bwMode="auto">
          <a:xfrm>
            <a:off x="3029257" y="4457700"/>
            <a:ext cx="6116417" cy="226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字方塊 33"/>
          <p:cNvSpPr txBox="1"/>
          <p:nvPr/>
        </p:nvSpPr>
        <p:spPr>
          <a:xfrm>
            <a:off x="4950103" y="1082820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Digital Circuit</a:t>
            </a:r>
            <a:endParaRPr lang="zh-TW" altLang="en-US" sz="28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142334" y="3918901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Logic Gates</a:t>
            </a:r>
            <a:endParaRPr lang="zh-TW" altLang="en-US" sz="2800" dirty="0"/>
          </a:p>
        </p:txBody>
      </p:sp>
      <p:sp>
        <p:nvSpPr>
          <p:cNvPr id="15" name="手繪多邊形 14"/>
          <p:cNvSpPr/>
          <p:nvPr/>
        </p:nvSpPr>
        <p:spPr>
          <a:xfrm flipH="1" flipV="1">
            <a:off x="8077501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54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2" name="Picture 4" descr="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30" y="1752486"/>
            <a:ext cx="3990061" cy="2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手繪多邊形 18"/>
          <p:cNvSpPr/>
          <p:nvPr/>
        </p:nvSpPr>
        <p:spPr>
          <a:xfrm flipV="1">
            <a:off x="3029256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4" name="Picture 6" descr="Small Logic Gates — The building blocks of digital circuits - Part 2 | Nuts  &amp;amp; Volts Magaz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4" b="2937"/>
          <a:stretch/>
        </p:blipFill>
        <p:spPr bwMode="auto">
          <a:xfrm>
            <a:off x="3029257" y="4457700"/>
            <a:ext cx="6116417" cy="226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手繪多邊形 23"/>
          <p:cNvSpPr/>
          <p:nvPr/>
        </p:nvSpPr>
        <p:spPr>
          <a:xfrm flipH="1" flipV="1">
            <a:off x="8077501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" name="直線單箭頭接點 29"/>
          <p:cNvCxnSpPr/>
          <p:nvPr/>
        </p:nvCxnSpPr>
        <p:spPr>
          <a:xfrm>
            <a:off x="390965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1013091" y="1129928"/>
            <a:ext cx="2063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Digital signal</a:t>
            </a:r>
            <a:endParaRPr lang="zh-TW" altLang="en-US" sz="28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4950103" y="1082820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Digital Circuit</a:t>
            </a:r>
            <a:endParaRPr lang="zh-TW" altLang="en-US" sz="28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142334" y="3918901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Logic Gates</a:t>
            </a:r>
            <a:endParaRPr lang="zh-TW" altLang="en-US" sz="2800" dirty="0"/>
          </a:p>
        </p:txBody>
      </p:sp>
      <p:pic>
        <p:nvPicPr>
          <p:cNvPr id="37" name="Picture 8" descr="Analog vs. Digital Signals: Uses, Advantages and Disadvantages | Article |  MP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8" t="21236" r="11915" b="9025"/>
          <a:stretch/>
        </p:blipFill>
        <p:spPr bwMode="auto">
          <a:xfrm>
            <a:off x="273133" y="2175787"/>
            <a:ext cx="3543300" cy="11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60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2" name="Picture 4" descr="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30" y="1752486"/>
            <a:ext cx="3990061" cy="2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手繪多邊形 18"/>
          <p:cNvSpPr/>
          <p:nvPr/>
        </p:nvSpPr>
        <p:spPr>
          <a:xfrm flipV="1">
            <a:off x="3029256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4" name="Picture 6" descr="Small Logic Gates — The building blocks of digital circuits - Part 2 | Nuts  &amp;amp; Volts Magaz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4" b="2937"/>
          <a:stretch/>
        </p:blipFill>
        <p:spPr bwMode="auto">
          <a:xfrm>
            <a:off x="3029257" y="4457700"/>
            <a:ext cx="6116417" cy="226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手繪多邊形 23"/>
          <p:cNvSpPr/>
          <p:nvPr/>
        </p:nvSpPr>
        <p:spPr>
          <a:xfrm flipH="1" flipV="1">
            <a:off x="8077501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808749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390965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1013091" y="1129928"/>
            <a:ext cx="2063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Digital signal</a:t>
            </a:r>
            <a:endParaRPr lang="zh-TW" altLang="en-US" sz="2800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8468910" y="1082820"/>
            <a:ext cx="2063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Digital signal</a:t>
            </a:r>
            <a:endParaRPr lang="zh-TW" altLang="en-US" sz="28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4950103" y="1082820"/>
            <a:ext cx="2117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Digital Circuit</a:t>
            </a:r>
            <a:endParaRPr lang="zh-TW" altLang="en-US" sz="28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5142334" y="3918901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Logic Gates</a:t>
            </a:r>
            <a:endParaRPr lang="zh-TW" altLang="en-US" sz="2800" dirty="0"/>
          </a:p>
        </p:txBody>
      </p:sp>
      <p:pic>
        <p:nvPicPr>
          <p:cNvPr id="36" name="Picture 8" descr="Physical Layer Digital Signals Lecture ppt download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6" t="33738" r="14563" b="30868"/>
          <a:stretch/>
        </p:blipFill>
        <p:spPr bwMode="auto">
          <a:xfrm>
            <a:off x="8352158" y="2068804"/>
            <a:ext cx="3608614" cy="138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Analog vs. Digital Signals: Uses, Advantages and Disadvantages | Article |  MP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8" t="21236" r="11915" b="9025"/>
          <a:stretch/>
        </p:blipFill>
        <p:spPr bwMode="auto">
          <a:xfrm>
            <a:off x="273133" y="2175787"/>
            <a:ext cx="3543300" cy="11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33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2" name="Picture 4" descr="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30" y="1752486"/>
            <a:ext cx="3990061" cy="2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手繪多邊形 18"/>
          <p:cNvSpPr/>
          <p:nvPr/>
        </p:nvSpPr>
        <p:spPr>
          <a:xfrm flipV="1">
            <a:off x="3029256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4" name="Picture 6" descr="Small Logic Gates — The building blocks of digital circuits - Part 2 | Nuts  &amp;amp; Volts Magaz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4" b="2937"/>
          <a:stretch/>
        </p:blipFill>
        <p:spPr bwMode="auto">
          <a:xfrm>
            <a:off x="3029257" y="4457700"/>
            <a:ext cx="6116417" cy="226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手繪多邊形 23"/>
          <p:cNvSpPr/>
          <p:nvPr/>
        </p:nvSpPr>
        <p:spPr>
          <a:xfrm flipH="1" flipV="1">
            <a:off x="8077501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808749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390965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5142334" y="3918901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Logic Gates</a:t>
            </a:r>
            <a:endParaRPr lang="zh-TW" altLang="en-US" sz="2800" dirty="0"/>
          </a:p>
        </p:txBody>
      </p:sp>
      <p:pic>
        <p:nvPicPr>
          <p:cNvPr id="36" name="Picture 8" descr="Physical Layer Digital Signals Lecture ppt download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6" t="33738" r="14563" b="30868"/>
          <a:stretch/>
        </p:blipFill>
        <p:spPr bwMode="auto">
          <a:xfrm>
            <a:off x="8352158" y="2068804"/>
            <a:ext cx="3608614" cy="138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Analog vs. Digital Signals: Uses, Advantages and Disadvantages | Article |  MP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8" t="21236" r="11915" b="9025"/>
          <a:stretch/>
        </p:blipFill>
        <p:spPr bwMode="auto">
          <a:xfrm>
            <a:off x="273133" y="2175787"/>
            <a:ext cx="3543300" cy="11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00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2" name="Picture 4" descr="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30" y="1752486"/>
            <a:ext cx="3990061" cy="2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手繪多邊形 18"/>
          <p:cNvSpPr/>
          <p:nvPr/>
        </p:nvSpPr>
        <p:spPr>
          <a:xfrm flipV="1">
            <a:off x="3029256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4" name="Picture 6" descr="Small Logic Gates — The building blocks of digital circuits - Part 2 | Nuts  &amp;amp; Volts Magaz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4" b="2937"/>
          <a:stretch/>
        </p:blipFill>
        <p:spPr bwMode="auto">
          <a:xfrm>
            <a:off x="3029257" y="4457700"/>
            <a:ext cx="6116417" cy="226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手繪多邊形 23"/>
          <p:cNvSpPr/>
          <p:nvPr/>
        </p:nvSpPr>
        <p:spPr>
          <a:xfrm flipH="1" flipV="1">
            <a:off x="8077501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808749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390965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5142334" y="3918901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Logic Gates</a:t>
            </a:r>
            <a:endParaRPr lang="zh-TW" altLang="en-US" sz="2800" dirty="0"/>
          </a:p>
        </p:txBody>
      </p:sp>
      <p:pic>
        <p:nvPicPr>
          <p:cNvPr id="36" name="Picture 8" descr="Physical Layer Digital Signals Lecture ppt download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6" t="33738" r="14563" b="30868"/>
          <a:stretch/>
        </p:blipFill>
        <p:spPr bwMode="auto">
          <a:xfrm>
            <a:off x="8352158" y="2068804"/>
            <a:ext cx="3608614" cy="138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104890" y="3351652"/>
            <a:ext cx="395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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Binary number system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16" name="Picture 8" descr="Analog vs. Digital Signals: Uses, Advantages and Disadvantages | Article |  MP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8" t="21236" r="11915" b="9025"/>
          <a:stretch/>
        </p:blipFill>
        <p:spPr bwMode="auto">
          <a:xfrm>
            <a:off x="273133" y="2175787"/>
            <a:ext cx="3543300" cy="11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127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2" name="Picture 4" descr="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30" y="1752486"/>
            <a:ext cx="3990061" cy="2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手繪多邊形 18"/>
          <p:cNvSpPr/>
          <p:nvPr/>
        </p:nvSpPr>
        <p:spPr>
          <a:xfrm flipV="1">
            <a:off x="3029256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4" name="Picture 6" descr="Small Logic Gates — The building blocks of digital circuits - Part 2 | Nuts  &amp;amp; Volts Magaz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4" b="2937"/>
          <a:stretch/>
        </p:blipFill>
        <p:spPr bwMode="auto">
          <a:xfrm>
            <a:off x="3029257" y="4457700"/>
            <a:ext cx="6116417" cy="226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手繪多邊形 23"/>
          <p:cNvSpPr/>
          <p:nvPr/>
        </p:nvSpPr>
        <p:spPr>
          <a:xfrm flipH="1" flipV="1">
            <a:off x="8077501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6" name="Picture 8" descr="Analog vs. Digital Signals: Uses, Advantages and Disadvantages | Article |  MP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8" t="21236" r="11915" b="9025"/>
          <a:stretch/>
        </p:blipFill>
        <p:spPr bwMode="auto">
          <a:xfrm>
            <a:off x="273133" y="2175787"/>
            <a:ext cx="3543300" cy="11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直線單箭頭接點 20"/>
          <p:cNvCxnSpPr/>
          <p:nvPr/>
        </p:nvCxnSpPr>
        <p:spPr>
          <a:xfrm>
            <a:off x="808749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390965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5142334" y="3918901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Logic Gates</a:t>
            </a:r>
            <a:endParaRPr lang="zh-TW" altLang="en-US" sz="2800" dirty="0"/>
          </a:p>
        </p:txBody>
      </p:sp>
      <p:pic>
        <p:nvPicPr>
          <p:cNvPr id="36" name="Picture 8" descr="Physical Layer Digital Signals Lecture ppt download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6" t="33738" r="14563" b="30868"/>
          <a:stretch/>
        </p:blipFill>
        <p:spPr bwMode="auto">
          <a:xfrm>
            <a:off x="8352158" y="2068804"/>
            <a:ext cx="3608614" cy="138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字方塊 15"/>
          <p:cNvSpPr txBox="1"/>
          <p:nvPr/>
        </p:nvSpPr>
        <p:spPr>
          <a:xfrm>
            <a:off x="-81211" y="6211566"/>
            <a:ext cx="3110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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Boolean Algebra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104890" y="3351652"/>
            <a:ext cx="395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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Binary number system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55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2" name="Picture 4" descr="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30" y="1752486"/>
            <a:ext cx="3990061" cy="2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手繪多邊形 18"/>
          <p:cNvSpPr/>
          <p:nvPr/>
        </p:nvSpPr>
        <p:spPr>
          <a:xfrm flipV="1">
            <a:off x="3029256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4" name="Picture 6" descr="Small Logic Gates — The building blocks of digital circuits - Part 2 | Nuts  &amp;amp; Volts Magaz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4" b="2937"/>
          <a:stretch/>
        </p:blipFill>
        <p:spPr bwMode="auto">
          <a:xfrm>
            <a:off x="3029257" y="4457700"/>
            <a:ext cx="6116417" cy="226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手繪多邊形 23"/>
          <p:cNvSpPr/>
          <p:nvPr/>
        </p:nvSpPr>
        <p:spPr>
          <a:xfrm flipH="1" flipV="1">
            <a:off x="8077501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6" name="Picture 8" descr="Analog vs. Digital Signals: Uses, Advantages and Disadvantages | Article |  MP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8" t="21236" r="11915" b="9025"/>
          <a:stretch/>
        </p:blipFill>
        <p:spPr bwMode="auto">
          <a:xfrm>
            <a:off x="273133" y="2175787"/>
            <a:ext cx="3543300" cy="11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直線單箭頭接點 29"/>
          <p:cNvCxnSpPr/>
          <p:nvPr/>
        </p:nvCxnSpPr>
        <p:spPr>
          <a:xfrm>
            <a:off x="390965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5142334" y="3918901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Logic Gates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82951" y="974713"/>
            <a:ext cx="4960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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Combinational Circuit Design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-81211" y="6211566"/>
            <a:ext cx="3110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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Boolean Algebra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04890" y="3351652"/>
            <a:ext cx="395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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Binary number system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27" name="Picture 8" descr="Physical Layer Digital Signals Lecture ppt download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6" t="33738" r="14563" b="30868"/>
          <a:stretch/>
        </p:blipFill>
        <p:spPr bwMode="auto">
          <a:xfrm>
            <a:off x="8352158" y="2068804"/>
            <a:ext cx="3608614" cy="138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線單箭頭接點 27"/>
          <p:cNvCxnSpPr/>
          <p:nvPr/>
        </p:nvCxnSpPr>
        <p:spPr>
          <a:xfrm>
            <a:off x="808749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手繪多邊形 28"/>
          <p:cNvSpPr/>
          <p:nvPr/>
        </p:nvSpPr>
        <p:spPr>
          <a:xfrm>
            <a:off x="3347357" y="1412421"/>
            <a:ext cx="759279" cy="342900"/>
          </a:xfrm>
          <a:custGeom>
            <a:avLst/>
            <a:gdLst>
              <a:gd name="connsiteX0" fmla="*/ 759279 w 759279"/>
              <a:gd name="connsiteY0" fmla="*/ 342900 h 342900"/>
              <a:gd name="connsiteX1" fmla="*/ 179614 w 759279"/>
              <a:gd name="connsiteY1" fmla="*/ 261258 h 342900"/>
              <a:gd name="connsiteX2" fmla="*/ 0 w 759279"/>
              <a:gd name="connsiteY2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9279" h="342900">
                <a:moveTo>
                  <a:pt x="759279" y="342900"/>
                </a:moveTo>
                <a:cubicBezTo>
                  <a:pt x="532719" y="330654"/>
                  <a:pt x="306160" y="318408"/>
                  <a:pt x="179614" y="261258"/>
                </a:cubicBezTo>
                <a:cubicBezTo>
                  <a:pt x="53067" y="204108"/>
                  <a:pt x="26533" y="102054"/>
                  <a:pt x="0" y="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64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118482"/>
            <a:ext cx="12192000" cy="710359"/>
          </a:xfrm>
          <a:solidFill>
            <a:srgbClr val="C00000"/>
          </a:solidFill>
        </p:spPr>
        <p:txBody>
          <a:bodyPr/>
          <a:lstStyle/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Course Topics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2" name="Picture 4" descr="Logic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430" y="1752486"/>
            <a:ext cx="3990061" cy="201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手繪多邊形 18"/>
          <p:cNvSpPr/>
          <p:nvPr/>
        </p:nvSpPr>
        <p:spPr>
          <a:xfrm flipV="1">
            <a:off x="3029256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4" name="Picture 6" descr="Small Logic Gates — The building blocks of digital circuits - Part 2 | Nuts  &amp;amp; Volts Magazin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14" b="2937"/>
          <a:stretch/>
        </p:blipFill>
        <p:spPr bwMode="auto">
          <a:xfrm>
            <a:off x="3029257" y="4457700"/>
            <a:ext cx="6116417" cy="226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手繪多邊形 23"/>
          <p:cNvSpPr/>
          <p:nvPr/>
        </p:nvSpPr>
        <p:spPr>
          <a:xfrm flipH="1" flipV="1">
            <a:off x="8077501" y="3766190"/>
            <a:ext cx="1068173" cy="691510"/>
          </a:xfrm>
          <a:custGeom>
            <a:avLst/>
            <a:gdLst>
              <a:gd name="connsiteX0" fmla="*/ 0 w 334736"/>
              <a:gd name="connsiteY0" fmla="*/ 0 h 514350"/>
              <a:gd name="connsiteX1" fmla="*/ 269422 w 334736"/>
              <a:gd name="connsiteY1" fmla="*/ 261257 h 514350"/>
              <a:gd name="connsiteX2" fmla="*/ 334736 w 334736"/>
              <a:gd name="connsiteY2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4736" h="514350">
                <a:moveTo>
                  <a:pt x="0" y="0"/>
                </a:moveTo>
                <a:cubicBezTo>
                  <a:pt x="106816" y="87766"/>
                  <a:pt x="213633" y="175532"/>
                  <a:pt x="269422" y="261257"/>
                </a:cubicBezTo>
                <a:cubicBezTo>
                  <a:pt x="325211" y="346982"/>
                  <a:pt x="329973" y="430666"/>
                  <a:pt x="334736" y="51435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6" name="Picture 8" descr="Analog vs. Digital Signals: Uses, Advantages and Disadvantages | Article |  MP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8" t="21236" r="11915" b="9025"/>
          <a:stretch/>
        </p:blipFill>
        <p:spPr bwMode="auto">
          <a:xfrm>
            <a:off x="273133" y="2175787"/>
            <a:ext cx="3543300" cy="11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直線單箭頭接點 29"/>
          <p:cNvCxnSpPr/>
          <p:nvPr/>
        </p:nvCxnSpPr>
        <p:spPr>
          <a:xfrm>
            <a:off x="390965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5142334" y="3918901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Logic Gates</a:t>
            </a:r>
            <a:endParaRPr lang="zh-TW" altLang="en-US" sz="28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82951" y="974713"/>
            <a:ext cx="49607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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Combinational Circuit Design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-81211" y="6211566"/>
            <a:ext cx="3110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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Boolean Algebra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04890" y="3351652"/>
            <a:ext cx="3954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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Binary number system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032595" y="974713"/>
            <a:ext cx="4309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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Sequential Circuit Design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27" name="Picture 8" descr="Physical Layer Digital Signals Lecture ppt download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6" t="33738" r="14563" b="30868"/>
          <a:stretch/>
        </p:blipFill>
        <p:spPr bwMode="auto">
          <a:xfrm>
            <a:off x="8352158" y="2068804"/>
            <a:ext cx="3608614" cy="1381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手繪多邊形 2"/>
          <p:cNvSpPr/>
          <p:nvPr/>
        </p:nvSpPr>
        <p:spPr>
          <a:xfrm>
            <a:off x="3347357" y="1412421"/>
            <a:ext cx="759279" cy="342900"/>
          </a:xfrm>
          <a:custGeom>
            <a:avLst/>
            <a:gdLst>
              <a:gd name="connsiteX0" fmla="*/ 759279 w 759279"/>
              <a:gd name="connsiteY0" fmla="*/ 342900 h 342900"/>
              <a:gd name="connsiteX1" fmla="*/ 179614 w 759279"/>
              <a:gd name="connsiteY1" fmla="*/ 261258 h 342900"/>
              <a:gd name="connsiteX2" fmla="*/ 0 w 759279"/>
              <a:gd name="connsiteY2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9279" h="342900">
                <a:moveTo>
                  <a:pt x="759279" y="342900"/>
                </a:moveTo>
                <a:cubicBezTo>
                  <a:pt x="532719" y="330654"/>
                  <a:pt x="306160" y="318408"/>
                  <a:pt x="179614" y="261258"/>
                </a:cubicBezTo>
                <a:cubicBezTo>
                  <a:pt x="53067" y="204108"/>
                  <a:pt x="26533" y="102054"/>
                  <a:pt x="0" y="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>
            <a:off x="8087491" y="1423829"/>
            <a:ext cx="759279" cy="342900"/>
          </a:xfrm>
          <a:custGeom>
            <a:avLst/>
            <a:gdLst>
              <a:gd name="connsiteX0" fmla="*/ 759279 w 759279"/>
              <a:gd name="connsiteY0" fmla="*/ 342900 h 342900"/>
              <a:gd name="connsiteX1" fmla="*/ 179614 w 759279"/>
              <a:gd name="connsiteY1" fmla="*/ 261258 h 342900"/>
              <a:gd name="connsiteX2" fmla="*/ 0 w 759279"/>
              <a:gd name="connsiteY2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9279" h="342900">
                <a:moveTo>
                  <a:pt x="759279" y="342900"/>
                </a:moveTo>
                <a:cubicBezTo>
                  <a:pt x="532719" y="330654"/>
                  <a:pt x="306160" y="318408"/>
                  <a:pt x="179614" y="261258"/>
                </a:cubicBezTo>
                <a:cubicBezTo>
                  <a:pt x="53067" y="204108"/>
                  <a:pt x="26533" y="102054"/>
                  <a:pt x="0" y="0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/>
          <p:cNvCxnSpPr/>
          <p:nvPr/>
        </p:nvCxnSpPr>
        <p:spPr>
          <a:xfrm>
            <a:off x="8087491" y="2759338"/>
            <a:ext cx="18777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34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/>
          <p:cNvSpPr txBox="1">
            <a:spLocks/>
          </p:cNvSpPr>
          <p:nvPr/>
        </p:nvSpPr>
        <p:spPr>
          <a:xfrm>
            <a:off x="0" y="2116476"/>
            <a:ext cx="12192000" cy="1385297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>
                <a:solidFill>
                  <a:schemeClr val="bg1"/>
                </a:solidFill>
                <a:cs typeface="Arial" panose="020B0604020202020204" pitchFamily="34" charset="0"/>
              </a:rPr>
              <a:t>Digital Systems and Binary Numbers</a:t>
            </a:r>
            <a:endParaRPr lang="en-US" altLang="zh-TW" sz="5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副標題 4"/>
          <p:cNvSpPr>
            <a:spLocks noGrp="1"/>
          </p:cNvSpPr>
          <p:nvPr>
            <p:ph type="subTitle" idx="1"/>
          </p:nvPr>
        </p:nvSpPr>
        <p:spPr>
          <a:xfrm>
            <a:off x="0" y="3598523"/>
            <a:ext cx="12191999" cy="726897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>
            <a:normAutofit fontScale="92500" lnSpcReduction="10000"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cs typeface="Arial" panose="020B0604020202020204" pitchFamily="34" charset="0"/>
              </a:rPr>
              <a:t>Binary Numbers</a:t>
            </a:r>
            <a:endParaRPr lang="en-US" altLang="zh-TW" sz="40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597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棕櫚矢量圖（雙手） 6398696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72"/>
          <a:stretch/>
        </p:blipFill>
        <p:spPr bwMode="auto">
          <a:xfrm>
            <a:off x="363775" y="2881992"/>
            <a:ext cx="5879531" cy="375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線單箭頭接點 4"/>
          <p:cNvCxnSpPr/>
          <p:nvPr/>
        </p:nvCxnSpPr>
        <p:spPr>
          <a:xfrm>
            <a:off x="5753100" y="2112826"/>
            <a:ext cx="34290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/>
          <p:cNvSpPr txBox="1"/>
          <p:nvPr/>
        </p:nvSpPr>
        <p:spPr>
          <a:xfrm>
            <a:off x="6575425" y="1574217"/>
            <a:ext cx="47107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We like to count by decimal number (base-10)</a:t>
            </a:r>
            <a:endParaRPr lang="zh-TW" altLang="en-US" sz="3200" dirty="0"/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bg1"/>
                </a:solidFill>
                <a:cs typeface="Arial" panose="020B0604020202020204" pitchFamily="34" charset="0"/>
              </a:rPr>
              <a:t>Numbers system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1030" name="Picture 6" descr="彩色手绘算盘免抠素材免费下载_觅元素51yuansu.co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0628" r="5255" b="8975"/>
          <a:stretch/>
        </p:blipFill>
        <p:spPr bwMode="auto">
          <a:xfrm>
            <a:off x="6474278" y="2881992"/>
            <a:ext cx="5258037" cy="375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/>
          <p:cNvSpPr txBox="1"/>
          <p:nvPr/>
        </p:nvSpPr>
        <p:spPr>
          <a:xfrm>
            <a:off x="946432" y="1820438"/>
            <a:ext cx="47107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We have 10 fingers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8497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1201529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 smtClean="0">
                <a:solidFill>
                  <a:srgbClr val="C00000"/>
                </a:solidFill>
              </a:rPr>
              <a:t>Computer only accept binary number and output binary number 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9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bg1"/>
                </a:solidFill>
                <a:cs typeface="Arial" panose="020B0604020202020204" pitchFamily="34" charset="0"/>
              </a:rPr>
              <a:t>Numbers system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Laughing new modern desktop computer cartoon Vector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09"/>
          <a:stretch/>
        </p:blipFill>
        <p:spPr bwMode="auto">
          <a:xfrm>
            <a:off x="3913640" y="2274168"/>
            <a:ext cx="4261304" cy="395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mputer Icons Binary File Clip Art - Icon - Free Transparent PNG Clipart  Images Downlo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81" y="2273730"/>
            <a:ext cx="3135086" cy="395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直線單箭頭接點 13"/>
          <p:cNvCxnSpPr/>
          <p:nvPr/>
        </p:nvCxnSpPr>
        <p:spPr>
          <a:xfrm>
            <a:off x="3467100" y="4264263"/>
            <a:ext cx="34290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6" name="Picture 8" descr="https://banner2.cleanpng.com/20180411/obe/kisspng-binary-file-computer-icons-binary-code-binary-numb-ai-5acec9750924d1.0733277315235014290375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1" t="2208" r="11764" b="2382"/>
          <a:stretch/>
        </p:blipFill>
        <p:spPr bwMode="auto">
          <a:xfrm>
            <a:off x="8850310" y="2273292"/>
            <a:ext cx="3205841" cy="3961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單箭頭接點 16"/>
          <p:cNvCxnSpPr/>
          <p:nvPr/>
        </p:nvCxnSpPr>
        <p:spPr>
          <a:xfrm>
            <a:off x="8341177" y="4341676"/>
            <a:ext cx="34290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05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bg1"/>
                </a:solidFill>
                <a:cs typeface="Arial" panose="020B0604020202020204" pitchFamily="34" charset="0"/>
              </a:rPr>
              <a:t>Numbers system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3076" name="Picture 4" descr="How To Convert Decimal to Binary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9307"/>
            <a:ext cx="12192000" cy="562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62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>
                <a:solidFill>
                  <a:schemeClr val="bg1"/>
                </a:solidFill>
                <a:cs typeface="Arial" panose="020B0604020202020204" pitchFamily="34" charset="0"/>
              </a:rPr>
              <a:t>Numbers system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pic>
        <p:nvPicPr>
          <p:cNvPr id="4098" name="Picture 2" descr="How To Convert Binary To Decimal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0932"/>
            <a:ext cx="12192000" cy="579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09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5208416" y="2475202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50</a:t>
            </a:r>
            <a:r>
              <a:rPr lang="en-US" altLang="zh-TW" sz="3200" b="1" baseline="-25000" dirty="0" smtClean="0"/>
              <a:t>10</a:t>
            </a:r>
            <a:endParaRPr lang="zh-TW" altLang="en-US" sz="3200" b="1" baseline="-250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4939111" y="189042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Decimal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970828" y="3680461"/>
            <a:ext cx="7873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62</a:t>
            </a:r>
            <a:r>
              <a:rPr lang="en-US" altLang="zh-TW" sz="3200" b="1" baseline="-25000" dirty="0" smtClean="0"/>
              <a:t>8</a:t>
            </a:r>
            <a:endParaRPr lang="zh-TW" altLang="en-US" sz="3200" b="1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790888" y="3644752"/>
            <a:ext cx="1691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110010</a:t>
            </a:r>
            <a:r>
              <a:rPr lang="en-US" altLang="zh-TW" sz="3200" b="1" baseline="-25000" dirty="0" smtClean="0"/>
              <a:t>2</a:t>
            </a:r>
            <a:endParaRPr lang="zh-TW" altLang="en-US" sz="3200" b="1" baseline="-25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7475374" y="3680461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32</a:t>
            </a:r>
            <a:r>
              <a:rPr lang="en-US" altLang="zh-TW" sz="3200" b="1" baseline="-25000" dirty="0" smtClean="0"/>
              <a:t>16</a:t>
            </a:r>
            <a:endParaRPr lang="zh-TW" altLang="en-US" sz="3200" b="1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664280" y="4297896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Octal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014934" y="4297895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inary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772595" y="4297895"/>
            <a:ext cx="2326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Hexadecimal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手繪多邊形 12"/>
          <p:cNvSpPr/>
          <p:nvPr/>
        </p:nvSpPr>
        <p:spPr>
          <a:xfrm>
            <a:off x="3362713" y="3038538"/>
            <a:ext cx="2147207" cy="677636"/>
          </a:xfrm>
          <a:custGeom>
            <a:avLst/>
            <a:gdLst>
              <a:gd name="connsiteX0" fmla="*/ 2147207 w 2147207"/>
              <a:gd name="connsiteY0" fmla="*/ 0 h 677636"/>
              <a:gd name="connsiteX1" fmla="*/ 1338943 w 2147207"/>
              <a:gd name="connsiteY1" fmla="*/ 236765 h 677636"/>
              <a:gd name="connsiteX2" fmla="*/ 0 w 2147207"/>
              <a:gd name="connsiteY2" fmla="*/ 677636 h 677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7207" h="677636">
                <a:moveTo>
                  <a:pt x="2147207" y="0"/>
                </a:moveTo>
                <a:cubicBezTo>
                  <a:pt x="1922009" y="61913"/>
                  <a:pt x="1696811" y="123826"/>
                  <a:pt x="1338943" y="236765"/>
                </a:cubicBezTo>
                <a:cubicBezTo>
                  <a:pt x="981075" y="349704"/>
                  <a:pt x="490537" y="513670"/>
                  <a:pt x="0" y="677636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>
            <a:off x="5591563" y="3063031"/>
            <a:ext cx="49263" cy="636815"/>
          </a:xfrm>
          <a:custGeom>
            <a:avLst/>
            <a:gdLst>
              <a:gd name="connsiteX0" fmla="*/ 0 w 49263"/>
              <a:gd name="connsiteY0" fmla="*/ 0 h 636815"/>
              <a:gd name="connsiteX1" fmla="*/ 48985 w 49263"/>
              <a:gd name="connsiteY1" fmla="*/ 334736 h 636815"/>
              <a:gd name="connsiteX2" fmla="*/ 16328 w 49263"/>
              <a:gd name="connsiteY2" fmla="*/ 636815 h 636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63" h="636815">
                <a:moveTo>
                  <a:pt x="0" y="0"/>
                </a:moveTo>
                <a:cubicBezTo>
                  <a:pt x="23132" y="114300"/>
                  <a:pt x="46264" y="228600"/>
                  <a:pt x="48985" y="334736"/>
                </a:cubicBezTo>
                <a:cubicBezTo>
                  <a:pt x="51706" y="440872"/>
                  <a:pt x="34017" y="538843"/>
                  <a:pt x="16328" y="636815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5705863" y="3079360"/>
            <a:ext cx="2049235" cy="677636"/>
          </a:xfrm>
          <a:custGeom>
            <a:avLst/>
            <a:gdLst>
              <a:gd name="connsiteX0" fmla="*/ 0 w 2049235"/>
              <a:gd name="connsiteY0" fmla="*/ 0 h 677636"/>
              <a:gd name="connsiteX1" fmla="*/ 1012371 w 2049235"/>
              <a:gd name="connsiteY1" fmla="*/ 204107 h 677636"/>
              <a:gd name="connsiteX2" fmla="*/ 2049235 w 2049235"/>
              <a:gd name="connsiteY2" fmla="*/ 677636 h 677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9235" h="677636">
                <a:moveTo>
                  <a:pt x="0" y="0"/>
                </a:moveTo>
                <a:cubicBezTo>
                  <a:pt x="335416" y="45584"/>
                  <a:pt x="670832" y="91168"/>
                  <a:pt x="1012371" y="204107"/>
                </a:cubicBezTo>
                <a:cubicBezTo>
                  <a:pt x="1353910" y="317046"/>
                  <a:pt x="1701572" y="497341"/>
                  <a:pt x="2049235" y="677636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>
            <a:off x="6089585" y="3022211"/>
            <a:ext cx="3755572" cy="734785"/>
          </a:xfrm>
          <a:custGeom>
            <a:avLst/>
            <a:gdLst>
              <a:gd name="connsiteX0" fmla="*/ 0 w 4653643"/>
              <a:gd name="connsiteY0" fmla="*/ 0 h 840921"/>
              <a:gd name="connsiteX1" fmla="*/ 2220686 w 4653643"/>
              <a:gd name="connsiteY1" fmla="*/ 179614 h 840921"/>
              <a:gd name="connsiteX2" fmla="*/ 4653643 w 4653643"/>
              <a:gd name="connsiteY2" fmla="*/ 840921 h 84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3643" h="840921">
                <a:moveTo>
                  <a:pt x="0" y="0"/>
                </a:moveTo>
                <a:cubicBezTo>
                  <a:pt x="722539" y="19730"/>
                  <a:pt x="1445079" y="39461"/>
                  <a:pt x="2220686" y="179614"/>
                </a:cubicBezTo>
                <a:cubicBezTo>
                  <a:pt x="2996293" y="319767"/>
                  <a:pt x="3824968" y="580344"/>
                  <a:pt x="4653643" y="840921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/>
          <p:nvPr/>
        </p:nvCxnSpPr>
        <p:spPr>
          <a:xfrm flipV="1">
            <a:off x="9406448" y="3972848"/>
            <a:ext cx="866189" cy="499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838971" y="533000"/>
            <a:ext cx="10615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 smtClean="0"/>
              <a:t>A number can be represented by any number-based system</a:t>
            </a:r>
          </a:p>
        </p:txBody>
      </p:sp>
    </p:spTree>
    <p:extLst>
      <p:ext uri="{BB962C8B-B14F-4D97-AF65-F5344CB8AC3E}">
        <p14:creationId xmlns:p14="http://schemas.microsoft.com/office/powerpoint/2010/main" val="206812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3205719" y="3328123"/>
            <a:ext cx="7873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62</a:t>
            </a:r>
            <a:r>
              <a:rPr lang="en-US" altLang="zh-TW" sz="3200" b="1" baseline="-25000" dirty="0" smtClean="0"/>
              <a:t>8</a:t>
            </a:r>
            <a:endParaRPr lang="zh-TW" altLang="en-US" sz="3200" b="1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025779" y="3292414"/>
            <a:ext cx="1691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110010</a:t>
            </a:r>
            <a:r>
              <a:rPr lang="en-US" altLang="zh-TW" sz="3200" b="1" baseline="-25000" dirty="0" smtClean="0"/>
              <a:t>2</a:t>
            </a:r>
            <a:endParaRPr lang="zh-TW" altLang="en-US" sz="3200" b="1" baseline="-25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7710265" y="3328123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32</a:t>
            </a:r>
            <a:r>
              <a:rPr lang="en-US" altLang="zh-TW" sz="3200" b="1" baseline="-25000" dirty="0" smtClean="0"/>
              <a:t>16</a:t>
            </a:r>
            <a:endParaRPr lang="zh-TW" altLang="en-US" sz="3200" b="1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899171" y="3945558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Octal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249825" y="3945557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inary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07486" y="3945557"/>
            <a:ext cx="2326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Hexadecimal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934030" y="482666"/>
            <a:ext cx="10615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 smtClean="0"/>
              <a:t>Numbers of different bases can also be converted to each other</a:t>
            </a:r>
          </a:p>
        </p:txBody>
      </p:sp>
      <p:sp>
        <p:nvSpPr>
          <p:cNvPr id="3" name="手繪多邊形 2"/>
          <p:cNvSpPr/>
          <p:nvPr/>
        </p:nvSpPr>
        <p:spPr>
          <a:xfrm>
            <a:off x="3489820" y="4453297"/>
            <a:ext cx="2399252" cy="537270"/>
          </a:xfrm>
          <a:custGeom>
            <a:avLst/>
            <a:gdLst>
              <a:gd name="connsiteX0" fmla="*/ 0 w 2348918"/>
              <a:gd name="connsiteY0" fmla="*/ 67112 h 537270"/>
              <a:gd name="connsiteX1" fmla="*/ 1367406 w 2348918"/>
              <a:gd name="connsiteY1" fmla="*/ 536895 h 537270"/>
              <a:gd name="connsiteX2" fmla="*/ 2348918 w 2348918"/>
              <a:gd name="connsiteY2" fmla="*/ 0 h 537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8918" h="537270">
                <a:moveTo>
                  <a:pt x="0" y="67112"/>
                </a:moveTo>
                <a:cubicBezTo>
                  <a:pt x="487960" y="307596"/>
                  <a:pt x="975920" y="548080"/>
                  <a:pt x="1367406" y="536895"/>
                </a:cubicBezTo>
                <a:cubicBezTo>
                  <a:pt x="1758892" y="525710"/>
                  <a:pt x="2053905" y="262855"/>
                  <a:pt x="2348918" y="0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手繪多邊形 11"/>
          <p:cNvSpPr/>
          <p:nvPr/>
        </p:nvSpPr>
        <p:spPr>
          <a:xfrm>
            <a:off x="3489820" y="4521666"/>
            <a:ext cx="4639112" cy="1296705"/>
          </a:xfrm>
          <a:custGeom>
            <a:avLst/>
            <a:gdLst>
              <a:gd name="connsiteX0" fmla="*/ 0 w 4639112"/>
              <a:gd name="connsiteY0" fmla="*/ 0 h 1296705"/>
              <a:gd name="connsiteX1" fmla="*/ 1182848 w 4639112"/>
              <a:gd name="connsiteY1" fmla="*/ 1157681 h 1296705"/>
              <a:gd name="connsiteX2" fmla="*/ 3061982 w 4639112"/>
              <a:gd name="connsiteY2" fmla="*/ 1149292 h 1296705"/>
              <a:gd name="connsiteX3" fmla="*/ 4639112 w 4639112"/>
              <a:gd name="connsiteY3" fmla="*/ 16778 h 1296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9112" h="1296705">
                <a:moveTo>
                  <a:pt x="0" y="0"/>
                </a:moveTo>
                <a:cubicBezTo>
                  <a:pt x="336259" y="483066"/>
                  <a:pt x="672518" y="966132"/>
                  <a:pt x="1182848" y="1157681"/>
                </a:cubicBezTo>
                <a:cubicBezTo>
                  <a:pt x="1693178" y="1349230"/>
                  <a:pt x="2485938" y="1339443"/>
                  <a:pt x="3061982" y="1149292"/>
                </a:cubicBezTo>
                <a:cubicBezTo>
                  <a:pt x="3638026" y="959142"/>
                  <a:pt x="4138569" y="487960"/>
                  <a:pt x="4639112" y="16778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5972961" y="2860646"/>
            <a:ext cx="2088859" cy="436227"/>
          </a:xfrm>
          <a:custGeom>
            <a:avLst/>
            <a:gdLst>
              <a:gd name="connsiteX0" fmla="*/ 2088859 w 2088859"/>
              <a:gd name="connsiteY0" fmla="*/ 436227 h 436227"/>
              <a:gd name="connsiteX1" fmla="*/ 939567 w 2088859"/>
              <a:gd name="connsiteY1" fmla="*/ 0 h 436227"/>
              <a:gd name="connsiteX2" fmla="*/ 0 w 2088859"/>
              <a:gd name="connsiteY2" fmla="*/ 436227 h 43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8859" h="436227">
                <a:moveTo>
                  <a:pt x="2088859" y="436227"/>
                </a:moveTo>
                <a:cubicBezTo>
                  <a:pt x="1688284" y="218113"/>
                  <a:pt x="1287710" y="0"/>
                  <a:pt x="939567" y="0"/>
                </a:cubicBezTo>
                <a:cubicBezTo>
                  <a:pt x="591424" y="0"/>
                  <a:pt x="295712" y="218113"/>
                  <a:pt x="0" y="436227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3657600" y="2027398"/>
            <a:ext cx="4420998" cy="1319809"/>
          </a:xfrm>
          <a:custGeom>
            <a:avLst/>
            <a:gdLst>
              <a:gd name="connsiteX0" fmla="*/ 4420998 w 4420998"/>
              <a:gd name="connsiteY0" fmla="*/ 1286253 h 1319809"/>
              <a:gd name="connsiteX1" fmla="*/ 4001549 w 4420998"/>
              <a:gd name="connsiteY1" fmla="*/ 581578 h 1319809"/>
              <a:gd name="connsiteX2" fmla="*/ 2869035 w 4420998"/>
              <a:gd name="connsiteY2" fmla="*/ 136962 h 1319809"/>
              <a:gd name="connsiteX3" fmla="*/ 1711354 w 4420998"/>
              <a:gd name="connsiteY3" fmla="*/ 95017 h 1319809"/>
              <a:gd name="connsiteX4" fmla="*/ 0 w 4420998"/>
              <a:gd name="connsiteY4" fmla="*/ 1319809 h 1319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20998" h="1319809">
                <a:moveTo>
                  <a:pt x="4420998" y="1286253"/>
                </a:moveTo>
                <a:cubicBezTo>
                  <a:pt x="4340603" y="1029689"/>
                  <a:pt x="4260209" y="773126"/>
                  <a:pt x="4001549" y="581578"/>
                </a:cubicBezTo>
                <a:cubicBezTo>
                  <a:pt x="3742888" y="390029"/>
                  <a:pt x="3250734" y="218055"/>
                  <a:pt x="2869035" y="136962"/>
                </a:cubicBezTo>
                <a:cubicBezTo>
                  <a:pt x="2487336" y="55868"/>
                  <a:pt x="2189526" y="-102124"/>
                  <a:pt x="1711354" y="95017"/>
                </a:cubicBezTo>
                <a:cubicBezTo>
                  <a:pt x="1233181" y="292158"/>
                  <a:pt x="616590" y="805983"/>
                  <a:pt x="0" y="1319809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52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3163775" y="2489224"/>
            <a:ext cx="7873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62</a:t>
            </a:r>
            <a:r>
              <a:rPr lang="en-US" altLang="zh-TW" sz="3200" b="1" baseline="-25000" dirty="0" smtClean="0"/>
              <a:t>8</a:t>
            </a:r>
            <a:endParaRPr lang="zh-TW" altLang="en-US" sz="3200" b="1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983835" y="2453515"/>
            <a:ext cx="1691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110010</a:t>
            </a:r>
            <a:r>
              <a:rPr lang="en-US" altLang="zh-TW" sz="3200" b="1" baseline="-25000" dirty="0" smtClean="0"/>
              <a:t>2</a:t>
            </a:r>
            <a:endParaRPr lang="zh-TW" altLang="en-US" sz="3200" b="1" baseline="-250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7778305" y="2489224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32</a:t>
            </a:r>
            <a:r>
              <a:rPr lang="en-US" altLang="zh-TW" sz="3200" b="1" baseline="-25000" dirty="0" smtClean="0"/>
              <a:t>16</a:t>
            </a:r>
            <a:endParaRPr lang="zh-TW" altLang="en-US" sz="3200" b="1" baseline="-250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841194" y="1868740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Octal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191848" y="1868739"/>
            <a:ext cx="12266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chemeClr val="bg1">
                    <a:lumMod val="50000"/>
                  </a:schemeClr>
                </a:solidFill>
              </a:rPr>
              <a:t>B</a:t>
            </a:r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inary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59493" y="1868739"/>
            <a:ext cx="2326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Hexadecimal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83028" y="516222"/>
            <a:ext cx="106150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 smtClean="0"/>
              <a:t>The </a:t>
            </a:r>
            <a:r>
              <a:rPr lang="en-US" altLang="zh-TW" sz="3200" dirty="0"/>
              <a:t>conversion will be through decimal</a:t>
            </a:r>
            <a:endParaRPr lang="en-US" altLang="zh-TW" sz="3200" dirty="0" smtClean="0"/>
          </a:p>
        </p:txBody>
      </p:sp>
      <p:sp>
        <p:nvSpPr>
          <p:cNvPr id="14" name="文字方塊 13"/>
          <p:cNvSpPr txBox="1"/>
          <p:nvPr/>
        </p:nvSpPr>
        <p:spPr>
          <a:xfrm>
            <a:off x="5467943" y="4765397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50</a:t>
            </a:r>
            <a:r>
              <a:rPr lang="en-US" altLang="zh-TW" sz="3200" b="1" baseline="-25000" dirty="0" smtClean="0"/>
              <a:t>10</a:t>
            </a:r>
            <a:endParaRPr lang="zh-TW" altLang="en-US" sz="3200" b="1" baseline="-250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191848" y="5350172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bg1">
                    <a:lumMod val="50000"/>
                  </a:schemeClr>
                </a:solidFill>
              </a:rPr>
              <a:t>Decimal</a:t>
            </a:r>
            <a:endParaRPr lang="zh-TW" alt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手繪多邊形 4"/>
          <p:cNvSpPr/>
          <p:nvPr/>
        </p:nvSpPr>
        <p:spPr>
          <a:xfrm>
            <a:off x="3464654" y="3036815"/>
            <a:ext cx="2105636" cy="1862356"/>
          </a:xfrm>
          <a:custGeom>
            <a:avLst/>
            <a:gdLst>
              <a:gd name="connsiteX0" fmla="*/ 0 w 2105636"/>
              <a:gd name="connsiteY0" fmla="*/ 0 h 1862356"/>
              <a:gd name="connsiteX1" fmla="*/ 637563 w 2105636"/>
              <a:gd name="connsiteY1" fmla="*/ 1006679 h 1862356"/>
              <a:gd name="connsiteX2" fmla="*/ 2105636 w 2105636"/>
              <a:gd name="connsiteY2" fmla="*/ 1862356 h 186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5636" h="1862356">
                <a:moveTo>
                  <a:pt x="0" y="0"/>
                </a:moveTo>
                <a:cubicBezTo>
                  <a:pt x="143312" y="348143"/>
                  <a:pt x="286624" y="696286"/>
                  <a:pt x="637563" y="1006679"/>
                </a:cubicBezTo>
                <a:cubicBezTo>
                  <a:pt x="988502" y="1317072"/>
                  <a:pt x="1547069" y="1589714"/>
                  <a:pt x="2105636" y="1862356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/>
        </p:nvSpPr>
        <p:spPr>
          <a:xfrm flipH="1">
            <a:off x="5954459" y="3036815"/>
            <a:ext cx="2105636" cy="1862356"/>
          </a:xfrm>
          <a:custGeom>
            <a:avLst/>
            <a:gdLst>
              <a:gd name="connsiteX0" fmla="*/ 0 w 2105636"/>
              <a:gd name="connsiteY0" fmla="*/ 0 h 1862356"/>
              <a:gd name="connsiteX1" fmla="*/ 637563 w 2105636"/>
              <a:gd name="connsiteY1" fmla="*/ 1006679 h 1862356"/>
              <a:gd name="connsiteX2" fmla="*/ 2105636 w 2105636"/>
              <a:gd name="connsiteY2" fmla="*/ 1862356 h 186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5636" h="1862356">
                <a:moveTo>
                  <a:pt x="0" y="0"/>
                </a:moveTo>
                <a:cubicBezTo>
                  <a:pt x="143312" y="348143"/>
                  <a:pt x="286624" y="696286"/>
                  <a:pt x="637563" y="1006679"/>
                </a:cubicBezTo>
                <a:cubicBezTo>
                  <a:pt x="988502" y="1317072"/>
                  <a:pt x="1547069" y="1589714"/>
                  <a:pt x="2105636" y="1862356"/>
                </a:cubicBezTo>
              </a:path>
            </a:pathLst>
          </a:custGeom>
          <a:noFill/>
          <a:ln w="28575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959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/>
          <p:cNvSpPr txBox="1">
            <a:spLocks/>
          </p:cNvSpPr>
          <p:nvPr/>
        </p:nvSpPr>
        <p:spPr>
          <a:xfrm>
            <a:off x="0" y="2116476"/>
            <a:ext cx="12192000" cy="1385297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</a:t>
            </a:r>
            <a:r>
              <a:rPr lang="en-US" altLang="zh-TW" sz="5400" b="1" dirty="0">
                <a:solidFill>
                  <a:schemeClr val="bg1"/>
                </a:solidFill>
                <a:cs typeface="Arial" panose="020B0604020202020204" pitchFamily="34" charset="0"/>
              </a:rPr>
              <a:t>Numbers</a:t>
            </a:r>
            <a:endParaRPr lang="en-US" altLang="zh-TW" sz="5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副標題 4"/>
          <p:cNvSpPr>
            <a:spLocks noGrp="1"/>
          </p:cNvSpPr>
          <p:nvPr>
            <p:ph type="subTitle" idx="1"/>
          </p:nvPr>
        </p:nvSpPr>
        <p:spPr>
          <a:xfrm>
            <a:off x="0" y="3598523"/>
            <a:ext cx="12191999" cy="726897"/>
          </a:xfrm>
          <a:solidFill>
            <a:schemeClr val="tx1">
              <a:lumMod val="75000"/>
              <a:lumOff val="25000"/>
            </a:schemeClr>
          </a:solidFill>
          <a:ln>
            <a:solidFill>
              <a:schemeClr val="accent1"/>
            </a:solidFill>
          </a:ln>
        </p:spPr>
        <p:txBody>
          <a:bodyPr anchor="ctr">
            <a:normAutofit fontScale="92500" lnSpcReduction="10000"/>
          </a:bodyPr>
          <a:lstStyle/>
          <a:p>
            <a:r>
              <a:rPr lang="en-US" altLang="zh-TW" sz="4000" b="1" dirty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52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028732"/>
              </p:ext>
            </p:extLst>
          </p:nvPr>
        </p:nvGraphicFramePr>
        <p:xfrm>
          <a:off x="1813932" y="1545673"/>
          <a:ext cx="2850392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598">
                  <a:extLst>
                    <a:ext uri="{9D8B030D-6E8A-4147-A177-3AD203B41FA5}">
                      <a16:colId xmlns:a16="http://schemas.microsoft.com/office/drawing/2014/main" val="287325526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10</a:t>
                      </a:r>
                      <a:r>
                        <a:rPr lang="en-US" altLang="zh-TW" sz="2800" baseline="30000" dirty="0" smtClean="0"/>
                        <a:t>3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10</a:t>
                      </a:r>
                      <a:r>
                        <a:rPr lang="en-US" altLang="zh-TW" sz="2800" baseline="30000" dirty="0" smtClean="0"/>
                        <a:t>2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10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10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9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5460638" y="3477055"/>
            <a:ext cx="45656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9 </a:t>
            </a:r>
            <a:r>
              <a:rPr lang="en-US" altLang="zh-TW" sz="3200" dirty="0" smtClean="0">
                <a:sym typeface="Symbol" panose="05050102010706020507" pitchFamily="18" charset="2"/>
              </a:rPr>
              <a:t> 10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= 9</a:t>
            </a:r>
            <a:r>
              <a:rPr lang="en-US" altLang="zh-TW" sz="3200" dirty="0"/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 1 		=	9</a:t>
            </a:r>
            <a:endParaRPr lang="zh-TW" altLang="en-US" sz="32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5460638" y="4075272"/>
            <a:ext cx="4791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 </a:t>
            </a:r>
            <a:r>
              <a:rPr lang="en-US" altLang="zh-TW" sz="3200" dirty="0" smtClean="0">
                <a:sym typeface="Symbol" panose="05050102010706020507" pitchFamily="18" charset="2"/>
              </a:rPr>
              <a:t> 10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 = 1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 10 		=	10</a:t>
            </a:r>
            <a:endParaRPr lang="zh-TW" altLang="en-US" sz="3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460638" y="4673489"/>
            <a:ext cx="5017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3 </a:t>
            </a:r>
            <a:r>
              <a:rPr lang="en-US" altLang="zh-TW" sz="3200" dirty="0" smtClean="0">
                <a:sym typeface="Symbol" panose="05050102010706020507" pitchFamily="18" charset="2"/>
              </a:rPr>
              <a:t> 10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 = 3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 100 	=	300</a:t>
            </a:r>
            <a:endParaRPr lang="zh-TW" altLang="en-US" sz="32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460638" y="5258264"/>
            <a:ext cx="5243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5 </a:t>
            </a:r>
            <a:r>
              <a:rPr lang="en-US" altLang="zh-TW" sz="3200" dirty="0" smtClean="0">
                <a:sym typeface="Symbol" panose="05050102010706020507" pitchFamily="18" charset="2"/>
              </a:rPr>
              <a:t> 10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 smtClean="0">
                <a:sym typeface="Symbol" panose="05050102010706020507" pitchFamily="18" charset="2"/>
              </a:rPr>
              <a:t> = 5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 1000 	=	5000</a:t>
            </a:r>
            <a:endParaRPr lang="zh-TW" altLang="en-US" sz="3200" dirty="0"/>
          </a:p>
        </p:txBody>
      </p:sp>
      <p:cxnSp>
        <p:nvCxnSpPr>
          <p:cNvPr id="33" name="直線接點 32"/>
          <p:cNvCxnSpPr/>
          <p:nvPr/>
        </p:nvCxnSpPr>
        <p:spPr>
          <a:xfrm>
            <a:off x="4231912" y="5855034"/>
            <a:ext cx="6409048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加號 34"/>
          <p:cNvSpPr/>
          <p:nvPr/>
        </p:nvSpPr>
        <p:spPr>
          <a:xfrm>
            <a:off x="4168491" y="5289058"/>
            <a:ext cx="493940" cy="572741"/>
          </a:xfrm>
          <a:prstGeom prst="mathPlus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9591127" y="5864320"/>
            <a:ext cx="13901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5319</a:t>
            </a:r>
            <a:r>
              <a:rPr lang="en-US" altLang="zh-TW" sz="3200" baseline="-25000" dirty="0" smtClean="0"/>
              <a:t>10</a:t>
            </a:r>
            <a:endParaRPr lang="zh-TW" altLang="en-US" sz="3200" baseline="-25000" dirty="0"/>
          </a:p>
        </p:txBody>
      </p:sp>
      <p:sp>
        <p:nvSpPr>
          <p:cNvPr id="38" name="手繪多邊形 37"/>
          <p:cNvSpPr/>
          <p:nvPr/>
        </p:nvSpPr>
        <p:spPr>
          <a:xfrm>
            <a:off x="4310744" y="3110437"/>
            <a:ext cx="1141730" cy="709671"/>
          </a:xfrm>
          <a:custGeom>
            <a:avLst/>
            <a:gdLst>
              <a:gd name="connsiteX0" fmla="*/ 0 w 1118507"/>
              <a:gd name="connsiteY0" fmla="*/ 0 h 367393"/>
              <a:gd name="connsiteX1" fmla="*/ 514350 w 1118507"/>
              <a:gd name="connsiteY1" fmla="*/ 302079 h 367393"/>
              <a:gd name="connsiteX2" fmla="*/ 1118507 w 1118507"/>
              <a:gd name="connsiteY2" fmla="*/ 367393 h 36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8507" h="367393">
                <a:moveTo>
                  <a:pt x="0" y="0"/>
                </a:moveTo>
                <a:cubicBezTo>
                  <a:pt x="163966" y="120423"/>
                  <a:pt x="327932" y="240847"/>
                  <a:pt x="514350" y="302079"/>
                </a:cubicBezTo>
                <a:cubicBezTo>
                  <a:pt x="700768" y="363311"/>
                  <a:pt x="909637" y="365352"/>
                  <a:pt x="1118507" y="367393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手繪多邊形 38"/>
          <p:cNvSpPr/>
          <p:nvPr/>
        </p:nvSpPr>
        <p:spPr>
          <a:xfrm>
            <a:off x="3641271" y="3118601"/>
            <a:ext cx="1811202" cy="1264843"/>
          </a:xfrm>
          <a:custGeom>
            <a:avLst/>
            <a:gdLst>
              <a:gd name="connsiteX0" fmla="*/ 0 w 1828800"/>
              <a:gd name="connsiteY0" fmla="*/ 0 h 930729"/>
              <a:gd name="connsiteX1" fmla="*/ 514350 w 1828800"/>
              <a:gd name="connsiteY1" fmla="*/ 628650 h 930729"/>
              <a:gd name="connsiteX2" fmla="*/ 1828800 w 1828800"/>
              <a:gd name="connsiteY2" fmla="*/ 930729 h 930729"/>
              <a:gd name="connsiteX3" fmla="*/ 1828800 w 1828800"/>
              <a:gd name="connsiteY3" fmla="*/ 930729 h 930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" h="930729">
                <a:moveTo>
                  <a:pt x="0" y="0"/>
                </a:moveTo>
                <a:cubicBezTo>
                  <a:pt x="104775" y="236764"/>
                  <a:pt x="209550" y="473529"/>
                  <a:pt x="514350" y="628650"/>
                </a:cubicBezTo>
                <a:cubicBezTo>
                  <a:pt x="819150" y="783771"/>
                  <a:pt x="1828800" y="930729"/>
                  <a:pt x="1828800" y="930729"/>
                </a:cubicBezTo>
                <a:lnTo>
                  <a:pt x="1828800" y="930729"/>
                </a:ln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手繪多邊形 39"/>
          <p:cNvSpPr/>
          <p:nvPr/>
        </p:nvSpPr>
        <p:spPr>
          <a:xfrm>
            <a:off x="2906486" y="3110437"/>
            <a:ext cx="2545987" cy="1844507"/>
          </a:xfrm>
          <a:custGeom>
            <a:avLst/>
            <a:gdLst>
              <a:gd name="connsiteX0" fmla="*/ 0 w 2547257"/>
              <a:gd name="connsiteY0" fmla="*/ 0 h 1502229"/>
              <a:gd name="connsiteX1" fmla="*/ 718457 w 2547257"/>
              <a:gd name="connsiteY1" fmla="*/ 947058 h 1502229"/>
              <a:gd name="connsiteX2" fmla="*/ 2547257 w 2547257"/>
              <a:gd name="connsiteY2" fmla="*/ 1502229 h 1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47257" h="1502229">
                <a:moveTo>
                  <a:pt x="0" y="0"/>
                </a:moveTo>
                <a:cubicBezTo>
                  <a:pt x="146957" y="348343"/>
                  <a:pt x="293914" y="696687"/>
                  <a:pt x="718457" y="947058"/>
                </a:cubicBezTo>
                <a:cubicBezTo>
                  <a:pt x="1143000" y="1197429"/>
                  <a:pt x="1845128" y="1349829"/>
                  <a:pt x="2547257" y="1502229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手繪多邊形 40"/>
          <p:cNvSpPr/>
          <p:nvPr/>
        </p:nvSpPr>
        <p:spPr>
          <a:xfrm>
            <a:off x="2188029" y="3118601"/>
            <a:ext cx="3272609" cy="2448664"/>
          </a:xfrm>
          <a:custGeom>
            <a:avLst/>
            <a:gdLst>
              <a:gd name="connsiteX0" fmla="*/ 0 w 3249386"/>
              <a:gd name="connsiteY0" fmla="*/ 0 h 2122714"/>
              <a:gd name="connsiteX1" fmla="*/ 898071 w 3249386"/>
              <a:gd name="connsiteY1" fmla="*/ 1208314 h 2122714"/>
              <a:gd name="connsiteX2" fmla="*/ 3249386 w 3249386"/>
              <a:gd name="connsiteY2" fmla="*/ 2122714 h 2122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9386" h="2122714">
                <a:moveTo>
                  <a:pt x="0" y="0"/>
                </a:moveTo>
                <a:cubicBezTo>
                  <a:pt x="178253" y="427264"/>
                  <a:pt x="356507" y="854528"/>
                  <a:pt x="898071" y="1208314"/>
                </a:cubicBezTo>
                <a:cubicBezTo>
                  <a:pt x="1439635" y="1562100"/>
                  <a:pt x="2344510" y="1842407"/>
                  <a:pt x="3249386" y="2122714"/>
                </a:cubicBezTo>
              </a:path>
            </a:pathLst>
          </a:cu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541855" y="1606260"/>
            <a:ext cx="1202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Weight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0" y="2466995"/>
            <a:ext cx="17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solidFill>
                  <a:srgbClr val="C00000"/>
                </a:solidFill>
              </a:rPr>
              <a:t>coefficient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cxnSp>
        <p:nvCxnSpPr>
          <p:cNvPr id="45" name="直線單箭頭接點 44"/>
          <p:cNvCxnSpPr/>
          <p:nvPr/>
        </p:nvCxnSpPr>
        <p:spPr>
          <a:xfrm>
            <a:off x="4766441" y="2728605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5258692" y="2400332"/>
            <a:ext cx="6933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5 </a:t>
            </a:r>
            <a:r>
              <a:rPr lang="en-US" altLang="zh-TW" sz="3200" dirty="0" smtClean="0">
                <a:sym typeface="Symbol" panose="05050102010706020507" pitchFamily="18" charset="2"/>
              </a:rPr>
              <a:t> 10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 smtClean="0">
                <a:sym typeface="Symbol" panose="05050102010706020507" pitchFamily="18" charset="2"/>
              </a:rPr>
              <a:t> +</a:t>
            </a:r>
            <a:r>
              <a:rPr lang="en-US" altLang="zh-TW" sz="3200" dirty="0"/>
              <a:t> 3 </a:t>
            </a:r>
            <a:r>
              <a:rPr lang="en-US" altLang="zh-TW" sz="3200" dirty="0">
                <a:sym typeface="Symbol" panose="05050102010706020507" pitchFamily="18" charset="2"/>
              </a:rPr>
              <a:t> 10</a:t>
            </a:r>
            <a:r>
              <a:rPr lang="en-US" altLang="zh-TW" sz="3200" baseline="30000" dirty="0">
                <a:sym typeface="Symbol" panose="05050102010706020507" pitchFamily="18" charset="2"/>
              </a:rPr>
              <a:t>2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/>
              <a:t>1 </a:t>
            </a:r>
            <a:r>
              <a:rPr lang="en-US" altLang="zh-TW" sz="3200" dirty="0">
                <a:sym typeface="Symbol" panose="05050102010706020507" pitchFamily="18" charset="2"/>
              </a:rPr>
              <a:t> 10</a:t>
            </a:r>
            <a:r>
              <a:rPr lang="en-US" altLang="zh-TW" sz="3200" baseline="30000" dirty="0">
                <a:sym typeface="Symbol" panose="05050102010706020507" pitchFamily="18" charset="2"/>
              </a:rPr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/>
              <a:t> 9 </a:t>
            </a:r>
            <a:r>
              <a:rPr lang="en-US" altLang="zh-TW" sz="3200" dirty="0">
                <a:sym typeface="Symbol" panose="05050102010706020507" pitchFamily="18" charset="2"/>
              </a:rPr>
              <a:t> 10</a:t>
            </a:r>
            <a:r>
              <a:rPr lang="en-US" altLang="zh-TW" sz="3200" baseline="30000" dirty="0">
                <a:sym typeface="Symbol" panose="05050102010706020507" pitchFamily="18" charset="2"/>
              </a:rPr>
              <a:t>0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6006226" y="1344650"/>
            <a:ext cx="5031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Weight-&amp;-coefficient expression</a:t>
            </a:r>
            <a:endParaRPr lang="zh-TW" altLang="en-US" sz="2800" b="1" dirty="0">
              <a:solidFill>
                <a:srgbClr val="C00000"/>
              </a:solidFill>
            </a:endParaRPr>
          </a:p>
        </p:txBody>
      </p:sp>
      <p:sp>
        <p:nvSpPr>
          <p:cNvPr id="2" name="右大括弧 1"/>
          <p:cNvSpPr/>
          <p:nvPr/>
        </p:nvSpPr>
        <p:spPr>
          <a:xfrm rot="16200000">
            <a:off x="8500233" y="-970306"/>
            <a:ext cx="347372" cy="6393904"/>
          </a:xfrm>
          <a:prstGeom prst="rightBrace">
            <a:avLst>
              <a:gd name="adj1" fmla="val 20833"/>
              <a:gd name="adj2" fmla="val 50000"/>
            </a:avLst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1673635" y="925163"/>
            <a:ext cx="2791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 number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8496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88123"/>
              </p:ext>
            </p:extLst>
          </p:nvPr>
        </p:nvGraphicFramePr>
        <p:xfrm>
          <a:off x="1911903" y="2582537"/>
          <a:ext cx="213779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598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2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146900" y="6170880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 number: 235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1642516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88123"/>
              </p:ext>
            </p:extLst>
          </p:nvPr>
        </p:nvGraphicFramePr>
        <p:xfrm>
          <a:off x="1911903" y="2582537"/>
          <a:ext cx="213779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598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2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46900" y="6170880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 number: 235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43718" y="1176073"/>
            <a:ext cx="1720343" cy="588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</p:txBody>
      </p:sp>
    </p:spTree>
    <p:extLst>
      <p:ext uri="{BB962C8B-B14F-4D97-AF65-F5344CB8AC3E}">
        <p14:creationId xmlns:p14="http://schemas.microsoft.com/office/powerpoint/2010/main" val="349449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88123"/>
              </p:ext>
            </p:extLst>
          </p:nvPr>
        </p:nvGraphicFramePr>
        <p:xfrm>
          <a:off x="1911903" y="2582537"/>
          <a:ext cx="213779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598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2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45" name="直線單箭頭接點 44"/>
          <p:cNvCxnSpPr/>
          <p:nvPr/>
        </p:nvCxnSpPr>
        <p:spPr>
          <a:xfrm>
            <a:off x="4343718" y="3729583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97200" y="3437195"/>
            <a:ext cx="4471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3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 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5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146900" y="6170880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 number: 235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343718" y="1176073"/>
            <a:ext cx="1720343" cy="588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</p:txBody>
      </p:sp>
    </p:spTree>
    <p:extLst>
      <p:ext uri="{BB962C8B-B14F-4D97-AF65-F5344CB8AC3E}">
        <p14:creationId xmlns:p14="http://schemas.microsoft.com/office/powerpoint/2010/main" val="115922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88123"/>
              </p:ext>
            </p:extLst>
          </p:nvPr>
        </p:nvGraphicFramePr>
        <p:xfrm>
          <a:off x="1911903" y="2582537"/>
          <a:ext cx="213779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598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2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45" name="直線單箭頭接點 44"/>
          <p:cNvCxnSpPr/>
          <p:nvPr/>
        </p:nvCxnSpPr>
        <p:spPr>
          <a:xfrm>
            <a:off x="4343718" y="3729583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997200" y="3437195"/>
            <a:ext cx="4471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3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 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5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146900" y="6170880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 number: 235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343718" y="1176073"/>
            <a:ext cx="449488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Multiplication (by base-10)</a:t>
            </a:r>
          </a:p>
        </p:txBody>
      </p:sp>
    </p:spTree>
    <p:extLst>
      <p:ext uri="{BB962C8B-B14F-4D97-AF65-F5344CB8AC3E}">
        <p14:creationId xmlns:p14="http://schemas.microsoft.com/office/powerpoint/2010/main" val="1240195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88123"/>
              </p:ext>
            </p:extLst>
          </p:nvPr>
        </p:nvGraphicFramePr>
        <p:xfrm>
          <a:off x="1911903" y="2582537"/>
          <a:ext cx="213779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598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2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45" name="直線單箭頭接點 44"/>
          <p:cNvCxnSpPr/>
          <p:nvPr/>
        </p:nvCxnSpPr>
        <p:spPr>
          <a:xfrm>
            <a:off x="4343718" y="3729583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97200" y="4021970"/>
            <a:ext cx="2544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128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24 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 5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997200" y="3437195"/>
            <a:ext cx="4471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3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 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5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4343718" y="4314357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146900" y="6170880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 number: 235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343718" y="1176073"/>
            <a:ext cx="449488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Multiplication (by base-10)</a:t>
            </a:r>
          </a:p>
        </p:txBody>
      </p:sp>
    </p:spTree>
    <p:extLst>
      <p:ext uri="{BB962C8B-B14F-4D97-AF65-F5344CB8AC3E}">
        <p14:creationId xmlns:p14="http://schemas.microsoft.com/office/powerpoint/2010/main" val="187102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88123"/>
              </p:ext>
            </p:extLst>
          </p:nvPr>
        </p:nvGraphicFramePr>
        <p:xfrm>
          <a:off x="1911903" y="2582537"/>
          <a:ext cx="213779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598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2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45" name="直線單箭頭接點 44"/>
          <p:cNvCxnSpPr/>
          <p:nvPr/>
        </p:nvCxnSpPr>
        <p:spPr>
          <a:xfrm>
            <a:off x="4343718" y="3729583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97200" y="4021970"/>
            <a:ext cx="2544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128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24 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 5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997200" y="3437195"/>
            <a:ext cx="4471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3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 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5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4343718" y="4314357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146900" y="6170880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 number: 235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343718" y="1176073"/>
            <a:ext cx="4494885" cy="1665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Multiplication (by base-10)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Addition (</a:t>
            </a:r>
            <a:r>
              <a:rPr lang="en-US" altLang="zh-TW" sz="2800" dirty="0"/>
              <a:t>by base-10</a:t>
            </a:r>
            <a:r>
              <a:rPr lang="en-US" altLang="zh-TW" sz="2800" dirty="0" smtClean="0"/>
              <a:t>)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42318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88123"/>
              </p:ext>
            </p:extLst>
          </p:nvPr>
        </p:nvGraphicFramePr>
        <p:xfrm>
          <a:off x="1911903" y="2582537"/>
          <a:ext cx="213779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598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2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45" name="直線單箭頭接點 44"/>
          <p:cNvCxnSpPr/>
          <p:nvPr/>
        </p:nvCxnSpPr>
        <p:spPr>
          <a:xfrm>
            <a:off x="4343718" y="3729583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4997200" y="4021970"/>
            <a:ext cx="2544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128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24 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 5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4997200" y="3437195"/>
            <a:ext cx="4471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3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 +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5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cxnSp>
        <p:nvCxnSpPr>
          <p:cNvPr id="8" name="直線單箭頭接點 7"/>
          <p:cNvCxnSpPr/>
          <p:nvPr/>
        </p:nvCxnSpPr>
        <p:spPr>
          <a:xfrm>
            <a:off x="4343718" y="4314357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4343718" y="4899131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4997200" y="4606743"/>
            <a:ext cx="1164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157</a:t>
            </a:r>
            <a:r>
              <a:rPr lang="en-US" altLang="zh-TW" sz="3200" baseline="-25000" dirty="0" smtClean="0"/>
              <a:t>10</a:t>
            </a:r>
            <a:endParaRPr lang="zh-TW" altLang="en-US" sz="32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146900" y="6170880"/>
            <a:ext cx="34323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 number: 235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343718" y="1176073"/>
            <a:ext cx="4494885" cy="1665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Multiplication (by base-10)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Addition (</a:t>
            </a:r>
            <a:r>
              <a:rPr lang="en-US" altLang="zh-TW" sz="2800" dirty="0"/>
              <a:t>by base-10</a:t>
            </a:r>
            <a:r>
              <a:rPr lang="en-US" altLang="zh-TW" sz="2800" dirty="0" smtClean="0"/>
              <a:t>)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81237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525"/>
              </p:ext>
            </p:extLst>
          </p:nvPr>
        </p:nvGraphicFramePr>
        <p:xfrm>
          <a:off x="440872" y="2402923"/>
          <a:ext cx="346307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179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223032568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22180598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569695638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5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172409" y="6172200"/>
            <a:ext cx="4251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 number: 101101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260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525"/>
              </p:ext>
            </p:extLst>
          </p:nvPr>
        </p:nvGraphicFramePr>
        <p:xfrm>
          <a:off x="440872" y="2402923"/>
          <a:ext cx="346307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179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223032568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22180598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569695638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5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2172409" y="6172200"/>
            <a:ext cx="4251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 number: 101101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091385" y="1131965"/>
            <a:ext cx="1720343" cy="588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86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525"/>
              </p:ext>
            </p:extLst>
          </p:nvPr>
        </p:nvGraphicFramePr>
        <p:xfrm>
          <a:off x="440872" y="2402923"/>
          <a:ext cx="346307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179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223032568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22180598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569695638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5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4091385" y="3503069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4744867" y="3185305"/>
            <a:ext cx="66415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5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4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2172409" y="6172200"/>
            <a:ext cx="4251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 number: 101101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091385" y="1131965"/>
            <a:ext cx="1720343" cy="5884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</p:txBody>
      </p:sp>
      <p:sp>
        <p:nvSpPr>
          <p:cNvPr id="12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02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525"/>
              </p:ext>
            </p:extLst>
          </p:nvPr>
        </p:nvGraphicFramePr>
        <p:xfrm>
          <a:off x="440872" y="2402923"/>
          <a:ext cx="346307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179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223032568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22180598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569695638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5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4091385" y="3503069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4744867" y="3185305"/>
            <a:ext cx="66415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5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4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172409" y="6172200"/>
            <a:ext cx="4251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 number: 101101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091385" y="1131965"/>
            <a:ext cx="449488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Multiplication (by base-10)</a:t>
            </a:r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61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525"/>
              </p:ext>
            </p:extLst>
          </p:nvPr>
        </p:nvGraphicFramePr>
        <p:xfrm>
          <a:off x="440872" y="2402923"/>
          <a:ext cx="346307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179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223032568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22180598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569695638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5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4091385" y="3503069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744867" y="3795456"/>
            <a:ext cx="2820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32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8 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 4 + 1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744867" y="3185305"/>
            <a:ext cx="66415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5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4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4091385" y="4087843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2172409" y="6172200"/>
            <a:ext cx="4251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 number: 101101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091385" y="1131965"/>
            <a:ext cx="449488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Multiplication (by base-10)</a:t>
            </a:r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8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525"/>
              </p:ext>
            </p:extLst>
          </p:nvPr>
        </p:nvGraphicFramePr>
        <p:xfrm>
          <a:off x="440872" y="2402923"/>
          <a:ext cx="346307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179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223032568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22180598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569695638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5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4091385" y="3503069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744867" y="3795456"/>
            <a:ext cx="2820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32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8 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 4 + 1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744867" y="3185305"/>
            <a:ext cx="66415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5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4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4091385" y="4087843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2172409" y="6172200"/>
            <a:ext cx="4251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 number: 101101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091385" y="1131965"/>
            <a:ext cx="4494885" cy="1665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Multiplication (by base-10)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Addition (</a:t>
            </a:r>
            <a:r>
              <a:rPr lang="en-US" altLang="zh-TW" sz="2800" dirty="0"/>
              <a:t>by base-10</a:t>
            </a:r>
            <a:r>
              <a:rPr lang="en-US" altLang="zh-TW" sz="2800" dirty="0" smtClean="0"/>
              <a:t>)</a:t>
            </a:r>
            <a:endParaRPr lang="en-US" altLang="zh-TW" sz="2800" dirty="0"/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61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525"/>
              </p:ext>
            </p:extLst>
          </p:nvPr>
        </p:nvGraphicFramePr>
        <p:xfrm>
          <a:off x="440872" y="2402923"/>
          <a:ext cx="3463074" cy="156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179">
                  <a:extLst>
                    <a:ext uri="{9D8B030D-6E8A-4147-A177-3AD203B41FA5}">
                      <a16:colId xmlns:a16="http://schemas.microsoft.com/office/drawing/2014/main" val="15048712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223032568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1376179070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677439567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2218059819"/>
                    </a:ext>
                  </a:extLst>
                </a:gridCol>
                <a:gridCol w="577179">
                  <a:extLst>
                    <a:ext uri="{9D8B030D-6E8A-4147-A177-3AD203B41FA5}">
                      <a16:colId xmlns:a16="http://schemas.microsoft.com/office/drawing/2014/main" val="3569695638"/>
                    </a:ext>
                  </a:extLst>
                </a:gridCol>
              </a:tblGrid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5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4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3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r>
                        <a:rPr kumimoji="0" lang="en-US" altLang="zh-TW" sz="2800" b="1" i="0" u="none" strike="noStrike" kern="1200" cap="none" spc="0" normalizeH="0" baseline="30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2</a:t>
                      </a:r>
                      <a:endParaRPr kumimoji="0" lang="zh-TW" altLang="en-US" sz="2800" b="1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1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r>
                        <a:rPr lang="en-US" altLang="zh-TW" sz="2800" baseline="30000" dirty="0" smtClean="0"/>
                        <a:t>0</a:t>
                      </a:r>
                      <a:endParaRPr lang="zh-TW" altLang="en-US" sz="2800" baseline="300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2978"/>
                  </a:ext>
                </a:extLst>
              </a:tr>
              <a:tr h="7823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044221"/>
                  </a:ext>
                </a:extLst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>
            <a:off x="4091385" y="3503069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/>
          <p:cNvSpPr txBox="1"/>
          <p:nvPr/>
        </p:nvSpPr>
        <p:spPr>
          <a:xfrm>
            <a:off x="4744867" y="3795456"/>
            <a:ext cx="2820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32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8 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 4 + 1</a:t>
            </a:r>
            <a:endParaRPr lang="zh-TW" altLang="en-US" sz="32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744867" y="3185305"/>
            <a:ext cx="66415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5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4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2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0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+</a:t>
            </a:r>
            <a:r>
              <a:rPr lang="en-US" altLang="zh-TW" sz="3200" dirty="0" smtClean="0"/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</a:t>
            </a:r>
            <a:r>
              <a:rPr lang="en-US" altLang="zh-TW" sz="3200" dirty="0" smtClean="0">
                <a:sym typeface="Symbol" panose="05050102010706020507" pitchFamily="18" charset="2"/>
              </a:rPr>
              <a:t>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  <p:cxnSp>
        <p:nvCxnSpPr>
          <p:cNvPr id="10" name="直線單箭頭接點 9"/>
          <p:cNvCxnSpPr/>
          <p:nvPr/>
        </p:nvCxnSpPr>
        <p:spPr>
          <a:xfrm>
            <a:off x="4091385" y="4087843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4091385" y="4672617"/>
            <a:ext cx="359461" cy="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4744867" y="4380229"/>
            <a:ext cx="938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45</a:t>
            </a:r>
            <a:r>
              <a:rPr lang="en-US" altLang="zh-TW" sz="3200" baseline="-25000" dirty="0" smtClean="0"/>
              <a:t>10</a:t>
            </a:r>
            <a:endParaRPr lang="zh-TW" altLang="en-US" sz="3200" baseline="-25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2172409" y="6172200"/>
            <a:ext cx="4251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Binary number: 101101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091385" y="1131965"/>
            <a:ext cx="4494885" cy="16656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Expand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 Multiplication (by base-10)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2800" dirty="0" smtClean="0"/>
              <a:t>Addition (</a:t>
            </a:r>
            <a:r>
              <a:rPr lang="en-US" altLang="zh-TW" sz="2800" dirty="0"/>
              <a:t>by base-10</a:t>
            </a:r>
            <a:r>
              <a:rPr lang="en-US" altLang="zh-TW" sz="2800" dirty="0" smtClean="0"/>
              <a:t>)</a:t>
            </a:r>
            <a:endParaRPr lang="en-US" altLang="zh-TW" sz="2800" dirty="0"/>
          </a:p>
        </p:txBody>
      </p:sp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 to 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39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FF66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Exercise_1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02161" y="2061294"/>
            <a:ext cx="1130309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dirty="0" smtClean="0"/>
              <a:t>110101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 smtClean="0"/>
              <a:t>	= 1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5</a:t>
            </a:r>
            <a:r>
              <a:rPr lang="en-US" altLang="zh-TW" sz="3200" dirty="0" smtClean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1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4</a:t>
            </a:r>
            <a:r>
              <a:rPr lang="en-US" altLang="zh-TW" sz="3200" dirty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0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1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0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1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3200" dirty="0">
                <a:sym typeface="Symbol" panose="05050102010706020507" pitchFamily="18" charset="2"/>
              </a:rPr>
              <a:t>	</a:t>
            </a:r>
            <a:r>
              <a:rPr lang="en-US" altLang="zh-TW" sz="3200" dirty="0" smtClean="0">
                <a:sym typeface="Symbol" panose="05050102010706020507" pitchFamily="18" charset="2"/>
              </a:rPr>
              <a:t>			=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1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5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1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4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1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1 </a:t>
            </a:r>
            <a:r>
              <a:rPr lang="en-US" altLang="zh-TW" sz="3200" dirty="0" smtClean="0">
                <a:sym typeface="Symbol" panose="05050102010706020507" pitchFamily="18" charset="2"/>
              </a:rPr>
              <a:t> 2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</a:p>
          <a:p>
            <a:pPr>
              <a:lnSpc>
                <a:spcPct val="150000"/>
              </a:lnSpc>
            </a:pPr>
            <a:r>
              <a:rPr lang="en-US" altLang="zh-TW" sz="3200" baseline="30000" dirty="0">
                <a:sym typeface="Symbol" panose="05050102010706020507" pitchFamily="18" charset="2"/>
              </a:rPr>
              <a:t>	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			</a:t>
            </a:r>
            <a:r>
              <a:rPr lang="en-US" altLang="zh-TW" sz="3200" dirty="0" smtClean="0">
                <a:sym typeface="Symbol" panose="05050102010706020507" pitchFamily="18" charset="2"/>
              </a:rPr>
              <a:t>= 32 + 16 + 4 + 1 </a:t>
            </a:r>
          </a:p>
          <a:p>
            <a:pPr>
              <a:lnSpc>
                <a:spcPct val="150000"/>
              </a:lnSpc>
            </a:pPr>
            <a:r>
              <a:rPr lang="en-US" altLang="zh-TW" sz="3200" baseline="30000" dirty="0">
                <a:sym typeface="Symbol" panose="05050102010706020507" pitchFamily="18" charset="2"/>
              </a:rPr>
              <a:t>	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			</a:t>
            </a:r>
            <a:r>
              <a:rPr lang="en-US" altLang="zh-TW" sz="3200" dirty="0" smtClean="0">
                <a:sym typeface="Symbol" panose="05050102010706020507" pitchFamily="18" charset="2"/>
              </a:rPr>
              <a:t>= 53</a:t>
            </a:r>
            <a:r>
              <a:rPr lang="en-US" altLang="zh-TW" sz="3200" baseline="-25000" dirty="0" smtClean="0">
                <a:sym typeface="Symbol" panose="05050102010706020507" pitchFamily="18" charset="2"/>
              </a:rPr>
              <a:t>10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7155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">
            <a:extLst>
              <a:ext uri="{FF2B5EF4-FFF2-40B4-BE49-F238E27FC236}">
                <a16:creationId xmlns:a16="http://schemas.microsoft.com/office/drawing/2014/main" id="{BFD3721D-C117-426C-9E7A-379036A12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02"/>
          <a:stretch/>
        </p:blipFill>
        <p:spPr bwMode="auto">
          <a:xfrm>
            <a:off x="131535" y="1355270"/>
            <a:ext cx="11917988" cy="4947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473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4ED844A2-1504-4BEB-A377-813069353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4229"/>
            <a:ext cx="12192000" cy="5753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xtLst/>
        </p:spPr>
        <p:txBody>
          <a:bodyPr wrap="square" lIns="63500" tIns="25400" rIns="63500" bIns="25400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zh-TW" sz="4000" dirty="0">
                <a:solidFill>
                  <a:schemeClr val="bg1"/>
                </a:solidFill>
                <a:latin typeface="+mn-lt"/>
              </a:rPr>
              <a:t>Special Powers of 2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1496BAF4-D7C0-434B-897D-3518058A7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793" y="2147207"/>
            <a:ext cx="5388270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</a:pPr>
            <a:r>
              <a:rPr lang="en-US" altLang="zh-TW" sz="3200" b="0" dirty="0">
                <a:solidFill>
                  <a:srgbClr val="000000"/>
                </a:solidFill>
                <a:latin typeface="+mn-lt"/>
              </a:rPr>
              <a:t> 2</a:t>
            </a:r>
            <a:r>
              <a:rPr lang="en-US" altLang="zh-TW" sz="3200" b="0" baseline="30000" dirty="0">
                <a:solidFill>
                  <a:srgbClr val="000000"/>
                </a:solidFill>
                <a:latin typeface="+mn-lt"/>
              </a:rPr>
              <a:t>10 </a:t>
            </a:r>
            <a:r>
              <a:rPr lang="en-US" altLang="zh-TW" sz="3200" b="0" dirty="0">
                <a:solidFill>
                  <a:srgbClr val="000000"/>
                </a:solidFill>
                <a:latin typeface="+mn-lt"/>
              </a:rPr>
              <a:t> (1024) is Kilo, denoted "K"</a:t>
            </a:r>
            <a:endParaRPr lang="en-US" altLang="zh-TW" sz="3200" dirty="0">
              <a:latin typeface="+mn-lt"/>
            </a:endParaRP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2BDEB340-FA79-46AB-9B7E-8790CE082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793" y="3028270"/>
            <a:ext cx="8093075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</a:pPr>
            <a:r>
              <a:rPr lang="en-US" altLang="zh-TW" sz="3200" b="0" dirty="0">
                <a:solidFill>
                  <a:srgbClr val="000000"/>
                </a:solidFill>
                <a:latin typeface="+mn-lt"/>
              </a:rPr>
              <a:t> 2</a:t>
            </a:r>
            <a:r>
              <a:rPr lang="en-US" altLang="zh-TW" sz="3200" b="0" baseline="30000" dirty="0">
                <a:solidFill>
                  <a:srgbClr val="000000"/>
                </a:solidFill>
                <a:latin typeface="+mn-lt"/>
              </a:rPr>
              <a:t>20</a:t>
            </a:r>
            <a:r>
              <a:rPr lang="en-US" altLang="zh-TW" sz="3200" b="0" dirty="0">
                <a:solidFill>
                  <a:srgbClr val="000000"/>
                </a:solidFill>
                <a:latin typeface="+mn-lt"/>
              </a:rPr>
              <a:t> (1,048,576) is Mega, denoted "M"</a:t>
            </a:r>
            <a:endParaRPr lang="en-US" altLang="zh-TW" sz="3200" dirty="0">
              <a:latin typeface="+mn-lt"/>
            </a:endParaRP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97DFEBD8-49BF-46D3-A40F-5FA0F2268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0793" y="3998232"/>
            <a:ext cx="7392858" cy="44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buClr>
                <a:schemeClr val="hlink"/>
              </a:buClr>
            </a:pPr>
            <a:r>
              <a:rPr lang="en-US" altLang="zh-TW" sz="3200" b="0" dirty="0">
                <a:solidFill>
                  <a:srgbClr val="000000"/>
                </a:solidFill>
                <a:latin typeface="+mn-lt"/>
              </a:rPr>
              <a:t> 2</a:t>
            </a:r>
            <a:r>
              <a:rPr lang="en-US" altLang="zh-TW" sz="3200" b="0" baseline="30000" dirty="0">
                <a:solidFill>
                  <a:srgbClr val="000000"/>
                </a:solidFill>
                <a:latin typeface="+mn-lt"/>
              </a:rPr>
              <a:t>30</a:t>
            </a:r>
            <a:r>
              <a:rPr lang="en-US" altLang="zh-TW" sz="3200" b="0" dirty="0">
                <a:solidFill>
                  <a:srgbClr val="000000"/>
                </a:solidFill>
                <a:latin typeface="+mn-lt"/>
              </a:rPr>
              <a:t> (1,073, 741,824)</a:t>
            </a:r>
            <a:r>
              <a:rPr lang="zh-TW" altLang="en-US" sz="3200" b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zh-TW" sz="3200" b="0" dirty="0">
                <a:solidFill>
                  <a:srgbClr val="000000"/>
                </a:solidFill>
                <a:latin typeface="+mn-lt"/>
              </a:rPr>
              <a:t>is Giga, denoted "G"</a:t>
            </a:r>
            <a:endParaRPr lang="en-US" altLang="zh-TW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507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FF66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Exercise_2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文字方塊 1">
            <a:extLst>
              <a:ext uri="{FF2B5EF4-FFF2-40B4-BE49-F238E27FC236}">
                <a16:creationId xmlns:a16="http://schemas.microsoft.com/office/drawing/2014/main" id="{9C3D802E-1429-4C19-8786-D64F77CCC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408" y="940254"/>
            <a:ext cx="11328627" cy="289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3200" dirty="0">
                <a:latin typeface="+mn-lt"/>
              </a:rPr>
              <a:t/>
            </a:r>
            <a:br>
              <a:rPr lang="en-US" altLang="zh-TW" sz="3200" dirty="0">
                <a:latin typeface="+mn-lt"/>
              </a:rPr>
            </a:br>
            <a:r>
              <a:rPr lang="en-US" altLang="zh-TW" sz="3200" b="0" dirty="0">
                <a:latin typeface="+mn-lt"/>
              </a:rPr>
              <a:t>What is the decimal value of </a:t>
            </a:r>
            <a:endParaRPr lang="en-US" altLang="zh-TW" sz="3200" b="0" dirty="0" smtClean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TW" sz="3200" b="0" dirty="0" smtClean="0">
                <a:latin typeface="+mn-lt"/>
              </a:rPr>
              <a:t>1 </a:t>
            </a:r>
            <a:r>
              <a:rPr lang="en-US" altLang="zh-TW" sz="3200" b="0" dirty="0">
                <a:latin typeface="+mn-lt"/>
              </a:rPr>
              <a:t>× 2</a:t>
            </a:r>
            <a:r>
              <a:rPr lang="en-US" altLang="zh-TW" sz="3200" b="0" baseline="30000" dirty="0">
                <a:latin typeface="+mn-lt"/>
              </a:rPr>
              <a:t>4 </a:t>
            </a:r>
            <a:r>
              <a:rPr lang="en-US" altLang="zh-TW" sz="3200" b="0" dirty="0">
                <a:latin typeface="+mn-lt"/>
              </a:rPr>
              <a:t>+ 0 × 2</a:t>
            </a:r>
            <a:r>
              <a:rPr lang="en-US" altLang="zh-TW" sz="3200" b="0" baseline="30000" dirty="0">
                <a:latin typeface="+mn-lt"/>
              </a:rPr>
              <a:t>3 </a:t>
            </a:r>
            <a:r>
              <a:rPr lang="en-US" altLang="zh-TW" sz="3200" b="0" dirty="0">
                <a:latin typeface="+mn-lt"/>
              </a:rPr>
              <a:t>+ 1 × 2</a:t>
            </a:r>
            <a:r>
              <a:rPr lang="en-US" altLang="zh-TW" sz="3200" b="0" baseline="30000" dirty="0">
                <a:latin typeface="+mn-lt"/>
              </a:rPr>
              <a:t>2 </a:t>
            </a:r>
            <a:r>
              <a:rPr lang="en-US" altLang="zh-TW" sz="3200" b="0" dirty="0">
                <a:latin typeface="+mn-lt"/>
              </a:rPr>
              <a:t>+ 0 × 2</a:t>
            </a:r>
            <a:r>
              <a:rPr lang="en-US" altLang="zh-TW" sz="3200" b="0" baseline="30000" dirty="0">
                <a:latin typeface="+mn-lt"/>
              </a:rPr>
              <a:t>1 </a:t>
            </a:r>
            <a:r>
              <a:rPr lang="en-US" altLang="zh-TW" sz="3200" b="0" dirty="0">
                <a:latin typeface="+mn-lt"/>
              </a:rPr>
              <a:t>+ 1 × 2</a:t>
            </a:r>
            <a:r>
              <a:rPr lang="en-US" altLang="zh-TW" sz="3200" b="0" baseline="30000" dirty="0">
                <a:latin typeface="+mn-lt"/>
              </a:rPr>
              <a:t>0 </a:t>
            </a:r>
            <a:r>
              <a:rPr lang="en-US" altLang="zh-TW" sz="3200" b="0" dirty="0">
                <a:latin typeface="+mn-lt"/>
              </a:rPr>
              <a:t>?</a:t>
            </a:r>
          </a:p>
          <a:p>
            <a:pPr>
              <a:lnSpc>
                <a:spcPct val="150000"/>
              </a:lnSpc>
            </a:pPr>
            <a:endParaRPr lang="en-US" altLang="zh-TW" sz="3200" b="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altLang="zh-TW" sz="3200" dirty="0">
                <a:latin typeface="+mn-lt"/>
              </a:rPr>
              <a:t>Answer: </a:t>
            </a:r>
            <a:r>
              <a:rPr lang="en-US" altLang="zh-TW" sz="3200" b="0" dirty="0">
                <a:latin typeface="+mn-lt"/>
              </a:rPr>
              <a:t>21</a:t>
            </a:r>
            <a:endParaRPr lang="zh-TW" altLang="en-US" sz="3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8369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FF66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Exercise_3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02161" y="1228536"/>
            <a:ext cx="764985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dirty="0" smtClean="0"/>
              <a:t>4021</a:t>
            </a:r>
            <a:r>
              <a:rPr lang="en-US" altLang="zh-TW" sz="3200" baseline="-25000" dirty="0" smtClean="0"/>
              <a:t>5</a:t>
            </a:r>
            <a:r>
              <a:rPr lang="en-US" altLang="zh-TW" sz="3200" dirty="0" smtClean="0"/>
              <a:t>	= 4 </a:t>
            </a:r>
            <a:r>
              <a:rPr lang="en-US" altLang="zh-TW" sz="3200" dirty="0" smtClean="0">
                <a:sym typeface="Symbol" panose="05050102010706020507" pitchFamily="18" charset="2"/>
              </a:rPr>
              <a:t> 5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0 </a:t>
            </a:r>
            <a:r>
              <a:rPr lang="en-US" altLang="zh-TW" sz="3200" dirty="0" smtClean="0">
                <a:sym typeface="Symbol" panose="05050102010706020507" pitchFamily="18" charset="2"/>
              </a:rPr>
              <a:t> 5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2 </a:t>
            </a:r>
            <a:r>
              <a:rPr lang="en-US" altLang="zh-TW" sz="3200" dirty="0" smtClean="0">
                <a:sym typeface="Symbol" panose="05050102010706020507" pitchFamily="18" charset="2"/>
              </a:rPr>
              <a:t> 5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1 </a:t>
            </a:r>
            <a:r>
              <a:rPr lang="en-US" altLang="zh-TW" sz="3200" dirty="0" smtClean="0">
                <a:sym typeface="Symbol" panose="05050102010706020507" pitchFamily="18" charset="2"/>
              </a:rPr>
              <a:t> 5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endParaRPr lang="en-US" altLang="zh-TW" sz="3200" dirty="0" smtClean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TW" sz="3200" dirty="0">
                <a:sym typeface="Symbol" panose="05050102010706020507" pitchFamily="18" charset="2"/>
              </a:rPr>
              <a:t>	</a:t>
            </a:r>
            <a:r>
              <a:rPr lang="en-US" altLang="zh-TW" sz="3200" dirty="0" smtClean="0">
                <a:sym typeface="Symbol" panose="05050102010706020507" pitchFamily="18" charset="2"/>
              </a:rPr>
              <a:t>			=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500 </a:t>
            </a:r>
            <a:r>
              <a:rPr lang="en-US" altLang="zh-TW" sz="3200" dirty="0" smtClean="0">
                <a:sym typeface="Symbol" panose="05050102010706020507" pitchFamily="18" charset="2"/>
              </a:rPr>
              <a:t>+ 1</a:t>
            </a:r>
            <a:r>
              <a:rPr lang="en-US" altLang="zh-TW" sz="3200" dirty="0" smtClean="0"/>
              <a:t>0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1</a:t>
            </a:r>
            <a:endParaRPr lang="en-US" altLang="zh-TW" sz="3200" baseline="30000" dirty="0" smtClean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TW" sz="3200" baseline="30000" dirty="0">
                <a:sym typeface="Symbol" panose="05050102010706020507" pitchFamily="18" charset="2"/>
              </a:rPr>
              <a:t>	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			</a:t>
            </a:r>
            <a:r>
              <a:rPr lang="en-US" altLang="zh-TW" sz="3200" dirty="0" smtClean="0">
                <a:sym typeface="Symbol" panose="05050102010706020507" pitchFamily="18" charset="2"/>
              </a:rPr>
              <a:t>= 511</a:t>
            </a:r>
            <a:r>
              <a:rPr lang="en-US" altLang="zh-TW" sz="3200" baseline="-25000" dirty="0" smtClean="0">
                <a:sym typeface="Symbol" panose="05050102010706020507" pitchFamily="18" charset="2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989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FF66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Exercise_4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02161" y="1228536"/>
            <a:ext cx="57823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dirty="0" smtClean="0"/>
              <a:t>127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 smtClean="0"/>
              <a:t>	= 1 </a:t>
            </a:r>
            <a:r>
              <a:rPr lang="en-US" altLang="zh-TW" sz="3200" dirty="0" smtClean="0">
                <a:sym typeface="Symbol" panose="05050102010706020507" pitchFamily="18" charset="2"/>
              </a:rPr>
              <a:t> 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r>
              <a:rPr lang="en-US" altLang="zh-TW" sz="3200" dirty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2 </a:t>
            </a:r>
            <a:r>
              <a:rPr lang="en-US" altLang="zh-TW" sz="3200" dirty="0" smtClean="0">
                <a:sym typeface="Symbol" panose="05050102010706020507" pitchFamily="18" charset="2"/>
              </a:rPr>
              <a:t> 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r>
              <a:rPr lang="en-US" altLang="zh-TW" sz="3200" dirty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7 </a:t>
            </a:r>
            <a:r>
              <a:rPr lang="en-US" altLang="zh-TW" sz="3200" dirty="0" smtClean="0">
                <a:sym typeface="Symbol" panose="05050102010706020507" pitchFamily="18" charset="2"/>
              </a:rPr>
              <a:t> 8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3200" dirty="0">
                <a:sym typeface="Symbol" panose="05050102010706020507" pitchFamily="18" charset="2"/>
              </a:rPr>
              <a:t>	</a:t>
            </a:r>
            <a:r>
              <a:rPr lang="en-US" altLang="zh-TW" sz="3200" dirty="0" smtClean="0">
                <a:sym typeface="Symbol" panose="05050102010706020507" pitchFamily="18" charset="2"/>
              </a:rPr>
              <a:t>	=</a:t>
            </a:r>
            <a:r>
              <a:rPr lang="en-US" altLang="zh-TW" sz="3200" dirty="0" smtClean="0"/>
              <a:t> 64 </a:t>
            </a:r>
            <a:r>
              <a:rPr lang="en-US" altLang="zh-TW" sz="3200" dirty="0" smtClean="0">
                <a:sym typeface="Symbol" panose="05050102010706020507" pitchFamily="18" charset="2"/>
              </a:rPr>
              <a:t>+ 16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7</a:t>
            </a:r>
            <a:endParaRPr lang="en-US" altLang="zh-TW" sz="3200" baseline="30000" dirty="0" smtClean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TW" sz="3200" baseline="30000" dirty="0">
                <a:sym typeface="Symbol" panose="05050102010706020507" pitchFamily="18" charset="2"/>
              </a:rPr>
              <a:t>	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	</a:t>
            </a:r>
            <a:r>
              <a:rPr lang="en-US" altLang="zh-TW" sz="3200" dirty="0" smtClean="0">
                <a:sym typeface="Symbol" panose="05050102010706020507" pitchFamily="18" charset="2"/>
              </a:rPr>
              <a:t>= 87</a:t>
            </a:r>
            <a:r>
              <a:rPr lang="en-US" altLang="zh-TW" sz="3200" baseline="-25000" dirty="0" smtClean="0">
                <a:sym typeface="Symbol" panose="05050102010706020507" pitchFamily="18" charset="2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958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FF66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Exercise_5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02161" y="1228536"/>
            <a:ext cx="915827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dirty="0" smtClean="0"/>
              <a:t>B65F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	= 11 </a:t>
            </a:r>
            <a:r>
              <a:rPr lang="en-US" altLang="zh-TW" sz="3200" dirty="0" smtClean="0">
                <a:sym typeface="Symbol" panose="05050102010706020507" pitchFamily="18" charset="2"/>
              </a:rPr>
              <a:t> 16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3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r>
              <a:rPr lang="en-US" altLang="zh-TW" sz="3200" dirty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6 </a:t>
            </a:r>
            <a:r>
              <a:rPr lang="en-US" altLang="zh-TW" sz="3200" dirty="0" smtClean="0">
                <a:sym typeface="Symbol" panose="05050102010706020507" pitchFamily="18" charset="2"/>
              </a:rPr>
              <a:t> 16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2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  <a:r>
              <a:rPr lang="en-US" altLang="zh-TW" sz="3200" dirty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5 </a:t>
            </a:r>
            <a:r>
              <a:rPr lang="en-US" altLang="zh-TW" sz="3200" dirty="0" smtClean="0">
                <a:sym typeface="Symbol" panose="05050102010706020507" pitchFamily="18" charset="2"/>
              </a:rPr>
              <a:t> 16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1</a:t>
            </a:r>
            <a:r>
              <a:rPr lang="en-US" altLang="zh-TW" sz="3200" dirty="0">
                <a:sym typeface="Symbol" panose="05050102010706020507" pitchFamily="18" charset="2"/>
              </a:rPr>
              <a:t> + </a:t>
            </a:r>
            <a:r>
              <a:rPr lang="en-US" altLang="zh-TW" sz="3200" dirty="0" smtClean="0"/>
              <a:t>15 </a:t>
            </a:r>
            <a:r>
              <a:rPr lang="en-US" altLang="zh-TW" sz="3200" dirty="0">
                <a:sym typeface="Symbol" panose="05050102010706020507" pitchFamily="18" charset="2"/>
              </a:rPr>
              <a:t> </a:t>
            </a:r>
            <a:r>
              <a:rPr lang="en-US" altLang="zh-TW" sz="3200" dirty="0" smtClean="0">
                <a:sym typeface="Symbol" panose="05050102010706020507" pitchFamily="18" charset="2"/>
              </a:rPr>
              <a:t>16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0</a:t>
            </a:r>
            <a:r>
              <a:rPr lang="en-US" altLang="zh-TW" sz="3200" dirty="0" smtClean="0"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TW" sz="3200" dirty="0">
                <a:sym typeface="Symbol" panose="05050102010706020507" pitchFamily="18" charset="2"/>
              </a:rPr>
              <a:t>	</a:t>
            </a:r>
            <a:r>
              <a:rPr lang="en-US" altLang="zh-TW" sz="3200" dirty="0" smtClean="0">
                <a:sym typeface="Symbol" panose="05050102010706020507" pitchFamily="18" charset="2"/>
              </a:rPr>
              <a:t>		=</a:t>
            </a:r>
            <a:r>
              <a:rPr lang="en-US" altLang="zh-TW" sz="3200" dirty="0" smtClean="0"/>
              <a:t> 45056 </a:t>
            </a:r>
            <a:r>
              <a:rPr lang="en-US" altLang="zh-TW" sz="3200" dirty="0" smtClean="0">
                <a:sym typeface="Symbol" panose="05050102010706020507" pitchFamily="18" charset="2"/>
              </a:rPr>
              <a:t>+ 1536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ym typeface="Symbol" panose="05050102010706020507" pitchFamily="18" charset="2"/>
              </a:rPr>
              <a:t>+ </a:t>
            </a:r>
            <a:r>
              <a:rPr lang="en-US" altLang="zh-TW" sz="3200" dirty="0" smtClean="0"/>
              <a:t>80 + 15</a:t>
            </a:r>
            <a:endParaRPr lang="en-US" altLang="zh-TW" sz="3200" baseline="30000" dirty="0" smtClean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TW" sz="3200" baseline="30000" dirty="0">
                <a:sym typeface="Symbol" panose="05050102010706020507" pitchFamily="18" charset="2"/>
              </a:rPr>
              <a:t>	</a:t>
            </a:r>
            <a:r>
              <a:rPr lang="en-US" altLang="zh-TW" sz="3200" baseline="30000" dirty="0" smtClean="0">
                <a:sym typeface="Symbol" panose="05050102010706020507" pitchFamily="18" charset="2"/>
              </a:rPr>
              <a:t>		</a:t>
            </a:r>
            <a:r>
              <a:rPr lang="en-US" altLang="zh-TW" sz="3200" dirty="0" smtClean="0">
                <a:sym typeface="Symbol" panose="05050102010706020507" pitchFamily="18" charset="2"/>
              </a:rPr>
              <a:t>= 46687</a:t>
            </a:r>
            <a:r>
              <a:rPr lang="en-US" altLang="zh-TW" sz="3200" baseline="-25000" dirty="0" smtClean="0">
                <a:sym typeface="Symbol" panose="05050102010706020507" pitchFamily="18" charset="2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044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488335"/>
              </p:ext>
            </p:extLst>
          </p:nvPr>
        </p:nvGraphicFramePr>
        <p:xfrm>
          <a:off x="6388097" y="1340149"/>
          <a:ext cx="4598762" cy="466344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299381">
                  <a:extLst>
                    <a:ext uri="{9D8B030D-6E8A-4147-A177-3AD203B41FA5}">
                      <a16:colId xmlns:a16="http://schemas.microsoft.com/office/drawing/2014/main" val="2825451893"/>
                    </a:ext>
                  </a:extLst>
                </a:gridCol>
                <a:gridCol w="2299381">
                  <a:extLst>
                    <a:ext uri="{9D8B030D-6E8A-4147-A177-3AD203B41FA5}">
                      <a16:colId xmlns:a16="http://schemas.microsoft.com/office/drawing/2014/main" val="2606556196"/>
                    </a:ext>
                  </a:extLst>
                </a:gridCol>
              </a:tblGrid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Hexadecimal</a:t>
                      </a:r>
                      <a:endParaRPr lang="zh-TW" altLang="en-US" sz="2800" dirty="0"/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Decimal</a:t>
                      </a:r>
                      <a:endParaRPr lang="zh-TW" altLang="en-US" sz="2800" dirty="0"/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06952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8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955353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9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9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246167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730670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546007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C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149766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D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486268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E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14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944763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F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344284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68369"/>
              </p:ext>
            </p:extLst>
          </p:nvPr>
        </p:nvGraphicFramePr>
        <p:xfrm>
          <a:off x="1298121" y="1340149"/>
          <a:ext cx="4598762" cy="466344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299381">
                  <a:extLst>
                    <a:ext uri="{9D8B030D-6E8A-4147-A177-3AD203B41FA5}">
                      <a16:colId xmlns:a16="http://schemas.microsoft.com/office/drawing/2014/main" val="383623314"/>
                    </a:ext>
                  </a:extLst>
                </a:gridCol>
                <a:gridCol w="2299381">
                  <a:extLst>
                    <a:ext uri="{9D8B030D-6E8A-4147-A177-3AD203B41FA5}">
                      <a16:colId xmlns:a16="http://schemas.microsoft.com/office/drawing/2014/main" val="254763736"/>
                    </a:ext>
                  </a:extLst>
                </a:gridCol>
              </a:tblGrid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Hexadecimal</a:t>
                      </a:r>
                      <a:endParaRPr lang="zh-TW" altLang="en-US" sz="2800" dirty="0"/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Decimal</a:t>
                      </a:r>
                      <a:endParaRPr lang="zh-TW" altLang="en-US" sz="2800" dirty="0"/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778575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620827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347003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2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293657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8444578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4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079028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5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3985288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6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913244"/>
                  </a:ext>
                </a:extLst>
              </a:tr>
              <a:tr h="3754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7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94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17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/>
          <p:cNvSpPr txBox="1">
            <a:spLocks/>
          </p:cNvSpPr>
          <p:nvPr/>
        </p:nvSpPr>
        <p:spPr>
          <a:xfrm>
            <a:off x="0" y="2116476"/>
            <a:ext cx="12192000" cy="1385297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</a:t>
            </a:r>
            <a:r>
              <a:rPr lang="en-US" altLang="zh-TW" sz="5400" b="1" dirty="0">
                <a:solidFill>
                  <a:schemeClr val="bg1"/>
                </a:solidFill>
                <a:cs typeface="Arial" panose="020B0604020202020204" pitchFamily="34" charset="0"/>
              </a:rPr>
              <a:t>Numbers</a:t>
            </a:r>
            <a:endParaRPr lang="en-US" altLang="zh-TW" sz="5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副標題 4"/>
          <p:cNvSpPr>
            <a:spLocks noGrp="1"/>
          </p:cNvSpPr>
          <p:nvPr>
            <p:ph type="subTitle" idx="1"/>
          </p:nvPr>
        </p:nvSpPr>
        <p:spPr>
          <a:xfrm>
            <a:off x="0" y="3598523"/>
            <a:ext cx="12191999" cy="726897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>
            <a:normAutofit fontScale="92500" lnSpcReduction="10000"/>
          </a:bodyPr>
          <a:lstStyle/>
          <a:p>
            <a:r>
              <a:rPr lang="en-US" altLang="zh-TW" sz="40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</a:t>
            </a:r>
            <a:r>
              <a:rPr lang="en-US" altLang="zh-TW" sz="4000" b="1" dirty="0">
                <a:solidFill>
                  <a:schemeClr val="bg1"/>
                </a:solidFill>
                <a:cs typeface="Arial" panose="020B0604020202020204" pitchFamily="34" charset="0"/>
              </a:rPr>
              <a:t>to </a:t>
            </a:r>
            <a:r>
              <a:rPr lang="en-US" altLang="zh-TW" sz="40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non-Decimal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91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172196"/>
              </p:ext>
            </p:extLst>
          </p:nvPr>
        </p:nvGraphicFramePr>
        <p:xfrm>
          <a:off x="2244267" y="1787978"/>
          <a:ext cx="4427766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2244267" y="1183822"/>
            <a:ext cx="2545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69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178528"/>
              </p:ext>
            </p:extLst>
          </p:nvPr>
        </p:nvGraphicFramePr>
        <p:xfrm>
          <a:off x="2244267" y="1787978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r>
                        <a:rPr lang="en-US" altLang="zh-TW" sz="2800" b="0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244267" y="1183822"/>
            <a:ext cx="2545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45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178528"/>
              </p:ext>
            </p:extLst>
          </p:nvPr>
        </p:nvGraphicFramePr>
        <p:xfrm>
          <a:off x="2244267" y="1787978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r>
                        <a:rPr lang="en-US" altLang="zh-TW" sz="2800" b="0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197600"/>
              </p:ext>
            </p:extLst>
          </p:nvPr>
        </p:nvGraphicFramePr>
        <p:xfrm>
          <a:off x="2244267" y="3224892"/>
          <a:ext cx="4427766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2507420" y="4369418"/>
            <a:ext cx="1662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Quotient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8" name="右大括弧 17"/>
          <p:cNvSpPr/>
          <p:nvPr/>
        </p:nvSpPr>
        <p:spPr>
          <a:xfrm rot="5400000">
            <a:off x="3199944" y="3208109"/>
            <a:ext cx="277588" cy="2188943"/>
          </a:xfrm>
          <a:prstGeom prst="rightBrace">
            <a:avLst>
              <a:gd name="adj1" fmla="val 49509"/>
              <a:gd name="adj2" fmla="val 50000"/>
            </a:avLst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244267" y="1183822"/>
            <a:ext cx="2545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07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178528"/>
              </p:ext>
            </p:extLst>
          </p:nvPr>
        </p:nvGraphicFramePr>
        <p:xfrm>
          <a:off x="2244267" y="1787978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r>
                        <a:rPr lang="en-US" altLang="zh-TW" sz="2800" b="0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302149"/>
              </p:ext>
            </p:extLst>
          </p:nvPr>
        </p:nvGraphicFramePr>
        <p:xfrm>
          <a:off x="2244267" y="3224892"/>
          <a:ext cx="4427766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4568021" y="4369418"/>
            <a:ext cx="2019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Remainder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8" name="右大括弧 17"/>
          <p:cNvSpPr/>
          <p:nvPr/>
        </p:nvSpPr>
        <p:spPr>
          <a:xfrm rot="5400000">
            <a:off x="5438767" y="3208109"/>
            <a:ext cx="277588" cy="2188943"/>
          </a:xfrm>
          <a:prstGeom prst="rightBrace">
            <a:avLst>
              <a:gd name="adj1" fmla="val 49509"/>
              <a:gd name="adj2" fmla="val 50000"/>
            </a:avLst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244267" y="1183822"/>
            <a:ext cx="2545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Decimal Number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78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506821"/>
              </p:ext>
            </p:extLst>
          </p:nvPr>
        </p:nvGraphicFramePr>
        <p:xfrm>
          <a:off x="2244267" y="1787978"/>
          <a:ext cx="4427766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244267" y="1183822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Octal Number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682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598755"/>
              </p:ext>
            </p:extLst>
          </p:nvPr>
        </p:nvGraphicFramePr>
        <p:xfrm>
          <a:off x="2244267" y="1787978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r>
                        <a:rPr lang="en-US" altLang="zh-TW" sz="2800" b="0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244267" y="1183822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Octal Number</a:t>
            </a:r>
            <a:endParaRPr lang="zh-TW" altLang="en-US" sz="28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5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598755"/>
              </p:ext>
            </p:extLst>
          </p:nvPr>
        </p:nvGraphicFramePr>
        <p:xfrm>
          <a:off x="2244267" y="1787978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r>
                        <a:rPr lang="en-US" altLang="zh-TW" sz="2800" b="0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233733"/>
              </p:ext>
            </p:extLst>
          </p:nvPr>
        </p:nvGraphicFramePr>
        <p:xfrm>
          <a:off x="2244267" y="3224892"/>
          <a:ext cx="4427766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2244267" y="1183822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Octal Number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772633" y="4441375"/>
            <a:ext cx="1662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Quotient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0" name="右大括弧 9"/>
          <p:cNvSpPr/>
          <p:nvPr/>
        </p:nvSpPr>
        <p:spPr>
          <a:xfrm rot="5400000">
            <a:off x="2465157" y="3942896"/>
            <a:ext cx="277588" cy="719369"/>
          </a:xfrm>
          <a:prstGeom prst="rightBrace">
            <a:avLst>
              <a:gd name="adj1" fmla="val 49509"/>
              <a:gd name="adj2" fmla="val 50000"/>
            </a:avLst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39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598755"/>
              </p:ext>
            </p:extLst>
          </p:nvPr>
        </p:nvGraphicFramePr>
        <p:xfrm>
          <a:off x="2244267" y="1787978"/>
          <a:ext cx="5903688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063890325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3889604387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 smtClean="0">
                          <a:solidFill>
                            <a:schemeClr val="tx1"/>
                          </a:solidFill>
                          <a:latin typeface="+mn-lt"/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r>
                        <a:rPr lang="en-US" altLang="zh-TW" sz="2800" b="0" baseline="3000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baseline="30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701626"/>
              </p:ext>
            </p:extLst>
          </p:nvPr>
        </p:nvGraphicFramePr>
        <p:xfrm>
          <a:off x="2244267" y="3224892"/>
          <a:ext cx="4427766" cy="81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61">
                  <a:extLst>
                    <a:ext uri="{9D8B030D-6E8A-4147-A177-3AD203B41FA5}">
                      <a16:colId xmlns:a16="http://schemas.microsoft.com/office/drawing/2014/main" val="305037100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435187969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1064515611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751047414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2237878856"/>
                    </a:ext>
                  </a:extLst>
                </a:gridCol>
                <a:gridCol w="737961">
                  <a:extLst>
                    <a:ext uri="{9D8B030D-6E8A-4147-A177-3AD203B41FA5}">
                      <a16:colId xmlns:a16="http://schemas.microsoft.com/office/drawing/2014/main" val="671459792"/>
                    </a:ext>
                  </a:extLst>
                </a:gridCol>
              </a:tblGrid>
              <a:tr h="8129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8722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3828705" y="4369418"/>
            <a:ext cx="2019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Remainder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  <p:sp>
        <p:nvSpPr>
          <p:cNvPr id="18" name="右大括弧 17"/>
          <p:cNvSpPr/>
          <p:nvPr/>
        </p:nvSpPr>
        <p:spPr>
          <a:xfrm rot="5400000">
            <a:off x="4699451" y="2468793"/>
            <a:ext cx="277588" cy="3667576"/>
          </a:xfrm>
          <a:prstGeom prst="rightBrace">
            <a:avLst>
              <a:gd name="adj1" fmla="val 49509"/>
              <a:gd name="adj2" fmla="val 50000"/>
            </a:avLst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244267" y="1183822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Octal Number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89807" y="6172200"/>
            <a:ext cx="1991251" cy="58477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Example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9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7072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216986"/>
              </p:ext>
            </p:extLst>
          </p:nvPr>
        </p:nvGraphicFramePr>
        <p:xfrm>
          <a:off x="303892" y="2141448"/>
          <a:ext cx="930729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27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344696"/>
              </p:ext>
            </p:extLst>
          </p:nvPr>
        </p:nvGraphicFramePr>
        <p:xfrm>
          <a:off x="303892" y="2141448"/>
          <a:ext cx="930729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73308"/>
              </p:ext>
            </p:extLst>
          </p:nvPr>
        </p:nvGraphicFramePr>
        <p:xfrm>
          <a:off x="5181601" y="215537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6" name="直線單箭頭接點 15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558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125439"/>
              </p:ext>
            </p:extLst>
          </p:nvPr>
        </p:nvGraphicFramePr>
        <p:xfrm>
          <a:off x="303892" y="2141448"/>
          <a:ext cx="930729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73308"/>
              </p:ext>
            </p:extLst>
          </p:nvPr>
        </p:nvGraphicFramePr>
        <p:xfrm>
          <a:off x="5181601" y="2155372"/>
          <a:ext cx="4623024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cxnSp>
        <p:nvCxnSpPr>
          <p:cNvPr id="16" name="直線單箭頭接點 15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435812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879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23168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219950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77430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7" name="矩形 16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64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562016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338900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00064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97926"/>
              </p:ext>
            </p:extLst>
          </p:nvPr>
        </p:nvGraphicFramePr>
        <p:xfrm>
          <a:off x="5181601" y="3077447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939798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7" name="矩形 16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3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420653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338900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141201"/>
              </p:ext>
            </p:extLst>
          </p:nvPr>
        </p:nvGraphicFramePr>
        <p:xfrm>
          <a:off x="1234621" y="3125241"/>
          <a:ext cx="930729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79906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6" name="文字方塊 15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500838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9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673977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125691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519597"/>
              </p:ext>
            </p:extLst>
          </p:nvPr>
        </p:nvGraphicFramePr>
        <p:xfrm>
          <a:off x="2165350" y="3125241"/>
          <a:ext cx="930729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453446"/>
              </p:ext>
            </p:extLst>
          </p:nvPr>
        </p:nvGraphicFramePr>
        <p:xfrm>
          <a:off x="9035144" y="3108903"/>
          <a:ext cx="77050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703171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56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861245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125691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519597"/>
              </p:ext>
            </p:extLst>
          </p:nvPr>
        </p:nvGraphicFramePr>
        <p:xfrm>
          <a:off x="2165350" y="3125241"/>
          <a:ext cx="930729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453446"/>
              </p:ext>
            </p:extLst>
          </p:nvPr>
        </p:nvGraphicFramePr>
        <p:xfrm>
          <a:off x="9035144" y="3108903"/>
          <a:ext cx="77050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270008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1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95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270665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713471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8" name="矩形 17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367919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23" name="文字方塊 22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22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62953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96857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324401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07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62953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96857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324401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289332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448851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15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62953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96857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324401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63024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503259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23" name="文字方塊 22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77157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62953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96857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324401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378443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05703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4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00372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62953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96857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2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378443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05703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4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038690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41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551219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149986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8" name="矩形 17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949146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04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960551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949146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413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762026"/>
              </p:ext>
            </p:extLst>
          </p:nvPr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933306"/>
              </p:ext>
            </p:extLst>
          </p:nvPr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758926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952633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949146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83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79647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sp>
        <p:nvSpPr>
          <p:cNvPr id="23" name="文字方塊 22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297736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949146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27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79647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sp>
        <p:nvSpPr>
          <p:cNvPr id="23" name="文字方塊 22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297736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458005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054888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sp>
        <p:nvSpPr>
          <p:cNvPr id="22" name="文字方塊 21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429105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3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407601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27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23300" y="1192157"/>
            <a:ext cx="1476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Decimal</a:t>
            </a:r>
            <a:endParaRPr lang="zh-TW" altLang="en-US" sz="3200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4060942" y="1503756"/>
            <a:ext cx="31840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7234608" y="1192157"/>
            <a:ext cx="1085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Octal</a:t>
            </a:r>
            <a:endParaRPr lang="zh-TW" altLang="en-US" sz="32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303892" y="2141448"/>
          <a:ext cx="2792187" cy="619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1296423003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181601" y="2155372"/>
          <a:ext cx="6164032" cy="627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079958306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282899943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n-1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n-2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200" b="0" dirty="0" smtClean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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  <p:sp>
        <p:nvSpPr>
          <p:cNvPr id="14" name="文字方塊 13"/>
          <p:cNvSpPr txBox="1"/>
          <p:nvPr/>
        </p:nvSpPr>
        <p:spPr>
          <a:xfrm>
            <a:off x="3875787" y="216065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943116"/>
              </p:ext>
            </p:extLst>
          </p:nvPr>
        </p:nvGraphicFramePr>
        <p:xfrm>
          <a:off x="5181601" y="5265965"/>
          <a:ext cx="4623024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563080614"/>
                    </a:ext>
                  </a:extLst>
                </a:gridCol>
              </a:tblGrid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3200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en-US" altLang="zh-TW" sz="3200" b="1" baseline="-25000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TW" altLang="en-US" sz="3200" b="1" baseline="-2500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1" baseline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1" baseline="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32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821799"/>
                  </a:ext>
                </a:extLst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223300" y="5893411"/>
            <a:ext cx="1606145" cy="584775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3200" b="1" dirty="0" smtClean="0">
                <a:solidFill>
                  <a:schemeClr val="bg1"/>
                </a:solidFill>
              </a:rPr>
              <a:t>Round 3</a:t>
            </a:r>
            <a:endParaRPr lang="zh-TW" alt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302838"/>
              </p:ext>
            </p:extLst>
          </p:nvPr>
        </p:nvGraphicFramePr>
        <p:xfrm>
          <a:off x="1234621" y="3125241"/>
          <a:ext cx="1861458" cy="1238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729">
                  <a:extLst>
                    <a:ext uri="{9D8B030D-6E8A-4147-A177-3AD203B41FA5}">
                      <a16:colId xmlns:a16="http://schemas.microsoft.com/office/drawing/2014/main" val="2224987092"/>
                    </a:ext>
                  </a:extLst>
                </a:gridCol>
                <a:gridCol w="930729">
                  <a:extLst>
                    <a:ext uri="{9D8B030D-6E8A-4147-A177-3AD203B41FA5}">
                      <a16:colId xmlns:a16="http://schemas.microsoft.com/office/drawing/2014/main" val="960296813"/>
                    </a:ext>
                  </a:extLst>
                </a:gridCol>
              </a:tblGrid>
              <a:tr h="61927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122032"/>
                  </a:ext>
                </a:extLst>
              </a:tr>
              <a:tr h="61927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449802"/>
                  </a:ext>
                </a:extLst>
              </a:tr>
            </a:tbl>
          </a:graphicData>
        </a:graphic>
      </p:graphicFrame>
      <p:sp>
        <p:nvSpPr>
          <p:cNvPr id="24" name="文字方塊 23"/>
          <p:cNvSpPr txBox="1"/>
          <p:nvPr/>
        </p:nvSpPr>
        <p:spPr>
          <a:xfrm>
            <a:off x="3875787" y="3350950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/>
              <a:t>=</a:t>
            </a:r>
            <a:endParaRPr lang="zh-TW" altLang="en-US" sz="4000" b="1" dirty="0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348099"/>
              </p:ext>
            </p:extLst>
          </p:nvPr>
        </p:nvGraphicFramePr>
        <p:xfrm>
          <a:off x="5181601" y="3077447"/>
          <a:ext cx="3852520" cy="1254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504">
                  <a:extLst>
                    <a:ext uri="{9D8B030D-6E8A-4147-A177-3AD203B41FA5}">
                      <a16:colId xmlns:a16="http://schemas.microsoft.com/office/drawing/2014/main" val="1607831363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794621004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4086440288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1756015480"/>
                    </a:ext>
                  </a:extLst>
                </a:gridCol>
                <a:gridCol w="770504">
                  <a:extLst>
                    <a:ext uri="{9D8B030D-6E8A-4147-A177-3AD203B41FA5}">
                      <a16:colId xmlns:a16="http://schemas.microsoft.com/office/drawing/2014/main" val="2645651302"/>
                    </a:ext>
                  </a:extLst>
                </a:gridCol>
              </a:tblGrid>
              <a:tr h="627446">
                <a:tc gridSpan="3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201504"/>
                  </a:ext>
                </a:extLst>
              </a:tr>
              <a:tr h="627446">
                <a:tc>
                  <a:txBody>
                    <a:bodyPr/>
                    <a:lstStyle/>
                    <a:p>
                      <a:pPr algn="ctr"/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709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5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4947557"/>
            <a:ext cx="12192000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4055216" y="2336080"/>
            <a:ext cx="40815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400" dirty="0" smtClean="0"/>
              <a:t>157</a:t>
            </a:r>
            <a:r>
              <a:rPr lang="en-US" altLang="zh-TW" sz="5400" baseline="-25000" dirty="0" smtClean="0"/>
              <a:t>10</a:t>
            </a:r>
            <a:r>
              <a:rPr lang="zh-TW" altLang="en-US" sz="5400" dirty="0" smtClean="0"/>
              <a:t> </a:t>
            </a:r>
            <a:r>
              <a:rPr lang="en-US" altLang="zh-TW" sz="5400" dirty="0" smtClean="0"/>
              <a:t>=</a:t>
            </a:r>
            <a:r>
              <a:rPr lang="zh-TW" altLang="en-US" sz="5400" dirty="0" smtClean="0"/>
              <a:t> </a:t>
            </a:r>
            <a:r>
              <a:rPr lang="en-US" altLang="zh-TW" sz="5400" dirty="0" smtClean="0"/>
              <a:t>235</a:t>
            </a:r>
            <a:r>
              <a:rPr lang="en-US" altLang="zh-TW" sz="5400" baseline="-25000" dirty="0" smtClean="0"/>
              <a:t>8</a:t>
            </a:r>
            <a:endParaRPr lang="zh-TW" altLang="en-US" sz="5400" baseline="-25000" dirty="0"/>
          </a:p>
        </p:txBody>
      </p:sp>
    </p:spTree>
    <p:extLst>
      <p:ext uri="{BB962C8B-B14F-4D97-AF65-F5344CB8AC3E}">
        <p14:creationId xmlns:p14="http://schemas.microsoft.com/office/powerpoint/2010/main" val="98985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432918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44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6870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244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180514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3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961750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61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848608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Round2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947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682043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Round2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48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712905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Round2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2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623706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Round2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09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076547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Round2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            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55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037683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Round2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            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19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Decimal to non-Decimal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672912"/>
              </p:ext>
            </p:extLst>
          </p:nvPr>
        </p:nvGraphicFramePr>
        <p:xfrm>
          <a:off x="2246085" y="2303535"/>
          <a:ext cx="6769102" cy="296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543">
                  <a:extLst>
                    <a:ext uri="{9D8B030D-6E8A-4147-A177-3AD203B41FA5}">
                      <a16:colId xmlns:a16="http://schemas.microsoft.com/office/drawing/2014/main" val="1750776662"/>
                    </a:ext>
                  </a:extLst>
                </a:gridCol>
                <a:gridCol w="1087665">
                  <a:extLst>
                    <a:ext uri="{9D8B030D-6E8A-4147-A177-3AD203B41FA5}">
                      <a16:colId xmlns:a16="http://schemas.microsoft.com/office/drawing/2014/main" val="3948896486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0180761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7649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698558356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977179841"/>
                    </a:ext>
                  </a:extLst>
                </a:gridCol>
                <a:gridCol w="1155247">
                  <a:extLst>
                    <a:ext uri="{9D8B030D-6E8A-4147-A177-3AD203B41FA5}">
                      <a16:colId xmlns:a16="http://schemas.microsoft.com/office/drawing/2014/main" val="2763721742"/>
                    </a:ext>
                  </a:extLst>
                </a:gridCol>
              </a:tblGrid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157</a:t>
                      </a:r>
                      <a:r>
                        <a:rPr lang="en-US" altLang="zh-TW" sz="3200" b="0" baseline="-25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24133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Round2</a:t>
                      </a:r>
                      <a:endParaRPr lang="zh-TW" altLang="en-US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793898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Round3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256455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            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621587"/>
                  </a:ext>
                </a:extLst>
              </a:tr>
            </a:tbl>
          </a:graphicData>
        </a:graphic>
      </p:graphicFrame>
      <p:sp>
        <p:nvSpPr>
          <p:cNvPr id="5" name="手繪多邊形 4"/>
          <p:cNvSpPr/>
          <p:nvPr/>
        </p:nvSpPr>
        <p:spPr>
          <a:xfrm>
            <a:off x="8580664" y="3265714"/>
            <a:ext cx="593539" cy="2077251"/>
          </a:xfrm>
          <a:custGeom>
            <a:avLst/>
            <a:gdLst>
              <a:gd name="connsiteX0" fmla="*/ 0 w 593539"/>
              <a:gd name="connsiteY0" fmla="*/ 2065565 h 2077251"/>
              <a:gd name="connsiteX1" fmla="*/ 530679 w 593539"/>
              <a:gd name="connsiteY1" fmla="*/ 1877786 h 2077251"/>
              <a:gd name="connsiteX2" fmla="*/ 587829 w 593539"/>
              <a:gd name="connsiteY2" fmla="*/ 693965 h 2077251"/>
              <a:gd name="connsiteX3" fmla="*/ 571500 w 593539"/>
              <a:gd name="connsiteY3" fmla="*/ 0 h 2077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539" h="2077251">
                <a:moveTo>
                  <a:pt x="0" y="2065565"/>
                </a:moveTo>
                <a:cubicBezTo>
                  <a:pt x="216354" y="2085975"/>
                  <a:pt x="432708" y="2106386"/>
                  <a:pt x="530679" y="1877786"/>
                </a:cubicBezTo>
                <a:cubicBezTo>
                  <a:pt x="628651" y="1649186"/>
                  <a:pt x="581026" y="1006929"/>
                  <a:pt x="587829" y="693965"/>
                </a:cubicBezTo>
                <a:cubicBezTo>
                  <a:pt x="594632" y="381001"/>
                  <a:pt x="583066" y="190500"/>
                  <a:pt x="571500" y="0"/>
                </a:cubicBezTo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8314514" y="2303535"/>
            <a:ext cx="1401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b="1" dirty="0" smtClean="0"/>
              <a:t>=</a:t>
            </a:r>
            <a:r>
              <a:rPr lang="en-US" altLang="zh-TW" sz="3200" dirty="0" smtClean="0"/>
              <a:t> 235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110374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FF66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Exercise_1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28C9CD-9F41-4ECD-9B20-B1C7CB663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1173"/>
            <a:ext cx="454483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800" b="0" dirty="0">
                <a:latin typeface="+mn-lt"/>
              </a:rPr>
              <a:t>Convert decimal 153 to octal. </a:t>
            </a:r>
            <a:endParaRPr lang="en-US" altLang="zh-TW" sz="2800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76F458-0E49-458A-88E2-F27589EBE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200"/>
          <a:stretch/>
        </p:blipFill>
        <p:spPr bwMode="auto">
          <a:xfrm>
            <a:off x="2697177" y="2691947"/>
            <a:ext cx="4870439" cy="3194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7821385" y="5301676"/>
            <a:ext cx="2456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153</a:t>
            </a:r>
            <a:r>
              <a:rPr lang="en-US" altLang="zh-TW" sz="3200" baseline="-25000" dirty="0" smtClean="0"/>
              <a:t>10 </a:t>
            </a:r>
            <a:r>
              <a:rPr lang="en-US" altLang="zh-TW" sz="3200" dirty="0" smtClean="0"/>
              <a:t>= 231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249941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FF66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Exercise_2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28C9CD-9F41-4ECD-9B20-B1C7CB663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1173"/>
            <a:ext cx="464030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800" b="0" dirty="0">
                <a:latin typeface="+mn-lt"/>
              </a:rPr>
              <a:t>Convert decimal </a:t>
            </a:r>
            <a:r>
              <a:rPr lang="en-US" altLang="zh-TW" sz="2800" b="0" dirty="0" smtClean="0">
                <a:latin typeface="+mn-lt"/>
              </a:rPr>
              <a:t>41 </a:t>
            </a:r>
            <a:r>
              <a:rPr lang="en-US" altLang="zh-TW" sz="2800" b="0" dirty="0">
                <a:latin typeface="+mn-lt"/>
              </a:rPr>
              <a:t>to </a:t>
            </a:r>
            <a:r>
              <a:rPr lang="en-US" altLang="zh-TW" sz="2800" b="0" dirty="0" smtClean="0">
                <a:latin typeface="+mn-lt"/>
              </a:rPr>
              <a:t>binary.</a:t>
            </a:r>
            <a:r>
              <a:rPr lang="en-US" altLang="zh-TW" sz="2800" dirty="0" smtClean="0">
                <a:latin typeface="+mn-lt"/>
              </a:rPr>
              <a:t> </a:t>
            </a:r>
            <a:endParaRPr lang="en-US" altLang="zh-TW" sz="2800" dirty="0">
              <a:latin typeface="+mn-lt"/>
            </a:endParaRP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FA5160FE-11A5-48AA-835F-600D4433B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275"/>
          <a:stretch/>
        </p:blipFill>
        <p:spPr bwMode="auto">
          <a:xfrm>
            <a:off x="3516426" y="1846096"/>
            <a:ext cx="4451918" cy="4653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8507185" y="5788479"/>
            <a:ext cx="2946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41</a:t>
            </a:r>
            <a:r>
              <a:rPr lang="en-US" altLang="zh-TW" sz="3200" baseline="-25000" dirty="0" smtClean="0"/>
              <a:t>10</a:t>
            </a:r>
            <a:r>
              <a:rPr lang="en-US" altLang="zh-TW" sz="3200" dirty="0" smtClean="0"/>
              <a:t> = 101001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357825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3"/>
          <p:cNvSpPr txBox="1">
            <a:spLocks/>
          </p:cNvSpPr>
          <p:nvPr/>
        </p:nvSpPr>
        <p:spPr>
          <a:xfrm>
            <a:off x="0" y="2116476"/>
            <a:ext cx="12192000" cy="1385297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</a:t>
            </a:r>
            <a:r>
              <a:rPr lang="en-US" altLang="zh-TW" sz="5400" b="1" dirty="0">
                <a:solidFill>
                  <a:schemeClr val="bg1"/>
                </a:solidFill>
                <a:cs typeface="Arial" panose="020B0604020202020204" pitchFamily="34" charset="0"/>
              </a:rPr>
              <a:t>Numbers</a:t>
            </a:r>
            <a:endParaRPr lang="en-US" altLang="zh-TW" sz="5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副標題 4"/>
          <p:cNvSpPr>
            <a:spLocks noGrp="1"/>
          </p:cNvSpPr>
          <p:nvPr>
            <p:ph type="subTitle" idx="1"/>
          </p:nvPr>
        </p:nvSpPr>
        <p:spPr>
          <a:xfrm>
            <a:off x="0" y="3598523"/>
            <a:ext cx="12191999" cy="726897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>
            <a:normAutofit fontScale="92500" lnSpcReduction="10000"/>
          </a:bodyPr>
          <a:lstStyle/>
          <a:p>
            <a:r>
              <a:rPr lang="en-US" altLang="zh-TW" sz="40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Binary/octal/hexadecimal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69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Binary-octal-hexadecimal Conversion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597363"/>
              </p:ext>
            </p:extLst>
          </p:nvPr>
        </p:nvGraphicFramePr>
        <p:xfrm>
          <a:off x="2495096" y="1258509"/>
          <a:ext cx="7201808" cy="52120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3600904">
                  <a:extLst>
                    <a:ext uri="{9D8B030D-6E8A-4147-A177-3AD203B41FA5}">
                      <a16:colId xmlns:a16="http://schemas.microsoft.com/office/drawing/2014/main" val="3521176990"/>
                    </a:ext>
                  </a:extLst>
                </a:gridCol>
                <a:gridCol w="3600904">
                  <a:extLst>
                    <a:ext uri="{9D8B030D-6E8A-4147-A177-3AD203B41FA5}">
                      <a16:colId xmlns:a16="http://schemas.microsoft.com/office/drawing/2014/main" val="2324281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Octal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Binary</a:t>
                      </a:r>
                      <a:endParaRPr lang="zh-TW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52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06341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12412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5934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049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8421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892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1175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7801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093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Binary-octal-hexadecimal Conversion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539"/>
              </p:ext>
            </p:extLst>
          </p:nvPr>
        </p:nvGraphicFramePr>
        <p:xfrm>
          <a:off x="815521" y="1201358"/>
          <a:ext cx="5217886" cy="52120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608943">
                  <a:extLst>
                    <a:ext uri="{9D8B030D-6E8A-4147-A177-3AD203B41FA5}">
                      <a16:colId xmlns:a16="http://schemas.microsoft.com/office/drawing/2014/main" val="3521176990"/>
                    </a:ext>
                  </a:extLst>
                </a:gridCol>
                <a:gridCol w="2608943">
                  <a:extLst>
                    <a:ext uri="{9D8B030D-6E8A-4147-A177-3AD203B41FA5}">
                      <a16:colId xmlns:a16="http://schemas.microsoft.com/office/drawing/2014/main" val="2324281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Hexadecimal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Binary</a:t>
                      </a:r>
                      <a:endParaRPr lang="zh-TW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52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0000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06341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0001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12412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0010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5934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0011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049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4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0100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8421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5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0101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892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6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0110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1175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7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0111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78018166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413154"/>
              </p:ext>
            </p:extLst>
          </p:nvPr>
        </p:nvGraphicFramePr>
        <p:xfrm>
          <a:off x="6187621" y="1201358"/>
          <a:ext cx="5217886" cy="52120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608943">
                  <a:extLst>
                    <a:ext uri="{9D8B030D-6E8A-4147-A177-3AD203B41FA5}">
                      <a16:colId xmlns:a16="http://schemas.microsoft.com/office/drawing/2014/main" val="3521176990"/>
                    </a:ext>
                  </a:extLst>
                </a:gridCol>
                <a:gridCol w="2608943">
                  <a:extLst>
                    <a:ext uri="{9D8B030D-6E8A-4147-A177-3AD203B41FA5}">
                      <a16:colId xmlns:a16="http://schemas.microsoft.com/office/drawing/2014/main" val="2324281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Hexadecimal</a:t>
                      </a:r>
                      <a:endParaRPr lang="zh-TW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Binary</a:t>
                      </a:r>
                      <a:endParaRPr lang="zh-TW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52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8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1000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06341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9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1001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12412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A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1010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5934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B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1011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0494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C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1100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8421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D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1101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892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E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1110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01175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F</a:t>
                      </a:r>
                      <a:endParaRPr lang="zh-TW" altLang="en-US" sz="3200" dirty="0"/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1111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78018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23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to octal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eaLnBrk="1" hangingPunct="1"/>
            <a:r>
              <a:rPr lang="en-US" altLang="zh-TW" sz="2800" b="0" dirty="0" smtClean="0">
                <a:latin typeface="+mn-lt"/>
              </a:rPr>
              <a:t>Conversion </a:t>
            </a:r>
            <a:r>
              <a:rPr lang="en-US" altLang="zh-TW" sz="2800" b="0" dirty="0">
                <a:latin typeface="+mn-lt"/>
              </a:rPr>
              <a:t>from binary to octal can be done by positioning the binary number into groups of three digits each, starting from the </a:t>
            </a:r>
            <a:r>
              <a:rPr lang="en-US" altLang="zh-TW" sz="2800" b="0" dirty="0" smtClean="0">
                <a:latin typeface="+mn-lt"/>
              </a:rPr>
              <a:t>most right bit. </a:t>
            </a:r>
            <a:endParaRPr lang="en-US" altLang="zh-TW" sz="2800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136728" y="3241223"/>
            <a:ext cx="9777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10110001101011111100000110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 smtClean="0"/>
              <a:t> = (                     )</a:t>
            </a:r>
            <a:r>
              <a:rPr lang="en-US" altLang="zh-TW" sz="3200" baseline="-25000" dirty="0" smtClean="0"/>
              <a:t>8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47276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to octal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014198"/>
              </p:ext>
            </p:extLst>
          </p:nvPr>
        </p:nvGraphicFramePr>
        <p:xfrm>
          <a:off x="1564819" y="3201609"/>
          <a:ext cx="9062361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929">
                  <a:extLst>
                    <a:ext uri="{9D8B030D-6E8A-4147-A177-3AD203B41FA5}">
                      <a16:colId xmlns:a16="http://schemas.microsoft.com/office/drawing/2014/main" val="3898571068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3050825513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81748348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1782699867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794773417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1022378055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199012434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778456914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3213841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48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72417"/>
                  </a:ext>
                </a:extLst>
              </a:tr>
            </a:tbl>
          </a:graphicData>
        </a:graphic>
      </p:graphicFrame>
      <p:sp>
        <p:nvSpPr>
          <p:cNvPr id="6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eaLnBrk="1" hangingPunct="1"/>
            <a:r>
              <a:rPr lang="en-US" altLang="zh-TW" sz="2800" b="0" dirty="0" smtClean="0">
                <a:latin typeface="+mn-lt"/>
              </a:rPr>
              <a:t>Conversion </a:t>
            </a:r>
            <a:r>
              <a:rPr lang="en-US" altLang="zh-TW" sz="2800" b="0" dirty="0">
                <a:latin typeface="+mn-lt"/>
              </a:rPr>
              <a:t>from binary to octal can be done by positioning the binary number into groups of three digits each, starting from the </a:t>
            </a:r>
            <a:r>
              <a:rPr lang="en-US" altLang="zh-TW" sz="2800" b="0" dirty="0" smtClean="0">
                <a:latin typeface="+mn-lt"/>
              </a:rPr>
              <a:t>most right bit. </a:t>
            </a:r>
            <a:endParaRPr lang="en-US" altLang="zh-TW" sz="2800" dirty="0">
              <a:latin typeface="+mn-lt"/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 flipH="1" flipV="1">
            <a:off x="10025743" y="2988130"/>
            <a:ext cx="342900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071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to octal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438735"/>
              </p:ext>
            </p:extLst>
          </p:nvPr>
        </p:nvGraphicFramePr>
        <p:xfrm>
          <a:off x="1564819" y="3201609"/>
          <a:ext cx="9062361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929">
                  <a:extLst>
                    <a:ext uri="{9D8B030D-6E8A-4147-A177-3AD203B41FA5}">
                      <a16:colId xmlns:a16="http://schemas.microsoft.com/office/drawing/2014/main" val="3898571068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3050825513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81748348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1782699867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794773417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1022378055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199012434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778456914"/>
                    </a:ext>
                  </a:extLst>
                </a:gridCol>
                <a:gridCol w="1006929">
                  <a:extLst>
                    <a:ext uri="{9D8B030D-6E8A-4147-A177-3AD203B41FA5}">
                      <a16:colId xmlns:a16="http://schemas.microsoft.com/office/drawing/2014/main" val="3213841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011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48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72417"/>
                  </a:ext>
                </a:extLst>
              </a:tr>
            </a:tbl>
          </a:graphicData>
        </a:graphic>
      </p:graphicFrame>
      <p:sp>
        <p:nvSpPr>
          <p:cNvPr id="7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eaLnBrk="1" hangingPunct="1"/>
            <a:r>
              <a:rPr lang="en-US" altLang="zh-TW" sz="2800" b="0" dirty="0" smtClean="0">
                <a:latin typeface="+mn-lt"/>
              </a:rPr>
              <a:t>Conversion </a:t>
            </a:r>
            <a:r>
              <a:rPr lang="en-US" altLang="zh-TW" sz="2800" b="0" dirty="0">
                <a:latin typeface="+mn-lt"/>
              </a:rPr>
              <a:t>from binary to octal can be done by positioning the binary number into groups of three digits each, starting from the </a:t>
            </a:r>
            <a:r>
              <a:rPr lang="en-US" altLang="zh-TW" sz="2800" b="0" dirty="0" smtClean="0">
                <a:latin typeface="+mn-lt"/>
              </a:rPr>
              <a:t>most right bit.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717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to octal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340835" y="3486151"/>
            <a:ext cx="9201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10110001101011111100000110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 = 261537406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eaLnBrk="1" hangingPunct="1"/>
            <a:r>
              <a:rPr lang="en-US" altLang="zh-TW" sz="2800" b="0" dirty="0" smtClean="0">
                <a:latin typeface="+mn-lt"/>
              </a:rPr>
              <a:t>Conversion </a:t>
            </a:r>
            <a:r>
              <a:rPr lang="en-US" altLang="zh-TW" sz="2800" b="0" dirty="0">
                <a:latin typeface="+mn-lt"/>
              </a:rPr>
              <a:t>from binary to octal can be done by positioning the binary number into groups of three digits each, starting from the </a:t>
            </a:r>
            <a:r>
              <a:rPr lang="en-US" altLang="zh-TW" sz="2800" b="0" dirty="0" smtClean="0">
                <a:latin typeface="+mn-lt"/>
              </a:rPr>
              <a:t>most right bit.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801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Octal to binary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>
                <a:latin typeface="+mn-lt"/>
              </a:rPr>
              <a:t>Conversion from octal </a:t>
            </a:r>
            <a:r>
              <a:rPr lang="en-US" altLang="zh-TW" sz="2800" b="0" dirty="0" smtClean="0">
                <a:latin typeface="+mn-lt"/>
              </a:rPr>
              <a:t>to </a:t>
            </a:r>
            <a:r>
              <a:rPr lang="en-US" altLang="zh-TW" sz="2800" b="0" dirty="0">
                <a:latin typeface="+mn-lt"/>
              </a:rPr>
              <a:t>binary is done by reversing the preceding procedure.</a:t>
            </a:r>
            <a:endParaRPr lang="en-US" altLang="zh-TW" sz="2800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491487" y="3453493"/>
            <a:ext cx="7430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673124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 smtClean="0"/>
              <a:t>  = (</a:t>
            </a:r>
            <a:r>
              <a:rPr lang="en-US" altLang="zh-TW" sz="3200" dirty="0" smtClean="0">
                <a:solidFill>
                  <a:schemeClr val="bg1"/>
                </a:solidFill>
              </a:rPr>
              <a:t>110 111 011 001 010 100</a:t>
            </a:r>
            <a:r>
              <a:rPr lang="en-US" altLang="zh-TW" sz="3200" dirty="0" smtClean="0"/>
              <a:t>)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177634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Octal to binary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>
                <a:latin typeface="+mn-lt"/>
              </a:rPr>
              <a:t>Conversion from octal </a:t>
            </a:r>
            <a:r>
              <a:rPr lang="en-US" altLang="zh-TW" sz="2800" b="0" dirty="0" smtClean="0">
                <a:latin typeface="+mn-lt"/>
              </a:rPr>
              <a:t>to </a:t>
            </a:r>
            <a:r>
              <a:rPr lang="en-US" altLang="zh-TW" sz="2800" b="0" dirty="0">
                <a:latin typeface="+mn-lt"/>
              </a:rPr>
              <a:t>binary is done by reversing the preceding procedure.</a:t>
            </a:r>
            <a:endParaRPr lang="en-US" altLang="zh-TW" sz="2800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2491487" y="3453493"/>
            <a:ext cx="72090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0000FF"/>
                </a:solidFill>
              </a:rPr>
              <a:t>6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</a:rPr>
              <a:t>7</a:t>
            </a:r>
            <a:r>
              <a:rPr lang="en-US" altLang="zh-TW" sz="3200" dirty="0" smtClean="0">
                <a:solidFill>
                  <a:schemeClr val="accent3">
                    <a:lumMod val="50000"/>
                  </a:schemeClr>
                </a:solidFill>
              </a:rPr>
              <a:t>3</a:t>
            </a:r>
            <a:r>
              <a:rPr lang="en-US" altLang="zh-TW" sz="3200" dirty="0" smtClean="0">
                <a:solidFill>
                  <a:schemeClr val="tx2">
                    <a:lumMod val="50000"/>
                  </a:schemeClr>
                </a:solidFill>
              </a:rPr>
              <a:t>1</a:t>
            </a:r>
            <a:r>
              <a:rPr lang="en-US" altLang="zh-TW" sz="3200" dirty="0" smtClean="0">
                <a:solidFill>
                  <a:srgbClr val="C00000"/>
                </a:solidFill>
              </a:rPr>
              <a:t>2</a:t>
            </a:r>
            <a:r>
              <a:rPr lang="en-US" altLang="zh-TW" sz="3200" dirty="0" smtClean="0"/>
              <a:t>4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 smtClean="0"/>
              <a:t>  = </a:t>
            </a:r>
            <a:r>
              <a:rPr lang="en-US" altLang="zh-TW" sz="3200" dirty="0" smtClean="0">
                <a:solidFill>
                  <a:srgbClr val="0000FF"/>
                </a:solidFill>
              </a:rPr>
              <a:t>110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</a:rPr>
              <a:t>111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olidFill>
                  <a:schemeClr val="accent3">
                    <a:lumMod val="50000"/>
                  </a:schemeClr>
                </a:solidFill>
              </a:rPr>
              <a:t>011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olidFill>
                  <a:schemeClr val="tx2">
                    <a:lumMod val="50000"/>
                  </a:schemeClr>
                </a:solidFill>
              </a:rPr>
              <a:t>001</a:t>
            </a:r>
            <a:r>
              <a:rPr lang="en-US" altLang="zh-TW" sz="3200" dirty="0" smtClean="0"/>
              <a:t> </a:t>
            </a:r>
            <a:r>
              <a:rPr lang="en-US" altLang="zh-TW" sz="3200" dirty="0" smtClean="0">
                <a:solidFill>
                  <a:srgbClr val="C00000"/>
                </a:solidFill>
              </a:rPr>
              <a:t>010</a:t>
            </a:r>
            <a:r>
              <a:rPr lang="en-US" altLang="zh-TW" sz="3200" dirty="0" smtClean="0"/>
              <a:t> 100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190535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to hexadecimal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>
                <a:latin typeface="+mn-lt"/>
              </a:rPr>
              <a:t>Conversion from binary to hexadecimal is similar, except that the binary number is divided into groups of four </a:t>
            </a:r>
            <a:r>
              <a:rPr lang="en-US" altLang="zh-TW" sz="2800" b="0" dirty="0" smtClean="0">
                <a:latin typeface="+mn-lt"/>
              </a:rPr>
              <a:t>digits.</a:t>
            </a:r>
            <a:endParaRPr lang="en-US" altLang="zh-TW" sz="2800" dirty="0">
              <a:latin typeface="+mn-lt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610257" y="3175908"/>
            <a:ext cx="9663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10110001101011111100000110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 smtClean="0"/>
              <a:t> = (                     )</a:t>
            </a:r>
            <a:r>
              <a:rPr lang="en-US" altLang="zh-TW" sz="3200" baseline="-25000" dirty="0" smtClean="0"/>
              <a:t>16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5931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to hexadecimal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>
                <a:latin typeface="+mn-lt"/>
              </a:rPr>
              <a:t>Conversion from binary to hexadecimal is similar, except that the binary number is divided into groups of four </a:t>
            </a:r>
            <a:r>
              <a:rPr lang="en-US" altLang="zh-TW" sz="2800" b="0" dirty="0" smtClean="0">
                <a:latin typeface="+mn-lt"/>
              </a:rPr>
              <a:t>digits.</a:t>
            </a:r>
            <a:endParaRPr lang="en-US" altLang="zh-TW" sz="2800" dirty="0">
              <a:latin typeface="+mn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008802"/>
              </p:ext>
            </p:extLst>
          </p:nvPr>
        </p:nvGraphicFramePr>
        <p:xfrm>
          <a:off x="1523320" y="3185280"/>
          <a:ext cx="8985249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607">
                  <a:extLst>
                    <a:ext uri="{9D8B030D-6E8A-4147-A177-3AD203B41FA5}">
                      <a16:colId xmlns:a16="http://schemas.microsoft.com/office/drawing/2014/main" val="81748348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1782699867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794773417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1022378055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199012434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778456914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3213841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48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72417"/>
                  </a:ext>
                </a:extLst>
              </a:tr>
            </a:tbl>
          </a:graphicData>
        </a:graphic>
      </p:graphicFrame>
      <p:cxnSp>
        <p:nvCxnSpPr>
          <p:cNvPr id="9" name="直線單箭頭接點 8"/>
          <p:cNvCxnSpPr/>
          <p:nvPr/>
        </p:nvCxnSpPr>
        <p:spPr>
          <a:xfrm flipH="1" flipV="1">
            <a:off x="9911443" y="3020787"/>
            <a:ext cx="342900" cy="816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89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to hexadecimal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>
                <a:latin typeface="+mn-lt"/>
              </a:rPr>
              <a:t>Conversion from binary to hexadecimal is similar, except that the binary number is divided into groups of four </a:t>
            </a:r>
            <a:r>
              <a:rPr lang="en-US" altLang="zh-TW" sz="2800" b="0" dirty="0" smtClean="0">
                <a:latin typeface="+mn-lt"/>
              </a:rPr>
              <a:t>digits.</a:t>
            </a:r>
            <a:endParaRPr lang="en-US" altLang="zh-TW" sz="2800" dirty="0">
              <a:latin typeface="+mn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810048"/>
              </p:ext>
            </p:extLst>
          </p:nvPr>
        </p:nvGraphicFramePr>
        <p:xfrm>
          <a:off x="1523320" y="3185280"/>
          <a:ext cx="8985249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607">
                  <a:extLst>
                    <a:ext uri="{9D8B030D-6E8A-4147-A177-3AD203B41FA5}">
                      <a16:colId xmlns:a16="http://schemas.microsoft.com/office/drawing/2014/main" val="81748348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1782699867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794773417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1022378055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199012434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778456914"/>
                    </a:ext>
                  </a:extLst>
                </a:gridCol>
                <a:gridCol w="1283607">
                  <a:extLst>
                    <a:ext uri="{9D8B030D-6E8A-4147-A177-3AD203B41FA5}">
                      <a16:colId xmlns:a16="http://schemas.microsoft.com/office/drawing/2014/main" val="3213841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1100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1111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0000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0110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48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272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70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0000F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Binary to hexadecimal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>
                <a:latin typeface="+mn-lt"/>
              </a:rPr>
              <a:t>Conversion from binary to hexadecimal is similar, except that the binary number is divided into groups of four </a:t>
            </a:r>
            <a:r>
              <a:rPr lang="en-US" altLang="zh-TW" sz="2800" b="0" dirty="0" smtClean="0">
                <a:latin typeface="+mn-lt"/>
              </a:rPr>
              <a:t>digits.</a:t>
            </a:r>
            <a:endParaRPr lang="en-US" altLang="zh-TW" sz="2800" dirty="0">
              <a:latin typeface="+mn-lt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340835" y="3486151"/>
            <a:ext cx="89306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10110001101011111100000110</a:t>
            </a:r>
            <a:r>
              <a:rPr lang="en-US" altLang="zh-TW" sz="3200" baseline="-25000" dirty="0" smtClean="0"/>
              <a:t>2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 = 2C6BF06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293120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hexadecimal to Binary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>
                <a:latin typeface="+mn-lt"/>
              </a:rPr>
              <a:t>Conversion from </a:t>
            </a:r>
            <a:r>
              <a:rPr lang="en-US" altLang="zh-TW" sz="2800" b="0" dirty="0" smtClean="0">
                <a:latin typeface="+mn-lt"/>
              </a:rPr>
              <a:t>hexadecimal </a:t>
            </a:r>
            <a:r>
              <a:rPr lang="en-US" altLang="zh-TW" sz="2800" b="0" dirty="0">
                <a:latin typeface="+mn-lt"/>
              </a:rPr>
              <a:t>to binary is done by reversing the preceding procedure.</a:t>
            </a:r>
            <a:endParaRPr lang="en-US" altLang="zh-TW" sz="2800" dirty="0">
              <a:latin typeface="+mn-lt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355271" y="3429000"/>
            <a:ext cx="10004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5AC306D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= (</a:t>
            </a:r>
            <a:r>
              <a:rPr lang="en-US" altLang="zh-TW" sz="3200" dirty="0" smtClean="0">
                <a:solidFill>
                  <a:schemeClr val="bg1"/>
                </a:solidFill>
              </a:rPr>
              <a:t>0101</a:t>
            </a:r>
            <a:r>
              <a:rPr lang="zh-TW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chemeClr val="bg1"/>
                </a:solidFill>
              </a:rPr>
              <a:t>1010</a:t>
            </a:r>
            <a:r>
              <a:rPr lang="zh-TW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chemeClr val="bg1"/>
                </a:solidFill>
              </a:rPr>
              <a:t>1100</a:t>
            </a:r>
            <a:r>
              <a:rPr lang="zh-TW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chemeClr val="bg1"/>
                </a:solidFill>
              </a:rPr>
              <a:t>0011 0000 0110 1101</a:t>
            </a:r>
            <a:r>
              <a:rPr lang="en-US" altLang="zh-TW" sz="3200" dirty="0" smtClean="0"/>
              <a:t>)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206323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246858"/>
            <a:ext cx="11824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>
                <a:latin typeface="+mn-lt"/>
              </a:rPr>
              <a:t>Conversion from </a:t>
            </a:r>
            <a:r>
              <a:rPr lang="en-US" altLang="zh-TW" sz="2800" b="0" dirty="0" smtClean="0">
                <a:latin typeface="+mn-lt"/>
              </a:rPr>
              <a:t>hexadecimal </a:t>
            </a:r>
            <a:r>
              <a:rPr lang="en-US" altLang="zh-TW" sz="2800" b="0" dirty="0">
                <a:latin typeface="+mn-lt"/>
              </a:rPr>
              <a:t>to binary is done by reversing the preceding procedure.</a:t>
            </a:r>
            <a:endParaRPr lang="en-US" altLang="zh-TW" sz="2800" dirty="0">
              <a:latin typeface="+mn-lt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355271" y="3429000"/>
            <a:ext cx="9783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</a:rPr>
              <a:t>5</a:t>
            </a:r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A</a:t>
            </a:r>
            <a:r>
              <a:rPr lang="en-US" altLang="zh-TW" sz="3200" dirty="0" smtClean="0">
                <a:solidFill>
                  <a:schemeClr val="accent3">
                    <a:lumMod val="50000"/>
                  </a:schemeClr>
                </a:solidFill>
              </a:rPr>
              <a:t>C</a:t>
            </a:r>
            <a:r>
              <a:rPr lang="en-US" altLang="zh-TW" sz="3200" dirty="0" smtClean="0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en-US" altLang="zh-TW" sz="3200" dirty="0" smtClean="0">
                <a:solidFill>
                  <a:schemeClr val="tx2">
                    <a:lumMod val="50000"/>
                  </a:schemeClr>
                </a:solidFill>
              </a:rPr>
              <a:t>0</a:t>
            </a:r>
            <a:r>
              <a:rPr lang="en-US" altLang="zh-TW" sz="3200" dirty="0" smtClean="0">
                <a:solidFill>
                  <a:srgbClr val="0000FF"/>
                </a:solidFill>
              </a:rPr>
              <a:t>6</a:t>
            </a:r>
            <a:r>
              <a:rPr lang="en-US" altLang="zh-TW" sz="3200" dirty="0" smtClean="0">
                <a:solidFill>
                  <a:srgbClr val="C00000"/>
                </a:solidFill>
              </a:rPr>
              <a:t>D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= </a:t>
            </a:r>
            <a:r>
              <a:rPr lang="en-US" altLang="zh-TW" sz="3200" dirty="0" smtClean="0">
                <a:solidFill>
                  <a:schemeClr val="accent6">
                    <a:lumMod val="50000"/>
                  </a:schemeClr>
                </a:solidFill>
              </a:rPr>
              <a:t>0101</a:t>
            </a:r>
            <a:r>
              <a:rPr lang="zh-TW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chemeClr val="accent5">
                    <a:lumMod val="50000"/>
                  </a:schemeClr>
                </a:solidFill>
              </a:rPr>
              <a:t>1010</a:t>
            </a:r>
            <a:r>
              <a:rPr lang="zh-TW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chemeClr val="accent3">
                    <a:lumMod val="50000"/>
                  </a:schemeClr>
                </a:solidFill>
              </a:rPr>
              <a:t>1100</a:t>
            </a:r>
            <a:r>
              <a:rPr lang="zh-TW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chemeClr val="accent2">
                    <a:lumMod val="50000"/>
                  </a:schemeClr>
                </a:solidFill>
              </a:rPr>
              <a:t>0011</a:t>
            </a:r>
            <a:r>
              <a:rPr lang="en-US" altLang="zh-TW" sz="3200" dirty="0" smtClean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chemeClr val="tx2">
                    <a:lumMod val="50000"/>
                  </a:schemeClr>
                </a:solidFill>
              </a:rPr>
              <a:t>0000</a:t>
            </a:r>
            <a:r>
              <a:rPr lang="en-US" altLang="zh-TW" sz="3200" dirty="0" smtClean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rgbClr val="0000FF"/>
                </a:solidFill>
              </a:rPr>
              <a:t>0110</a:t>
            </a:r>
            <a:r>
              <a:rPr lang="en-US" altLang="zh-TW" sz="3200" dirty="0" smtClean="0">
                <a:solidFill>
                  <a:schemeClr val="bg1"/>
                </a:solidFill>
              </a:rPr>
              <a:t> </a:t>
            </a:r>
            <a:r>
              <a:rPr lang="en-US" altLang="zh-TW" sz="3200" dirty="0" smtClean="0">
                <a:solidFill>
                  <a:srgbClr val="C00000"/>
                </a:solidFill>
              </a:rPr>
              <a:t>1101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hexadecimal to Binary</a:t>
            </a:r>
            <a:endParaRPr lang="zh-TW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95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Octal to hexadecimal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6922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261537406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  =     (                        )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239902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Octal to hexadecimal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116441" y="4629150"/>
            <a:ext cx="7122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10 110 001 101 011 111 100 000 110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6922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261537406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  =     (                        )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2" name="手繪多邊形 1"/>
          <p:cNvSpPr/>
          <p:nvPr/>
        </p:nvSpPr>
        <p:spPr>
          <a:xfrm>
            <a:off x="2743200" y="3020786"/>
            <a:ext cx="1567543" cy="1608364"/>
          </a:xfrm>
          <a:custGeom>
            <a:avLst/>
            <a:gdLst>
              <a:gd name="connsiteX0" fmla="*/ 0 w 1567543"/>
              <a:gd name="connsiteY0" fmla="*/ 0 h 1608364"/>
              <a:gd name="connsiteX1" fmla="*/ 342900 w 1567543"/>
              <a:gd name="connsiteY1" fmla="*/ 881743 h 1608364"/>
              <a:gd name="connsiteX2" fmla="*/ 1567543 w 1567543"/>
              <a:gd name="connsiteY2" fmla="*/ 1608364 h 16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7543" h="1608364">
                <a:moveTo>
                  <a:pt x="0" y="0"/>
                </a:moveTo>
                <a:cubicBezTo>
                  <a:pt x="40821" y="306841"/>
                  <a:pt x="81643" y="613683"/>
                  <a:pt x="342900" y="881743"/>
                </a:cubicBezTo>
                <a:cubicBezTo>
                  <a:pt x="604157" y="1149803"/>
                  <a:pt x="1085850" y="1379083"/>
                  <a:pt x="1567543" y="1608364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516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Octal to hexadecimal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116441" y="4629150"/>
            <a:ext cx="64395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10110001101011111100000110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6922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261537406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  =     (                        )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2" name="手繪多邊形 1"/>
          <p:cNvSpPr/>
          <p:nvPr/>
        </p:nvSpPr>
        <p:spPr>
          <a:xfrm>
            <a:off x="2743200" y="3020786"/>
            <a:ext cx="1567543" cy="1608364"/>
          </a:xfrm>
          <a:custGeom>
            <a:avLst/>
            <a:gdLst>
              <a:gd name="connsiteX0" fmla="*/ 0 w 1567543"/>
              <a:gd name="connsiteY0" fmla="*/ 0 h 1608364"/>
              <a:gd name="connsiteX1" fmla="*/ 342900 w 1567543"/>
              <a:gd name="connsiteY1" fmla="*/ 881743 h 1608364"/>
              <a:gd name="connsiteX2" fmla="*/ 1567543 w 1567543"/>
              <a:gd name="connsiteY2" fmla="*/ 1608364 h 16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7543" h="1608364">
                <a:moveTo>
                  <a:pt x="0" y="0"/>
                </a:moveTo>
                <a:cubicBezTo>
                  <a:pt x="40821" y="306841"/>
                  <a:pt x="81643" y="613683"/>
                  <a:pt x="342900" y="881743"/>
                </a:cubicBezTo>
                <a:cubicBezTo>
                  <a:pt x="604157" y="1149803"/>
                  <a:pt x="1085850" y="1379083"/>
                  <a:pt x="1567543" y="1608364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551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Octal to hexadecimal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116441" y="4629150"/>
            <a:ext cx="6894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10 1100 0110 1011 1111 0000 0110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6922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261537406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  =     (                        )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2" name="手繪多邊形 1"/>
          <p:cNvSpPr/>
          <p:nvPr/>
        </p:nvSpPr>
        <p:spPr>
          <a:xfrm>
            <a:off x="2743200" y="3020786"/>
            <a:ext cx="1567543" cy="1608364"/>
          </a:xfrm>
          <a:custGeom>
            <a:avLst/>
            <a:gdLst>
              <a:gd name="connsiteX0" fmla="*/ 0 w 1567543"/>
              <a:gd name="connsiteY0" fmla="*/ 0 h 1608364"/>
              <a:gd name="connsiteX1" fmla="*/ 342900 w 1567543"/>
              <a:gd name="connsiteY1" fmla="*/ 881743 h 1608364"/>
              <a:gd name="connsiteX2" fmla="*/ 1567543 w 1567543"/>
              <a:gd name="connsiteY2" fmla="*/ 1608364 h 16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7543" h="1608364">
                <a:moveTo>
                  <a:pt x="0" y="0"/>
                </a:moveTo>
                <a:cubicBezTo>
                  <a:pt x="40821" y="306841"/>
                  <a:pt x="81643" y="613683"/>
                  <a:pt x="342900" y="881743"/>
                </a:cubicBezTo>
                <a:cubicBezTo>
                  <a:pt x="604157" y="1149803"/>
                  <a:pt x="1085850" y="1379083"/>
                  <a:pt x="1567543" y="1608364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872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Octal to hexadecimal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116441" y="4629150"/>
            <a:ext cx="6894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10 1100 0110 1011 1111 0000 0110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5955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261537406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/>
              <a:t> </a:t>
            </a:r>
            <a:r>
              <a:rPr lang="en-US" altLang="zh-TW" sz="3200" dirty="0" smtClean="0"/>
              <a:t>  =     ( 2C6BF06 )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2" name="手繪多邊形 1"/>
          <p:cNvSpPr/>
          <p:nvPr/>
        </p:nvSpPr>
        <p:spPr>
          <a:xfrm>
            <a:off x="2743200" y="3020786"/>
            <a:ext cx="1567543" cy="1608364"/>
          </a:xfrm>
          <a:custGeom>
            <a:avLst/>
            <a:gdLst>
              <a:gd name="connsiteX0" fmla="*/ 0 w 1567543"/>
              <a:gd name="connsiteY0" fmla="*/ 0 h 1608364"/>
              <a:gd name="connsiteX1" fmla="*/ 342900 w 1567543"/>
              <a:gd name="connsiteY1" fmla="*/ 881743 h 1608364"/>
              <a:gd name="connsiteX2" fmla="*/ 1567543 w 1567543"/>
              <a:gd name="connsiteY2" fmla="*/ 1608364 h 16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7543" h="1608364">
                <a:moveTo>
                  <a:pt x="0" y="0"/>
                </a:moveTo>
                <a:cubicBezTo>
                  <a:pt x="40821" y="306841"/>
                  <a:pt x="81643" y="613683"/>
                  <a:pt x="342900" y="881743"/>
                </a:cubicBezTo>
                <a:cubicBezTo>
                  <a:pt x="604157" y="1149803"/>
                  <a:pt x="1085850" y="1379083"/>
                  <a:pt x="1567543" y="1608364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手繪多邊形 7"/>
          <p:cNvSpPr/>
          <p:nvPr/>
        </p:nvSpPr>
        <p:spPr>
          <a:xfrm>
            <a:off x="5902779" y="3061607"/>
            <a:ext cx="295975" cy="1453243"/>
          </a:xfrm>
          <a:custGeom>
            <a:avLst/>
            <a:gdLst>
              <a:gd name="connsiteX0" fmla="*/ 0 w 295975"/>
              <a:gd name="connsiteY0" fmla="*/ 1453243 h 1453243"/>
              <a:gd name="connsiteX1" fmla="*/ 261257 w 295975"/>
              <a:gd name="connsiteY1" fmla="*/ 816429 h 1453243"/>
              <a:gd name="connsiteX2" fmla="*/ 285750 w 295975"/>
              <a:gd name="connsiteY2" fmla="*/ 0 h 145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975" h="1453243">
                <a:moveTo>
                  <a:pt x="0" y="1453243"/>
                </a:moveTo>
                <a:cubicBezTo>
                  <a:pt x="106816" y="1255939"/>
                  <a:pt x="213632" y="1058636"/>
                  <a:pt x="261257" y="816429"/>
                </a:cubicBezTo>
                <a:cubicBezTo>
                  <a:pt x="308882" y="574222"/>
                  <a:pt x="297316" y="287111"/>
                  <a:pt x="285750" y="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104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Hexadecimal</a:t>
            </a:r>
            <a:r>
              <a:rPr lang="zh-TW" altLang="en-US" b="1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to octal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64684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39D8ABFC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  =     (                      )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656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Hexadecimal</a:t>
            </a:r>
            <a:r>
              <a:rPr lang="zh-TW" altLang="en-US" b="1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to octal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520448" y="4694465"/>
            <a:ext cx="8364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0011 1001 1101 1000 1010 1011 1111 1100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64684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39D8ABFC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  =     (                      )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2" name="手繪多邊形 1"/>
          <p:cNvSpPr/>
          <p:nvPr/>
        </p:nvSpPr>
        <p:spPr>
          <a:xfrm>
            <a:off x="2743200" y="3020786"/>
            <a:ext cx="1567543" cy="1608364"/>
          </a:xfrm>
          <a:custGeom>
            <a:avLst/>
            <a:gdLst>
              <a:gd name="connsiteX0" fmla="*/ 0 w 1567543"/>
              <a:gd name="connsiteY0" fmla="*/ 0 h 1608364"/>
              <a:gd name="connsiteX1" fmla="*/ 342900 w 1567543"/>
              <a:gd name="connsiteY1" fmla="*/ 881743 h 1608364"/>
              <a:gd name="connsiteX2" fmla="*/ 1567543 w 1567543"/>
              <a:gd name="connsiteY2" fmla="*/ 1608364 h 16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7543" h="1608364">
                <a:moveTo>
                  <a:pt x="0" y="0"/>
                </a:moveTo>
                <a:cubicBezTo>
                  <a:pt x="40821" y="306841"/>
                  <a:pt x="81643" y="613683"/>
                  <a:pt x="342900" y="881743"/>
                </a:cubicBezTo>
                <a:cubicBezTo>
                  <a:pt x="604157" y="1149803"/>
                  <a:pt x="1085850" y="1379083"/>
                  <a:pt x="1567543" y="1608364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608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Hexadecimal</a:t>
            </a:r>
            <a:r>
              <a:rPr lang="zh-TW" altLang="en-US" b="1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to octal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520448" y="4694465"/>
            <a:ext cx="76819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00111001110110001010101111111100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65822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39D8ABFC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  =     (                      </a:t>
            </a:r>
            <a:r>
              <a:rPr lang="en-US" altLang="zh-TW" sz="3200" dirty="0"/>
              <a:t>)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2" name="手繪多邊形 1"/>
          <p:cNvSpPr/>
          <p:nvPr/>
        </p:nvSpPr>
        <p:spPr>
          <a:xfrm>
            <a:off x="2743200" y="3020786"/>
            <a:ext cx="1567543" cy="1608364"/>
          </a:xfrm>
          <a:custGeom>
            <a:avLst/>
            <a:gdLst>
              <a:gd name="connsiteX0" fmla="*/ 0 w 1567543"/>
              <a:gd name="connsiteY0" fmla="*/ 0 h 1608364"/>
              <a:gd name="connsiteX1" fmla="*/ 342900 w 1567543"/>
              <a:gd name="connsiteY1" fmla="*/ 881743 h 1608364"/>
              <a:gd name="connsiteX2" fmla="*/ 1567543 w 1567543"/>
              <a:gd name="connsiteY2" fmla="*/ 1608364 h 16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7543" h="1608364">
                <a:moveTo>
                  <a:pt x="0" y="0"/>
                </a:moveTo>
                <a:cubicBezTo>
                  <a:pt x="40821" y="306841"/>
                  <a:pt x="81643" y="613683"/>
                  <a:pt x="342900" y="881743"/>
                </a:cubicBezTo>
                <a:cubicBezTo>
                  <a:pt x="604157" y="1149803"/>
                  <a:pt x="1085850" y="1379083"/>
                  <a:pt x="1567543" y="1608364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257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Hexadecimal</a:t>
            </a:r>
            <a:r>
              <a:rPr lang="zh-TW" altLang="en-US" b="1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to octal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520448" y="4694465"/>
            <a:ext cx="8706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00 111 001 110 110 001 010 101 111 111 100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6809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39D8ABFC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  =     (                      </a:t>
            </a:r>
            <a:r>
              <a:rPr lang="en-US" altLang="zh-TW" sz="3200" dirty="0"/>
              <a:t>) 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2" name="手繪多邊形 1"/>
          <p:cNvSpPr/>
          <p:nvPr/>
        </p:nvSpPr>
        <p:spPr>
          <a:xfrm>
            <a:off x="2743200" y="3020786"/>
            <a:ext cx="1567543" cy="1608364"/>
          </a:xfrm>
          <a:custGeom>
            <a:avLst/>
            <a:gdLst>
              <a:gd name="connsiteX0" fmla="*/ 0 w 1567543"/>
              <a:gd name="connsiteY0" fmla="*/ 0 h 1608364"/>
              <a:gd name="connsiteX1" fmla="*/ 342900 w 1567543"/>
              <a:gd name="connsiteY1" fmla="*/ 881743 h 1608364"/>
              <a:gd name="connsiteX2" fmla="*/ 1567543 w 1567543"/>
              <a:gd name="connsiteY2" fmla="*/ 1608364 h 16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7543" h="1608364">
                <a:moveTo>
                  <a:pt x="0" y="0"/>
                </a:moveTo>
                <a:cubicBezTo>
                  <a:pt x="40821" y="306841"/>
                  <a:pt x="81643" y="613683"/>
                  <a:pt x="342900" y="881743"/>
                </a:cubicBezTo>
                <a:cubicBezTo>
                  <a:pt x="604157" y="1149803"/>
                  <a:pt x="1085850" y="1379083"/>
                  <a:pt x="1567543" y="1608364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161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18482"/>
            <a:ext cx="12192000" cy="71035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Hexadecimal</a:t>
            </a:r>
            <a:r>
              <a:rPr lang="zh-TW" altLang="en-US" b="1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TW" b="1" dirty="0" smtClean="0">
                <a:solidFill>
                  <a:schemeClr val="bg1"/>
                </a:solidFill>
                <a:cs typeface="Arial" panose="020B0604020202020204" pitchFamily="34" charset="0"/>
              </a:rPr>
              <a:t>to octal</a:t>
            </a:r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1520448" y="4694465"/>
            <a:ext cx="8706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00 111 001 110 110 001 010 101 111 111 100</a:t>
            </a:r>
            <a:r>
              <a:rPr lang="en-US" altLang="zh-TW" sz="3200" baseline="-25000" dirty="0" smtClean="0"/>
              <a:t>2</a:t>
            </a:r>
            <a:endParaRPr lang="zh-TW" altLang="en-US" sz="3200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32720" y="2481945"/>
            <a:ext cx="64524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39D8ABFC</a:t>
            </a:r>
            <a:r>
              <a:rPr lang="en-US" altLang="zh-TW" sz="3200" baseline="-25000" dirty="0" smtClean="0"/>
              <a:t>16</a:t>
            </a:r>
            <a:r>
              <a:rPr lang="en-US" altLang="zh-TW" sz="3200" dirty="0" smtClean="0"/>
              <a:t>   =     ( 7166125774 )</a:t>
            </a:r>
            <a:r>
              <a:rPr lang="en-US" altLang="zh-TW" sz="3200" baseline="-25000" dirty="0" smtClean="0"/>
              <a:t>8</a:t>
            </a:r>
            <a:r>
              <a:rPr lang="en-US" altLang="zh-TW" sz="3200" dirty="0" smtClean="0"/>
              <a:t> </a:t>
            </a:r>
            <a:endParaRPr lang="zh-TW" altLang="en-US" sz="3200" baseline="-25000" dirty="0"/>
          </a:p>
        </p:txBody>
      </p:sp>
      <p:sp>
        <p:nvSpPr>
          <p:cNvPr id="2" name="手繪多邊形 1"/>
          <p:cNvSpPr/>
          <p:nvPr/>
        </p:nvSpPr>
        <p:spPr>
          <a:xfrm>
            <a:off x="2743200" y="3020786"/>
            <a:ext cx="1567543" cy="1608364"/>
          </a:xfrm>
          <a:custGeom>
            <a:avLst/>
            <a:gdLst>
              <a:gd name="connsiteX0" fmla="*/ 0 w 1567543"/>
              <a:gd name="connsiteY0" fmla="*/ 0 h 1608364"/>
              <a:gd name="connsiteX1" fmla="*/ 342900 w 1567543"/>
              <a:gd name="connsiteY1" fmla="*/ 881743 h 1608364"/>
              <a:gd name="connsiteX2" fmla="*/ 1567543 w 1567543"/>
              <a:gd name="connsiteY2" fmla="*/ 1608364 h 160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7543" h="1608364">
                <a:moveTo>
                  <a:pt x="0" y="0"/>
                </a:moveTo>
                <a:cubicBezTo>
                  <a:pt x="40821" y="306841"/>
                  <a:pt x="81643" y="613683"/>
                  <a:pt x="342900" y="881743"/>
                </a:cubicBezTo>
                <a:cubicBezTo>
                  <a:pt x="604157" y="1149803"/>
                  <a:pt x="1085850" y="1379083"/>
                  <a:pt x="1567543" y="1608364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手繪多邊形 7"/>
          <p:cNvSpPr/>
          <p:nvPr/>
        </p:nvSpPr>
        <p:spPr>
          <a:xfrm>
            <a:off x="5902779" y="3061607"/>
            <a:ext cx="295975" cy="1453243"/>
          </a:xfrm>
          <a:custGeom>
            <a:avLst/>
            <a:gdLst>
              <a:gd name="connsiteX0" fmla="*/ 0 w 295975"/>
              <a:gd name="connsiteY0" fmla="*/ 1453243 h 1453243"/>
              <a:gd name="connsiteX1" fmla="*/ 261257 w 295975"/>
              <a:gd name="connsiteY1" fmla="*/ 816429 h 1453243"/>
              <a:gd name="connsiteX2" fmla="*/ 285750 w 295975"/>
              <a:gd name="connsiteY2" fmla="*/ 0 h 145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975" h="1453243">
                <a:moveTo>
                  <a:pt x="0" y="1453243"/>
                </a:moveTo>
                <a:cubicBezTo>
                  <a:pt x="106816" y="1255939"/>
                  <a:pt x="213632" y="1058636"/>
                  <a:pt x="261257" y="816429"/>
                </a:cubicBezTo>
                <a:cubicBezTo>
                  <a:pt x="308882" y="574222"/>
                  <a:pt x="297316" y="287111"/>
                  <a:pt x="285750" y="0"/>
                </a:cubicBezTo>
              </a:path>
            </a:pathLst>
          </a:custGeom>
          <a:noFill/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8DFE1E77-E1A3-4397-B939-D178DBE38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68" y="1462301"/>
            <a:ext cx="118241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263525" indent="-263525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/>
            <a:r>
              <a:rPr lang="en-US" altLang="zh-TW" sz="2800" b="0" dirty="0" smtClean="0">
                <a:latin typeface="+mn-lt"/>
              </a:rPr>
              <a:t>It is a smart choice through binary </a:t>
            </a:r>
            <a:endParaRPr lang="en-US" altLang="zh-TW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7662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2529831"/>
            <a:ext cx="12192000" cy="1596177"/>
          </a:xfrm>
          <a:solidFill>
            <a:srgbClr val="0000FF"/>
          </a:solidFill>
        </p:spPr>
        <p:txBody>
          <a:bodyPr>
            <a:normAutofit/>
          </a:bodyPr>
          <a:lstStyle/>
          <a:p>
            <a:r>
              <a:rPr lang="en-US" altLang="zh-TW" sz="9600" dirty="0" smtClean="0">
                <a:solidFill>
                  <a:schemeClr val="bg1"/>
                </a:solidFill>
              </a:rPr>
              <a:t>thanks</a:t>
            </a:r>
            <a:endParaRPr lang="zh-TW" altLang="en-US" sz="9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57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701</TotalTime>
  <Words>2391</Words>
  <Application>Microsoft Office PowerPoint</Application>
  <PresentationFormat>寬螢幕</PresentationFormat>
  <Paragraphs>1303</Paragraphs>
  <Slides>114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114</vt:i4>
      </vt:variant>
    </vt:vector>
  </HeadingPairs>
  <TitlesOfParts>
    <vt:vector size="121" baseType="lpstr">
      <vt:lpstr>微軟正黑體</vt:lpstr>
      <vt:lpstr>新細明體</vt:lpstr>
      <vt:lpstr>Arial</vt:lpstr>
      <vt:lpstr>Symbol</vt:lpstr>
      <vt:lpstr>Tw Cen MT</vt:lpstr>
      <vt:lpstr>Wingdings</vt:lpstr>
      <vt:lpstr>小水滴</vt:lpstr>
      <vt:lpstr>PowerPoint 簡報</vt:lpstr>
      <vt:lpstr>Course Topics</vt:lpstr>
      <vt:lpstr>Course Topics</vt:lpstr>
      <vt:lpstr>Course Topics</vt:lpstr>
      <vt:lpstr>Course Topics</vt:lpstr>
      <vt:lpstr>Course Topics</vt:lpstr>
      <vt:lpstr>Course Topics</vt:lpstr>
      <vt:lpstr>Course Topics</vt:lpstr>
      <vt:lpstr>Course Topics</vt:lpstr>
      <vt:lpstr>Course Topics</vt:lpstr>
      <vt:lpstr>Course Topics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Systems and Binary Numbers</dc:title>
  <dc:creator>Windows 使用者</dc:creator>
  <cp:lastModifiedBy>Windows 使用者</cp:lastModifiedBy>
  <cp:revision>60</cp:revision>
  <dcterms:created xsi:type="dcterms:W3CDTF">2021-09-28T08:53:31Z</dcterms:created>
  <dcterms:modified xsi:type="dcterms:W3CDTF">2021-10-01T03:41:31Z</dcterms:modified>
</cp:coreProperties>
</file>