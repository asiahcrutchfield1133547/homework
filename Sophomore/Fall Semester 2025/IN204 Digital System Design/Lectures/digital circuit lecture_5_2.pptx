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96" r:id="rId2"/>
    <p:sldId id="258" r:id="rId3"/>
    <p:sldId id="306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1" r:id="rId12"/>
    <p:sldId id="260" r:id="rId13"/>
    <p:sldId id="256" r:id="rId14"/>
    <p:sldId id="269" r:id="rId15"/>
    <p:sldId id="270" r:id="rId16"/>
    <p:sldId id="268" r:id="rId17"/>
    <p:sldId id="259" r:id="rId18"/>
    <p:sldId id="272" r:id="rId19"/>
    <p:sldId id="273" r:id="rId20"/>
    <p:sldId id="275" r:id="rId21"/>
    <p:sldId id="274" r:id="rId22"/>
    <p:sldId id="277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57" r:id="rId33"/>
    <p:sldId id="286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87" r:id="rId42"/>
    <p:sldId id="298" r:id="rId43"/>
    <p:sldId id="307" r:id="rId44"/>
    <p:sldId id="308" r:id="rId45"/>
    <p:sldId id="309" r:id="rId46"/>
    <p:sldId id="310" r:id="rId47"/>
    <p:sldId id="311" r:id="rId48"/>
    <p:sldId id="301" r:id="rId49"/>
    <p:sldId id="303" r:id="rId50"/>
    <p:sldId id="304" r:id="rId51"/>
    <p:sldId id="305" r:id="rId52"/>
    <p:sldId id="299" r:id="rId53"/>
    <p:sldId id="297" r:id="rId54"/>
    <p:sldId id="312" r:id="rId55"/>
    <p:sldId id="313" r:id="rId56"/>
    <p:sldId id="314" r:id="rId57"/>
    <p:sldId id="315" r:id="rId58"/>
    <p:sldId id="295" r:id="rId59"/>
    <p:sldId id="316" r:id="rId60"/>
    <p:sldId id="317" r:id="rId61"/>
    <p:sldId id="318" r:id="rId62"/>
    <p:sldId id="320" r:id="rId63"/>
    <p:sldId id="319" r:id="rId64"/>
    <p:sldId id="327" r:id="rId65"/>
    <p:sldId id="322" r:id="rId66"/>
    <p:sldId id="321" r:id="rId67"/>
    <p:sldId id="328" r:id="rId68"/>
    <p:sldId id="329" r:id="rId69"/>
    <p:sldId id="326" r:id="rId70"/>
    <p:sldId id="323" r:id="rId71"/>
    <p:sldId id="324" r:id="rId72"/>
    <p:sldId id="325" r:id="rId73"/>
    <p:sldId id="333" r:id="rId74"/>
    <p:sldId id="330" r:id="rId75"/>
    <p:sldId id="331" r:id="rId76"/>
    <p:sldId id="332" r:id="rId77"/>
    <p:sldId id="334" r:id="rId78"/>
    <p:sldId id="335" r:id="rId79"/>
    <p:sldId id="336" r:id="rId80"/>
    <p:sldId id="338" r:id="rId81"/>
    <p:sldId id="339" r:id="rId82"/>
    <p:sldId id="341" r:id="rId83"/>
    <p:sldId id="340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62" r:id="rId97"/>
    <p:sldId id="363" r:id="rId98"/>
    <p:sldId id="364" r:id="rId99"/>
    <p:sldId id="354" r:id="rId100"/>
    <p:sldId id="365" r:id="rId101"/>
    <p:sldId id="356" r:id="rId102"/>
    <p:sldId id="357" r:id="rId103"/>
    <p:sldId id="358" r:id="rId104"/>
    <p:sldId id="359" r:id="rId105"/>
    <p:sldId id="360" r:id="rId106"/>
    <p:sldId id="361" r:id="rId107"/>
    <p:sldId id="355" r:id="rId108"/>
    <p:sldId id="366" r:id="rId109"/>
    <p:sldId id="367" r:id="rId110"/>
    <p:sldId id="374" r:id="rId111"/>
    <p:sldId id="369" r:id="rId112"/>
    <p:sldId id="370" r:id="rId113"/>
    <p:sldId id="371" r:id="rId114"/>
    <p:sldId id="375" r:id="rId115"/>
    <p:sldId id="372" r:id="rId116"/>
    <p:sldId id="373" r:id="rId117"/>
    <p:sldId id="368" r:id="rId118"/>
    <p:sldId id="376" r:id="rId119"/>
    <p:sldId id="378" r:id="rId120"/>
    <p:sldId id="381" r:id="rId121"/>
    <p:sldId id="380" r:id="rId122"/>
    <p:sldId id="382" r:id="rId123"/>
    <p:sldId id="383" r:id="rId124"/>
    <p:sldId id="384" r:id="rId125"/>
    <p:sldId id="385" r:id="rId126"/>
    <p:sldId id="386" r:id="rId127"/>
    <p:sldId id="387" r:id="rId128"/>
    <p:sldId id="388" r:id="rId129"/>
    <p:sldId id="389" r:id="rId130"/>
    <p:sldId id="390" r:id="rId1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0000FF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chemeClr val="bg1"/>
                </a:solidFill>
              </a:rPr>
              <a:t>TOPIC 5</a:t>
            </a:r>
            <a:endParaRPr lang="zh-TW" altLang="en-US" sz="7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96370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 smtClean="0">
                <a:solidFill>
                  <a:schemeClr val="bg1"/>
                </a:solidFill>
              </a:rPr>
              <a:t>Decoder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99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04995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04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04995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63" name="手繪多邊形 62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47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66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>
            <a:off x="4770947" y="161652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4776107" y="2718706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4770947" y="21879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14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17" name="直線接點 16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31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手繪多邊形 22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 25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 26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 27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手繪多邊形 28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0372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手繪多邊形 22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 25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 26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 27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手繪多邊形 28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800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手繪多邊形 22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 25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 26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 27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手繪多邊形 28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905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手繪多邊形 22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 25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 26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 27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手繪多邊形 28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4" name="右大括弧 4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4493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24274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8" name="手繪多邊形 7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接點 9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手繪多邊形 22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 25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 26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 27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手繪多邊形 28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4" name="右大括弧 4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3" name="矩形 2"/>
          <p:cNvSpPr/>
          <p:nvPr/>
        </p:nvSpPr>
        <p:spPr>
          <a:xfrm>
            <a:off x="7289264" y="6000377"/>
            <a:ext cx="1544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11100101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3895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580373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3" name="手繪多邊形 2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/>
        </p:nvSpPr>
        <p:spPr>
          <a:xfrm>
            <a:off x="7289264" y="6000377"/>
            <a:ext cx="1544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11100101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908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8212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73" name="手繪多邊形 72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030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8212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73" name="手繪多邊形 72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0681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8212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73" name="手繪多邊形 72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403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78212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73" name="手繪多邊形 72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7248205" y="5953181"/>
            <a:ext cx="1544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10010110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920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76386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62" name="手繪多邊形 61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75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549602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62" name="手繪多邊形 61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12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47058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62" name="手繪多邊形 61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102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10294" y="188985"/>
            <a:ext cx="1189101" cy="64894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CPU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47058"/>
              </p:ext>
            </p:extLst>
          </p:nvPr>
        </p:nvGraphicFramePr>
        <p:xfrm>
          <a:off x="8499019" y="188985"/>
          <a:ext cx="2939144" cy="5485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887">
                  <a:extLst>
                    <a:ext uri="{9D8B030D-6E8A-4147-A177-3AD203B41FA5}">
                      <a16:colId xmlns:a16="http://schemas.microsoft.com/office/drawing/2014/main" val="2173121607"/>
                    </a:ext>
                  </a:extLst>
                </a:gridCol>
                <a:gridCol w="1404257">
                  <a:extLst>
                    <a:ext uri="{9D8B030D-6E8A-4147-A177-3AD203B41FA5}">
                      <a16:colId xmlns:a16="http://schemas.microsoft.com/office/drawing/2014/main" val="472324156"/>
                    </a:ext>
                  </a:extLst>
                </a:gridCol>
              </a:tblGrid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Contents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4228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10111010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255575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11110000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252629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00111100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721008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10010110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31591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73841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00362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11100001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71193"/>
                  </a:ext>
                </a:extLst>
              </a:tr>
              <a:tr h="6094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01100111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40597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9" name="直線接點 18"/>
          <p:cNvCxnSpPr/>
          <p:nvPr/>
        </p:nvCxnSpPr>
        <p:spPr>
          <a:xfrm flipV="1">
            <a:off x="1910046" y="271870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大括弧 23"/>
          <p:cNvSpPr/>
          <p:nvPr/>
        </p:nvSpPr>
        <p:spPr>
          <a:xfrm rot="5400000">
            <a:off x="9101137" y="5178202"/>
            <a:ext cx="273501" cy="1477738"/>
          </a:xfrm>
          <a:prstGeom prst="rightBrace">
            <a:avLst>
              <a:gd name="adj1" fmla="val 81344"/>
              <a:gd name="adj2" fmla="val 50000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手繪多邊形 36"/>
          <p:cNvSpPr/>
          <p:nvPr/>
        </p:nvSpPr>
        <p:spPr>
          <a:xfrm>
            <a:off x="6645729" y="1591438"/>
            <a:ext cx="1853293" cy="139391"/>
          </a:xfrm>
          <a:custGeom>
            <a:avLst/>
            <a:gdLst>
              <a:gd name="connsiteX0" fmla="*/ 0 w 1853293"/>
              <a:gd name="connsiteY0" fmla="*/ 98569 h 139391"/>
              <a:gd name="connsiteX1" fmla="*/ 832757 w 1853293"/>
              <a:gd name="connsiteY1" fmla="*/ 598 h 139391"/>
              <a:gd name="connsiteX2" fmla="*/ 1853293 w 1853293"/>
              <a:gd name="connsiteY2" fmla="*/ 139391 h 13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53293" h="139391">
                <a:moveTo>
                  <a:pt x="0" y="98569"/>
                </a:moveTo>
                <a:cubicBezTo>
                  <a:pt x="261937" y="46181"/>
                  <a:pt x="523875" y="-6206"/>
                  <a:pt x="832757" y="598"/>
                </a:cubicBezTo>
                <a:cubicBezTo>
                  <a:pt x="1141639" y="7402"/>
                  <a:pt x="1497466" y="73396"/>
                  <a:pt x="1853293" y="13939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手繪多邊形 37"/>
          <p:cNvSpPr/>
          <p:nvPr/>
        </p:nvSpPr>
        <p:spPr>
          <a:xfrm>
            <a:off x="6645729" y="1069521"/>
            <a:ext cx="1853293" cy="424449"/>
          </a:xfrm>
          <a:custGeom>
            <a:avLst/>
            <a:gdLst>
              <a:gd name="connsiteX0" fmla="*/ 0 w 1853293"/>
              <a:gd name="connsiteY0" fmla="*/ 416379 h 424449"/>
              <a:gd name="connsiteX1" fmla="*/ 318407 w 1853293"/>
              <a:gd name="connsiteY1" fmla="*/ 391886 h 424449"/>
              <a:gd name="connsiteX2" fmla="*/ 987878 w 1853293"/>
              <a:gd name="connsiteY2" fmla="*/ 155122 h 424449"/>
              <a:gd name="connsiteX3" fmla="*/ 1853293 w 1853293"/>
              <a:gd name="connsiteY3" fmla="*/ 0 h 4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24449">
                <a:moveTo>
                  <a:pt x="0" y="416379"/>
                </a:moveTo>
                <a:cubicBezTo>
                  <a:pt x="76880" y="425904"/>
                  <a:pt x="153761" y="435429"/>
                  <a:pt x="318407" y="391886"/>
                </a:cubicBezTo>
                <a:cubicBezTo>
                  <a:pt x="483053" y="348343"/>
                  <a:pt x="732064" y="220436"/>
                  <a:pt x="987878" y="155122"/>
                </a:cubicBezTo>
                <a:cubicBezTo>
                  <a:pt x="1243692" y="89808"/>
                  <a:pt x="1548492" y="44904"/>
                  <a:pt x="1853293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6645729" y="1869142"/>
            <a:ext cx="1853293" cy="486516"/>
          </a:xfrm>
          <a:custGeom>
            <a:avLst/>
            <a:gdLst>
              <a:gd name="connsiteX0" fmla="*/ 0 w 1853293"/>
              <a:gd name="connsiteY0" fmla="*/ 16808 h 486516"/>
              <a:gd name="connsiteX1" fmla="*/ 693964 w 1853293"/>
              <a:gd name="connsiteY1" fmla="*/ 49465 h 486516"/>
              <a:gd name="connsiteX2" fmla="*/ 1567543 w 1853293"/>
              <a:gd name="connsiteY2" fmla="*/ 433187 h 486516"/>
              <a:gd name="connsiteX3" fmla="*/ 1853293 w 1853293"/>
              <a:gd name="connsiteY3" fmla="*/ 474008 h 48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486516">
                <a:moveTo>
                  <a:pt x="0" y="16808"/>
                </a:moveTo>
                <a:cubicBezTo>
                  <a:pt x="216353" y="-1562"/>
                  <a:pt x="432707" y="-19932"/>
                  <a:pt x="693964" y="49465"/>
                </a:cubicBezTo>
                <a:cubicBezTo>
                  <a:pt x="955221" y="118862"/>
                  <a:pt x="1374322" y="362430"/>
                  <a:pt x="1567543" y="433187"/>
                </a:cubicBezTo>
                <a:cubicBezTo>
                  <a:pt x="1760764" y="503944"/>
                  <a:pt x="1807028" y="488976"/>
                  <a:pt x="1853293" y="47400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6645729" y="2277836"/>
            <a:ext cx="1853293" cy="1274087"/>
          </a:xfrm>
          <a:custGeom>
            <a:avLst/>
            <a:gdLst>
              <a:gd name="connsiteX0" fmla="*/ 0 w 1853293"/>
              <a:gd name="connsiteY0" fmla="*/ 0 h 1274087"/>
              <a:gd name="connsiteX1" fmla="*/ 604157 w 1853293"/>
              <a:gd name="connsiteY1" fmla="*/ 318407 h 1274087"/>
              <a:gd name="connsiteX2" fmla="*/ 1265464 w 1853293"/>
              <a:gd name="connsiteY2" fmla="*/ 1118507 h 1274087"/>
              <a:gd name="connsiteX3" fmla="*/ 1853293 w 1853293"/>
              <a:gd name="connsiteY3" fmla="*/ 1273628 h 1274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3293" h="1274087">
                <a:moveTo>
                  <a:pt x="0" y="0"/>
                </a:moveTo>
                <a:cubicBezTo>
                  <a:pt x="196623" y="65994"/>
                  <a:pt x="393246" y="131989"/>
                  <a:pt x="604157" y="318407"/>
                </a:cubicBezTo>
                <a:cubicBezTo>
                  <a:pt x="815068" y="504825"/>
                  <a:pt x="1057275" y="959304"/>
                  <a:pt x="1265464" y="1118507"/>
                </a:cubicBezTo>
                <a:cubicBezTo>
                  <a:pt x="1473653" y="1277710"/>
                  <a:pt x="1663473" y="1275669"/>
                  <a:pt x="1853293" y="12736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手繪多邊形 41"/>
          <p:cNvSpPr/>
          <p:nvPr/>
        </p:nvSpPr>
        <p:spPr>
          <a:xfrm>
            <a:off x="6645729" y="2073729"/>
            <a:ext cx="1861457" cy="937700"/>
          </a:xfrm>
          <a:custGeom>
            <a:avLst/>
            <a:gdLst>
              <a:gd name="connsiteX0" fmla="*/ 0 w 1861457"/>
              <a:gd name="connsiteY0" fmla="*/ 0 h 937700"/>
              <a:gd name="connsiteX1" fmla="*/ 457200 w 1861457"/>
              <a:gd name="connsiteY1" fmla="*/ 73478 h 937700"/>
              <a:gd name="connsiteX2" fmla="*/ 1004207 w 1861457"/>
              <a:gd name="connsiteY2" fmla="*/ 359228 h 937700"/>
              <a:gd name="connsiteX3" fmla="*/ 1526721 w 1861457"/>
              <a:gd name="connsiteY3" fmla="*/ 857250 h 937700"/>
              <a:gd name="connsiteX4" fmla="*/ 1861457 w 1861457"/>
              <a:gd name="connsiteY4" fmla="*/ 930728 h 9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1457" h="937700">
                <a:moveTo>
                  <a:pt x="0" y="0"/>
                </a:moveTo>
                <a:cubicBezTo>
                  <a:pt x="144916" y="6803"/>
                  <a:pt x="289832" y="13607"/>
                  <a:pt x="457200" y="73478"/>
                </a:cubicBezTo>
                <a:cubicBezTo>
                  <a:pt x="624568" y="133349"/>
                  <a:pt x="825954" y="228599"/>
                  <a:pt x="1004207" y="359228"/>
                </a:cubicBezTo>
                <a:cubicBezTo>
                  <a:pt x="1182460" y="489857"/>
                  <a:pt x="1383846" y="762000"/>
                  <a:pt x="1526721" y="857250"/>
                </a:cubicBezTo>
                <a:cubicBezTo>
                  <a:pt x="1669596" y="952500"/>
                  <a:pt x="1765526" y="941614"/>
                  <a:pt x="1861457" y="9307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手繪多邊形 43"/>
          <p:cNvSpPr/>
          <p:nvPr/>
        </p:nvSpPr>
        <p:spPr>
          <a:xfrm>
            <a:off x="6645729" y="2481943"/>
            <a:ext cx="1861457" cy="1698171"/>
          </a:xfrm>
          <a:custGeom>
            <a:avLst/>
            <a:gdLst>
              <a:gd name="connsiteX0" fmla="*/ 0 w 1861457"/>
              <a:gd name="connsiteY0" fmla="*/ 0 h 1698171"/>
              <a:gd name="connsiteX1" fmla="*/ 383721 w 1861457"/>
              <a:gd name="connsiteY1" fmla="*/ 285750 h 1698171"/>
              <a:gd name="connsiteX2" fmla="*/ 1183821 w 1861457"/>
              <a:gd name="connsiteY2" fmla="*/ 1355271 h 1698171"/>
              <a:gd name="connsiteX3" fmla="*/ 1861457 w 1861457"/>
              <a:gd name="connsiteY3" fmla="*/ 1698171 h 1698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1457" h="1698171">
                <a:moveTo>
                  <a:pt x="0" y="0"/>
                </a:moveTo>
                <a:cubicBezTo>
                  <a:pt x="93209" y="29936"/>
                  <a:pt x="186418" y="59872"/>
                  <a:pt x="383721" y="285750"/>
                </a:cubicBezTo>
                <a:cubicBezTo>
                  <a:pt x="581025" y="511629"/>
                  <a:pt x="937532" y="1119868"/>
                  <a:pt x="1183821" y="1355271"/>
                </a:cubicBezTo>
                <a:cubicBezTo>
                  <a:pt x="1430110" y="1590674"/>
                  <a:pt x="1645783" y="1644422"/>
                  <a:pt x="1861457" y="169817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手繪多邊形 45"/>
          <p:cNvSpPr/>
          <p:nvPr/>
        </p:nvSpPr>
        <p:spPr>
          <a:xfrm>
            <a:off x="6645729" y="2676839"/>
            <a:ext cx="1861457" cy="2140202"/>
          </a:xfrm>
          <a:custGeom>
            <a:avLst/>
            <a:gdLst>
              <a:gd name="connsiteX0" fmla="*/ 0 w 1861457"/>
              <a:gd name="connsiteY0" fmla="*/ 1047 h 2140202"/>
              <a:gd name="connsiteX1" fmla="*/ 138793 w 1861457"/>
              <a:gd name="connsiteY1" fmla="*/ 66361 h 2140202"/>
              <a:gd name="connsiteX2" fmla="*/ 383721 w 1861457"/>
              <a:gd name="connsiteY2" fmla="*/ 425590 h 2140202"/>
              <a:gd name="connsiteX3" fmla="*/ 898071 w 1861457"/>
              <a:gd name="connsiteY3" fmla="*/ 1544097 h 2140202"/>
              <a:gd name="connsiteX4" fmla="*/ 1510393 w 1861457"/>
              <a:gd name="connsiteY4" fmla="*/ 2042118 h 2140202"/>
              <a:gd name="connsiteX5" fmla="*/ 1861457 w 1861457"/>
              <a:gd name="connsiteY5" fmla="*/ 2140090 h 214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1457" h="2140202">
                <a:moveTo>
                  <a:pt x="0" y="1047"/>
                </a:moveTo>
                <a:cubicBezTo>
                  <a:pt x="37420" y="-1675"/>
                  <a:pt x="74840" y="-4396"/>
                  <a:pt x="138793" y="66361"/>
                </a:cubicBezTo>
                <a:cubicBezTo>
                  <a:pt x="202746" y="137118"/>
                  <a:pt x="257175" y="179301"/>
                  <a:pt x="383721" y="425590"/>
                </a:cubicBezTo>
                <a:cubicBezTo>
                  <a:pt x="510267" y="671879"/>
                  <a:pt x="710292" y="1274676"/>
                  <a:pt x="898071" y="1544097"/>
                </a:cubicBezTo>
                <a:cubicBezTo>
                  <a:pt x="1085850" y="1813518"/>
                  <a:pt x="1349829" y="1942786"/>
                  <a:pt x="1510393" y="2042118"/>
                </a:cubicBezTo>
                <a:cubicBezTo>
                  <a:pt x="1670957" y="2141450"/>
                  <a:pt x="1766207" y="2140770"/>
                  <a:pt x="1861457" y="214009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手繪多邊形 46"/>
          <p:cNvSpPr/>
          <p:nvPr/>
        </p:nvSpPr>
        <p:spPr>
          <a:xfrm>
            <a:off x="6653893" y="2871393"/>
            <a:ext cx="1845129" cy="2500707"/>
          </a:xfrm>
          <a:custGeom>
            <a:avLst/>
            <a:gdLst>
              <a:gd name="connsiteX0" fmla="*/ 0 w 1845129"/>
              <a:gd name="connsiteY0" fmla="*/ 2436 h 2500707"/>
              <a:gd name="connsiteX1" fmla="*/ 89807 w 1845129"/>
              <a:gd name="connsiteY1" fmla="*/ 18764 h 2500707"/>
              <a:gd name="connsiteX2" fmla="*/ 138793 w 1845129"/>
              <a:gd name="connsiteY2" fmla="*/ 141228 h 2500707"/>
              <a:gd name="connsiteX3" fmla="*/ 244929 w 1845129"/>
              <a:gd name="connsiteY3" fmla="*/ 761714 h 2500707"/>
              <a:gd name="connsiteX4" fmla="*/ 832757 w 1845129"/>
              <a:gd name="connsiteY4" fmla="*/ 2100657 h 2500707"/>
              <a:gd name="connsiteX5" fmla="*/ 1845129 w 1845129"/>
              <a:gd name="connsiteY5" fmla="*/ 2500707 h 2500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45129" h="2500707">
                <a:moveTo>
                  <a:pt x="0" y="2436"/>
                </a:moveTo>
                <a:cubicBezTo>
                  <a:pt x="33337" y="-966"/>
                  <a:pt x="66675" y="-4368"/>
                  <a:pt x="89807" y="18764"/>
                </a:cubicBezTo>
                <a:cubicBezTo>
                  <a:pt x="112939" y="41896"/>
                  <a:pt x="112939" y="17403"/>
                  <a:pt x="138793" y="141228"/>
                </a:cubicBezTo>
                <a:cubicBezTo>
                  <a:pt x="164647" y="265053"/>
                  <a:pt x="129268" y="435143"/>
                  <a:pt x="244929" y="761714"/>
                </a:cubicBezTo>
                <a:cubicBezTo>
                  <a:pt x="360590" y="1088285"/>
                  <a:pt x="566057" y="1810825"/>
                  <a:pt x="832757" y="2100657"/>
                </a:cubicBezTo>
                <a:cubicBezTo>
                  <a:pt x="1099457" y="2390489"/>
                  <a:pt x="1472293" y="2445598"/>
                  <a:pt x="1845129" y="2500707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171700" y="118159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171700" y="171561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2171700" y="2257040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8021971" y="66969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8021971" y="127360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8021971" y="188756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8020211" y="252304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8020211" y="3116721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8020211" y="367820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8020211" y="430066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0</a:t>
            </a:r>
            <a:endParaRPr lang="zh-TW" altLang="en-US" sz="24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8020211" y="49104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59" name="手繪多邊形 58"/>
          <p:cNvSpPr/>
          <p:nvPr/>
        </p:nvSpPr>
        <p:spPr>
          <a:xfrm>
            <a:off x="1910046" y="4399249"/>
            <a:ext cx="7323761" cy="2062848"/>
          </a:xfrm>
          <a:custGeom>
            <a:avLst/>
            <a:gdLst>
              <a:gd name="connsiteX0" fmla="*/ 6319157 w 6319157"/>
              <a:gd name="connsiteY0" fmla="*/ 1732130 h 2062848"/>
              <a:gd name="connsiteX1" fmla="*/ 5853793 w 6319157"/>
              <a:gd name="connsiteY1" fmla="*/ 2017880 h 2062848"/>
              <a:gd name="connsiteX2" fmla="*/ 4498522 w 6319157"/>
              <a:gd name="connsiteY2" fmla="*/ 1903580 h 2062848"/>
              <a:gd name="connsiteX3" fmla="*/ 3322865 w 6319157"/>
              <a:gd name="connsiteY3" fmla="*/ 556472 h 2062848"/>
              <a:gd name="connsiteX4" fmla="*/ 1665515 w 6319157"/>
              <a:gd name="connsiteY4" fmla="*/ 42122 h 2062848"/>
              <a:gd name="connsiteX5" fmla="*/ 0 w 6319157"/>
              <a:gd name="connsiteY5" fmla="*/ 66615 h 206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19157" h="2062848">
                <a:moveTo>
                  <a:pt x="6319157" y="1732130"/>
                </a:moveTo>
                <a:cubicBezTo>
                  <a:pt x="6238194" y="1860717"/>
                  <a:pt x="6157232" y="1989305"/>
                  <a:pt x="5853793" y="2017880"/>
                </a:cubicBezTo>
                <a:cubicBezTo>
                  <a:pt x="5550354" y="2046455"/>
                  <a:pt x="4920343" y="2147148"/>
                  <a:pt x="4498522" y="1903580"/>
                </a:cubicBezTo>
                <a:cubicBezTo>
                  <a:pt x="4076701" y="1660012"/>
                  <a:pt x="3795033" y="866715"/>
                  <a:pt x="3322865" y="556472"/>
                </a:cubicBezTo>
                <a:cubicBezTo>
                  <a:pt x="2850697" y="246229"/>
                  <a:pt x="2219326" y="123765"/>
                  <a:pt x="1665515" y="42122"/>
                </a:cubicBezTo>
                <a:cubicBezTo>
                  <a:pt x="1111704" y="-39521"/>
                  <a:pt x="555852" y="13547"/>
                  <a:pt x="0" y="66615"/>
                </a:cubicBezTo>
              </a:path>
            </a:pathLst>
          </a:custGeom>
          <a:noFill/>
          <a:ln w="38100">
            <a:solidFill>
              <a:schemeClr val="tx1">
                <a:lumMod val="95000"/>
                <a:lumOff val="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文字方塊 59"/>
          <p:cNvSpPr txBox="1"/>
          <p:nvPr/>
        </p:nvSpPr>
        <p:spPr>
          <a:xfrm>
            <a:off x="2032510" y="4586208"/>
            <a:ext cx="1989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8-bit data bus</a:t>
            </a:r>
            <a:endParaRPr lang="zh-TW" altLang="en-US" sz="2400" b="1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2032510" y="2980591"/>
            <a:ext cx="17203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3-bit </a:t>
            </a:r>
          </a:p>
          <a:p>
            <a:r>
              <a:rPr lang="en-US" altLang="zh-TW" sz="2400" b="1" dirty="0" smtClean="0"/>
              <a:t>address bus</a:t>
            </a:r>
            <a:endParaRPr lang="zh-TW" altLang="en-US" sz="2400" b="1" dirty="0"/>
          </a:p>
        </p:txBody>
      </p:sp>
      <p:cxnSp>
        <p:nvCxnSpPr>
          <p:cNvPr id="65" name="直線接點 64"/>
          <p:cNvCxnSpPr/>
          <p:nvPr/>
        </p:nvCxnSpPr>
        <p:spPr>
          <a:xfrm flipV="1">
            <a:off x="1910046" y="2187936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904886" y="1618455"/>
            <a:ext cx="311915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572000" y="188985"/>
            <a:ext cx="6866163" cy="6489401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文字方塊 67"/>
          <p:cNvSpPr txBox="1"/>
          <p:nvPr/>
        </p:nvSpPr>
        <p:spPr>
          <a:xfrm>
            <a:off x="4629150" y="6136591"/>
            <a:ext cx="1520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Memory 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1415641" y="253403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A2</a:t>
            </a:r>
            <a:endParaRPr lang="zh-TW" altLang="en-US" dirty="0"/>
          </a:p>
        </p:txBody>
      </p:sp>
      <p:sp>
        <p:nvSpPr>
          <p:cNvPr id="70" name="文字方塊 69"/>
          <p:cNvSpPr txBox="1"/>
          <p:nvPr/>
        </p:nvSpPr>
        <p:spPr>
          <a:xfrm>
            <a:off x="1437312" y="195748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A1</a:t>
            </a:r>
            <a:endParaRPr lang="zh-TW" altLang="en-US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1429148" y="140928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A0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1435123" y="4006157"/>
            <a:ext cx="450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</a:p>
          <a:p>
            <a:endParaRPr lang="en-US" altLang="zh-TW" dirty="0"/>
          </a:p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62" name="手繪多邊形 61"/>
          <p:cNvSpPr/>
          <p:nvPr/>
        </p:nvSpPr>
        <p:spPr>
          <a:xfrm>
            <a:off x="1607664" y="4335236"/>
            <a:ext cx="82496" cy="244928"/>
          </a:xfrm>
          <a:custGeom>
            <a:avLst/>
            <a:gdLst>
              <a:gd name="connsiteX0" fmla="*/ 49686 w 82496"/>
              <a:gd name="connsiteY0" fmla="*/ 0 h 244928"/>
              <a:gd name="connsiteX1" fmla="*/ 700 w 82496"/>
              <a:gd name="connsiteY1" fmla="*/ 73478 h 244928"/>
              <a:gd name="connsiteX2" fmla="*/ 82343 w 82496"/>
              <a:gd name="connsiteY2" fmla="*/ 163285 h 244928"/>
              <a:gd name="connsiteX3" fmla="*/ 17029 w 82496"/>
              <a:gd name="connsiteY3" fmla="*/ 244928 h 24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96" h="244928">
                <a:moveTo>
                  <a:pt x="49686" y="0"/>
                </a:moveTo>
                <a:cubicBezTo>
                  <a:pt x="22471" y="23132"/>
                  <a:pt x="-4743" y="46264"/>
                  <a:pt x="700" y="73478"/>
                </a:cubicBezTo>
                <a:cubicBezTo>
                  <a:pt x="6143" y="100692"/>
                  <a:pt x="79622" y="134710"/>
                  <a:pt x="82343" y="163285"/>
                </a:cubicBezTo>
                <a:cubicBezTo>
                  <a:pt x="85064" y="191860"/>
                  <a:pt x="51046" y="218394"/>
                  <a:pt x="17029" y="244928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7399251" y="5991616"/>
            <a:ext cx="15440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/>
              <a:t>01100111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5231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3" name="直線接點 62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4776107" y="200491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4776107" y="220202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776107" y="239913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6653892" y="12969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6653892" y="150204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653892" y="169914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653892" y="190228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653892" y="209842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653892" y="22933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653892" y="248932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6653892" y="269400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4435608" y="1819469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4435608" y="2029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92" name="文字方塊 91"/>
          <p:cNvSpPr txBox="1"/>
          <p:nvPr/>
        </p:nvSpPr>
        <p:spPr>
          <a:xfrm>
            <a:off x="4435608" y="22148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951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5029200" y="1379765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3" name="直線接點 62"/>
          <p:cNvCxnSpPr/>
          <p:nvPr/>
        </p:nvCxnSpPr>
        <p:spPr>
          <a:xfrm>
            <a:off x="6400800" y="149406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6400800" y="287382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/>
          <p:cNvCxnSpPr/>
          <p:nvPr/>
        </p:nvCxnSpPr>
        <p:spPr>
          <a:xfrm>
            <a:off x="6400800" y="169117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/>
          <p:cNvCxnSpPr/>
          <p:nvPr/>
        </p:nvCxnSpPr>
        <p:spPr>
          <a:xfrm>
            <a:off x="6400800" y="188828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6400799" y="208539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接點 74"/>
          <p:cNvCxnSpPr/>
          <p:nvPr/>
        </p:nvCxnSpPr>
        <p:spPr>
          <a:xfrm>
            <a:off x="6400799" y="2282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6400799" y="247960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6400799" y="2676718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>
            <a:off x="4776107" y="200491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>
            <a:off x="4776107" y="220202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776107" y="239913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6653892" y="12969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6653892" y="150204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653892" y="169914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653892" y="190228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6653892" y="209842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6653892" y="22933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6653892" y="248932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6653892" y="269400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4435608" y="1819469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4435608" y="2029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92" name="文字方塊 91"/>
          <p:cNvSpPr txBox="1"/>
          <p:nvPr/>
        </p:nvSpPr>
        <p:spPr>
          <a:xfrm>
            <a:off x="4435608" y="22148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45721" y="3367679"/>
            <a:ext cx="10488385" cy="1982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A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3-to-8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decoder</a:t>
            </a:r>
          </a:p>
          <a:p>
            <a:pPr lvl="1">
              <a:lnSpc>
                <a:spcPct val="150000"/>
              </a:lnSpc>
            </a:pPr>
            <a:r>
              <a:rPr lang="en-US" altLang="zh-TW" sz="3200" dirty="0" smtClean="0">
                <a:latin typeface="+mj-lt"/>
              </a:rPr>
              <a:t>3 </a:t>
            </a:r>
            <a:r>
              <a:rPr lang="en-US" altLang="zh-TW" sz="3200" dirty="0">
                <a:latin typeface="+mj-lt"/>
              </a:rPr>
              <a:t>input variables; up to </a:t>
            </a:r>
            <a:r>
              <a:rPr lang="en-US" altLang="zh-TW" sz="3200" dirty="0" smtClean="0">
                <a:latin typeface="+mj-lt"/>
              </a:rPr>
              <a:t>2</a:t>
            </a:r>
            <a:r>
              <a:rPr lang="en-US" altLang="zh-TW" sz="3200" baseline="80000" dirty="0" smtClean="0">
                <a:latin typeface="+mj-lt"/>
              </a:rPr>
              <a:t>3</a:t>
            </a:r>
            <a:r>
              <a:rPr lang="en-US" altLang="zh-TW" sz="3200" dirty="0" smtClean="0">
                <a:latin typeface="+mj-lt"/>
              </a:rPr>
              <a:t> </a:t>
            </a:r>
            <a:r>
              <a:rPr lang="en-US" altLang="zh-TW" sz="3200" dirty="0">
                <a:latin typeface="+mj-lt"/>
              </a:rPr>
              <a:t>output lines</a:t>
            </a:r>
          </a:p>
          <a:p>
            <a:pPr lvl="1">
              <a:lnSpc>
                <a:spcPct val="150000"/>
              </a:lnSpc>
            </a:pPr>
            <a:r>
              <a:rPr lang="en-US" altLang="zh-TW" sz="3200" dirty="0">
                <a:latin typeface="+mj-lt"/>
              </a:rPr>
              <a:t>only one output can be active (high) at any time</a:t>
            </a:r>
          </a:p>
        </p:txBody>
      </p:sp>
    </p:spTree>
    <p:extLst>
      <p:ext uri="{BB962C8B-B14F-4D97-AF65-F5344CB8AC3E}">
        <p14:creationId xmlns:p14="http://schemas.microsoft.com/office/powerpoint/2010/main" val="320457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640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5540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1450" y="635098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541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1450" y="635098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endParaRPr lang="zh-TW" altLang="en-US" sz="3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71449" y="1239803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D2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0657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1450" y="635098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endParaRPr lang="zh-TW" altLang="en-US" sz="3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71449" y="1239803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D2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715606" y="75365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D3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659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1450" y="635098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endParaRPr lang="zh-TW" altLang="en-US" sz="3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71449" y="1239803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D2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715606" y="75365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D3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endParaRPr lang="zh-TW" altLang="en-US" sz="3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715606" y="719040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D4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1850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1450" y="635098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endParaRPr lang="zh-TW" altLang="en-US" sz="3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71449" y="1239803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D2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715606" y="75365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D3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endParaRPr lang="zh-TW" altLang="en-US" sz="3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715606" y="719040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D4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715606" y="1288863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D5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xy’z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9678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1450" y="635098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endParaRPr lang="zh-TW" altLang="en-US" sz="3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71449" y="1239803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D2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715606" y="75365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D3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endParaRPr lang="zh-TW" altLang="en-US" sz="3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715606" y="719040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D4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715606" y="1288863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D5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xy’z</a:t>
            </a:r>
            <a:endParaRPr lang="zh-TW" altLang="en-US" sz="3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007742" y="63313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D6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xyz’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5203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E0EF37DE-C3CD-4A0F-9878-A63B001C2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8"/>
          <a:stretch/>
        </p:blipFill>
        <p:spPr bwMode="auto">
          <a:xfrm>
            <a:off x="0" y="2108417"/>
            <a:ext cx="12192000" cy="4749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907235" y="220436"/>
            <a:ext cx="1371600" cy="1657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3 </a:t>
            </a:r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 8</a:t>
            </a:r>
          </a:p>
          <a:p>
            <a:pPr algn="ctr"/>
            <a:r>
              <a:rPr lang="en-US" altLang="zh-TW" sz="2400" dirty="0" smtClean="0">
                <a:solidFill>
                  <a:schemeClr val="tx1"/>
                </a:solidFill>
                <a:sym typeface="Symbol" panose="05050102010706020507" pitchFamily="18" charset="2"/>
              </a:rPr>
              <a:t>Decoder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/>
          <p:nvPr/>
        </p:nvCxnSpPr>
        <p:spPr>
          <a:xfrm>
            <a:off x="10278835" y="33473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278835" y="171450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0278835" y="53184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10278835" y="72895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0278834" y="926062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0278834" y="1123171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0278834" y="1320280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10278834" y="1517389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8654142" y="845585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8654142" y="1042694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8654142" y="1239803"/>
            <a:ext cx="25309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10531927" y="1376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531927" y="34271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531927" y="53981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10531927" y="74295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0531927" y="939092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0531927" y="113405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531927" y="13299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531927" y="153468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8313643" y="66014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z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313643" y="8704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8313643" y="10555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x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171450" y="50323"/>
            <a:ext cx="2020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D0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71450" y="635098"/>
            <a:ext cx="19303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x’y’z</a:t>
            </a:r>
            <a:endParaRPr lang="zh-TW" altLang="en-US" sz="3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71449" y="1239803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D2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2715606" y="75365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D3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x’yz</a:t>
            </a:r>
            <a:endParaRPr lang="zh-TW" altLang="en-US" sz="3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2715606" y="719040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D4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xy’z</a:t>
            </a:r>
            <a:r>
              <a:rPr lang="en-US" altLang="zh-TW" sz="3200" dirty="0" smtClean="0"/>
              <a:t>’</a:t>
            </a:r>
            <a:endParaRPr lang="zh-TW" altLang="en-US" sz="32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715606" y="1288863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D5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err="1" smtClean="0"/>
              <a:t>xy’z</a:t>
            </a:r>
            <a:endParaRPr lang="zh-TW" altLang="en-US" sz="32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5007742" y="63313"/>
            <a:ext cx="1829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D6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xyz’</a:t>
            </a:r>
            <a:endParaRPr lang="zh-TW" altLang="en-US" sz="32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5030709" y="756722"/>
            <a:ext cx="1750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D7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=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xyz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8281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FF2B5EF4-FFF2-40B4-BE49-F238E27FC236}">
                <a16:creationId xmlns:a16="http://schemas.microsoft.com/office/drawing/2014/main" id="{E30A477D-77AE-447F-AB84-04410E930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00"/>
          <a:stretch/>
        </p:blipFill>
        <p:spPr bwMode="auto">
          <a:xfrm>
            <a:off x="2178049" y="0"/>
            <a:ext cx="7178222" cy="686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60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88570" y="2494101"/>
            <a:ext cx="103332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Combinational logic implementation</a:t>
            </a:r>
          </a:p>
          <a:p>
            <a:pPr lvl="1"/>
            <a:r>
              <a:rPr lang="en-US" altLang="zh-TW" sz="3200" dirty="0"/>
              <a:t>each output = a </a:t>
            </a:r>
            <a:r>
              <a:rPr lang="en-US" altLang="zh-TW" sz="3200" dirty="0" err="1"/>
              <a:t>minterm</a:t>
            </a:r>
            <a:endParaRPr lang="en-US" altLang="zh-TW" sz="3200" dirty="0"/>
          </a:p>
          <a:p>
            <a:pPr lvl="1"/>
            <a:r>
              <a:rPr lang="en-US" altLang="zh-TW" sz="3200" dirty="0"/>
              <a:t>use </a:t>
            </a:r>
            <a:r>
              <a:rPr lang="en-US" altLang="zh-TW" sz="3200" b="1" dirty="0">
                <a:solidFill>
                  <a:srgbClr val="C00000"/>
                </a:solidFill>
              </a:rPr>
              <a:t>a decoder </a:t>
            </a:r>
            <a:r>
              <a:rPr lang="en-US" altLang="zh-TW" sz="3200" dirty="0"/>
              <a:t>and an external </a:t>
            </a:r>
            <a:r>
              <a:rPr lang="en-US" altLang="zh-TW" sz="3200" b="1" dirty="0">
                <a:solidFill>
                  <a:srgbClr val="C00000"/>
                </a:solidFill>
              </a:rPr>
              <a:t>OR gate </a:t>
            </a:r>
            <a:r>
              <a:rPr lang="en-US" altLang="zh-TW" sz="3200" dirty="0"/>
              <a:t>to implement any Boolean function of </a:t>
            </a:r>
            <a:r>
              <a:rPr lang="en-US" altLang="zh-TW" sz="3200" b="1" dirty="0">
                <a:solidFill>
                  <a:srgbClr val="C00000"/>
                </a:solidFill>
              </a:rPr>
              <a:t>n</a:t>
            </a:r>
            <a:r>
              <a:rPr lang="en-US" altLang="zh-TW" sz="3200" dirty="0"/>
              <a:t> input variables</a:t>
            </a:r>
          </a:p>
        </p:txBody>
      </p:sp>
    </p:spTree>
    <p:extLst>
      <p:ext uri="{BB962C8B-B14F-4D97-AF65-F5344CB8AC3E}">
        <p14:creationId xmlns:p14="http://schemas.microsoft.com/office/powerpoint/2010/main" val="269199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342149" y="1088321"/>
            <a:ext cx="5755821" cy="55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  <p:sp>
        <p:nvSpPr>
          <p:cNvPr id="2" name="矩形 1"/>
          <p:cNvSpPr/>
          <p:nvPr/>
        </p:nvSpPr>
        <p:spPr>
          <a:xfrm>
            <a:off x="6416754" y="3076212"/>
            <a:ext cx="529427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3600" dirty="0" smtClean="0">
                <a:latin typeface="+mj-lt"/>
              </a:rPr>
              <a:t>S(x, y, x) = ∑(1, 2, 4, 7</a:t>
            </a:r>
            <a:r>
              <a:rPr lang="en-US" altLang="zh-TW" sz="3600" dirty="0">
                <a:latin typeface="+mj-lt"/>
              </a:rPr>
              <a:t>)	</a:t>
            </a:r>
            <a:endParaRPr lang="en-US" altLang="zh-TW" sz="3600" dirty="0" smtClean="0">
              <a:latin typeface="+mj-lt"/>
            </a:endParaRPr>
          </a:p>
          <a:p>
            <a:pPr marL="0" lvl="2"/>
            <a:endParaRPr lang="en-US" altLang="zh-TW" sz="3600" dirty="0" smtClean="0">
              <a:latin typeface="+mj-lt"/>
            </a:endParaRPr>
          </a:p>
          <a:p>
            <a:pPr marL="0" lvl="2"/>
            <a:r>
              <a:rPr lang="en-US" altLang="zh-TW" sz="3600" dirty="0" smtClean="0">
                <a:latin typeface="+mj-lt"/>
              </a:rPr>
              <a:t>C(x, y, z) = </a:t>
            </a:r>
            <a:r>
              <a:rPr lang="en-US" altLang="zh-TW" sz="3600" dirty="0"/>
              <a:t>∑</a:t>
            </a:r>
            <a:r>
              <a:rPr lang="en-US" altLang="zh-TW" sz="3600" dirty="0" smtClean="0">
                <a:latin typeface="+mj-lt"/>
              </a:rPr>
              <a:t>(</a:t>
            </a:r>
            <a:r>
              <a:rPr lang="en-US" altLang="zh-TW" sz="3600" dirty="0">
                <a:latin typeface="+mj-lt"/>
              </a:rPr>
              <a:t>3</a:t>
            </a:r>
            <a:r>
              <a:rPr lang="en-US" altLang="zh-TW" sz="3600" dirty="0" smtClean="0">
                <a:latin typeface="+mj-lt"/>
              </a:rPr>
              <a:t>, 5, 6, 7</a:t>
            </a:r>
            <a:r>
              <a:rPr lang="en-US" altLang="zh-TW" sz="3600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221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E30A477D-77AE-447F-AB84-04410E930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" r="28232" b="7500"/>
          <a:stretch/>
        </p:blipFill>
        <p:spPr bwMode="auto">
          <a:xfrm>
            <a:off x="0" y="0"/>
            <a:ext cx="4718957" cy="686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The 3 by 8 decoder receives inputs x = 2 squared, y = 2 to the first, z = 2 to the zero. The decoder has outputs 0 to 7. The outputs are transmitted to two or gates. First or gate: inputs, 1 2 4 7; output S. Second or gate: inputs 3 5 6 7; output C."/>
          <p:cNvPicPr>
            <a:picLocks noChangeAspect="1" noChangeArrowheads="1"/>
          </p:cNvPicPr>
          <p:nvPr/>
        </p:nvPicPr>
        <p:blipFill rotWithShape="1">
          <a:blip r:embed="rId3"/>
          <a:srcRect l="75545"/>
          <a:stretch/>
        </p:blipFill>
        <p:spPr bwMode="auto">
          <a:xfrm>
            <a:off x="5821136" y="1567544"/>
            <a:ext cx="1716984" cy="3962400"/>
          </a:xfrm>
          <a:prstGeom prst="rect">
            <a:avLst/>
          </a:prstGeom>
          <a:noFill/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8056203" y="0"/>
            <a:ext cx="4135797" cy="396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8056203" y="4468784"/>
            <a:ext cx="38653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2800" b="1" dirty="0" smtClean="0">
                <a:latin typeface="+mj-lt"/>
              </a:rPr>
              <a:t>S(x, y, x) = ∑(1, 2, 4, 7</a:t>
            </a:r>
            <a:r>
              <a:rPr lang="en-US" altLang="zh-TW" sz="2800" b="1" dirty="0">
                <a:latin typeface="+mj-lt"/>
              </a:rPr>
              <a:t>)	</a:t>
            </a:r>
            <a:endParaRPr lang="en-US" altLang="zh-TW" sz="2800" b="1" dirty="0" smtClean="0">
              <a:latin typeface="+mj-lt"/>
            </a:endParaRPr>
          </a:p>
          <a:p>
            <a:pPr marL="0" lvl="2"/>
            <a:endParaRPr lang="en-US" altLang="zh-TW" sz="2800" b="1" dirty="0" smtClean="0">
              <a:latin typeface="+mj-lt"/>
            </a:endParaRPr>
          </a:p>
          <a:p>
            <a:pPr marL="0" lvl="2"/>
            <a:r>
              <a:rPr lang="en-US" altLang="zh-TW" sz="2800" b="1" dirty="0" smtClean="0">
                <a:latin typeface="+mj-lt"/>
              </a:rPr>
              <a:t>C(x, y, z) = </a:t>
            </a:r>
            <a:r>
              <a:rPr lang="en-US" altLang="zh-TW" sz="2800" b="1" dirty="0"/>
              <a:t>∑</a:t>
            </a:r>
            <a:r>
              <a:rPr lang="en-US" altLang="zh-TW" sz="2800" b="1" dirty="0" smtClean="0">
                <a:latin typeface="+mj-lt"/>
              </a:rPr>
              <a:t>(</a:t>
            </a:r>
            <a:r>
              <a:rPr lang="en-US" altLang="zh-TW" sz="2800" b="1" dirty="0">
                <a:latin typeface="+mj-lt"/>
              </a:rPr>
              <a:t>3</a:t>
            </a:r>
            <a:r>
              <a:rPr lang="en-US" altLang="zh-TW" sz="2800" b="1" dirty="0" smtClean="0">
                <a:latin typeface="+mj-lt"/>
              </a:rPr>
              <a:t>, 5, 6, 7</a:t>
            </a:r>
            <a:r>
              <a:rPr lang="en-US" altLang="zh-TW" sz="2800" b="1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612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E30A477D-77AE-447F-AB84-04410E930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" r="28232" b="7500"/>
          <a:stretch/>
        </p:blipFill>
        <p:spPr bwMode="auto">
          <a:xfrm>
            <a:off x="0" y="0"/>
            <a:ext cx="4718957" cy="686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The 3 by 8 decoder receives inputs x = 2 squared, y = 2 to the first, z = 2 to the zero. The decoder has outputs 0 to 7. The outputs are transmitted to two or gates. First or gate: inputs, 1 2 4 7; output S. Second or gate: inputs 3 5 6 7; output C."/>
          <p:cNvPicPr>
            <a:picLocks noChangeAspect="1" noChangeArrowheads="1"/>
          </p:cNvPicPr>
          <p:nvPr/>
        </p:nvPicPr>
        <p:blipFill rotWithShape="1">
          <a:blip r:embed="rId3"/>
          <a:srcRect l="75545"/>
          <a:stretch/>
        </p:blipFill>
        <p:spPr bwMode="auto">
          <a:xfrm>
            <a:off x="5821136" y="1567544"/>
            <a:ext cx="1716984" cy="3962400"/>
          </a:xfrm>
          <a:prstGeom prst="rect">
            <a:avLst/>
          </a:prstGeom>
          <a:noFill/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8056203" y="0"/>
            <a:ext cx="4135797" cy="396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041322" y="12246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041322" y="101237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043051" y="190227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41322" y="27921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41322" y="368481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41322" y="459694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41322" y="549026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41322" y="638358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8056203" y="4468784"/>
            <a:ext cx="38653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2800" b="1" dirty="0" smtClean="0">
                <a:latin typeface="+mj-lt"/>
              </a:rPr>
              <a:t>S(x, y, x) = ∑(1, 2, 4, 7</a:t>
            </a:r>
            <a:r>
              <a:rPr lang="en-US" altLang="zh-TW" sz="2800" b="1" dirty="0">
                <a:latin typeface="+mj-lt"/>
              </a:rPr>
              <a:t>)	</a:t>
            </a:r>
            <a:endParaRPr lang="en-US" altLang="zh-TW" sz="2800" b="1" dirty="0" smtClean="0">
              <a:latin typeface="+mj-lt"/>
            </a:endParaRPr>
          </a:p>
          <a:p>
            <a:pPr marL="0" lvl="2"/>
            <a:endParaRPr lang="en-US" altLang="zh-TW" sz="2800" b="1" dirty="0" smtClean="0">
              <a:latin typeface="+mj-lt"/>
            </a:endParaRPr>
          </a:p>
          <a:p>
            <a:pPr marL="0" lvl="2"/>
            <a:r>
              <a:rPr lang="en-US" altLang="zh-TW" sz="2800" b="1" dirty="0" smtClean="0">
                <a:latin typeface="+mj-lt"/>
              </a:rPr>
              <a:t>C(x, y, z) = </a:t>
            </a:r>
            <a:r>
              <a:rPr lang="en-US" altLang="zh-TW" sz="2800" b="1" dirty="0"/>
              <a:t>∑</a:t>
            </a:r>
            <a:r>
              <a:rPr lang="en-US" altLang="zh-TW" sz="2800" b="1" dirty="0" smtClean="0">
                <a:latin typeface="+mj-lt"/>
              </a:rPr>
              <a:t>(</a:t>
            </a:r>
            <a:r>
              <a:rPr lang="en-US" altLang="zh-TW" sz="2800" b="1" dirty="0">
                <a:latin typeface="+mj-lt"/>
              </a:rPr>
              <a:t>3</a:t>
            </a:r>
            <a:r>
              <a:rPr lang="en-US" altLang="zh-TW" sz="2800" b="1" dirty="0" smtClean="0">
                <a:latin typeface="+mj-lt"/>
              </a:rPr>
              <a:t>, 5, 6, 7</a:t>
            </a:r>
            <a:r>
              <a:rPr lang="en-US" altLang="zh-TW" sz="2800" b="1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249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E30A477D-77AE-447F-AB84-04410E930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" r="28232" b="7500"/>
          <a:stretch/>
        </p:blipFill>
        <p:spPr bwMode="auto">
          <a:xfrm>
            <a:off x="0" y="0"/>
            <a:ext cx="4718957" cy="686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The 3 by 8 decoder receives inputs x = 2 squared, y = 2 to the first, z = 2 to the zero. The decoder has outputs 0 to 7. The outputs are transmitted to two or gates. First or gate: inputs, 1 2 4 7; output S. Second or gate: inputs 3 5 6 7; output C."/>
          <p:cNvPicPr>
            <a:picLocks noChangeAspect="1" noChangeArrowheads="1"/>
          </p:cNvPicPr>
          <p:nvPr/>
        </p:nvPicPr>
        <p:blipFill rotWithShape="1">
          <a:blip r:embed="rId3"/>
          <a:srcRect l="75545"/>
          <a:stretch/>
        </p:blipFill>
        <p:spPr bwMode="auto">
          <a:xfrm>
            <a:off x="5821136" y="1567544"/>
            <a:ext cx="1716984" cy="3962400"/>
          </a:xfrm>
          <a:prstGeom prst="rect">
            <a:avLst/>
          </a:prstGeom>
          <a:noFill/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8056203" y="0"/>
            <a:ext cx="4135797" cy="396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041322" y="12246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041322" y="101237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043051" y="190227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41322" y="27921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41322" y="368481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41322" y="459694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41322" y="549026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41322" y="638358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8056203" y="1559379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8056203" y="1902278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8056203" y="2588078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8056203" y="3635832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056203" y="4468784"/>
            <a:ext cx="38653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2800" b="1" dirty="0" smtClean="0">
                <a:latin typeface="+mj-lt"/>
              </a:rPr>
              <a:t>S(x, y, x) = ∑(1, 2, 4, 7</a:t>
            </a:r>
            <a:r>
              <a:rPr lang="en-US" altLang="zh-TW" sz="2800" b="1" dirty="0">
                <a:latin typeface="+mj-lt"/>
              </a:rPr>
              <a:t>)	</a:t>
            </a:r>
            <a:endParaRPr lang="en-US" altLang="zh-TW" sz="2800" b="1" dirty="0" smtClean="0">
              <a:latin typeface="+mj-lt"/>
            </a:endParaRPr>
          </a:p>
          <a:p>
            <a:pPr marL="0" lvl="2"/>
            <a:endParaRPr lang="en-US" altLang="zh-TW" sz="2800" b="1" dirty="0" smtClean="0">
              <a:latin typeface="+mj-lt"/>
            </a:endParaRPr>
          </a:p>
          <a:p>
            <a:pPr marL="0" lvl="2"/>
            <a:r>
              <a:rPr lang="en-US" altLang="zh-TW" sz="2800" b="1" dirty="0" smtClean="0">
                <a:latin typeface="+mj-lt"/>
              </a:rPr>
              <a:t>C(x, y, z) = </a:t>
            </a:r>
            <a:r>
              <a:rPr lang="en-US" altLang="zh-TW" sz="2800" b="1" dirty="0"/>
              <a:t>∑</a:t>
            </a:r>
            <a:r>
              <a:rPr lang="en-US" altLang="zh-TW" sz="2800" b="1" dirty="0" smtClean="0">
                <a:latin typeface="+mj-lt"/>
              </a:rPr>
              <a:t>(</a:t>
            </a:r>
            <a:r>
              <a:rPr lang="en-US" altLang="zh-TW" sz="2800" b="1" dirty="0">
                <a:latin typeface="+mj-lt"/>
              </a:rPr>
              <a:t>3</a:t>
            </a:r>
            <a:r>
              <a:rPr lang="en-US" altLang="zh-TW" sz="2800" b="1" dirty="0" smtClean="0">
                <a:latin typeface="+mj-lt"/>
              </a:rPr>
              <a:t>, 5, 6, 7</a:t>
            </a:r>
            <a:r>
              <a:rPr lang="en-US" altLang="zh-TW" sz="2800" b="1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4347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E30A477D-77AE-447F-AB84-04410E930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" r="28232" b="7500"/>
          <a:stretch/>
        </p:blipFill>
        <p:spPr bwMode="auto">
          <a:xfrm>
            <a:off x="0" y="0"/>
            <a:ext cx="4718957" cy="686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The 3 by 8 decoder receives inputs x = 2 squared, y = 2 to the first, z = 2 to the zero. The decoder has outputs 0 to 7. The outputs are transmitted to two or gates. First or gate: inputs, 1 2 4 7; output S. Second or gate: inputs 3 5 6 7; output C."/>
          <p:cNvPicPr>
            <a:picLocks noChangeAspect="1" noChangeArrowheads="1"/>
          </p:cNvPicPr>
          <p:nvPr/>
        </p:nvPicPr>
        <p:blipFill rotWithShape="1">
          <a:blip r:embed="rId3"/>
          <a:srcRect l="75545"/>
          <a:stretch/>
        </p:blipFill>
        <p:spPr bwMode="auto">
          <a:xfrm>
            <a:off x="5821136" y="1567544"/>
            <a:ext cx="1716984" cy="3962400"/>
          </a:xfrm>
          <a:prstGeom prst="rect">
            <a:avLst/>
          </a:prstGeom>
          <a:noFill/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8056203" y="0"/>
            <a:ext cx="4135797" cy="396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041322" y="12246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041322" y="101237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043051" y="190227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41322" y="27921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41322" y="368481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41322" y="459694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41322" y="5490266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41322" y="638358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8056203" y="1559379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8056203" y="1902278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8056203" y="2588078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8056203" y="3635832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手繪多邊形 2"/>
          <p:cNvSpPr/>
          <p:nvPr/>
        </p:nvSpPr>
        <p:spPr>
          <a:xfrm>
            <a:off x="4702629" y="1191986"/>
            <a:ext cx="1151164" cy="1134835"/>
          </a:xfrm>
          <a:custGeom>
            <a:avLst/>
            <a:gdLst>
              <a:gd name="connsiteX0" fmla="*/ 0 w 1151164"/>
              <a:gd name="connsiteY0" fmla="*/ 0 h 1134835"/>
              <a:gd name="connsiteX1" fmla="*/ 163285 w 1151164"/>
              <a:gd name="connsiteY1" fmla="*/ 48985 h 1134835"/>
              <a:gd name="connsiteX2" fmla="*/ 302078 w 1151164"/>
              <a:gd name="connsiteY2" fmla="*/ 253093 h 1134835"/>
              <a:gd name="connsiteX3" fmla="*/ 938892 w 1151164"/>
              <a:gd name="connsiteY3" fmla="*/ 971550 h 1134835"/>
              <a:gd name="connsiteX4" fmla="*/ 1151164 w 1151164"/>
              <a:gd name="connsiteY4" fmla="*/ 1134835 h 11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164" h="1134835">
                <a:moveTo>
                  <a:pt x="0" y="0"/>
                </a:moveTo>
                <a:cubicBezTo>
                  <a:pt x="56469" y="3401"/>
                  <a:pt x="112939" y="6803"/>
                  <a:pt x="163285" y="48985"/>
                </a:cubicBezTo>
                <a:cubicBezTo>
                  <a:pt x="213631" y="91167"/>
                  <a:pt x="172810" y="99332"/>
                  <a:pt x="302078" y="253093"/>
                </a:cubicBezTo>
                <a:cubicBezTo>
                  <a:pt x="431346" y="406854"/>
                  <a:pt x="797378" y="824593"/>
                  <a:pt x="938892" y="971550"/>
                </a:cubicBezTo>
                <a:cubicBezTo>
                  <a:pt x="1080406" y="1118507"/>
                  <a:pt x="1115785" y="1126671"/>
                  <a:pt x="1151164" y="1134835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4718957" y="2090057"/>
            <a:ext cx="1110343" cy="367393"/>
          </a:xfrm>
          <a:custGeom>
            <a:avLst/>
            <a:gdLst>
              <a:gd name="connsiteX0" fmla="*/ 0 w 1110343"/>
              <a:gd name="connsiteY0" fmla="*/ 0 h 367393"/>
              <a:gd name="connsiteX1" fmla="*/ 310243 w 1110343"/>
              <a:gd name="connsiteY1" fmla="*/ 106136 h 367393"/>
              <a:gd name="connsiteX2" fmla="*/ 759279 w 1110343"/>
              <a:gd name="connsiteY2" fmla="*/ 269422 h 367393"/>
              <a:gd name="connsiteX3" fmla="*/ 1110343 w 1110343"/>
              <a:gd name="connsiteY3" fmla="*/ 367393 h 36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43" h="367393">
                <a:moveTo>
                  <a:pt x="0" y="0"/>
                </a:moveTo>
                <a:lnTo>
                  <a:pt x="310243" y="106136"/>
                </a:lnTo>
                <a:cubicBezTo>
                  <a:pt x="436789" y="151040"/>
                  <a:pt x="625929" y="225879"/>
                  <a:pt x="759279" y="269422"/>
                </a:cubicBezTo>
                <a:cubicBezTo>
                  <a:pt x="892629" y="312965"/>
                  <a:pt x="1001486" y="340179"/>
                  <a:pt x="1110343" y="367393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4694464" y="2579914"/>
            <a:ext cx="1151165" cy="1283009"/>
          </a:xfrm>
          <a:custGeom>
            <a:avLst/>
            <a:gdLst>
              <a:gd name="connsiteX0" fmla="*/ 0 w 1151165"/>
              <a:gd name="connsiteY0" fmla="*/ 1281793 h 1283009"/>
              <a:gd name="connsiteX1" fmla="*/ 261257 w 1151165"/>
              <a:gd name="connsiteY1" fmla="*/ 1110343 h 1283009"/>
              <a:gd name="connsiteX2" fmla="*/ 547007 w 1151165"/>
              <a:gd name="connsiteY2" fmla="*/ 204107 h 1283009"/>
              <a:gd name="connsiteX3" fmla="*/ 1151165 w 1151165"/>
              <a:gd name="connsiteY3" fmla="*/ 0 h 128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1165" h="1283009">
                <a:moveTo>
                  <a:pt x="0" y="1281793"/>
                </a:moveTo>
                <a:cubicBezTo>
                  <a:pt x="85044" y="1285875"/>
                  <a:pt x="170089" y="1289957"/>
                  <a:pt x="261257" y="1110343"/>
                </a:cubicBezTo>
                <a:cubicBezTo>
                  <a:pt x="352425" y="930729"/>
                  <a:pt x="398689" y="389164"/>
                  <a:pt x="547007" y="204107"/>
                </a:cubicBezTo>
                <a:cubicBezTo>
                  <a:pt x="695325" y="19050"/>
                  <a:pt x="923245" y="9525"/>
                  <a:pt x="1151165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4718957" y="2718707"/>
            <a:ext cx="1094014" cy="3815051"/>
          </a:xfrm>
          <a:custGeom>
            <a:avLst/>
            <a:gdLst>
              <a:gd name="connsiteX0" fmla="*/ 0 w 1094014"/>
              <a:gd name="connsiteY0" fmla="*/ 3812722 h 3815051"/>
              <a:gd name="connsiteX1" fmla="*/ 220436 w 1094014"/>
              <a:gd name="connsiteY1" fmla="*/ 3747407 h 3815051"/>
              <a:gd name="connsiteX2" fmla="*/ 440872 w 1094014"/>
              <a:gd name="connsiteY2" fmla="*/ 3363686 h 3815051"/>
              <a:gd name="connsiteX3" fmla="*/ 710293 w 1094014"/>
              <a:gd name="connsiteY3" fmla="*/ 726622 h 3815051"/>
              <a:gd name="connsiteX4" fmla="*/ 1094014 w 1094014"/>
              <a:gd name="connsiteY4" fmla="*/ 0 h 3815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014" h="3815051">
                <a:moveTo>
                  <a:pt x="0" y="3812722"/>
                </a:moveTo>
                <a:cubicBezTo>
                  <a:pt x="73478" y="3817484"/>
                  <a:pt x="146957" y="3822246"/>
                  <a:pt x="220436" y="3747407"/>
                </a:cubicBezTo>
                <a:cubicBezTo>
                  <a:pt x="293915" y="3672568"/>
                  <a:pt x="359229" y="3867150"/>
                  <a:pt x="440872" y="3363686"/>
                </a:cubicBezTo>
                <a:cubicBezTo>
                  <a:pt x="522515" y="2860222"/>
                  <a:pt x="601436" y="1287236"/>
                  <a:pt x="710293" y="726622"/>
                </a:cubicBezTo>
                <a:cubicBezTo>
                  <a:pt x="819150" y="166008"/>
                  <a:pt x="956582" y="83004"/>
                  <a:pt x="1094014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8056203" y="4468784"/>
            <a:ext cx="38653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2800" b="1" dirty="0" smtClean="0">
                <a:latin typeface="+mj-lt"/>
              </a:rPr>
              <a:t>S(x, y, x) = ∑(1, 2, 4, 7</a:t>
            </a:r>
            <a:r>
              <a:rPr lang="en-US" altLang="zh-TW" sz="2800" b="1" dirty="0">
                <a:latin typeface="+mj-lt"/>
              </a:rPr>
              <a:t>)	</a:t>
            </a:r>
            <a:endParaRPr lang="en-US" altLang="zh-TW" sz="2800" b="1" dirty="0" smtClean="0">
              <a:latin typeface="+mj-lt"/>
            </a:endParaRPr>
          </a:p>
          <a:p>
            <a:pPr marL="0" lvl="2"/>
            <a:endParaRPr lang="en-US" altLang="zh-TW" sz="2800" b="1" dirty="0" smtClean="0">
              <a:latin typeface="+mj-lt"/>
            </a:endParaRPr>
          </a:p>
          <a:p>
            <a:pPr marL="0" lvl="2"/>
            <a:r>
              <a:rPr lang="en-US" altLang="zh-TW" sz="2800" b="1" dirty="0" smtClean="0">
                <a:latin typeface="+mj-lt"/>
              </a:rPr>
              <a:t>C(x, y, z) = </a:t>
            </a:r>
            <a:r>
              <a:rPr lang="en-US" altLang="zh-TW" sz="2800" b="1" dirty="0"/>
              <a:t>∑</a:t>
            </a:r>
            <a:r>
              <a:rPr lang="en-US" altLang="zh-TW" sz="2800" b="1" dirty="0" smtClean="0">
                <a:latin typeface="+mj-lt"/>
              </a:rPr>
              <a:t>(</a:t>
            </a:r>
            <a:r>
              <a:rPr lang="en-US" altLang="zh-TW" sz="2800" b="1" dirty="0">
                <a:latin typeface="+mj-lt"/>
              </a:rPr>
              <a:t>3</a:t>
            </a:r>
            <a:r>
              <a:rPr lang="en-US" altLang="zh-TW" sz="2800" b="1" dirty="0" smtClean="0">
                <a:latin typeface="+mj-lt"/>
              </a:rPr>
              <a:t>, 5, 6, 7</a:t>
            </a:r>
            <a:r>
              <a:rPr lang="en-US" altLang="zh-TW" sz="2800" b="1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32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E30A477D-77AE-447F-AB84-04410E930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" r="28232" b="7500"/>
          <a:stretch/>
        </p:blipFill>
        <p:spPr bwMode="auto">
          <a:xfrm>
            <a:off x="0" y="0"/>
            <a:ext cx="4718957" cy="686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The 3 by 8 decoder receives inputs x = 2 squared, y = 2 to the first, z = 2 to the zero. The decoder has outputs 0 to 7. The outputs are transmitted to two or gates. First or gate: inputs, 1 2 4 7; output S. Second or gate: inputs 3 5 6 7; output C."/>
          <p:cNvPicPr>
            <a:picLocks noChangeAspect="1" noChangeArrowheads="1"/>
          </p:cNvPicPr>
          <p:nvPr/>
        </p:nvPicPr>
        <p:blipFill rotWithShape="1">
          <a:blip r:embed="rId3"/>
          <a:srcRect l="75545"/>
          <a:stretch/>
        </p:blipFill>
        <p:spPr bwMode="auto">
          <a:xfrm>
            <a:off x="5821136" y="1567544"/>
            <a:ext cx="1716984" cy="3962400"/>
          </a:xfrm>
          <a:prstGeom prst="rect">
            <a:avLst/>
          </a:prstGeom>
          <a:noFill/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8056203" y="0"/>
            <a:ext cx="4135797" cy="396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041322" y="12246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041322" y="101237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043051" y="190227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41322" y="27921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41322" y="3684818"/>
            <a:ext cx="450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41322" y="4596945"/>
            <a:ext cx="450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41322" y="5490266"/>
            <a:ext cx="450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41322" y="638358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>
            <a:off x="8056203" y="3234996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8056203" y="2914649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8056203" y="2255281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8056203" y="3635832"/>
            <a:ext cx="17713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手繪多邊形 16"/>
          <p:cNvSpPr/>
          <p:nvPr/>
        </p:nvSpPr>
        <p:spPr>
          <a:xfrm>
            <a:off x="4702629" y="2979369"/>
            <a:ext cx="1134835" cy="1150985"/>
          </a:xfrm>
          <a:custGeom>
            <a:avLst/>
            <a:gdLst>
              <a:gd name="connsiteX0" fmla="*/ 0 w 1134835"/>
              <a:gd name="connsiteY0" fmla="*/ 595 h 1150985"/>
              <a:gd name="connsiteX1" fmla="*/ 195942 w 1134835"/>
              <a:gd name="connsiteY1" fmla="*/ 90402 h 1150985"/>
              <a:gd name="connsiteX2" fmla="*/ 440871 w 1134835"/>
              <a:gd name="connsiteY2" fmla="*/ 563931 h 1150985"/>
              <a:gd name="connsiteX3" fmla="*/ 808264 w 1134835"/>
              <a:gd name="connsiteY3" fmla="*/ 1078281 h 1150985"/>
              <a:gd name="connsiteX4" fmla="*/ 1134835 w 1134835"/>
              <a:gd name="connsiteY4" fmla="*/ 1135431 h 115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4835" h="1150985">
                <a:moveTo>
                  <a:pt x="0" y="595"/>
                </a:moveTo>
                <a:cubicBezTo>
                  <a:pt x="61231" y="-1446"/>
                  <a:pt x="122463" y="-3487"/>
                  <a:pt x="195942" y="90402"/>
                </a:cubicBezTo>
                <a:cubicBezTo>
                  <a:pt x="269421" y="184291"/>
                  <a:pt x="338817" y="399285"/>
                  <a:pt x="440871" y="563931"/>
                </a:cubicBezTo>
                <a:cubicBezTo>
                  <a:pt x="542925" y="728577"/>
                  <a:pt x="692603" y="983031"/>
                  <a:pt x="808264" y="1078281"/>
                </a:cubicBezTo>
                <a:cubicBezTo>
                  <a:pt x="923925" y="1173531"/>
                  <a:pt x="1029380" y="1154481"/>
                  <a:pt x="1134835" y="113543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 22"/>
          <p:cNvSpPr/>
          <p:nvPr/>
        </p:nvSpPr>
        <p:spPr>
          <a:xfrm>
            <a:off x="4718957" y="4237264"/>
            <a:ext cx="1118507" cy="522515"/>
          </a:xfrm>
          <a:custGeom>
            <a:avLst/>
            <a:gdLst>
              <a:gd name="connsiteX0" fmla="*/ 0 w 1118507"/>
              <a:gd name="connsiteY0" fmla="*/ 522515 h 522515"/>
              <a:gd name="connsiteX1" fmla="*/ 236764 w 1118507"/>
              <a:gd name="connsiteY1" fmla="*/ 408215 h 522515"/>
              <a:gd name="connsiteX2" fmla="*/ 473529 w 1118507"/>
              <a:gd name="connsiteY2" fmla="*/ 89807 h 522515"/>
              <a:gd name="connsiteX3" fmla="*/ 1118507 w 1118507"/>
              <a:gd name="connsiteY3" fmla="*/ 0 h 52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507" h="522515">
                <a:moveTo>
                  <a:pt x="0" y="522515"/>
                </a:moveTo>
                <a:cubicBezTo>
                  <a:pt x="78921" y="501424"/>
                  <a:pt x="157843" y="480333"/>
                  <a:pt x="236764" y="408215"/>
                </a:cubicBezTo>
                <a:cubicBezTo>
                  <a:pt x="315685" y="336097"/>
                  <a:pt x="326572" y="157843"/>
                  <a:pt x="473529" y="89807"/>
                </a:cubicBezTo>
                <a:cubicBezTo>
                  <a:pt x="620486" y="21771"/>
                  <a:pt x="869496" y="10885"/>
                  <a:pt x="1118507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4710793" y="4367893"/>
            <a:ext cx="1118507" cy="1295199"/>
          </a:xfrm>
          <a:custGeom>
            <a:avLst/>
            <a:gdLst>
              <a:gd name="connsiteX0" fmla="*/ 0 w 1118507"/>
              <a:gd name="connsiteY0" fmla="*/ 1289957 h 1295199"/>
              <a:gd name="connsiteX1" fmla="*/ 253093 w 1118507"/>
              <a:gd name="connsiteY1" fmla="*/ 1134836 h 1295199"/>
              <a:gd name="connsiteX2" fmla="*/ 498021 w 1118507"/>
              <a:gd name="connsiteY2" fmla="*/ 228600 h 1295199"/>
              <a:gd name="connsiteX3" fmla="*/ 1118507 w 1118507"/>
              <a:gd name="connsiteY3" fmla="*/ 0 h 129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507" h="1295199">
                <a:moveTo>
                  <a:pt x="0" y="1289957"/>
                </a:moveTo>
                <a:cubicBezTo>
                  <a:pt x="85045" y="1300843"/>
                  <a:pt x="170090" y="1311729"/>
                  <a:pt x="253093" y="1134836"/>
                </a:cubicBezTo>
                <a:cubicBezTo>
                  <a:pt x="336097" y="957943"/>
                  <a:pt x="353785" y="417739"/>
                  <a:pt x="498021" y="228600"/>
                </a:cubicBezTo>
                <a:cubicBezTo>
                  <a:pt x="642257" y="39461"/>
                  <a:pt x="880382" y="19730"/>
                  <a:pt x="1118507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4710793" y="4506686"/>
            <a:ext cx="1126671" cy="2032907"/>
          </a:xfrm>
          <a:custGeom>
            <a:avLst/>
            <a:gdLst>
              <a:gd name="connsiteX0" fmla="*/ 0 w 1126671"/>
              <a:gd name="connsiteY0" fmla="*/ 2032907 h 2032907"/>
              <a:gd name="connsiteX1" fmla="*/ 391886 w 1126671"/>
              <a:gd name="connsiteY1" fmla="*/ 1461407 h 2032907"/>
              <a:gd name="connsiteX2" fmla="*/ 775607 w 1126671"/>
              <a:gd name="connsiteY2" fmla="*/ 261257 h 2032907"/>
              <a:gd name="connsiteX3" fmla="*/ 1126671 w 1126671"/>
              <a:gd name="connsiteY3" fmla="*/ 0 h 203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6671" h="2032907">
                <a:moveTo>
                  <a:pt x="0" y="2032907"/>
                </a:moveTo>
                <a:cubicBezTo>
                  <a:pt x="131309" y="1894794"/>
                  <a:pt x="262618" y="1756682"/>
                  <a:pt x="391886" y="1461407"/>
                </a:cubicBezTo>
                <a:cubicBezTo>
                  <a:pt x="521154" y="1166132"/>
                  <a:pt x="653143" y="504825"/>
                  <a:pt x="775607" y="261257"/>
                </a:cubicBezTo>
                <a:cubicBezTo>
                  <a:pt x="898071" y="17689"/>
                  <a:pt x="1012371" y="8844"/>
                  <a:pt x="112667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8056203" y="4468784"/>
            <a:ext cx="38653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2800" b="1" dirty="0" smtClean="0">
                <a:latin typeface="+mj-lt"/>
              </a:rPr>
              <a:t>S(x, y, x) = ∑(1, 2, 4, 7</a:t>
            </a:r>
            <a:r>
              <a:rPr lang="en-US" altLang="zh-TW" sz="2800" b="1" dirty="0">
                <a:latin typeface="+mj-lt"/>
              </a:rPr>
              <a:t>)	</a:t>
            </a:r>
            <a:endParaRPr lang="en-US" altLang="zh-TW" sz="2800" b="1" dirty="0" smtClean="0">
              <a:latin typeface="+mj-lt"/>
            </a:endParaRPr>
          </a:p>
          <a:p>
            <a:pPr marL="0" lvl="2"/>
            <a:endParaRPr lang="en-US" altLang="zh-TW" sz="2800" b="1" dirty="0" smtClean="0">
              <a:latin typeface="+mj-lt"/>
            </a:endParaRPr>
          </a:p>
          <a:p>
            <a:pPr marL="0" lvl="2"/>
            <a:r>
              <a:rPr lang="en-US" altLang="zh-TW" sz="2800" b="1" dirty="0" smtClean="0">
                <a:latin typeface="+mj-lt"/>
              </a:rPr>
              <a:t>C(x, y, z) = </a:t>
            </a:r>
            <a:r>
              <a:rPr lang="en-US" altLang="zh-TW" sz="2800" b="1" dirty="0"/>
              <a:t>∑</a:t>
            </a:r>
            <a:r>
              <a:rPr lang="en-US" altLang="zh-TW" sz="2800" b="1" dirty="0" smtClean="0">
                <a:latin typeface="+mj-lt"/>
              </a:rPr>
              <a:t>(</a:t>
            </a:r>
            <a:r>
              <a:rPr lang="en-US" altLang="zh-TW" sz="2800" b="1" dirty="0">
                <a:latin typeface="+mj-lt"/>
              </a:rPr>
              <a:t>3</a:t>
            </a:r>
            <a:r>
              <a:rPr lang="en-US" altLang="zh-TW" sz="2800" b="1" dirty="0" smtClean="0">
                <a:latin typeface="+mj-lt"/>
              </a:rPr>
              <a:t>, 5, 6, 7</a:t>
            </a:r>
            <a:r>
              <a:rPr lang="en-US" altLang="zh-TW" sz="2800" b="1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383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E30A477D-77AE-447F-AB84-04410E930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8" r="28232" b="7500"/>
          <a:stretch/>
        </p:blipFill>
        <p:spPr bwMode="auto">
          <a:xfrm>
            <a:off x="0" y="0"/>
            <a:ext cx="4718957" cy="6863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The 3 by 8 decoder receives inputs x = 2 squared, y = 2 to the first, z = 2 to the zero. The decoder has outputs 0 to 7. The outputs are transmitted to two or gates. First or gate: inputs, 1 2 4 7; output S. Second or gate: inputs 3 5 6 7; output C."/>
          <p:cNvPicPr>
            <a:picLocks noChangeAspect="1" noChangeArrowheads="1"/>
          </p:cNvPicPr>
          <p:nvPr/>
        </p:nvPicPr>
        <p:blipFill rotWithShape="1">
          <a:blip r:embed="rId3"/>
          <a:srcRect l="75545"/>
          <a:stretch/>
        </p:blipFill>
        <p:spPr bwMode="auto">
          <a:xfrm>
            <a:off x="5821136" y="1567544"/>
            <a:ext cx="1716984" cy="3962400"/>
          </a:xfrm>
          <a:prstGeom prst="rect">
            <a:avLst/>
          </a:prstGeom>
          <a:noFill/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8056203" y="0"/>
            <a:ext cx="4135797" cy="3960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041322" y="12246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041322" y="101237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D1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043051" y="1902278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D2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41322" y="279218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D3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41322" y="3684818"/>
            <a:ext cx="450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D4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41322" y="4596945"/>
            <a:ext cx="450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D5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41322" y="5490266"/>
            <a:ext cx="4507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D6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41322" y="638358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D7</a:t>
            </a:r>
            <a:endParaRPr lang="zh-TW" altLang="en-US" dirty="0"/>
          </a:p>
        </p:txBody>
      </p:sp>
      <p:sp>
        <p:nvSpPr>
          <p:cNvPr id="3" name="手繪多邊形 2"/>
          <p:cNvSpPr/>
          <p:nvPr/>
        </p:nvSpPr>
        <p:spPr>
          <a:xfrm>
            <a:off x="4702629" y="1191986"/>
            <a:ext cx="1151164" cy="1134835"/>
          </a:xfrm>
          <a:custGeom>
            <a:avLst/>
            <a:gdLst>
              <a:gd name="connsiteX0" fmla="*/ 0 w 1151164"/>
              <a:gd name="connsiteY0" fmla="*/ 0 h 1134835"/>
              <a:gd name="connsiteX1" fmla="*/ 163285 w 1151164"/>
              <a:gd name="connsiteY1" fmla="*/ 48985 h 1134835"/>
              <a:gd name="connsiteX2" fmla="*/ 302078 w 1151164"/>
              <a:gd name="connsiteY2" fmla="*/ 253093 h 1134835"/>
              <a:gd name="connsiteX3" fmla="*/ 938892 w 1151164"/>
              <a:gd name="connsiteY3" fmla="*/ 971550 h 1134835"/>
              <a:gd name="connsiteX4" fmla="*/ 1151164 w 1151164"/>
              <a:gd name="connsiteY4" fmla="*/ 1134835 h 1134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1164" h="1134835">
                <a:moveTo>
                  <a:pt x="0" y="0"/>
                </a:moveTo>
                <a:cubicBezTo>
                  <a:pt x="56469" y="3401"/>
                  <a:pt x="112939" y="6803"/>
                  <a:pt x="163285" y="48985"/>
                </a:cubicBezTo>
                <a:cubicBezTo>
                  <a:pt x="213631" y="91167"/>
                  <a:pt x="172810" y="99332"/>
                  <a:pt x="302078" y="253093"/>
                </a:cubicBezTo>
                <a:cubicBezTo>
                  <a:pt x="431346" y="406854"/>
                  <a:pt x="797378" y="824593"/>
                  <a:pt x="938892" y="971550"/>
                </a:cubicBezTo>
                <a:cubicBezTo>
                  <a:pt x="1080406" y="1118507"/>
                  <a:pt x="1115785" y="1126671"/>
                  <a:pt x="1151164" y="1134835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4718957" y="2090057"/>
            <a:ext cx="1110343" cy="367393"/>
          </a:xfrm>
          <a:custGeom>
            <a:avLst/>
            <a:gdLst>
              <a:gd name="connsiteX0" fmla="*/ 0 w 1110343"/>
              <a:gd name="connsiteY0" fmla="*/ 0 h 367393"/>
              <a:gd name="connsiteX1" fmla="*/ 310243 w 1110343"/>
              <a:gd name="connsiteY1" fmla="*/ 106136 h 367393"/>
              <a:gd name="connsiteX2" fmla="*/ 759279 w 1110343"/>
              <a:gd name="connsiteY2" fmla="*/ 269422 h 367393"/>
              <a:gd name="connsiteX3" fmla="*/ 1110343 w 1110343"/>
              <a:gd name="connsiteY3" fmla="*/ 367393 h 36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43" h="367393">
                <a:moveTo>
                  <a:pt x="0" y="0"/>
                </a:moveTo>
                <a:lnTo>
                  <a:pt x="310243" y="106136"/>
                </a:lnTo>
                <a:cubicBezTo>
                  <a:pt x="436789" y="151040"/>
                  <a:pt x="625929" y="225879"/>
                  <a:pt x="759279" y="269422"/>
                </a:cubicBezTo>
                <a:cubicBezTo>
                  <a:pt x="892629" y="312965"/>
                  <a:pt x="1001486" y="340179"/>
                  <a:pt x="1110343" y="367393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4694464" y="2579914"/>
            <a:ext cx="1151165" cy="1283009"/>
          </a:xfrm>
          <a:custGeom>
            <a:avLst/>
            <a:gdLst>
              <a:gd name="connsiteX0" fmla="*/ 0 w 1151165"/>
              <a:gd name="connsiteY0" fmla="*/ 1281793 h 1283009"/>
              <a:gd name="connsiteX1" fmla="*/ 261257 w 1151165"/>
              <a:gd name="connsiteY1" fmla="*/ 1110343 h 1283009"/>
              <a:gd name="connsiteX2" fmla="*/ 547007 w 1151165"/>
              <a:gd name="connsiteY2" fmla="*/ 204107 h 1283009"/>
              <a:gd name="connsiteX3" fmla="*/ 1151165 w 1151165"/>
              <a:gd name="connsiteY3" fmla="*/ 0 h 128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1165" h="1283009">
                <a:moveTo>
                  <a:pt x="0" y="1281793"/>
                </a:moveTo>
                <a:cubicBezTo>
                  <a:pt x="85044" y="1285875"/>
                  <a:pt x="170089" y="1289957"/>
                  <a:pt x="261257" y="1110343"/>
                </a:cubicBezTo>
                <a:cubicBezTo>
                  <a:pt x="352425" y="930729"/>
                  <a:pt x="398689" y="389164"/>
                  <a:pt x="547007" y="204107"/>
                </a:cubicBezTo>
                <a:cubicBezTo>
                  <a:pt x="695325" y="19050"/>
                  <a:pt x="923245" y="9525"/>
                  <a:pt x="1151165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4718957" y="2718707"/>
            <a:ext cx="1094014" cy="3815051"/>
          </a:xfrm>
          <a:custGeom>
            <a:avLst/>
            <a:gdLst>
              <a:gd name="connsiteX0" fmla="*/ 0 w 1094014"/>
              <a:gd name="connsiteY0" fmla="*/ 3812722 h 3815051"/>
              <a:gd name="connsiteX1" fmla="*/ 220436 w 1094014"/>
              <a:gd name="connsiteY1" fmla="*/ 3747407 h 3815051"/>
              <a:gd name="connsiteX2" fmla="*/ 440872 w 1094014"/>
              <a:gd name="connsiteY2" fmla="*/ 3363686 h 3815051"/>
              <a:gd name="connsiteX3" fmla="*/ 710293 w 1094014"/>
              <a:gd name="connsiteY3" fmla="*/ 726622 h 3815051"/>
              <a:gd name="connsiteX4" fmla="*/ 1094014 w 1094014"/>
              <a:gd name="connsiteY4" fmla="*/ 0 h 3815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014" h="3815051">
                <a:moveTo>
                  <a:pt x="0" y="3812722"/>
                </a:moveTo>
                <a:cubicBezTo>
                  <a:pt x="73478" y="3817484"/>
                  <a:pt x="146957" y="3822246"/>
                  <a:pt x="220436" y="3747407"/>
                </a:cubicBezTo>
                <a:cubicBezTo>
                  <a:pt x="293915" y="3672568"/>
                  <a:pt x="359229" y="3867150"/>
                  <a:pt x="440872" y="3363686"/>
                </a:cubicBezTo>
                <a:cubicBezTo>
                  <a:pt x="522515" y="2860222"/>
                  <a:pt x="601436" y="1287236"/>
                  <a:pt x="710293" y="726622"/>
                </a:cubicBezTo>
                <a:cubicBezTo>
                  <a:pt x="819150" y="166008"/>
                  <a:pt x="956582" y="83004"/>
                  <a:pt x="1094014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4702629" y="2979369"/>
            <a:ext cx="1134835" cy="1150985"/>
          </a:xfrm>
          <a:custGeom>
            <a:avLst/>
            <a:gdLst>
              <a:gd name="connsiteX0" fmla="*/ 0 w 1134835"/>
              <a:gd name="connsiteY0" fmla="*/ 595 h 1150985"/>
              <a:gd name="connsiteX1" fmla="*/ 195942 w 1134835"/>
              <a:gd name="connsiteY1" fmla="*/ 90402 h 1150985"/>
              <a:gd name="connsiteX2" fmla="*/ 440871 w 1134835"/>
              <a:gd name="connsiteY2" fmla="*/ 563931 h 1150985"/>
              <a:gd name="connsiteX3" fmla="*/ 808264 w 1134835"/>
              <a:gd name="connsiteY3" fmla="*/ 1078281 h 1150985"/>
              <a:gd name="connsiteX4" fmla="*/ 1134835 w 1134835"/>
              <a:gd name="connsiteY4" fmla="*/ 1135431 h 115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4835" h="1150985">
                <a:moveTo>
                  <a:pt x="0" y="595"/>
                </a:moveTo>
                <a:cubicBezTo>
                  <a:pt x="61231" y="-1446"/>
                  <a:pt x="122463" y="-3487"/>
                  <a:pt x="195942" y="90402"/>
                </a:cubicBezTo>
                <a:cubicBezTo>
                  <a:pt x="269421" y="184291"/>
                  <a:pt x="338817" y="399285"/>
                  <a:pt x="440871" y="563931"/>
                </a:cubicBezTo>
                <a:cubicBezTo>
                  <a:pt x="542925" y="728577"/>
                  <a:pt x="692603" y="983031"/>
                  <a:pt x="808264" y="1078281"/>
                </a:cubicBezTo>
                <a:cubicBezTo>
                  <a:pt x="923925" y="1173531"/>
                  <a:pt x="1029380" y="1154481"/>
                  <a:pt x="1134835" y="113543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 22"/>
          <p:cNvSpPr/>
          <p:nvPr/>
        </p:nvSpPr>
        <p:spPr>
          <a:xfrm>
            <a:off x="4718957" y="4237264"/>
            <a:ext cx="1118507" cy="522515"/>
          </a:xfrm>
          <a:custGeom>
            <a:avLst/>
            <a:gdLst>
              <a:gd name="connsiteX0" fmla="*/ 0 w 1118507"/>
              <a:gd name="connsiteY0" fmla="*/ 522515 h 522515"/>
              <a:gd name="connsiteX1" fmla="*/ 236764 w 1118507"/>
              <a:gd name="connsiteY1" fmla="*/ 408215 h 522515"/>
              <a:gd name="connsiteX2" fmla="*/ 473529 w 1118507"/>
              <a:gd name="connsiteY2" fmla="*/ 89807 h 522515"/>
              <a:gd name="connsiteX3" fmla="*/ 1118507 w 1118507"/>
              <a:gd name="connsiteY3" fmla="*/ 0 h 52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507" h="522515">
                <a:moveTo>
                  <a:pt x="0" y="522515"/>
                </a:moveTo>
                <a:cubicBezTo>
                  <a:pt x="78921" y="501424"/>
                  <a:pt x="157843" y="480333"/>
                  <a:pt x="236764" y="408215"/>
                </a:cubicBezTo>
                <a:cubicBezTo>
                  <a:pt x="315685" y="336097"/>
                  <a:pt x="326572" y="157843"/>
                  <a:pt x="473529" y="89807"/>
                </a:cubicBezTo>
                <a:cubicBezTo>
                  <a:pt x="620486" y="21771"/>
                  <a:pt x="869496" y="10885"/>
                  <a:pt x="1118507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4710793" y="4367893"/>
            <a:ext cx="1118507" cy="1295199"/>
          </a:xfrm>
          <a:custGeom>
            <a:avLst/>
            <a:gdLst>
              <a:gd name="connsiteX0" fmla="*/ 0 w 1118507"/>
              <a:gd name="connsiteY0" fmla="*/ 1289957 h 1295199"/>
              <a:gd name="connsiteX1" fmla="*/ 253093 w 1118507"/>
              <a:gd name="connsiteY1" fmla="*/ 1134836 h 1295199"/>
              <a:gd name="connsiteX2" fmla="*/ 498021 w 1118507"/>
              <a:gd name="connsiteY2" fmla="*/ 228600 h 1295199"/>
              <a:gd name="connsiteX3" fmla="*/ 1118507 w 1118507"/>
              <a:gd name="connsiteY3" fmla="*/ 0 h 129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8507" h="1295199">
                <a:moveTo>
                  <a:pt x="0" y="1289957"/>
                </a:moveTo>
                <a:cubicBezTo>
                  <a:pt x="85045" y="1300843"/>
                  <a:pt x="170090" y="1311729"/>
                  <a:pt x="253093" y="1134836"/>
                </a:cubicBezTo>
                <a:cubicBezTo>
                  <a:pt x="336097" y="957943"/>
                  <a:pt x="353785" y="417739"/>
                  <a:pt x="498021" y="228600"/>
                </a:cubicBezTo>
                <a:cubicBezTo>
                  <a:pt x="642257" y="39461"/>
                  <a:pt x="880382" y="19730"/>
                  <a:pt x="1118507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4710793" y="4506686"/>
            <a:ext cx="1126671" cy="2032907"/>
          </a:xfrm>
          <a:custGeom>
            <a:avLst/>
            <a:gdLst>
              <a:gd name="connsiteX0" fmla="*/ 0 w 1126671"/>
              <a:gd name="connsiteY0" fmla="*/ 2032907 h 2032907"/>
              <a:gd name="connsiteX1" fmla="*/ 391886 w 1126671"/>
              <a:gd name="connsiteY1" fmla="*/ 1461407 h 2032907"/>
              <a:gd name="connsiteX2" fmla="*/ 775607 w 1126671"/>
              <a:gd name="connsiteY2" fmla="*/ 261257 h 2032907"/>
              <a:gd name="connsiteX3" fmla="*/ 1126671 w 1126671"/>
              <a:gd name="connsiteY3" fmla="*/ 0 h 2032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6671" h="2032907">
                <a:moveTo>
                  <a:pt x="0" y="2032907"/>
                </a:moveTo>
                <a:cubicBezTo>
                  <a:pt x="131309" y="1894794"/>
                  <a:pt x="262618" y="1756682"/>
                  <a:pt x="391886" y="1461407"/>
                </a:cubicBezTo>
                <a:cubicBezTo>
                  <a:pt x="521154" y="1166132"/>
                  <a:pt x="653143" y="504825"/>
                  <a:pt x="775607" y="261257"/>
                </a:cubicBezTo>
                <a:cubicBezTo>
                  <a:pt x="898071" y="17689"/>
                  <a:pt x="1012371" y="8844"/>
                  <a:pt x="112667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8056203" y="4468784"/>
            <a:ext cx="38653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TW" sz="2800" b="1" dirty="0" smtClean="0">
                <a:latin typeface="+mj-lt"/>
              </a:rPr>
              <a:t>S(x, y, x) = ∑(1, 2, 4, 7</a:t>
            </a:r>
            <a:r>
              <a:rPr lang="en-US" altLang="zh-TW" sz="2800" b="1" dirty="0">
                <a:latin typeface="+mj-lt"/>
              </a:rPr>
              <a:t>)	</a:t>
            </a:r>
            <a:endParaRPr lang="en-US" altLang="zh-TW" sz="2800" b="1" dirty="0" smtClean="0">
              <a:latin typeface="+mj-lt"/>
            </a:endParaRPr>
          </a:p>
          <a:p>
            <a:pPr marL="0" lvl="2"/>
            <a:endParaRPr lang="en-US" altLang="zh-TW" sz="2800" b="1" dirty="0" smtClean="0">
              <a:latin typeface="+mj-lt"/>
            </a:endParaRPr>
          </a:p>
          <a:p>
            <a:pPr marL="0" lvl="2"/>
            <a:r>
              <a:rPr lang="en-US" altLang="zh-TW" sz="2800" b="1" dirty="0" smtClean="0">
                <a:latin typeface="+mj-lt"/>
              </a:rPr>
              <a:t>C(x, y, z) = </a:t>
            </a:r>
            <a:r>
              <a:rPr lang="en-US" altLang="zh-TW" sz="2800" b="1" dirty="0"/>
              <a:t>∑</a:t>
            </a:r>
            <a:r>
              <a:rPr lang="en-US" altLang="zh-TW" sz="2800" b="1" dirty="0" smtClean="0">
                <a:latin typeface="+mj-lt"/>
              </a:rPr>
              <a:t>(</a:t>
            </a:r>
            <a:r>
              <a:rPr lang="en-US" altLang="zh-TW" sz="2800" b="1" dirty="0">
                <a:latin typeface="+mj-lt"/>
              </a:rPr>
              <a:t>3</a:t>
            </a:r>
            <a:r>
              <a:rPr lang="en-US" altLang="zh-TW" sz="2800" b="1" dirty="0" smtClean="0">
                <a:latin typeface="+mj-lt"/>
              </a:rPr>
              <a:t>, 5, 6, 7</a:t>
            </a:r>
            <a:r>
              <a:rPr lang="en-US" altLang="zh-TW" sz="2800" b="1" dirty="0"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395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3 by 8 decoder receives inputs x = 2 squared, y = 2 to the first, z = 2 to the zero. The decoder has outputs 0 to 7. The outputs are transmitted to two or gates. First or gate: inputs, 1 2 4 7; output S. Second or gate: inputs 3 5 6 7; output C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9879" y="1053192"/>
            <a:ext cx="8737734" cy="49312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179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5815"/>
            <a:ext cx="62946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 decoder with an enable input</a:t>
            </a:r>
          </a:p>
        </p:txBody>
      </p:sp>
      <p:pic>
        <p:nvPicPr>
          <p:cNvPr id="4" name="Picture 2" descr="The structure has inputs Ay, B, and E passing 4 n and gates, as follows. First n and gate: inputs A prime, B prime, e prime; output D sub 0. Second n and gate: inputs Ay prime, B, E prime; output D sub 1. Third n and gate: inputs Ay, B prime, e prime; output D sub 2. Fourth n and gate: inputs Ay, B, E prime; output D sub 3. The table has the following column headings from left to right: E, Ay, B, D sub 0, D sub 1, D sub 2, D sub 3. The row entries are as follows, with a semicolon before the D values. Row 1: 1 X X; 1 1 1 1. Row 2: 0 0 0; 0 1 1 1. Row 3: 0 0 1; 1 0 1 1. Row 4: 0 1 0; 1 1 0 1. Row 5: 0 1 1; 1 1 1 0.">
            <a:extLst>
              <a:ext uri="{FF2B5EF4-FFF2-40B4-BE49-F238E27FC236}">
                <a16:creationId xmlns:a16="http://schemas.microsoft.com/office/drawing/2014/main" id="{1E03F3F6-1371-4061-BE43-B54C12865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01"/>
          <a:stretch/>
        </p:blipFill>
        <p:spPr bwMode="auto">
          <a:xfrm>
            <a:off x="0" y="762000"/>
            <a:ext cx="368209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3682093" y="2571749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910693" y="231013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D0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10693" y="354839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D1</a:t>
            </a:r>
            <a:endParaRPr lang="zh-TW" altLang="en-US" sz="28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3682093" y="38018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3682093" y="4985657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82093" y="62021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910693" y="4718662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10693" y="5940525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D3</a:t>
            </a:r>
            <a:endParaRPr lang="zh-TW" altLang="en-US" sz="28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56584"/>
              </p:ext>
            </p:extLst>
          </p:nvPr>
        </p:nvGraphicFramePr>
        <p:xfrm>
          <a:off x="5233308" y="2465805"/>
          <a:ext cx="60297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97">
                  <a:extLst>
                    <a:ext uri="{9D8B030D-6E8A-4147-A177-3AD203B41FA5}">
                      <a16:colId xmlns:a16="http://schemas.microsoft.com/office/drawing/2014/main" val="239595769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79475779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663384015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45015093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7156415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46481253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3618318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59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8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1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1278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1841046" y="1445079"/>
            <a:ext cx="559254" cy="61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H="1" flipV="1">
            <a:off x="2130879" y="1387929"/>
            <a:ext cx="8164" cy="693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64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5815"/>
            <a:ext cx="62946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 decoder with an enable input</a:t>
            </a:r>
          </a:p>
        </p:txBody>
      </p:sp>
      <p:pic>
        <p:nvPicPr>
          <p:cNvPr id="4" name="Picture 2" descr="The structure has inputs Ay, B, and E passing 4 n and gates, as follows. First n and gate: inputs A prime, B prime, e prime; output D sub 0. Second n and gate: inputs Ay prime, B, E prime; output D sub 1. Third n and gate: inputs Ay, B prime, e prime; output D sub 2. Fourth n and gate: inputs Ay, B, E prime; output D sub 3. The table has the following column headings from left to right: E, Ay, B, D sub 0, D sub 1, D sub 2, D sub 3. The row entries are as follows, with a semicolon before the D values. Row 1: 1 X X; 1 1 1 1. Row 2: 0 0 0; 0 1 1 1. Row 3: 0 0 1; 1 0 1 1. Row 4: 0 1 0; 1 1 0 1. Row 5: 0 1 1; 1 1 1 0.">
            <a:extLst>
              <a:ext uri="{FF2B5EF4-FFF2-40B4-BE49-F238E27FC236}">
                <a16:creationId xmlns:a16="http://schemas.microsoft.com/office/drawing/2014/main" id="{1E03F3F6-1371-4061-BE43-B54C12865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01"/>
          <a:stretch/>
        </p:blipFill>
        <p:spPr bwMode="auto">
          <a:xfrm>
            <a:off x="0" y="762000"/>
            <a:ext cx="368209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3682093" y="2571749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910693" y="231013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D0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10693" y="354839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D1</a:t>
            </a:r>
            <a:endParaRPr lang="zh-TW" altLang="en-US" sz="28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3682093" y="38018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3682093" y="4985657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82093" y="62021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910693" y="4718662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10693" y="5940525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D3</a:t>
            </a:r>
            <a:endParaRPr lang="zh-TW" altLang="en-US" sz="28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56584"/>
              </p:ext>
            </p:extLst>
          </p:nvPr>
        </p:nvGraphicFramePr>
        <p:xfrm>
          <a:off x="5233308" y="2465805"/>
          <a:ext cx="60297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97">
                  <a:extLst>
                    <a:ext uri="{9D8B030D-6E8A-4147-A177-3AD203B41FA5}">
                      <a16:colId xmlns:a16="http://schemas.microsoft.com/office/drawing/2014/main" val="239595769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79475779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663384015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45015093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7156415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46481253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3618318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59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8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1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1278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1841046" y="1445079"/>
            <a:ext cx="559254" cy="61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H="1" flipV="1">
            <a:off x="2130879" y="1387929"/>
            <a:ext cx="8164" cy="693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530803" y="565353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05270" y="227936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994174" y="354839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994174" y="4687884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976146" y="591971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60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5815"/>
            <a:ext cx="62946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 decoder with an enable input</a:t>
            </a:r>
          </a:p>
        </p:txBody>
      </p:sp>
      <p:pic>
        <p:nvPicPr>
          <p:cNvPr id="4" name="Picture 2" descr="The structure has inputs Ay, B, and E passing 4 n and gates, as follows. First n and gate: inputs A prime, B prime, e prime; output D sub 0. Second n and gate: inputs Ay prime, B, E prime; output D sub 1. Third n and gate: inputs Ay, B prime, e prime; output D sub 2. Fourth n and gate: inputs Ay, B, E prime; output D sub 3. The table has the following column headings from left to right: E, Ay, B, D sub 0, D sub 1, D sub 2, D sub 3. The row entries are as follows, with a semicolon before the D values. Row 1: 1 X X; 1 1 1 1. Row 2: 0 0 0; 0 1 1 1. Row 3: 0 0 1; 1 0 1 1. Row 4: 0 1 0; 1 1 0 1. Row 5: 0 1 1; 1 1 1 0.">
            <a:extLst>
              <a:ext uri="{FF2B5EF4-FFF2-40B4-BE49-F238E27FC236}">
                <a16:creationId xmlns:a16="http://schemas.microsoft.com/office/drawing/2014/main" id="{1E03F3F6-1371-4061-BE43-B54C12865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01"/>
          <a:stretch/>
        </p:blipFill>
        <p:spPr bwMode="auto">
          <a:xfrm>
            <a:off x="0" y="762000"/>
            <a:ext cx="368209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3682093" y="2571749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910693" y="231013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D0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10693" y="354839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D1</a:t>
            </a:r>
            <a:endParaRPr lang="zh-TW" altLang="en-US" sz="28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3682093" y="38018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3682093" y="4985657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82093" y="62021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910693" y="4718662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10693" y="5940525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D3</a:t>
            </a:r>
            <a:endParaRPr lang="zh-TW" altLang="en-US" sz="28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56584"/>
              </p:ext>
            </p:extLst>
          </p:nvPr>
        </p:nvGraphicFramePr>
        <p:xfrm>
          <a:off x="5233308" y="2465805"/>
          <a:ext cx="60297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97">
                  <a:extLst>
                    <a:ext uri="{9D8B030D-6E8A-4147-A177-3AD203B41FA5}">
                      <a16:colId xmlns:a16="http://schemas.microsoft.com/office/drawing/2014/main" val="239595769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79475779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663384015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45015093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7156415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46481253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3618318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59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8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1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1278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1841046" y="1445079"/>
            <a:ext cx="559254" cy="61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H="1" flipV="1">
            <a:off x="2130879" y="1387929"/>
            <a:ext cx="8164" cy="693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530803" y="565353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05270" y="227936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994174" y="354839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994174" y="4687884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976146" y="591971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-20412" y="565352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55195" y="57896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13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5815"/>
            <a:ext cx="62946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 decoder with an enable input</a:t>
            </a:r>
          </a:p>
        </p:txBody>
      </p:sp>
      <p:pic>
        <p:nvPicPr>
          <p:cNvPr id="4" name="Picture 2" descr="The structure has inputs Ay, B, and E passing 4 n and gates, as follows. First n and gate: inputs A prime, B prime, e prime; output D sub 0. Second n and gate: inputs Ay prime, B, E prime; output D sub 1. Third n and gate: inputs Ay, B prime, e prime; output D sub 2. Fourth n and gate: inputs Ay, B, E prime; output D sub 3. The table has the following column headings from left to right: E, Ay, B, D sub 0, D sub 1, D sub 2, D sub 3. The row entries are as follows, with a semicolon before the D values. Row 1: 1 X X; 1 1 1 1. Row 2: 0 0 0; 0 1 1 1. Row 3: 0 0 1; 1 0 1 1. Row 4: 0 1 0; 1 1 0 1. Row 5: 0 1 1; 1 1 1 0.">
            <a:extLst>
              <a:ext uri="{FF2B5EF4-FFF2-40B4-BE49-F238E27FC236}">
                <a16:creationId xmlns:a16="http://schemas.microsoft.com/office/drawing/2014/main" id="{1E03F3F6-1371-4061-BE43-B54C12865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01"/>
          <a:stretch/>
        </p:blipFill>
        <p:spPr bwMode="auto">
          <a:xfrm>
            <a:off x="0" y="762000"/>
            <a:ext cx="368209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3682093" y="2571749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910693" y="231013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D0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10693" y="354839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D1</a:t>
            </a:r>
            <a:endParaRPr lang="zh-TW" altLang="en-US" sz="28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3682093" y="38018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3682093" y="4985657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82093" y="62021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910693" y="4718662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10693" y="5940525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D3</a:t>
            </a:r>
            <a:endParaRPr lang="zh-TW" altLang="en-US" sz="28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56584"/>
              </p:ext>
            </p:extLst>
          </p:nvPr>
        </p:nvGraphicFramePr>
        <p:xfrm>
          <a:off x="5233308" y="2465805"/>
          <a:ext cx="60297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97">
                  <a:extLst>
                    <a:ext uri="{9D8B030D-6E8A-4147-A177-3AD203B41FA5}">
                      <a16:colId xmlns:a16="http://schemas.microsoft.com/office/drawing/2014/main" val="239595769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79475779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663384015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45015093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7156415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46481253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3618318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59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8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1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1278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1841046" y="1445079"/>
            <a:ext cx="559254" cy="61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H="1" flipV="1">
            <a:off x="2130879" y="1387929"/>
            <a:ext cx="8164" cy="693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530803" y="565353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05270" y="227936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994174" y="354839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994174" y="4687884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976146" y="591971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-20412" y="565352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55195" y="57896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4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5815"/>
            <a:ext cx="62946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 decoder with an enable input</a:t>
            </a:r>
          </a:p>
        </p:txBody>
      </p:sp>
      <p:pic>
        <p:nvPicPr>
          <p:cNvPr id="4" name="Picture 2" descr="The structure has inputs Ay, B, and E passing 4 n and gates, as follows. First n and gate: inputs A prime, B prime, e prime; output D sub 0. Second n and gate: inputs Ay prime, B, E prime; output D sub 1. Third n and gate: inputs Ay, B prime, e prime; output D sub 2. Fourth n and gate: inputs Ay, B, E prime; output D sub 3. The table has the following column headings from left to right: E, Ay, B, D sub 0, D sub 1, D sub 2, D sub 3. The row entries are as follows, with a semicolon before the D values. Row 1: 1 X X; 1 1 1 1. Row 2: 0 0 0; 0 1 1 1. Row 3: 0 0 1; 1 0 1 1. Row 4: 0 1 0; 1 1 0 1. Row 5: 0 1 1; 1 1 1 0.">
            <a:extLst>
              <a:ext uri="{FF2B5EF4-FFF2-40B4-BE49-F238E27FC236}">
                <a16:creationId xmlns:a16="http://schemas.microsoft.com/office/drawing/2014/main" id="{1E03F3F6-1371-4061-BE43-B54C12865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01"/>
          <a:stretch/>
        </p:blipFill>
        <p:spPr bwMode="auto">
          <a:xfrm>
            <a:off x="0" y="762000"/>
            <a:ext cx="368209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3682093" y="2571749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910693" y="231013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D0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10693" y="354839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D1</a:t>
            </a:r>
            <a:endParaRPr lang="zh-TW" altLang="en-US" sz="28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3682093" y="38018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3682093" y="4985657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82093" y="62021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910693" y="4718662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10693" y="5940525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D3</a:t>
            </a:r>
            <a:endParaRPr lang="zh-TW" altLang="en-US" sz="28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56584"/>
              </p:ext>
            </p:extLst>
          </p:nvPr>
        </p:nvGraphicFramePr>
        <p:xfrm>
          <a:off x="5233308" y="2465805"/>
          <a:ext cx="60297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97">
                  <a:extLst>
                    <a:ext uri="{9D8B030D-6E8A-4147-A177-3AD203B41FA5}">
                      <a16:colId xmlns:a16="http://schemas.microsoft.com/office/drawing/2014/main" val="239595769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79475779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663384015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45015093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7156415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46481253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3618318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59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8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1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1278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1841046" y="1445079"/>
            <a:ext cx="559254" cy="61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H="1" flipV="1">
            <a:off x="2130879" y="1387929"/>
            <a:ext cx="8164" cy="693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530803" y="565353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05270" y="227936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994174" y="354839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994174" y="4687884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976146" y="591971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-20412" y="565352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55195" y="57896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63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5815"/>
            <a:ext cx="62946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b="1" dirty="0" smtClean="0">
                <a:solidFill>
                  <a:srgbClr val="C00000"/>
                </a:solidFill>
              </a:rPr>
              <a:t>A decoder with an enable input</a:t>
            </a:r>
          </a:p>
        </p:txBody>
      </p:sp>
      <p:pic>
        <p:nvPicPr>
          <p:cNvPr id="4" name="Picture 2" descr="The structure has inputs Ay, B, and E passing 4 n and gates, as follows. First n and gate: inputs A prime, B prime, e prime; output D sub 0. Second n and gate: inputs Ay prime, B, E prime; output D sub 1. Third n and gate: inputs Ay, B prime, e prime; output D sub 2. Fourth n and gate: inputs Ay, B, E prime; output D sub 3. The table has the following column headings from left to right: E, Ay, B, D sub 0, D sub 1, D sub 2, D sub 3. The row entries are as follows, with a semicolon before the D values. Row 1: 1 X X; 1 1 1 1. Row 2: 0 0 0; 0 1 1 1. Row 3: 0 0 1; 1 0 1 1. Row 4: 0 1 0; 1 1 0 1. Row 5: 0 1 1; 1 1 1 0.">
            <a:extLst>
              <a:ext uri="{FF2B5EF4-FFF2-40B4-BE49-F238E27FC236}">
                <a16:creationId xmlns:a16="http://schemas.microsoft.com/office/drawing/2014/main" id="{1E03F3F6-1371-4061-BE43-B54C128651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01"/>
          <a:stretch/>
        </p:blipFill>
        <p:spPr bwMode="auto">
          <a:xfrm>
            <a:off x="0" y="762000"/>
            <a:ext cx="368209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線接點 5"/>
          <p:cNvCxnSpPr/>
          <p:nvPr/>
        </p:nvCxnSpPr>
        <p:spPr>
          <a:xfrm>
            <a:off x="3682093" y="2571749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3910693" y="231013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D0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10693" y="354839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D1</a:t>
            </a:r>
            <a:endParaRPr lang="zh-TW" altLang="en-US" sz="2800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3682093" y="38018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3682093" y="4985657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82093" y="6202135"/>
            <a:ext cx="228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910693" y="4718662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910693" y="5940525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D3</a:t>
            </a:r>
            <a:endParaRPr lang="zh-TW" altLang="en-US" sz="2800" dirty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56584"/>
              </p:ext>
            </p:extLst>
          </p:nvPr>
        </p:nvGraphicFramePr>
        <p:xfrm>
          <a:off x="5233308" y="2465805"/>
          <a:ext cx="602977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397">
                  <a:extLst>
                    <a:ext uri="{9D8B030D-6E8A-4147-A177-3AD203B41FA5}">
                      <a16:colId xmlns:a16="http://schemas.microsoft.com/office/drawing/2014/main" val="239595769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79475779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663384015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450150938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71564151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2246481253"/>
                    </a:ext>
                  </a:extLst>
                </a:gridCol>
                <a:gridCol w="861397">
                  <a:extLst>
                    <a:ext uri="{9D8B030D-6E8A-4147-A177-3AD203B41FA5}">
                      <a16:colId xmlns:a16="http://schemas.microsoft.com/office/drawing/2014/main" val="3618318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297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59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48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61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112786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1841046" y="1445079"/>
            <a:ext cx="559254" cy="612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H="1" flipV="1">
            <a:off x="2130879" y="1387929"/>
            <a:ext cx="8164" cy="6939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1530803" y="565353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005270" y="227936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994174" y="354839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994174" y="4687884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976146" y="5919711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-20412" y="565352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55195" y="578960"/>
            <a:ext cx="41069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1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7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logic diagram: The structure has three inputs x, y, and E, and two 2 by 4 decoders. First decoder: inputs x, y, E from E prime; outputs D sub 0 to D sub 3. Second decoder: inputs x, y, E; outputs D sub 4 to D sub 7. The table has columns for the following values from left to right: E, x, y, d sub 0, D sub 1, D sub 2, D sub 3, D sub 4, D sub 5, D sub 6, D sub 7. The row entries are as follows: row 1, 0 0 0 1 0 0 0 0 0 0 0; row 2, 0 0 1 0 1 0 0 0 0 0 0; row 3, 0 1 0 0 0 1 0 0 0 0 0 ; row 4, 0 1 1 0 0 0 1 0 0 0 0; row 5, 1 0 0 0 0 0 0 1 0 0 0; row 6, 1 0 1 0 0 0 0 0 1 0 0; row 7, 1 1 0 0 0 0 0 0 0 1 0; row 8, 1 1 1 0 0 0 0 0 0 0 1.">
            <a:extLst>
              <a:ext uri="{FF2B5EF4-FFF2-40B4-BE49-F238E27FC236}">
                <a16:creationId xmlns:a16="http://schemas.microsoft.com/office/drawing/2014/main" id="{DF740416-79B6-46DE-B20C-D7F787956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49"/>
          <a:stretch/>
        </p:blipFill>
        <p:spPr bwMode="auto">
          <a:xfrm>
            <a:off x="2667907" y="1383166"/>
            <a:ext cx="6920196" cy="488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61257" y="60261"/>
            <a:ext cx="6723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200" b="1" dirty="0" smtClean="0">
                <a:solidFill>
                  <a:srgbClr val="C00000"/>
                </a:solidFill>
              </a:rPr>
              <a:t>Two 2-to-4 </a:t>
            </a:r>
            <a:r>
              <a:rPr lang="en-US" altLang="zh-TW" sz="3200" b="1" dirty="0">
                <a:solidFill>
                  <a:srgbClr val="C00000"/>
                </a:solidFill>
              </a:rPr>
              <a:t>decoder: a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3-to-8 </a:t>
            </a:r>
            <a:r>
              <a:rPr lang="en-US" altLang="zh-TW" sz="3200" b="1" dirty="0" err="1">
                <a:solidFill>
                  <a:srgbClr val="C00000"/>
                </a:solidFill>
              </a:rPr>
              <a:t>deocder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2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logic diagram: The structure has three inputs x, y, and E, and two 2 by 4 decoders. First decoder: inputs x, y, E from E prime; outputs D sub 0 to D sub 3. Second decoder: inputs x, y, E; outputs D sub 4 to D sub 7. The table has columns for the following values from left to right: E, x, y, d sub 0, D sub 1, D sub 2, D sub 3, D sub 4, D sub 5, D sub 6, D sub 7. The row entries are as follows: row 1, 0 0 0 1 0 0 0 0 0 0 0; row 2, 0 0 1 0 1 0 0 0 0 0 0; row 3, 0 1 0 0 0 1 0 0 0 0 0 ; row 4, 0 1 1 0 0 0 1 0 0 0 0; row 5, 1 0 0 0 0 0 0 1 0 0 0; row 6, 1 0 1 0 0 0 0 0 1 0 0; row 7, 1 1 0 0 0 0 0 0 0 1 0; row 8, 1 1 1 0 0 0 0 0 0 0 1.">
            <a:extLst>
              <a:ext uri="{FF2B5EF4-FFF2-40B4-BE49-F238E27FC236}">
                <a16:creationId xmlns:a16="http://schemas.microsoft.com/office/drawing/2014/main" id="{DF740416-79B6-46DE-B20C-D7F787956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49"/>
          <a:stretch/>
        </p:blipFill>
        <p:spPr bwMode="auto">
          <a:xfrm>
            <a:off x="105030" y="2253343"/>
            <a:ext cx="3653263" cy="2579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61257" y="60261"/>
            <a:ext cx="6723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200" b="1" dirty="0" smtClean="0">
                <a:solidFill>
                  <a:srgbClr val="C00000"/>
                </a:solidFill>
              </a:rPr>
              <a:t>Two 2-to-4 </a:t>
            </a:r>
            <a:r>
              <a:rPr lang="en-US" altLang="zh-TW" sz="3200" b="1" dirty="0">
                <a:solidFill>
                  <a:srgbClr val="C00000"/>
                </a:solidFill>
              </a:rPr>
              <a:t>decoder: a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3-to-8 </a:t>
            </a:r>
            <a:r>
              <a:rPr lang="en-US" altLang="zh-TW" sz="3200" b="1" dirty="0" err="1">
                <a:solidFill>
                  <a:srgbClr val="C00000"/>
                </a:solidFill>
              </a:rPr>
              <a:t>deocder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453091"/>
              </p:ext>
            </p:extLst>
          </p:nvPr>
        </p:nvGraphicFramePr>
        <p:xfrm>
          <a:off x="3878036" y="1466305"/>
          <a:ext cx="812799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513007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35091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018797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22649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9219778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379713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886618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2575495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6278107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535254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055355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48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3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05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75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92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51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46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56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logic diagram: The structure has three inputs x, y, and E, and two 2 by 4 decoders. First decoder: inputs x, y, E from E prime; outputs D sub 0 to D sub 3. Second decoder: inputs x, y, E; outputs D sub 4 to D sub 7. The table has columns for the following values from left to right: E, x, y, d sub 0, D sub 1, D sub 2, D sub 3, D sub 4, D sub 5, D sub 6, D sub 7. The row entries are as follows: row 1, 0 0 0 1 0 0 0 0 0 0 0; row 2, 0 0 1 0 1 0 0 0 0 0 0; row 3, 0 1 0 0 0 1 0 0 0 0 0 ; row 4, 0 1 1 0 0 0 1 0 0 0 0; row 5, 1 0 0 0 0 0 0 1 0 0 0; row 6, 1 0 1 0 0 0 0 0 1 0 0; row 7, 1 1 0 0 0 0 0 0 0 1 0; row 8, 1 1 1 0 0 0 0 0 0 0 1.">
            <a:extLst>
              <a:ext uri="{FF2B5EF4-FFF2-40B4-BE49-F238E27FC236}">
                <a16:creationId xmlns:a16="http://schemas.microsoft.com/office/drawing/2014/main" id="{DF740416-79B6-46DE-B20C-D7F787956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49"/>
          <a:stretch/>
        </p:blipFill>
        <p:spPr bwMode="auto">
          <a:xfrm>
            <a:off x="105030" y="2253343"/>
            <a:ext cx="3653263" cy="257991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sp>
        <p:nvSpPr>
          <p:cNvPr id="3" name="矩形 2"/>
          <p:cNvSpPr/>
          <p:nvPr/>
        </p:nvSpPr>
        <p:spPr>
          <a:xfrm>
            <a:off x="261257" y="60261"/>
            <a:ext cx="6723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200" b="1" dirty="0" smtClean="0">
                <a:solidFill>
                  <a:srgbClr val="C00000"/>
                </a:solidFill>
              </a:rPr>
              <a:t>Two 2-to-4 </a:t>
            </a:r>
            <a:r>
              <a:rPr lang="en-US" altLang="zh-TW" sz="3200" b="1" dirty="0">
                <a:solidFill>
                  <a:srgbClr val="C00000"/>
                </a:solidFill>
              </a:rPr>
              <a:t>decoder: a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3-to-8 </a:t>
            </a:r>
            <a:r>
              <a:rPr lang="en-US" altLang="zh-TW" sz="3200" b="1" dirty="0" err="1">
                <a:solidFill>
                  <a:srgbClr val="C00000"/>
                </a:solidFill>
              </a:rPr>
              <a:t>deocder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335970"/>
              </p:ext>
            </p:extLst>
          </p:nvPr>
        </p:nvGraphicFramePr>
        <p:xfrm>
          <a:off x="3878036" y="1466305"/>
          <a:ext cx="812799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513007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35091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018797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22649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9219778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379713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886618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2575495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6278107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535254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055355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48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3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05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75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92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51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46146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139042" y="317396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139042" y="455625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0" y="3233643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60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logic diagram: The structure has three inputs x, y, and E, and two 2 by 4 decoders. First decoder: inputs x, y, E from E prime; outputs D sub 0 to D sub 3. Second decoder: inputs x, y, E; outputs D sub 4 to D sub 7. The table has columns for the following values from left to right: E, x, y, d sub 0, D sub 1, D sub 2, D sub 3, D sub 4, D sub 5, D sub 6, D sub 7. The row entries are as follows: row 1, 0 0 0 1 0 0 0 0 0 0 0; row 2, 0 0 1 0 1 0 0 0 0 0 0; row 3, 0 1 0 0 0 1 0 0 0 0 0 ; row 4, 0 1 1 0 0 0 1 0 0 0 0; row 5, 1 0 0 0 0 0 0 1 0 0 0; row 6, 1 0 1 0 0 0 0 0 1 0 0; row 7, 1 1 0 0 0 0 0 0 0 1 0; row 8, 1 1 1 0 0 0 0 0 0 0 1.">
            <a:extLst>
              <a:ext uri="{FF2B5EF4-FFF2-40B4-BE49-F238E27FC236}">
                <a16:creationId xmlns:a16="http://schemas.microsoft.com/office/drawing/2014/main" id="{DF740416-79B6-46DE-B20C-D7F787956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49"/>
          <a:stretch/>
        </p:blipFill>
        <p:spPr bwMode="auto">
          <a:xfrm>
            <a:off x="105030" y="2253343"/>
            <a:ext cx="3653263" cy="2579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61257" y="60261"/>
            <a:ext cx="6723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200" b="1" dirty="0" smtClean="0">
                <a:solidFill>
                  <a:srgbClr val="C00000"/>
                </a:solidFill>
              </a:rPr>
              <a:t>Two 2-to-4 </a:t>
            </a:r>
            <a:r>
              <a:rPr lang="en-US" altLang="zh-TW" sz="3200" b="1" dirty="0">
                <a:solidFill>
                  <a:srgbClr val="C00000"/>
                </a:solidFill>
              </a:rPr>
              <a:t>decoder: a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3-to-8 </a:t>
            </a:r>
            <a:r>
              <a:rPr lang="en-US" altLang="zh-TW" sz="3200" b="1" dirty="0" err="1">
                <a:solidFill>
                  <a:srgbClr val="C00000"/>
                </a:solidFill>
              </a:rPr>
              <a:t>deocder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435781"/>
              </p:ext>
            </p:extLst>
          </p:nvPr>
        </p:nvGraphicFramePr>
        <p:xfrm>
          <a:off x="3878036" y="1466305"/>
          <a:ext cx="812799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151300705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4350914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34018797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04226495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9219778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5379713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9886618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162575495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06278107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65352545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0553559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D7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483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9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68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3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05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753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92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51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46146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139042" y="317396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139042" y="4556258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0" y="3233643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50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F8FABBE3-86A8-4E58-8227-27CEDD962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68" b="17127"/>
          <a:stretch/>
        </p:blipFill>
        <p:spPr bwMode="auto">
          <a:xfrm>
            <a:off x="1983067" y="961800"/>
            <a:ext cx="8080862" cy="561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61257" y="60261"/>
            <a:ext cx="6723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200" b="1" dirty="0" smtClean="0">
                <a:solidFill>
                  <a:srgbClr val="C00000"/>
                </a:solidFill>
              </a:rPr>
              <a:t>Two </a:t>
            </a:r>
            <a:r>
              <a:rPr lang="en-US" altLang="zh-TW" sz="3200" b="1" dirty="0">
                <a:solidFill>
                  <a:srgbClr val="C00000"/>
                </a:solidFill>
              </a:rPr>
              <a:t>3-to-8 decoder: a 4-to-16 </a:t>
            </a:r>
            <a:r>
              <a:rPr lang="en-US" altLang="zh-TW" sz="3200" b="1" dirty="0" err="1">
                <a:solidFill>
                  <a:srgbClr val="C00000"/>
                </a:solidFill>
              </a:rPr>
              <a:t>deocder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01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0000FF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chemeClr val="bg1"/>
                </a:solidFill>
              </a:rPr>
              <a:t>TOPIC </a:t>
            </a:r>
            <a:r>
              <a:rPr lang="en-US" altLang="zh-TW" sz="7200" b="1" dirty="0">
                <a:solidFill>
                  <a:schemeClr val="bg1"/>
                </a:solidFill>
              </a:rPr>
              <a:t>6</a:t>
            </a:r>
            <a:endParaRPr lang="zh-TW" altLang="en-US" sz="7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96370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 smtClean="0">
                <a:solidFill>
                  <a:schemeClr val="bg1"/>
                </a:solidFill>
              </a:rPr>
              <a:t>Multiplexer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28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551599" y="927989"/>
            <a:ext cx="5366327" cy="310341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615415" y="3007755"/>
            <a:ext cx="835235" cy="83523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 smtClean="0">
                <a:solidFill>
                  <a:schemeClr val="tx1"/>
                </a:solidFill>
              </a:rPr>
              <a:t>+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cxnSp>
        <p:nvCxnSpPr>
          <p:cNvPr id="46" name="直線接點 45"/>
          <p:cNvCxnSpPr/>
          <p:nvPr/>
        </p:nvCxnSpPr>
        <p:spPr>
          <a:xfrm>
            <a:off x="4441358" y="3425373"/>
            <a:ext cx="7430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"/>
          <p:cNvGrpSpPr>
            <a:grpSpLocks noChangeAspect="1"/>
          </p:cNvGrpSpPr>
          <p:nvPr/>
        </p:nvGrpSpPr>
        <p:grpSpPr bwMode="auto">
          <a:xfrm>
            <a:off x="3261739" y="1948319"/>
            <a:ext cx="1495425" cy="793750"/>
            <a:chOff x="2347" y="1818"/>
            <a:chExt cx="942" cy="500"/>
          </a:xfrm>
        </p:grpSpPr>
        <p:sp>
          <p:nvSpPr>
            <p:cNvPr id="4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59" name="Freeform 15"/>
          <p:cNvSpPr>
            <a:spLocks/>
          </p:cNvSpPr>
          <p:nvPr/>
        </p:nvSpPr>
        <p:spPr bwMode="auto">
          <a:xfrm>
            <a:off x="3542777" y="1165057"/>
            <a:ext cx="919163" cy="720725"/>
          </a:xfrm>
          <a:custGeom>
            <a:avLst/>
            <a:gdLst>
              <a:gd name="T0" fmla="*/ 291 w 472"/>
              <a:gd name="T1" fmla="*/ 363 h 363"/>
              <a:gd name="T2" fmla="*/ 0 w 472"/>
              <a:gd name="T3" fmla="*/ 363 h 363"/>
              <a:gd name="T4" fmla="*/ 0 w 472"/>
              <a:gd name="T5" fmla="*/ 0 h 363"/>
              <a:gd name="T6" fmla="*/ 291 w 472"/>
              <a:gd name="T7" fmla="*/ 0 h 363"/>
              <a:gd name="T8" fmla="*/ 472 w 472"/>
              <a:gd name="T9" fmla="*/ 182 h 363"/>
              <a:gd name="T10" fmla="*/ 291 w 472"/>
              <a:gd name="T11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2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2" y="82"/>
                  <a:pt x="472" y="182"/>
                </a:cubicBezTo>
                <a:cubicBezTo>
                  <a:pt x="472" y="282"/>
                  <a:pt x="391" y="363"/>
                  <a:pt x="291" y="363"/>
                </a:cubicBezTo>
                <a:close/>
              </a:path>
            </a:pathLst>
          </a:custGeom>
          <a:solidFill>
            <a:schemeClr val="bg1"/>
          </a:solidFill>
          <a:ln w="317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63" name="直線接點 62"/>
          <p:cNvCxnSpPr/>
          <p:nvPr/>
        </p:nvCxnSpPr>
        <p:spPr>
          <a:xfrm>
            <a:off x="4480357" y="2365450"/>
            <a:ext cx="704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4482606" y="1518234"/>
            <a:ext cx="704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4040484" y="2795462"/>
            <a:ext cx="3528" cy="21232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4040484" y="2795462"/>
            <a:ext cx="8046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 flipV="1">
            <a:off x="4852938" y="760192"/>
            <a:ext cx="10506" cy="2035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>
            <a:off x="3088003" y="1342712"/>
            <a:ext cx="0" cy="1855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 flipV="1">
            <a:off x="3076316" y="3182326"/>
            <a:ext cx="550787" cy="2466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/>
          <p:nvPr/>
        </p:nvCxnSpPr>
        <p:spPr>
          <a:xfrm>
            <a:off x="3076316" y="2187959"/>
            <a:ext cx="582378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接點 134"/>
          <p:cNvCxnSpPr/>
          <p:nvPr/>
        </p:nvCxnSpPr>
        <p:spPr>
          <a:xfrm flipV="1">
            <a:off x="3351709" y="1723476"/>
            <a:ext cx="15796" cy="16997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/>
          <p:nvPr/>
        </p:nvCxnSpPr>
        <p:spPr>
          <a:xfrm>
            <a:off x="3367505" y="1723476"/>
            <a:ext cx="175272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接點 138"/>
          <p:cNvCxnSpPr/>
          <p:nvPr/>
        </p:nvCxnSpPr>
        <p:spPr>
          <a:xfrm>
            <a:off x="3367505" y="2573349"/>
            <a:ext cx="291189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橢圓 144"/>
          <p:cNvSpPr/>
          <p:nvPr/>
        </p:nvSpPr>
        <p:spPr>
          <a:xfrm>
            <a:off x="3062577" y="1290362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橢圓 145"/>
          <p:cNvSpPr/>
          <p:nvPr/>
        </p:nvSpPr>
        <p:spPr>
          <a:xfrm>
            <a:off x="3057242" y="2145938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橢圓 146"/>
          <p:cNvSpPr/>
          <p:nvPr/>
        </p:nvSpPr>
        <p:spPr>
          <a:xfrm>
            <a:off x="3318070" y="2539644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橢圓 147"/>
          <p:cNvSpPr/>
          <p:nvPr/>
        </p:nvSpPr>
        <p:spPr>
          <a:xfrm>
            <a:off x="3312139" y="3390345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4" name="直線接點 153"/>
          <p:cNvCxnSpPr>
            <a:endCxn id="24" idx="5"/>
          </p:cNvCxnSpPr>
          <p:nvPr/>
        </p:nvCxnSpPr>
        <p:spPr>
          <a:xfrm>
            <a:off x="5462890" y="401517"/>
            <a:ext cx="0" cy="76354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/>
          <p:cNvSpPr txBox="1"/>
          <p:nvPr/>
        </p:nvSpPr>
        <p:spPr>
          <a:xfrm>
            <a:off x="4883499" y="40902"/>
            <a:ext cx="1263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</a:rPr>
              <a:t>Operation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4329961" y="401177"/>
            <a:ext cx="978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rgbClr val="C00000"/>
                </a:solidFill>
              </a:rPr>
              <a:t>CarryIn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6071681" y="2139534"/>
            <a:ext cx="829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Result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81" name="直線接點 180"/>
          <p:cNvCxnSpPr/>
          <p:nvPr/>
        </p:nvCxnSpPr>
        <p:spPr>
          <a:xfrm>
            <a:off x="4033032" y="3860453"/>
            <a:ext cx="0" cy="401863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字方塊 181"/>
          <p:cNvSpPr txBox="1"/>
          <p:nvPr/>
        </p:nvSpPr>
        <p:spPr>
          <a:xfrm>
            <a:off x="3449058" y="4199956"/>
            <a:ext cx="1167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chemeClr val="accent5">
                    <a:lumMod val="50000"/>
                  </a:schemeClr>
                </a:solidFill>
              </a:rPr>
              <a:t>CarryOut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6" name="文字方塊 195"/>
          <p:cNvSpPr txBox="1"/>
          <p:nvPr/>
        </p:nvSpPr>
        <p:spPr>
          <a:xfrm>
            <a:off x="-36945" y="109030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-18665" y="3242873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b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02" name="直線接點 201"/>
          <p:cNvCxnSpPr/>
          <p:nvPr/>
        </p:nvCxnSpPr>
        <p:spPr>
          <a:xfrm>
            <a:off x="5728849" y="2365450"/>
            <a:ext cx="414729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接點 203"/>
          <p:cNvCxnSpPr/>
          <p:nvPr/>
        </p:nvCxnSpPr>
        <p:spPr>
          <a:xfrm>
            <a:off x="282373" y="1321958"/>
            <a:ext cx="3245134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300653" y="3426094"/>
            <a:ext cx="3311844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68"/>
          <p:cNvSpPr txBox="1"/>
          <p:nvPr/>
        </p:nvSpPr>
        <p:spPr>
          <a:xfrm>
            <a:off x="70650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AND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87286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OR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2" name="流程圖: 人工作業 1"/>
          <p:cNvSpPr/>
          <p:nvPr/>
        </p:nvSpPr>
        <p:spPr>
          <a:xfrm rot="16200000">
            <a:off x="3992763" y="2153620"/>
            <a:ext cx="2973900" cy="556572"/>
          </a:xfrm>
          <a:prstGeom prst="flowChartManualOperation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/>
          <p:cNvSpPr txBox="1"/>
          <p:nvPr/>
        </p:nvSpPr>
        <p:spPr>
          <a:xfrm>
            <a:off x="103922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ADD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654483"/>
              </p:ext>
            </p:extLst>
          </p:nvPr>
        </p:nvGraphicFramePr>
        <p:xfrm>
          <a:off x="7065033" y="3007755"/>
          <a:ext cx="4899946" cy="20726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439534">
                  <a:extLst>
                    <a:ext uri="{9D8B030D-6E8A-4147-A177-3AD203B41FA5}">
                      <a16:colId xmlns:a16="http://schemas.microsoft.com/office/drawing/2014/main" val="3930429605"/>
                    </a:ext>
                  </a:extLst>
                </a:gridCol>
                <a:gridCol w="1439534">
                  <a:extLst>
                    <a:ext uri="{9D8B030D-6E8A-4147-A177-3AD203B41FA5}">
                      <a16:colId xmlns:a16="http://schemas.microsoft.com/office/drawing/2014/main" val="896049225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278403127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3971206113"/>
                    </a:ext>
                  </a:extLst>
                </a:gridCol>
              </a:tblGrid>
              <a:tr h="4995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 smtClean="0"/>
                        <a:t>Function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/>
                        <a:t>CarryIn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465707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and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273679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771273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add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406686"/>
                  </a:ext>
                </a:extLst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5322772" y="1321958"/>
            <a:ext cx="3257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/>
              <a:t>0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1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2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5427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551599" y="927989"/>
            <a:ext cx="5366327" cy="310341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615415" y="3007755"/>
            <a:ext cx="835235" cy="83523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+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6" name="直線接點 45"/>
          <p:cNvCxnSpPr/>
          <p:nvPr/>
        </p:nvCxnSpPr>
        <p:spPr>
          <a:xfrm>
            <a:off x="4441358" y="3425373"/>
            <a:ext cx="7430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"/>
          <p:cNvGrpSpPr>
            <a:grpSpLocks noChangeAspect="1"/>
          </p:cNvGrpSpPr>
          <p:nvPr/>
        </p:nvGrpSpPr>
        <p:grpSpPr bwMode="auto">
          <a:xfrm>
            <a:off x="3261739" y="1948319"/>
            <a:ext cx="1495425" cy="793750"/>
            <a:chOff x="2347" y="1818"/>
            <a:chExt cx="942" cy="500"/>
          </a:xfrm>
        </p:grpSpPr>
        <p:sp>
          <p:nvSpPr>
            <p:cNvPr id="4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59" name="Freeform 15"/>
          <p:cNvSpPr>
            <a:spLocks/>
          </p:cNvSpPr>
          <p:nvPr/>
        </p:nvSpPr>
        <p:spPr bwMode="auto">
          <a:xfrm>
            <a:off x="3542777" y="1165057"/>
            <a:ext cx="919163" cy="720725"/>
          </a:xfrm>
          <a:custGeom>
            <a:avLst/>
            <a:gdLst>
              <a:gd name="T0" fmla="*/ 291 w 472"/>
              <a:gd name="T1" fmla="*/ 363 h 363"/>
              <a:gd name="T2" fmla="*/ 0 w 472"/>
              <a:gd name="T3" fmla="*/ 363 h 363"/>
              <a:gd name="T4" fmla="*/ 0 w 472"/>
              <a:gd name="T5" fmla="*/ 0 h 363"/>
              <a:gd name="T6" fmla="*/ 291 w 472"/>
              <a:gd name="T7" fmla="*/ 0 h 363"/>
              <a:gd name="T8" fmla="*/ 472 w 472"/>
              <a:gd name="T9" fmla="*/ 182 h 363"/>
              <a:gd name="T10" fmla="*/ 291 w 472"/>
              <a:gd name="T11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2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2" y="82"/>
                  <a:pt x="472" y="182"/>
                </a:cubicBezTo>
                <a:cubicBezTo>
                  <a:pt x="472" y="282"/>
                  <a:pt x="391" y="363"/>
                  <a:pt x="291" y="363"/>
                </a:cubicBezTo>
                <a:close/>
              </a:path>
            </a:pathLst>
          </a:custGeom>
          <a:solidFill>
            <a:srgbClr val="FFFFCC"/>
          </a:solidFill>
          <a:ln w="57150" cap="rnd">
            <a:solidFill>
              <a:schemeClr val="accent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63" name="直線接點 62"/>
          <p:cNvCxnSpPr/>
          <p:nvPr/>
        </p:nvCxnSpPr>
        <p:spPr>
          <a:xfrm>
            <a:off x="4480357" y="2365450"/>
            <a:ext cx="704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4482606" y="1518234"/>
            <a:ext cx="70408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4040484" y="2795462"/>
            <a:ext cx="3528" cy="21232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4040484" y="2795462"/>
            <a:ext cx="8046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 flipV="1">
            <a:off x="4852938" y="760192"/>
            <a:ext cx="10506" cy="2035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>
            <a:off x="3088003" y="1342712"/>
            <a:ext cx="0" cy="185508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 flipV="1">
            <a:off x="3076316" y="3182326"/>
            <a:ext cx="550787" cy="2466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/>
          <p:nvPr/>
        </p:nvCxnSpPr>
        <p:spPr>
          <a:xfrm>
            <a:off x="3076316" y="2187959"/>
            <a:ext cx="582378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接點 134"/>
          <p:cNvCxnSpPr/>
          <p:nvPr/>
        </p:nvCxnSpPr>
        <p:spPr>
          <a:xfrm flipV="1">
            <a:off x="3351709" y="1723476"/>
            <a:ext cx="15796" cy="169974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/>
          <p:nvPr/>
        </p:nvCxnSpPr>
        <p:spPr>
          <a:xfrm>
            <a:off x="3367505" y="1723476"/>
            <a:ext cx="175272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接點 138"/>
          <p:cNvCxnSpPr/>
          <p:nvPr/>
        </p:nvCxnSpPr>
        <p:spPr>
          <a:xfrm>
            <a:off x="3367505" y="2573349"/>
            <a:ext cx="291189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橢圓 144"/>
          <p:cNvSpPr/>
          <p:nvPr/>
        </p:nvSpPr>
        <p:spPr>
          <a:xfrm>
            <a:off x="3062577" y="1290362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橢圓 145"/>
          <p:cNvSpPr/>
          <p:nvPr/>
        </p:nvSpPr>
        <p:spPr>
          <a:xfrm>
            <a:off x="3057242" y="2145938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橢圓 146"/>
          <p:cNvSpPr/>
          <p:nvPr/>
        </p:nvSpPr>
        <p:spPr>
          <a:xfrm>
            <a:off x="3318070" y="2539644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橢圓 147"/>
          <p:cNvSpPr/>
          <p:nvPr/>
        </p:nvSpPr>
        <p:spPr>
          <a:xfrm>
            <a:off x="3312139" y="3390345"/>
            <a:ext cx="73891" cy="8404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4" name="直線接點 153"/>
          <p:cNvCxnSpPr>
            <a:endCxn id="24" idx="5"/>
          </p:cNvCxnSpPr>
          <p:nvPr/>
        </p:nvCxnSpPr>
        <p:spPr>
          <a:xfrm>
            <a:off x="5462890" y="401517"/>
            <a:ext cx="0" cy="763540"/>
          </a:xfrm>
          <a:prstGeom prst="line">
            <a:avLst/>
          </a:prstGeom>
          <a:ln w="57150">
            <a:solidFill>
              <a:srgbClr val="FF99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/>
          <p:cNvSpPr txBox="1"/>
          <p:nvPr/>
        </p:nvSpPr>
        <p:spPr>
          <a:xfrm>
            <a:off x="4883499" y="40902"/>
            <a:ext cx="1263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</a:rPr>
              <a:t>Operation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4329961" y="401177"/>
            <a:ext cx="978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rgbClr val="C00000"/>
                </a:solidFill>
              </a:rPr>
              <a:t>CarryIn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6071681" y="2139534"/>
            <a:ext cx="829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Result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81" name="直線接點 180"/>
          <p:cNvCxnSpPr/>
          <p:nvPr/>
        </p:nvCxnSpPr>
        <p:spPr>
          <a:xfrm>
            <a:off x="4033032" y="3860453"/>
            <a:ext cx="0" cy="401863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字方塊 181"/>
          <p:cNvSpPr txBox="1"/>
          <p:nvPr/>
        </p:nvSpPr>
        <p:spPr>
          <a:xfrm>
            <a:off x="3449058" y="4199956"/>
            <a:ext cx="1167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chemeClr val="accent5">
                    <a:lumMod val="50000"/>
                  </a:schemeClr>
                </a:solidFill>
              </a:rPr>
              <a:t>CarryOut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6" name="文字方塊 195"/>
          <p:cNvSpPr txBox="1"/>
          <p:nvPr/>
        </p:nvSpPr>
        <p:spPr>
          <a:xfrm>
            <a:off x="-36945" y="109030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-18665" y="3242873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b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02" name="直線接點 201"/>
          <p:cNvCxnSpPr/>
          <p:nvPr/>
        </p:nvCxnSpPr>
        <p:spPr>
          <a:xfrm>
            <a:off x="5728849" y="2365450"/>
            <a:ext cx="414729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線接點 203"/>
          <p:cNvCxnSpPr/>
          <p:nvPr/>
        </p:nvCxnSpPr>
        <p:spPr>
          <a:xfrm>
            <a:off x="282373" y="1321958"/>
            <a:ext cx="3245134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351709" y="3431567"/>
            <a:ext cx="260788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82373" y="3441510"/>
            <a:ext cx="3051056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7065033" y="1165057"/>
            <a:ext cx="1572745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AND</a:t>
            </a:r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87286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OR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03922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ADD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346705"/>
              </p:ext>
            </p:extLst>
          </p:nvPr>
        </p:nvGraphicFramePr>
        <p:xfrm>
          <a:off x="7065033" y="3007755"/>
          <a:ext cx="4899946" cy="20726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439534">
                  <a:extLst>
                    <a:ext uri="{9D8B030D-6E8A-4147-A177-3AD203B41FA5}">
                      <a16:colId xmlns:a16="http://schemas.microsoft.com/office/drawing/2014/main" val="3930429605"/>
                    </a:ext>
                  </a:extLst>
                </a:gridCol>
                <a:gridCol w="1439534">
                  <a:extLst>
                    <a:ext uri="{9D8B030D-6E8A-4147-A177-3AD203B41FA5}">
                      <a16:colId xmlns:a16="http://schemas.microsoft.com/office/drawing/2014/main" val="896049225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278403127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3971206113"/>
                    </a:ext>
                  </a:extLst>
                </a:gridCol>
              </a:tblGrid>
              <a:tr h="4995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 smtClean="0"/>
                        <a:t>Function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/>
                        <a:t>CarryIn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465707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and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273679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07771273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add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406686"/>
                  </a:ext>
                </a:extLst>
              </a:tr>
            </a:tbl>
          </a:graphicData>
        </a:graphic>
      </p:graphicFrame>
      <p:sp>
        <p:nvSpPr>
          <p:cNvPr id="45" name="流程圖: 人工作業 44"/>
          <p:cNvSpPr/>
          <p:nvPr/>
        </p:nvSpPr>
        <p:spPr>
          <a:xfrm rot="16200000">
            <a:off x="3992763" y="2153620"/>
            <a:ext cx="2973900" cy="556572"/>
          </a:xfrm>
          <a:prstGeom prst="flowChartManualOperation">
            <a:avLst/>
          </a:prstGeom>
          <a:solidFill>
            <a:srgbClr val="FFFFCC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5290116" y="1321958"/>
            <a:ext cx="3257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/>
              <a:t>0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1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2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0620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551599" y="927989"/>
            <a:ext cx="5366327" cy="310341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615415" y="3007755"/>
            <a:ext cx="835235" cy="83523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+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6" name="直線接點 45"/>
          <p:cNvCxnSpPr/>
          <p:nvPr/>
        </p:nvCxnSpPr>
        <p:spPr>
          <a:xfrm>
            <a:off x="4441358" y="3425373"/>
            <a:ext cx="7430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"/>
          <p:cNvGrpSpPr>
            <a:grpSpLocks noChangeAspect="1"/>
          </p:cNvGrpSpPr>
          <p:nvPr/>
        </p:nvGrpSpPr>
        <p:grpSpPr bwMode="auto">
          <a:xfrm>
            <a:off x="3261739" y="1948319"/>
            <a:ext cx="1495425" cy="793750"/>
            <a:chOff x="2347" y="1818"/>
            <a:chExt cx="942" cy="500"/>
          </a:xfrm>
        </p:grpSpPr>
        <p:sp>
          <p:nvSpPr>
            <p:cNvPr id="4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CC"/>
            </a:solidFill>
            <a:ln w="57150" cap="rnd">
              <a:solidFill>
                <a:schemeClr val="bg2">
                  <a:lumMod val="50000"/>
                </a:schemeClr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59" name="Freeform 15"/>
          <p:cNvSpPr>
            <a:spLocks/>
          </p:cNvSpPr>
          <p:nvPr/>
        </p:nvSpPr>
        <p:spPr bwMode="auto">
          <a:xfrm>
            <a:off x="3542777" y="1165057"/>
            <a:ext cx="919163" cy="720725"/>
          </a:xfrm>
          <a:custGeom>
            <a:avLst/>
            <a:gdLst>
              <a:gd name="T0" fmla="*/ 291 w 472"/>
              <a:gd name="T1" fmla="*/ 363 h 363"/>
              <a:gd name="T2" fmla="*/ 0 w 472"/>
              <a:gd name="T3" fmla="*/ 363 h 363"/>
              <a:gd name="T4" fmla="*/ 0 w 472"/>
              <a:gd name="T5" fmla="*/ 0 h 363"/>
              <a:gd name="T6" fmla="*/ 291 w 472"/>
              <a:gd name="T7" fmla="*/ 0 h 363"/>
              <a:gd name="T8" fmla="*/ 472 w 472"/>
              <a:gd name="T9" fmla="*/ 182 h 363"/>
              <a:gd name="T10" fmla="*/ 291 w 472"/>
              <a:gd name="T11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2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2" y="82"/>
                  <a:pt x="472" y="182"/>
                </a:cubicBezTo>
                <a:cubicBezTo>
                  <a:pt x="472" y="282"/>
                  <a:pt x="391" y="363"/>
                  <a:pt x="291" y="363"/>
                </a:cubicBezTo>
                <a:close/>
              </a:path>
            </a:pathLst>
          </a:custGeom>
          <a:solidFill>
            <a:schemeClr val="bg1"/>
          </a:solidFill>
          <a:ln w="317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63" name="直線接點 62"/>
          <p:cNvCxnSpPr/>
          <p:nvPr/>
        </p:nvCxnSpPr>
        <p:spPr>
          <a:xfrm>
            <a:off x="4480357" y="2365450"/>
            <a:ext cx="70408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4482606" y="1518234"/>
            <a:ext cx="704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4040484" y="2795462"/>
            <a:ext cx="3528" cy="212326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4040484" y="2795462"/>
            <a:ext cx="8046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 flipV="1">
            <a:off x="4852938" y="760192"/>
            <a:ext cx="10506" cy="20352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 flipV="1">
            <a:off x="3076316" y="3182326"/>
            <a:ext cx="550787" cy="2466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/>
          <p:nvPr/>
        </p:nvCxnSpPr>
        <p:spPr>
          <a:xfrm>
            <a:off x="3076316" y="2187959"/>
            <a:ext cx="582378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/>
          <p:nvPr/>
        </p:nvCxnSpPr>
        <p:spPr>
          <a:xfrm>
            <a:off x="3367505" y="1723476"/>
            <a:ext cx="175272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接點 138"/>
          <p:cNvCxnSpPr/>
          <p:nvPr/>
        </p:nvCxnSpPr>
        <p:spPr>
          <a:xfrm>
            <a:off x="3367505" y="2573349"/>
            <a:ext cx="291189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橢圓 144"/>
          <p:cNvSpPr/>
          <p:nvPr/>
        </p:nvSpPr>
        <p:spPr>
          <a:xfrm>
            <a:off x="3053433" y="1290362"/>
            <a:ext cx="73891" cy="8404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橢圓 145"/>
          <p:cNvSpPr/>
          <p:nvPr/>
        </p:nvSpPr>
        <p:spPr>
          <a:xfrm>
            <a:off x="3048098" y="2145938"/>
            <a:ext cx="73891" cy="8404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橢圓 146"/>
          <p:cNvSpPr/>
          <p:nvPr/>
        </p:nvSpPr>
        <p:spPr>
          <a:xfrm>
            <a:off x="3318070" y="2539644"/>
            <a:ext cx="73891" cy="8404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橢圓 147"/>
          <p:cNvSpPr/>
          <p:nvPr/>
        </p:nvSpPr>
        <p:spPr>
          <a:xfrm>
            <a:off x="3312139" y="3390345"/>
            <a:ext cx="73891" cy="8404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4" name="直線接點 153"/>
          <p:cNvCxnSpPr>
            <a:endCxn id="24" idx="5"/>
          </p:cNvCxnSpPr>
          <p:nvPr/>
        </p:nvCxnSpPr>
        <p:spPr>
          <a:xfrm>
            <a:off x="5462890" y="401517"/>
            <a:ext cx="0" cy="763540"/>
          </a:xfrm>
          <a:prstGeom prst="line">
            <a:avLst/>
          </a:prstGeom>
          <a:ln w="57150">
            <a:solidFill>
              <a:srgbClr val="FF99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/>
          <p:cNvSpPr txBox="1"/>
          <p:nvPr/>
        </p:nvSpPr>
        <p:spPr>
          <a:xfrm>
            <a:off x="4883499" y="40902"/>
            <a:ext cx="1263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</a:rPr>
              <a:t>Operation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4329961" y="401177"/>
            <a:ext cx="978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rgbClr val="C00000"/>
                </a:solidFill>
              </a:rPr>
              <a:t>CarryIn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6071681" y="2139534"/>
            <a:ext cx="829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Result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81" name="直線接點 180"/>
          <p:cNvCxnSpPr/>
          <p:nvPr/>
        </p:nvCxnSpPr>
        <p:spPr>
          <a:xfrm>
            <a:off x="4033032" y="3860453"/>
            <a:ext cx="0" cy="401863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字方塊 181"/>
          <p:cNvSpPr txBox="1"/>
          <p:nvPr/>
        </p:nvSpPr>
        <p:spPr>
          <a:xfrm>
            <a:off x="3449058" y="4199956"/>
            <a:ext cx="1167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chemeClr val="accent5">
                    <a:lumMod val="50000"/>
                  </a:schemeClr>
                </a:solidFill>
              </a:rPr>
              <a:t>CarryOut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6" name="文字方塊 195"/>
          <p:cNvSpPr txBox="1"/>
          <p:nvPr/>
        </p:nvSpPr>
        <p:spPr>
          <a:xfrm>
            <a:off x="-36945" y="109030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-18665" y="3242873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b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02" name="直線接點 201"/>
          <p:cNvCxnSpPr/>
          <p:nvPr/>
        </p:nvCxnSpPr>
        <p:spPr>
          <a:xfrm>
            <a:off x="5728849" y="2365450"/>
            <a:ext cx="414729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300653" y="1316335"/>
            <a:ext cx="2775663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3076316" y="1314164"/>
            <a:ext cx="466461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3085460" y="2187959"/>
            <a:ext cx="0" cy="10098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>
            <a:off x="3082005" y="1332382"/>
            <a:ext cx="0" cy="89759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282373" y="3441510"/>
            <a:ext cx="3051056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/>
          <p:cNvCxnSpPr/>
          <p:nvPr/>
        </p:nvCxnSpPr>
        <p:spPr>
          <a:xfrm>
            <a:off x="3351709" y="3431567"/>
            <a:ext cx="260788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3358192" y="1731791"/>
            <a:ext cx="0" cy="8498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flipH="1">
            <a:off x="3345551" y="2581418"/>
            <a:ext cx="9144" cy="84987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70650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AND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8728633" y="1165057"/>
            <a:ext cx="1572745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OR</a:t>
            </a:r>
            <a:endParaRPr lang="zh-TW" altLang="en-US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103922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ADD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50" name="表格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961496"/>
              </p:ext>
            </p:extLst>
          </p:nvPr>
        </p:nvGraphicFramePr>
        <p:xfrm>
          <a:off x="7065033" y="3007755"/>
          <a:ext cx="4899946" cy="20726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439534">
                  <a:extLst>
                    <a:ext uri="{9D8B030D-6E8A-4147-A177-3AD203B41FA5}">
                      <a16:colId xmlns:a16="http://schemas.microsoft.com/office/drawing/2014/main" val="3930429605"/>
                    </a:ext>
                  </a:extLst>
                </a:gridCol>
                <a:gridCol w="1439534">
                  <a:extLst>
                    <a:ext uri="{9D8B030D-6E8A-4147-A177-3AD203B41FA5}">
                      <a16:colId xmlns:a16="http://schemas.microsoft.com/office/drawing/2014/main" val="896049225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278403127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3971206113"/>
                    </a:ext>
                  </a:extLst>
                </a:gridCol>
              </a:tblGrid>
              <a:tr h="4995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 smtClean="0"/>
                        <a:t>Function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/>
                        <a:t>CarryIn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465707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and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273679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771273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add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10406686"/>
                  </a:ext>
                </a:extLst>
              </a:tr>
            </a:tbl>
          </a:graphicData>
        </a:graphic>
      </p:graphicFrame>
      <p:sp>
        <p:nvSpPr>
          <p:cNvPr id="53" name="流程圖: 人工作業 52"/>
          <p:cNvSpPr/>
          <p:nvPr/>
        </p:nvSpPr>
        <p:spPr>
          <a:xfrm rot="16200000">
            <a:off x="3992763" y="2153620"/>
            <a:ext cx="2973900" cy="556572"/>
          </a:xfrm>
          <a:prstGeom prst="flowChartManualOperation">
            <a:avLst/>
          </a:prstGeom>
          <a:solidFill>
            <a:srgbClr val="FFFFCC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/>
          <p:cNvSpPr txBox="1"/>
          <p:nvPr/>
        </p:nvSpPr>
        <p:spPr>
          <a:xfrm>
            <a:off x="5290116" y="1321958"/>
            <a:ext cx="3257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/>
              <a:t>0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1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2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6797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551599" y="927989"/>
            <a:ext cx="5366327" cy="310341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615415" y="3007755"/>
            <a:ext cx="835235" cy="835235"/>
          </a:xfrm>
          <a:prstGeom prst="rect">
            <a:avLst/>
          </a:prstGeom>
          <a:solidFill>
            <a:srgbClr val="FFFFCC"/>
          </a:solidFill>
          <a:ln w="57150" cap="rnd">
            <a:solidFill>
              <a:schemeClr val="accent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2400" dirty="0"/>
              <a:t>+</a:t>
            </a:r>
            <a:endParaRPr lang="zh-TW" altLang="en-US" sz="2400" dirty="0"/>
          </a:p>
        </p:txBody>
      </p:sp>
      <p:cxnSp>
        <p:nvCxnSpPr>
          <p:cNvPr id="46" name="直線接點 45"/>
          <p:cNvCxnSpPr/>
          <p:nvPr/>
        </p:nvCxnSpPr>
        <p:spPr>
          <a:xfrm>
            <a:off x="4441358" y="3425373"/>
            <a:ext cx="743087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"/>
          <p:cNvGrpSpPr>
            <a:grpSpLocks noChangeAspect="1"/>
          </p:cNvGrpSpPr>
          <p:nvPr/>
        </p:nvGrpSpPr>
        <p:grpSpPr bwMode="auto">
          <a:xfrm>
            <a:off x="3261739" y="1948319"/>
            <a:ext cx="1495425" cy="793750"/>
            <a:chOff x="2347" y="1818"/>
            <a:chExt cx="942" cy="500"/>
          </a:xfrm>
        </p:grpSpPr>
        <p:sp>
          <p:nvSpPr>
            <p:cNvPr id="49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47" y="1818"/>
              <a:ext cx="942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1" name="Freeform 6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52" name="Freeform 7"/>
            <p:cNvSpPr>
              <a:spLocks/>
            </p:cNvSpPr>
            <p:nvPr/>
          </p:nvSpPr>
          <p:spPr bwMode="auto">
            <a:xfrm>
              <a:off x="2532" y="1848"/>
              <a:ext cx="579" cy="454"/>
            </a:xfrm>
            <a:custGeom>
              <a:avLst/>
              <a:gdLst>
                <a:gd name="T0" fmla="*/ 472 w 472"/>
                <a:gd name="T1" fmla="*/ 182 h 363"/>
                <a:gd name="T2" fmla="*/ 142 w 472"/>
                <a:gd name="T3" fmla="*/ 363 h 363"/>
                <a:gd name="T4" fmla="*/ 0 w 472"/>
                <a:gd name="T5" fmla="*/ 363 h 363"/>
                <a:gd name="T6" fmla="*/ 0 w 472"/>
                <a:gd name="T7" fmla="*/ 0 h 363"/>
                <a:gd name="T8" fmla="*/ 142 w 472"/>
                <a:gd name="T9" fmla="*/ 0 h 363"/>
                <a:gd name="T10" fmla="*/ 472 w 472"/>
                <a:gd name="T11" fmla="*/ 18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2" h="363">
                  <a:moveTo>
                    <a:pt x="472" y="182"/>
                  </a:moveTo>
                  <a:cubicBezTo>
                    <a:pt x="416" y="271"/>
                    <a:pt x="293" y="339"/>
                    <a:pt x="142" y="363"/>
                  </a:cubicBezTo>
                  <a:lnTo>
                    <a:pt x="0" y="363"/>
                  </a:lnTo>
                  <a:cubicBezTo>
                    <a:pt x="88" y="248"/>
                    <a:pt x="88" y="115"/>
                    <a:pt x="0" y="0"/>
                  </a:cubicBezTo>
                  <a:lnTo>
                    <a:pt x="142" y="0"/>
                  </a:lnTo>
                  <a:cubicBezTo>
                    <a:pt x="294" y="24"/>
                    <a:pt x="417" y="92"/>
                    <a:pt x="472" y="182"/>
                  </a:cubicBezTo>
                  <a:close/>
                </a:path>
              </a:pathLst>
            </a:custGeom>
            <a:solidFill>
              <a:srgbClr val="FFFFFF"/>
            </a:solidFill>
            <a:ln w="317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59" name="Freeform 15"/>
          <p:cNvSpPr>
            <a:spLocks/>
          </p:cNvSpPr>
          <p:nvPr/>
        </p:nvSpPr>
        <p:spPr bwMode="auto">
          <a:xfrm>
            <a:off x="3542777" y="1165057"/>
            <a:ext cx="919163" cy="720725"/>
          </a:xfrm>
          <a:custGeom>
            <a:avLst/>
            <a:gdLst>
              <a:gd name="T0" fmla="*/ 291 w 472"/>
              <a:gd name="T1" fmla="*/ 363 h 363"/>
              <a:gd name="T2" fmla="*/ 0 w 472"/>
              <a:gd name="T3" fmla="*/ 363 h 363"/>
              <a:gd name="T4" fmla="*/ 0 w 472"/>
              <a:gd name="T5" fmla="*/ 0 h 363"/>
              <a:gd name="T6" fmla="*/ 291 w 472"/>
              <a:gd name="T7" fmla="*/ 0 h 363"/>
              <a:gd name="T8" fmla="*/ 472 w 472"/>
              <a:gd name="T9" fmla="*/ 182 h 363"/>
              <a:gd name="T10" fmla="*/ 291 w 472"/>
              <a:gd name="T11" fmla="*/ 363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2" h="363">
                <a:moveTo>
                  <a:pt x="291" y="363"/>
                </a:moveTo>
                <a:lnTo>
                  <a:pt x="0" y="363"/>
                </a:lnTo>
                <a:lnTo>
                  <a:pt x="0" y="0"/>
                </a:lnTo>
                <a:lnTo>
                  <a:pt x="291" y="0"/>
                </a:lnTo>
                <a:cubicBezTo>
                  <a:pt x="391" y="0"/>
                  <a:pt x="472" y="82"/>
                  <a:pt x="472" y="182"/>
                </a:cubicBezTo>
                <a:cubicBezTo>
                  <a:pt x="472" y="282"/>
                  <a:pt x="391" y="363"/>
                  <a:pt x="291" y="363"/>
                </a:cubicBezTo>
                <a:close/>
              </a:path>
            </a:pathLst>
          </a:custGeom>
          <a:solidFill>
            <a:schemeClr val="bg1"/>
          </a:solidFill>
          <a:ln w="31750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63" name="直線接點 62"/>
          <p:cNvCxnSpPr/>
          <p:nvPr/>
        </p:nvCxnSpPr>
        <p:spPr>
          <a:xfrm>
            <a:off x="4480357" y="2365450"/>
            <a:ext cx="704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4482606" y="1518234"/>
            <a:ext cx="7040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>
            <a:off x="4040484" y="2795462"/>
            <a:ext cx="3528" cy="212326"/>
          </a:xfrm>
          <a:prstGeom prst="straightConnector1">
            <a:avLst/>
          </a:prstGeom>
          <a:ln w="57150">
            <a:solidFill>
              <a:srgbClr val="FF99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/>
          <p:nvPr/>
        </p:nvCxnSpPr>
        <p:spPr>
          <a:xfrm>
            <a:off x="4040484" y="2795462"/>
            <a:ext cx="804672" cy="0"/>
          </a:xfrm>
          <a:prstGeom prst="line">
            <a:avLst/>
          </a:prstGeom>
          <a:ln w="571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 flipV="1">
            <a:off x="4852938" y="760192"/>
            <a:ext cx="10506" cy="2035270"/>
          </a:xfrm>
          <a:prstGeom prst="line">
            <a:avLst/>
          </a:prstGeom>
          <a:ln w="571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09"/>
          <p:cNvCxnSpPr/>
          <p:nvPr/>
        </p:nvCxnSpPr>
        <p:spPr>
          <a:xfrm>
            <a:off x="3088003" y="1342712"/>
            <a:ext cx="0" cy="185508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接點 111"/>
          <p:cNvCxnSpPr/>
          <p:nvPr/>
        </p:nvCxnSpPr>
        <p:spPr>
          <a:xfrm flipV="1">
            <a:off x="3076316" y="3182326"/>
            <a:ext cx="550787" cy="2466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/>
          <p:cNvCxnSpPr/>
          <p:nvPr/>
        </p:nvCxnSpPr>
        <p:spPr>
          <a:xfrm>
            <a:off x="3076316" y="2187959"/>
            <a:ext cx="582378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接點 134"/>
          <p:cNvCxnSpPr/>
          <p:nvPr/>
        </p:nvCxnSpPr>
        <p:spPr>
          <a:xfrm flipV="1">
            <a:off x="3342565" y="1723476"/>
            <a:ext cx="15796" cy="16997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接點 136"/>
          <p:cNvCxnSpPr/>
          <p:nvPr/>
        </p:nvCxnSpPr>
        <p:spPr>
          <a:xfrm>
            <a:off x="3367505" y="1723476"/>
            <a:ext cx="175272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接點 138"/>
          <p:cNvCxnSpPr/>
          <p:nvPr/>
        </p:nvCxnSpPr>
        <p:spPr>
          <a:xfrm>
            <a:off x="3367505" y="2573349"/>
            <a:ext cx="291189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橢圓 144"/>
          <p:cNvSpPr/>
          <p:nvPr/>
        </p:nvSpPr>
        <p:spPr>
          <a:xfrm>
            <a:off x="3062577" y="1290362"/>
            <a:ext cx="73891" cy="8404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6" name="橢圓 145"/>
          <p:cNvSpPr/>
          <p:nvPr/>
        </p:nvSpPr>
        <p:spPr>
          <a:xfrm>
            <a:off x="3057242" y="2145938"/>
            <a:ext cx="73891" cy="84041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7" name="橢圓 146"/>
          <p:cNvSpPr/>
          <p:nvPr/>
        </p:nvSpPr>
        <p:spPr>
          <a:xfrm>
            <a:off x="3318070" y="2539644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8" name="橢圓 147"/>
          <p:cNvSpPr/>
          <p:nvPr/>
        </p:nvSpPr>
        <p:spPr>
          <a:xfrm>
            <a:off x="3312139" y="3390345"/>
            <a:ext cx="73891" cy="8404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4" name="直線接點 153"/>
          <p:cNvCxnSpPr>
            <a:endCxn id="24" idx="5"/>
          </p:cNvCxnSpPr>
          <p:nvPr/>
        </p:nvCxnSpPr>
        <p:spPr>
          <a:xfrm>
            <a:off x="5462890" y="401517"/>
            <a:ext cx="0" cy="763540"/>
          </a:xfrm>
          <a:prstGeom prst="line">
            <a:avLst/>
          </a:prstGeom>
          <a:ln w="57150">
            <a:solidFill>
              <a:srgbClr val="FF99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/>
          <p:cNvSpPr txBox="1"/>
          <p:nvPr/>
        </p:nvSpPr>
        <p:spPr>
          <a:xfrm>
            <a:off x="4883499" y="40902"/>
            <a:ext cx="1263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</a:rPr>
              <a:t>Operation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4329961" y="401177"/>
            <a:ext cx="978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rgbClr val="C00000"/>
                </a:solidFill>
              </a:rPr>
              <a:t>CarryIn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6071681" y="2139534"/>
            <a:ext cx="829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Result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181" name="直線接點 180"/>
          <p:cNvCxnSpPr/>
          <p:nvPr/>
        </p:nvCxnSpPr>
        <p:spPr>
          <a:xfrm>
            <a:off x="4033032" y="3860453"/>
            <a:ext cx="0" cy="401863"/>
          </a:xfrm>
          <a:prstGeom prst="line">
            <a:avLst/>
          </a:prstGeom>
          <a:ln w="57150">
            <a:solidFill>
              <a:srgbClr val="C0000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字方塊 181"/>
          <p:cNvSpPr txBox="1"/>
          <p:nvPr/>
        </p:nvSpPr>
        <p:spPr>
          <a:xfrm>
            <a:off x="3449058" y="4199956"/>
            <a:ext cx="1167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chemeClr val="accent5">
                    <a:lumMod val="50000"/>
                  </a:schemeClr>
                </a:solidFill>
              </a:rPr>
              <a:t>CarryOut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6" name="文字方塊 195"/>
          <p:cNvSpPr txBox="1"/>
          <p:nvPr/>
        </p:nvSpPr>
        <p:spPr>
          <a:xfrm>
            <a:off x="-36945" y="1090307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7" name="文字方塊 196"/>
          <p:cNvSpPr txBox="1"/>
          <p:nvPr/>
        </p:nvSpPr>
        <p:spPr>
          <a:xfrm>
            <a:off x="-18665" y="3242873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chemeClr val="accent5">
                    <a:lumMod val="50000"/>
                  </a:schemeClr>
                </a:solidFill>
              </a:rPr>
              <a:t>b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02" name="直線接點 201"/>
          <p:cNvCxnSpPr/>
          <p:nvPr/>
        </p:nvCxnSpPr>
        <p:spPr>
          <a:xfrm>
            <a:off x="5728849" y="2365450"/>
            <a:ext cx="414729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接點 2"/>
          <p:cNvCxnSpPr/>
          <p:nvPr/>
        </p:nvCxnSpPr>
        <p:spPr>
          <a:xfrm>
            <a:off x="300653" y="3426094"/>
            <a:ext cx="3311844" cy="0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>
            <a:off x="300653" y="1316335"/>
            <a:ext cx="2775663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3076316" y="1314164"/>
            <a:ext cx="466461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/>
          <p:cNvSpPr txBox="1"/>
          <p:nvPr/>
        </p:nvSpPr>
        <p:spPr>
          <a:xfrm>
            <a:off x="70650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AND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8728633" y="1165057"/>
            <a:ext cx="1572745" cy="70788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 smtClean="0">
                <a:solidFill>
                  <a:schemeClr val="bg1"/>
                </a:solidFill>
              </a:rPr>
              <a:t>OR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0392233" y="1165057"/>
            <a:ext cx="1572745" cy="70788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ADD</a:t>
            </a:r>
            <a:endParaRPr lang="zh-TW" altLang="en-US" dirty="0"/>
          </a:p>
        </p:txBody>
      </p:sp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61995"/>
              </p:ext>
            </p:extLst>
          </p:nvPr>
        </p:nvGraphicFramePr>
        <p:xfrm>
          <a:off x="7065033" y="3007755"/>
          <a:ext cx="4899946" cy="20726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439534">
                  <a:extLst>
                    <a:ext uri="{9D8B030D-6E8A-4147-A177-3AD203B41FA5}">
                      <a16:colId xmlns:a16="http://schemas.microsoft.com/office/drawing/2014/main" val="3930429605"/>
                    </a:ext>
                  </a:extLst>
                </a:gridCol>
                <a:gridCol w="1439534">
                  <a:extLst>
                    <a:ext uri="{9D8B030D-6E8A-4147-A177-3AD203B41FA5}">
                      <a16:colId xmlns:a16="http://schemas.microsoft.com/office/drawing/2014/main" val="896049225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278403127"/>
                    </a:ext>
                  </a:extLst>
                </a:gridCol>
                <a:gridCol w="1010439">
                  <a:extLst>
                    <a:ext uri="{9D8B030D-6E8A-4147-A177-3AD203B41FA5}">
                      <a16:colId xmlns:a16="http://schemas.microsoft.com/office/drawing/2014/main" val="3971206113"/>
                    </a:ext>
                  </a:extLst>
                </a:gridCol>
              </a:tblGrid>
              <a:tr h="4995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 smtClean="0"/>
                        <a:t>Function</a:t>
                      </a:r>
                      <a:endParaRPr lang="zh-TW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 smtClean="0"/>
                        <a:t>CarryIn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Op0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465707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and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273679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or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771273"/>
                  </a:ext>
                </a:extLst>
              </a:tr>
              <a:tr h="499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add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406686"/>
                  </a:ext>
                </a:extLst>
              </a:tr>
            </a:tbl>
          </a:graphicData>
        </a:graphic>
      </p:graphicFrame>
      <p:sp>
        <p:nvSpPr>
          <p:cNvPr id="44" name="流程圖: 人工作業 43"/>
          <p:cNvSpPr/>
          <p:nvPr/>
        </p:nvSpPr>
        <p:spPr>
          <a:xfrm rot="16200000">
            <a:off x="3992763" y="2153620"/>
            <a:ext cx="2973900" cy="556572"/>
          </a:xfrm>
          <a:prstGeom prst="flowChartManualOperation">
            <a:avLst/>
          </a:prstGeom>
          <a:solidFill>
            <a:srgbClr val="FFFFCC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/>
          <p:cNvSpPr txBox="1"/>
          <p:nvPr/>
        </p:nvSpPr>
        <p:spPr>
          <a:xfrm>
            <a:off x="5290116" y="1321958"/>
            <a:ext cx="3257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/>
              <a:t>0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1</a:t>
            </a:r>
          </a:p>
          <a:p>
            <a:pPr algn="ctr"/>
            <a:endParaRPr lang="en-US" altLang="zh-TW" sz="2000" b="1" dirty="0" smtClean="0"/>
          </a:p>
          <a:p>
            <a:pPr algn="ctr"/>
            <a:endParaRPr lang="en-US" altLang="zh-TW" sz="2000" b="1" dirty="0"/>
          </a:p>
          <a:p>
            <a:pPr algn="ctr"/>
            <a:r>
              <a:rPr lang="en-US" altLang="zh-TW" sz="2000" b="1" dirty="0" smtClean="0"/>
              <a:t>2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7349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0554" y="92919"/>
            <a:ext cx="22828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Multiplexers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9098" y="885736"/>
            <a:ext cx="1154158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200" dirty="0"/>
              <a:t>select binary information from one of many input lines and direct it to a single output </a:t>
            </a:r>
            <a:r>
              <a:rPr lang="en-US" altLang="zh-TW" sz="3200" dirty="0" smtClean="0"/>
              <a:t>line.</a:t>
            </a:r>
          </a:p>
          <a:p>
            <a:pPr marL="0" lvl="1"/>
            <a:endParaRPr lang="en-US" altLang="zh-TW" sz="3200" dirty="0"/>
          </a:p>
          <a:p>
            <a:pPr marL="0" lvl="1"/>
            <a:r>
              <a:rPr lang="en-US" altLang="zh-TW" sz="3200" dirty="0"/>
              <a:t>2</a:t>
            </a:r>
            <a:r>
              <a:rPr lang="en-US" altLang="zh-TW" sz="3200" baseline="80000" dirty="0"/>
              <a:t>n</a:t>
            </a:r>
            <a:r>
              <a:rPr lang="en-US" altLang="zh-TW" sz="3200" dirty="0"/>
              <a:t> input lines, n selection lines and one output line</a:t>
            </a:r>
          </a:p>
          <a:p>
            <a:pPr marL="0" lvl="1"/>
            <a:r>
              <a:rPr lang="en-US" altLang="zh-TW" sz="3200" b="1" dirty="0">
                <a:solidFill>
                  <a:srgbClr val="C00000"/>
                </a:solidFill>
              </a:rPr>
              <a:t>e.g.: 2-to-1-line multiplexer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7200900" y="3083378"/>
            <a:ext cx="4490172" cy="371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187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714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085659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76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44804"/>
              </p:ext>
            </p:extLst>
          </p:nvPr>
        </p:nvGraphicFramePr>
        <p:xfrm>
          <a:off x="4505778" y="614455"/>
          <a:ext cx="3511550" cy="1957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52432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452412" y="7578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34513" y="322067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085659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28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44804"/>
              </p:ext>
            </p:extLst>
          </p:nvPr>
        </p:nvGraphicFramePr>
        <p:xfrm>
          <a:off x="4505778" y="614455"/>
          <a:ext cx="3511550" cy="1957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52432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452412" y="7578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34513" y="322067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13" name="圓角矩形 12"/>
          <p:cNvSpPr/>
          <p:nvPr/>
        </p:nvSpPr>
        <p:spPr>
          <a:xfrm>
            <a:off x="6613072" y="1281117"/>
            <a:ext cx="1404256" cy="6293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5910944" y="1926434"/>
            <a:ext cx="1404256" cy="629325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085659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39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44804"/>
              </p:ext>
            </p:extLst>
          </p:nvPr>
        </p:nvGraphicFramePr>
        <p:xfrm>
          <a:off x="4505778" y="614455"/>
          <a:ext cx="3511550" cy="1957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52432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452412" y="7578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34513" y="322067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13" name="圓角矩形 12"/>
          <p:cNvSpPr/>
          <p:nvPr/>
        </p:nvSpPr>
        <p:spPr>
          <a:xfrm>
            <a:off x="6613072" y="1281117"/>
            <a:ext cx="1404256" cy="6293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5910944" y="1926434"/>
            <a:ext cx="1404256" cy="629325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572500" y="1722664"/>
            <a:ext cx="3029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Y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S’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0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1</a:t>
            </a:r>
            <a:endParaRPr lang="zh-TW" altLang="en-US" sz="3200" baseline="-25000" dirty="0">
              <a:latin typeface="+mj-lt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085659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92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44804"/>
              </p:ext>
            </p:extLst>
          </p:nvPr>
        </p:nvGraphicFramePr>
        <p:xfrm>
          <a:off x="4505778" y="614455"/>
          <a:ext cx="3511550" cy="1957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52432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524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452412" y="7578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34513" y="322067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I</a:t>
            </a:r>
            <a:r>
              <a:rPr lang="en-US" altLang="zh-TW" sz="2800" baseline="-25000" dirty="0" smtClean="0"/>
              <a:t>1</a:t>
            </a:r>
            <a:endParaRPr lang="zh-TW" altLang="en-US" sz="2800" baseline="-25000" dirty="0"/>
          </a:p>
        </p:txBody>
      </p:sp>
      <p:sp>
        <p:nvSpPr>
          <p:cNvPr id="13" name="圓角矩形 12"/>
          <p:cNvSpPr/>
          <p:nvPr/>
        </p:nvSpPr>
        <p:spPr>
          <a:xfrm>
            <a:off x="6613072" y="1281117"/>
            <a:ext cx="1404256" cy="6293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5910944" y="1926434"/>
            <a:ext cx="1404256" cy="629325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8572500" y="1722664"/>
            <a:ext cx="3029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Y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S’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0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1</a:t>
            </a:r>
            <a:endParaRPr lang="zh-TW" altLang="en-US" sz="3200" baseline="-25000" dirty="0">
              <a:latin typeface="+mj-lt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085659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  <p:pic>
        <p:nvPicPr>
          <p:cNvPr id="18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91" b="27016"/>
          <a:stretch/>
        </p:blipFill>
        <p:spPr bwMode="auto">
          <a:xfrm>
            <a:off x="4510563" y="3058885"/>
            <a:ext cx="6684771" cy="3472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951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96442" y="956174"/>
            <a:ext cx="3993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TW" altLang="en-US" sz="3200" b="1" dirty="0">
                <a:solidFill>
                  <a:srgbClr val="C00000"/>
                </a:solidFill>
              </a:rPr>
              <a:t>4-</a:t>
            </a:r>
            <a:r>
              <a:rPr lang="en-US" altLang="zh-TW" sz="3200" b="1" dirty="0">
                <a:solidFill>
                  <a:srgbClr val="C00000"/>
                </a:solidFill>
              </a:rPr>
              <a:t>to-1-line multiplexer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71" r="4411" b="22164"/>
          <a:stretch/>
        </p:blipFill>
        <p:spPr bwMode="auto">
          <a:xfrm>
            <a:off x="4759505" y="2066018"/>
            <a:ext cx="3014943" cy="3755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7778961" y="3651189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Y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300791" y="358076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0</a:t>
            </a:r>
            <a:endParaRPr lang="zh-TW" altLang="en-US" sz="32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295064" y="4046129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1</a:t>
            </a:r>
            <a:endParaRPr lang="zh-TW" altLang="en-US" sz="3200" baseline="-25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295064" y="4511493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295064" y="4976857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3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174410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05378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15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05378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61862"/>
              </p:ext>
            </p:extLst>
          </p:nvPr>
        </p:nvGraphicFramePr>
        <p:xfrm>
          <a:off x="3927021" y="2737524"/>
          <a:ext cx="18737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71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05378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61862"/>
              </p:ext>
            </p:extLst>
          </p:nvPr>
        </p:nvGraphicFramePr>
        <p:xfrm>
          <a:off x="3927021" y="2737524"/>
          <a:ext cx="18737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6245678" y="2571750"/>
            <a:ext cx="3029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Y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S’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0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1</a:t>
            </a:r>
            <a:endParaRPr lang="zh-TW" altLang="en-US" sz="3200" baseline="-25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855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05378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264111"/>
              </p:ext>
            </p:extLst>
          </p:nvPr>
        </p:nvGraphicFramePr>
        <p:xfrm>
          <a:off x="3927021" y="2737524"/>
          <a:ext cx="18737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6245678" y="2571750"/>
            <a:ext cx="3029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Y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S’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0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1</a:t>
            </a:r>
            <a:endParaRPr lang="zh-TW" altLang="en-US" sz="3200" baseline="-25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836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05378"/>
              </p:ext>
            </p:extLst>
          </p:nvPr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187187"/>
              </p:ext>
            </p:extLst>
          </p:nvPr>
        </p:nvGraphicFramePr>
        <p:xfrm>
          <a:off x="3927021" y="2737524"/>
          <a:ext cx="18737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6245678" y="2571750"/>
            <a:ext cx="4339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Y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0’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0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0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1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zh-TW" altLang="en-US" sz="3200" dirty="0" smtClean="0"/>
              <a:t> </a:t>
            </a:r>
            <a:r>
              <a:rPr lang="en-US" altLang="zh-TW" sz="3200" dirty="0"/>
              <a:t>I</a:t>
            </a:r>
            <a:r>
              <a:rPr lang="en-US" altLang="zh-TW" sz="3200" baseline="-25000" dirty="0"/>
              <a:t>0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	</a:t>
            </a:r>
            <a:endParaRPr lang="zh-TW" alt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994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204"/>
              </p:ext>
            </p:extLst>
          </p:nvPr>
        </p:nvGraphicFramePr>
        <p:xfrm>
          <a:off x="3927021" y="2737524"/>
          <a:ext cx="18737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6245678" y="2571750"/>
            <a:ext cx="3029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Y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S’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0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S</a:t>
            </a:r>
            <a:r>
              <a:rPr lang="en-US" altLang="zh-TW" sz="3200" dirty="0"/>
              <a:t> 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1</a:t>
            </a:r>
            <a:endParaRPr lang="zh-TW" altLang="en-US" sz="3200" baseline="-25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994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53015442-12E8-409E-A99A-4CB29B577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73" b="25858"/>
          <a:stretch/>
        </p:blipFill>
        <p:spPr bwMode="auto">
          <a:xfrm>
            <a:off x="0" y="0"/>
            <a:ext cx="3306536" cy="273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0" y="2737524"/>
          <a:ext cx="37474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3642814621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4167798640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2785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08652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681549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33971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6493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118018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927021" y="2737524"/>
          <a:ext cx="187370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52">
                  <a:extLst>
                    <a:ext uri="{9D8B030D-6E8A-4147-A177-3AD203B41FA5}">
                      <a16:colId xmlns:a16="http://schemas.microsoft.com/office/drawing/2014/main" val="730622475"/>
                    </a:ext>
                  </a:extLst>
                </a:gridCol>
                <a:gridCol w="936852">
                  <a:extLst>
                    <a:ext uri="{9D8B030D-6E8A-4147-A177-3AD203B41FA5}">
                      <a16:colId xmlns:a16="http://schemas.microsoft.com/office/drawing/2014/main" val="2029672062"/>
                    </a:ext>
                  </a:extLst>
                </a:gridCol>
              </a:tblGrid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445720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655784"/>
                  </a:ext>
                </a:extLst>
              </a:tr>
              <a:tr h="43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sz="24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140676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6245678" y="2571750"/>
            <a:ext cx="4339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latin typeface="+mj-lt"/>
              </a:rPr>
              <a:t>Y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1’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/>
              <a:t>·</a:t>
            </a:r>
            <a:r>
              <a:rPr lang="zh-TW" altLang="en-US" sz="3200" dirty="0"/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0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+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1 ·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I</a:t>
            </a:r>
            <a:r>
              <a:rPr lang="en-US" altLang="zh-TW" sz="3200" baseline="-25000" dirty="0" smtClean="0">
                <a:latin typeface="+mj-lt"/>
              </a:rPr>
              <a:t>1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en-US" altLang="zh-TW" sz="3200" dirty="0" smtClean="0">
                <a:latin typeface="+mj-lt"/>
              </a:rPr>
              <a:t>=</a:t>
            </a:r>
            <a:r>
              <a:rPr lang="zh-TW" altLang="en-US" sz="3200" dirty="0" smtClean="0">
                <a:latin typeface="+mj-lt"/>
              </a:rPr>
              <a:t> 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1</a:t>
            </a:r>
            <a:r>
              <a:rPr lang="zh-TW" altLang="en-US" sz="3200" dirty="0" smtClean="0"/>
              <a:t> </a:t>
            </a:r>
            <a:r>
              <a:rPr lang="en-US" altLang="zh-TW" sz="3200" dirty="0" smtClean="0">
                <a:latin typeface="+mj-lt"/>
              </a:rPr>
              <a:t>	</a:t>
            </a:r>
            <a:endParaRPr lang="zh-TW" alt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089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1450" y="133742"/>
            <a:ext cx="3993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TW" altLang="en-US" sz="3200" b="1" dirty="0">
                <a:solidFill>
                  <a:srgbClr val="C00000"/>
                </a:solidFill>
              </a:rPr>
              <a:t>4-</a:t>
            </a:r>
            <a:r>
              <a:rPr lang="en-US" altLang="zh-TW" sz="3200" b="1" dirty="0">
                <a:solidFill>
                  <a:srgbClr val="C00000"/>
                </a:solidFill>
              </a:rPr>
              <a:t>to-1-line multiplexer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71" r="4411" b="22164"/>
          <a:stretch/>
        </p:blipFill>
        <p:spPr bwMode="auto">
          <a:xfrm>
            <a:off x="693691" y="882196"/>
            <a:ext cx="3014943" cy="3755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3713147" y="2467367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Y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4977" y="2396943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0</a:t>
            </a:r>
            <a:endParaRPr lang="zh-TW" altLang="en-US" sz="32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29250" y="2862307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1</a:t>
            </a:r>
            <a:endParaRPr lang="zh-TW" altLang="en-US" sz="3200" baseline="-25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29250" y="3327671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29250" y="379303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3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381870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1450" y="133742"/>
            <a:ext cx="3993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TW" altLang="en-US" sz="3200" b="1" dirty="0">
                <a:solidFill>
                  <a:srgbClr val="C00000"/>
                </a:solidFill>
              </a:rPr>
              <a:t>4-</a:t>
            </a:r>
            <a:r>
              <a:rPr lang="en-US" altLang="zh-TW" sz="3200" b="1" dirty="0">
                <a:solidFill>
                  <a:srgbClr val="C00000"/>
                </a:solidFill>
              </a:rPr>
              <a:t>to-1-line multiplexer</a:t>
            </a:r>
          </a:p>
        </p:txBody>
      </p:sp>
      <p:pic>
        <p:nvPicPr>
          <p:cNvPr id="5" name="Picture 0">
            <a:extLst>
              <a:ext uri="{FF2B5EF4-FFF2-40B4-BE49-F238E27FC236}">
                <a16:creationId xmlns:a16="http://schemas.microsoft.com/office/drawing/2014/main" id="{73A7E501-CE22-44E7-B301-BC1909ABC8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87" t="60078" b="15265"/>
          <a:stretch/>
        </p:blipFill>
        <p:spPr bwMode="auto">
          <a:xfrm>
            <a:off x="5508398" y="847859"/>
            <a:ext cx="3753539" cy="382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71" r="4411" b="22164"/>
          <a:stretch/>
        </p:blipFill>
        <p:spPr bwMode="auto">
          <a:xfrm>
            <a:off x="693691" y="882196"/>
            <a:ext cx="3014943" cy="3755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3713147" y="2467367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Y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4977" y="2396943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0</a:t>
            </a:r>
            <a:endParaRPr lang="zh-TW" altLang="en-US" sz="32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29250" y="2862307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1</a:t>
            </a:r>
            <a:endParaRPr lang="zh-TW" altLang="en-US" sz="3200" baseline="-25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29250" y="3327671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29250" y="379303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3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30442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1450" y="133742"/>
            <a:ext cx="39932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zh-TW" altLang="en-US" sz="3200" b="1" dirty="0">
                <a:solidFill>
                  <a:srgbClr val="C00000"/>
                </a:solidFill>
              </a:rPr>
              <a:t>4-</a:t>
            </a:r>
            <a:r>
              <a:rPr lang="en-US" altLang="zh-TW" sz="3200" b="1" dirty="0">
                <a:solidFill>
                  <a:srgbClr val="C00000"/>
                </a:solidFill>
              </a:rPr>
              <a:t>to-1-line multiplexer</a:t>
            </a:r>
          </a:p>
        </p:txBody>
      </p:sp>
      <p:pic>
        <p:nvPicPr>
          <p:cNvPr id="5" name="Picture 0">
            <a:extLst>
              <a:ext uri="{FF2B5EF4-FFF2-40B4-BE49-F238E27FC236}">
                <a16:creationId xmlns:a16="http://schemas.microsoft.com/office/drawing/2014/main" id="{73A7E501-CE22-44E7-B301-BC1909ABC8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87" t="60078" b="15265"/>
          <a:stretch/>
        </p:blipFill>
        <p:spPr bwMode="auto">
          <a:xfrm>
            <a:off x="5508398" y="847859"/>
            <a:ext cx="3753539" cy="3823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71" r="4411" b="22164"/>
          <a:stretch/>
        </p:blipFill>
        <p:spPr bwMode="auto">
          <a:xfrm>
            <a:off x="693691" y="882196"/>
            <a:ext cx="3014943" cy="3755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3713147" y="2467367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Y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234977" y="2396943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0</a:t>
            </a:r>
            <a:endParaRPr lang="zh-TW" altLang="en-US" sz="3200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29250" y="2862307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1</a:t>
            </a:r>
            <a:endParaRPr lang="zh-TW" altLang="en-US" sz="3200" baseline="-25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29250" y="3327671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29250" y="379303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I</a:t>
            </a:r>
            <a:r>
              <a:rPr lang="en-US" altLang="zh-TW" sz="3200" baseline="-25000" dirty="0" smtClean="0"/>
              <a:t>3</a:t>
            </a:r>
            <a:endParaRPr lang="zh-TW" altLang="en-US" sz="3200" baseline="-25000" dirty="0"/>
          </a:p>
        </p:txBody>
      </p:sp>
      <p:sp>
        <p:nvSpPr>
          <p:cNvPr id="2" name="文字方塊 1"/>
          <p:cNvSpPr txBox="1"/>
          <p:nvPr/>
        </p:nvSpPr>
        <p:spPr>
          <a:xfrm>
            <a:off x="2858372" y="5372101"/>
            <a:ext cx="6734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 = 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+ 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2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+ 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3</a:t>
            </a:r>
            <a:endParaRPr lang="zh-TW" altLang="en-US" sz="32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6119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73A7E501-CE22-44E7-B301-BC1909ABC8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73" b="15395"/>
          <a:stretch/>
        </p:blipFill>
        <p:spPr bwMode="auto">
          <a:xfrm>
            <a:off x="1167493" y="0"/>
            <a:ext cx="704453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4932100" y="5159830"/>
            <a:ext cx="6734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 = 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+ 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</a:rPr>
              <a:t>+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’I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2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 + 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S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3</a:t>
            </a:r>
            <a:endParaRPr lang="zh-TW" altLang="en-US" sz="32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167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35429" y="355938"/>
            <a:ext cx="1143544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4000" b="1" dirty="0">
                <a:solidFill>
                  <a:srgbClr val="C00000"/>
                </a:solidFill>
              </a:rPr>
              <a:t>MUX: a decoder + an OR </a:t>
            </a:r>
            <a:r>
              <a:rPr lang="en-US" altLang="zh-TW" sz="4000" b="1" dirty="0" smtClean="0">
                <a:solidFill>
                  <a:srgbClr val="C00000"/>
                </a:solidFill>
              </a:rPr>
              <a:t>gate</a:t>
            </a:r>
          </a:p>
          <a:p>
            <a:pPr marL="0" lvl="1"/>
            <a:endParaRPr lang="en-US" altLang="zh-TW" sz="4000" b="1" dirty="0">
              <a:solidFill>
                <a:srgbClr val="C00000"/>
              </a:solidFill>
            </a:endParaRPr>
          </a:p>
          <a:p>
            <a:pPr marL="0" lvl="1"/>
            <a:r>
              <a:rPr lang="en-US" altLang="zh-TW" sz="3200" dirty="0"/>
              <a:t>2</a:t>
            </a:r>
            <a:r>
              <a:rPr lang="en-US" altLang="zh-TW" sz="3200" baseline="80000" dirty="0"/>
              <a:t>n</a:t>
            </a:r>
            <a:r>
              <a:rPr lang="en-US" altLang="zh-TW" sz="3200" dirty="0"/>
              <a:t>-to-1 MUX can implement any Boolean function of n input variable</a:t>
            </a:r>
          </a:p>
          <a:p>
            <a:pPr marL="0" lvl="1"/>
            <a:r>
              <a:rPr lang="en-US" altLang="zh-TW" sz="3200" dirty="0"/>
              <a:t>a better solution: implement any Boolean function of n+1 input variable</a:t>
            </a:r>
          </a:p>
          <a:p>
            <a:pPr marL="0" lvl="2"/>
            <a:r>
              <a:rPr lang="en-US" altLang="zh-TW" sz="3200" dirty="0" smtClean="0"/>
              <a:t>		n </a:t>
            </a:r>
            <a:r>
              <a:rPr lang="en-US" altLang="zh-TW" sz="3200" dirty="0"/>
              <a:t>of these variables: the selection lines</a:t>
            </a:r>
          </a:p>
          <a:p>
            <a:pPr marL="0" lvl="2"/>
            <a:r>
              <a:rPr lang="en-US" altLang="zh-TW" sz="3200" dirty="0" smtClean="0"/>
              <a:t>		the </a:t>
            </a:r>
            <a:r>
              <a:rPr lang="en-US" altLang="zh-TW" sz="3200" dirty="0"/>
              <a:t>remaining variable: the inputs</a:t>
            </a:r>
          </a:p>
        </p:txBody>
      </p:sp>
    </p:spTree>
    <p:extLst>
      <p:ext uri="{BB962C8B-B14F-4D97-AF65-F5344CB8AC3E}">
        <p14:creationId xmlns:p14="http://schemas.microsoft.com/office/powerpoint/2010/main" val="57541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42900" y="1205318"/>
            <a:ext cx="1153613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Procedure: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altLang="zh-TW" sz="3200" dirty="0"/>
              <a:t>assign an ordering sequence of the input variable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altLang="zh-TW" sz="3200" dirty="0"/>
              <a:t>the rightmost variable (D) will be used for the input lines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altLang="zh-TW" sz="3200" dirty="0"/>
              <a:t>assign the remaining n-1 variables to the selection lines w.r.t. their corresponding sequence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altLang="zh-TW" sz="3200" dirty="0"/>
              <a:t>construct the truth table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altLang="zh-TW" sz="3200" dirty="0"/>
              <a:t>consider a pair of consecutive </a:t>
            </a:r>
            <a:r>
              <a:rPr lang="en-US" altLang="zh-TW" sz="3200" dirty="0" err="1"/>
              <a:t>minterms</a:t>
            </a:r>
            <a:r>
              <a:rPr lang="en-US" altLang="zh-TW" sz="3200" dirty="0"/>
              <a:t> starting from m</a:t>
            </a:r>
            <a:r>
              <a:rPr lang="en-US" altLang="zh-TW" sz="3200" baseline="-25000" dirty="0"/>
              <a:t>0</a:t>
            </a:r>
            <a:endParaRPr lang="en-US" altLang="zh-TW" sz="3200" dirty="0"/>
          </a:p>
          <a:p>
            <a:pPr marL="971550" lvl="1" indent="-514350">
              <a:buFont typeface="+mj-lt"/>
              <a:buAutoNum type="arabicParenR"/>
            </a:pPr>
            <a:r>
              <a:rPr lang="en-US" altLang="zh-TW" sz="3200" dirty="0"/>
              <a:t>determine the input lines</a:t>
            </a:r>
          </a:p>
        </p:txBody>
      </p:sp>
    </p:spTree>
    <p:extLst>
      <p:ext uri="{BB962C8B-B14F-4D97-AF65-F5344CB8AC3E}">
        <p14:creationId xmlns:p14="http://schemas.microsoft.com/office/powerpoint/2010/main" val="207189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616630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714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214783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81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23438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93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383292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66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1978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54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312355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14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679998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34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03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345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162100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圓角矩形 2"/>
          <p:cNvSpPr/>
          <p:nvPr/>
        </p:nvSpPr>
        <p:spPr>
          <a:xfrm>
            <a:off x="367285" y="1682197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7845879" y="3600149"/>
            <a:ext cx="2726871" cy="253394"/>
          </a:xfrm>
          <a:custGeom>
            <a:avLst/>
            <a:gdLst>
              <a:gd name="connsiteX0" fmla="*/ 0 w 2726871"/>
              <a:gd name="connsiteY0" fmla="*/ 212572 h 253394"/>
              <a:gd name="connsiteX1" fmla="*/ 1249135 w 2726871"/>
              <a:gd name="connsiteY1" fmla="*/ 301 h 253394"/>
              <a:gd name="connsiteX2" fmla="*/ 2726871 w 2726871"/>
              <a:gd name="connsiteY2" fmla="*/ 253394 h 25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6871" h="253394">
                <a:moveTo>
                  <a:pt x="0" y="212572"/>
                </a:moveTo>
                <a:cubicBezTo>
                  <a:pt x="397328" y="103034"/>
                  <a:pt x="794657" y="-6503"/>
                  <a:pt x="1249135" y="301"/>
                </a:cubicBezTo>
                <a:cubicBezTo>
                  <a:pt x="1703613" y="7105"/>
                  <a:pt x="2215242" y="130249"/>
                  <a:pt x="2726871" y="253394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80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67285" y="2307096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7845879" y="3600149"/>
            <a:ext cx="2726871" cy="253394"/>
          </a:xfrm>
          <a:custGeom>
            <a:avLst/>
            <a:gdLst>
              <a:gd name="connsiteX0" fmla="*/ 0 w 2726871"/>
              <a:gd name="connsiteY0" fmla="*/ 212572 h 253394"/>
              <a:gd name="connsiteX1" fmla="*/ 1249135 w 2726871"/>
              <a:gd name="connsiteY1" fmla="*/ 301 h 253394"/>
              <a:gd name="connsiteX2" fmla="*/ 2726871 w 2726871"/>
              <a:gd name="connsiteY2" fmla="*/ 253394 h 25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6871" h="253394">
                <a:moveTo>
                  <a:pt x="0" y="212572"/>
                </a:moveTo>
                <a:cubicBezTo>
                  <a:pt x="397328" y="103034"/>
                  <a:pt x="794657" y="-6503"/>
                  <a:pt x="1249135" y="301"/>
                </a:cubicBezTo>
                <a:cubicBezTo>
                  <a:pt x="1703613" y="7105"/>
                  <a:pt x="2215242" y="130249"/>
                  <a:pt x="2726871" y="253394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27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67285" y="2947946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7829550" y="3853543"/>
            <a:ext cx="2743200" cy="626183"/>
          </a:xfrm>
          <a:custGeom>
            <a:avLst/>
            <a:gdLst>
              <a:gd name="connsiteX0" fmla="*/ 0 w 2743200"/>
              <a:gd name="connsiteY0" fmla="*/ 604157 h 626183"/>
              <a:gd name="connsiteX1" fmla="*/ 1485900 w 2743200"/>
              <a:gd name="connsiteY1" fmla="*/ 571500 h 626183"/>
              <a:gd name="connsiteX2" fmla="*/ 2294164 w 2743200"/>
              <a:gd name="connsiteY2" fmla="*/ 130628 h 626183"/>
              <a:gd name="connsiteX3" fmla="*/ 2743200 w 2743200"/>
              <a:gd name="connsiteY3" fmla="*/ 0 h 626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626183">
                <a:moveTo>
                  <a:pt x="0" y="604157"/>
                </a:moveTo>
                <a:cubicBezTo>
                  <a:pt x="551769" y="627289"/>
                  <a:pt x="1103539" y="650421"/>
                  <a:pt x="1485900" y="571500"/>
                </a:cubicBezTo>
                <a:cubicBezTo>
                  <a:pt x="1868261" y="492579"/>
                  <a:pt x="2084614" y="225878"/>
                  <a:pt x="2294164" y="130628"/>
                </a:cubicBezTo>
                <a:cubicBezTo>
                  <a:pt x="2503714" y="35378"/>
                  <a:pt x="2623457" y="17689"/>
                  <a:pt x="2743200" y="0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25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67285" y="3583407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7829550" y="3853543"/>
            <a:ext cx="2743200" cy="626183"/>
          </a:xfrm>
          <a:custGeom>
            <a:avLst/>
            <a:gdLst>
              <a:gd name="connsiteX0" fmla="*/ 0 w 2743200"/>
              <a:gd name="connsiteY0" fmla="*/ 604157 h 626183"/>
              <a:gd name="connsiteX1" fmla="*/ 1485900 w 2743200"/>
              <a:gd name="connsiteY1" fmla="*/ 571500 h 626183"/>
              <a:gd name="connsiteX2" fmla="*/ 2294164 w 2743200"/>
              <a:gd name="connsiteY2" fmla="*/ 130628 h 626183"/>
              <a:gd name="connsiteX3" fmla="*/ 2743200 w 2743200"/>
              <a:gd name="connsiteY3" fmla="*/ 0 h 626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626183">
                <a:moveTo>
                  <a:pt x="0" y="604157"/>
                </a:moveTo>
                <a:cubicBezTo>
                  <a:pt x="551769" y="627289"/>
                  <a:pt x="1103539" y="650421"/>
                  <a:pt x="1485900" y="571500"/>
                </a:cubicBezTo>
                <a:cubicBezTo>
                  <a:pt x="1868261" y="492579"/>
                  <a:pt x="2084614" y="225878"/>
                  <a:pt x="2294164" y="130628"/>
                </a:cubicBezTo>
                <a:cubicBezTo>
                  <a:pt x="2503714" y="35378"/>
                  <a:pt x="2623457" y="17689"/>
                  <a:pt x="2743200" y="0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591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67285" y="4203893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7837714" y="3860241"/>
            <a:ext cx="2718707" cy="1217945"/>
          </a:xfrm>
          <a:custGeom>
            <a:avLst/>
            <a:gdLst>
              <a:gd name="connsiteX0" fmla="*/ 0 w 2718707"/>
              <a:gd name="connsiteY0" fmla="*/ 1217945 h 1217945"/>
              <a:gd name="connsiteX1" fmla="*/ 889907 w 2718707"/>
              <a:gd name="connsiteY1" fmla="*/ 736252 h 1217945"/>
              <a:gd name="connsiteX2" fmla="*/ 1820636 w 2718707"/>
              <a:gd name="connsiteY2" fmla="*/ 115766 h 1217945"/>
              <a:gd name="connsiteX3" fmla="*/ 2718707 w 2718707"/>
              <a:gd name="connsiteY3" fmla="*/ 1466 h 121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8707" h="1217945">
                <a:moveTo>
                  <a:pt x="0" y="1217945"/>
                </a:moveTo>
                <a:cubicBezTo>
                  <a:pt x="293234" y="1068946"/>
                  <a:pt x="586468" y="919948"/>
                  <a:pt x="889907" y="736252"/>
                </a:cubicBezTo>
                <a:cubicBezTo>
                  <a:pt x="1193346" y="552556"/>
                  <a:pt x="1515836" y="238230"/>
                  <a:pt x="1820636" y="115766"/>
                </a:cubicBezTo>
                <a:cubicBezTo>
                  <a:pt x="2125436" y="-6698"/>
                  <a:pt x="2422071" y="-2616"/>
                  <a:pt x="2718707" y="1466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13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67285" y="4832543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7837714" y="3860241"/>
            <a:ext cx="2718707" cy="1217945"/>
          </a:xfrm>
          <a:custGeom>
            <a:avLst/>
            <a:gdLst>
              <a:gd name="connsiteX0" fmla="*/ 0 w 2718707"/>
              <a:gd name="connsiteY0" fmla="*/ 1217945 h 1217945"/>
              <a:gd name="connsiteX1" fmla="*/ 889907 w 2718707"/>
              <a:gd name="connsiteY1" fmla="*/ 736252 h 1217945"/>
              <a:gd name="connsiteX2" fmla="*/ 1820636 w 2718707"/>
              <a:gd name="connsiteY2" fmla="*/ 115766 h 1217945"/>
              <a:gd name="connsiteX3" fmla="*/ 2718707 w 2718707"/>
              <a:gd name="connsiteY3" fmla="*/ 1466 h 121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8707" h="1217945">
                <a:moveTo>
                  <a:pt x="0" y="1217945"/>
                </a:moveTo>
                <a:cubicBezTo>
                  <a:pt x="293234" y="1068946"/>
                  <a:pt x="586468" y="919948"/>
                  <a:pt x="889907" y="736252"/>
                </a:cubicBezTo>
                <a:cubicBezTo>
                  <a:pt x="1193346" y="552556"/>
                  <a:pt x="1515836" y="238230"/>
                  <a:pt x="1820636" y="115766"/>
                </a:cubicBezTo>
                <a:cubicBezTo>
                  <a:pt x="2125436" y="-6698"/>
                  <a:pt x="2422071" y="-2616"/>
                  <a:pt x="2718707" y="1466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55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67285" y="5453028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7821386" y="3824895"/>
            <a:ext cx="2751364" cy="1955063"/>
          </a:xfrm>
          <a:custGeom>
            <a:avLst/>
            <a:gdLst>
              <a:gd name="connsiteX0" fmla="*/ 0 w 2751364"/>
              <a:gd name="connsiteY0" fmla="*/ 1906434 h 1955063"/>
              <a:gd name="connsiteX1" fmla="*/ 865414 w 2751364"/>
              <a:gd name="connsiteY1" fmla="*/ 1743148 h 1955063"/>
              <a:gd name="connsiteX2" fmla="*/ 2139043 w 2751364"/>
              <a:gd name="connsiteY2" fmla="*/ 224591 h 1955063"/>
              <a:gd name="connsiteX3" fmla="*/ 2751364 w 2751364"/>
              <a:gd name="connsiteY3" fmla="*/ 36812 h 1955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1955063">
                <a:moveTo>
                  <a:pt x="0" y="1906434"/>
                </a:moveTo>
                <a:cubicBezTo>
                  <a:pt x="254453" y="1964944"/>
                  <a:pt x="508907" y="2023455"/>
                  <a:pt x="865414" y="1743148"/>
                </a:cubicBezTo>
                <a:cubicBezTo>
                  <a:pt x="1221921" y="1462841"/>
                  <a:pt x="1824718" y="508980"/>
                  <a:pt x="2139043" y="224591"/>
                </a:cubicBezTo>
                <a:cubicBezTo>
                  <a:pt x="2453368" y="-59798"/>
                  <a:pt x="2602366" y="-11493"/>
                  <a:pt x="2751364" y="36812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20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285" y="125577"/>
            <a:ext cx="7425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TW" sz="3600" b="1" dirty="0" smtClean="0">
                <a:solidFill>
                  <a:srgbClr val="C00000"/>
                </a:solidFill>
              </a:rPr>
              <a:t>An </a:t>
            </a:r>
            <a:r>
              <a:rPr lang="en-US" altLang="zh-TW" sz="3600" b="1" dirty="0">
                <a:solidFill>
                  <a:srgbClr val="C00000"/>
                </a:solidFill>
              </a:rPr>
              <a:t>example: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F(x, y, z) </a:t>
            </a:r>
            <a:r>
              <a:rPr lang="en-US" altLang="zh-TW" sz="3600" b="1" dirty="0">
                <a:solidFill>
                  <a:srgbClr val="C00000"/>
                </a:solidFill>
              </a:rPr>
              <a:t>= </a:t>
            </a:r>
            <a:r>
              <a:rPr lang="en-US" altLang="zh-TW" sz="3600" b="1" dirty="0">
                <a:solidFill>
                  <a:srgbClr val="C00000"/>
                </a:solidFill>
                <a:sym typeface="Symbol" panose="05050102010706020507" pitchFamily="18" charset="2"/>
              </a:rPr>
              <a:t></a:t>
            </a:r>
            <a:r>
              <a:rPr lang="en-US" altLang="zh-TW" sz="3600" b="1" dirty="0">
                <a:solidFill>
                  <a:srgbClr val="C00000"/>
                </a:solidFill>
              </a:rPr>
              <a:t>(1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6, 7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5517"/>
              </p:ext>
            </p:extLst>
          </p:nvPr>
        </p:nvGraphicFramePr>
        <p:xfrm>
          <a:off x="367285" y="1024993"/>
          <a:ext cx="5462815" cy="5677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563">
                  <a:extLst>
                    <a:ext uri="{9D8B030D-6E8A-4147-A177-3AD203B41FA5}">
                      <a16:colId xmlns:a16="http://schemas.microsoft.com/office/drawing/2014/main" val="138826257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202701089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3613770798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431791836"/>
                    </a:ext>
                  </a:extLst>
                </a:gridCol>
                <a:gridCol w="1092563">
                  <a:extLst>
                    <a:ext uri="{9D8B030D-6E8A-4147-A177-3AD203B41FA5}">
                      <a16:colId xmlns:a16="http://schemas.microsoft.com/office/drawing/2014/main" val="1274656143"/>
                    </a:ext>
                  </a:extLst>
                </a:gridCol>
              </a:tblGrid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55072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F = z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8520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47066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z’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181232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551781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0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5583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286549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3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 = 1</a:t>
                      </a:r>
                      <a:endParaRPr lang="zh-TW" altLang="en-US" sz="3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24428"/>
                  </a:ext>
                </a:extLst>
              </a:tr>
              <a:tr h="6308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71132"/>
                  </a:ext>
                </a:extLst>
              </a:tr>
            </a:tbl>
          </a:graphicData>
        </a:graphic>
      </p:graphicFrame>
      <p:pic>
        <p:nvPicPr>
          <p:cNvPr id="5" name="Picture 9">
            <a:extLst>
              <a:ext uri="{FF2B5EF4-FFF2-40B4-BE49-F238E27FC236}">
                <a16:creationId xmlns:a16="http://schemas.microsoft.com/office/drawing/2014/main" id="{8F0222B6-66F7-4262-BEA6-54B732A42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81" b="21826"/>
          <a:stretch/>
        </p:blipFill>
        <p:spPr bwMode="auto">
          <a:xfrm>
            <a:off x="6302827" y="1024993"/>
            <a:ext cx="5773143" cy="567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898821" y="1420587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898821" y="207779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898687" y="3209910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898687" y="3877322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1054308" y="3241861"/>
            <a:ext cx="37542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367285" y="6114334"/>
            <a:ext cx="4351672" cy="58782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7821386" y="3824895"/>
            <a:ext cx="2751364" cy="1955063"/>
          </a:xfrm>
          <a:custGeom>
            <a:avLst/>
            <a:gdLst>
              <a:gd name="connsiteX0" fmla="*/ 0 w 2751364"/>
              <a:gd name="connsiteY0" fmla="*/ 1906434 h 1955063"/>
              <a:gd name="connsiteX1" fmla="*/ 865414 w 2751364"/>
              <a:gd name="connsiteY1" fmla="*/ 1743148 h 1955063"/>
              <a:gd name="connsiteX2" fmla="*/ 2139043 w 2751364"/>
              <a:gd name="connsiteY2" fmla="*/ 224591 h 1955063"/>
              <a:gd name="connsiteX3" fmla="*/ 2751364 w 2751364"/>
              <a:gd name="connsiteY3" fmla="*/ 36812 h 1955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1364" h="1955063">
                <a:moveTo>
                  <a:pt x="0" y="1906434"/>
                </a:moveTo>
                <a:cubicBezTo>
                  <a:pt x="254453" y="1964944"/>
                  <a:pt x="508907" y="2023455"/>
                  <a:pt x="865414" y="1743148"/>
                </a:cubicBezTo>
                <a:cubicBezTo>
                  <a:pt x="1221921" y="1462841"/>
                  <a:pt x="1824718" y="508980"/>
                  <a:pt x="2139043" y="224591"/>
                </a:cubicBezTo>
                <a:cubicBezTo>
                  <a:pt x="2453368" y="-59798"/>
                  <a:pt x="2602366" y="-11493"/>
                  <a:pt x="2751364" y="36812"/>
                </a:cubicBezTo>
              </a:path>
            </a:pathLst>
          </a:cu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34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</p:spTree>
    <p:extLst>
      <p:ext uri="{BB962C8B-B14F-4D97-AF65-F5344CB8AC3E}">
        <p14:creationId xmlns:p14="http://schemas.microsoft.com/office/powerpoint/2010/main" val="144424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311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20" t="7758" b="19652"/>
          <a:stretch/>
        </p:blipFill>
        <p:spPr bwMode="auto">
          <a:xfrm>
            <a:off x="7854043" y="818781"/>
            <a:ext cx="3796392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025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5119007" y="2898321"/>
            <a:ext cx="3249386" cy="34126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75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69471" y="1289957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65614" y="1289957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手繪多邊形 8"/>
          <p:cNvSpPr/>
          <p:nvPr/>
        </p:nvSpPr>
        <p:spPr>
          <a:xfrm>
            <a:off x="8392886" y="3224893"/>
            <a:ext cx="2245178" cy="620486"/>
          </a:xfrm>
          <a:custGeom>
            <a:avLst/>
            <a:gdLst>
              <a:gd name="connsiteX0" fmla="*/ 0 w 2245178"/>
              <a:gd name="connsiteY0" fmla="*/ 0 h 620486"/>
              <a:gd name="connsiteX1" fmla="*/ 1012371 w 2245178"/>
              <a:gd name="connsiteY1" fmla="*/ 432707 h 620486"/>
              <a:gd name="connsiteX2" fmla="*/ 2245178 w 2245178"/>
              <a:gd name="connsiteY2" fmla="*/ 620486 h 62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45178" h="620486">
                <a:moveTo>
                  <a:pt x="0" y="0"/>
                </a:moveTo>
                <a:cubicBezTo>
                  <a:pt x="319087" y="164646"/>
                  <a:pt x="638175" y="329293"/>
                  <a:pt x="1012371" y="432707"/>
                </a:cubicBezTo>
                <a:cubicBezTo>
                  <a:pt x="1386567" y="536121"/>
                  <a:pt x="1815872" y="578303"/>
                  <a:pt x="2245178" y="620486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5388429" y="3290207"/>
            <a:ext cx="2979964" cy="29473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5119007" y="4082143"/>
            <a:ext cx="269422" cy="19022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579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28649" y="1983922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57449" y="1983922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8392886" y="3491507"/>
            <a:ext cx="2228850" cy="337543"/>
          </a:xfrm>
          <a:custGeom>
            <a:avLst/>
            <a:gdLst>
              <a:gd name="connsiteX0" fmla="*/ 0 w 2228850"/>
              <a:gd name="connsiteY0" fmla="*/ 108943 h 337543"/>
              <a:gd name="connsiteX1" fmla="*/ 947057 w 2228850"/>
              <a:gd name="connsiteY1" fmla="*/ 10972 h 337543"/>
              <a:gd name="connsiteX2" fmla="*/ 2228850 w 2228850"/>
              <a:gd name="connsiteY2" fmla="*/ 337543 h 33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8850" h="337543">
                <a:moveTo>
                  <a:pt x="0" y="108943"/>
                </a:moveTo>
                <a:cubicBezTo>
                  <a:pt x="287791" y="40907"/>
                  <a:pt x="575582" y="-27128"/>
                  <a:pt x="947057" y="10972"/>
                </a:cubicBezTo>
                <a:cubicBezTo>
                  <a:pt x="1318532" y="49072"/>
                  <a:pt x="1773691" y="193307"/>
                  <a:pt x="2228850" y="33754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119007" y="3660278"/>
            <a:ext cx="3250225" cy="29473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147707" y="3290207"/>
            <a:ext cx="269422" cy="19022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815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28649" y="2694214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65614" y="2694214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8384721" y="3829050"/>
            <a:ext cx="2253343" cy="310481"/>
          </a:xfrm>
          <a:custGeom>
            <a:avLst/>
            <a:gdLst>
              <a:gd name="connsiteX0" fmla="*/ 0 w 2253343"/>
              <a:gd name="connsiteY0" fmla="*/ 138793 h 310481"/>
              <a:gd name="connsiteX1" fmla="*/ 1126672 w 2253343"/>
              <a:gd name="connsiteY1" fmla="*/ 310243 h 310481"/>
              <a:gd name="connsiteX2" fmla="*/ 1755322 w 2253343"/>
              <a:gd name="connsiteY2" fmla="*/ 106136 h 310481"/>
              <a:gd name="connsiteX3" fmla="*/ 2253343 w 2253343"/>
              <a:gd name="connsiteY3" fmla="*/ 0 h 310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3343" h="310481">
                <a:moveTo>
                  <a:pt x="0" y="138793"/>
                </a:moveTo>
                <a:cubicBezTo>
                  <a:pt x="417059" y="227239"/>
                  <a:pt x="834118" y="315686"/>
                  <a:pt x="1126672" y="310243"/>
                </a:cubicBezTo>
                <a:cubicBezTo>
                  <a:pt x="1419226" y="304800"/>
                  <a:pt x="1567544" y="157843"/>
                  <a:pt x="1755322" y="106136"/>
                </a:cubicBezTo>
                <a:cubicBezTo>
                  <a:pt x="1943101" y="54429"/>
                  <a:pt x="2098222" y="27214"/>
                  <a:pt x="2253343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119007" y="4220936"/>
            <a:ext cx="3250225" cy="2149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155871" y="4033274"/>
            <a:ext cx="269422" cy="19022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46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36813" y="3396343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65614" y="3396343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8384721" y="3829050"/>
            <a:ext cx="2237015" cy="571500"/>
          </a:xfrm>
          <a:custGeom>
            <a:avLst/>
            <a:gdLst>
              <a:gd name="connsiteX0" fmla="*/ 0 w 2237015"/>
              <a:gd name="connsiteY0" fmla="*/ 571500 h 571500"/>
              <a:gd name="connsiteX1" fmla="*/ 898072 w 2237015"/>
              <a:gd name="connsiteY1" fmla="*/ 489857 h 571500"/>
              <a:gd name="connsiteX2" fmla="*/ 1338943 w 2237015"/>
              <a:gd name="connsiteY2" fmla="*/ 106136 h 571500"/>
              <a:gd name="connsiteX3" fmla="*/ 2237015 w 2237015"/>
              <a:gd name="connsiteY3" fmla="*/ 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7015" h="571500">
                <a:moveTo>
                  <a:pt x="0" y="571500"/>
                </a:moveTo>
                <a:cubicBezTo>
                  <a:pt x="337457" y="569459"/>
                  <a:pt x="674915" y="567418"/>
                  <a:pt x="898072" y="489857"/>
                </a:cubicBezTo>
                <a:cubicBezTo>
                  <a:pt x="1121229" y="412296"/>
                  <a:pt x="1115786" y="187779"/>
                  <a:pt x="1338943" y="106136"/>
                </a:cubicBezTo>
                <a:cubicBezTo>
                  <a:pt x="1562100" y="24493"/>
                  <a:pt x="1899557" y="12246"/>
                  <a:pt x="2237015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568043" y="4465864"/>
            <a:ext cx="2801189" cy="1904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 rot="5400000">
            <a:off x="5951763" y="4601914"/>
            <a:ext cx="269422" cy="19022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68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44978" y="4090308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65614" y="4090308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8392886" y="3827236"/>
            <a:ext cx="2237014" cy="932543"/>
          </a:xfrm>
          <a:custGeom>
            <a:avLst/>
            <a:gdLst>
              <a:gd name="connsiteX0" fmla="*/ 0 w 2237014"/>
              <a:gd name="connsiteY0" fmla="*/ 932543 h 932543"/>
              <a:gd name="connsiteX1" fmla="*/ 1077685 w 2237014"/>
              <a:gd name="connsiteY1" fmla="*/ 728435 h 932543"/>
              <a:gd name="connsiteX2" fmla="*/ 1779814 w 2237014"/>
              <a:gd name="connsiteY2" fmla="*/ 99785 h 932543"/>
              <a:gd name="connsiteX3" fmla="*/ 2237014 w 2237014"/>
              <a:gd name="connsiteY3" fmla="*/ 9978 h 932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7014" h="932543">
                <a:moveTo>
                  <a:pt x="0" y="932543"/>
                </a:moveTo>
                <a:cubicBezTo>
                  <a:pt x="390524" y="899885"/>
                  <a:pt x="781049" y="867228"/>
                  <a:pt x="1077685" y="728435"/>
                </a:cubicBezTo>
                <a:cubicBezTo>
                  <a:pt x="1374321" y="589642"/>
                  <a:pt x="1586593" y="219528"/>
                  <a:pt x="1779814" y="99785"/>
                </a:cubicBezTo>
                <a:cubicBezTo>
                  <a:pt x="1973036" y="-19958"/>
                  <a:pt x="2105025" y="-4990"/>
                  <a:pt x="2237014" y="9978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119007" y="4953043"/>
            <a:ext cx="3241223" cy="1382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 rot="10800000">
            <a:off x="6057899" y="4425044"/>
            <a:ext cx="269422" cy="19022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53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28649" y="4784273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49285" y="4784273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8384721" y="3830675"/>
            <a:ext cx="2253343" cy="1311199"/>
          </a:xfrm>
          <a:custGeom>
            <a:avLst/>
            <a:gdLst>
              <a:gd name="connsiteX0" fmla="*/ 0 w 2253343"/>
              <a:gd name="connsiteY0" fmla="*/ 1304661 h 1311199"/>
              <a:gd name="connsiteX1" fmla="*/ 653143 w 2253343"/>
              <a:gd name="connsiteY1" fmla="*/ 1141375 h 1311199"/>
              <a:gd name="connsiteX2" fmla="*/ 1812472 w 2253343"/>
              <a:gd name="connsiteY2" fmla="*/ 169825 h 1311199"/>
              <a:gd name="connsiteX3" fmla="*/ 2253343 w 2253343"/>
              <a:gd name="connsiteY3" fmla="*/ 6539 h 131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3343" h="1311199">
                <a:moveTo>
                  <a:pt x="0" y="1304661"/>
                </a:moveTo>
                <a:cubicBezTo>
                  <a:pt x="175532" y="1317587"/>
                  <a:pt x="351064" y="1330514"/>
                  <a:pt x="653143" y="1141375"/>
                </a:cubicBezTo>
                <a:cubicBezTo>
                  <a:pt x="955222" y="952236"/>
                  <a:pt x="1545772" y="358964"/>
                  <a:pt x="1812472" y="169825"/>
                </a:cubicBezTo>
                <a:cubicBezTo>
                  <a:pt x="2079172" y="-19314"/>
                  <a:pt x="2166257" y="-6388"/>
                  <a:pt x="2253343" y="6539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119007" y="5347609"/>
            <a:ext cx="3241223" cy="987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16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20485" y="5478237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65614" y="5478237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8392886" y="3818412"/>
            <a:ext cx="2245178" cy="1755315"/>
          </a:xfrm>
          <a:custGeom>
            <a:avLst/>
            <a:gdLst>
              <a:gd name="connsiteX0" fmla="*/ 0 w 2245178"/>
              <a:gd name="connsiteY0" fmla="*/ 1749631 h 1755315"/>
              <a:gd name="connsiteX1" fmla="*/ 889907 w 2245178"/>
              <a:gd name="connsiteY1" fmla="*/ 1521031 h 1755315"/>
              <a:gd name="connsiteX2" fmla="*/ 1624693 w 2245178"/>
              <a:gd name="connsiteY2" fmla="*/ 222909 h 1755315"/>
              <a:gd name="connsiteX3" fmla="*/ 2245178 w 2245178"/>
              <a:gd name="connsiteY3" fmla="*/ 10638 h 1755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5178" h="1755315">
                <a:moveTo>
                  <a:pt x="0" y="1749631"/>
                </a:moveTo>
                <a:cubicBezTo>
                  <a:pt x="309562" y="1762558"/>
                  <a:pt x="619125" y="1775485"/>
                  <a:pt x="889907" y="1521031"/>
                </a:cubicBezTo>
                <a:cubicBezTo>
                  <a:pt x="1160689" y="1266577"/>
                  <a:pt x="1398815" y="474641"/>
                  <a:pt x="1624693" y="222909"/>
                </a:cubicBezTo>
                <a:cubicBezTo>
                  <a:pt x="1850571" y="-28823"/>
                  <a:pt x="2047874" y="-9093"/>
                  <a:pt x="2245178" y="10638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119007" y="5759905"/>
            <a:ext cx="3241223" cy="987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7543801" y="5622711"/>
            <a:ext cx="187778" cy="186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59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5303" y="109248"/>
            <a:ext cx="10467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b="1" dirty="0">
                <a:solidFill>
                  <a:srgbClr val="C00000"/>
                </a:solidFill>
                <a:latin typeface="+mj-lt"/>
              </a:rPr>
              <a:t>Example: F(A, B, C, D) = </a:t>
            </a:r>
            <a:r>
              <a:rPr lang="en-US" altLang="zh-TW" sz="3600" b="1" dirty="0">
                <a:solidFill>
                  <a:srgbClr val="C00000"/>
                </a:solidFill>
                <a:latin typeface="+mj-lt"/>
                <a:sym typeface="Symbol" panose="05050102010706020507" pitchFamily="18" charset="2"/>
              </a:rPr>
              <a:t>(1, 3, 4, 11, 12, 13, 14, 15)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94" b="12198"/>
          <a:stretch/>
        </p:blipFill>
        <p:spPr bwMode="auto">
          <a:xfrm>
            <a:off x="262165" y="755579"/>
            <a:ext cx="3321956" cy="613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圓角矩形 5"/>
          <p:cNvSpPr/>
          <p:nvPr/>
        </p:nvSpPr>
        <p:spPr>
          <a:xfrm>
            <a:off x="620485" y="6172202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2465614" y="6172202"/>
            <a:ext cx="1118507" cy="5633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7A627F0-E2D5-409A-9BED-ABEACF40E8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85" t="7758" b="19652"/>
          <a:stretch/>
        </p:blipFill>
        <p:spPr bwMode="auto">
          <a:xfrm>
            <a:off x="5119007" y="818781"/>
            <a:ext cx="6531428" cy="603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8401050" y="3834237"/>
            <a:ext cx="2220686" cy="2126024"/>
          </a:xfrm>
          <a:custGeom>
            <a:avLst/>
            <a:gdLst>
              <a:gd name="connsiteX0" fmla="*/ 0 w 2220686"/>
              <a:gd name="connsiteY0" fmla="*/ 2125692 h 2126024"/>
              <a:gd name="connsiteX1" fmla="*/ 906236 w 2220686"/>
              <a:gd name="connsiteY1" fmla="*/ 1823613 h 2126024"/>
              <a:gd name="connsiteX2" fmla="*/ 1559379 w 2220686"/>
              <a:gd name="connsiteY2" fmla="*/ 288727 h 2126024"/>
              <a:gd name="connsiteX3" fmla="*/ 2220686 w 2220686"/>
              <a:gd name="connsiteY3" fmla="*/ 2977 h 212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0686" h="2126024">
                <a:moveTo>
                  <a:pt x="0" y="2125692"/>
                </a:moveTo>
                <a:cubicBezTo>
                  <a:pt x="323170" y="2127733"/>
                  <a:pt x="646340" y="2129774"/>
                  <a:pt x="906236" y="1823613"/>
                </a:cubicBezTo>
                <a:cubicBezTo>
                  <a:pt x="1166132" y="1517452"/>
                  <a:pt x="1340304" y="592166"/>
                  <a:pt x="1559379" y="288727"/>
                </a:cubicBezTo>
                <a:cubicBezTo>
                  <a:pt x="1778454" y="-14712"/>
                  <a:pt x="1999570" y="-5868"/>
                  <a:pt x="2220686" y="2977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59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2963" y="342900"/>
            <a:ext cx="1125582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A multiplexer can be constructed with </a:t>
            </a:r>
            <a:r>
              <a:rPr lang="en-US" altLang="zh-TW" sz="3200" b="1" dirty="0">
                <a:solidFill>
                  <a:srgbClr val="C00000"/>
                </a:solidFill>
              </a:rPr>
              <a:t>three-state gates</a:t>
            </a:r>
          </a:p>
          <a:p>
            <a:pPr lvl="1"/>
            <a:r>
              <a:rPr lang="en-US" altLang="zh-TW" sz="3200" dirty="0"/>
              <a:t>Output state: 0, 1, and high-impedance (open </a:t>
            </a:r>
            <a:r>
              <a:rPr lang="en-US" altLang="zh-TW" sz="3200" dirty="0" smtClean="0"/>
              <a:t>circuits</a:t>
            </a:r>
            <a:r>
              <a:rPr lang="en-US" altLang="zh-TW" sz="3200" dirty="0"/>
              <a:t>)</a:t>
            </a:r>
            <a:endParaRPr lang="en-US" altLang="zh-TW" sz="3200" dirty="0"/>
          </a:p>
        </p:txBody>
      </p:sp>
      <p:pic>
        <p:nvPicPr>
          <p:cNvPr id="5" name="Picture 0">
            <a:extLst>
              <a:ext uri="{FF2B5EF4-FFF2-40B4-BE49-F238E27FC236}">
                <a16:creationId xmlns:a16="http://schemas.microsoft.com/office/drawing/2014/main" id="{3B19F082-2A06-488A-9A43-B344661505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6" b="37518"/>
          <a:stretch/>
        </p:blipFill>
        <p:spPr bwMode="auto">
          <a:xfrm>
            <a:off x="659182" y="2732315"/>
            <a:ext cx="10563390" cy="2109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92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53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59678" y="250643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59678" y="48982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01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59678" y="250643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59678" y="48982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971591" y="4260992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C00000"/>
                </a:solidFill>
              </a:rPr>
              <a:t>X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132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59678" y="250643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59678" y="48982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971591" y="4260992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C00000"/>
                </a:solidFill>
              </a:rPr>
              <a:t>X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9478737" y="1990147"/>
            <a:ext cx="11977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A</a:t>
            </a:r>
            <a:endParaRPr lang="zh-TW" altLang="en-US" sz="32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023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59678" y="250643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59678" y="48982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28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59678" y="250643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59678" y="48982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971591" y="1860692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C00000"/>
                </a:solidFill>
              </a:rPr>
              <a:t>X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86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29" r="60681" b="20063"/>
          <a:stretch/>
        </p:blipFill>
        <p:spPr bwMode="auto">
          <a:xfrm>
            <a:off x="2651127" y="1796142"/>
            <a:ext cx="6827610" cy="4162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22514" y="515982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59678" y="2506436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59678" y="48982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9478737" y="1990147"/>
            <a:ext cx="1133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B</a:t>
            </a:r>
            <a:endParaRPr lang="zh-TW" altLang="en-US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971591" y="1860692"/>
            <a:ext cx="5757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b="1" dirty="0" smtClean="0">
                <a:solidFill>
                  <a:srgbClr val="C00000"/>
                </a:solidFill>
              </a:rPr>
              <a:t>X</a:t>
            </a:r>
            <a:endParaRPr lang="zh-TW" alt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2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48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53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61874" y="11118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61874" y="219771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61874" y="30349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3629" y="40554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771570" y="705238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570" y="1741059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771570" y="2686078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771570" y="3732277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6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61874" y="11118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61874" y="219771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61874" y="30349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3629" y="40554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771570" y="705238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570" y="1741059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771570" y="2686078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771570" y="3732277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934613" y="1202450"/>
            <a:ext cx="297870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endParaRPr lang="en-US" altLang="zh-TW" sz="3200" b="1" dirty="0" smtClean="0">
              <a:solidFill>
                <a:srgbClr val="C00000"/>
              </a:solidFill>
              <a:latin typeface="+mj-lt"/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High-Impedance</a:t>
            </a:r>
            <a:endParaRPr lang="zh-TW" altLang="en-US" sz="3200" b="1" baseline="-25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315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61874" y="11118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61874" y="219771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61874" y="30349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3629" y="40554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570" y="1741059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771570" y="2686078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771570" y="3732277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725654" y="468318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30228" y="5101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07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61874" y="11118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61874" y="219771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61874" y="30349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3629" y="40554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570" y="1741059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771570" y="2686078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771570" y="3732277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725654" y="468318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30228" y="5101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9699171" y="708355"/>
            <a:ext cx="1168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0</a:t>
            </a:r>
            <a:endParaRPr lang="zh-TW" altLang="en-US" sz="3200" b="1" baseline="-25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9054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61874" y="11118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61874" y="219771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61874" y="30349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3629" y="40554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570" y="677576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771570" y="2686078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771570" y="3732277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725654" y="468318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30228" y="5101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9699171" y="708355"/>
            <a:ext cx="1168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1</a:t>
            </a:r>
            <a:endParaRPr lang="zh-TW" altLang="en-US" sz="3200" b="1" baseline="-25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886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61874" y="11118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61874" y="219771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61874" y="30349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3629" y="40554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570" y="677576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771570" y="1737942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771570" y="3732277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725654" y="468318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30228" y="5101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9699171" y="708355"/>
            <a:ext cx="1168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2</a:t>
            </a:r>
            <a:endParaRPr lang="zh-TW" altLang="en-US" sz="3200" b="1" baseline="-25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241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6A784BC-BF25-465E-BEE7-D4D371A7A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9" b="17112"/>
          <a:stretch/>
        </p:blipFill>
        <p:spPr bwMode="auto">
          <a:xfrm>
            <a:off x="2898321" y="811213"/>
            <a:ext cx="6800850" cy="5755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310243" y="122464"/>
            <a:ext cx="3612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4-to-1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734802" y="552057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8061874" y="11118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061874" y="219771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061874" y="30349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073629" y="40554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771570" y="677576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771570" y="1737942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767063" y="2732120"/>
            <a:ext cx="478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725654" y="468318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30228" y="510188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9699171" y="708355"/>
            <a:ext cx="1168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Y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</a:rPr>
              <a:t>I</a:t>
            </a:r>
            <a:r>
              <a:rPr lang="en-US" altLang="zh-TW" sz="3200" b="1" baseline="-25000" dirty="0" smtClean="0">
                <a:solidFill>
                  <a:srgbClr val="C00000"/>
                </a:solidFill>
                <a:latin typeface="+mj-lt"/>
              </a:rPr>
              <a:t>3</a:t>
            </a:r>
            <a:endParaRPr lang="zh-TW" altLang="en-US" sz="3200" b="1" baseline="-25000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750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0">
            <a:extLst>
              <a:ext uri="{FF2B5EF4-FFF2-40B4-BE49-F238E27FC236}">
                <a16:creationId xmlns:a16="http://schemas.microsoft.com/office/drawing/2014/main" id="{CEEE21BB-7830-4710-9298-55BDB7FED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4407354" y="0"/>
            <a:ext cx="6214381" cy="687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18"/>
          <p:cNvSpPr txBox="1"/>
          <p:nvPr/>
        </p:nvSpPr>
        <p:spPr>
          <a:xfrm>
            <a:off x="310243" y="122464"/>
            <a:ext cx="3612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Quadruple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772150" y="6433457"/>
            <a:ext cx="432708" cy="293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/>
          <p:nvPr/>
        </p:nvCxnSpPr>
        <p:spPr>
          <a:xfrm flipV="1">
            <a:off x="5698671" y="6572249"/>
            <a:ext cx="522515" cy="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050312"/>
              </p:ext>
            </p:extLst>
          </p:nvPr>
        </p:nvGraphicFramePr>
        <p:xfrm>
          <a:off x="782864" y="2834216"/>
          <a:ext cx="295638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460">
                  <a:extLst>
                    <a:ext uri="{9D8B030D-6E8A-4147-A177-3AD203B41FA5}">
                      <a16:colId xmlns:a16="http://schemas.microsoft.com/office/drawing/2014/main" val="120867140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4014665571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2144956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42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4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5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97532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8956221" y="3518807"/>
            <a:ext cx="1665514" cy="1485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729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0">
            <a:extLst>
              <a:ext uri="{FF2B5EF4-FFF2-40B4-BE49-F238E27FC236}">
                <a16:creationId xmlns:a16="http://schemas.microsoft.com/office/drawing/2014/main" id="{CEEE21BB-7830-4710-9298-55BDB7FED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4407354" y="0"/>
            <a:ext cx="6214381" cy="687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18"/>
          <p:cNvSpPr txBox="1"/>
          <p:nvPr/>
        </p:nvSpPr>
        <p:spPr>
          <a:xfrm>
            <a:off x="310243" y="122464"/>
            <a:ext cx="3612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Quadruple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614773"/>
              </p:ext>
            </p:extLst>
          </p:nvPr>
        </p:nvGraphicFramePr>
        <p:xfrm>
          <a:off x="782864" y="2834216"/>
          <a:ext cx="295638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460">
                  <a:extLst>
                    <a:ext uri="{9D8B030D-6E8A-4147-A177-3AD203B41FA5}">
                      <a16:colId xmlns:a16="http://schemas.microsoft.com/office/drawing/2014/main" val="120867140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4014665571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2144956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42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4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5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97532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772150" y="6433457"/>
            <a:ext cx="432708" cy="293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/>
          <p:cNvCxnSpPr/>
          <p:nvPr/>
        </p:nvCxnSpPr>
        <p:spPr>
          <a:xfrm flipV="1">
            <a:off x="5698671" y="6572249"/>
            <a:ext cx="522515" cy="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8956221" y="3518807"/>
            <a:ext cx="1665514" cy="1485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31930" y="631063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83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0">
            <a:extLst>
              <a:ext uri="{FF2B5EF4-FFF2-40B4-BE49-F238E27FC236}">
                <a16:creationId xmlns:a16="http://schemas.microsoft.com/office/drawing/2014/main" id="{CEEE21BB-7830-4710-9298-55BDB7FED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4407354" y="0"/>
            <a:ext cx="6214381" cy="687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18"/>
          <p:cNvSpPr txBox="1"/>
          <p:nvPr/>
        </p:nvSpPr>
        <p:spPr>
          <a:xfrm>
            <a:off x="310243" y="122464"/>
            <a:ext cx="3612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Quadruple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614773"/>
              </p:ext>
            </p:extLst>
          </p:nvPr>
        </p:nvGraphicFramePr>
        <p:xfrm>
          <a:off x="782864" y="2834216"/>
          <a:ext cx="295638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460">
                  <a:extLst>
                    <a:ext uri="{9D8B030D-6E8A-4147-A177-3AD203B41FA5}">
                      <a16:colId xmlns:a16="http://schemas.microsoft.com/office/drawing/2014/main" val="120867140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4014665571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2144956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42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4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5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97532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772150" y="6433457"/>
            <a:ext cx="432708" cy="293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/>
          <p:cNvCxnSpPr/>
          <p:nvPr/>
        </p:nvCxnSpPr>
        <p:spPr>
          <a:xfrm flipV="1">
            <a:off x="5698671" y="6572249"/>
            <a:ext cx="522515" cy="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8956221" y="3518807"/>
            <a:ext cx="1665514" cy="1485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099221" y="12246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0099221" y="76744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0099221" y="1412420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0099221" y="205739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031930" y="631063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94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0">
            <a:extLst>
              <a:ext uri="{FF2B5EF4-FFF2-40B4-BE49-F238E27FC236}">
                <a16:creationId xmlns:a16="http://schemas.microsoft.com/office/drawing/2014/main" id="{CEEE21BB-7830-4710-9298-55BDB7FED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4407354" y="0"/>
            <a:ext cx="6214381" cy="687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18"/>
          <p:cNvSpPr txBox="1"/>
          <p:nvPr/>
        </p:nvSpPr>
        <p:spPr>
          <a:xfrm>
            <a:off x="310243" y="122464"/>
            <a:ext cx="3612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Quadruple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72150" y="6433457"/>
            <a:ext cx="432708" cy="293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/>
          <p:cNvCxnSpPr/>
          <p:nvPr/>
        </p:nvCxnSpPr>
        <p:spPr>
          <a:xfrm flipV="1">
            <a:off x="5698671" y="6572249"/>
            <a:ext cx="522515" cy="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8956221" y="3518807"/>
            <a:ext cx="1665514" cy="1485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2193"/>
              </p:ext>
            </p:extLst>
          </p:nvPr>
        </p:nvGraphicFramePr>
        <p:xfrm>
          <a:off x="782864" y="2834216"/>
          <a:ext cx="295638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460">
                  <a:extLst>
                    <a:ext uri="{9D8B030D-6E8A-4147-A177-3AD203B41FA5}">
                      <a16:colId xmlns:a16="http://schemas.microsoft.com/office/drawing/2014/main" val="120867140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4014665571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2144956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42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4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5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97532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494564" y="0"/>
            <a:ext cx="2130879" cy="24819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678261" y="24819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140225" y="589390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27937" y="3127041"/>
            <a:ext cx="2130879" cy="24819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0507693" y="738018"/>
            <a:ext cx="11977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A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031930" y="634933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031930" y="572884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79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0">
            <a:extLst>
              <a:ext uri="{FF2B5EF4-FFF2-40B4-BE49-F238E27FC236}">
                <a16:creationId xmlns:a16="http://schemas.microsoft.com/office/drawing/2014/main" id="{CEEE21BB-7830-4710-9298-55BDB7FED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4407354" y="0"/>
            <a:ext cx="6214381" cy="687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18"/>
          <p:cNvSpPr txBox="1"/>
          <p:nvPr/>
        </p:nvSpPr>
        <p:spPr>
          <a:xfrm>
            <a:off x="310243" y="122464"/>
            <a:ext cx="36122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Quadruple</a:t>
            </a:r>
          </a:p>
          <a:p>
            <a:r>
              <a:rPr lang="en-US" altLang="zh-TW" sz="3600" b="1" dirty="0" smtClean="0">
                <a:solidFill>
                  <a:srgbClr val="C00000"/>
                </a:solidFill>
              </a:rPr>
              <a:t>2-to-1 Multiplexer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72150" y="6433457"/>
            <a:ext cx="432708" cy="293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/>
          <p:cNvCxnSpPr/>
          <p:nvPr/>
        </p:nvCxnSpPr>
        <p:spPr>
          <a:xfrm flipV="1">
            <a:off x="5698671" y="6572249"/>
            <a:ext cx="522515" cy="1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8956221" y="3518807"/>
            <a:ext cx="1665514" cy="1485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494564" y="0"/>
            <a:ext cx="2130879" cy="24819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678261" y="248194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327937" y="3127041"/>
            <a:ext cx="2130879" cy="248194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0507693" y="738018"/>
            <a:ext cx="1133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Y = B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892422"/>
              </p:ext>
            </p:extLst>
          </p:nvPr>
        </p:nvGraphicFramePr>
        <p:xfrm>
          <a:off x="782864" y="2834216"/>
          <a:ext cx="295638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460">
                  <a:extLst>
                    <a:ext uri="{9D8B030D-6E8A-4147-A177-3AD203B41FA5}">
                      <a16:colId xmlns:a16="http://schemas.microsoft.com/office/drawing/2014/main" val="120867140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4014665571"/>
                    </a:ext>
                  </a:extLst>
                </a:gridCol>
                <a:gridCol w="985460">
                  <a:extLst>
                    <a:ext uri="{9D8B030D-6E8A-4147-A177-3AD203B41FA5}">
                      <a16:colId xmlns:a16="http://schemas.microsoft.com/office/drawing/2014/main" val="2144956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42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24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5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97532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4031930" y="573023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031930" y="6349334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140225" y="5893908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40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282</TotalTime>
  <Words>4541</Words>
  <Application>Microsoft Office PowerPoint</Application>
  <PresentationFormat>寬螢幕</PresentationFormat>
  <Paragraphs>3170</Paragraphs>
  <Slides>130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130</vt:i4>
      </vt:variant>
    </vt:vector>
  </HeadingPairs>
  <TitlesOfParts>
    <vt:vector size="136" baseType="lpstr">
      <vt:lpstr>微軟正黑體</vt:lpstr>
      <vt:lpstr>新細明體</vt:lpstr>
      <vt:lpstr>Arial</vt:lpstr>
      <vt:lpstr>Symbol</vt:lpstr>
      <vt:lpstr>Tw Cen MT</vt:lpstr>
      <vt:lpstr>小水滴</vt:lpstr>
      <vt:lpstr>TOPIC 5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TOPIC 6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41</cp:revision>
  <dcterms:created xsi:type="dcterms:W3CDTF">2021-12-08T23:00:21Z</dcterms:created>
  <dcterms:modified xsi:type="dcterms:W3CDTF">2021-12-09T23:55:20Z</dcterms:modified>
</cp:coreProperties>
</file>