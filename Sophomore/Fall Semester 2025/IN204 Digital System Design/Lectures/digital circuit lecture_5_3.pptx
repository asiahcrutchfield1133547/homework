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326" r:id="rId3"/>
    <p:sldId id="256" r:id="rId4"/>
    <p:sldId id="260" r:id="rId5"/>
    <p:sldId id="331" r:id="rId6"/>
    <p:sldId id="327" r:id="rId7"/>
    <p:sldId id="259" r:id="rId8"/>
    <p:sldId id="328" r:id="rId9"/>
    <p:sldId id="261" r:id="rId10"/>
    <p:sldId id="263" r:id="rId11"/>
    <p:sldId id="262" r:id="rId12"/>
    <p:sldId id="264" r:id="rId13"/>
    <p:sldId id="332" r:id="rId14"/>
    <p:sldId id="329" r:id="rId15"/>
    <p:sldId id="265" r:id="rId16"/>
    <p:sldId id="330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58" r:id="rId27"/>
    <p:sldId id="278" r:id="rId28"/>
    <p:sldId id="277" r:id="rId29"/>
    <p:sldId id="275" r:id="rId30"/>
    <p:sldId id="276" r:id="rId31"/>
    <p:sldId id="282" r:id="rId32"/>
    <p:sldId id="284" r:id="rId33"/>
    <p:sldId id="283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8" r:id="rId45"/>
    <p:sldId id="296" r:id="rId46"/>
    <p:sldId id="300" r:id="rId47"/>
    <p:sldId id="299" r:id="rId48"/>
    <p:sldId id="301" r:id="rId49"/>
    <p:sldId id="333" r:id="rId50"/>
    <p:sldId id="302" r:id="rId51"/>
    <p:sldId id="303" r:id="rId52"/>
    <p:sldId id="304" r:id="rId53"/>
    <p:sldId id="305" r:id="rId54"/>
    <p:sldId id="306" r:id="rId55"/>
    <p:sldId id="307" r:id="rId56"/>
    <p:sldId id="334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5" r:id="rId72"/>
    <p:sldId id="324" r:id="rId7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12/16/2021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12/16/2021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12/16/2021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12/16/2021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12/16/2021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>
          <a:xfrm>
            <a:off x="0" y="2116476"/>
            <a:ext cx="12192000" cy="1385297"/>
          </a:xfrm>
          <a:solidFill>
            <a:srgbClr val="0000FF"/>
          </a:solidFill>
        </p:spPr>
        <p:txBody>
          <a:bodyPr anchor="ctr">
            <a:normAutofit/>
          </a:bodyPr>
          <a:lstStyle/>
          <a:p>
            <a:r>
              <a:rPr lang="en-US" altLang="zh-TW" sz="7200" b="1" dirty="0" smtClean="0">
                <a:solidFill>
                  <a:schemeClr val="bg1"/>
                </a:solidFill>
              </a:rPr>
              <a:t>TOPIC </a:t>
            </a:r>
            <a:r>
              <a:rPr lang="en-US" altLang="zh-TW" sz="7200" b="1" dirty="0" smtClean="0">
                <a:solidFill>
                  <a:schemeClr val="bg1"/>
                </a:solidFill>
              </a:rPr>
              <a:t>7</a:t>
            </a:r>
            <a:endParaRPr lang="zh-TW" altLang="en-US" sz="72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0" y="3608296"/>
            <a:ext cx="12192000" cy="963704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400" b="1" dirty="0" smtClean="0">
                <a:solidFill>
                  <a:schemeClr val="bg1"/>
                </a:solidFill>
              </a:rPr>
              <a:t>Encoder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6905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516697" y="2147581"/>
            <a:ext cx="1409351" cy="27515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4-to-2 Encoder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6" name="直線接點 5"/>
          <p:cNvCxnSpPr/>
          <p:nvPr/>
        </p:nvCxnSpPr>
        <p:spPr>
          <a:xfrm>
            <a:off x="2080470" y="2357306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2080470" y="3119106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2080470" y="3880906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2080470" y="4642706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3926048" y="30941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3926048" y="3880906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1596042" y="2077802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1596042" y="286230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1569808" y="3624106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1604201" y="4411873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4404450" y="365007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4411413" y="2825116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59610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516697" y="2147581"/>
            <a:ext cx="1409351" cy="27515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4-to-2 Encoder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6" name="直線接點 5"/>
          <p:cNvCxnSpPr/>
          <p:nvPr/>
        </p:nvCxnSpPr>
        <p:spPr>
          <a:xfrm>
            <a:off x="2080470" y="2357306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2080470" y="3119106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2080470" y="3880906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2080470" y="4642706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3926048" y="30941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3926048" y="3880906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1596042" y="2077802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1596042" y="286230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1569808" y="3624106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1604201" y="4411873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4404450" y="365007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4411413" y="2825116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8453204"/>
              </p:ext>
            </p:extLst>
          </p:nvPr>
        </p:nvGraphicFramePr>
        <p:xfrm>
          <a:off x="5947795" y="2104265"/>
          <a:ext cx="4855362" cy="2838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227">
                  <a:extLst>
                    <a:ext uri="{9D8B030D-6E8A-4147-A177-3AD203B41FA5}">
                      <a16:colId xmlns:a16="http://schemas.microsoft.com/office/drawing/2014/main" val="1790005131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917817357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2728926950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2913704751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1609159334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3572416527"/>
                    </a:ext>
                  </a:extLst>
                </a:gridCol>
              </a:tblGrid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0083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560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7984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6768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72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4284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83141" y="218113"/>
            <a:ext cx="1409351" cy="27515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4-to-2 Encoder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6" name="直線接點 5"/>
          <p:cNvCxnSpPr/>
          <p:nvPr/>
        </p:nvCxnSpPr>
        <p:spPr>
          <a:xfrm>
            <a:off x="2046914" y="4278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2046914" y="11896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2046914" y="19514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2046914" y="27132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3892492" y="1164670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3892492" y="19514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1562486" y="148334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1562486" y="932840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1536252" y="169463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1570645" y="2482405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4370894" y="172060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4377857" y="89564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7737625"/>
              </p:ext>
            </p:extLst>
          </p:nvPr>
        </p:nvGraphicFramePr>
        <p:xfrm>
          <a:off x="751746" y="3400106"/>
          <a:ext cx="4855362" cy="2838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227">
                  <a:extLst>
                    <a:ext uri="{9D8B030D-6E8A-4147-A177-3AD203B41FA5}">
                      <a16:colId xmlns:a16="http://schemas.microsoft.com/office/drawing/2014/main" val="1790005131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917817357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2728926950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2913704751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1609159334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3572416527"/>
                    </a:ext>
                  </a:extLst>
                </a:gridCol>
              </a:tblGrid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0083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560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7984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6768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7291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066038"/>
              </p:ext>
            </p:extLst>
          </p:nvPr>
        </p:nvGraphicFramePr>
        <p:xfrm>
          <a:off x="7016459" y="1204185"/>
          <a:ext cx="3240255" cy="301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51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603621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6572317" y="1365330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7012501" y="785691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  <p:sp>
        <p:nvSpPr>
          <p:cNvPr id="3" name="文字方塊 2"/>
          <p:cNvSpPr txBox="1"/>
          <p:nvPr/>
        </p:nvSpPr>
        <p:spPr>
          <a:xfrm>
            <a:off x="7094066" y="4804384"/>
            <a:ext cx="9124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x = 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291688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83141" y="218113"/>
            <a:ext cx="1409351" cy="27515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4-to-2 Encoder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6" name="直線接點 5"/>
          <p:cNvCxnSpPr/>
          <p:nvPr/>
        </p:nvCxnSpPr>
        <p:spPr>
          <a:xfrm>
            <a:off x="2046914" y="4278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2046914" y="11896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2046914" y="19514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2046914" y="27132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3892492" y="1164670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3892492" y="19514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1562486" y="148334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1562486" y="932840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1536252" y="169463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1570645" y="2482405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4370894" y="172060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4377857" y="89564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997563"/>
              </p:ext>
            </p:extLst>
          </p:nvPr>
        </p:nvGraphicFramePr>
        <p:xfrm>
          <a:off x="751746" y="3400106"/>
          <a:ext cx="4855362" cy="2838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227">
                  <a:extLst>
                    <a:ext uri="{9D8B030D-6E8A-4147-A177-3AD203B41FA5}">
                      <a16:colId xmlns:a16="http://schemas.microsoft.com/office/drawing/2014/main" val="1790005131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917817357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2728926950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2913704751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1609159334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3572416527"/>
                    </a:ext>
                  </a:extLst>
                </a:gridCol>
              </a:tblGrid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0083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560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7984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6768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7291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529497"/>
              </p:ext>
            </p:extLst>
          </p:nvPr>
        </p:nvGraphicFramePr>
        <p:xfrm>
          <a:off x="7016459" y="1204185"/>
          <a:ext cx="3240255" cy="301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51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603621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6572317" y="1365330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7012501" y="785691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  <p:sp>
        <p:nvSpPr>
          <p:cNvPr id="3" name="文字方塊 2"/>
          <p:cNvSpPr txBox="1"/>
          <p:nvPr/>
        </p:nvSpPr>
        <p:spPr>
          <a:xfrm>
            <a:off x="7094066" y="4804384"/>
            <a:ext cx="9124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x = 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234351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83141" y="218113"/>
            <a:ext cx="1409351" cy="27515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4-to-2 Encoder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6" name="直線接點 5"/>
          <p:cNvCxnSpPr/>
          <p:nvPr/>
        </p:nvCxnSpPr>
        <p:spPr>
          <a:xfrm>
            <a:off x="2046914" y="4278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2046914" y="11896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2046914" y="19514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2046914" y="27132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3892492" y="1164670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3892492" y="19514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1562486" y="148334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1562486" y="932840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1536252" y="169463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1570645" y="2482405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4370894" y="172060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4377857" y="89564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158946"/>
              </p:ext>
            </p:extLst>
          </p:nvPr>
        </p:nvGraphicFramePr>
        <p:xfrm>
          <a:off x="751746" y="3400106"/>
          <a:ext cx="4855362" cy="2838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227">
                  <a:extLst>
                    <a:ext uri="{9D8B030D-6E8A-4147-A177-3AD203B41FA5}">
                      <a16:colId xmlns:a16="http://schemas.microsoft.com/office/drawing/2014/main" val="1790005131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917817357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2728926950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2913704751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1609159334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3572416527"/>
                    </a:ext>
                  </a:extLst>
                </a:gridCol>
              </a:tblGrid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0083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560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7984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6768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7291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6658209"/>
              </p:ext>
            </p:extLst>
          </p:nvPr>
        </p:nvGraphicFramePr>
        <p:xfrm>
          <a:off x="7016459" y="1204185"/>
          <a:ext cx="3240255" cy="301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51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603621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6572317" y="1365330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7012501" y="785691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  <p:sp>
        <p:nvSpPr>
          <p:cNvPr id="3" name="文字方塊 2"/>
          <p:cNvSpPr txBox="1"/>
          <p:nvPr/>
        </p:nvSpPr>
        <p:spPr>
          <a:xfrm>
            <a:off x="7094066" y="4804384"/>
            <a:ext cx="9124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x = 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140336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83141" y="218113"/>
            <a:ext cx="1409351" cy="27515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4-to-2 Encoder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6" name="直線接點 5"/>
          <p:cNvCxnSpPr/>
          <p:nvPr/>
        </p:nvCxnSpPr>
        <p:spPr>
          <a:xfrm>
            <a:off x="2046914" y="4278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2046914" y="11896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2046914" y="19514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2046914" y="27132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3892492" y="1164670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3892492" y="19514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1562486" y="148334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1562486" y="932840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1536252" y="169463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1570645" y="2482405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4370894" y="172060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4377857" y="89564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5679061"/>
              </p:ext>
            </p:extLst>
          </p:nvPr>
        </p:nvGraphicFramePr>
        <p:xfrm>
          <a:off x="751746" y="3400106"/>
          <a:ext cx="4855362" cy="2838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227">
                  <a:extLst>
                    <a:ext uri="{9D8B030D-6E8A-4147-A177-3AD203B41FA5}">
                      <a16:colId xmlns:a16="http://schemas.microsoft.com/office/drawing/2014/main" val="1790005131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917817357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2728926950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2913704751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1609159334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3572416527"/>
                    </a:ext>
                  </a:extLst>
                </a:gridCol>
              </a:tblGrid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0083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560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7984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6768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7291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718787"/>
              </p:ext>
            </p:extLst>
          </p:nvPr>
        </p:nvGraphicFramePr>
        <p:xfrm>
          <a:off x="7016459" y="1204185"/>
          <a:ext cx="3240255" cy="301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51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603621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6572317" y="1365330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7012501" y="785691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  <p:sp>
        <p:nvSpPr>
          <p:cNvPr id="3" name="文字方塊 2"/>
          <p:cNvSpPr txBox="1"/>
          <p:nvPr/>
        </p:nvSpPr>
        <p:spPr>
          <a:xfrm>
            <a:off x="7094066" y="4804384"/>
            <a:ext cx="9124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x = 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105100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83141" y="218113"/>
            <a:ext cx="1409351" cy="27515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4-to-2 Encoder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6" name="直線接點 5"/>
          <p:cNvCxnSpPr/>
          <p:nvPr/>
        </p:nvCxnSpPr>
        <p:spPr>
          <a:xfrm>
            <a:off x="2046914" y="4278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2046914" y="11896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2046914" y="19514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2046914" y="27132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3892492" y="1164670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3892492" y="19514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1562486" y="148334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1562486" y="932840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1536252" y="169463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1570645" y="2482405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4370894" y="172060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4377857" y="89564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780097"/>
              </p:ext>
            </p:extLst>
          </p:nvPr>
        </p:nvGraphicFramePr>
        <p:xfrm>
          <a:off x="751746" y="3400106"/>
          <a:ext cx="4855362" cy="2838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227">
                  <a:extLst>
                    <a:ext uri="{9D8B030D-6E8A-4147-A177-3AD203B41FA5}">
                      <a16:colId xmlns:a16="http://schemas.microsoft.com/office/drawing/2014/main" val="1790005131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917817357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2728926950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2913704751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1609159334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3572416527"/>
                    </a:ext>
                  </a:extLst>
                </a:gridCol>
              </a:tblGrid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0083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560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7984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6768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7291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692590"/>
              </p:ext>
            </p:extLst>
          </p:nvPr>
        </p:nvGraphicFramePr>
        <p:xfrm>
          <a:off x="7016459" y="1204185"/>
          <a:ext cx="3240255" cy="301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51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603621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6572317" y="1365330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7012501" y="785691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  <p:sp>
        <p:nvSpPr>
          <p:cNvPr id="3" name="文字方塊 2"/>
          <p:cNvSpPr txBox="1"/>
          <p:nvPr/>
        </p:nvSpPr>
        <p:spPr>
          <a:xfrm>
            <a:off x="7094066" y="4804384"/>
            <a:ext cx="9124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x = 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255404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83141" y="218113"/>
            <a:ext cx="1409351" cy="27515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4-to-2 Encoder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6" name="直線接點 5"/>
          <p:cNvCxnSpPr/>
          <p:nvPr/>
        </p:nvCxnSpPr>
        <p:spPr>
          <a:xfrm>
            <a:off x="2046914" y="4278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2046914" y="11896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2046914" y="19514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2046914" y="27132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3892492" y="1164670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3892492" y="19514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1562486" y="148334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1562486" y="932840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1536252" y="169463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1570645" y="2482405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4370894" y="172060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4377857" y="89564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750239"/>
              </p:ext>
            </p:extLst>
          </p:nvPr>
        </p:nvGraphicFramePr>
        <p:xfrm>
          <a:off x="751746" y="3400106"/>
          <a:ext cx="4855362" cy="2838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227">
                  <a:extLst>
                    <a:ext uri="{9D8B030D-6E8A-4147-A177-3AD203B41FA5}">
                      <a16:colId xmlns:a16="http://schemas.microsoft.com/office/drawing/2014/main" val="1790005131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917817357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2728926950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2913704751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1609159334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3572416527"/>
                    </a:ext>
                  </a:extLst>
                </a:gridCol>
              </a:tblGrid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0083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560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7984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6768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7291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145260"/>
              </p:ext>
            </p:extLst>
          </p:nvPr>
        </p:nvGraphicFramePr>
        <p:xfrm>
          <a:off x="7016459" y="1204185"/>
          <a:ext cx="3240255" cy="301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51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603621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6572317" y="1365330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7012501" y="785691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  <p:sp>
        <p:nvSpPr>
          <p:cNvPr id="3" name="文字方塊 2"/>
          <p:cNvSpPr txBox="1"/>
          <p:nvPr/>
        </p:nvSpPr>
        <p:spPr>
          <a:xfrm>
            <a:off x="7094066" y="4804384"/>
            <a:ext cx="9124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x = 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587990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83141" y="218113"/>
            <a:ext cx="1409351" cy="27515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4-to-2 Encoder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6" name="直線接點 5"/>
          <p:cNvCxnSpPr/>
          <p:nvPr/>
        </p:nvCxnSpPr>
        <p:spPr>
          <a:xfrm>
            <a:off x="2046914" y="4278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2046914" y="11896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2046914" y="19514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2046914" y="27132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3892492" y="1164670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3892492" y="19514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1562486" y="148334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1562486" y="932840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1536252" y="169463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1570645" y="2482405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4370894" y="172060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4377857" y="89564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750239"/>
              </p:ext>
            </p:extLst>
          </p:nvPr>
        </p:nvGraphicFramePr>
        <p:xfrm>
          <a:off x="751746" y="3400106"/>
          <a:ext cx="4855362" cy="2838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227">
                  <a:extLst>
                    <a:ext uri="{9D8B030D-6E8A-4147-A177-3AD203B41FA5}">
                      <a16:colId xmlns:a16="http://schemas.microsoft.com/office/drawing/2014/main" val="1790005131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917817357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2728926950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2913704751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1609159334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3572416527"/>
                    </a:ext>
                  </a:extLst>
                </a:gridCol>
              </a:tblGrid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0083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560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7984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6768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7291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145260"/>
              </p:ext>
            </p:extLst>
          </p:nvPr>
        </p:nvGraphicFramePr>
        <p:xfrm>
          <a:off x="7016459" y="1204185"/>
          <a:ext cx="3240255" cy="301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51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603621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6572317" y="1365330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7012501" y="785691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  <p:sp>
        <p:nvSpPr>
          <p:cNvPr id="3" name="文字方塊 2"/>
          <p:cNvSpPr txBox="1"/>
          <p:nvPr/>
        </p:nvSpPr>
        <p:spPr>
          <a:xfrm>
            <a:off x="7094066" y="4804384"/>
            <a:ext cx="14045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x = D</a:t>
            </a:r>
            <a:r>
              <a:rPr lang="en-US" altLang="zh-TW" sz="3200" b="1" baseline="-25000" dirty="0" smtClean="0"/>
              <a:t>2</a:t>
            </a:r>
            <a:r>
              <a:rPr lang="en-US" altLang="zh-TW" sz="3200" b="1" dirty="0" smtClean="0"/>
              <a:t> </a:t>
            </a:r>
            <a:endParaRPr lang="zh-TW" altLang="en-US" sz="3200" b="1" dirty="0"/>
          </a:p>
        </p:txBody>
      </p:sp>
      <p:sp>
        <p:nvSpPr>
          <p:cNvPr id="10" name="圓角矩形 9"/>
          <p:cNvSpPr/>
          <p:nvPr/>
        </p:nvSpPr>
        <p:spPr>
          <a:xfrm>
            <a:off x="8950611" y="1812471"/>
            <a:ext cx="1306103" cy="2409819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644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83141" y="218113"/>
            <a:ext cx="1409351" cy="27515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4-to-2 Encoder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6" name="直線接點 5"/>
          <p:cNvCxnSpPr/>
          <p:nvPr/>
        </p:nvCxnSpPr>
        <p:spPr>
          <a:xfrm>
            <a:off x="2046914" y="4278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2046914" y="11896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2046914" y="19514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2046914" y="27132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3892492" y="1164670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3892492" y="19514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1562486" y="148334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1562486" y="932840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1536252" y="169463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1570645" y="2482405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4370894" y="172060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4377857" y="89564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750239"/>
              </p:ext>
            </p:extLst>
          </p:nvPr>
        </p:nvGraphicFramePr>
        <p:xfrm>
          <a:off x="751746" y="3400106"/>
          <a:ext cx="4855362" cy="2838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227">
                  <a:extLst>
                    <a:ext uri="{9D8B030D-6E8A-4147-A177-3AD203B41FA5}">
                      <a16:colId xmlns:a16="http://schemas.microsoft.com/office/drawing/2014/main" val="1790005131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917817357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2728926950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2913704751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1609159334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3572416527"/>
                    </a:ext>
                  </a:extLst>
                </a:gridCol>
              </a:tblGrid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0083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560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7984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6768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7291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145260"/>
              </p:ext>
            </p:extLst>
          </p:nvPr>
        </p:nvGraphicFramePr>
        <p:xfrm>
          <a:off x="7016459" y="1204185"/>
          <a:ext cx="3240255" cy="301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51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603621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6572317" y="1365330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7012501" y="785691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  <p:sp>
        <p:nvSpPr>
          <p:cNvPr id="3" name="文字方塊 2"/>
          <p:cNvSpPr txBox="1"/>
          <p:nvPr/>
        </p:nvSpPr>
        <p:spPr>
          <a:xfrm>
            <a:off x="7094066" y="4804384"/>
            <a:ext cx="22669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x = D</a:t>
            </a:r>
            <a:r>
              <a:rPr lang="en-US" altLang="zh-TW" sz="3200" b="1" baseline="-25000" dirty="0" smtClean="0"/>
              <a:t>2 </a:t>
            </a:r>
            <a:r>
              <a:rPr lang="en-US" altLang="zh-TW" sz="3200" b="1" dirty="0" smtClean="0"/>
              <a:t>+ D</a:t>
            </a:r>
            <a:r>
              <a:rPr lang="en-US" altLang="zh-TW" sz="3200" b="1" baseline="-25000" dirty="0" smtClean="0"/>
              <a:t>3</a:t>
            </a:r>
            <a:r>
              <a:rPr lang="en-US" altLang="zh-TW" sz="3200" b="1" dirty="0" smtClean="0"/>
              <a:t> </a:t>
            </a:r>
            <a:endParaRPr lang="zh-TW" altLang="en-US" sz="3200" b="1" dirty="0"/>
          </a:p>
        </p:txBody>
      </p:sp>
      <p:sp>
        <p:nvSpPr>
          <p:cNvPr id="10" name="圓角矩形 9"/>
          <p:cNvSpPr/>
          <p:nvPr/>
        </p:nvSpPr>
        <p:spPr>
          <a:xfrm>
            <a:off x="8286933" y="1812471"/>
            <a:ext cx="1306103" cy="2409819"/>
          </a:xfrm>
          <a:prstGeom prst="round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圓角矩形 21"/>
          <p:cNvSpPr/>
          <p:nvPr/>
        </p:nvSpPr>
        <p:spPr>
          <a:xfrm>
            <a:off x="8950611" y="1812471"/>
            <a:ext cx="1306103" cy="2409819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568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83141" y="218113"/>
            <a:ext cx="1409351" cy="27515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4-to-2 Encoder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6" name="直線接點 5"/>
          <p:cNvCxnSpPr/>
          <p:nvPr/>
        </p:nvCxnSpPr>
        <p:spPr>
          <a:xfrm>
            <a:off x="2046914" y="4278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2046914" y="11896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2046914" y="19514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2046914" y="27132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3892492" y="1164670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3892492" y="19514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1562486" y="148334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1562486" y="932840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1536252" y="169463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1570645" y="2482405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4370894" y="172060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4377857" y="89564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32480"/>
              </p:ext>
            </p:extLst>
          </p:nvPr>
        </p:nvGraphicFramePr>
        <p:xfrm>
          <a:off x="751746" y="3400106"/>
          <a:ext cx="4855362" cy="2838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227">
                  <a:extLst>
                    <a:ext uri="{9D8B030D-6E8A-4147-A177-3AD203B41FA5}">
                      <a16:colId xmlns:a16="http://schemas.microsoft.com/office/drawing/2014/main" val="1790005131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917817357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2728926950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2913704751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1609159334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3572416527"/>
                    </a:ext>
                  </a:extLst>
                </a:gridCol>
              </a:tblGrid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0083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560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7984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6768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7291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267749"/>
              </p:ext>
            </p:extLst>
          </p:nvPr>
        </p:nvGraphicFramePr>
        <p:xfrm>
          <a:off x="7016459" y="1204185"/>
          <a:ext cx="3240255" cy="301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51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603621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6572317" y="1365330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7012501" y="785691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  <p:sp>
        <p:nvSpPr>
          <p:cNvPr id="3" name="文字方塊 2"/>
          <p:cNvSpPr txBox="1"/>
          <p:nvPr/>
        </p:nvSpPr>
        <p:spPr>
          <a:xfrm>
            <a:off x="7094066" y="4804384"/>
            <a:ext cx="9124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y = </a:t>
            </a:r>
            <a:endParaRPr lang="zh-TW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138512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83141" y="218113"/>
            <a:ext cx="1409351" cy="27515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4-to-2 Encoder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6" name="直線接點 5"/>
          <p:cNvCxnSpPr/>
          <p:nvPr/>
        </p:nvCxnSpPr>
        <p:spPr>
          <a:xfrm>
            <a:off x="2046914" y="4278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2046914" y="11896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2046914" y="19514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2046914" y="27132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3892492" y="1164670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3892492" y="19514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1562486" y="148334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1562486" y="932840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1536252" y="169463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1570645" y="2482405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4370894" y="172060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4377857" y="89564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673439"/>
              </p:ext>
            </p:extLst>
          </p:nvPr>
        </p:nvGraphicFramePr>
        <p:xfrm>
          <a:off x="751746" y="3400106"/>
          <a:ext cx="4855362" cy="2838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227">
                  <a:extLst>
                    <a:ext uri="{9D8B030D-6E8A-4147-A177-3AD203B41FA5}">
                      <a16:colId xmlns:a16="http://schemas.microsoft.com/office/drawing/2014/main" val="1790005131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917817357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2728926950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2913704751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1609159334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3572416527"/>
                    </a:ext>
                  </a:extLst>
                </a:gridCol>
              </a:tblGrid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0083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560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7984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6768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7291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667123"/>
              </p:ext>
            </p:extLst>
          </p:nvPr>
        </p:nvGraphicFramePr>
        <p:xfrm>
          <a:off x="7016459" y="1204185"/>
          <a:ext cx="3240255" cy="301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51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603621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6572317" y="1365330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7012501" y="785691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  <p:sp>
        <p:nvSpPr>
          <p:cNvPr id="3" name="文字方塊 2"/>
          <p:cNvSpPr txBox="1"/>
          <p:nvPr/>
        </p:nvSpPr>
        <p:spPr>
          <a:xfrm>
            <a:off x="7094066" y="4804384"/>
            <a:ext cx="9124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y = </a:t>
            </a:r>
            <a:endParaRPr lang="zh-TW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310692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83141" y="218113"/>
            <a:ext cx="1409351" cy="27515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4-to-2 Encoder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6" name="直線接點 5"/>
          <p:cNvCxnSpPr/>
          <p:nvPr/>
        </p:nvCxnSpPr>
        <p:spPr>
          <a:xfrm>
            <a:off x="2046914" y="4278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2046914" y="11896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2046914" y="19514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2046914" y="27132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3892492" y="1164670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3892492" y="19514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1562486" y="148334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1562486" y="932840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1536252" y="169463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1570645" y="2482405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4370894" y="172060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4377857" y="89564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7404745"/>
              </p:ext>
            </p:extLst>
          </p:nvPr>
        </p:nvGraphicFramePr>
        <p:xfrm>
          <a:off x="751746" y="3400106"/>
          <a:ext cx="4855362" cy="2838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227">
                  <a:extLst>
                    <a:ext uri="{9D8B030D-6E8A-4147-A177-3AD203B41FA5}">
                      <a16:colId xmlns:a16="http://schemas.microsoft.com/office/drawing/2014/main" val="1790005131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917817357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2728926950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2913704751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1609159334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3572416527"/>
                    </a:ext>
                  </a:extLst>
                </a:gridCol>
              </a:tblGrid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0083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560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7984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6768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7291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3768388"/>
              </p:ext>
            </p:extLst>
          </p:nvPr>
        </p:nvGraphicFramePr>
        <p:xfrm>
          <a:off x="7016459" y="1204185"/>
          <a:ext cx="3240255" cy="301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51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603621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6572317" y="1365330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7012501" y="785691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  <p:sp>
        <p:nvSpPr>
          <p:cNvPr id="3" name="文字方塊 2"/>
          <p:cNvSpPr txBox="1"/>
          <p:nvPr/>
        </p:nvSpPr>
        <p:spPr>
          <a:xfrm>
            <a:off x="7094066" y="4804384"/>
            <a:ext cx="9124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y = </a:t>
            </a:r>
            <a:endParaRPr lang="zh-TW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808061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83141" y="218113"/>
            <a:ext cx="1409351" cy="27515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4-to-2 Encoder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6" name="直線接點 5"/>
          <p:cNvCxnSpPr/>
          <p:nvPr/>
        </p:nvCxnSpPr>
        <p:spPr>
          <a:xfrm>
            <a:off x="2046914" y="4278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2046914" y="11896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2046914" y="19514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2046914" y="27132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3892492" y="1164670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3892492" y="19514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1562486" y="148334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1562486" y="932840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1536252" y="169463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1570645" y="2482405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4370894" y="172060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4377857" y="89564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9379728"/>
              </p:ext>
            </p:extLst>
          </p:nvPr>
        </p:nvGraphicFramePr>
        <p:xfrm>
          <a:off x="751746" y="3400106"/>
          <a:ext cx="4855362" cy="2838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227">
                  <a:extLst>
                    <a:ext uri="{9D8B030D-6E8A-4147-A177-3AD203B41FA5}">
                      <a16:colId xmlns:a16="http://schemas.microsoft.com/office/drawing/2014/main" val="1790005131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917817357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2728926950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2913704751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1609159334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3572416527"/>
                    </a:ext>
                  </a:extLst>
                </a:gridCol>
              </a:tblGrid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0083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560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7984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6768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7291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4367710"/>
              </p:ext>
            </p:extLst>
          </p:nvPr>
        </p:nvGraphicFramePr>
        <p:xfrm>
          <a:off x="7016459" y="1204185"/>
          <a:ext cx="3240255" cy="301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51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603621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6572317" y="1365330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7012501" y="785691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  <p:sp>
        <p:nvSpPr>
          <p:cNvPr id="3" name="文字方塊 2"/>
          <p:cNvSpPr txBox="1"/>
          <p:nvPr/>
        </p:nvSpPr>
        <p:spPr>
          <a:xfrm>
            <a:off x="7094066" y="4804384"/>
            <a:ext cx="9124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y = </a:t>
            </a:r>
            <a:endParaRPr lang="zh-TW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292736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83141" y="218113"/>
            <a:ext cx="1409351" cy="27515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4-to-2 Encoder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6" name="直線接點 5"/>
          <p:cNvCxnSpPr/>
          <p:nvPr/>
        </p:nvCxnSpPr>
        <p:spPr>
          <a:xfrm>
            <a:off x="2046914" y="4278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2046914" y="11896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2046914" y="19514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2046914" y="27132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3892492" y="1164670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3892492" y="19514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1562486" y="148334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1562486" y="932840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1536252" y="169463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1570645" y="2482405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4370894" y="172060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4377857" y="89564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833627"/>
              </p:ext>
            </p:extLst>
          </p:nvPr>
        </p:nvGraphicFramePr>
        <p:xfrm>
          <a:off x="751746" y="3400106"/>
          <a:ext cx="4855362" cy="2838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227">
                  <a:extLst>
                    <a:ext uri="{9D8B030D-6E8A-4147-A177-3AD203B41FA5}">
                      <a16:colId xmlns:a16="http://schemas.microsoft.com/office/drawing/2014/main" val="1790005131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917817357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2728926950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2913704751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1609159334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3572416527"/>
                    </a:ext>
                  </a:extLst>
                </a:gridCol>
              </a:tblGrid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0083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560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7984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6768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7291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5449927"/>
              </p:ext>
            </p:extLst>
          </p:nvPr>
        </p:nvGraphicFramePr>
        <p:xfrm>
          <a:off x="7016459" y="1204185"/>
          <a:ext cx="3240255" cy="301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51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603621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6572317" y="1365330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7012501" y="785691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  <p:sp>
        <p:nvSpPr>
          <p:cNvPr id="3" name="文字方塊 2"/>
          <p:cNvSpPr txBox="1"/>
          <p:nvPr/>
        </p:nvSpPr>
        <p:spPr>
          <a:xfrm>
            <a:off x="7094066" y="4804384"/>
            <a:ext cx="9124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y = </a:t>
            </a:r>
            <a:endParaRPr lang="zh-TW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925437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83141" y="218113"/>
            <a:ext cx="1409351" cy="27515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4-to-2 Encoder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6" name="直線接點 5"/>
          <p:cNvCxnSpPr/>
          <p:nvPr/>
        </p:nvCxnSpPr>
        <p:spPr>
          <a:xfrm>
            <a:off x="2046914" y="4278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2046914" y="11896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2046914" y="19514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2046914" y="27132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3892492" y="1164670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3892492" y="19514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1562486" y="148334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1562486" y="932840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1536252" y="169463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1570645" y="2482405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4370894" y="172060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4377857" y="89564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  <p:graphicFrame>
        <p:nvGraphicFramePr>
          <p:cNvPr id="28" name="表格 27"/>
          <p:cNvGraphicFramePr>
            <a:graphicFrameLocks noGrp="1"/>
          </p:cNvGraphicFramePr>
          <p:nvPr/>
        </p:nvGraphicFramePr>
        <p:xfrm>
          <a:off x="751746" y="3400106"/>
          <a:ext cx="4855362" cy="2838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227">
                  <a:extLst>
                    <a:ext uri="{9D8B030D-6E8A-4147-A177-3AD203B41FA5}">
                      <a16:colId xmlns:a16="http://schemas.microsoft.com/office/drawing/2014/main" val="1790005131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917817357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2728926950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2913704751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1609159334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3572416527"/>
                    </a:ext>
                  </a:extLst>
                </a:gridCol>
              </a:tblGrid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0083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560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7984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6768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7291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8035083"/>
              </p:ext>
            </p:extLst>
          </p:nvPr>
        </p:nvGraphicFramePr>
        <p:xfrm>
          <a:off x="7016459" y="1204185"/>
          <a:ext cx="3240255" cy="301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51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603621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6572317" y="1365330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7012501" y="785691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  <p:sp>
        <p:nvSpPr>
          <p:cNvPr id="3" name="文字方塊 2"/>
          <p:cNvSpPr txBox="1"/>
          <p:nvPr/>
        </p:nvSpPr>
        <p:spPr>
          <a:xfrm>
            <a:off x="7094066" y="4804384"/>
            <a:ext cx="9124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y = </a:t>
            </a:r>
            <a:endParaRPr lang="zh-TW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2892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83141" y="218113"/>
            <a:ext cx="1409351" cy="27515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4-to-2 Encoder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6" name="直線接點 5"/>
          <p:cNvCxnSpPr/>
          <p:nvPr/>
        </p:nvCxnSpPr>
        <p:spPr>
          <a:xfrm>
            <a:off x="2046914" y="4278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2046914" y="11896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2046914" y="19514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2046914" y="27132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3892492" y="1164670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3892492" y="19514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1562486" y="148334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1562486" y="932840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1536252" y="169463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1570645" y="2482405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4370894" y="172060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4377857" y="89564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  <p:graphicFrame>
        <p:nvGraphicFramePr>
          <p:cNvPr id="28" name="表格 27"/>
          <p:cNvGraphicFramePr>
            <a:graphicFrameLocks noGrp="1"/>
          </p:cNvGraphicFramePr>
          <p:nvPr/>
        </p:nvGraphicFramePr>
        <p:xfrm>
          <a:off x="751746" y="3400106"/>
          <a:ext cx="4855362" cy="2838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227">
                  <a:extLst>
                    <a:ext uri="{9D8B030D-6E8A-4147-A177-3AD203B41FA5}">
                      <a16:colId xmlns:a16="http://schemas.microsoft.com/office/drawing/2014/main" val="1790005131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917817357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2728926950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2913704751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1609159334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3572416527"/>
                    </a:ext>
                  </a:extLst>
                </a:gridCol>
              </a:tblGrid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0083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560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7984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6768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7291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8035083"/>
              </p:ext>
            </p:extLst>
          </p:nvPr>
        </p:nvGraphicFramePr>
        <p:xfrm>
          <a:off x="7016459" y="1204185"/>
          <a:ext cx="3240255" cy="301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51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603621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6572317" y="1365330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7012501" y="785691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  <p:sp>
        <p:nvSpPr>
          <p:cNvPr id="3" name="文字方塊 2"/>
          <p:cNvSpPr txBox="1"/>
          <p:nvPr/>
        </p:nvSpPr>
        <p:spPr>
          <a:xfrm>
            <a:off x="7094066" y="4804384"/>
            <a:ext cx="13019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y = D</a:t>
            </a:r>
            <a:r>
              <a:rPr lang="en-US" altLang="zh-TW" sz="3200" b="1" baseline="-25000" dirty="0" smtClean="0"/>
              <a:t>1</a:t>
            </a:r>
            <a:endParaRPr lang="zh-TW" altLang="en-US" sz="3200" b="1" dirty="0"/>
          </a:p>
        </p:txBody>
      </p:sp>
      <p:sp>
        <p:nvSpPr>
          <p:cNvPr id="22" name="圓角矩形 21"/>
          <p:cNvSpPr/>
          <p:nvPr/>
        </p:nvSpPr>
        <p:spPr>
          <a:xfrm>
            <a:off x="7666264" y="2416629"/>
            <a:ext cx="2590449" cy="119198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0273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83141" y="218113"/>
            <a:ext cx="1409351" cy="27515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4-to-2 Encoder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6" name="直線接點 5"/>
          <p:cNvCxnSpPr/>
          <p:nvPr/>
        </p:nvCxnSpPr>
        <p:spPr>
          <a:xfrm>
            <a:off x="2046914" y="4278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2046914" y="11896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2046914" y="19514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2046914" y="27132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3892492" y="1164670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3892492" y="19514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1562486" y="148334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1562486" y="932840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1536252" y="169463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1570645" y="2482405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4370894" y="172060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4377857" y="89564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  <p:graphicFrame>
        <p:nvGraphicFramePr>
          <p:cNvPr id="28" name="表格 27"/>
          <p:cNvGraphicFramePr>
            <a:graphicFrameLocks noGrp="1"/>
          </p:cNvGraphicFramePr>
          <p:nvPr/>
        </p:nvGraphicFramePr>
        <p:xfrm>
          <a:off x="751746" y="3400106"/>
          <a:ext cx="4855362" cy="2838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227">
                  <a:extLst>
                    <a:ext uri="{9D8B030D-6E8A-4147-A177-3AD203B41FA5}">
                      <a16:colId xmlns:a16="http://schemas.microsoft.com/office/drawing/2014/main" val="1790005131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917817357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2728926950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2913704751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1609159334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3572416527"/>
                    </a:ext>
                  </a:extLst>
                </a:gridCol>
              </a:tblGrid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0083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560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7984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6768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7291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8035083"/>
              </p:ext>
            </p:extLst>
          </p:nvPr>
        </p:nvGraphicFramePr>
        <p:xfrm>
          <a:off x="7016459" y="1204185"/>
          <a:ext cx="3240255" cy="301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51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603621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6572317" y="1365330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7012501" y="785691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  <p:sp>
        <p:nvSpPr>
          <p:cNvPr id="3" name="文字方塊 2"/>
          <p:cNvSpPr txBox="1"/>
          <p:nvPr/>
        </p:nvSpPr>
        <p:spPr>
          <a:xfrm>
            <a:off x="7094066" y="4804384"/>
            <a:ext cx="22733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y = D</a:t>
            </a:r>
            <a:r>
              <a:rPr lang="en-US" altLang="zh-TW" sz="3200" b="1" baseline="-25000" dirty="0" smtClean="0"/>
              <a:t>1 </a:t>
            </a:r>
            <a:r>
              <a:rPr lang="en-US" altLang="zh-TW" sz="3200" b="1" dirty="0"/>
              <a:t>+ D</a:t>
            </a:r>
            <a:r>
              <a:rPr lang="en-US" altLang="zh-TW" sz="3200" b="1" baseline="-25000" dirty="0"/>
              <a:t>3</a:t>
            </a:r>
            <a:r>
              <a:rPr lang="en-US" altLang="zh-TW" sz="3200" b="1" dirty="0"/>
              <a:t> </a:t>
            </a:r>
            <a:endParaRPr lang="zh-TW" altLang="en-US" sz="3200" b="1" dirty="0"/>
          </a:p>
        </p:txBody>
      </p:sp>
      <p:sp>
        <p:nvSpPr>
          <p:cNvPr id="21" name="圓角矩形 20"/>
          <p:cNvSpPr/>
          <p:nvPr/>
        </p:nvSpPr>
        <p:spPr>
          <a:xfrm>
            <a:off x="8286933" y="1807711"/>
            <a:ext cx="1306103" cy="2409819"/>
          </a:xfrm>
          <a:prstGeom prst="round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圓角矩形 21"/>
          <p:cNvSpPr/>
          <p:nvPr/>
        </p:nvSpPr>
        <p:spPr>
          <a:xfrm>
            <a:off x="7666264" y="2416629"/>
            <a:ext cx="2590449" cy="119198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2898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83141" y="218113"/>
            <a:ext cx="1409351" cy="27515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4-to-2 Encoder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6" name="直線接點 5"/>
          <p:cNvCxnSpPr/>
          <p:nvPr/>
        </p:nvCxnSpPr>
        <p:spPr>
          <a:xfrm>
            <a:off x="2046914" y="4278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2046914" y="11896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2046914" y="19514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2046914" y="27132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3892492" y="1164670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3892492" y="19514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1562486" y="148334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1562486" y="932840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1536252" y="169463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1570645" y="2482405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4370894" y="172060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4377857" y="89564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  <p:graphicFrame>
        <p:nvGraphicFramePr>
          <p:cNvPr id="28" name="表格 27"/>
          <p:cNvGraphicFramePr>
            <a:graphicFrameLocks noGrp="1"/>
          </p:cNvGraphicFramePr>
          <p:nvPr/>
        </p:nvGraphicFramePr>
        <p:xfrm>
          <a:off x="751746" y="3400106"/>
          <a:ext cx="4855362" cy="2838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227">
                  <a:extLst>
                    <a:ext uri="{9D8B030D-6E8A-4147-A177-3AD203B41FA5}">
                      <a16:colId xmlns:a16="http://schemas.microsoft.com/office/drawing/2014/main" val="1790005131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917817357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2728926950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2913704751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1609159334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3572416527"/>
                    </a:ext>
                  </a:extLst>
                </a:gridCol>
              </a:tblGrid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0083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560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7984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6768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72912"/>
                  </a:ext>
                </a:extLst>
              </a:tr>
            </a:tbl>
          </a:graphicData>
        </a:graphic>
      </p:graphicFrame>
      <p:sp>
        <p:nvSpPr>
          <p:cNvPr id="3" name="文字方塊 2"/>
          <p:cNvSpPr txBox="1"/>
          <p:nvPr/>
        </p:nvSpPr>
        <p:spPr>
          <a:xfrm>
            <a:off x="7094066" y="4804384"/>
            <a:ext cx="22733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y = D</a:t>
            </a:r>
            <a:r>
              <a:rPr lang="en-US" altLang="zh-TW" sz="3200" b="1" baseline="-25000" dirty="0" smtClean="0"/>
              <a:t>1 </a:t>
            </a:r>
            <a:r>
              <a:rPr lang="en-US" altLang="zh-TW" sz="3200" b="1" dirty="0"/>
              <a:t>+ D</a:t>
            </a:r>
            <a:r>
              <a:rPr lang="en-US" altLang="zh-TW" sz="3200" b="1" baseline="-25000" dirty="0"/>
              <a:t>3</a:t>
            </a:r>
            <a:r>
              <a:rPr lang="en-US" altLang="zh-TW" sz="3200" b="1" dirty="0"/>
              <a:t> </a:t>
            </a:r>
            <a:endParaRPr lang="zh-TW" altLang="en-US" sz="3200" b="1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7094066" y="4219609"/>
            <a:ext cx="22733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x = D</a:t>
            </a:r>
            <a:r>
              <a:rPr lang="en-US" altLang="zh-TW" sz="3200" b="1" baseline="-25000" dirty="0" smtClean="0"/>
              <a:t>2 </a:t>
            </a:r>
            <a:r>
              <a:rPr lang="en-US" altLang="zh-TW" sz="3200" b="1" dirty="0"/>
              <a:t>+ D</a:t>
            </a:r>
            <a:r>
              <a:rPr lang="en-US" altLang="zh-TW" sz="3200" b="1" baseline="-25000" dirty="0"/>
              <a:t>3</a:t>
            </a:r>
            <a:r>
              <a:rPr lang="en-US" altLang="zh-TW" sz="3200" b="1" dirty="0"/>
              <a:t> </a:t>
            </a:r>
            <a:endParaRPr lang="zh-TW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697292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83141" y="218113"/>
            <a:ext cx="1409351" cy="27515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4-to-2 Encoder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6" name="直線接點 5"/>
          <p:cNvCxnSpPr/>
          <p:nvPr/>
        </p:nvCxnSpPr>
        <p:spPr>
          <a:xfrm>
            <a:off x="2046914" y="4278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2046914" y="11896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2046914" y="19514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2046914" y="27132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3892492" y="1164670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3892492" y="19514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1562486" y="148334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1562486" y="932840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1536252" y="169463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1570645" y="2482405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4370894" y="172060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4377857" y="89564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  <p:graphicFrame>
        <p:nvGraphicFramePr>
          <p:cNvPr id="28" name="表格 27"/>
          <p:cNvGraphicFramePr>
            <a:graphicFrameLocks noGrp="1"/>
          </p:cNvGraphicFramePr>
          <p:nvPr/>
        </p:nvGraphicFramePr>
        <p:xfrm>
          <a:off x="751746" y="3400106"/>
          <a:ext cx="4855362" cy="2838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227">
                  <a:extLst>
                    <a:ext uri="{9D8B030D-6E8A-4147-A177-3AD203B41FA5}">
                      <a16:colId xmlns:a16="http://schemas.microsoft.com/office/drawing/2014/main" val="1790005131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917817357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2728926950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2913704751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1609159334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3572416527"/>
                    </a:ext>
                  </a:extLst>
                </a:gridCol>
              </a:tblGrid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0083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560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7984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6768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72912"/>
                  </a:ext>
                </a:extLst>
              </a:tr>
            </a:tbl>
          </a:graphicData>
        </a:graphic>
      </p:graphicFrame>
      <p:sp>
        <p:nvSpPr>
          <p:cNvPr id="3" name="文字方塊 2"/>
          <p:cNvSpPr txBox="1"/>
          <p:nvPr/>
        </p:nvSpPr>
        <p:spPr>
          <a:xfrm>
            <a:off x="7094066" y="4804384"/>
            <a:ext cx="22733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y = D</a:t>
            </a:r>
            <a:r>
              <a:rPr lang="en-US" altLang="zh-TW" sz="3200" b="1" baseline="-25000" dirty="0" smtClean="0"/>
              <a:t>1 </a:t>
            </a:r>
            <a:r>
              <a:rPr lang="en-US" altLang="zh-TW" sz="3200" b="1" dirty="0"/>
              <a:t>+ D</a:t>
            </a:r>
            <a:r>
              <a:rPr lang="en-US" altLang="zh-TW" sz="3200" b="1" baseline="-25000" dirty="0"/>
              <a:t>3</a:t>
            </a:r>
            <a:r>
              <a:rPr lang="en-US" altLang="zh-TW" sz="3200" b="1" dirty="0"/>
              <a:t> </a:t>
            </a:r>
            <a:endParaRPr lang="zh-TW" altLang="en-US" sz="3200" b="1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7094066" y="4219609"/>
            <a:ext cx="22733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x = D</a:t>
            </a:r>
            <a:r>
              <a:rPr lang="en-US" altLang="zh-TW" sz="3200" b="1" baseline="-25000" dirty="0" smtClean="0"/>
              <a:t>2 </a:t>
            </a:r>
            <a:r>
              <a:rPr lang="en-US" altLang="zh-TW" sz="3200" b="1" dirty="0"/>
              <a:t>+ D</a:t>
            </a:r>
            <a:r>
              <a:rPr lang="en-US" altLang="zh-TW" sz="3200" b="1" baseline="-25000" dirty="0"/>
              <a:t>3</a:t>
            </a:r>
            <a:r>
              <a:rPr lang="en-US" altLang="zh-TW" sz="3200" b="1" dirty="0"/>
              <a:t> </a:t>
            </a:r>
            <a:endParaRPr lang="zh-TW" altLang="en-US" sz="3200" b="1" dirty="0"/>
          </a:p>
        </p:txBody>
      </p:sp>
      <p:grpSp>
        <p:nvGrpSpPr>
          <p:cNvPr id="21" name="Group 4"/>
          <p:cNvGrpSpPr>
            <a:grpSpLocks noChangeAspect="1"/>
          </p:cNvGrpSpPr>
          <p:nvPr/>
        </p:nvGrpSpPr>
        <p:grpSpPr bwMode="auto">
          <a:xfrm>
            <a:off x="8500670" y="709993"/>
            <a:ext cx="1495425" cy="793750"/>
            <a:chOff x="2347" y="1818"/>
            <a:chExt cx="942" cy="500"/>
          </a:xfrm>
        </p:grpSpPr>
        <p:sp>
          <p:nvSpPr>
            <p:cNvPr id="22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23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25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grpSp>
        <p:nvGrpSpPr>
          <p:cNvPr id="29" name="Group 4"/>
          <p:cNvGrpSpPr>
            <a:grpSpLocks noChangeAspect="1"/>
          </p:cNvGrpSpPr>
          <p:nvPr/>
        </p:nvGrpSpPr>
        <p:grpSpPr bwMode="auto">
          <a:xfrm>
            <a:off x="8500670" y="1857399"/>
            <a:ext cx="1495425" cy="793750"/>
            <a:chOff x="2347" y="1818"/>
            <a:chExt cx="942" cy="500"/>
          </a:xfrm>
        </p:grpSpPr>
        <p:sp>
          <p:nvSpPr>
            <p:cNvPr id="30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1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2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cxnSp>
        <p:nvCxnSpPr>
          <p:cNvPr id="11" name="直線接點 10"/>
          <p:cNvCxnSpPr/>
          <p:nvPr/>
        </p:nvCxnSpPr>
        <p:spPr>
          <a:xfrm>
            <a:off x="9713521" y="1106868"/>
            <a:ext cx="7429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>
            <a:off x="9713521" y="2258964"/>
            <a:ext cx="7429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/>
          <p:cNvSpPr txBox="1"/>
          <p:nvPr/>
        </p:nvSpPr>
        <p:spPr>
          <a:xfrm>
            <a:off x="10463407" y="202344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10463407" y="88714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6136271" y="40479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136271" y="1189304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6110037" y="1951102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6144430" y="2738869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cxnSp>
        <p:nvCxnSpPr>
          <p:cNvPr id="40" name="直線接點 39"/>
          <p:cNvCxnSpPr/>
          <p:nvPr/>
        </p:nvCxnSpPr>
        <p:spPr>
          <a:xfrm>
            <a:off x="6662057" y="609999"/>
            <a:ext cx="2676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>
            <a:off x="6662057" y="1459692"/>
            <a:ext cx="2676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>
          <a:xfrm>
            <a:off x="6662057" y="2188719"/>
            <a:ext cx="2676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6662057" y="2969702"/>
            <a:ext cx="2676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6866164" y="148334"/>
            <a:ext cx="3445329" cy="3313323"/>
          </a:xfrm>
          <a:prstGeom prst="rect">
            <a:avLst/>
          </a:prstGeom>
          <a:noFill/>
          <a:ln w="28575">
            <a:solidFill>
              <a:schemeClr val="accent6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8698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83141" y="218113"/>
            <a:ext cx="1409351" cy="27515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4-to-2 Encoder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6" name="直線接點 5"/>
          <p:cNvCxnSpPr/>
          <p:nvPr/>
        </p:nvCxnSpPr>
        <p:spPr>
          <a:xfrm>
            <a:off x="2046914" y="4278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2046914" y="11896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2046914" y="19514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2046914" y="27132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3892492" y="1164670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3892492" y="19514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1562486" y="148334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1562486" y="932840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1536252" y="169463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1570645" y="2482405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4370894" y="172060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4377857" y="89564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  <p:graphicFrame>
        <p:nvGraphicFramePr>
          <p:cNvPr id="28" name="表格 27"/>
          <p:cNvGraphicFramePr>
            <a:graphicFrameLocks noGrp="1"/>
          </p:cNvGraphicFramePr>
          <p:nvPr/>
        </p:nvGraphicFramePr>
        <p:xfrm>
          <a:off x="751746" y="3400106"/>
          <a:ext cx="4855362" cy="2838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227">
                  <a:extLst>
                    <a:ext uri="{9D8B030D-6E8A-4147-A177-3AD203B41FA5}">
                      <a16:colId xmlns:a16="http://schemas.microsoft.com/office/drawing/2014/main" val="1790005131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917817357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2728926950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2913704751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1609159334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3572416527"/>
                    </a:ext>
                  </a:extLst>
                </a:gridCol>
              </a:tblGrid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0083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560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7984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6768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72912"/>
                  </a:ext>
                </a:extLst>
              </a:tr>
            </a:tbl>
          </a:graphicData>
        </a:graphic>
      </p:graphicFrame>
      <p:sp>
        <p:nvSpPr>
          <p:cNvPr id="3" name="文字方塊 2"/>
          <p:cNvSpPr txBox="1"/>
          <p:nvPr/>
        </p:nvSpPr>
        <p:spPr>
          <a:xfrm>
            <a:off x="7094066" y="4804384"/>
            <a:ext cx="22733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y = D</a:t>
            </a:r>
            <a:r>
              <a:rPr lang="en-US" altLang="zh-TW" sz="3200" b="1" baseline="-25000" dirty="0" smtClean="0"/>
              <a:t>1 </a:t>
            </a:r>
            <a:r>
              <a:rPr lang="en-US" altLang="zh-TW" sz="3200" b="1" dirty="0"/>
              <a:t>+ D</a:t>
            </a:r>
            <a:r>
              <a:rPr lang="en-US" altLang="zh-TW" sz="3200" b="1" baseline="-25000" dirty="0"/>
              <a:t>3</a:t>
            </a:r>
            <a:r>
              <a:rPr lang="en-US" altLang="zh-TW" sz="3200" b="1" dirty="0"/>
              <a:t> </a:t>
            </a:r>
            <a:endParaRPr lang="zh-TW" altLang="en-US" sz="3200" b="1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7094066" y="4219609"/>
            <a:ext cx="22733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x = D</a:t>
            </a:r>
            <a:r>
              <a:rPr lang="en-US" altLang="zh-TW" sz="3200" b="1" baseline="-25000" dirty="0" smtClean="0"/>
              <a:t>2 </a:t>
            </a:r>
            <a:r>
              <a:rPr lang="en-US" altLang="zh-TW" sz="3200" b="1" dirty="0"/>
              <a:t>+ D</a:t>
            </a:r>
            <a:r>
              <a:rPr lang="en-US" altLang="zh-TW" sz="3200" b="1" baseline="-25000" dirty="0"/>
              <a:t>3</a:t>
            </a:r>
            <a:r>
              <a:rPr lang="en-US" altLang="zh-TW" sz="3200" b="1" dirty="0"/>
              <a:t> </a:t>
            </a:r>
            <a:endParaRPr lang="zh-TW" altLang="en-US" sz="3200" b="1" dirty="0"/>
          </a:p>
        </p:txBody>
      </p:sp>
      <p:grpSp>
        <p:nvGrpSpPr>
          <p:cNvPr id="21" name="Group 4"/>
          <p:cNvGrpSpPr>
            <a:grpSpLocks noChangeAspect="1"/>
          </p:cNvGrpSpPr>
          <p:nvPr/>
        </p:nvGrpSpPr>
        <p:grpSpPr bwMode="auto">
          <a:xfrm>
            <a:off x="8500670" y="709993"/>
            <a:ext cx="1495425" cy="793750"/>
            <a:chOff x="2347" y="1818"/>
            <a:chExt cx="942" cy="500"/>
          </a:xfrm>
        </p:grpSpPr>
        <p:sp>
          <p:nvSpPr>
            <p:cNvPr id="22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23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25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grpSp>
        <p:nvGrpSpPr>
          <p:cNvPr id="29" name="Group 4"/>
          <p:cNvGrpSpPr>
            <a:grpSpLocks noChangeAspect="1"/>
          </p:cNvGrpSpPr>
          <p:nvPr/>
        </p:nvGrpSpPr>
        <p:grpSpPr bwMode="auto">
          <a:xfrm>
            <a:off x="8500670" y="1857399"/>
            <a:ext cx="1495425" cy="793750"/>
            <a:chOff x="2347" y="1818"/>
            <a:chExt cx="942" cy="500"/>
          </a:xfrm>
        </p:grpSpPr>
        <p:sp>
          <p:nvSpPr>
            <p:cNvPr id="30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1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2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cxnSp>
        <p:nvCxnSpPr>
          <p:cNvPr id="11" name="直線接點 10"/>
          <p:cNvCxnSpPr/>
          <p:nvPr/>
        </p:nvCxnSpPr>
        <p:spPr>
          <a:xfrm>
            <a:off x="9713521" y="1106868"/>
            <a:ext cx="7429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>
            <a:off x="9713521" y="2258964"/>
            <a:ext cx="7429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/>
          <p:cNvSpPr txBox="1"/>
          <p:nvPr/>
        </p:nvSpPr>
        <p:spPr>
          <a:xfrm>
            <a:off x="10463407" y="202344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10463407" y="88714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6136271" y="40479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136271" y="1189304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6110037" y="1951102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6144430" y="2738869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cxnSp>
        <p:nvCxnSpPr>
          <p:cNvPr id="40" name="直線接點 39"/>
          <p:cNvCxnSpPr/>
          <p:nvPr/>
        </p:nvCxnSpPr>
        <p:spPr>
          <a:xfrm>
            <a:off x="6662057" y="609999"/>
            <a:ext cx="2676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>
            <a:off x="6662057" y="1459692"/>
            <a:ext cx="2676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>
          <a:xfrm>
            <a:off x="6662057" y="2188719"/>
            <a:ext cx="2676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6662057" y="2969702"/>
            <a:ext cx="2676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6866164" y="148334"/>
            <a:ext cx="3445329" cy="3313323"/>
          </a:xfrm>
          <a:prstGeom prst="rect">
            <a:avLst/>
          </a:prstGeom>
          <a:noFill/>
          <a:ln w="28575">
            <a:solidFill>
              <a:schemeClr val="accent6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手繪多邊形 1"/>
          <p:cNvSpPr/>
          <p:nvPr/>
        </p:nvSpPr>
        <p:spPr>
          <a:xfrm>
            <a:off x="6923314" y="888860"/>
            <a:ext cx="1951265" cy="1291744"/>
          </a:xfrm>
          <a:custGeom>
            <a:avLst/>
            <a:gdLst>
              <a:gd name="connsiteX0" fmla="*/ 0 w 1951265"/>
              <a:gd name="connsiteY0" fmla="*/ 1291004 h 1291744"/>
              <a:gd name="connsiteX1" fmla="*/ 391886 w 1951265"/>
              <a:gd name="connsiteY1" fmla="*/ 1152211 h 1291744"/>
              <a:gd name="connsiteX2" fmla="*/ 938893 w 1951265"/>
              <a:gd name="connsiteY2" fmla="*/ 425590 h 1291744"/>
              <a:gd name="connsiteX3" fmla="*/ 1526722 w 1951265"/>
              <a:gd name="connsiteY3" fmla="*/ 66361 h 1291744"/>
              <a:gd name="connsiteX4" fmla="*/ 1951265 w 1951265"/>
              <a:gd name="connsiteY4" fmla="*/ 1047 h 1291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1265" h="1291744">
                <a:moveTo>
                  <a:pt x="0" y="1291004"/>
                </a:moveTo>
                <a:cubicBezTo>
                  <a:pt x="117702" y="1293725"/>
                  <a:pt x="235404" y="1296447"/>
                  <a:pt x="391886" y="1152211"/>
                </a:cubicBezTo>
                <a:cubicBezTo>
                  <a:pt x="548368" y="1007975"/>
                  <a:pt x="749754" y="606565"/>
                  <a:pt x="938893" y="425590"/>
                </a:cubicBezTo>
                <a:cubicBezTo>
                  <a:pt x="1128032" y="244615"/>
                  <a:pt x="1357993" y="137118"/>
                  <a:pt x="1526722" y="66361"/>
                </a:cubicBezTo>
                <a:cubicBezTo>
                  <a:pt x="1695451" y="-4396"/>
                  <a:pt x="1823358" y="-1675"/>
                  <a:pt x="1951265" y="1047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手繪多邊形 3"/>
          <p:cNvSpPr/>
          <p:nvPr/>
        </p:nvSpPr>
        <p:spPr>
          <a:xfrm>
            <a:off x="6915150" y="1273629"/>
            <a:ext cx="1983921" cy="1698171"/>
          </a:xfrm>
          <a:custGeom>
            <a:avLst/>
            <a:gdLst>
              <a:gd name="connsiteX0" fmla="*/ 0 w 1983921"/>
              <a:gd name="connsiteY0" fmla="*/ 1698171 h 1698171"/>
              <a:gd name="connsiteX1" fmla="*/ 481693 w 1983921"/>
              <a:gd name="connsiteY1" fmla="*/ 1510392 h 1698171"/>
              <a:gd name="connsiteX2" fmla="*/ 947057 w 1983921"/>
              <a:gd name="connsiteY2" fmla="*/ 800100 h 1698171"/>
              <a:gd name="connsiteX3" fmla="*/ 1265464 w 1983921"/>
              <a:gd name="connsiteY3" fmla="*/ 212271 h 1698171"/>
              <a:gd name="connsiteX4" fmla="*/ 1983921 w 1983921"/>
              <a:gd name="connsiteY4" fmla="*/ 0 h 1698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83921" h="1698171">
                <a:moveTo>
                  <a:pt x="0" y="1698171"/>
                </a:moveTo>
                <a:cubicBezTo>
                  <a:pt x="161925" y="1679120"/>
                  <a:pt x="323850" y="1660070"/>
                  <a:pt x="481693" y="1510392"/>
                </a:cubicBezTo>
                <a:cubicBezTo>
                  <a:pt x="639536" y="1360714"/>
                  <a:pt x="816428" y="1016454"/>
                  <a:pt x="947057" y="800100"/>
                </a:cubicBezTo>
                <a:cubicBezTo>
                  <a:pt x="1077686" y="583746"/>
                  <a:pt x="1092653" y="345621"/>
                  <a:pt x="1265464" y="212271"/>
                </a:cubicBezTo>
                <a:cubicBezTo>
                  <a:pt x="1438275" y="78921"/>
                  <a:pt x="1711098" y="39460"/>
                  <a:pt x="1983921" y="0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5292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83141" y="218113"/>
            <a:ext cx="1409351" cy="27515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4-to-2 Encoder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6" name="直線接點 5"/>
          <p:cNvCxnSpPr/>
          <p:nvPr/>
        </p:nvCxnSpPr>
        <p:spPr>
          <a:xfrm>
            <a:off x="2046914" y="4278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2046914" y="11896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2046914" y="19514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2046914" y="27132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3892492" y="1164670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3892492" y="19514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1562486" y="148334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1562486" y="932840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1536252" y="169463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1570645" y="2482405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4370894" y="172060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4377857" y="89564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  <p:graphicFrame>
        <p:nvGraphicFramePr>
          <p:cNvPr id="28" name="表格 27"/>
          <p:cNvGraphicFramePr>
            <a:graphicFrameLocks noGrp="1"/>
          </p:cNvGraphicFramePr>
          <p:nvPr/>
        </p:nvGraphicFramePr>
        <p:xfrm>
          <a:off x="751746" y="3400106"/>
          <a:ext cx="4855362" cy="2838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227">
                  <a:extLst>
                    <a:ext uri="{9D8B030D-6E8A-4147-A177-3AD203B41FA5}">
                      <a16:colId xmlns:a16="http://schemas.microsoft.com/office/drawing/2014/main" val="1790005131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917817357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2728926950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2913704751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1609159334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3572416527"/>
                    </a:ext>
                  </a:extLst>
                </a:gridCol>
              </a:tblGrid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0083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560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7984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6768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72912"/>
                  </a:ext>
                </a:extLst>
              </a:tr>
            </a:tbl>
          </a:graphicData>
        </a:graphic>
      </p:graphicFrame>
      <p:sp>
        <p:nvSpPr>
          <p:cNvPr id="3" name="文字方塊 2"/>
          <p:cNvSpPr txBox="1"/>
          <p:nvPr/>
        </p:nvSpPr>
        <p:spPr>
          <a:xfrm>
            <a:off x="7094066" y="4804384"/>
            <a:ext cx="22733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y = D</a:t>
            </a:r>
            <a:r>
              <a:rPr lang="en-US" altLang="zh-TW" sz="3200" b="1" baseline="-25000" dirty="0" smtClean="0"/>
              <a:t>1 </a:t>
            </a:r>
            <a:r>
              <a:rPr lang="en-US" altLang="zh-TW" sz="3200" b="1" dirty="0"/>
              <a:t>+ D</a:t>
            </a:r>
            <a:r>
              <a:rPr lang="en-US" altLang="zh-TW" sz="3200" b="1" baseline="-25000" dirty="0"/>
              <a:t>3</a:t>
            </a:r>
            <a:r>
              <a:rPr lang="en-US" altLang="zh-TW" sz="3200" b="1" dirty="0"/>
              <a:t> </a:t>
            </a:r>
            <a:endParaRPr lang="zh-TW" altLang="en-US" sz="3200" b="1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7094066" y="4219609"/>
            <a:ext cx="22733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x = D</a:t>
            </a:r>
            <a:r>
              <a:rPr lang="en-US" altLang="zh-TW" sz="3200" b="1" baseline="-25000" dirty="0" smtClean="0"/>
              <a:t>2 </a:t>
            </a:r>
            <a:r>
              <a:rPr lang="en-US" altLang="zh-TW" sz="3200" b="1" dirty="0"/>
              <a:t>+ D</a:t>
            </a:r>
            <a:r>
              <a:rPr lang="en-US" altLang="zh-TW" sz="3200" b="1" baseline="-25000" dirty="0"/>
              <a:t>3</a:t>
            </a:r>
            <a:r>
              <a:rPr lang="en-US" altLang="zh-TW" sz="3200" b="1" dirty="0"/>
              <a:t> </a:t>
            </a:r>
            <a:endParaRPr lang="zh-TW" altLang="en-US" sz="3200" b="1" dirty="0"/>
          </a:p>
        </p:txBody>
      </p:sp>
      <p:grpSp>
        <p:nvGrpSpPr>
          <p:cNvPr id="21" name="Group 4"/>
          <p:cNvGrpSpPr>
            <a:grpSpLocks noChangeAspect="1"/>
          </p:cNvGrpSpPr>
          <p:nvPr/>
        </p:nvGrpSpPr>
        <p:grpSpPr bwMode="auto">
          <a:xfrm>
            <a:off x="8500670" y="709993"/>
            <a:ext cx="1495425" cy="793750"/>
            <a:chOff x="2347" y="1818"/>
            <a:chExt cx="942" cy="500"/>
          </a:xfrm>
        </p:grpSpPr>
        <p:sp>
          <p:nvSpPr>
            <p:cNvPr id="22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23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25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grpSp>
        <p:nvGrpSpPr>
          <p:cNvPr id="29" name="Group 4"/>
          <p:cNvGrpSpPr>
            <a:grpSpLocks noChangeAspect="1"/>
          </p:cNvGrpSpPr>
          <p:nvPr/>
        </p:nvGrpSpPr>
        <p:grpSpPr bwMode="auto">
          <a:xfrm>
            <a:off x="8500670" y="1857399"/>
            <a:ext cx="1495425" cy="793750"/>
            <a:chOff x="2347" y="1818"/>
            <a:chExt cx="942" cy="500"/>
          </a:xfrm>
        </p:grpSpPr>
        <p:sp>
          <p:nvSpPr>
            <p:cNvPr id="30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1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2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cxnSp>
        <p:nvCxnSpPr>
          <p:cNvPr id="11" name="直線接點 10"/>
          <p:cNvCxnSpPr/>
          <p:nvPr/>
        </p:nvCxnSpPr>
        <p:spPr>
          <a:xfrm>
            <a:off x="9713521" y="1106868"/>
            <a:ext cx="7429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>
            <a:off x="9713521" y="2258964"/>
            <a:ext cx="7429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/>
          <p:cNvSpPr txBox="1"/>
          <p:nvPr/>
        </p:nvSpPr>
        <p:spPr>
          <a:xfrm>
            <a:off x="10463407" y="202344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10463407" y="88714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6136271" y="40479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136271" y="1189304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6110037" y="1951102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6144430" y="2738869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cxnSp>
        <p:nvCxnSpPr>
          <p:cNvPr id="40" name="直線接點 39"/>
          <p:cNvCxnSpPr/>
          <p:nvPr/>
        </p:nvCxnSpPr>
        <p:spPr>
          <a:xfrm>
            <a:off x="6662057" y="609999"/>
            <a:ext cx="2676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>
            <a:off x="6662057" y="1459692"/>
            <a:ext cx="2676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>
          <a:xfrm>
            <a:off x="6662057" y="2188719"/>
            <a:ext cx="2676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6662057" y="2969702"/>
            <a:ext cx="2676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6866164" y="148334"/>
            <a:ext cx="3445329" cy="3313323"/>
          </a:xfrm>
          <a:prstGeom prst="rect">
            <a:avLst/>
          </a:prstGeom>
          <a:noFill/>
          <a:ln w="28575">
            <a:solidFill>
              <a:schemeClr val="accent6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手繪多邊形 1"/>
          <p:cNvSpPr/>
          <p:nvPr/>
        </p:nvSpPr>
        <p:spPr>
          <a:xfrm>
            <a:off x="6923314" y="888860"/>
            <a:ext cx="1951265" cy="1291744"/>
          </a:xfrm>
          <a:custGeom>
            <a:avLst/>
            <a:gdLst>
              <a:gd name="connsiteX0" fmla="*/ 0 w 1951265"/>
              <a:gd name="connsiteY0" fmla="*/ 1291004 h 1291744"/>
              <a:gd name="connsiteX1" fmla="*/ 391886 w 1951265"/>
              <a:gd name="connsiteY1" fmla="*/ 1152211 h 1291744"/>
              <a:gd name="connsiteX2" fmla="*/ 938893 w 1951265"/>
              <a:gd name="connsiteY2" fmla="*/ 425590 h 1291744"/>
              <a:gd name="connsiteX3" fmla="*/ 1526722 w 1951265"/>
              <a:gd name="connsiteY3" fmla="*/ 66361 h 1291744"/>
              <a:gd name="connsiteX4" fmla="*/ 1951265 w 1951265"/>
              <a:gd name="connsiteY4" fmla="*/ 1047 h 1291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1265" h="1291744">
                <a:moveTo>
                  <a:pt x="0" y="1291004"/>
                </a:moveTo>
                <a:cubicBezTo>
                  <a:pt x="117702" y="1293725"/>
                  <a:pt x="235404" y="1296447"/>
                  <a:pt x="391886" y="1152211"/>
                </a:cubicBezTo>
                <a:cubicBezTo>
                  <a:pt x="548368" y="1007975"/>
                  <a:pt x="749754" y="606565"/>
                  <a:pt x="938893" y="425590"/>
                </a:cubicBezTo>
                <a:cubicBezTo>
                  <a:pt x="1128032" y="244615"/>
                  <a:pt x="1357993" y="137118"/>
                  <a:pt x="1526722" y="66361"/>
                </a:cubicBezTo>
                <a:cubicBezTo>
                  <a:pt x="1695451" y="-4396"/>
                  <a:pt x="1823358" y="-1675"/>
                  <a:pt x="1951265" y="1047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手繪多邊形 3"/>
          <p:cNvSpPr/>
          <p:nvPr/>
        </p:nvSpPr>
        <p:spPr>
          <a:xfrm>
            <a:off x="6915150" y="1273629"/>
            <a:ext cx="1983921" cy="1698171"/>
          </a:xfrm>
          <a:custGeom>
            <a:avLst/>
            <a:gdLst>
              <a:gd name="connsiteX0" fmla="*/ 0 w 1983921"/>
              <a:gd name="connsiteY0" fmla="*/ 1698171 h 1698171"/>
              <a:gd name="connsiteX1" fmla="*/ 481693 w 1983921"/>
              <a:gd name="connsiteY1" fmla="*/ 1510392 h 1698171"/>
              <a:gd name="connsiteX2" fmla="*/ 947057 w 1983921"/>
              <a:gd name="connsiteY2" fmla="*/ 800100 h 1698171"/>
              <a:gd name="connsiteX3" fmla="*/ 1265464 w 1983921"/>
              <a:gd name="connsiteY3" fmla="*/ 212271 h 1698171"/>
              <a:gd name="connsiteX4" fmla="*/ 1983921 w 1983921"/>
              <a:gd name="connsiteY4" fmla="*/ 0 h 1698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83921" h="1698171">
                <a:moveTo>
                  <a:pt x="0" y="1698171"/>
                </a:moveTo>
                <a:cubicBezTo>
                  <a:pt x="161925" y="1679120"/>
                  <a:pt x="323850" y="1660070"/>
                  <a:pt x="481693" y="1510392"/>
                </a:cubicBezTo>
                <a:cubicBezTo>
                  <a:pt x="639536" y="1360714"/>
                  <a:pt x="816428" y="1016454"/>
                  <a:pt x="947057" y="800100"/>
                </a:cubicBezTo>
                <a:cubicBezTo>
                  <a:pt x="1077686" y="583746"/>
                  <a:pt x="1092653" y="345621"/>
                  <a:pt x="1265464" y="212271"/>
                </a:cubicBezTo>
                <a:cubicBezTo>
                  <a:pt x="1438275" y="78921"/>
                  <a:pt x="1711098" y="39460"/>
                  <a:pt x="1983921" y="0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手繪多邊形 9"/>
          <p:cNvSpPr/>
          <p:nvPr/>
        </p:nvSpPr>
        <p:spPr>
          <a:xfrm>
            <a:off x="6923314" y="1451672"/>
            <a:ext cx="1967593" cy="685177"/>
          </a:xfrm>
          <a:custGeom>
            <a:avLst/>
            <a:gdLst>
              <a:gd name="connsiteX0" fmla="*/ 0 w 1967593"/>
              <a:gd name="connsiteY0" fmla="*/ 1571 h 685177"/>
              <a:gd name="connsiteX1" fmla="*/ 465365 w 1967593"/>
              <a:gd name="connsiteY1" fmla="*/ 99542 h 685177"/>
              <a:gd name="connsiteX2" fmla="*/ 1322615 w 1967593"/>
              <a:gd name="connsiteY2" fmla="*/ 638385 h 685177"/>
              <a:gd name="connsiteX3" fmla="*/ 1967593 w 1967593"/>
              <a:gd name="connsiteY3" fmla="*/ 622057 h 685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7593" h="685177">
                <a:moveTo>
                  <a:pt x="0" y="1571"/>
                </a:moveTo>
                <a:cubicBezTo>
                  <a:pt x="122464" y="-2512"/>
                  <a:pt x="244929" y="-6594"/>
                  <a:pt x="465365" y="99542"/>
                </a:cubicBezTo>
                <a:cubicBezTo>
                  <a:pt x="685801" y="205678"/>
                  <a:pt x="1072244" y="551299"/>
                  <a:pt x="1322615" y="638385"/>
                </a:cubicBezTo>
                <a:cubicBezTo>
                  <a:pt x="1572986" y="725471"/>
                  <a:pt x="1770289" y="673764"/>
                  <a:pt x="1967593" y="622057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手繪多邊形 11"/>
          <p:cNvSpPr/>
          <p:nvPr/>
        </p:nvSpPr>
        <p:spPr>
          <a:xfrm>
            <a:off x="6915150" y="2428271"/>
            <a:ext cx="1967593" cy="543529"/>
          </a:xfrm>
          <a:custGeom>
            <a:avLst/>
            <a:gdLst>
              <a:gd name="connsiteX0" fmla="*/ 0 w 1967593"/>
              <a:gd name="connsiteY0" fmla="*/ 543529 h 543529"/>
              <a:gd name="connsiteX1" fmla="*/ 734786 w 1967593"/>
              <a:gd name="connsiteY1" fmla="*/ 396572 h 543529"/>
              <a:gd name="connsiteX2" fmla="*/ 1249136 w 1967593"/>
              <a:gd name="connsiteY2" fmla="*/ 37343 h 543529"/>
              <a:gd name="connsiteX3" fmla="*/ 1967593 w 1967593"/>
              <a:gd name="connsiteY3" fmla="*/ 29179 h 543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7593" h="543529">
                <a:moveTo>
                  <a:pt x="0" y="543529"/>
                </a:moveTo>
                <a:cubicBezTo>
                  <a:pt x="263298" y="512232"/>
                  <a:pt x="526597" y="480936"/>
                  <a:pt x="734786" y="396572"/>
                </a:cubicBezTo>
                <a:cubicBezTo>
                  <a:pt x="942975" y="312208"/>
                  <a:pt x="1043668" y="98575"/>
                  <a:pt x="1249136" y="37343"/>
                </a:cubicBezTo>
                <a:cubicBezTo>
                  <a:pt x="1454604" y="-23889"/>
                  <a:pt x="1711098" y="2645"/>
                  <a:pt x="1967593" y="29179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3537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83141" y="218113"/>
            <a:ext cx="1409351" cy="27515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4-to-2 Encoder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6" name="直線接點 5"/>
          <p:cNvCxnSpPr/>
          <p:nvPr/>
        </p:nvCxnSpPr>
        <p:spPr>
          <a:xfrm>
            <a:off x="2046914" y="4278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2046914" y="11896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2046914" y="19514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2046914" y="27132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3892492" y="1164670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3892492" y="19514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1562486" y="148334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1562486" y="932840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1536252" y="169463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1570645" y="2482405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4370894" y="172060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4377857" y="89564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346510"/>
              </p:ext>
            </p:extLst>
          </p:nvPr>
        </p:nvGraphicFramePr>
        <p:xfrm>
          <a:off x="751746" y="3400106"/>
          <a:ext cx="4855362" cy="2838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227">
                  <a:extLst>
                    <a:ext uri="{9D8B030D-6E8A-4147-A177-3AD203B41FA5}">
                      <a16:colId xmlns:a16="http://schemas.microsoft.com/office/drawing/2014/main" val="1790005131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917817357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2728926950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2913704751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1609159334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3572416527"/>
                    </a:ext>
                  </a:extLst>
                </a:gridCol>
              </a:tblGrid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0083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560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7984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6768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72912"/>
                  </a:ext>
                </a:extLst>
              </a:tr>
            </a:tbl>
          </a:graphicData>
        </a:graphic>
      </p:graphicFrame>
      <p:sp>
        <p:nvSpPr>
          <p:cNvPr id="3" name="文字方塊 2"/>
          <p:cNvSpPr txBox="1"/>
          <p:nvPr/>
        </p:nvSpPr>
        <p:spPr>
          <a:xfrm>
            <a:off x="7094066" y="4804384"/>
            <a:ext cx="22733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y = D</a:t>
            </a:r>
            <a:r>
              <a:rPr lang="en-US" altLang="zh-TW" sz="3200" b="1" baseline="-25000" dirty="0" smtClean="0"/>
              <a:t>1 </a:t>
            </a:r>
            <a:r>
              <a:rPr lang="en-US" altLang="zh-TW" sz="3200" b="1" dirty="0"/>
              <a:t>+ D</a:t>
            </a:r>
            <a:r>
              <a:rPr lang="en-US" altLang="zh-TW" sz="3200" b="1" baseline="-25000" dirty="0"/>
              <a:t>3</a:t>
            </a:r>
            <a:r>
              <a:rPr lang="en-US" altLang="zh-TW" sz="3200" b="1" dirty="0"/>
              <a:t> </a:t>
            </a:r>
            <a:endParaRPr lang="zh-TW" altLang="en-US" sz="3200" b="1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7094066" y="4219609"/>
            <a:ext cx="22733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x = D</a:t>
            </a:r>
            <a:r>
              <a:rPr lang="en-US" altLang="zh-TW" sz="3200" b="1" baseline="-25000" dirty="0" smtClean="0"/>
              <a:t>2 </a:t>
            </a:r>
            <a:r>
              <a:rPr lang="en-US" altLang="zh-TW" sz="3200" b="1" dirty="0"/>
              <a:t>+ D</a:t>
            </a:r>
            <a:r>
              <a:rPr lang="en-US" altLang="zh-TW" sz="3200" b="1" baseline="-25000" dirty="0"/>
              <a:t>3</a:t>
            </a:r>
            <a:r>
              <a:rPr lang="en-US" altLang="zh-TW" sz="3200" b="1" dirty="0"/>
              <a:t> </a:t>
            </a:r>
            <a:endParaRPr lang="zh-TW" altLang="en-US" sz="3200" b="1" dirty="0"/>
          </a:p>
        </p:txBody>
      </p:sp>
      <p:grpSp>
        <p:nvGrpSpPr>
          <p:cNvPr id="21" name="Group 4"/>
          <p:cNvGrpSpPr>
            <a:grpSpLocks noChangeAspect="1"/>
          </p:cNvGrpSpPr>
          <p:nvPr/>
        </p:nvGrpSpPr>
        <p:grpSpPr bwMode="auto">
          <a:xfrm>
            <a:off x="8500670" y="709993"/>
            <a:ext cx="1495425" cy="793750"/>
            <a:chOff x="2347" y="1818"/>
            <a:chExt cx="942" cy="500"/>
          </a:xfrm>
        </p:grpSpPr>
        <p:sp>
          <p:nvSpPr>
            <p:cNvPr id="22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23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25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grpSp>
        <p:nvGrpSpPr>
          <p:cNvPr id="29" name="Group 4"/>
          <p:cNvGrpSpPr>
            <a:grpSpLocks noChangeAspect="1"/>
          </p:cNvGrpSpPr>
          <p:nvPr/>
        </p:nvGrpSpPr>
        <p:grpSpPr bwMode="auto">
          <a:xfrm>
            <a:off x="8500670" y="1857399"/>
            <a:ext cx="1495425" cy="793750"/>
            <a:chOff x="2347" y="1818"/>
            <a:chExt cx="942" cy="500"/>
          </a:xfrm>
        </p:grpSpPr>
        <p:sp>
          <p:nvSpPr>
            <p:cNvPr id="30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1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2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cxnSp>
        <p:nvCxnSpPr>
          <p:cNvPr id="11" name="直線接點 10"/>
          <p:cNvCxnSpPr/>
          <p:nvPr/>
        </p:nvCxnSpPr>
        <p:spPr>
          <a:xfrm>
            <a:off x="9713521" y="1106868"/>
            <a:ext cx="7429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>
            <a:off x="9713521" y="2258964"/>
            <a:ext cx="7429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/>
          <p:cNvSpPr txBox="1"/>
          <p:nvPr/>
        </p:nvSpPr>
        <p:spPr>
          <a:xfrm>
            <a:off x="10463407" y="202344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10463407" y="88714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6136271" y="40479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136271" y="1189304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6110037" y="1951102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6144430" y="2738869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cxnSp>
        <p:nvCxnSpPr>
          <p:cNvPr id="40" name="直線接點 39"/>
          <p:cNvCxnSpPr/>
          <p:nvPr/>
        </p:nvCxnSpPr>
        <p:spPr>
          <a:xfrm>
            <a:off x="6662057" y="609999"/>
            <a:ext cx="2676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>
            <a:off x="6662057" y="1459692"/>
            <a:ext cx="2676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>
          <a:xfrm>
            <a:off x="6662057" y="2188719"/>
            <a:ext cx="2676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6662057" y="2969702"/>
            <a:ext cx="2676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6866164" y="148334"/>
            <a:ext cx="3445329" cy="3313323"/>
          </a:xfrm>
          <a:prstGeom prst="rect">
            <a:avLst/>
          </a:prstGeom>
          <a:noFill/>
          <a:ln w="28575">
            <a:solidFill>
              <a:schemeClr val="accent6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手繪多邊形 1"/>
          <p:cNvSpPr/>
          <p:nvPr/>
        </p:nvSpPr>
        <p:spPr>
          <a:xfrm>
            <a:off x="6923314" y="888860"/>
            <a:ext cx="1951265" cy="1291744"/>
          </a:xfrm>
          <a:custGeom>
            <a:avLst/>
            <a:gdLst>
              <a:gd name="connsiteX0" fmla="*/ 0 w 1951265"/>
              <a:gd name="connsiteY0" fmla="*/ 1291004 h 1291744"/>
              <a:gd name="connsiteX1" fmla="*/ 391886 w 1951265"/>
              <a:gd name="connsiteY1" fmla="*/ 1152211 h 1291744"/>
              <a:gd name="connsiteX2" fmla="*/ 938893 w 1951265"/>
              <a:gd name="connsiteY2" fmla="*/ 425590 h 1291744"/>
              <a:gd name="connsiteX3" fmla="*/ 1526722 w 1951265"/>
              <a:gd name="connsiteY3" fmla="*/ 66361 h 1291744"/>
              <a:gd name="connsiteX4" fmla="*/ 1951265 w 1951265"/>
              <a:gd name="connsiteY4" fmla="*/ 1047 h 1291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1265" h="1291744">
                <a:moveTo>
                  <a:pt x="0" y="1291004"/>
                </a:moveTo>
                <a:cubicBezTo>
                  <a:pt x="117702" y="1293725"/>
                  <a:pt x="235404" y="1296447"/>
                  <a:pt x="391886" y="1152211"/>
                </a:cubicBezTo>
                <a:cubicBezTo>
                  <a:pt x="548368" y="1007975"/>
                  <a:pt x="749754" y="606565"/>
                  <a:pt x="938893" y="425590"/>
                </a:cubicBezTo>
                <a:cubicBezTo>
                  <a:pt x="1128032" y="244615"/>
                  <a:pt x="1357993" y="137118"/>
                  <a:pt x="1526722" y="66361"/>
                </a:cubicBezTo>
                <a:cubicBezTo>
                  <a:pt x="1695451" y="-4396"/>
                  <a:pt x="1823358" y="-1675"/>
                  <a:pt x="1951265" y="1047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手繪多邊形 3"/>
          <p:cNvSpPr/>
          <p:nvPr/>
        </p:nvSpPr>
        <p:spPr>
          <a:xfrm>
            <a:off x="6915150" y="1273629"/>
            <a:ext cx="1983921" cy="1698171"/>
          </a:xfrm>
          <a:custGeom>
            <a:avLst/>
            <a:gdLst>
              <a:gd name="connsiteX0" fmla="*/ 0 w 1983921"/>
              <a:gd name="connsiteY0" fmla="*/ 1698171 h 1698171"/>
              <a:gd name="connsiteX1" fmla="*/ 481693 w 1983921"/>
              <a:gd name="connsiteY1" fmla="*/ 1510392 h 1698171"/>
              <a:gd name="connsiteX2" fmla="*/ 947057 w 1983921"/>
              <a:gd name="connsiteY2" fmla="*/ 800100 h 1698171"/>
              <a:gd name="connsiteX3" fmla="*/ 1265464 w 1983921"/>
              <a:gd name="connsiteY3" fmla="*/ 212271 h 1698171"/>
              <a:gd name="connsiteX4" fmla="*/ 1983921 w 1983921"/>
              <a:gd name="connsiteY4" fmla="*/ 0 h 1698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83921" h="1698171">
                <a:moveTo>
                  <a:pt x="0" y="1698171"/>
                </a:moveTo>
                <a:cubicBezTo>
                  <a:pt x="161925" y="1679120"/>
                  <a:pt x="323850" y="1660070"/>
                  <a:pt x="481693" y="1510392"/>
                </a:cubicBezTo>
                <a:cubicBezTo>
                  <a:pt x="639536" y="1360714"/>
                  <a:pt x="816428" y="1016454"/>
                  <a:pt x="947057" y="800100"/>
                </a:cubicBezTo>
                <a:cubicBezTo>
                  <a:pt x="1077686" y="583746"/>
                  <a:pt x="1092653" y="345621"/>
                  <a:pt x="1265464" y="212271"/>
                </a:cubicBezTo>
                <a:cubicBezTo>
                  <a:pt x="1438275" y="78921"/>
                  <a:pt x="1711098" y="39460"/>
                  <a:pt x="1983921" y="0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手繪多邊形 9"/>
          <p:cNvSpPr/>
          <p:nvPr/>
        </p:nvSpPr>
        <p:spPr>
          <a:xfrm>
            <a:off x="6923314" y="1451672"/>
            <a:ext cx="1967593" cy="685177"/>
          </a:xfrm>
          <a:custGeom>
            <a:avLst/>
            <a:gdLst>
              <a:gd name="connsiteX0" fmla="*/ 0 w 1967593"/>
              <a:gd name="connsiteY0" fmla="*/ 1571 h 685177"/>
              <a:gd name="connsiteX1" fmla="*/ 465365 w 1967593"/>
              <a:gd name="connsiteY1" fmla="*/ 99542 h 685177"/>
              <a:gd name="connsiteX2" fmla="*/ 1322615 w 1967593"/>
              <a:gd name="connsiteY2" fmla="*/ 638385 h 685177"/>
              <a:gd name="connsiteX3" fmla="*/ 1967593 w 1967593"/>
              <a:gd name="connsiteY3" fmla="*/ 622057 h 685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7593" h="685177">
                <a:moveTo>
                  <a:pt x="0" y="1571"/>
                </a:moveTo>
                <a:cubicBezTo>
                  <a:pt x="122464" y="-2512"/>
                  <a:pt x="244929" y="-6594"/>
                  <a:pt x="465365" y="99542"/>
                </a:cubicBezTo>
                <a:cubicBezTo>
                  <a:pt x="685801" y="205678"/>
                  <a:pt x="1072244" y="551299"/>
                  <a:pt x="1322615" y="638385"/>
                </a:cubicBezTo>
                <a:cubicBezTo>
                  <a:pt x="1572986" y="725471"/>
                  <a:pt x="1770289" y="673764"/>
                  <a:pt x="1967593" y="622057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手繪多邊形 11"/>
          <p:cNvSpPr/>
          <p:nvPr/>
        </p:nvSpPr>
        <p:spPr>
          <a:xfrm>
            <a:off x="6915150" y="2428271"/>
            <a:ext cx="1967593" cy="543529"/>
          </a:xfrm>
          <a:custGeom>
            <a:avLst/>
            <a:gdLst>
              <a:gd name="connsiteX0" fmla="*/ 0 w 1967593"/>
              <a:gd name="connsiteY0" fmla="*/ 543529 h 543529"/>
              <a:gd name="connsiteX1" fmla="*/ 734786 w 1967593"/>
              <a:gd name="connsiteY1" fmla="*/ 396572 h 543529"/>
              <a:gd name="connsiteX2" fmla="*/ 1249136 w 1967593"/>
              <a:gd name="connsiteY2" fmla="*/ 37343 h 543529"/>
              <a:gd name="connsiteX3" fmla="*/ 1967593 w 1967593"/>
              <a:gd name="connsiteY3" fmla="*/ 29179 h 543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7593" h="543529">
                <a:moveTo>
                  <a:pt x="0" y="543529"/>
                </a:moveTo>
                <a:cubicBezTo>
                  <a:pt x="263298" y="512232"/>
                  <a:pt x="526597" y="480936"/>
                  <a:pt x="734786" y="396572"/>
                </a:cubicBezTo>
                <a:cubicBezTo>
                  <a:pt x="942975" y="312208"/>
                  <a:pt x="1043668" y="98575"/>
                  <a:pt x="1249136" y="37343"/>
                </a:cubicBezTo>
                <a:cubicBezTo>
                  <a:pt x="1454604" y="-23889"/>
                  <a:pt x="1711098" y="2645"/>
                  <a:pt x="1967593" y="29179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8591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83141" y="218113"/>
            <a:ext cx="1409351" cy="27515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4-to-2 Encoder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6" name="直線接點 5"/>
          <p:cNvCxnSpPr/>
          <p:nvPr/>
        </p:nvCxnSpPr>
        <p:spPr>
          <a:xfrm>
            <a:off x="2046914" y="4278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2046914" y="11896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2046914" y="19514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2046914" y="27132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3892492" y="1164670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3892492" y="19514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1562486" y="148334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1562486" y="932840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1536252" y="169463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1570645" y="2482405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4370894" y="172060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4377857" y="89564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706267"/>
              </p:ext>
            </p:extLst>
          </p:nvPr>
        </p:nvGraphicFramePr>
        <p:xfrm>
          <a:off x="751746" y="3400106"/>
          <a:ext cx="4855362" cy="2838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227">
                  <a:extLst>
                    <a:ext uri="{9D8B030D-6E8A-4147-A177-3AD203B41FA5}">
                      <a16:colId xmlns:a16="http://schemas.microsoft.com/office/drawing/2014/main" val="1790005131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917817357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2728926950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2913704751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1609159334"/>
                    </a:ext>
                  </a:extLst>
                </a:gridCol>
                <a:gridCol w="809227">
                  <a:extLst>
                    <a:ext uri="{9D8B030D-6E8A-4147-A177-3AD203B41FA5}">
                      <a16:colId xmlns:a16="http://schemas.microsoft.com/office/drawing/2014/main" val="3572416527"/>
                    </a:ext>
                  </a:extLst>
                </a:gridCol>
              </a:tblGrid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0083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560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7984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6768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72912"/>
                  </a:ext>
                </a:extLst>
              </a:tr>
            </a:tbl>
          </a:graphicData>
        </a:graphic>
      </p:graphicFrame>
      <p:sp>
        <p:nvSpPr>
          <p:cNvPr id="3" name="文字方塊 2"/>
          <p:cNvSpPr txBox="1"/>
          <p:nvPr/>
        </p:nvSpPr>
        <p:spPr>
          <a:xfrm>
            <a:off x="7094066" y="4804384"/>
            <a:ext cx="22733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y = D</a:t>
            </a:r>
            <a:r>
              <a:rPr lang="en-US" altLang="zh-TW" sz="3200" b="1" baseline="-25000" dirty="0" smtClean="0"/>
              <a:t>1 </a:t>
            </a:r>
            <a:r>
              <a:rPr lang="en-US" altLang="zh-TW" sz="3200" b="1" dirty="0"/>
              <a:t>+ D</a:t>
            </a:r>
            <a:r>
              <a:rPr lang="en-US" altLang="zh-TW" sz="3200" b="1" baseline="-25000" dirty="0"/>
              <a:t>3</a:t>
            </a:r>
            <a:r>
              <a:rPr lang="en-US" altLang="zh-TW" sz="3200" b="1" dirty="0"/>
              <a:t> </a:t>
            </a:r>
            <a:endParaRPr lang="zh-TW" altLang="en-US" sz="3200" b="1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7094066" y="4219609"/>
            <a:ext cx="22733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x = D</a:t>
            </a:r>
            <a:r>
              <a:rPr lang="en-US" altLang="zh-TW" sz="3200" b="1" baseline="-25000" dirty="0" smtClean="0"/>
              <a:t>2 </a:t>
            </a:r>
            <a:r>
              <a:rPr lang="en-US" altLang="zh-TW" sz="3200" b="1" dirty="0"/>
              <a:t>+ D</a:t>
            </a:r>
            <a:r>
              <a:rPr lang="en-US" altLang="zh-TW" sz="3200" b="1" baseline="-25000" dirty="0"/>
              <a:t>3</a:t>
            </a:r>
            <a:r>
              <a:rPr lang="en-US" altLang="zh-TW" sz="3200" b="1" dirty="0"/>
              <a:t> </a:t>
            </a:r>
            <a:endParaRPr lang="zh-TW" altLang="en-US" sz="3200" b="1" dirty="0"/>
          </a:p>
        </p:txBody>
      </p:sp>
      <p:grpSp>
        <p:nvGrpSpPr>
          <p:cNvPr id="21" name="Group 4"/>
          <p:cNvGrpSpPr>
            <a:grpSpLocks noChangeAspect="1"/>
          </p:cNvGrpSpPr>
          <p:nvPr/>
        </p:nvGrpSpPr>
        <p:grpSpPr bwMode="auto">
          <a:xfrm>
            <a:off x="8500670" y="709993"/>
            <a:ext cx="1495425" cy="793750"/>
            <a:chOff x="2347" y="1818"/>
            <a:chExt cx="942" cy="500"/>
          </a:xfrm>
        </p:grpSpPr>
        <p:sp>
          <p:nvSpPr>
            <p:cNvPr id="22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23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25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grpSp>
        <p:nvGrpSpPr>
          <p:cNvPr id="29" name="Group 4"/>
          <p:cNvGrpSpPr>
            <a:grpSpLocks noChangeAspect="1"/>
          </p:cNvGrpSpPr>
          <p:nvPr/>
        </p:nvGrpSpPr>
        <p:grpSpPr bwMode="auto">
          <a:xfrm>
            <a:off x="8500670" y="1857399"/>
            <a:ext cx="1495425" cy="793750"/>
            <a:chOff x="2347" y="1818"/>
            <a:chExt cx="942" cy="500"/>
          </a:xfrm>
        </p:grpSpPr>
        <p:sp>
          <p:nvSpPr>
            <p:cNvPr id="30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1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2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cxnSp>
        <p:nvCxnSpPr>
          <p:cNvPr id="11" name="直線接點 10"/>
          <p:cNvCxnSpPr/>
          <p:nvPr/>
        </p:nvCxnSpPr>
        <p:spPr>
          <a:xfrm>
            <a:off x="9713521" y="1106868"/>
            <a:ext cx="7429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>
            <a:off x="9713521" y="2258964"/>
            <a:ext cx="7429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/>
          <p:cNvSpPr txBox="1"/>
          <p:nvPr/>
        </p:nvSpPr>
        <p:spPr>
          <a:xfrm>
            <a:off x="10463407" y="202344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10463407" y="88714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6136271" y="40479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136271" y="1189304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6110037" y="1951102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6144430" y="2738869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cxnSp>
        <p:nvCxnSpPr>
          <p:cNvPr id="40" name="直線接點 39"/>
          <p:cNvCxnSpPr/>
          <p:nvPr/>
        </p:nvCxnSpPr>
        <p:spPr>
          <a:xfrm>
            <a:off x="6662057" y="609999"/>
            <a:ext cx="2676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>
            <a:off x="6662057" y="1459692"/>
            <a:ext cx="2676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>
          <a:xfrm>
            <a:off x="6662057" y="2188719"/>
            <a:ext cx="2676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6662057" y="2969702"/>
            <a:ext cx="2676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6866164" y="148334"/>
            <a:ext cx="3445329" cy="3313323"/>
          </a:xfrm>
          <a:prstGeom prst="rect">
            <a:avLst/>
          </a:prstGeom>
          <a:noFill/>
          <a:ln w="28575">
            <a:solidFill>
              <a:schemeClr val="accent6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手繪多邊形 1"/>
          <p:cNvSpPr/>
          <p:nvPr/>
        </p:nvSpPr>
        <p:spPr>
          <a:xfrm>
            <a:off x="6923314" y="888860"/>
            <a:ext cx="1951265" cy="1291744"/>
          </a:xfrm>
          <a:custGeom>
            <a:avLst/>
            <a:gdLst>
              <a:gd name="connsiteX0" fmla="*/ 0 w 1951265"/>
              <a:gd name="connsiteY0" fmla="*/ 1291004 h 1291744"/>
              <a:gd name="connsiteX1" fmla="*/ 391886 w 1951265"/>
              <a:gd name="connsiteY1" fmla="*/ 1152211 h 1291744"/>
              <a:gd name="connsiteX2" fmla="*/ 938893 w 1951265"/>
              <a:gd name="connsiteY2" fmla="*/ 425590 h 1291744"/>
              <a:gd name="connsiteX3" fmla="*/ 1526722 w 1951265"/>
              <a:gd name="connsiteY3" fmla="*/ 66361 h 1291744"/>
              <a:gd name="connsiteX4" fmla="*/ 1951265 w 1951265"/>
              <a:gd name="connsiteY4" fmla="*/ 1047 h 1291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1265" h="1291744">
                <a:moveTo>
                  <a:pt x="0" y="1291004"/>
                </a:moveTo>
                <a:cubicBezTo>
                  <a:pt x="117702" y="1293725"/>
                  <a:pt x="235404" y="1296447"/>
                  <a:pt x="391886" y="1152211"/>
                </a:cubicBezTo>
                <a:cubicBezTo>
                  <a:pt x="548368" y="1007975"/>
                  <a:pt x="749754" y="606565"/>
                  <a:pt x="938893" y="425590"/>
                </a:cubicBezTo>
                <a:cubicBezTo>
                  <a:pt x="1128032" y="244615"/>
                  <a:pt x="1357993" y="137118"/>
                  <a:pt x="1526722" y="66361"/>
                </a:cubicBezTo>
                <a:cubicBezTo>
                  <a:pt x="1695451" y="-4396"/>
                  <a:pt x="1823358" y="-1675"/>
                  <a:pt x="1951265" y="1047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手繪多邊形 3"/>
          <p:cNvSpPr/>
          <p:nvPr/>
        </p:nvSpPr>
        <p:spPr>
          <a:xfrm>
            <a:off x="6915150" y="1273629"/>
            <a:ext cx="1983921" cy="1698171"/>
          </a:xfrm>
          <a:custGeom>
            <a:avLst/>
            <a:gdLst>
              <a:gd name="connsiteX0" fmla="*/ 0 w 1983921"/>
              <a:gd name="connsiteY0" fmla="*/ 1698171 h 1698171"/>
              <a:gd name="connsiteX1" fmla="*/ 481693 w 1983921"/>
              <a:gd name="connsiteY1" fmla="*/ 1510392 h 1698171"/>
              <a:gd name="connsiteX2" fmla="*/ 947057 w 1983921"/>
              <a:gd name="connsiteY2" fmla="*/ 800100 h 1698171"/>
              <a:gd name="connsiteX3" fmla="*/ 1265464 w 1983921"/>
              <a:gd name="connsiteY3" fmla="*/ 212271 h 1698171"/>
              <a:gd name="connsiteX4" fmla="*/ 1983921 w 1983921"/>
              <a:gd name="connsiteY4" fmla="*/ 0 h 1698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83921" h="1698171">
                <a:moveTo>
                  <a:pt x="0" y="1698171"/>
                </a:moveTo>
                <a:cubicBezTo>
                  <a:pt x="161925" y="1679120"/>
                  <a:pt x="323850" y="1660070"/>
                  <a:pt x="481693" y="1510392"/>
                </a:cubicBezTo>
                <a:cubicBezTo>
                  <a:pt x="639536" y="1360714"/>
                  <a:pt x="816428" y="1016454"/>
                  <a:pt x="947057" y="800100"/>
                </a:cubicBezTo>
                <a:cubicBezTo>
                  <a:pt x="1077686" y="583746"/>
                  <a:pt x="1092653" y="345621"/>
                  <a:pt x="1265464" y="212271"/>
                </a:cubicBezTo>
                <a:cubicBezTo>
                  <a:pt x="1438275" y="78921"/>
                  <a:pt x="1711098" y="39460"/>
                  <a:pt x="1983921" y="0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手繪多邊形 9"/>
          <p:cNvSpPr/>
          <p:nvPr/>
        </p:nvSpPr>
        <p:spPr>
          <a:xfrm>
            <a:off x="6923314" y="1451672"/>
            <a:ext cx="1967593" cy="685177"/>
          </a:xfrm>
          <a:custGeom>
            <a:avLst/>
            <a:gdLst>
              <a:gd name="connsiteX0" fmla="*/ 0 w 1967593"/>
              <a:gd name="connsiteY0" fmla="*/ 1571 h 685177"/>
              <a:gd name="connsiteX1" fmla="*/ 465365 w 1967593"/>
              <a:gd name="connsiteY1" fmla="*/ 99542 h 685177"/>
              <a:gd name="connsiteX2" fmla="*/ 1322615 w 1967593"/>
              <a:gd name="connsiteY2" fmla="*/ 638385 h 685177"/>
              <a:gd name="connsiteX3" fmla="*/ 1967593 w 1967593"/>
              <a:gd name="connsiteY3" fmla="*/ 622057 h 685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7593" h="685177">
                <a:moveTo>
                  <a:pt x="0" y="1571"/>
                </a:moveTo>
                <a:cubicBezTo>
                  <a:pt x="122464" y="-2512"/>
                  <a:pt x="244929" y="-6594"/>
                  <a:pt x="465365" y="99542"/>
                </a:cubicBezTo>
                <a:cubicBezTo>
                  <a:pt x="685801" y="205678"/>
                  <a:pt x="1072244" y="551299"/>
                  <a:pt x="1322615" y="638385"/>
                </a:cubicBezTo>
                <a:cubicBezTo>
                  <a:pt x="1572986" y="725471"/>
                  <a:pt x="1770289" y="673764"/>
                  <a:pt x="1967593" y="622057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手繪多邊形 11"/>
          <p:cNvSpPr/>
          <p:nvPr/>
        </p:nvSpPr>
        <p:spPr>
          <a:xfrm>
            <a:off x="6915150" y="2428271"/>
            <a:ext cx="1967593" cy="543529"/>
          </a:xfrm>
          <a:custGeom>
            <a:avLst/>
            <a:gdLst>
              <a:gd name="connsiteX0" fmla="*/ 0 w 1967593"/>
              <a:gd name="connsiteY0" fmla="*/ 543529 h 543529"/>
              <a:gd name="connsiteX1" fmla="*/ 734786 w 1967593"/>
              <a:gd name="connsiteY1" fmla="*/ 396572 h 543529"/>
              <a:gd name="connsiteX2" fmla="*/ 1249136 w 1967593"/>
              <a:gd name="connsiteY2" fmla="*/ 37343 h 543529"/>
              <a:gd name="connsiteX3" fmla="*/ 1967593 w 1967593"/>
              <a:gd name="connsiteY3" fmla="*/ 29179 h 543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7593" h="543529">
                <a:moveTo>
                  <a:pt x="0" y="543529"/>
                </a:moveTo>
                <a:cubicBezTo>
                  <a:pt x="263298" y="512232"/>
                  <a:pt x="526597" y="480936"/>
                  <a:pt x="734786" y="396572"/>
                </a:cubicBezTo>
                <a:cubicBezTo>
                  <a:pt x="942975" y="312208"/>
                  <a:pt x="1043668" y="98575"/>
                  <a:pt x="1249136" y="37343"/>
                </a:cubicBezTo>
                <a:cubicBezTo>
                  <a:pt x="1454604" y="-23889"/>
                  <a:pt x="1711098" y="2645"/>
                  <a:pt x="1967593" y="29179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9741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326842" y="226563"/>
            <a:ext cx="1409351" cy="27515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8-to-3 Encoder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6" name="直線接點 5"/>
          <p:cNvCxnSpPr/>
          <p:nvPr/>
        </p:nvCxnSpPr>
        <p:spPr>
          <a:xfrm>
            <a:off x="1890615" y="385954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1890615" y="731101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1890615" y="107624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1890615" y="1421395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1890615" y="1766542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1890615" y="2111689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1890615" y="2456836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1890615" y="2801983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3736193" y="847349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3736193" y="1634117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3736192" y="2420884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/>
          <p:cNvSpPr txBox="1"/>
          <p:nvPr/>
        </p:nvSpPr>
        <p:spPr>
          <a:xfrm>
            <a:off x="1364012" y="155121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1364012" y="50026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1364012" y="845415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1364012" y="1188899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1364012" y="1480912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4</a:t>
            </a:r>
            <a:endParaRPr lang="zh-TW" altLang="en-US" sz="2400" baseline="-25000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1364012" y="1826059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5</a:t>
            </a:r>
            <a:endParaRPr lang="zh-TW" altLang="en-US" sz="2400" baseline="-250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1364012" y="2171206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6</a:t>
            </a:r>
            <a:endParaRPr lang="zh-TW" altLang="en-US" sz="2400" baseline="-25000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1364012" y="2514690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7</a:t>
            </a:r>
            <a:endParaRPr lang="zh-TW" altLang="en-US" sz="2400" baseline="-250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4228771" y="2171205"/>
            <a:ext cx="3193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z</a:t>
            </a:r>
            <a:endParaRPr lang="zh-TW" altLang="en-US" sz="2400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4214595" y="140328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4221558" y="57832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576434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326842" y="226563"/>
            <a:ext cx="1409351" cy="27515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8-to-3 Encoder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6" name="直線接點 5"/>
          <p:cNvCxnSpPr/>
          <p:nvPr/>
        </p:nvCxnSpPr>
        <p:spPr>
          <a:xfrm>
            <a:off x="1890615" y="385954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1890615" y="731101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1890615" y="107624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1890615" y="1421395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1890615" y="1766542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1890615" y="2111689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1890615" y="2456836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1890615" y="2801983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3736193" y="847349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3736193" y="1634117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3736192" y="2420884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">
            <a:extLst>
              <a:ext uri="{FF2B5EF4-FFF2-40B4-BE49-F238E27FC236}">
                <a16:creationId xmlns:a16="http://schemas.microsoft.com/office/drawing/2014/main" id="{DF3BB7E6-940E-4106-85CA-4A2F12B09E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80"/>
          <a:stretch/>
        </p:blipFill>
        <p:spPr bwMode="auto">
          <a:xfrm>
            <a:off x="1364012" y="3178753"/>
            <a:ext cx="9301787" cy="3700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文字方塊 17"/>
          <p:cNvSpPr txBox="1"/>
          <p:nvPr/>
        </p:nvSpPr>
        <p:spPr>
          <a:xfrm>
            <a:off x="1364012" y="155121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1364012" y="50026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1364012" y="845415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1364012" y="1188899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1364012" y="1480912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4</a:t>
            </a:r>
            <a:endParaRPr lang="zh-TW" altLang="en-US" sz="2400" baseline="-25000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1364012" y="1826059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5</a:t>
            </a:r>
            <a:endParaRPr lang="zh-TW" altLang="en-US" sz="2400" baseline="-250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1364012" y="2171206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6</a:t>
            </a:r>
            <a:endParaRPr lang="zh-TW" altLang="en-US" sz="2400" baseline="-25000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1364012" y="2514690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7</a:t>
            </a:r>
            <a:endParaRPr lang="zh-TW" altLang="en-US" sz="2400" baseline="-250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4228771" y="2171205"/>
            <a:ext cx="3193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z</a:t>
            </a:r>
            <a:endParaRPr lang="zh-TW" altLang="en-US" sz="2400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4214595" y="140328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4221558" y="57832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57726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326842" y="226563"/>
            <a:ext cx="1409351" cy="27515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8-to-3 Encoder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6" name="直線接點 5"/>
          <p:cNvCxnSpPr/>
          <p:nvPr/>
        </p:nvCxnSpPr>
        <p:spPr>
          <a:xfrm>
            <a:off x="1890615" y="385954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1890615" y="731101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1890615" y="107624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1890615" y="1421395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1890615" y="1766542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1890615" y="2111689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1890615" y="2456836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1890615" y="2801983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3736193" y="847349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3736193" y="1634117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3736192" y="2420884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">
            <a:extLst>
              <a:ext uri="{FF2B5EF4-FFF2-40B4-BE49-F238E27FC236}">
                <a16:creationId xmlns:a16="http://schemas.microsoft.com/office/drawing/2014/main" id="{DF3BB7E6-940E-4106-85CA-4A2F12B09E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80"/>
          <a:stretch/>
        </p:blipFill>
        <p:spPr bwMode="auto">
          <a:xfrm>
            <a:off x="1364012" y="3178753"/>
            <a:ext cx="9301787" cy="3700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文字方塊 17"/>
          <p:cNvSpPr txBox="1"/>
          <p:nvPr/>
        </p:nvSpPr>
        <p:spPr>
          <a:xfrm>
            <a:off x="1364012" y="155121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1364012" y="50026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1364012" y="845415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1364012" y="1188899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1364012" y="1480912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4</a:t>
            </a:r>
            <a:endParaRPr lang="zh-TW" altLang="en-US" sz="2400" baseline="-25000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1364012" y="1826059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5</a:t>
            </a:r>
            <a:endParaRPr lang="zh-TW" altLang="en-US" sz="2400" baseline="-250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1364012" y="2171206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6</a:t>
            </a:r>
            <a:endParaRPr lang="zh-TW" altLang="en-US" sz="2400" baseline="-25000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1364012" y="2514690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7</a:t>
            </a:r>
            <a:endParaRPr lang="zh-TW" altLang="en-US" sz="2400" baseline="-250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4228771" y="2171205"/>
            <a:ext cx="3193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z</a:t>
            </a:r>
            <a:endParaRPr lang="zh-TW" altLang="en-US" sz="2400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4214595" y="140328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4221558" y="57832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  <p:sp>
        <p:nvSpPr>
          <p:cNvPr id="41" name="文字方塊 40"/>
          <p:cNvSpPr txBox="1"/>
          <p:nvPr/>
        </p:nvSpPr>
        <p:spPr>
          <a:xfrm>
            <a:off x="5673480" y="155121"/>
            <a:ext cx="4035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x = D</a:t>
            </a:r>
            <a:r>
              <a:rPr lang="en-US" altLang="zh-TW" sz="3200" b="1" baseline="-25000" dirty="0" smtClean="0"/>
              <a:t>4 </a:t>
            </a:r>
            <a:r>
              <a:rPr lang="en-US" altLang="zh-TW" sz="3200" b="1" dirty="0"/>
              <a:t>+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5</a:t>
            </a:r>
            <a:r>
              <a:rPr lang="en-US" altLang="zh-TW" sz="3200" b="1" dirty="0" smtClean="0"/>
              <a:t> </a:t>
            </a:r>
            <a:r>
              <a:rPr lang="en-US" altLang="zh-TW" sz="3200" b="1" dirty="0"/>
              <a:t>+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6 </a:t>
            </a:r>
            <a:r>
              <a:rPr lang="en-US" altLang="zh-TW" sz="3200" b="1" dirty="0"/>
              <a:t>+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7</a:t>
            </a:r>
            <a:r>
              <a:rPr lang="en-US" altLang="zh-TW" sz="3200" b="1" dirty="0" smtClean="0"/>
              <a:t> </a:t>
            </a:r>
            <a:endParaRPr lang="zh-TW" altLang="en-US" sz="3200" b="1" dirty="0"/>
          </a:p>
        </p:txBody>
      </p:sp>
      <p:sp>
        <p:nvSpPr>
          <p:cNvPr id="46" name="矩形 45"/>
          <p:cNvSpPr/>
          <p:nvPr/>
        </p:nvSpPr>
        <p:spPr>
          <a:xfrm>
            <a:off x="4592768" y="5424142"/>
            <a:ext cx="345147" cy="34514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矩形 48"/>
          <p:cNvSpPr/>
          <p:nvPr/>
        </p:nvSpPr>
        <p:spPr>
          <a:xfrm>
            <a:off x="5336497" y="5720305"/>
            <a:ext cx="345147" cy="34514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矩形 49"/>
          <p:cNvSpPr/>
          <p:nvPr/>
        </p:nvSpPr>
        <p:spPr>
          <a:xfrm>
            <a:off x="6079527" y="6030547"/>
            <a:ext cx="345147" cy="34514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矩形 51"/>
          <p:cNvSpPr/>
          <p:nvPr/>
        </p:nvSpPr>
        <p:spPr>
          <a:xfrm>
            <a:off x="6822557" y="6340788"/>
            <a:ext cx="345147" cy="34514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矩形 54"/>
          <p:cNvSpPr/>
          <p:nvPr/>
        </p:nvSpPr>
        <p:spPr>
          <a:xfrm>
            <a:off x="8590969" y="3695559"/>
            <a:ext cx="345147" cy="299037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3579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326842" y="226563"/>
            <a:ext cx="1409351" cy="27515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8-to-3 Encoder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6" name="直線接點 5"/>
          <p:cNvCxnSpPr/>
          <p:nvPr/>
        </p:nvCxnSpPr>
        <p:spPr>
          <a:xfrm>
            <a:off x="1890615" y="385954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1890615" y="731101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1890615" y="107624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1890615" y="1421395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1890615" y="1766542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1890615" y="2111689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1890615" y="2456836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1890615" y="2801983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3736193" y="847349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3736193" y="1634117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3736192" y="2420884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">
            <a:extLst>
              <a:ext uri="{FF2B5EF4-FFF2-40B4-BE49-F238E27FC236}">
                <a16:creationId xmlns:a16="http://schemas.microsoft.com/office/drawing/2014/main" id="{DF3BB7E6-940E-4106-85CA-4A2F12B09E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80"/>
          <a:stretch/>
        </p:blipFill>
        <p:spPr bwMode="auto">
          <a:xfrm>
            <a:off x="1364012" y="3178753"/>
            <a:ext cx="9301787" cy="3700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文字方塊 17"/>
          <p:cNvSpPr txBox="1"/>
          <p:nvPr/>
        </p:nvSpPr>
        <p:spPr>
          <a:xfrm>
            <a:off x="1364012" y="155121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1364012" y="50026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1364012" y="845415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1364012" y="1188899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1364012" y="1480912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4</a:t>
            </a:r>
            <a:endParaRPr lang="zh-TW" altLang="en-US" sz="2400" baseline="-25000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1364012" y="1826059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5</a:t>
            </a:r>
            <a:endParaRPr lang="zh-TW" altLang="en-US" sz="2400" baseline="-250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1364012" y="2171206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6</a:t>
            </a:r>
            <a:endParaRPr lang="zh-TW" altLang="en-US" sz="2400" baseline="-25000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1364012" y="2514690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7</a:t>
            </a:r>
            <a:endParaRPr lang="zh-TW" altLang="en-US" sz="2400" baseline="-250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4228771" y="2171205"/>
            <a:ext cx="3193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z</a:t>
            </a:r>
            <a:endParaRPr lang="zh-TW" altLang="en-US" sz="2400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4214595" y="140328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4221558" y="57832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5673480" y="779203"/>
            <a:ext cx="4035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y = D</a:t>
            </a:r>
            <a:r>
              <a:rPr lang="en-US" altLang="zh-TW" sz="3200" b="1" baseline="-25000" dirty="0" smtClean="0"/>
              <a:t>2 </a:t>
            </a:r>
            <a:r>
              <a:rPr lang="en-US" altLang="zh-TW" sz="3200" b="1" dirty="0"/>
              <a:t>+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3</a:t>
            </a:r>
            <a:r>
              <a:rPr lang="en-US" altLang="zh-TW" sz="3200" b="1" dirty="0"/>
              <a:t> + D</a:t>
            </a:r>
            <a:r>
              <a:rPr lang="en-US" altLang="zh-TW" sz="3200" b="1" baseline="-25000" dirty="0"/>
              <a:t>6 </a:t>
            </a:r>
            <a:r>
              <a:rPr lang="en-US" altLang="zh-TW" sz="3200" b="1" dirty="0"/>
              <a:t>+ D</a:t>
            </a:r>
            <a:r>
              <a:rPr lang="en-US" altLang="zh-TW" sz="3200" b="1" baseline="-25000" dirty="0"/>
              <a:t>7</a:t>
            </a:r>
            <a:r>
              <a:rPr lang="en-US" altLang="zh-TW" sz="3200" b="1" dirty="0" smtClean="0"/>
              <a:t> </a:t>
            </a:r>
            <a:endParaRPr lang="zh-TW" altLang="en-US" sz="3200" b="1" dirty="0"/>
          </a:p>
        </p:txBody>
      </p:sp>
      <p:sp>
        <p:nvSpPr>
          <p:cNvPr id="41" name="文字方塊 40"/>
          <p:cNvSpPr txBox="1"/>
          <p:nvPr/>
        </p:nvSpPr>
        <p:spPr>
          <a:xfrm>
            <a:off x="5673480" y="155121"/>
            <a:ext cx="4035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x = D</a:t>
            </a:r>
            <a:r>
              <a:rPr lang="en-US" altLang="zh-TW" sz="3200" b="1" baseline="-25000" dirty="0" smtClean="0"/>
              <a:t>4 </a:t>
            </a:r>
            <a:r>
              <a:rPr lang="en-US" altLang="zh-TW" sz="3200" b="1" dirty="0"/>
              <a:t>+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5</a:t>
            </a:r>
            <a:r>
              <a:rPr lang="en-US" altLang="zh-TW" sz="3200" b="1" dirty="0" smtClean="0"/>
              <a:t> </a:t>
            </a:r>
            <a:r>
              <a:rPr lang="en-US" altLang="zh-TW" sz="3200" b="1" dirty="0"/>
              <a:t>+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6 </a:t>
            </a:r>
            <a:r>
              <a:rPr lang="en-US" altLang="zh-TW" sz="3200" b="1" dirty="0"/>
              <a:t>+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7</a:t>
            </a:r>
            <a:r>
              <a:rPr lang="en-US" altLang="zh-TW" sz="3200" b="1" dirty="0" smtClean="0"/>
              <a:t> </a:t>
            </a:r>
            <a:endParaRPr lang="zh-TW" altLang="en-US" sz="3200" b="1" dirty="0"/>
          </a:p>
        </p:txBody>
      </p:sp>
      <p:sp>
        <p:nvSpPr>
          <p:cNvPr id="29" name="矩形 28"/>
          <p:cNvSpPr/>
          <p:nvPr/>
        </p:nvSpPr>
        <p:spPr>
          <a:xfrm>
            <a:off x="3098704" y="4809255"/>
            <a:ext cx="345147" cy="34514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/>
          <p:cNvSpPr/>
          <p:nvPr/>
        </p:nvSpPr>
        <p:spPr>
          <a:xfrm>
            <a:off x="3843600" y="5113062"/>
            <a:ext cx="345147" cy="34514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 41"/>
          <p:cNvSpPr/>
          <p:nvPr/>
        </p:nvSpPr>
        <p:spPr>
          <a:xfrm>
            <a:off x="6072450" y="6027462"/>
            <a:ext cx="345147" cy="34514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矩形 43"/>
          <p:cNvSpPr/>
          <p:nvPr/>
        </p:nvSpPr>
        <p:spPr>
          <a:xfrm>
            <a:off x="6831728" y="6348117"/>
            <a:ext cx="345147" cy="34514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矩形 44"/>
          <p:cNvSpPr/>
          <p:nvPr/>
        </p:nvSpPr>
        <p:spPr>
          <a:xfrm>
            <a:off x="9355248" y="3702888"/>
            <a:ext cx="345147" cy="299037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459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326842" y="226563"/>
            <a:ext cx="1409351" cy="27515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8-to-3 Encoder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6" name="直線接點 5"/>
          <p:cNvCxnSpPr/>
          <p:nvPr/>
        </p:nvCxnSpPr>
        <p:spPr>
          <a:xfrm>
            <a:off x="1890615" y="385954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1890615" y="731101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1890615" y="107624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1890615" y="1421395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1890615" y="1766542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1890615" y="2111689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1890615" y="2456836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1890615" y="2801983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3736193" y="847349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3736193" y="1634117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3736192" y="2420884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">
            <a:extLst>
              <a:ext uri="{FF2B5EF4-FFF2-40B4-BE49-F238E27FC236}">
                <a16:creationId xmlns:a16="http://schemas.microsoft.com/office/drawing/2014/main" id="{DF3BB7E6-940E-4106-85CA-4A2F12B09E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80"/>
          <a:stretch/>
        </p:blipFill>
        <p:spPr bwMode="auto">
          <a:xfrm>
            <a:off x="1364012" y="3178753"/>
            <a:ext cx="9301787" cy="3700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文字方塊 17"/>
          <p:cNvSpPr txBox="1"/>
          <p:nvPr/>
        </p:nvSpPr>
        <p:spPr>
          <a:xfrm>
            <a:off x="1364012" y="155121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1364012" y="50026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1364012" y="845415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1364012" y="1188899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1364012" y="1480912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4</a:t>
            </a:r>
            <a:endParaRPr lang="zh-TW" altLang="en-US" sz="2400" baseline="-25000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1364012" y="1826059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5</a:t>
            </a:r>
            <a:endParaRPr lang="zh-TW" altLang="en-US" sz="2400" baseline="-250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1364012" y="2171206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6</a:t>
            </a:r>
            <a:endParaRPr lang="zh-TW" altLang="en-US" sz="2400" baseline="-25000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1364012" y="2514690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7</a:t>
            </a:r>
            <a:endParaRPr lang="zh-TW" altLang="en-US" sz="2400" baseline="-250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4228771" y="2171205"/>
            <a:ext cx="3193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z</a:t>
            </a:r>
            <a:endParaRPr lang="zh-TW" altLang="en-US" sz="2400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4214595" y="140328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4221558" y="57832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5673480" y="779203"/>
            <a:ext cx="4035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y = D</a:t>
            </a:r>
            <a:r>
              <a:rPr lang="en-US" altLang="zh-TW" sz="3200" b="1" baseline="-25000" dirty="0" smtClean="0"/>
              <a:t>2 </a:t>
            </a:r>
            <a:r>
              <a:rPr lang="en-US" altLang="zh-TW" sz="3200" b="1" dirty="0"/>
              <a:t>+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3</a:t>
            </a:r>
            <a:r>
              <a:rPr lang="en-US" altLang="zh-TW" sz="3200" b="1" dirty="0"/>
              <a:t> + D</a:t>
            </a:r>
            <a:r>
              <a:rPr lang="en-US" altLang="zh-TW" sz="3200" b="1" baseline="-25000" dirty="0"/>
              <a:t>6 </a:t>
            </a:r>
            <a:r>
              <a:rPr lang="en-US" altLang="zh-TW" sz="3200" b="1" dirty="0"/>
              <a:t>+ D</a:t>
            </a:r>
            <a:r>
              <a:rPr lang="en-US" altLang="zh-TW" sz="3200" b="1" baseline="-25000" dirty="0"/>
              <a:t>7</a:t>
            </a:r>
            <a:r>
              <a:rPr lang="en-US" altLang="zh-TW" sz="3200" b="1" dirty="0" smtClean="0"/>
              <a:t> </a:t>
            </a:r>
            <a:endParaRPr lang="zh-TW" altLang="en-US" sz="3200" b="1" dirty="0"/>
          </a:p>
        </p:txBody>
      </p:sp>
      <p:sp>
        <p:nvSpPr>
          <p:cNvPr id="41" name="文字方塊 40"/>
          <p:cNvSpPr txBox="1"/>
          <p:nvPr/>
        </p:nvSpPr>
        <p:spPr>
          <a:xfrm>
            <a:off x="5673480" y="155121"/>
            <a:ext cx="4035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x = D</a:t>
            </a:r>
            <a:r>
              <a:rPr lang="en-US" altLang="zh-TW" sz="3200" b="1" baseline="-25000" dirty="0" smtClean="0"/>
              <a:t>4 </a:t>
            </a:r>
            <a:r>
              <a:rPr lang="en-US" altLang="zh-TW" sz="3200" b="1" dirty="0"/>
              <a:t>+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5</a:t>
            </a:r>
            <a:r>
              <a:rPr lang="en-US" altLang="zh-TW" sz="3200" b="1" dirty="0" smtClean="0"/>
              <a:t> </a:t>
            </a:r>
            <a:r>
              <a:rPr lang="en-US" altLang="zh-TW" sz="3200" b="1" dirty="0"/>
              <a:t>+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6 </a:t>
            </a:r>
            <a:r>
              <a:rPr lang="en-US" altLang="zh-TW" sz="3200" b="1" dirty="0"/>
              <a:t>+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7</a:t>
            </a:r>
            <a:r>
              <a:rPr lang="en-US" altLang="zh-TW" sz="3200" b="1" dirty="0" smtClean="0"/>
              <a:t> </a:t>
            </a:r>
            <a:endParaRPr lang="zh-TW" altLang="en-US" sz="3200" b="1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5673480" y="1403284"/>
            <a:ext cx="40142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z = D</a:t>
            </a:r>
            <a:r>
              <a:rPr lang="en-US" altLang="zh-TW" sz="3200" b="1" baseline="-25000" dirty="0" smtClean="0"/>
              <a:t>1 </a:t>
            </a:r>
            <a:r>
              <a:rPr lang="en-US" altLang="zh-TW" sz="3200" b="1" dirty="0"/>
              <a:t>+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3</a:t>
            </a:r>
            <a:r>
              <a:rPr lang="en-US" altLang="zh-TW" sz="3200" b="1" dirty="0"/>
              <a:t> +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5 </a:t>
            </a:r>
            <a:r>
              <a:rPr lang="en-US" altLang="zh-TW" sz="3200" b="1" dirty="0"/>
              <a:t>+ D</a:t>
            </a:r>
            <a:r>
              <a:rPr lang="en-US" altLang="zh-TW" sz="3200" b="1" baseline="-25000" dirty="0"/>
              <a:t>7</a:t>
            </a:r>
            <a:r>
              <a:rPr lang="en-US" altLang="zh-TW" sz="3200" b="1" dirty="0" smtClean="0"/>
              <a:t> </a:t>
            </a:r>
            <a:endParaRPr lang="zh-TW" altLang="en-US" sz="3200" b="1" dirty="0"/>
          </a:p>
        </p:txBody>
      </p:sp>
      <p:sp>
        <p:nvSpPr>
          <p:cNvPr id="29" name="矩形 28"/>
          <p:cNvSpPr/>
          <p:nvPr/>
        </p:nvSpPr>
        <p:spPr>
          <a:xfrm>
            <a:off x="2359498" y="4506459"/>
            <a:ext cx="345147" cy="34514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/>
          <p:cNvSpPr/>
          <p:nvPr/>
        </p:nvSpPr>
        <p:spPr>
          <a:xfrm>
            <a:off x="3851764" y="5107322"/>
            <a:ext cx="345147" cy="34514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 30"/>
          <p:cNvSpPr/>
          <p:nvPr/>
        </p:nvSpPr>
        <p:spPr>
          <a:xfrm>
            <a:off x="5336497" y="5719644"/>
            <a:ext cx="345147" cy="34514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矩形 31"/>
          <p:cNvSpPr/>
          <p:nvPr/>
        </p:nvSpPr>
        <p:spPr>
          <a:xfrm>
            <a:off x="6830561" y="6331965"/>
            <a:ext cx="345147" cy="34514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 41"/>
          <p:cNvSpPr/>
          <p:nvPr/>
        </p:nvSpPr>
        <p:spPr>
          <a:xfrm>
            <a:off x="10088111" y="3686736"/>
            <a:ext cx="345147" cy="299037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8286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237341" y="4715708"/>
            <a:ext cx="4035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y = D</a:t>
            </a:r>
            <a:r>
              <a:rPr lang="en-US" altLang="zh-TW" sz="3200" b="1" baseline="-25000" dirty="0" smtClean="0"/>
              <a:t>2 </a:t>
            </a:r>
            <a:r>
              <a:rPr lang="en-US" altLang="zh-TW" sz="3200" b="1" dirty="0"/>
              <a:t>+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3</a:t>
            </a:r>
            <a:r>
              <a:rPr lang="en-US" altLang="zh-TW" sz="3200" b="1" dirty="0"/>
              <a:t> + D</a:t>
            </a:r>
            <a:r>
              <a:rPr lang="en-US" altLang="zh-TW" sz="3200" b="1" baseline="-25000" dirty="0"/>
              <a:t>6 </a:t>
            </a:r>
            <a:r>
              <a:rPr lang="en-US" altLang="zh-TW" sz="3200" b="1" dirty="0"/>
              <a:t>+ D</a:t>
            </a:r>
            <a:r>
              <a:rPr lang="en-US" altLang="zh-TW" sz="3200" b="1" baseline="-25000" dirty="0"/>
              <a:t>7</a:t>
            </a:r>
            <a:r>
              <a:rPr lang="en-US" altLang="zh-TW" sz="3200" b="1" dirty="0" smtClean="0"/>
              <a:t> </a:t>
            </a:r>
            <a:endParaRPr lang="zh-TW" altLang="en-US" sz="3200" b="1" dirty="0"/>
          </a:p>
        </p:txBody>
      </p:sp>
      <p:sp>
        <p:nvSpPr>
          <p:cNvPr id="5" name="文字方塊 4"/>
          <p:cNvSpPr txBox="1"/>
          <p:nvPr/>
        </p:nvSpPr>
        <p:spPr>
          <a:xfrm>
            <a:off x="237341" y="4091626"/>
            <a:ext cx="4035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x = D</a:t>
            </a:r>
            <a:r>
              <a:rPr lang="en-US" altLang="zh-TW" sz="3200" b="1" baseline="-25000" dirty="0" smtClean="0"/>
              <a:t>4 </a:t>
            </a:r>
            <a:r>
              <a:rPr lang="en-US" altLang="zh-TW" sz="3200" b="1" dirty="0"/>
              <a:t>+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5</a:t>
            </a:r>
            <a:r>
              <a:rPr lang="en-US" altLang="zh-TW" sz="3200" b="1" dirty="0" smtClean="0"/>
              <a:t> </a:t>
            </a:r>
            <a:r>
              <a:rPr lang="en-US" altLang="zh-TW" sz="3200" b="1" dirty="0"/>
              <a:t>+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6 </a:t>
            </a:r>
            <a:r>
              <a:rPr lang="en-US" altLang="zh-TW" sz="3200" b="1" dirty="0"/>
              <a:t>+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7</a:t>
            </a:r>
            <a:r>
              <a:rPr lang="en-US" altLang="zh-TW" sz="3200" b="1" dirty="0" smtClean="0"/>
              <a:t> </a:t>
            </a:r>
            <a:endParaRPr lang="zh-TW" altLang="en-US" sz="3200" b="1" dirty="0"/>
          </a:p>
        </p:txBody>
      </p:sp>
      <p:sp>
        <p:nvSpPr>
          <p:cNvPr id="6" name="文字方塊 5"/>
          <p:cNvSpPr txBox="1"/>
          <p:nvPr/>
        </p:nvSpPr>
        <p:spPr>
          <a:xfrm>
            <a:off x="237341" y="5339789"/>
            <a:ext cx="40142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z = D</a:t>
            </a:r>
            <a:r>
              <a:rPr lang="en-US" altLang="zh-TW" sz="3200" b="1" baseline="-25000" dirty="0" smtClean="0"/>
              <a:t>1 </a:t>
            </a:r>
            <a:r>
              <a:rPr lang="en-US" altLang="zh-TW" sz="3200" b="1" dirty="0"/>
              <a:t>+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3</a:t>
            </a:r>
            <a:r>
              <a:rPr lang="en-US" altLang="zh-TW" sz="3200" b="1" dirty="0"/>
              <a:t> +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5 </a:t>
            </a:r>
            <a:r>
              <a:rPr lang="en-US" altLang="zh-TW" sz="3200" b="1" dirty="0"/>
              <a:t>+ D</a:t>
            </a:r>
            <a:r>
              <a:rPr lang="en-US" altLang="zh-TW" sz="3200" b="1" baseline="-25000" dirty="0"/>
              <a:t>7</a:t>
            </a:r>
            <a:r>
              <a:rPr lang="en-US" altLang="zh-TW" sz="3200" b="1" dirty="0" smtClean="0"/>
              <a:t> </a:t>
            </a:r>
            <a:endParaRPr lang="zh-TW" altLang="en-US" sz="3200" b="1" dirty="0"/>
          </a:p>
        </p:txBody>
      </p:sp>
      <p:sp>
        <p:nvSpPr>
          <p:cNvPr id="7" name="矩形 6"/>
          <p:cNvSpPr/>
          <p:nvPr/>
        </p:nvSpPr>
        <p:spPr>
          <a:xfrm>
            <a:off x="1200171" y="879706"/>
            <a:ext cx="1409351" cy="27515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8-to-3 Encoder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8" name="直線接點 7"/>
          <p:cNvCxnSpPr/>
          <p:nvPr/>
        </p:nvCxnSpPr>
        <p:spPr>
          <a:xfrm>
            <a:off x="763944" y="1039097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763944" y="1384244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763944" y="1729391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763944" y="20745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763944" y="2419685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763944" y="2764832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763944" y="3109979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763944" y="3455126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2609522" y="1500492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2609522" y="2287260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2609521" y="3074027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237341" y="808264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237341" y="1153411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237341" y="149855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237341" y="1842042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237341" y="2134055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4</a:t>
            </a:r>
            <a:endParaRPr lang="zh-TW" altLang="en-US" sz="2400" baseline="-250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237341" y="2479202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5</a:t>
            </a:r>
            <a:endParaRPr lang="zh-TW" altLang="en-US" sz="2400" baseline="-25000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237341" y="2824349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6</a:t>
            </a:r>
            <a:endParaRPr lang="zh-TW" altLang="en-US" sz="2400" baseline="-250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237341" y="3167833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7</a:t>
            </a:r>
            <a:endParaRPr lang="zh-TW" altLang="en-US" sz="2400" baseline="-250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3102100" y="2824348"/>
            <a:ext cx="3193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z</a:t>
            </a:r>
            <a:endParaRPr lang="zh-TW" altLang="en-US" sz="24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87924" y="205642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3094887" y="123147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  <p:grpSp>
        <p:nvGrpSpPr>
          <p:cNvPr id="30" name="Group 4"/>
          <p:cNvGrpSpPr>
            <a:grpSpLocks noChangeAspect="1"/>
          </p:cNvGrpSpPr>
          <p:nvPr/>
        </p:nvGrpSpPr>
        <p:grpSpPr bwMode="auto">
          <a:xfrm>
            <a:off x="8794583" y="1498558"/>
            <a:ext cx="1495425" cy="793750"/>
            <a:chOff x="2347" y="1818"/>
            <a:chExt cx="942" cy="500"/>
          </a:xfrm>
        </p:grpSpPr>
        <p:sp>
          <p:nvSpPr>
            <p:cNvPr id="31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2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3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grpSp>
        <p:nvGrpSpPr>
          <p:cNvPr id="34" name="Group 4"/>
          <p:cNvGrpSpPr>
            <a:grpSpLocks noChangeAspect="1"/>
          </p:cNvGrpSpPr>
          <p:nvPr/>
        </p:nvGrpSpPr>
        <p:grpSpPr bwMode="auto">
          <a:xfrm>
            <a:off x="8794585" y="3085574"/>
            <a:ext cx="1495425" cy="793750"/>
            <a:chOff x="2347" y="1818"/>
            <a:chExt cx="942" cy="500"/>
          </a:xfrm>
        </p:grpSpPr>
        <p:sp>
          <p:nvSpPr>
            <p:cNvPr id="35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6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7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grpSp>
        <p:nvGrpSpPr>
          <p:cNvPr id="38" name="Group 4"/>
          <p:cNvGrpSpPr>
            <a:grpSpLocks noChangeAspect="1"/>
          </p:cNvGrpSpPr>
          <p:nvPr/>
        </p:nvGrpSpPr>
        <p:grpSpPr bwMode="auto">
          <a:xfrm>
            <a:off x="8794584" y="4672589"/>
            <a:ext cx="1495425" cy="793750"/>
            <a:chOff x="2347" y="1818"/>
            <a:chExt cx="942" cy="500"/>
          </a:xfrm>
        </p:grpSpPr>
        <p:sp>
          <p:nvSpPr>
            <p:cNvPr id="39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40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41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sp>
        <p:nvSpPr>
          <p:cNvPr id="46" name="矩形 45"/>
          <p:cNvSpPr/>
          <p:nvPr/>
        </p:nvSpPr>
        <p:spPr>
          <a:xfrm>
            <a:off x="6319158" y="389437"/>
            <a:ext cx="4245428" cy="6131378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8" name="直線接點 47"/>
          <p:cNvCxnSpPr/>
          <p:nvPr/>
        </p:nvCxnSpPr>
        <p:spPr>
          <a:xfrm>
            <a:off x="6106886" y="653142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6106886" y="1456536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6106886" y="2259930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6106886" y="3063324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6106886" y="3866718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6106886" y="4670112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6106886" y="5473506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6106886" y="6276898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字方塊 55"/>
          <p:cNvSpPr txBox="1"/>
          <p:nvPr/>
        </p:nvSpPr>
        <p:spPr>
          <a:xfrm>
            <a:off x="5541999" y="338414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endParaRPr lang="zh-TW" altLang="en-US" sz="2800" baseline="-250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5574368" y="1122633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5577361" y="2025649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endParaRPr lang="zh-TW" altLang="en-US" sz="2800" baseline="-250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5577361" y="2801712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5574368" y="3610287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4</a:t>
            </a:r>
            <a:endParaRPr lang="zh-TW" altLang="en-US" sz="2800" baseline="-250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5576026" y="4411604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5</a:t>
            </a:r>
            <a:endParaRPr lang="zh-TW" altLang="en-US" sz="2800" baseline="-25000" dirty="0"/>
          </a:p>
        </p:txBody>
      </p:sp>
      <p:sp>
        <p:nvSpPr>
          <p:cNvPr id="62" name="文字方塊 61"/>
          <p:cNvSpPr txBox="1"/>
          <p:nvPr/>
        </p:nvSpPr>
        <p:spPr>
          <a:xfrm>
            <a:off x="5577644" y="5209880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6</a:t>
            </a:r>
            <a:endParaRPr lang="zh-TW" altLang="en-US" sz="2800" baseline="-25000" dirty="0"/>
          </a:p>
        </p:txBody>
      </p:sp>
      <p:sp>
        <p:nvSpPr>
          <p:cNvPr id="63" name="文字方塊 62"/>
          <p:cNvSpPr txBox="1"/>
          <p:nvPr/>
        </p:nvSpPr>
        <p:spPr>
          <a:xfrm>
            <a:off x="5577675" y="6017169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7</a:t>
            </a:r>
            <a:endParaRPr lang="zh-TW" altLang="en-US" sz="2800" baseline="-25000" dirty="0"/>
          </a:p>
        </p:txBody>
      </p:sp>
      <p:cxnSp>
        <p:nvCxnSpPr>
          <p:cNvPr id="67" name="直線接點 66"/>
          <p:cNvCxnSpPr/>
          <p:nvPr/>
        </p:nvCxnSpPr>
        <p:spPr>
          <a:xfrm>
            <a:off x="10007434" y="1906545"/>
            <a:ext cx="7286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/>
          <p:cNvCxnSpPr/>
          <p:nvPr/>
        </p:nvCxnSpPr>
        <p:spPr>
          <a:xfrm>
            <a:off x="10007434" y="3482449"/>
            <a:ext cx="7286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9994197" y="5080576"/>
            <a:ext cx="7286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字方塊 70"/>
          <p:cNvSpPr txBox="1"/>
          <p:nvPr/>
        </p:nvSpPr>
        <p:spPr>
          <a:xfrm>
            <a:off x="10877510" y="4789107"/>
            <a:ext cx="276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z</a:t>
            </a:r>
            <a:endParaRPr lang="zh-TW" altLang="en-US" sz="2800" dirty="0"/>
          </a:p>
        </p:txBody>
      </p:sp>
      <p:sp>
        <p:nvSpPr>
          <p:cNvPr id="72" name="文字方塊 71"/>
          <p:cNvSpPr txBox="1"/>
          <p:nvPr/>
        </p:nvSpPr>
        <p:spPr>
          <a:xfrm>
            <a:off x="10858274" y="3163657"/>
            <a:ext cx="294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y</a:t>
            </a:r>
            <a:endParaRPr lang="zh-TW" altLang="en-US" sz="2800" dirty="0"/>
          </a:p>
        </p:txBody>
      </p:sp>
      <p:sp>
        <p:nvSpPr>
          <p:cNvPr id="73" name="文字方塊 72"/>
          <p:cNvSpPr txBox="1"/>
          <p:nvPr/>
        </p:nvSpPr>
        <p:spPr>
          <a:xfrm>
            <a:off x="10858274" y="1615076"/>
            <a:ext cx="294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x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202180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237341" y="4715708"/>
            <a:ext cx="4035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y = D</a:t>
            </a:r>
            <a:r>
              <a:rPr lang="en-US" altLang="zh-TW" sz="3200" b="1" baseline="-25000" dirty="0" smtClean="0"/>
              <a:t>2 </a:t>
            </a:r>
            <a:r>
              <a:rPr lang="en-US" altLang="zh-TW" sz="3200" b="1" dirty="0"/>
              <a:t>+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3</a:t>
            </a:r>
            <a:r>
              <a:rPr lang="en-US" altLang="zh-TW" sz="3200" b="1" dirty="0"/>
              <a:t> + D</a:t>
            </a:r>
            <a:r>
              <a:rPr lang="en-US" altLang="zh-TW" sz="3200" b="1" baseline="-25000" dirty="0"/>
              <a:t>6 </a:t>
            </a:r>
            <a:r>
              <a:rPr lang="en-US" altLang="zh-TW" sz="3200" b="1" dirty="0"/>
              <a:t>+ D</a:t>
            </a:r>
            <a:r>
              <a:rPr lang="en-US" altLang="zh-TW" sz="3200" b="1" baseline="-25000" dirty="0"/>
              <a:t>7</a:t>
            </a:r>
            <a:r>
              <a:rPr lang="en-US" altLang="zh-TW" sz="3200" b="1" dirty="0" smtClean="0"/>
              <a:t> </a:t>
            </a:r>
            <a:endParaRPr lang="zh-TW" altLang="en-US" sz="3200" b="1" dirty="0"/>
          </a:p>
        </p:txBody>
      </p:sp>
      <p:sp>
        <p:nvSpPr>
          <p:cNvPr id="5" name="文字方塊 4"/>
          <p:cNvSpPr txBox="1"/>
          <p:nvPr/>
        </p:nvSpPr>
        <p:spPr>
          <a:xfrm>
            <a:off x="237341" y="4091626"/>
            <a:ext cx="4035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0000FF"/>
                </a:solidFill>
              </a:rPr>
              <a:t>x = 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4 </a:t>
            </a:r>
            <a:r>
              <a:rPr lang="en-US" altLang="zh-TW" sz="3200" b="1" dirty="0">
                <a:solidFill>
                  <a:srgbClr val="0000FF"/>
                </a:solidFill>
              </a:rPr>
              <a:t>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5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>
                <a:solidFill>
                  <a:srgbClr val="0000FF"/>
                </a:solidFill>
              </a:rPr>
              <a:t>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6 </a:t>
            </a:r>
            <a:r>
              <a:rPr lang="en-US" altLang="zh-TW" sz="3200" b="1" dirty="0">
                <a:solidFill>
                  <a:srgbClr val="0000FF"/>
                </a:solidFill>
              </a:rPr>
              <a:t>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7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 </a:t>
            </a:r>
            <a:endParaRPr lang="zh-TW" altLang="en-US" sz="3200" b="1" dirty="0">
              <a:solidFill>
                <a:srgbClr val="0000FF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237341" y="5339789"/>
            <a:ext cx="40142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z = D</a:t>
            </a:r>
            <a:r>
              <a:rPr lang="en-US" altLang="zh-TW" sz="3200" b="1" baseline="-25000" dirty="0" smtClean="0"/>
              <a:t>1 </a:t>
            </a:r>
            <a:r>
              <a:rPr lang="en-US" altLang="zh-TW" sz="3200" b="1" dirty="0"/>
              <a:t>+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3</a:t>
            </a:r>
            <a:r>
              <a:rPr lang="en-US" altLang="zh-TW" sz="3200" b="1" dirty="0"/>
              <a:t> +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5 </a:t>
            </a:r>
            <a:r>
              <a:rPr lang="en-US" altLang="zh-TW" sz="3200" b="1" dirty="0"/>
              <a:t>+ D</a:t>
            </a:r>
            <a:r>
              <a:rPr lang="en-US" altLang="zh-TW" sz="3200" b="1" baseline="-25000" dirty="0"/>
              <a:t>7</a:t>
            </a:r>
            <a:r>
              <a:rPr lang="en-US" altLang="zh-TW" sz="3200" b="1" dirty="0" smtClean="0"/>
              <a:t> </a:t>
            </a:r>
            <a:endParaRPr lang="zh-TW" altLang="en-US" sz="3200" b="1" dirty="0"/>
          </a:p>
        </p:txBody>
      </p:sp>
      <p:sp>
        <p:nvSpPr>
          <p:cNvPr id="7" name="矩形 6"/>
          <p:cNvSpPr/>
          <p:nvPr/>
        </p:nvSpPr>
        <p:spPr>
          <a:xfrm>
            <a:off x="1200171" y="879706"/>
            <a:ext cx="1409351" cy="27515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8-to-3 Encoder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8" name="直線接點 7"/>
          <p:cNvCxnSpPr/>
          <p:nvPr/>
        </p:nvCxnSpPr>
        <p:spPr>
          <a:xfrm>
            <a:off x="763944" y="1039097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763944" y="1384244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763944" y="1729391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763944" y="20745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763944" y="2419685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763944" y="2764832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763944" y="3109979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763944" y="3455126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2609522" y="1500492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2609522" y="2287260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2609521" y="3074027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237341" y="808264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237341" y="1153411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237341" y="149855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237341" y="1842042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237341" y="2134055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4</a:t>
            </a:r>
            <a:endParaRPr lang="zh-TW" altLang="en-US" sz="2400" baseline="-250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237341" y="2479202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5</a:t>
            </a:r>
            <a:endParaRPr lang="zh-TW" altLang="en-US" sz="2400" baseline="-25000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237341" y="2824349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6</a:t>
            </a:r>
            <a:endParaRPr lang="zh-TW" altLang="en-US" sz="2400" baseline="-250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237341" y="3167833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7</a:t>
            </a:r>
            <a:endParaRPr lang="zh-TW" altLang="en-US" sz="2400" baseline="-250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3102100" y="2824348"/>
            <a:ext cx="3193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z</a:t>
            </a:r>
            <a:endParaRPr lang="zh-TW" altLang="en-US" sz="24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87924" y="205642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3094887" y="123147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  <p:grpSp>
        <p:nvGrpSpPr>
          <p:cNvPr id="30" name="Group 4"/>
          <p:cNvGrpSpPr>
            <a:grpSpLocks noChangeAspect="1"/>
          </p:cNvGrpSpPr>
          <p:nvPr/>
        </p:nvGrpSpPr>
        <p:grpSpPr bwMode="auto">
          <a:xfrm>
            <a:off x="8794583" y="1498558"/>
            <a:ext cx="1495425" cy="793750"/>
            <a:chOff x="2347" y="1818"/>
            <a:chExt cx="942" cy="500"/>
          </a:xfrm>
        </p:grpSpPr>
        <p:sp>
          <p:nvSpPr>
            <p:cNvPr id="31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2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3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grpSp>
        <p:nvGrpSpPr>
          <p:cNvPr id="34" name="Group 4"/>
          <p:cNvGrpSpPr>
            <a:grpSpLocks noChangeAspect="1"/>
          </p:cNvGrpSpPr>
          <p:nvPr/>
        </p:nvGrpSpPr>
        <p:grpSpPr bwMode="auto">
          <a:xfrm>
            <a:off x="8794585" y="3085574"/>
            <a:ext cx="1495425" cy="793750"/>
            <a:chOff x="2347" y="1818"/>
            <a:chExt cx="942" cy="500"/>
          </a:xfrm>
        </p:grpSpPr>
        <p:sp>
          <p:nvSpPr>
            <p:cNvPr id="35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6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7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grpSp>
        <p:nvGrpSpPr>
          <p:cNvPr id="38" name="Group 4"/>
          <p:cNvGrpSpPr>
            <a:grpSpLocks noChangeAspect="1"/>
          </p:cNvGrpSpPr>
          <p:nvPr/>
        </p:nvGrpSpPr>
        <p:grpSpPr bwMode="auto">
          <a:xfrm>
            <a:off x="8794584" y="4672589"/>
            <a:ext cx="1495425" cy="793750"/>
            <a:chOff x="2347" y="1818"/>
            <a:chExt cx="942" cy="500"/>
          </a:xfrm>
        </p:grpSpPr>
        <p:sp>
          <p:nvSpPr>
            <p:cNvPr id="39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40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41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sp>
        <p:nvSpPr>
          <p:cNvPr id="46" name="矩形 45"/>
          <p:cNvSpPr/>
          <p:nvPr/>
        </p:nvSpPr>
        <p:spPr>
          <a:xfrm>
            <a:off x="6319158" y="389437"/>
            <a:ext cx="4245428" cy="6131378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8" name="直線接點 47"/>
          <p:cNvCxnSpPr/>
          <p:nvPr/>
        </p:nvCxnSpPr>
        <p:spPr>
          <a:xfrm>
            <a:off x="6106886" y="653142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6106886" y="1456536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6106886" y="2259930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6106886" y="3063324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6106886" y="3866718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6106886" y="4670112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6106886" y="5473506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6106886" y="6276898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字方塊 55"/>
          <p:cNvSpPr txBox="1"/>
          <p:nvPr/>
        </p:nvSpPr>
        <p:spPr>
          <a:xfrm>
            <a:off x="5541999" y="338414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endParaRPr lang="zh-TW" altLang="en-US" sz="2800" baseline="-250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5574368" y="1122633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5577361" y="2025649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endParaRPr lang="zh-TW" altLang="en-US" sz="2800" baseline="-250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5577361" y="2801712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5574368" y="3610287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4</a:t>
            </a:r>
            <a:endParaRPr lang="zh-TW" altLang="en-US" sz="2800" baseline="-250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5576026" y="4411604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5</a:t>
            </a:r>
            <a:endParaRPr lang="zh-TW" altLang="en-US" sz="2800" baseline="-25000" dirty="0"/>
          </a:p>
        </p:txBody>
      </p:sp>
      <p:sp>
        <p:nvSpPr>
          <p:cNvPr id="62" name="文字方塊 61"/>
          <p:cNvSpPr txBox="1"/>
          <p:nvPr/>
        </p:nvSpPr>
        <p:spPr>
          <a:xfrm>
            <a:off x="5577644" y="5209880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6</a:t>
            </a:r>
            <a:endParaRPr lang="zh-TW" altLang="en-US" sz="2800" baseline="-25000" dirty="0"/>
          </a:p>
        </p:txBody>
      </p:sp>
      <p:sp>
        <p:nvSpPr>
          <p:cNvPr id="63" name="文字方塊 62"/>
          <p:cNvSpPr txBox="1"/>
          <p:nvPr/>
        </p:nvSpPr>
        <p:spPr>
          <a:xfrm>
            <a:off x="5577675" y="6017169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7</a:t>
            </a:r>
            <a:endParaRPr lang="zh-TW" altLang="en-US" sz="2800" baseline="-25000" dirty="0"/>
          </a:p>
        </p:txBody>
      </p:sp>
      <p:cxnSp>
        <p:nvCxnSpPr>
          <p:cNvPr id="67" name="直線接點 66"/>
          <p:cNvCxnSpPr/>
          <p:nvPr/>
        </p:nvCxnSpPr>
        <p:spPr>
          <a:xfrm>
            <a:off x="10007434" y="1906545"/>
            <a:ext cx="7286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/>
          <p:cNvCxnSpPr/>
          <p:nvPr/>
        </p:nvCxnSpPr>
        <p:spPr>
          <a:xfrm>
            <a:off x="10007434" y="3482449"/>
            <a:ext cx="7286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9994197" y="5080576"/>
            <a:ext cx="7286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字方塊 70"/>
          <p:cNvSpPr txBox="1"/>
          <p:nvPr/>
        </p:nvSpPr>
        <p:spPr>
          <a:xfrm>
            <a:off x="10877510" y="4789107"/>
            <a:ext cx="276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z</a:t>
            </a:r>
            <a:endParaRPr lang="zh-TW" altLang="en-US" sz="2800" dirty="0"/>
          </a:p>
        </p:txBody>
      </p:sp>
      <p:sp>
        <p:nvSpPr>
          <p:cNvPr id="72" name="文字方塊 71"/>
          <p:cNvSpPr txBox="1"/>
          <p:nvPr/>
        </p:nvSpPr>
        <p:spPr>
          <a:xfrm>
            <a:off x="10858274" y="3163657"/>
            <a:ext cx="294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y</a:t>
            </a:r>
            <a:endParaRPr lang="zh-TW" altLang="en-US" sz="2800" dirty="0"/>
          </a:p>
        </p:txBody>
      </p:sp>
      <p:sp>
        <p:nvSpPr>
          <p:cNvPr id="73" name="文字方塊 72"/>
          <p:cNvSpPr txBox="1"/>
          <p:nvPr/>
        </p:nvSpPr>
        <p:spPr>
          <a:xfrm>
            <a:off x="10858274" y="1615076"/>
            <a:ext cx="294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x</a:t>
            </a:r>
            <a:endParaRPr lang="zh-TW" altLang="en-US" sz="2800" dirty="0"/>
          </a:p>
        </p:txBody>
      </p:sp>
      <p:sp>
        <p:nvSpPr>
          <p:cNvPr id="75" name="手繪多邊形 74"/>
          <p:cNvSpPr/>
          <p:nvPr/>
        </p:nvSpPr>
        <p:spPr>
          <a:xfrm>
            <a:off x="6384472" y="1627563"/>
            <a:ext cx="2751364" cy="2234144"/>
          </a:xfrm>
          <a:custGeom>
            <a:avLst/>
            <a:gdLst>
              <a:gd name="connsiteX0" fmla="*/ 0 w 2751364"/>
              <a:gd name="connsiteY0" fmla="*/ 2234144 h 2234144"/>
              <a:gd name="connsiteX1" fmla="*/ 898071 w 2751364"/>
              <a:gd name="connsiteY1" fmla="*/ 1776944 h 2234144"/>
              <a:gd name="connsiteX2" fmla="*/ 2024742 w 2751364"/>
              <a:gd name="connsiteY2" fmla="*/ 274716 h 2234144"/>
              <a:gd name="connsiteX3" fmla="*/ 2751364 w 2751364"/>
              <a:gd name="connsiteY3" fmla="*/ 5294 h 2234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1364" h="2234144">
                <a:moveTo>
                  <a:pt x="0" y="2234144"/>
                </a:moveTo>
                <a:cubicBezTo>
                  <a:pt x="280307" y="2168829"/>
                  <a:pt x="560614" y="2103515"/>
                  <a:pt x="898071" y="1776944"/>
                </a:cubicBezTo>
                <a:cubicBezTo>
                  <a:pt x="1235528" y="1450373"/>
                  <a:pt x="1715860" y="569991"/>
                  <a:pt x="2024742" y="274716"/>
                </a:cubicBezTo>
                <a:cubicBezTo>
                  <a:pt x="2333624" y="-20559"/>
                  <a:pt x="2542494" y="-7633"/>
                  <a:pt x="2751364" y="5294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手繪多邊形 78"/>
          <p:cNvSpPr/>
          <p:nvPr/>
        </p:nvSpPr>
        <p:spPr>
          <a:xfrm>
            <a:off x="6376307" y="1753043"/>
            <a:ext cx="2833007" cy="2928266"/>
          </a:xfrm>
          <a:custGeom>
            <a:avLst/>
            <a:gdLst>
              <a:gd name="connsiteX0" fmla="*/ 0 w 2833007"/>
              <a:gd name="connsiteY0" fmla="*/ 2916928 h 2928266"/>
              <a:gd name="connsiteX1" fmla="*/ 563336 w 2833007"/>
              <a:gd name="connsiteY1" fmla="*/ 2533207 h 2928266"/>
              <a:gd name="connsiteX2" fmla="*/ 2114550 w 2833007"/>
              <a:gd name="connsiteY2" fmla="*/ 320686 h 2928266"/>
              <a:gd name="connsiteX3" fmla="*/ 2833007 w 2833007"/>
              <a:gd name="connsiteY3" fmla="*/ 59428 h 2928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3007" h="2928266">
                <a:moveTo>
                  <a:pt x="0" y="2916928"/>
                </a:moveTo>
                <a:cubicBezTo>
                  <a:pt x="105455" y="2941421"/>
                  <a:pt x="210911" y="2965914"/>
                  <a:pt x="563336" y="2533207"/>
                </a:cubicBezTo>
                <a:cubicBezTo>
                  <a:pt x="915761" y="2100500"/>
                  <a:pt x="1736271" y="732983"/>
                  <a:pt x="2114550" y="320686"/>
                </a:cubicBezTo>
                <a:cubicBezTo>
                  <a:pt x="2492829" y="-91611"/>
                  <a:pt x="2662918" y="-16092"/>
                  <a:pt x="2833007" y="59428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手繪多邊形 79"/>
          <p:cNvSpPr/>
          <p:nvPr/>
        </p:nvSpPr>
        <p:spPr>
          <a:xfrm>
            <a:off x="6392636" y="1915962"/>
            <a:ext cx="2808514" cy="3545945"/>
          </a:xfrm>
          <a:custGeom>
            <a:avLst/>
            <a:gdLst>
              <a:gd name="connsiteX0" fmla="*/ 0 w 2808514"/>
              <a:gd name="connsiteY0" fmla="*/ 3545945 h 3545945"/>
              <a:gd name="connsiteX1" fmla="*/ 718457 w 2808514"/>
              <a:gd name="connsiteY1" fmla="*/ 2754009 h 3545945"/>
              <a:gd name="connsiteX2" fmla="*/ 2171700 w 2808514"/>
              <a:gd name="connsiteY2" fmla="*/ 345545 h 3545945"/>
              <a:gd name="connsiteX3" fmla="*/ 2808514 w 2808514"/>
              <a:gd name="connsiteY3" fmla="*/ 67959 h 3545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8514" h="3545945">
                <a:moveTo>
                  <a:pt x="0" y="3545945"/>
                </a:moveTo>
                <a:cubicBezTo>
                  <a:pt x="178253" y="3416677"/>
                  <a:pt x="356507" y="3287409"/>
                  <a:pt x="718457" y="2754009"/>
                </a:cubicBezTo>
                <a:cubicBezTo>
                  <a:pt x="1080407" y="2220609"/>
                  <a:pt x="1823357" y="793220"/>
                  <a:pt x="2171700" y="345545"/>
                </a:cubicBezTo>
                <a:cubicBezTo>
                  <a:pt x="2520043" y="-102130"/>
                  <a:pt x="2664278" y="-17086"/>
                  <a:pt x="2808514" y="67959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手繪多邊形 80"/>
          <p:cNvSpPr/>
          <p:nvPr/>
        </p:nvSpPr>
        <p:spPr>
          <a:xfrm>
            <a:off x="6368143" y="2050768"/>
            <a:ext cx="2751364" cy="4219403"/>
          </a:xfrm>
          <a:custGeom>
            <a:avLst/>
            <a:gdLst>
              <a:gd name="connsiteX0" fmla="*/ 0 w 2751364"/>
              <a:gd name="connsiteY0" fmla="*/ 4219403 h 4219403"/>
              <a:gd name="connsiteX1" fmla="*/ 832757 w 2751364"/>
              <a:gd name="connsiteY1" fmla="*/ 3247853 h 4219403"/>
              <a:gd name="connsiteX2" fmla="*/ 2318657 w 2751364"/>
              <a:gd name="connsiteY2" fmla="*/ 357696 h 4219403"/>
              <a:gd name="connsiteX3" fmla="*/ 2751364 w 2751364"/>
              <a:gd name="connsiteY3" fmla="*/ 145425 h 4219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1364" h="4219403">
                <a:moveTo>
                  <a:pt x="0" y="4219403"/>
                </a:moveTo>
                <a:cubicBezTo>
                  <a:pt x="223157" y="4055437"/>
                  <a:pt x="446314" y="3891471"/>
                  <a:pt x="832757" y="3247853"/>
                </a:cubicBezTo>
                <a:cubicBezTo>
                  <a:pt x="1219200" y="2604235"/>
                  <a:pt x="1998889" y="874767"/>
                  <a:pt x="2318657" y="357696"/>
                </a:cubicBezTo>
                <a:cubicBezTo>
                  <a:pt x="2638425" y="-159375"/>
                  <a:pt x="2694894" y="-6975"/>
                  <a:pt x="2751364" y="145425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957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237341" y="4715708"/>
            <a:ext cx="4035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y = D</a:t>
            </a:r>
            <a:r>
              <a:rPr lang="en-US" altLang="zh-TW" sz="3200" b="1" baseline="-25000" dirty="0" smtClean="0">
                <a:solidFill>
                  <a:srgbClr val="C00000"/>
                </a:solidFill>
              </a:rPr>
              <a:t>2 </a:t>
            </a:r>
            <a:r>
              <a:rPr lang="en-US" altLang="zh-TW" sz="3200" b="1" dirty="0">
                <a:solidFill>
                  <a:srgbClr val="C00000"/>
                </a:solidFill>
              </a:rPr>
              <a:t>+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3200" b="1" dirty="0">
                <a:solidFill>
                  <a:srgbClr val="C00000"/>
                </a:solidFill>
              </a:rPr>
              <a:t> + D</a:t>
            </a:r>
            <a:r>
              <a:rPr lang="en-US" altLang="zh-TW" sz="3200" b="1" baseline="-25000" dirty="0">
                <a:solidFill>
                  <a:srgbClr val="C00000"/>
                </a:solidFill>
              </a:rPr>
              <a:t>6 </a:t>
            </a:r>
            <a:r>
              <a:rPr lang="en-US" altLang="zh-TW" sz="3200" b="1" dirty="0">
                <a:solidFill>
                  <a:srgbClr val="C00000"/>
                </a:solidFill>
              </a:rPr>
              <a:t>+ D</a:t>
            </a:r>
            <a:r>
              <a:rPr lang="en-US" altLang="zh-TW" sz="3200" b="1" baseline="-25000" dirty="0">
                <a:solidFill>
                  <a:srgbClr val="C00000"/>
                </a:solidFill>
              </a:rPr>
              <a:t>7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 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237341" y="4091626"/>
            <a:ext cx="4035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0000FF"/>
                </a:solidFill>
              </a:rPr>
              <a:t>x = 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4 </a:t>
            </a:r>
            <a:r>
              <a:rPr lang="en-US" altLang="zh-TW" sz="3200" b="1" dirty="0">
                <a:solidFill>
                  <a:srgbClr val="0000FF"/>
                </a:solidFill>
              </a:rPr>
              <a:t>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5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>
                <a:solidFill>
                  <a:srgbClr val="0000FF"/>
                </a:solidFill>
              </a:rPr>
              <a:t>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6 </a:t>
            </a:r>
            <a:r>
              <a:rPr lang="en-US" altLang="zh-TW" sz="3200" b="1" dirty="0">
                <a:solidFill>
                  <a:srgbClr val="0000FF"/>
                </a:solidFill>
              </a:rPr>
              <a:t>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7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 </a:t>
            </a:r>
            <a:endParaRPr lang="zh-TW" altLang="en-US" sz="3200" b="1" dirty="0">
              <a:solidFill>
                <a:srgbClr val="0000FF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237341" y="5339789"/>
            <a:ext cx="40142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z = D</a:t>
            </a:r>
            <a:r>
              <a:rPr lang="en-US" altLang="zh-TW" sz="3200" b="1" baseline="-25000" dirty="0" smtClean="0"/>
              <a:t>1 </a:t>
            </a:r>
            <a:r>
              <a:rPr lang="en-US" altLang="zh-TW" sz="3200" b="1" dirty="0"/>
              <a:t>+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3</a:t>
            </a:r>
            <a:r>
              <a:rPr lang="en-US" altLang="zh-TW" sz="3200" b="1" dirty="0"/>
              <a:t> +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5 </a:t>
            </a:r>
            <a:r>
              <a:rPr lang="en-US" altLang="zh-TW" sz="3200" b="1" dirty="0"/>
              <a:t>+ D</a:t>
            </a:r>
            <a:r>
              <a:rPr lang="en-US" altLang="zh-TW" sz="3200" b="1" baseline="-25000" dirty="0"/>
              <a:t>7</a:t>
            </a:r>
            <a:r>
              <a:rPr lang="en-US" altLang="zh-TW" sz="3200" b="1" dirty="0" smtClean="0"/>
              <a:t> </a:t>
            </a:r>
            <a:endParaRPr lang="zh-TW" altLang="en-US" sz="3200" b="1" dirty="0"/>
          </a:p>
        </p:txBody>
      </p:sp>
      <p:sp>
        <p:nvSpPr>
          <p:cNvPr id="7" name="矩形 6"/>
          <p:cNvSpPr/>
          <p:nvPr/>
        </p:nvSpPr>
        <p:spPr>
          <a:xfrm>
            <a:off x="1200171" y="879706"/>
            <a:ext cx="1409351" cy="27515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8-to-3 Encoder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8" name="直線接點 7"/>
          <p:cNvCxnSpPr/>
          <p:nvPr/>
        </p:nvCxnSpPr>
        <p:spPr>
          <a:xfrm>
            <a:off x="763944" y="1039097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763944" y="1384244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763944" y="1729391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763944" y="20745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763944" y="2419685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763944" y="2764832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763944" y="3109979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763944" y="3455126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2609522" y="1500492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2609522" y="2287260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2609521" y="3074027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237341" y="808264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237341" y="1153411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237341" y="149855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237341" y="1842042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237341" y="2134055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4</a:t>
            </a:r>
            <a:endParaRPr lang="zh-TW" altLang="en-US" sz="2400" baseline="-250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237341" y="2479202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5</a:t>
            </a:r>
            <a:endParaRPr lang="zh-TW" altLang="en-US" sz="2400" baseline="-25000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237341" y="2824349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6</a:t>
            </a:r>
            <a:endParaRPr lang="zh-TW" altLang="en-US" sz="2400" baseline="-250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237341" y="3167833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7</a:t>
            </a:r>
            <a:endParaRPr lang="zh-TW" altLang="en-US" sz="2400" baseline="-250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3102100" y="2824348"/>
            <a:ext cx="3193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z</a:t>
            </a:r>
            <a:endParaRPr lang="zh-TW" altLang="en-US" sz="24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87924" y="205642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3094887" y="123147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  <p:grpSp>
        <p:nvGrpSpPr>
          <p:cNvPr id="30" name="Group 4"/>
          <p:cNvGrpSpPr>
            <a:grpSpLocks noChangeAspect="1"/>
          </p:cNvGrpSpPr>
          <p:nvPr/>
        </p:nvGrpSpPr>
        <p:grpSpPr bwMode="auto">
          <a:xfrm>
            <a:off x="8794583" y="1498558"/>
            <a:ext cx="1495425" cy="793750"/>
            <a:chOff x="2347" y="1818"/>
            <a:chExt cx="942" cy="500"/>
          </a:xfrm>
        </p:grpSpPr>
        <p:sp>
          <p:nvSpPr>
            <p:cNvPr id="31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2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3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grpSp>
        <p:nvGrpSpPr>
          <p:cNvPr id="34" name="Group 4"/>
          <p:cNvGrpSpPr>
            <a:grpSpLocks noChangeAspect="1"/>
          </p:cNvGrpSpPr>
          <p:nvPr/>
        </p:nvGrpSpPr>
        <p:grpSpPr bwMode="auto">
          <a:xfrm>
            <a:off x="8794585" y="3085574"/>
            <a:ext cx="1495425" cy="793750"/>
            <a:chOff x="2347" y="1818"/>
            <a:chExt cx="942" cy="500"/>
          </a:xfrm>
        </p:grpSpPr>
        <p:sp>
          <p:nvSpPr>
            <p:cNvPr id="35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6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7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grpSp>
        <p:nvGrpSpPr>
          <p:cNvPr id="38" name="Group 4"/>
          <p:cNvGrpSpPr>
            <a:grpSpLocks noChangeAspect="1"/>
          </p:cNvGrpSpPr>
          <p:nvPr/>
        </p:nvGrpSpPr>
        <p:grpSpPr bwMode="auto">
          <a:xfrm>
            <a:off x="8794584" y="4672589"/>
            <a:ext cx="1495425" cy="793750"/>
            <a:chOff x="2347" y="1818"/>
            <a:chExt cx="942" cy="500"/>
          </a:xfrm>
        </p:grpSpPr>
        <p:sp>
          <p:nvSpPr>
            <p:cNvPr id="39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40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41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sp>
        <p:nvSpPr>
          <p:cNvPr id="46" name="矩形 45"/>
          <p:cNvSpPr/>
          <p:nvPr/>
        </p:nvSpPr>
        <p:spPr>
          <a:xfrm>
            <a:off x="6319158" y="389437"/>
            <a:ext cx="4245428" cy="6131378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8" name="直線接點 47"/>
          <p:cNvCxnSpPr/>
          <p:nvPr/>
        </p:nvCxnSpPr>
        <p:spPr>
          <a:xfrm>
            <a:off x="6106886" y="653142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6106886" y="1456536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6106886" y="2259930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6106886" y="3063324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6106886" y="3866718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6106886" y="4670112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6106886" y="5473506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6106886" y="6276898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字方塊 55"/>
          <p:cNvSpPr txBox="1"/>
          <p:nvPr/>
        </p:nvSpPr>
        <p:spPr>
          <a:xfrm>
            <a:off x="5541999" y="338414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endParaRPr lang="zh-TW" altLang="en-US" sz="2800" baseline="-250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5574368" y="1122633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5577361" y="2025649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endParaRPr lang="zh-TW" altLang="en-US" sz="2800" baseline="-250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5577361" y="2801712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5574368" y="3610287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4</a:t>
            </a:r>
            <a:endParaRPr lang="zh-TW" altLang="en-US" sz="2800" baseline="-250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5576026" y="4411604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5</a:t>
            </a:r>
            <a:endParaRPr lang="zh-TW" altLang="en-US" sz="2800" baseline="-25000" dirty="0"/>
          </a:p>
        </p:txBody>
      </p:sp>
      <p:sp>
        <p:nvSpPr>
          <p:cNvPr id="62" name="文字方塊 61"/>
          <p:cNvSpPr txBox="1"/>
          <p:nvPr/>
        </p:nvSpPr>
        <p:spPr>
          <a:xfrm>
            <a:off x="5577644" y="5209880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6</a:t>
            </a:r>
            <a:endParaRPr lang="zh-TW" altLang="en-US" sz="2800" baseline="-25000" dirty="0"/>
          </a:p>
        </p:txBody>
      </p:sp>
      <p:sp>
        <p:nvSpPr>
          <p:cNvPr id="63" name="文字方塊 62"/>
          <p:cNvSpPr txBox="1"/>
          <p:nvPr/>
        </p:nvSpPr>
        <p:spPr>
          <a:xfrm>
            <a:off x="5577675" y="6017169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7</a:t>
            </a:r>
            <a:endParaRPr lang="zh-TW" altLang="en-US" sz="2800" baseline="-25000" dirty="0"/>
          </a:p>
        </p:txBody>
      </p:sp>
      <p:cxnSp>
        <p:nvCxnSpPr>
          <p:cNvPr id="67" name="直線接點 66"/>
          <p:cNvCxnSpPr/>
          <p:nvPr/>
        </p:nvCxnSpPr>
        <p:spPr>
          <a:xfrm>
            <a:off x="10007434" y="1906545"/>
            <a:ext cx="7286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/>
          <p:cNvCxnSpPr/>
          <p:nvPr/>
        </p:nvCxnSpPr>
        <p:spPr>
          <a:xfrm>
            <a:off x="10007434" y="3482449"/>
            <a:ext cx="7286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9994197" y="5080576"/>
            <a:ext cx="7286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字方塊 70"/>
          <p:cNvSpPr txBox="1"/>
          <p:nvPr/>
        </p:nvSpPr>
        <p:spPr>
          <a:xfrm>
            <a:off x="10877510" y="4789107"/>
            <a:ext cx="276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z</a:t>
            </a:r>
            <a:endParaRPr lang="zh-TW" altLang="en-US" sz="2800" dirty="0"/>
          </a:p>
        </p:txBody>
      </p:sp>
      <p:sp>
        <p:nvSpPr>
          <p:cNvPr id="72" name="文字方塊 71"/>
          <p:cNvSpPr txBox="1"/>
          <p:nvPr/>
        </p:nvSpPr>
        <p:spPr>
          <a:xfrm>
            <a:off x="10858274" y="3163657"/>
            <a:ext cx="294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y</a:t>
            </a:r>
            <a:endParaRPr lang="zh-TW" altLang="en-US" sz="2800" dirty="0"/>
          </a:p>
        </p:txBody>
      </p:sp>
      <p:sp>
        <p:nvSpPr>
          <p:cNvPr id="73" name="文字方塊 72"/>
          <p:cNvSpPr txBox="1"/>
          <p:nvPr/>
        </p:nvSpPr>
        <p:spPr>
          <a:xfrm>
            <a:off x="10858274" y="1615076"/>
            <a:ext cx="294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x</a:t>
            </a:r>
            <a:endParaRPr lang="zh-TW" altLang="en-US" sz="2800" dirty="0"/>
          </a:p>
        </p:txBody>
      </p:sp>
      <p:sp>
        <p:nvSpPr>
          <p:cNvPr id="75" name="手繪多邊形 74"/>
          <p:cNvSpPr/>
          <p:nvPr/>
        </p:nvSpPr>
        <p:spPr>
          <a:xfrm>
            <a:off x="6384472" y="1627563"/>
            <a:ext cx="2751364" cy="2234144"/>
          </a:xfrm>
          <a:custGeom>
            <a:avLst/>
            <a:gdLst>
              <a:gd name="connsiteX0" fmla="*/ 0 w 2751364"/>
              <a:gd name="connsiteY0" fmla="*/ 2234144 h 2234144"/>
              <a:gd name="connsiteX1" fmla="*/ 898071 w 2751364"/>
              <a:gd name="connsiteY1" fmla="*/ 1776944 h 2234144"/>
              <a:gd name="connsiteX2" fmla="*/ 2024742 w 2751364"/>
              <a:gd name="connsiteY2" fmla="*/ 274716 h 2234144"/>
              <a:gd name="connsiteX3" fmla="*/ 2751364 w 2751364"/>
              <a:gd name="connsiteY3" fmla="*/ 5294 h 2234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1364" h="2234144">
                <a:moveTo>
                  <a:pt x="0" y="2234144"/>
                </a:moveTo>
                <a:cubicBezTo>
                  <a:pt x="280307" y="2168829"/>
                  <a:pt x="560614" y="2103515"/>
                  <a:pt x="898071" y="1776944"/>
                </a:cubicBezTo>
                <a:cubicBezTo>
                  <a:pt x="1235528" y="1450373"/>
                  <a:pt x="1715860" y="569991"/>
                  <a:pt x="2024742" y="274716"/>
                </a:cubicBezTo>
                <a:cubicBezTo>
                  <a:pt x="2333624" y="-20559"/>
                  <a:pt x="2542494" y="-7633"/>
                  <a:pt x="2751364" y="5294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手繪多邊形 78"/>
          <p:cNvSpPr/>
          <p:nvPr/>
        </p:nvSpPr>
        <p:spPr>
          <a:xfrm>
            <a:off x="6376307" y="1753043"/>
            <a:ext cx="2833007" cy="2928266"/>
          </a:xfrm>
          <a:custGeom>
            <a:avLst/>
            <a:gdLst>
              <a:gd name="connsiteX0" fmla="*/ 0 w 2833007"/>
              <a:gd name="connsiteY0" fmla="*/ 2916928 h 2928266"/>
              <a:gd name="connsiteX1" fmla="*/ 563336 w 2833007"/>
              <a:gd name="connsiteY1" fmla="*/ 2533207 h 2928266"/>
              <a:gd name="connsiteX2" fmla="*/ 2114550 w 2833007"/>
              <a:gd name="connsiteY2" fmla="*/ 320686 h 2928266"/>
              <a:gd name="connsiteX3" fmla="*/ 2833007 w 2833007"/>
              <a:gd name="connsiteY3" fmla="*/ 59428 h 2928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3007" h="2928266">
                <a:moveTo>
                  <a:pt x="0" y="2916928"/>
                </a:moveTo>
                <a:cubicBezTo>
                  <a:pt x="105455" y="2941421"/>
                  <a:pt x="210911" y="2965914"/>
                  <a:pt x="563336" y="2533207"/>
                </a:cubicBezTo>
                <a:cubicBezTo>
                  <a:pt x="915761" y="2100500"/>
                  <a:pt x="1736271" y="732983"/>
                  <a:pt x="2114550" y="320686"/>
                </a:cubicBezTo>
                <a:cubicBezTo>
                  <a:pt x="2492829" y="-91611"/>
                  <a:pt x="2662918" y="-16092"/>
                  <a:pt x="2833007" y="59428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手繪多邊形 79"/>
          <p:cNvSpPr/>
          <p:nvPr/>
        </p:nvSpPr>
        <p:spPr>
          <a:xfrm>
            <a:off x="6392636" y="1915962"/>
            <a:ext cx="2808514" cy="3545945"/>
          </a:xfrm>
          <a:custGeom>
            <a:avLst/>
            <a:gdLst>
              <a:gd name="connsiteX0" fmla="*/ 0 w 2808514"/>
              <a:gd name="connsiteY0" fmla="*/ 3545945 h 3545945"/>
              <a:gd name="connsiteX1" fmla="*/ 718457 w 2808514"/>
              <a:gd name="connsiteY1" fmla="*/ 2754009 h 3545945"/>
              <a:gd name="connsiteX2" fmla="*/ 2171700 w 2808514"/>
              <a:gd name="connsiteY2" fmla="*/ 345545 h 3545945"/>
              <a:gd name="connsiteX3" fmla="*/ 2808514 w 2808514"/>
              <a:gd name="connsiteY3" fmla="*/ 67959 h 3545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8514" h="3545945">
                <a:moveTo>
                  <a:pt x="0" y="3545945"/>
                </a:moveTo>
                <a:cubicBezTo>
                  <a:pt x="178253" y="3416677"/>
                  <a:pt x="356507" y="3287409"/>
                  <a:pt x="718457" y="2754009"/>
                </a:cubicBezTo>
                <a:cubicBezTo>
                  <a:pt x="1080407" y="2220609"/>
                  <a:pt x="1823357" y="793220"/>
                  <a:pt x="2171700" y="345545"/>
                </a:cubicBezTo>
                <a:cubicBezTo>
                  <a:pt x="2520043" y="-102130"/>
                  <a:pt x="2664278" y="-17086"/>
                  <a:pt x="2808514" y="67959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手繪多邊形 80"/>
          <p:cNvSpPr/>
          <p:nvPr/>
        </p:nvSpPr>
        <p:spPr>
          <a:xfrm>
            <a:off x="6368143" y="2050768"/>
            <a:ext cx="2751364" cy="4219403"/>
          </a:xfrm>
          <a:custGeom>
            <a:avLst/>
            <a:gdLst>
              <a:gd name="connsiteX0" fmla="*/ 0 w 2751364"/>
              <a:gd name="connsiteY0" fmla="*/ 4219403 h 4219403"/>
              <a:gd name="connsiteX1" fmla="*/ 832757 w 2751364"/>
              <a:gd name="connsiteY1" fmla="*/ 3247853 h 4219403"/>
              <a:gd name="connsiteX2" fmla="*/ 2318657 w 2751364"/>
              <a:gd name="connsiteY2" fmla="*/ 357696 h 4219403"/>
              <a:gd name="connsiteX3" fmla="*/ 2751364 w 2751364"/>
              <a:gd name="connsiteY3" fmla="*/ 145425 h 4219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1364" h="4219403">
                <a:moveTo>
                  <a:pt x="0" y="4219403"/>
                </a:moveTo>
                <a:cubicBezTo>
                  <a:pt x="223157" y="4055437"/>
                  <a:pt x="446314" y="3891471"/>
                  <a:pt x="832757" y="3247853"/>
                </a:cubicBezTo>
                <a:cubicBezTo>
                  <a:pt x="1219200" y="2604235"/>
                  <a:pt x="1998889" y="874767"/>
                  <a:pt x="2318657" y="357696"/>
                </a:cubicBezTo>
                <a:cubicBezTo>
                  <a:pt x="2638425" y="-159375"/>
                  <a:pt x="2694894" y="-6975"/>
                  <a:pt x="2751364" y="145425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2" name="手繪多邊形 81"/>
          <p:cNvSpPr/>
          <p:nvPr/>
        </p:nvSpPr>
        <p:spPr>
          <a:xfrm>
            <a:off x="6392636" y="2253343"/>
            <a:ext cx="2759528" cy="1041787"/>
          </a:xfrm>
          <a:custGeom>
            <a:avLst/>
            <a:gdLst>
              <a:gd name="connsiteX0" fmla="*/ 0 w 2759528"/>
              <a:gd name="connsiteY0" fmla="*/ 0 h 1041787"/>
              <a:gd name="connsiteX1" fmla="*/ 775607 w 2759528"/>
              <a:gd name="connsiteY1" fmla="*/ 269421 h 1041787"/>
              <a:gd name="connsiteX2" fmla="*/ 2188028 w 2759528"/>
              <a:gd name="connsiteY2" fmla="*/ 963386 h 1041787"/>
              <a:gd name="connsiteX3" fmla="*/ 2759528 w 2759528"/>
              <a:gd name="connsiteY3" fmla="*/ 996043 h 104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9528" h="1041787">
                <a:moveTo>
                  <a:pt x="0" y="0"/>
                </a:moveTo>
                <a:cubicBezTo>
                  <a:pt x="205468" y="54428"/>
                  <a:pt x="410936" y="108857"/>
                  <a:pt x="775607" y="269421"/>
                </a:cubicBezTo>
                <a:cubicBezTo>
                  <a:pt x="1140278" y="429985"/>
                  <a:pt x="1857374" y="842282"/>
                  <a:pt x="2188028" y="963386"/>
                </a:cubicBezTo>
                <a:cubicBezTo>
                  <a:pt x="2518682" y="1084490"/>
                  <a:pt x="2639105" y="1040266"/>
                  <a:pt x="2759528" y="996043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手繪多邊形 82"/>
          <p:cNvSpPr/>
          <p:nvPr/>
        </p:nvSpPr>
        <p:spPr>
          <a:xfrm>
            <a:off x="6376307" y="3053443"/>
            <a:ext cx="2833007" cy="411394"/>
          </a:xfrm>
          <a:custGeom>
            <a:avLst/>
            <a:gdLst>
              <a:gd name="connsiteX0" fmla="*/ 0 w 2808514"/>
              <a:gd name="connsiteY0" fmla="*/ 0 h 411394"/>
              <a:gd name="connsiteX1" fmla="*/ 1053193 w 2808514"/>
              <a:gd name="connsiteY1" fmla="*/ 383721 h 411394"/>
              <a:gd name="connsiteX2" fmla="*/ 2808514 w 2808514"/>
              <a:gd name="connsiteY2" fmla="*/ 351064 h 411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08514" h="411394">
                <a:moveTo>
                  <a:pt x="0" y="0"/>
                </a:moveTo>
                <a:cubicBezTo>
                  <a:pt x="292553" y="162605"/>
                  <a:pt x="585107" y="325210"/>
                  <a:pt x="1053193" y="383721"/>
                </a:cubicBezTo>
                <a:cubicBezTo>
                  <a:pt x="1521279" y="442232"/>
                  <a:pt x="2164896" y="396648"/>
                  <a:pt x="2808514" y="351064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手繪多邊形 2"/>
          <p:cNvSpPr/>
          <p:nvPr/>
        </p:nvSpPr>
        <p:spPr>
          <a:xfrm>
            <a:off x="6376307" y="3693274"/>
            <a:ext cx="2784022" cy="2568733"/>
          </a:xfrm>
          <a:custGeom>
            <a:avLst/>
            <a:gdLst>
              <a:gd name="connsiteX0" fmla="*/ 0 w 2784022"/>
              <a:gd name="connsiteY0" fmla="*/ 2568733 h 2568733"/>
              <a:gd name="connsiteX1" fmla="*/ 1453243 w 2784022"/>
              <a:gd name="connsiteY1" fmla="*/ 1376747 h 2568733"/>
              <a:gd name="connsiteX2" fmla="*/ 2261507 w 2784022"/>
              <a:gd name="connsiteY2" fmla="*/ 339883 h 2568733"/>
              <a:gd name="connsiteX3" fmla="*/ 2612572 w 2784022"/>
              <a:gd name="connsiteY3" fmla="*/ 45969 h 2568733"/>
              <a:gd name="connsiteX4" fmla="*/ 2784022 w 2784022"/>
              <a:gd name="connsiteY4" fmla="*/ 5147 h 2568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84022" h="2568733">
                <a:moveTo>
                  <a:pt x="0" y="2568733"/>
                </a:moveTo>
                <a:cubicBezTo>
                  <a:pt x="538162" y="2158477"/>
                  <a:pt x="1076325" y="1748222"/>
                  <a:pt x="1453243" y="1376747"/>
                </a:cubicBezTo>
                <a:cubicBezTo>
                  <a:pt x="1830161" y="1005272"/>
                  <a:pt x="2068286" y="561679"/>
                  <a:pt x="2261507" y="339883"/>
                </a:cubicBezTo>
                <a:cubicBezTo>
                  <a:pt x="2454729" y="118087"/>
                  <a:pt x="2525486" y="101758"/>
                  <a:pt x="2612572" y="45969"/>
                </a:cubicBezTo>
                <a:cubicBezTo>
                  <a:pt x="2699658" y="-9820"/>
                  <a:pt x="2741840" y="-2337"/>
                  <a:pt x="2784022" y="5147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手繪多邊形 41"/>
          <p:cNvSpPr/>
          <p:nvPr/>
        </p:nvSpPr>
        <p:spPr>
          <a:xfrm>
            <a:off x="6368143" y="3540230"/>
            <a:ext cx="2841171" cy="1929841"/>
          </a:xfrm>
          <a:custGeom>
            <a:avLst/>
            <a:gdLst>
              <a:gd name="connsiteX0" fmla="*/ 0 w 2841171"/>
              <a:gd name="connsiteY0" fmla="*/ 1929841 h 1929841"/>
              <a:gd name="connsiteX1" fmla="*/ 1485900 w 2841171"/>
              <a:gd name="connsiteY1" fmla="*/ 901141 h 1929841"/>
              <a:gd name="connsiteX2" fmla="*/ 1983921 w 2841171"/>
              <a:gd name="connsiteY2" fmla="*/ 345970 h 1929841"/>
              <a:gd name="connsiteX3" fmla="*/ 2563586 w 2841171"/>
              <a:gd name="connsiteY3" fmla="*/ 35727 h 1929841"/>
              <a:gd name="connsiteX4" fmla="*/ 2841171 w 2841171"/>
              <a:gd name="connsiteY4" fmla="*/ 19399 h 1929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41171" h="1929841">
                <a:moveTo>
                  <a:pt x="0" y="1929841"/>
                </a:moveTo>
                <a:cubicBezTo>
                  <a:pt x="577623" y="1547480"/>
                  <a:pt x="1155247" y="1165119"/>
                  <a:pt x="1485900" y="901141"/>
                </a:cubicBezTo>
                <a:cubicBezTo>
                  <a:pt x="1816553" y="637163"/>
                  <a:pt x="1804307" y="490206"/>
                  <a:pt x="1983921" y="345970"/>
                </a:cubicBezTo>
                <a:cubicBezTo>
                  <a:pt x="2163535" y="201734"/>
                  <a:pt x="2420711" y="90155"/>
                  <a:pt x="2563586" y="35727"/>
                </a:cubicBezTo>
                <a:cubicBezTo>
                  <a:pt x="2706461" y="-18701"/>
                  <a:pt x="2773816" y="349"/>
                  <a:pt x="2841171" y="19399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8698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237341" y="4715708"/>
            <a:ext cx="4035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y = D</a:t>
            </a:r>
            <a:r>
              <a:rPr lang="en-US" altLang="zh-TW" sz="3200" b="1" baseline="-25000" dirty="0" smtClean="0">
                <a:solidFill>
                  <a:srgbClr val="C00000"/>
                </a:solidFill>
              </a:rPr>
              <a:t>2 </a:t>
            </a:r>
            <a:r>
              <a:rPr lang="en-US" altLang="zh-TW" sz="3200" b="1" dirty="0">
                <a:solidFill>
                  <a:srgbClr val="C00000"/>
                </a:solidFill>
              </a:rPr>
              <a:t>+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3200" b="1" dirty="0">
                <a:solidFill>
                  <a:srgbClr val="C00000"/>
                </a:solidFill>
              </a:rPr>
              <a:t> + D</a:t>
            </a:r>
            <a:r>
              <a:rPr lang="en-US" altLang="zh-TW" sz="3200" b="1" baseline="-25000" dirty="0">
                <a:solidFill>
                  <a:srgbClr val="C00000"/>
                </a:solidFill>
              </a:rPr>
              <a:t>6 </a:t>
            </a:r>
            <a:r>
              <a:rPr lang="en-US" altLang="zh-TW" sz="3200" b="1" dirty="0">
                <a:solidFill>
                  <a:srgbClr val="C00000"/>
                </a:solidFill>
              </a:rPr>
              <a:t>+ D</a:t>
            </a:r>
            <a:r>
              <a:rPr lang="en-US" altLang="zh-TW" sz="3200" b="1" baseline="-25000" dirty="0">
                <a:solidFill>
                  <a:srgbClr val="C00000"/>
                </a:solidFill>
              </a:rPr>
              <a:t>7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 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237341" y="4091626"/>
            <a:ext cx="4035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0000FF"/>
                </a:solidFill>
              </a:rPr>
              <a:t>x = 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4 </a:t>
            </a:r>
            <a:r>
              <a:rPr lang="en-US" altLang="zh-TW" sz="3200" b="1" dirty="0">
                <a:solidFill>
                  <a:srgbClr val="0000FF"/>
                </a:solidFill>
              </a:rPr>
              <a:t>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5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>
                <a:solidFill>
                  <a:srgbClr val="0000FF"/>
                </a:solidFill>
              </a:rPr>
              <a:t>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6 </a:t>
            </a:r>
            <a:r>
              <a:rPr lang="en-US" altLang="zh-TW" sz="3200" b="1" dirty="0">
                <a:solidFill>
                  <a:srgbClr val="0000FF"/>
                </a:solidFill>
              </a:rPr>
              <a:t>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7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 </a:t>
            </a:r>
            <a:endParaRPr lang="zh-TW" altLang="en-US" sz="3200" b="1" dirty="0">
              <a:solidFill>
                <a:srgbClr val="0000FF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237341" y="5339789"/>
            <a:ext cx="40142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z = D</a:t>
            </a:r>
            <a:r>
              <a:rPr lang="en-US" altLang="zh-TW" sz="3200" b="1" baseline="-25000" dirty="0" smtClean="0"/>
              <a:t>1 </a:t>
            </a:r>
            <a:r>
              <a:rPr lang="en-US" altLang="zh-TW" sz="3200" b="1" dirty="0"/>
              <a:t>+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3</a:t>
            </a:r>
            <a:r>
              <a:rPr lang="en-US" altLang="zh-TW" sz="3200" b="1" dirty="0"/>
              <a:t> +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5 </a:t>
            </a:r>
            <a:r>
              <a:rPr lang="en-US" altLang="zh-TW" sz="3200" b="1" dirty="0"/>
              <a:t>+ D</a:t>
            </a:r>
            <a:r>
              <a:rPr lang="en-US" altLang="zh-TW" sz="3200" b="1" baseline="-25000" dirty="0"/>
              <a:t>7</a:t>
            </a:r>
            <a:r>
              <a:rPr lang="en-US" altLang="zh-TW" sz="3200" b="1" dirty="0" smtClean="0"/>
              <a:t> </a:t>
            </a:r>
            <a:endParaRPr lang="zh-TW" altLang="en-US" sz="3200" b="1" dirty="0"/>
          </a:p>
        </p:txBody>
      </p:sp>
      <p:sp>
        <p:nvSpPr>
          <p:cNvPr id="7" name="矩形 6"/>
          <p:cNvSpPr/>
          <p:nvPr/>
        </p:nvSpPr>
        <p:spPr>
          <a:xfrm>
            <a:off x="1200171" y="879706"/>
            <a:ext cx="1409351" cy="27515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8-to-3 Encoder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8" name="直線接點 7"/>
          <p:cNvCxnSpPr/>
          <p:nvPr/>
        </p:nvCxnSpPr>
        <p:spPr>
          <a:xfrm>
            <a:off x="763944" y="1039097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763944" y="1384244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763944" y="1729391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763944" y="20745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763944" y="2419685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763944" y="2764832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763944" y="3109979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763944" y="3455126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2609522" y="1500492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2609522" y="2287260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2609521" y="3074027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237341" y="808264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237341" y="1153411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237341" y="149855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237341" y="1842042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237341" y="2134055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4</a:t>
            </a:r>
            <a:endParaRPr lang="zh-TW" altLang="en-US" sz="2400" baseline="-250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237341" y="2479202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5</a:t>
            </a:r>
            <a:endParaRPr lang="zh-TW" altLang="en-US" sz="2400" baseline="-25000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237341" y="2824349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6</a:t>
            </a:r>
            <a:endParaRPr lang="zh-TW" altLang="en-US" sz="2400" baseline="-250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237341" y="3167833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7</a:t>
            </a:r>
            <a:endParaRPr lang="zh-TW" altLang="en-US" sz="2400" baseline="-250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3102100" y="2824348"/>
            <a:ext cx="3193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z</a:t>
            </a:r>
            <a:endParaRPr lang="zh-TW" altLang="en-US" sz="24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87924" y="205642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3094887" y="123147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  <p:grpSp>
        <p:nvGrpSpPr>
          <p:cNvPr id="30" name="Group 4"/>
          <p:cNvGrpSpPr>
            <a:grpSpLocks noChangeAspect="1"/>
          </p:cNvGrpSpPr>
          <p:nvPr/>
        </p:nvGrpSpPr>
        <p:grpSpPr bwMode="auto">
          <a:xfrm>
            <a:off x="8794583" y="1498558"/>
            <a:ext cx="1495425" cy="793750"/>
            <a:chOff x="2347" y="1818"/>
            <a:chExt cx="942" cy="500"/>
          </a:xfrm>
        </p:grpSpPr>
        <p:sp>
          <p:nvSpPr>
            <p:cNvPr id="31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2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3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grpSp>
        <p:nvGrpSpPr>
          <p:cNvPr id="34" name="Group 4"/>
          <p:cNvGrpSpPr>
            <a:grpSpLocks noChangeAspect="1"/>
          </p:cNvGrpSpPr>
          <p:nvPr/>
        </p:nvGrpSpPr>
        <p:grpSpPr bwMode="auto">
          <a:xfrm>
            <a:off x="8794585" y="3085574"/>
            <a:ext cx="1495425" cy="793750"/>
            <a:chOff x="2347" y="1818"/>
            <a:chExt cx="942" cy="500"/>
          </a:xfrm>
        </p:grpSpPr>
        <p:sp>
          <p:nvSpPr>
            <p:cNvPr id="35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6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7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grpSp>
        <p:nvGrpSpPr>
          <p:cNvPr id="38" name="Group 4"/>
          <p:cNvGrpSpPr>
            <a:grpSpLocks noChangeAspect="1"/>
          </p:cNvGrpSpPr>
          <p:nvPr/>
        </p:nvGrpSpPr>
        <p:grpSpPr bwMode="auto">
          <a:xfrm>
            <a:off x="8794584" y="4672589"/>
            <a:ext cx="1495425" cy="793750"/>
            <a:chOff x="2347" y="1818"/>
            <a:chExt cx="942" cy="500"/>
          </a:xfrm>
        </p:grpSpPr>
        <p:sp>
          <p:nvSpPr>
            <p:cNvPr id="39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40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41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sp>
        <p:nvSpPr>
          <p:cNvPr id="46" name="矩形 45"/>
          <p:cNvSpPr/>
          <p:nvPr/>
        </p:nvSpPr>
        <p:spPr>
          <a:xfrm>
            <a:off x="6319158" y="389437"/>
            <a:ext cx="4245428" cy="6131378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8" name="直線接點 47"/>
          <p:cNvCxnSpPr/>
          <p:nvPr/>
        </p:nvCxnSpPr>
        <p:spPr>
          <a:xfrm>
            <a:off x="6106886" y="653142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6106886" y="1456536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6106886" y="2259930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6106886" y="3063324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6106886" y="3866718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6106886" y="4670112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6106886" y="5473506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6106886" y="6276898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字方塊 55"/>
          <p:cNvSpPr txBox="1"/>
          <p:nvPr/>
        </p:nvSpPr>
        <p:spPr>
          <a:xfrm>
            <a:off x="5541999" y="338414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endParaRPr lang="zh-TW" altLang="en-US" sz="2800" baseline="-250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5574368" y="1122633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5577361" y="2025649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endParaRPr lang="zh-TW" altLang="en-US" sz="2800" baseline="-250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5577361" y="2801712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5574368" y="3610287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4</a:t>
            </a:r>
            <a:endParaRPr lang="zh-TW" altLang="en-US" sz="2800" baseline="-250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5576026" y="4411604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5</a:t>
            </a:r>
            <a:endParaRPr lang="zh-TW" altLang="en-US" sz="2800" baseline="-25000" dirty="0"/>
          </a:p>
        </p:txBody>
      </p:sp>
      <p:sp>
        <p:nvSpPr>
          <p:cNvPr id="62" name="文字方塊 61"/>
          <p:cNvSpPr txBox="1"/>
          <p:nvPr/>
        </p:nvSpPr>
        <p:spPr>
          <a:xfrm>
            <a:off x="5577644" y="5209880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6</a:t>
            </a:r>
            <a:endParaRPr lang="zh-TW" altLang="en-US" sz="2800" baseline="-25000" dirty="0"/>
          </a:p>
        </p:txBody>
      </p:sp>
      <p:sp>
        <p:nvSpPr>
          <p:cNvPr id="63" name="文字方塊 62"/>
          <p:cNvSpPr txBox="1"/>
          <p:nvPr/>
        </p:nvSpPr>
        <p:spPr>
          <a:xfrm>
            <a:off x="5577675" y="6017169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7</a:t>
            </a:r>
            <a:endParaRPr lang="zh-TW" altLang="en-US" sz="2800" baseline="-25000" dirty="0"/>
          </a:p>
        </p:txBody>
      </p:sp>
      <p:cxnSp>
        <p:nvCxnSpPr>
          <p:cNvPr id="67" name="直線接點 66"/>
          <p:cNvCxnSpPr/>
          <p:nvPr/>
        </p:nvCxnSpPr>
        <p:spPr>
          <a:xfrm>
            <a:off x="10007434" y="1906545"/>
            <a:ext cx="7286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/>
          <p:cNvCxnSpPr/>
          <p:nvPr/>
        </p:nvCxnSpPr>
        <p:spPr>
          <a:xfrm>
            <a:off x="10007434" y="3482449"/>
            <a:ext cx="7286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9994197" y="5080576"/>
            <a:ext cx="7286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字方塊 70"/>
          <p:cNvSpPr txBox="1"/>
          <p:nvPr/>
        </p:nvSpPr>
        <p:spPr>
          <a:xfrm>
            <a:off x="10877510" y="4789107"/>
            <a:ext cx="276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z</a:t>
            </a:r>
            <a:endParaRPr lang="zh-TW" altLang="en-US" sz="2800" dirty="0"/>
          </a:p>
        </p:txBody>
      </p:sp>
      <p:sp>
        <p:nvSpPr>
          <p:cNvPr id="72" name="文字方塊 71"/>
          <p:cNvSpPr txBox="1"/>
          <p:nvPr/>
        </p:nvSpPr>
        <p:spPr>
          <a:xfrm>
            <a:off x="10858274" y="3163657"/>
            <a:ext cx="294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y</a:t>
            </a:r>
            <a:endParaRPr lang="zh-TW" altLang="en-US" sz="2800" dirty="0"/>
          </a:p>
        </p:txBody>
      </p:sp>
      <p:sp>
        <p:nvSpPr>
          <p:cNvPr id="73" name="文字方塊 72"/>
          <p:cNvSpPr txBox="1"/>
          <p:nvPr/>
        </p:nvSpPr>
        <p:spPr>
          <a:xfrm>
            <a:off x="10858274" y="1615076"/>
            <a:ext cx="294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x</a:t>
            </a:r>
            <a:endParaRPr lang="zh-TW" altLang="en-US" sz="2800" dirty="0"/>
          </a:p>
        </p:txBody>
      </p:sp>
      <p:sp>
        <p:nvSpPr>
          <p:cNvPr id="75" name="手繪多邊形 74"/>
          <p:cNvSpPr/>
          <p:nvPr/>
        </p:nvSpPr>
        <p:spPr>
          <a:xfrm>
            <a:off x="6384472" y="1627563"/>
            <a:ext cx="2751364" cy="2234144"/>
          </a:xfrm>
          <a:custGeom>
            <a:avLst/>
            <a:gdLst>
              <a:gd name="connsiteX0" fmla="*/ 0 w 2751364"/>
              <a:gd name="connsiteY0" fmla="*/ 2234144 h 2234144"/>
              <a:gd name="connsiteX1" fmla="*/ 898071 w 2751364"/>
              <a:gd name="connsiteY1" fmla="*/ 1776944 h 2234144"/>
              <a:gd name="connsiteX2" fmla="*/ 2024742 w 2751364"/>
              <a:gd name="connsiteY2" fmla="*/ 274716 h 2234144"/>
              <a:gd name="connsiteX3" fmla="*/ 2751364 w 2751364"/>
              <a:gd name="connsiteY3" fmla="*/ 5294 h 2234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1364" h="2234144">
                <a:moveTo>
                  <a:pt x="0" y="2234144"/>
                </a:moveTo>
                <a:cubicBezTo>
                  <a:pt x="280307" y="2168829"/>
                  <a:pt x="560614" y="2103515"/>
                  <a:pt x="898071" y="1776944"/>
                </a:cubicBezTo>
                <a:cubicBezTo>
                  <a:pt x="1235528" y="1450373"/>
                  <a:pt x="1715860" y="569991"/>
                  <a:pt x="2024742" y="274716"/>
                </a:cubicBezTo>
                <a:cubicBezTo>
                  <a:pt x="2333624" y="-20559"/>
                  <a:pt x="2542494" y="-7633"/>
                  <a:pt x="2751364" y="5294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手繪多邊形 78"/>
          <p:cNvSpPr/>
          <p:nvPr/>
        </p:nvSpPr>
        <p:spPr>
          <a:xfrm>
            <a:off x="6376307" y="1753043"/>
            <a:ext cx="2833007" cy="2928266"/>
          </a:xfrm>
          <a:custGeom>
            <a:avLst/>
            <a:gdLst>
              <a:gd name="connsiteX0" fmla="*/ 0 w 2833007"/>
              <a:gd name="connsiteY0" fmla="*/ 2916928 h 2928266"/>
              <a:gd name="connsiteX1" fmla="*/ 563336 w 2833007"/>
              <a:gd name="connsiteY1" fmla="*/ 2533207 h 2928266"/>
              <a:gd name="connsiteX2" fmla="*/ 2114550 w 2833007"/>
              <a:gd name="connsiteY2" fmla="*/ 320686 h 2928266"/>
              <a:gd name="connsiteX3" fmla="*/ 2833007 w 2833007"/>
              <a:gd name="connsiteY3" fmla="*/ 59428 h 2928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3007" h="2928266">
                <a:moveTo>
                  <a:pt x="0" y="2916928"/>
                </a:moveTo>
                <a:cubicBezTo>
                  <a:pt x="105455" y="2941421"/>
                  <a:pt x="210911" y="2965914"/>
                  <a:pt x="563336" y="2533207"/>
                </a:cubicBezTo>
                <a:cubicBezTo>
                  <a:pt x="915761" y="2100500"/>
                  <a:pt x="1736271" y="732983"/>
                  <a:pt x="2114550" y="320686"/>
                </a:cubicBezTo>
                <a:cubicBezTo>
                  <a:pt x="2492829" y="-91611"/>
                  <a:pt x="2662918" y="-16092"/>
                  <a:pt x="2833007" y="59428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手繪多邊形 79"/>
          <p:cNvSpPr/>
          <p:nvPr/>
        </p:nvSpPr>
        <p:spPr>
          <a:xfrm>
            <a:off x="6392636" y="1915962"/>
            <a:ext cx="2808514" cy="3545945"/>
          </a:xfrm>
          <a:custGeom>
            <a:avLst/>
            <a:gdLst>
              <a:gd name="connsiteX0" fmla="*/ 0 w 2808514"/>
              <a:gd name="connsiteY0" fmla="*/ 3545945 h 3545945"/>
              <a:gd name="connsiteX1" fmla="*/ 718457 w 2808514"/>
              <a:gd name="connsiteY1" fmla="*/ 2754009 h 3545945"/>
              <a:gd name="connsiteX2" fmla="*/ 2171700 w 2808514"/>
              <a:gd name="connsiteY2" fmla="*/ 345545 h 3545945"/>
              <a:gd name="connsiteX3" fmla="*/ 2808514 w 2808514"/>
              <a:gd name="connsiteY3" fmla="*/ 67959 h 3545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8514" h="3545945">
                <a:moveTo>
                  <a:pt x="0" y="3545945"/>
                </a:moveTo>
                <a:cubicBezTo>
                  <a:pt x="178253" y="3416677"/>
                  <a:pt x="356507" y="3287409"/>
                  <a:pt x="718457" y="2754009"/>
                </a:cubicBezTo>
                <a:cubicBezTo>
                  <a:pt x="1080407" y="2220609"/>
                  <a:pt x="1823357" y="793220"/>
                  <a:pt x="2171700" y="345545"/>
                </a:cubicBezTo>
                <a:cubicBezTo>
                  <a:pt x="2520043" y="-102130"/>
                  <a:pt x="2664278" y="-17086"/>
                  <a:pt x="2808514" y="67959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手繪多邊形 80"/>
          <p:cNvSpPr/>
          <p:nvPr/>
        </p:nvSpPr>
        <p:spPr>
          <a:xfrm>
            <a:off x="6368143" y="2050768"/>
            <a:ext cx="2751364" cy="4219403"/>
          </a:xfrm>
          <a:custGeom>
            <a:avLst/>
            <a:gdLst>
              <a:gd name="connsiteX0" fmla="*/ 0 w 2751364"/>
              <a:gd name="connsiteY0" fmla="*/ 4219403 h 4219403"/>
              <a:gd name="connsiteX1" fmla="*/ 832757 w 2751364"/>
              <a:gd name="connsiteY1" fmla="*/ 3247853 h 4219403"/>
              <a:gd name="connsiteX2" fmla="*/ 2318657 w 2751364"/>
              <a:gd name="connsiteY2" fmla="*/ 357696 h 4219403"/>
              <a:gd name="connsiteX3" fmla="*/ 2751364 w 2751364"/>
              <a:gd name="connsiteY3" fmla="*/ 145425 h 4219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1364" h="4219403">
                <a:moveTo>
                  <a:pt x="0" y="4219403"/>
                </a:moveTo>
                <a:cubicBezTo>
                  <a:pt x="223157" y="4055437"/>
                  <a:pt x="446314" y="3891471"/>
                  <a:pt x="832757" y="3247853"/>
                </a:cubicBezTo>
                <a:cubicBezTo>
                  <a:pt x="1219200" y="2604235"/>
                  <a:pt x="1998889" y="874767"/>
                  <a:pt x="2318657" y="357696"/>
                </a:cubicBezTo>
                <a:cubicBezTo>
                  <a:pt x="2638425" y="-159375"/>
                  <a:pt x="2694894" y="-6975"/>
                  <a:pt x="2751364" y="145425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2" name="手繪多邊形 81"/>
          <p:cNvSpPr/>
          <p:nvPr/>
        </p:nvSpPr>
        <p:spPr>
          <a:xfrm>
            <a:off x="6392636" y="2253343"/>
            <a:ext cx="2759528" cy="1041787"/>
          </a:xfrm>
          <a:custGeom>
            <a:avLst/>
            <a:gdLst>
              <a:gd name="connsiteX0" fmla="*/ 0 w 2759528"/>
              <a:gd name="connsiteY0" fmla="*/ 0 h 1041787"/>
              <a:gd name="connsiteX1" fmla="*/ 775607 w 2759528"/>
              <a:gd name="connsiteY1" fmla="*/ 269421 h 1041787"/>
              <a:gd name="connsiteX2" fmla="*/ 2188028 w 2759528"/>
              <a:gd name="connsiteY2" fmla="*/ 963386 h 1041787"/>
              <a:gd name="connsiteX3" fmla="*/ 2759528 w 2759528"/>
              <a:gd name="connsiteY3" fmla="*/ 996043 h 104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9528" h="1041787">
                <a:moveTo>
                  <a:pt x="0" y="0"/>
                </a:moveTo>
                <a:cubicBezTo>
                  <a:pt x="205468" y="54428"/>
                  <a:pt x="410936" y="108857"/>
                  <a:pt x="775607" y="269421"/>
                </a:cubicBezTo>
                <a:cubicBezTo>
                  <a:pt x="1140278" y="429985"/>
                  <a:pt x="1857374" y="842282"/>
                  <a:pt x="2188028" y="963386"/>
                </a:cubicBezTo>
                <a:cubicBezTo>
                  <a:pt x="2518682" y="1084490"/>
                  <a:pt x="2639105" y="1040266"/>
                  <a:pt x="2759528" y="996043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手繪多邊形 82"/>
          <p:cNvSpPr/>
          <p:nvPr/>
        </p:nvSpPr>
        <p:spPr>
          <a:xfrm>
            <a:off x="6376307" y="3053443"/>
            <a:ext cx="2833007" cy="411394"/>
          </a:xfrm>
          <a:custGeom>
            <a:avLst/>
            <a:gdLst>
              <a:gd name="connsiteX0" fmla="*/ 0 w 2808514"/>
              <a:gd name="connsiteY0" fmla="*/ 0 h 411394"/>
              <a:gd name="connsiteX1" fmla="*/ 1053193 w 2808514"/>
              <a:gd name="connsiteY1" fmla="*/ 383721 h 411394"/>
              <a:gd name="connsiteX2" fmla="*/ 2808514 w 2808514"/>
              <a:gd name="connsiteY2" fmla="*/ 351064 h 411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08514" h="411394">
                <a:moveTo>
                  <a:pt x="0" y="0"/>
                </a:moveTo>
                <a:cubicBezTo>
                  <a:pt x="292553" y="162605"/>
                  <a:pt x="585107" y="325210"/>
                  <a:pt x="1053193" y="383721"/>
                </a:cubicBezTo>
                <a:cubicBezTo>
                  <a:pt x="1521279" y="442232"/>
                  <a:pt x="2164896" y="396648"/>
                  <a:pt x="2808514" y="351064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手繪多邊形 2"/>
          <p:cNvSpPr/>
          <p:nvPr/>
        </p:nvSpPr>
        <p:spPr>
          <a:xfrm>
            <a:off x="6376307" y="3693274"/>
            <a:ext cx="2784022" cy="2568733"/>
          </a:xfrm>
          <a:custGeom>
            <a:avLst/>
            <a:gdLst>
              <a:gd name="connsiteX0" fmla="*/ 0 w 2784022"/>
              <a:gd name="connsiteY0" fmla="*/ 2568733 h 2568733"/>
              <a:gd name="connsiteX1" fmla="*/ 1453243 w 2784022"/>
              <a:gd name="connsiteY1" fmla="*/ 1376747 h 2568733"/>
              <a:gd name="connsiteX2" fmla="*/ 2261507 w 2784022"/>
              <a:gd name="connsiteY2" fmla="*/ 339883 h 2568733"/>
              <a:gd name="connsiteX3" fmla="*/ 2612572 w 2784022"/>
              <a:gd name="connsiteY3" fmla="*/ 45969 h 2568733"/>
              <a:gd name="connsiteX4" fmla="*/ 2784022 w 2784022"/>
              <a:gd name="connsiteY4" fmla="*/ 5147 h 2568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84022" h="2568733">
                <a:moveTo>
                  <a:pt x="0" y="2568733"/>
                </a:moveTo>
                <a:cubicBezTo>
                  <a:pt x="538162" y="2158477"/>
                  <a:pt x="1076325" y="1748222"/>
                  <a:pt x="1453243" y="1376747"/>
                </a:cubicBezTo>
                <a:cubicBezTo>
                  <a:pt x="1830161" y="1005272"/>
                  <a:pt x="2068286" y="561679"/>
                  <a:pt x="2261507" y="339883"/>
                </a:cubicBezTo>
                <a:cubicBezTo>
                  <a:pt x="2454729" y="118087"/>
                  <a:pt x="2525486" y="101758"/>
                  <a:pt x="2612572" y="45969"/>
                </a:cubicBezTo>
                <a:cubicBezTo>
                  <a:pt x="2699658" y="-9820"/>
                  <a:pt x="2741840" y="-2337"/>
                  <a:pt x="2784022" y="5147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手繪多邊形 41"/>
          <p:cNvSpPr/>
          <p:nvPr/>
        </p:nvSpPr>
        <p:spPr>
          <a:xfrm>
            <a:off x="6368143" y="3540230"/>
            <a:ext cx="2841171" cy="1929841"/>
          </a:xfrm>
          <a:custGeom>
            <a:avLst/>
            <a:gdLst>
              <a:gd name="connsiteX0" fmla="*/ 0 w 2841171"/>
              <a:gd name="connsiteY0" fmla="*/ 1929841 h 1929841"/>
              <a:gd name="connsiteX1" fmla="*/ 1485900 w 2841171"/>
              <a:gd name="connsiteY1" fmla="*/ 901141 h 1929841"/>
              <a:gd name="connsiteX2" fmla="*/ 1983921 w 2841171"/>
              <a:gd name="connsiteY2" fmla="*/ 345970 h 1929841"/>
              <a:gd name="connsiteX3" fmla="*/ 2563586 w 2841171"/>
              <a:gd name="connsiteY3" fmla="*/ 35727 h 1929841"/>
              <a:gd name="connsiteX4" fmla="*/ 2841171 w 2841171"/>
              <a:gd name="connsiteY4" fmla="*/ 19399 h 1929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41171" h="1929841">
                <a:moveTo>
                  <a:pt x="0" y="1929841"/>
                </a:moveTo>
                <a:cubicBezTo>
                  <a:pt x="577623" y="1547480"/>
                  <a:pt x="1155247" y="1165119"/>
                  <a:pt x="1485900" y="901141"/>
                </a:cubicBezTo>
                <a:cubicBezTo>
                  <a:pt x="1816553" y="637163"/>
                  <a:pt x="1804307" y="490206"/>
                  <a:pt x="1983921" y="345970"/>
                </a:cubicBezTo>
                <a:cubicBezTo>
                  <a:pt x="2163535" y="201734"/>
                  <a:pt x="2420711" y="90155"/>
                  <a:pt x="2563586" y="35727"/>
                </a:cubicBezTo>
                <a:cubicBezTo>
                  <a:pt x="2706461" y="-18701"/>
                  <a:pt x="2773816" y="349"/>
                  <a:pt x="2841171" y="19399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手繪多邊形 42"/>
          <p:cNvSpPr/>
          <p:nvPr/>
        </p:nvSpPr>
        <p:spPr>
          <a:xfrm>
            <a:off x="6376307" y="1445079"/>
            <a:ext cx="2784022" cy="3444732"/>
          </a:xfrm>
          <a:custGeom>
            <a:avLst/>
            <a:gdLst>
              <a:gd name="connsiteX0" fmla="*/ 0 w 2784022"/>
              <a:gd name="connsiteY0" fmla="*/ 0 h 3444732"/>
              <a:gd name="connsiteX1" fmla="*/ 677636 w 2784022"/>
              <a:gd name="connsiteY1" fmla="*/ 457200 h 3444732"/>
              <a:gd name="connsiteX2" fmla="*/ 1502229 w 2784022"/>
              <a:gd name="connsiteY2" fmla="*/ 2367642 h 3444732"/>
              <a:gd name="connsiteX3" fmla="*/ 2310493 w 2784022"/>
              <a:gd name="connsiteY3" fmla="*/ 3298371 h 3444732"/>
              <a:gd name="connsiteX4" fmla="*/ 2784022 w 2784022"/>
              <a:gd name="connsiteY4" fmla="*/ 3429000 h 3444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84022" h="3444732">
                <a:moveTo>
                  <a:pt x="0" y="0"/>
                </a:moveTo>
                <a:cubicBezTo>
                  <a:pt x="213632" y="31296"/>
                  <a:pt x="427265" y="62593"/>
                  <a:pt x="677636" y="457200"/>
                </a:cubicBezTo>
                <a:cubicBezTo>
                  <a:pt x="928007" y="851807"/>
                  <a:pt x="1230086" y="1894113"/>
                  <a:pt x="1502229" y="2367642"/>
                </a:cubicBezTo>
                <a:cubicBezTo>
                  <a:pt x="1774372" y="2841171"/>
                  <a:pt x="2096861" y="3121478"/>
                  <a:pt x="2310493" y="3298371"/>
                </a:cubicBezTo>
                <a:cubicBezTo>
                  <a:pt x="2524125" y="3475264"/>
                  <a:pt x="2654073" y="3452132"/>
                  <a:pt x="2784022" y="3429000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手繪多邊形 43"/>
          <p:cNvSpPr/>
          <p:nvPr/>
        </p:nvSpPr>
        <p:spPr>
          <a:xfrm>
            <a:off x="6359979" y="3053443"/>
            <a:ext cx="2857500" cy="1990156"/>
          </a:xfrm>
          <a:custGeom>
            <a:avLst/>
            <a:gdLst>
              <a:gd name="connsiteX0" fmla="*/ 0 w 2857500"/>
              <a:gd name="connsiteY0" fmla="*/ 0 h 1990156"/>
              <a:gd name="connsiteX1" fmla="*/ 1053193 w 2857500"/>
              <a:gd name="connsiteY1" fmla="*/ 710293 h 1990156"/>
              <a:gd name="connsiteX2" fmla="*/ 2057400 w 2857500"/>
              <a:gd name="connsiteY2" fmla="*/ 1820636 h 1990156"/>
              <a:gd name="connsiteX3" fmla="*/ 2857500 w 2857500"/>
              <a:gd name="connsiteY3" fmla="*/ 1967593 h 1990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7500" h="1990156">
                <a:moveTo>
                  <a:pt x="0" y="0"/>
                </a:moveTo>
                <a:cubicBezTo>
                  <a:pt x="355146" y="203427"/>
                  <a:pt x="710293" y="406854"/>
                  <a:pt x="1053193" y="710293"/>
                </a:cubicBezTo>
                <a:cubicBezTo>
                  <a:pt x="1396093" y="1013732"/>
                  <a:pt x="1756682" y="1611086"/>
                  <a:pt x="2057400" y="1820636"/>
                </a:cubicBezTo>
                <a:cubicBezTo>
                  <a:pt x="2358118" y="2030186"/>
                  <a:pt x="2607809" y="1998889"/>
                  <a:pt x="2857500" y="1967593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手繪多邊形 44"/>
          <p:cNvSpPr/>
          <p:nvPr/>
        </p:nvSpPr>
        <p:spPr>
          <a:xfrm>
            <a:off x="6400800" y="4653643"/>
            <a:ext cx="2800350" cy="555171"/>
          </a:xfrm>
          <a:custGeom>
            <a:avLst/>
            <a:gdLst>
              <a:gd name="connsiteX0" fmla="*/ 0 w 2800350"/>
              <a:gd name="connsiteY0" fmla="*/ 0 h 555171"/>
              <a:gd name="connsiteX1" fmla="*/ 1894114 w 2800350"/>
              <a:gd name="connsiteY1" fmla="*/ 424543 h 555171"/>
              <a:gd name="connsiteX2" fmla="*/ 2800350 w 2800350"/>
              <a:gd name="connsiteY2" fmla="*/ 555171 h 55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00350" h="555171">
                <a:moveTo>
                  <a:pt x="0" y="0"/>
                </a:moveTo>
                <a:lnTo>
                  <a:pt x="1894114" y="424543"/>
                </a:lnTo>
                <a:cubicBezTo>
                  <a:pt x="2360839" y="517072"/>
                  <a:pt x="2580594" y="536121"/>
                  <a:pt x="2800350" y="555171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手繪多邊形 46"/>
          <p:cNvSpPr/>
          <p:nvPr/>
        </p:nvSpPr>
        <p:spPr>
          <a:xfrm>
            <a:off x="6384472" y="5323114"/>
            <a:ext cx="2759528" cy="947057"/>
          </a:xfrm>
          <a:custGeom>
            <a:avLst/>
            <a:gdLst>
              <a:gd name="connsiteX0" fmla="*/ 0 w 2759528"/>
              <a:gd name="connsiteY0" fmla="*/ 947057 h 947057"/>
              <a:gd name="connsiteX1" fmla="*/ 1257300 w 2759528"/>
              <a:gd name="connsiteY1" fmla="*/ 449036 h 947057"/>
              <a:gd name="connsiteX2" fmla="*/ 2081892 w 2759528"/>
              <a:gd name="connsiteY2" fmla="*/ 171450 h 947057"/>
              <a:gd name="connsiteX3" fmla="*/ 2359478 w 2759528"/>
              <a:gd name="connsiteY3" fmla="*/ 40822 h 947057"/>
              <a:gd name="connsiteX4" fmla="*/ 2759528 w 2759528"/>
              <a:gd name="connsiteY4" fmla="*/ 0 h 947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59528" h="947057">
                <a:moveTo>
                  <a:pt x="0" y="947057"/>
                </a:moveTo>
                <a:lnTo>
                  <a:pt x="1257300" y="449036"/>
                </a:lnTo>
                <a:cubicBezTo>
                  <a:pt x="1604282" y="319768"/>
                  <a:pt x="1898196" y="239486"/>
                  <a:pt x="2081892" y="171450"/>
                </a:cubicBezTo>
                <a:cubicBezTo>
                  <a:pt x="2265588" y="103414"/>
                  <a:pt x="2246539" y="69397"/>
                  <a:pt x="2359478" y="40822"/>
                </a:cubicBezTo>
                <a:cubicBezTo>
                  <a:pt x="2472417" y="12247"/>
                  <a:pt x="2615972" y="6123"/>
                  <a:pt x="2759528" y="0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8752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237341" y="4715708"/>
            <a:ext cx="4035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y = D</a:t>
            </a:r>
            <a:r>
              <a:rPr lang="en-US" altLang="zh-TW" sz="3200" b="1" baseline="-25000" dirty="0" smtClean="0">
                <a:solidFill>
                  <a:srgbClr val="C00000"/>
                </a:solidFill>
              </a:rPr>
              <a:t>2 </a:t>
            </a:r>
            <a:r>
              <a:rPr lang="en-US" altLang="zh-TW" sz="3200" b="1" dirty="0">
                <a:solidFill>
                  <a:srgbClr val="C00000"/>
                </a:solidFill>
              </a:rPr>
              <a:t>+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3200" b="1" dirty="0">
                <a:solidFill>
                  <a:srgbClr val="C00000"/>
                </a:solidFill>
              </a:rPr>
              <a:t> + D</a:t>
            </a:r>
            <a:r>
              <a:rPr lang="en-US" altLang="zh-TW" sz="3200" b="1" baseline="-25000" dirty="0">
                <a:solidFill>
                  <a:srgbClr val="C00000"/>
                </a:solidFill>
              </a:rPr>
              <a:t>6 </a:t>
            </a:r>
            <a:r>
              <a:rPr lang="en-US" altLang="zh-TW" sz="3200" b="1" dirty="0">
                <a:solidFill>
                  <a:srgbClr val="C00000"/>
                </a:solidFill>
              </a:rPr>
              <a:t>+ D</a:t>
            </a:r>
            <a:r>
              <a:rPr lang="en-US" altLang="zh-TW" sz="3200" b="1" baseline="-25000" dirty="0">
                <a:solidFill>
                  <a:srgbClr val="C00000"/>
                </a:solidFill>
              </a:rPr>
              <a:t>7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 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237341" y="4091626"/>
            <a:ext cx="4035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0000FF"/>
                </a:solidFill>
              </a:rPr>
              <a:t>x = 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4 </a:t>
            </a:r>
            <a:r>
              <a:rPr lang="en-US" altLang="zh-TW" sz="3200" b="1" dirty="0">
                <a:solidFill>
                  <a:srgbClr val="0000FF"/>
                </a:solidFill>
              </a:rPr>
              <a:t>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5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>
                <a:solidFill>
                  <a:srgbClr val="0000FF"/>
                </a:solidFill>
              </a:rPr>
              <a:t>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6 </a:t>
            </a:r>
            <a:r>
              <a:rPr lang="en-US" altLang="zh-TW" sz="3200" b="1" dirty="0">
                <a:solidFill>
                  <a:srgbClr val="0000FF"/>
                </a:solidFill>
              </a:rPr>
              <a:t>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7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 </a:t>
            </a:r>
            <a:endParaRPr lang="zh-TW" altLang="en-US" sz="3200" b="1" dirty="0">
              <a:solidFill>
                <a:srgbClr val="0000FF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237341" y="5339789"/>
            <a:ext cx="40142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z = D</a:t>
            </a:r>
            <a:r>
              <a:rPr lang="en-US" altLang="zh-TW" sz="3200" b="1" baseline="-25000" dirty="0" smtClean="0"/>
              <a:t>1 </a:t>
            </a:r>
            <a:r>
              <a:rPr lang="en-US" altLang="zh-TW" sz="3200" b="1" dirty="0"/>
              <a:t>+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3</a:t>
            </a:r>
            <a:r>
              <a:rPr lang="en-US" altLang="zh-TW" sz="3200" b="1" dirty="0"/>
              <a:t> +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5 </a:t>
            </a:r>
            <a:r>
              <a:rPr lang="en-US" altLang="zh-TW" sz="3200" b="1" dirty="0"/>
              <a:t>+ D</a:t>
            </a:r>
            <a:r>
              <a:rPr lang="en-US" altLang="zh-TW" sz="3200" b="1" baseline="-25000" dirty="0"/>
              <a:t>7</a:t>
            </a:r>
            <a:r>
              <a:rPr lang="en-US" altLang="zh-TW" sz="3200" b="1" dirty="0" smtClean="0"/>
              <a:t> </a:t>
            </a:r>
            <a:endParaRPr lang="zh-TW" altLang="en-US" sz="3200" b="1" dirty="0"/>
          </a:p>
        </p:txBody>
      </p:sp>
      <p:sp>
        <p:nvSpPr>
          <p:cNvPr id="7" name="矩形 6"/>
          <p:cNvSpPr/>
          <p:nvPr/>
        </p:nvSpPr>
        <p:spPr>
          <a:xfrm>
            <a:off x="1200171" y="879706"/>
            <a:ext cx="1409351" cy="27515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8-to-3 Encoder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8" name="直線接點 7"/>
          <p:cNvCxnSpPr/>
          <p:nvPr/>
        </p:nvCxnSpPr>
        <p:spPr>
          <a:xfrm>
            <a:off x="763944" y="1039097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763944" y="1384244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763944" y="1729391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763944" y="20745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763944" y="2419685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763944" y="2764832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763944" y="3109979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763944" y="3455126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2609522" y="1500492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2609522" y="2287260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2609521" y="3074027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237341" y="808264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237341" y="1153411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237341" y="149855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237341" y="1842042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237341" y="2134055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4</a:t>
            </a:r>
            <a:endParaRPr lang="zh-TW" altLang="en-US" sz="2400" baseline="-250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237341" y="2479202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5</a:t>
            </a:r>
            <a:endParaRPr lang="zh-TW" altLang="en-US" sz="2400" baseline="-25000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237341" y="2824349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6</a:t>
            </a:r>
            <a:endParaRPr lang="zh-TW" altLang="en-US" sz="2400" baseline="-250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237341" y="3167833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7</a:t>
            </a:r>
            <a:endParaRPr lang="zh-TW" altLang="en-US" sz="2400" baseline="-250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3102100" y="2824348"/>
            <a:ext cx="3193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z</a:t>
            </a:r>
            <a:endParaRPr lang="zh-TW" altLang="en-US" sz="24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87924" y="205642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3094887" y="123147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  <p:grpSp>
        <p:nvGrpSpPr>
          <p:cNvPr id="30" name="Group 4"/>
          <p:cNvGrpSpPr>
            <a:grpSpLocks noChangeAspect="1"/>
          </p:cNvGrpSpPr>
          <p:nvPr/>
        </p:nvGrpSpPr>
        <p:grpSpPr bwMode="auto">
          <a:xfrm>
            <a:off x="8794583" y="1498558"/>
            <a:ext cx="1495425" cy="793750"/>
            <a:chOff x="2347" y="1818"/>
            <a:chExt cx="942" cy="500"/>
          </a:xfrm>
        </p:grpSpPr>
        <p:sp>
          <p:nvSpPr>
            <p:cNvPr id="31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2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3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grpSp>
        <p:nvGrpSpPr>
          <p:cNvPr id="34" name="Group 4"/>
          <p:cNvGrpSpPr>
            <a:grpSpLocks noChangeAspect="1"/>
          </p:cNvGrpSpPr>
          <p:nvPr/>
        </p:nvGrpSpPr>
        <p:grpSpPr bwMode="auto">
          <a:xfrm>
            <a:off x="8794585" y="3085574"/>
            <a:ext cx="1495425" cy="793750"/>
            <a:chOff x="2347" y="1818"/>
            <a:chExt cx="942" cy="500"/>
          </a:xfrm>
        </p:grpSpPr>
        <p:sp>
          <p:nvSpPr>
            <p:cNvPr id="35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6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7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grpSp>
        <p:nvGrpSpPr>
          <p:cNvPr id="38" name="Group 4"/>
          <p:cNvGrpSpPr>
            <a:grpSpLocks noChangeAspect="1"/>
          </p:cNvGrpSpPr>
          <p:nvPr/>
        </p:nvGrpSpPr>
        <p:grpSpPr bwMode="auto">
          <a:xfrm>
            <a:off x="8794584" y="4672589"/>
            <a:ext cx="1495425" cy="793750"/>
            <a:chOff x="2347" y="1818"/>
            <a:chExt cx="942" cy="500"/>
          </a:xfrm>
        </p:grpSpPr>
        <p:sp>
          <p:nvSpPr>
            <p:cNvPr id="39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40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41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sp>
        <p:nvSpPr>
          <p:cNvPr id="46" name="矩形 45"/>
          <p:cNvSpPr/>
          <p:nvPr/>
        </p:nvSpPr>
        <p:spPr>
          <a:xfrm>
            <a:off x="6319158" y="389437"/>
            <a:ext cx="4245428" cy="6131378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8" name="直線接點 47"/>
          <p:cNvCxnSpPr/>
          <p:nvPr/>
        </p:nvCxnSpPr>
        <p:spPr>
          <a:xfrm>
            <a:off x="6106886" y="653142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6106886" y="1456536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6106886" y="2259930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6106886" y="3063324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6106886" y="3866718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6106886" y="4670112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6106886" y="5473506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6106886" y="6276898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字方塊 55"/>
          <p:cNvSpPr txBox="1"/>
          <p:nvPr/>
        </p:nvSpPr>
        <p:spPr>
          <a:xfrm>
            <a:off x="5541999" y="338414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1</a:t>
            </a:r>
            <a:endParaRPr lang="zh-TW" altLang="en-US" sz="2800" baseline="-250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5574368" y="1122633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5577361" y="2025649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5577361" y="2801712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5574368" y="3610287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5576026" y="4411604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62" name="文字方塊 61"/>
          <p:cNvSpPr txBox="1"/>
          <p:nvPr/>
        </p:nvSpPr>
        <p:spPr>
          <a:xfrm>
            <a:off x="5577644" y="5209880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63" name="文字方塊 62"/>
          <p:cNvSpPr txBox="1"/>
          <p:nvPr/>
        </p:nvSpPr>
        <p:spPr>
          <a:xfrm>
            <a:off x="5577675" y="6017169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cxnSp>
        <p:nvCxnSpPr>
          <p:cNvPr id="67" name="直線接點 66"/>
          <p:cNvCxnSpPr/>
          <p:nvPr/>
        </p:nvCxnSpPr>
        <p:spPr>
          <a:xfrm>
            <a:off x="10007434" y="1906545"/>
            <a:ext cx="7286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/>
          <p:cNvCxnSpPr/>
          <p:nvPr/>
        </p:nvCxnSpPr>
        <p:spPr>
          <a:xfrm>
            <a:off x="10007434" y="3482449"/>
            <a:ext cx="7286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9994197" y="5080576"/>
            <a:ext cx="7286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字方塊 70"/>
          <p:cNvSpPr txBox="1"/>
          <p:nvPr/>
        </p:nvSpPr>
        <p:spPr>
          <a:xfrm>
            <a:off x="10877510" y="4789107"/>
            <a:ext cx="276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dirty="0"/>
          </a:p>
        </p:txBody>
      </p:sp>
      <p:sp>
        <p:nvSpPr>
          <p:cNvPr id="72" name="文字方塊 71"/>
          <p:cNvSpPr txBox="1"/>
          <p:nvPr/>
        </p:nvSpPr>
        <p:spPr>
          <a:xfrm>
            <a:off x="10858274" y="3163657"/>
            <a:ext cx="294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dirty="0"/>
          </a:p>
        </p:txBody>
      </p:sp>
      <p:sp>
        <p:nvSpPr>
          <p:cNvPr id="73" name="文字方塊 72"/>
          <p:cNvSpPr txBox="1"/>
          <p:nvPr/>
        </p:nvSpPr>
        <p:spPr>
          <a:xfrm>
            <a:off x="10858274" y="1615076"/>
            <a:ext cx="294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dirty="0"/>
          </a:p>
        </p:txBody>
      </p:sp>
      <p:sp>
        <p:nvSpPr>
          <p:cNvPr id="75" name="手繪多邊形 74"/>
          <p:cNvSpPr/>
          <p:nvPr/>
        </p:nvSpPr>
        <p:spPr>
          <a:xfrm>
            <a:off x="6384472" y="1627563"/>
            <a:ext cx="2751364" cy="2234144"/>
          </a:xfrm>
          <a:custGeom>
            <a:avLst/>
            <a:gdLst>
              <a:gd name="connsiteX0" fmla="*/ 0 w 2751364"/>
              <a:gd name="connsiteY0" fmla="*/ 2234144 h 2234144"/>
              <a:gd name="connsiteX1" fmla="*/ 898071 w 2751364"/>
              <a:gd name="connsiteY1" fmla="*/ 1776944 h 2234144"/>
              <a:gd name="connsiteX2" fmla="*/ 2024742 w 2751364"/>
              <a:gd name="connsiteY2" fmla="*/ 274716 h 2234144"/>
              <a:gd name="connsiteX3" fmla="*/ 2751364 w 2751364"/>
              <a:gd name="connsiteY3" fmla="*/ 5294 h 2234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1364" h="2234144">
                <a:moveTo>
                  <a:pt x="0" y="2234144"/>
                </a:moveTo>
                <a:cubicBezTo>
                  <a:pt x="280307" y="2168829"/>
                  <a:pt x="560614" y="2103515"/>
                  <a:pt x="898071" y="1776944"/>
                </a:cubicBezTo>
                <a:cubicBezTo>
                  <a:pt x="1235528" y="1450373"/>
                  <a:pt x="1715860" y="569991"/>
                  <a:pt x="2024742" y="274716"/>
                </a:cubicBezTo>
                <a:cubicBezTo>
                  <a:pt x="2333624" y="-20559"/>
                  <a:pt x="2542494" y="-7633"/>
                  <a:pt x="2751364" y="5294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手繪多邊形 78"/>
          <p:cNvSpPr/>
          <p:nvPr/>
        </p:nvSpPr>
        <p:spPr>
          <a:xfrm>
            <a:off x="6376307" y="1753043"/>
            <a:ext cx="2833007" cy="2928266"/>
          </a:xfrm>
          <a:custGeom>
            <a:avLst/>
            <a:gdLst>
              <a:gd name="connsiteX0" fmla="*/ 0 w 2833007"/>
              <a:gd name="connsiteY0" fmla="*/ 2916928 h 2928266"/>
              <a:gd name="connsiteX1" fmla="*/ 563336 w 2833007"/>
              <a:gd name="connsiteY1" fmla="*/ 2533207 h 2928266"/>
              <a:gd name="connsiteX2" fmla="*/ 2114550 w 2833007"/>
              <a:gd name="connsiteY2" fmla="*/ 320686 h 2928266"/>
              <a:gd name="connsiteX3" fmla="*/ 2833007 w 2833007"/>
              <a:gd name="connsiteY3" fmla="*/ 59428 h 2928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3007" h="2928266">
                <a:moveTo>
                  <a:pt x="0" y="2916928"/>
                </a:moveTo>
                <a:cubicBezTo>
                  <a:pt x="105455" y="2941421"/>
                  <a:pt x="210911" y="2965914"/>
                  <a:pt x="563336" y="2533207"/>
                </a:cubicBezTo>
                <a:cubicBezTo>
                  <a:pt x="915761" y="2100500"/>
                  <a:pt x="1736271" y="732983"/>
                  <a:pt x="2114550" y="320686"/>
                </a:cubicBezTo>
                <a:cubicBezTo>
                  <a:pt x="2492829" y="-91611"/>
                  <a:pt x="2662918" y="-16092"/>
                  <a:pt x="2833007" y="59428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手繪多邊形 79"/>
          <p:cNvSpPr/>
          <p:nvPr/>
        </p:nvSpPr>
        <p:spPr>
          <a:xfrm>
            <a:off x="6392636" y="1915962"/>
            <a:ext cx="2808514" cy="3545945"/>
          </a:xfrm>
          <a:custGeom>
            <a:avLst/>
            <a:gdLst>
              <a:gd name="connsiteX0" fmla="*/ 0 w 2808514"/>
              <a:gd name="connsiteY0" fmla="*/ 3545945 h 3545945"/>
              <a:gd name="connsiteX1" fmla="*/ 718457 w 2808514"/>
              <a:gd name="connsiteY1" fmla="*/ 2754009 h 3545945"/>
              <a:gd name="connsiteX2" fmla="*/ 2171700 w 2808514"/>
              <a:gd name="connsiteY2" fmla="*/ 345545 h 3545945"/>
              <a:gd name="connsiteX3" fmla="*/ 2808514 w 2808514"/>
              <a:gd name="connsiteY3" fmla="*/ 67959 h 3545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8514" h="3545945">
                <a:moveTo>
                  <a:pt x="0" y="3545945"/>
                </a:moveTo>
                <a:cubicBezTo>
                  <a:pt x="178253" y="3416677"/>
                  <a:pt x="356507" y="3287409"/>
                  <a:pt x="718457" y="2754009"/>
                </a:cubicBezTo>
                <a:cubicBezTo>
                  <a:pt x="1080407" y="2220609"/>
                  <a:pt x="1823357" y="793220"/>
                  <a:pt x="2171700" y="345545"/>
                </a:cubicBezTo>
                <a:cubicBezTo>
                  <a:pt x="2520043" y="-102130"/>
                  <a:pt x="2664278" y="-17086"/>
                  <a:pt x="2808514" y="67959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手繪多邊形 80"/>
          <p:cNvSpPr/>
          <p:nvPr/>
        </p:nvSpPr>
        <p:spPr>
          <a:xfrm>
            <a:off x="6368143" y="2050768"/>
            <a:ext cx="2751364" cy="4219403"/>
          </a:xfrm>
          <a:custGeom>
            <a:avLst/>
            <a:gdLst>
              <a:gd name="connsiteX0" fmla="*/ 0 w 2751364"/>
              <a:gd name="connsiteY0" fmla="*/ 4219403 h 4219403"/>
              <a:gd name="connsiteX1" fmla="*/ 832757 w 2751364"/>
              <a:gd name="connsiteY1" fmla="*/ 3247853 h 4219403"/>
              <a:gd name="connsiteX2" fmla="*/ 2318657 w 2751364"/>
              <a:gd name="connsiteY2" fmla="*/ 357696 h 4219403"/>
              <a:gd name="connsiteX3" fmla="*/ 2751364 w 2751364"/>
              <a:gd name="connsiteY3" fmla="*/ 145425 h 4219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1364" h="4219403">
                <a:moveTo>
                  <a:pt x="0" y="4219403"/>
                </a:moveTo>
                <a:cubicBezTo>
                  <a:pt x="223157" y="4055437"/>
                  <a:pt x="446314" y="3891471"/>
                  <a:pt x="832757" y="3247853"/>
                </a:cubicBezTo>
                <a:cubicBezTo>
                  <a:pt x="1219200" y="2604235"/>
                  <a:pt x="1998889" y="874767"/>
                  <a:pt x="2318657" y="357696"/>
                </a:cubicBezTo>
                <a:cubicBezTo>
                  <a:pt x="2638425" y="-159375"/>
                  <a:pt x="2694894" y="-6975"/>
                  <a:pt x="2751364" y="145425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2" name="手繪多邊形 81"/>
          <p:cNvSpPr/>
          <p:nvPr/>
        </p:nvSpPr>
        <p:spPr>
          <a:xfrm>
            <a:off x="6392636" y="2253343"/>
            <a:ext cx="2759528" cy="1041787"/>
          </a:xfrm>
          <a:custGeom>
            <a:avLst/>
            <a:gdLst>
              <a:gd name="connsiteX0" fmla="*/ 0 w 2759528"/>
              <a:gd name="connsiteY0" fmla="*/ 0 h 1041787"/>
              <a:gd name="connsiteX1" fmla="*/ 775607 w 2759528"/>
              <a:gd name="connsiteY1" fmla="*/ 269421 h 1041787"/>
              <a:gd name="connsiteX2" fmla="*/ 2188028 w 2759528"/>
              <a:gd name="connsiteY2" fmla="*/ 963386 h 1041787"/>
              <a:gd name="connsiteX3" fmla="*/ 2759528 w 2759528"/>
              <a:gd name="connsiteY3" fmla="*/ 996043 h 104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9528" h="1041787">
                <a:moveTo>
                  <a:pt x="0" y="0"/>
                </a:moveTo>
                <a:cubicBezTo>
                  <a:pt x="205468" y="54428"/>
                  <a:pt x="410936" y="108857"/>
                  <a:pt x="775607" y="269421"/>
                </a:cubicBezTo>
                <a:cubicBezTo>
                  <a:pt x="1140278" y="429985"/>
                  <a:pt x="1857374" y="842282"/>
                  <a:pt x="2188028" y="963386"/>
                </a:cubicBezTo>
                <a:cubicBezTo>
                  <a:pt x="2518682" y="1084490"/>
                  <a:pt x="2639105" y="1040266"/>
                  <a:pt x="2759528" y="996043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手繪多邊形 82"/>
          <p:cNvSpPr/>
          <p:nvPr/>
        </p:nvSpPr>
        <p:spPr>
          <a:xfrm>
            <a:off x="6376307" y="3053443"/>
            <a:ext cx="2833007" cy="411394"/>
          </a:xfrm>
          <a:custGeom>
            <a:avLst/>
            <a:gdLst>
              <a:gd name="connsiteX0" fmla="*/ 0 w 2808514"/>
              <a:gd name="connsiteY0" fmla="*/ 0 h 411394"/>
              <a:gd name="connsiteX1" fmla="*/ 1053193 w 2808514"/>
              <a:gd name="connsiteY1" fmla="*/ 383721 h 411394"/>
              <a:gd name="connsiteX2" fmla="*/ 2808514 w 2808514"/>
              <a:gd name="connsiteY2" fmla="*/ 351064 h 411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08514" h="411394">
                <a:moveTo>
                  <a:pt x="0" y="0"/>
                </a:moveTo>
                <a:cubicBezTo>
                  <a:pt x="292553" y="162605"/>
                  <a:pt x="585107" y="325210"/>
                  <a:pt x="1053193" y="383721"/>
                </a:cubicBezTo>
                <a:cubicBezTo>
                  <a:pt x="1521279" y="442232"/>
                  <a:pt x="2164896" y="396648"/>
                  <a:pt x="2808514" y="351064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手繪多邊形 2"/>
          <p:cNvSpPr/>
          <p:nvPr/>
        </p:nvSpPr>
        <p:spPr>
          <a:xfrm>
            <a:off x="6376307" y="3693274"/>
            <a:ext cx="2784022" cy="2568733"/>
          </a:xfrm>
          <a:custGeom>
            <a:avLst/>
            <a:gdLst>
              <a:gd name="connsiteX0" fmla="*/ 0 w 2784022"/>
              <a:gd name="connsiteY0" fmla="*/ 2568733 h 2568733"/>
              <a:gd name="connsiteX1" fmla="*/ 1453243 w 2784022"/>
              <a:gd name="connsiteY1" fmla="*/ 1376747 h 2568733"/>
              <a:gd name="connsiteX2" fmla="*/ 2261507 w 2784022"/>
              <a:gd name="connsiteY2" fmla="*/ 339883 h 2568733"/>
              <a:gd name="connsiteX3" fmla="*/ 2612572 w 2784022"/>
              <a:gd name="connsiteY3" fmla="*/ 45969 h 2568733"/>
              <a:gd name="connsiteX4" fmla="*/ 2784022 w 2784022"/>
              <a:gd name="connsiteY4" fmla="*/ 5147 h 2568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84022" h="2568733">
                <a:moveTo>
                  <a:pt x="0" y="2568733"/>
                </a:moveTo>
                <a:cubicBezTo>
                  <a:pt x="538162" y="2158477"/>
                  <a:pt x="1076325" y="1748222"/>
                  <a:pt x="1453243" y="1376747"/>
                </a:cubicBezTo>
                <a:cubicBezTo>
                  <a:pt x="1830161" y="1005272"/>
                  <a:pt x="2068286" y="561679"/>
                  <a:pt x="2261507" y="339883"/>
                </a:cubicBezTo>
                <a:cubicBezTo>
                  <a:pt x="2454729" y="118087"/>
                  <a:pt x="2525486" y="101758"/>
                  <a:pt x="2612572" y="45969"/>
                </a:cubicBezTo>
                <a:cubicBezTo>
                  <a:pt x="2699658" y="-9820"/>
                  <a:pt x="2741840" y="-2337"/>
                  <a:pt x="2784022" y="5147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手繪多邊形 41"/>
          <p:cNvSpPr/>
          <p:nvPr/>
        </p:nvSpPr>
        <p:spPr>
          <a:xfrm>
            <a:off x="6368143" y="3540230"/>
            <a:ext cx="2841171" cy="1929841"/>
          </a:xfrm>
          <a:custGeom>
            <a:avLst/>
            <a:gdLst>
              <a:gd name="connsiteX0" fmla="*/ 0 w 2841171"/>
              <a:gd name="connsiteY0" fmla="*/ 1929841 h 1929841"/>
              <a:gd name="connsiteX1" fmla="*/ 1485900 w 2841171"/>
              <a:gd name="connsiteY1" fmla="*/ 901141 h 1929841"/>
              <a:gd name="connsiteX2" fmla="*/ 1983921 w 2841171"/>
              <a:gd name="connsiteY2" fmla="*/ 345970 h 1929841"/>
              <a:gd name="connsiteX3" fmla="*/ 2563586 w 2841171"/>
              <a:gd name="connsiteY3" fmla="*/ 35727 h 1929841"/>
              <a:gd name="connsiteX4" fmla="*/ 2841171 w 2841171"/>
              <a:gd name="connsiteY4" fmla="*/ 19399 h 1929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41171" h="1929841">
                <a:moveTo>
                  <a:pt x="0" y="1929841"/>
                </a:moveTo>
                <a:cubicBezTo>
                  <a:pt x="577623" y="1547480"/>
                  <a:pt x="1155247" y="1165119"/>
                  <a:pt x="1485900" y="901141"/>
                </a:cubicBezTo>
                <a:cubicBezTo>
                  <a:pt x="1816553" y="637163"/>
                  <a:pt x="1804307" y="490206"/>
                  <a:pt x="1983921" y="345970"/>
                </a:cubicBezTo>
                <a:cubicBezTo>
                  <a:pt x="2163535" y="201734"/>
                  <a:pt x="2420711" y="90155"/>
                  <a:pt x="2563586" y="35727"/>
                </a:cubicBezTo>
                <a:cubicBezTo>
                  <a:pt x="2706461" y="-18701"/>
                  <a:pt x="2773816" y="349"/>
                  <a:pt x="2841171" y="19399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手繪多邊形 42"/>
          <p:cNvSpPr/>
          <p:nvPr/>
        </p:nvSpPr>
        <p:spPr>
          <a:xfrm>
            <a:off x="6376307" y="1445079"/>
            <a:ext cx="2784022" cy="3444732"/>
          </a:xfrm>
          <a:custGeom>
            <a:avLst/>
            <a:gdLst>
              <a:gd name="connsiteX0" fmla="*/ 0 w 2784022"/>
              <a:gd name="connsiteY0" fmla="*/ 0 h 3444732"/>
              <a:gd name="connsiteX1" fmla="*/ 677636 w 2784022"/>
              <a:gd name="connsiteY1" fmla="*/ 457200 h 3444732"/>
              <a:gd name="connsiteX2" fmla="*/ 1502229 w 2784022"/>
              <a:gd name="connsiteY2" fmla="*/ 2367642 h 3444732"/>
              <a:gd name="connsiteX3" fmla="*/ 2310493 w 2784022"/>
              <a:gd name="connsiteY3" fmla="*/ 3298371 h 3444732"/>
              <a:gd name="connsiteX4" fmla="*/ 2784022 w 2784022"/>
              <a:gd name="connsiteY4" fmla="*/ 3429000 h 3444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84022" h="3444732">
                <a:moveTo>
                  <a:pt x="0" y="0"/>
                </a:moveTo>
                <a:cubicBezTo>
                  <a:pt x="213632" y="31296"/>
                  <a:pt x="427265" y="62593"/>
                  <a:pt x="677636" y="457200"/>
                </a:cubicBezTo>
                <a:cubicBezTo>
                  <a:pt x="928007" y="851807"/>
                  <a:pt x="1230086" y="1894113"/>
                  <a:pt x="1502229" y="2367642"/>
                </a:cubicBezTo>
                <a:cubicBezTo>
                  <a:pt x="1774372" y="2841171"/>
                  <a:pt x="2096861" y="3121478"/>
                  <a:pt x="2310493" y="3298371"/>
                </a:cubicBezTo>
                <a:cubicBezTo>
                  <a:pt x="2524125" y="3475264"/>
                  <a:pt x="2654073" y="3452132"/>
                  <a:pt x="2784022" y="3429000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手繪多邊形 43"/>
          <p:cNvSpPr/>
          <p:nvPr/>
        </p:nvSpPr>
        <p:spPr>
          <a:xfrm>
            <a:off x="6359979" y="3053443"/>
            <a:ext cx="2857500" cy="1990156"/>
          </a:xfrm>
          <a:custGeom>
            <a:avLst/>
            <a:gdLst>
              <a:gd name="connsiteX0" fmla="*/ 0 w 2857500"/>
              <a:gd name="connsiteY0" fmla="*/ 0 h 1990156"/>
              <a:gd name="connsiteX1" fmla="*/ 1053193 w 2857500"/>
              <a:gd name="connsiteY1" fmla="*/ 710293 h 1990156"/>
              <a:gd name="connsiteX2" fmla="*/ 2057400 w 2857500"/>
              <a:gd name="connsiteY2" fmla="*/ 1820636 h 1990156"/>
              <a:gd name="connsiteX3" fmla="*/ 2857500 w 2857500"/>
              <a:gd name="connsiteY3" fmla="*/ 1967593 h 1990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7500" h="1990156">
                <a:moveTo>
                  <a:pt x="0" y="0"/>
                </a:moveTo>
                <a:cubicBezTo>
                  <a:pt x="355146" y="203427"/>
                  <a:pt x="710293" y="406854"/>
                  <a:pt x="1053193" y="710293"/>
                </a:cubicBezTo>
                <a:cubicBezTo>
                  <a:pt x="1396093" y="1013732"/>
                  <a:pt x="1756682" y="1611086"/>
                  <a:pt x="2057400" y="1820636"/>
                </a:cubicBezTo>
                <a:cubicBezTo>
                  <a:pt x="2358118" y="2030186"/>
                  <a:pt x="2607809" y="1998889"/>
                  <a:pt x="2857500" y="1967593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手繪多邊形 44"/>
          <p:cNvSpPr/>
          <p:nvPr/>
        </p:nvSpPr>
        <p:spPr>
          <a:xfrm>
            <a:off x="6400800" y="4653643"/>
            <a:ext cx="2800350" cy="555171"/>
          </a:xfrm>
          <a:custGeom>
            <a:avLst/>
            <a:gdLst>
              <a:gd name="connsiteX0" fmla="*/ 0 w 2800350"/>
              <a:gd name="connsiteY0" fmla="*/ 0 h 555171"/>
              <a:gd name="connsiteX1" fmla="*/ 1894114 w 2800350"/>
              <a:gd name="connsiteY1" fmla="*/ 424543 h 555171"/>
              <a:gd name="connsiteX2" fmla="*/ 2800350 w 2800350"/>
              <a:gd name="connsiteY2" fmla="*/ 555171 h 55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00350" h="555171">
                <a:moveTo>
                  <a:pt x="0" y="0"/>
                </a:moveTo>
                <a:lnTo>
                  <a:pt x="1894114" y="424543"/>
                </a:lnTo>
                <a:cubicBezTo>
                  <a:pt x="2360839" y="517072"/>
                  <a:pt x="2580594" y="536121"/>
                  <a:pt x="2800350" y="555171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手繪多邊形 46"/>
          <p:cNvSpPr/>
          <p:nvPr/>
        </p:nvSpPr>
        <p:spPr>
          <a:xfrm>
            <a:off x="6384472" y="5323114"/>
            <a:ext cx="2759528" cy="947057"/>
          </a:xfrm>
          <a:custGeom>
            <a:avLst/>
            <a:gdLst>
              <a:gd name="connsiteX0" fmla="*/ 0 w 2759528"/>
              <a:gd name="connsiteY0" fmla="*/ 947057 h 947057"/>
              <a:gd name="connsiteX1" fmla="*/ 1257300 w 2759528"/>
              <a:gd name="connsiteY1" fmla="*/ 449036 h 947057"/>
              <a:gd name="connsiteX2" fmla="*/ 2081892 w 2759528"/>
              <a:gd name="connsiteY2" fmla="*/ 171450 h 947057"/>
              <a:gd name="connsiteX3" fmla="*/ 2359478 w 2759528"/>
              <a:gd name="connsiteY3" fmla="*/ 40822 h 947057"/>
              <a:gd name="connsiteX4" fmla="*/ 2759528 w 2759528"/>
              <a:gd name="connsiteY4" fmla="*/ 0 h 947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59528" h="947057">
                <a:moveTo>
                  <a:pt x="0" y="947057"/>
                </a:moveTo>
                <a:lnTo>
                  <a:pt x="1257300" y="449036"/>
                </a:lnTo>
                <a:cubicBezTo>
                  <a:pt x="1604282" y="319768"/>
                  <a:pt x="1898196" y="239486"/>
                  <a:pt x="2081892" y="171450"/>
                </a:cubicBezTo>
                <a:cubicBezTo>
                  <a:pt x="2265588" y="103414"/>
                  <a:pt x="2246539" y="69397"/>
                  <a:pt x="2359478" y="40822"/>
                </a:cubicBezTo>
                <a:cubicBezTo>
                  <a:pt x="2472417" y="12247"/>
                  <a:pt x="2615972" y="6123"/>
                  <a:pt x="2759528" y="0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文字方塊 75"/>
          <p:cNvSpPr txBox="1"/>
          <p:nvPr/>
        </p:nvSpPr>
        <p:spPr>
          <a:xfrm>
            <a:off x="4831298" y="338414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endParaRPr lang="zh-TW" altLang="en-US" sz="2800" baseline="-250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4863667" y="1122633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4866660" y="2025649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endParaRPr lang="zh-TW" altLang="en-US" sz="2800" baseline="-25000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4866660" y="2801712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  <p:sp>
        <p:nvSpPr>
          <p:cNvPr id="85" name="文字方塊 84"/>
          <p:cNvSpPr txBox="1"/>
          <p:nvPr/>
        </p:nvSpPr>
        <p:spPr>
          <a:xfrm>
            <a:off x="4863667" y="3610287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4</a:t>
            </a:r>
            <a:endParaRPr lang="zh-TW" altLang="en-US" sz="2800" baseline="-25000" dirty="0"/>
          </a:p>
        </p:txBody>
      </p:sp>
      <p:sp>
        <p:nvSpPr>
          <p:cNvPr id="86" name="文字方塊 85"/>
          <p:cNvSpPr txBox="1"/>
          <p:nvPr/>
        </p:nvSpPr>
        <p:spPr>
          <a:xfrm>
            <a:off x="4865325" y="4411604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5</a:t>
            </a:r>
            <a:endParaRPr lang="zh-TW" altLang="en-US" sz="2800" baseline="-25000" dirty="0"/>
          </a:p>
        </p:txBody>
      </p:sp>
      <p:sp>
        <p:nvSpPr>
          <p:cNvPr id="87" name="文字方塊 86"/>
          <p:cNvSpPr txBox="1"/>
          <p:nvPr/>
        </p:nvSpPr>
        <p:spPr>
          <a:xfrm>
            <a:off x="4866943" y="5209880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6</a:t>
            </a:r>
            <a:endParaRPr lang="zh-TW" altLang="en-US" sz="2800" baseline="-25000" dirty="0"/>
          </a:p>
        </p:txBody>
      </p:sp>
      <p:sp>
        <p:nvSpPr>
          <p:cNvPr id="88" name="文字方塊 87"/>
          <p:cNvSpPr txBox="1"/>
          <p:nvPr/>
        </p:nvSpPr>
        <p:spPr>
          <a:xfrm>
            <a:off x="4866974" y="6017169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7</a:t>
            </a:r>
            <a:endParaRPr lang="zh-TW" altLang="en-US" sz="2800" baseline="-25000" dirty="0"/>
          </a:p>
        </p:txBody>
      </p:sp>
    </p:spTree>
    <p:extLst>
      <p:ext uri="{BB962C8B-B14F-4D97-AF65-F5344CB8AC3E}">
        <p14:creationId xmlns:p14="http://schemas.microsoft.com/office/powerpoint/2010/main" val="3604308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237341" y="4715708"/>
            <a:ext cx="4035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y = D</a:t>
            </a:r>
            <a:r>
              <a:rPr lang="en-US" altLang="zh-TW" sz="3200" b="1" baseline="-25000" dirty="0" smtClean="0">
                <a:solidFill>
                  <a:srgbClr val="C00000"/>
                </a:solidFill>
              </a:rPr>
              <a:t>2 </a:t>
            </a:r>
            <a:r>
              <a:rPr lang="en-US" altLang="zh-TW" sz="3200" b="1" dirty="0">
                <a:solidFill>
                  <a:srgbClr val="C00000"/>
                </a:solidFill>
              </a:rPr>
              <a:t>+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3200" b="1" dirty="0">
                <a:solidFill>
                  <a:srgbClr val="C00000"/>
                </a:solidFill>
              </a:rPr>
              <a:t> + D</a:t>
            </a:r>
            <a:r>
              <a:rPr lang="en-US" altLang="zh-TW" sz="3200" b="1" baseline="-25000" dirty="0">
                <a:solidFill>
                  <a:srgbClr val="C00000"/>
                </a:solidFill>
              </a:rPr>
              <a:t>6 </a:t>
            </a:r>
            <a:r>
              <a:rPr lang="en-US" altLang="zh-TW" sz="3200" b="1" dirty="0">
                <a:solidFill>
                  <a:srgbClr val="C00000"/>
                </a:solidFill>
              </a:rPr>
              <a:t>+ D</a:t>
            </a:r>
            <a:r>
              <a:rPr lang="en-US" altLang="zh-TW" sz="3200" b="1" baseline="-25000" dirty="0">
                <a:solidFill>
                  <a:srgbClr val="C00000"/>
                </a:solidFill>
              </a:rPr>
              <a:t>7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 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237341" y="4091626"/>
            <a:ext cx="4035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0000FF"/>
                </a:solidFill>
              </a:rPr>
              <a:t>x = 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4 </a:t>
            </a:r>
            <a:r>
              <a:rPr lang="en-US" altLang="zh-TW" sz="3200" b="1" dirty="0">
                <a:solidFill>
                  <a:srgbClr val="0000FF"/>
                </a:solidFill>
              </a:rPr>
              <a:t>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5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>
                <a:solidFill>
                  <a:srgbClr val="0000FF"/>
                </a:solidFill>
              </a:rPr>
              <a:t>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6 </a:t>
            </a:r>
            <a:r>
              <a:rPr lang="en-US" altLang="zh-TW" sz="3200" b="1" dirty="0">
                <a:solidFill>
                  <a:srgbClr val="0000FF"/>
                </a:solidFill>
              </a:rPr>
              <a:t>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7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 </a:t>
            </a:r>
            <a:endParaRPr lang="zh-TW" altLang="en-US" sz="3200" b="1" dirty="0">
              <a:solidFill>
                <a:srgbClr val="0000FF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237341" y="5339789"/>
            <a:ext cx="40142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z = D</a:t>
            </a:r>
            <a:r>
              <a:rPr lang="en-US" altLang="zh-TW" sz="3200" b="1" baseline="-25000" dirty="0" smtClean="0"/>
              <a:t>1 </a:t>
            </a:r>
            <a:r>
              <a:rPr lang="en-US" altLang="zh-TW" sz="3200" b="1" dirty="0"/>
              <a:t>+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3</a:t>
            </a:r>
            <a:r>
              <a:rPr lang="en-US" altLang="zh-TW" sz="3200" b="1" dirty="0"/>
              <a:t> +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5 </a:t>
            </a:r>
            <a:r>
              <a:rPr lang="en-US" altLang="zh-TW" sz="3200" b="1" dirty="0"/>
              <a:t>+ D</a:t>
            </a:r>
            <a:r>
              <a:rPr lang="en-US" altLang="zh-TW" sz="3200" b="1" baseline="-25000" dirty="0"/>
              <a:t>7</a:t>
            </a:r>
            <a:r>
              <a:rPr lang="en-US" altLang="zh-TW" sz="3200" b="1" dirty="0" smtClean="0"/>
              <a:t> </a:t>
            </a:r>
            <a:endParaRPr lang="zh-TW" altLang="en-US" sz="3200" b="1" dirty="0"/>
          </a:p>
        </p:txBody>
      </p:sp>
      <p:sp>
        <p:nvSpPr>
          <p:cNvPr id="7" name="矩形 6"/>
          <p:cNvSpPr/>
          <p:nvPr/>
        </p:nvSpPr>
        <p:spPr>
          <a:xfrm>
            <a:off x="1200171" y="879706"/>
            <a:ext cx="1409351" cy="27515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8-to-3 Encoder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8" name="直線接點 7"/>
          <p:cNvCxnSpPr/>
          <p:nvPr/>
        </p:nvCxnSpPr>
        <p:spPr>
          <a:xfrm>
            <a:off x="763944" y="1039097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763944" y="1384244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763944" y="1729391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763944" y="20745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763944" y="2419685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763944" y="2764832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763944" y="3109979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763944" y="3455126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2609522" y="1500492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2609522" y="2287260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2609521" y="3074027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237341" y="808264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237341" y="1153411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237341" y="149855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237341" y="1842042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237341" y="2134055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4</a:t>
            </a:r>
            <a:endParaRPr lang="zh-TW" altLang="en-US" sz="2400" baseline="-250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237341" y="2479202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5</a:t>
            </a:r>
            <a:endParaRPr lang="zh-TW" altLang="en-US" sz="2400" baseline="-25000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237341" y="2824349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6</a:t>
            </a:r>
            <a:endParaRPr lang="zh-TW" altLang="en-US" sz="2400" baseline="-250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237341" y="3167833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7</a:t>
            </a:r>
            <a:endParaRPr lang="zh-TW" altLang="en-US" sz="2400" baseline="-250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3102100" y="2824348"/>
            <a:ext cx="3193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z</a:t>
            </a:r>
            <a:endParaRPr lang="zh-TW" altLang="en-US" sz="24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87924" y="205642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3094887" y="123147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  <p:grpSp>
        <p:nvGrpSpPr>
          <p:cNvPr id="30" name="Group 4"/>
          <p:cNvGrpSpPr>
            <a:grpSpLocks noChangeAspect="1"/>
          </p:cNvGrpSpPr>
          <p:nvPr/>
        </p:nvGrpSpPr>
        <p:grpSpPr bwMode="auto">
          <a:xfrm>
            <a:off x="8794583" y="1498558"/>
            <a:ext cx="1495425" cy="793750"/>
            <a:chOff x="2347" y="1818"/>
            <a:chExt cx="942" cy="500"/>
          </a:xfrm>
        </p:grpSpPr>
        <p:sp>
          <p:nvSpPr>
            <p:cNvPr id="31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2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3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grpSp>
        <p:nvGrpSpPr>
          <p:cNvPr id="34" name="Group 4"/>
          <p:cNvGrpSpPr>
            <a:grpSpLocks noChangeAspect="1"/>
          </p:cNvGrpSpPr>
          <p:nvPr/>
        </p:nvGrpSpPr>
        <p:grpSpPr bwMode="auto">
          <a:xfrm>
            <a:off x="8794585" y="3085574"/>
            <a:ext cx="1495425" cy="793750"/>
            <a:chOff x="2347" y="1818"/>
            <a:chExt cx="942" cy="500"/>
          </a:xfrm>
        </p:grpSpPr>
        <p:sp>
          <p:nvSpPr>
            <p:cNvPr id="35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6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7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grpSp>
        <p:nvGrpSpPr>
          <p:cNvPr id="38" name="Group 4"/>
          <p:cNvGrpSpPr>
            <a:grpSpLocks noChangeAspect="1"/>
          </p:cNvGrpSpPr>
          <p:nvPr/>
        </p:nvGrpSpPr>
        <p:grpSpPr bwMode="auto">
          <a:xfrm>
            <a:off x="8794584" y="4672589"/>
            <a:ext cx="1495425" cy="793750"/>
            <a:chOff x="2347" y="1818"/>
            <a:chExt cx="942" cy="500"/>
          </a:xfrm>
        </p:grpSpPr>
        <p:sp>
          <p:nvSpPr>
            <p:cNvPr id="39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40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41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sp>
        <p:nvSpPr>
          <p:cNvPr id="46" name="矩形 45"/>
          <p:cNvSpPr/>
          <p:nvPr/>
        </p:nvSpPr>
        <p:spPr>
          <a:xfrm>
            <a:off x="6319158" y="389437"/>
            <a:ext cx="4245428" cy="6131378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8" name="直線接點 47"/>
          <p:cNvCxnSpPr/>
          <p:nvPr/>
        </p:nvCxnSpPr>
        <p:spPr>
          <a:xfrm>
            <a:off x="6106886" y="653142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6106886" y="1456536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6106886" y="2259930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6106886" y="3063324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6106886" y="3866718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6106886" y="4670112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6106886" y="5473506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6106886" y="6276898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字方塊 55"/>
          <p:cNvSpPr txBox="1"/>
          <p:nvPr/>
        </p:nvSpPr>
        <p:spPr>
          <a:xfrm>
            <a:off x="5541999" y="338414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5574368" y="1122633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1</a:t>
            </a:r>
            <a:endParaRPr lang="zh-TW" altLang="en-US" sz="2800" baseline="-250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5577361" y="2025649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5577361" y="2801712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5574368" y="3610287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5576026" y="4411604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62" name="文字方塊 61"/>
          <p:cNvSpPr txBox="1"/>
          <p:nvPr/>
        </p:nvSpPr>
        <p:spPr>
          <a:xfrm>
            <a:off x="5577644" y="5209880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63" name="文字方塊 62"/>
          <p:cNvSpPr txBox="1"/>
          <p:nvPr/>
        </p:nvSpPr>
        <p:spPr>
          <a:xfrm>
            <a:off x="5577675" y="6017169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cxnSp>
        <p:nvCxnSpPr>
          <p:cNvPr id="67" name="直線接點 66"/>
          <p:cNvCxnSpPr/>
          <p:nvPr/>
        </p:nvCxnSpPr>
        <p:spPr>
          <a:xfrm>
            <a:off x="10007434" y="1906545"/>
            <a:ext cx="7286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/>
          <p:cNvCxnSpPr/>
          <p:nvPr/>
        </p:nvCxnSpPr>
        <p:spPr>
          <a:xfrm>
            <a:off x="10007434" y="3482449"/>
            <a:ext cx="7286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9994197" y="5080576"/>
            <a:ext cx="7286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字方塊 70"/>
          <p:cNvSpPr txBox="1"/>
          <p:nvPr/>
        </p:nvSpPr>
        <p:spPr>
          <a:xfrm>
            <a:off x="10877510" y="4789107"/>
            <a:ext cx="276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1</a:t>
            </a:r>
            <a:endParaRPr lang="zh-TW" altLang="en-US" sz="2800" dirty="0"/>
          </a:p>
        </p:txBody>
      </p:sp>
      <p:sp>
        <p:nvSpPr>
          <p:cNvPr id="72" name="文字方塊 71"/>
          <p:cNvSpPr txBox="1"/>
          <p:nvPr/>
        </p:nvSpPr>
        <p:spPr>
          <a:xfrm>
            <a:off x="10858274" y="3163657"/>
            <a:ext cx="294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dirty="0"/>
          </a:p>
        </p:txBody>
      </p:sp>
      <p:sp>
        <p:nvSpPr>
          <p:cNvPr id="73" name="文字方塊 72"/>
          <p:cNvSpPr txBox="1"/>
          <p:nvPr/>
        </p:nvSpPr>
        <p:spPr>
          <a:xfrm>
            <a:off x="10858274" y="1615076"/>
            <a:ext cx="294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dirty="0"/>
          </a:p>
        </p:txBody>
      </p:sp>
      <p:sp>
        <p:nvSpPr>
          <p:cNvPr id="75" name="手繪多邊形 74"/>
          <p:cNvSpPr/>
          <p:nvPr/>
        </p:nvSpPr>
        <p:spPr>
          <a:xfrm>
            <a:off x="6384472" y="1627563"/>
            <a:ext cx="2751364" cy="2234144"/>
          </a:xfrm>
          <a:custGeom>
            <a:avLst/>
            <a:gdLst>
              <a:gd name="connsiteX0" fmla="*/ 0 w 2751364"/>
              <a:gd name="connsiteY0" fmla="*/ 2234144 h 2234144"/>
              <a:gd name="connsiteX1" fmla="*/ 898071 w 2751364"/>
              <a:gd name="connsiteY1" fmla="*/ 1776944 h 2234144"/>
              <a:gd name="connsiteX2" fmla="*/ 2024742 w 2751364"/>
              <a:gd name="connsiteY2" fmla="*/ 274716 h 2234144"/>
              <a:gd name="connsiteX3" fmla="*/ 2751364 w 2751364"/>
              <a:gd name="connsiteY3" fmla="*/ 5294 h 2234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1364" h="2234144">
                <a:moveTo>
                  <a:pt x="0" y="2234144"/>
                </a:moveTo>
                <a:cubicBezTo>
                  <a:pt x="280307" y="2168829"/>
                  <a:pt x="560614" y="2103515"/>
                  <a:pt x="898071" y="1776944"/>
                </a:cubicBezTo>
                <a:cubicBezTo>
                  <a:pt x="1235528" y="1450373"/>
                  <a:pt x="1715860" y="569991"/>
                  <a:pt x="2024742" y="274716"/>
                </a:cubicBezTo>
                <a:cubicBezTo>
                  <a:pt x="2333624" y="-20559"/>
                  <a:pt x="2542494" y="-7633"/>
                  <a:pt x="2751364" y="5294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手繪多邊形 78"/>
          <p:cNvSpPr/>
          <p:nvPr/>
        </p:nvSpPr>
        <p:spPr>
          <a:xfrm>
            <a:off x="6376307" y="1753043"/>
            <a:ext cx="2833007" cy="2928266"/>
          </a:xfrm>
          <a:custGeom>
            <a:avLst/>
            <a:gdLst>
              <a:gd name="connsiteX0" fmla="*/ 0 w 2833007"/>
              <a:gd name="connsiteY0" fmla="*/ 2916928 h 2928266"/>
              <a:gd name="connsiteX1" fmla="*/ 563336 w 2833007"/>
              <a:gd name="connsiteY1" fmla="*/ 2533207 h 2928266"/>
              <a:gd name="connsiteX2" fmla="*/ 2114550 w 2833007"/>
              <a:gd name="connsiteY2" fmla="*/ 320686 h 2928266"/>
              <a:gd name="connsiteX3" fmla="*/ 2833007 w 2833007"/>
              <a:gd name="connsiteY3" fmla="*/ 59428 h 2928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3007" h="2928266">
                <a:moveTo>
                  <a:pt x="0" y="2916928"/>
                </a:moveTo>
                <a:cubicBezTo>
                  <a:pt x="105455" y="2941421"/>
                  <a:pt x="210911" y="2965914"/>
                  <a:pt x="563336" y="2533207"/>
                </a:cubicBezTo>
                <a:cubicBezTo>
                  <a:pt x="915761" y="2100500"/>
                  <a:pt x="1736271" y="732983"/>
                  <a:pt x="2114550" y="320686"/>
                </a:cubicBezTo>
                <a:cubicBezTo>
                  <a:pt x="2492829" y="-91611"/>
                  <a:pt x="2662918" y="-16092"/>
                  <a:pt x="2833007" y="59428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手繪多邊形 79"/>
          <p:cNvSpPr/>
          <p:nvPr/>
        </p:nvSpPr>
        <p:spPr>
          <a:xfrm>
            <a:off x="6392636" y="1915962"/>
            <a:ext cx="2808514" cy="3545945"/>
          </a:xfrm>
          <a:custGeom>
            <a:avLst/>
            <a:gdLst>
              <a:gd name="connsiteX0" fmla="*/ 0 w 2808514"/>
              <a:gd name="connsiteY0" fmla="*/ 3545945 h 3545945"/>
              <a:gd name="connsiteX1" fmla="*/ 718457 w 2808514"/>
              <a:gd name="connsiteY1" fmla="*/ 2754009 h 3545945"/>
              <a:gd name="connsiteX2" fmla="*/ 2171700 w 2808514"/>
              <a:gd name="connsiteY2" fmla="*/ 345545 h 3545945"/>
              <a:gd name="connsiteX3" fmla="*/ 2808514 w 2808514"/>
              <a:gd name="connsiteY3" fmla="*/ 67959 h 3545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8514" h="3545945">
                <a:moveTo>
                  <a:pt x="0" y="3545945"/>
                </a:moveTo>
                <a:cubicBezTo>
                  <a:pt x="178253" y="3416677"/>
                  <a:pt x="356507" y="3287409"/>
                  <a:pt x="718457" y="2754009"/>
                </a:cubicBezTo>
                <a:cubicBezTo>
                  <a:pt x="1080407" y="2220609"/>
                  <a:pt x="1823357" y="793220"/>
                  <a:pt x="2171700" y="345545"/>
                </a:cubicBezTo>
                <a:cubicBezTo>
                  <a:pt x="2520043" y="-102130"/>
                  <a:pt x="2664278" y="-17086"/>
                  <a:pt x="2808514" y="67959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手繪多邊形 80"/>
          <p:cNvSpPr/>
          <p:nvPr/>
        </p:nvSpPr>
        <p:spPr>
          <a:xfrm>
            <a:off x="6368143" y="2050768"/>
            <a:ext cx="2751364" cy="4219403"/>
          </a:xfrm>
          <a:custGeom>
            <a:avLst/>
            <a:gdLst>
              <a:gd name="connsiteX0" fmla="*/ 0 w 2751364"/>
              <a:gd name="connsiteY0" fmla="*/ 4219403 h 4219403"/>
              <a:gd name="connsiteX1" fmla="*/ 832757 w 2751364"/>
              <a:gd name="connsiteY1" fmla="*/ 3247853 h 4219403"/>
              <a:gd name="connsiteX2" fmla="*/ 2318657 w 2751364"/>
              <a:gd name="connsiteY2" fmla="*/ 357696 h 4219403"/>
              <a:gd name="connsiteX3" fmla="*/ 2751364 w 2751364"/>
              <a:gd name="connsiteY3" fmla="*/ 145425 h 4219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1364" h="4219403">
                <a:moveTo>
                  <a:pt x="0" y="4219403"/>
                </a:moveTo>
                <a:cubicBezTo>
                  <a:pt x="223157" y="4055437"/>
                  <a:pt x="446314" y="3891471"/>
                  <a:pt x="832757" y="3247853"/>
                </a:cubicBezTo>
                <a:cubicBezTo>
                  <a:pt x="1219200" y="2604235"/>
                  <a:pt x="1998889" y="874767"/>
                  <a:pt x="2318657" y="357696"/>
                </a:cubicBezTo>
                <a:cubicBezTo>
                  <a:pt x="2638425" y="-159375"/>
                  <a:pt x="2694894" y="-6975"/>
                  <a:pt x="2751364" y="145425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2" name="手繪多邊形 81"/>
          <p:cNvSpPr/>
          <p:nvPr/>
        </p:nvSpPr>
        <p:spPr>
          <a:xfrm>
            <a:off x="6392636" y="2253343"/>
            <a:ext cx="2759528" cy="1041787"/>
          </a:xfrm>
          <a:custGeom>
            <a:avLst/>
            <a:gdLst>
              <a:gd name="connsiteX0" fmla="*/ 0 w 2759528"/>
              <a:gd name="connsiteY0" fmla="*/ 0 h 1041787"/>
              <a:gd name="connsiteX1" fmla="*/ 775607 w 2759528"/>
              <a:gd name="connsiteY1" fmla="*/ 269421 h 1041787"/>
              <a:gd name="connsiteX2" fmla="*/ 2188028 w 2759528"/>
              <a:gd name="connsiteY2" fmla="*/ 963386 h 1041787"/>
              <a:gd name="connsiteX3" fmla="*/ 2759528 w 2759528"/>
              <a:gd name="connsiteY3" fmla="*/ 996043 h 104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9528" h="1041787">
                <a:moveTo>
                  <a:pt x="0" y="0"/>
                </a:moveTo>
                <a:cubicBezTo>
                  <a:pt x="205468" y="54428"/>
                  <a:pt x="410936" y="108857"/>
                  <a:pt x="775607" y="269421"/>
                </a:cubicBezTo>
                <a:cubicBezTo>
                  <a:pt x="1140278" y="429985"/>
                  <a:pt x="1857374" y="842282"/>
                  <a:pt x="2188028" y="963386"/>
                </a:cubicBezTo>
                <a:cubicBezTo>
                  <a:pt x="2518682" y="1084490"/>
                  <a:pt x="2639105" y="1040266"/>
                  <a:pt x="2759528" y="996043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手繪多邊形 82"/>
          <p:cNvSpPr/>
          <p:nvPr/>
        </p:nvSpPr>
        <p:spPr>
          <a:xfrm>
            <a:off x="6376307" y="3053443"/>
            <a:ext cx="2833007" cy="411394"/>
          </a:xfrm>
          <a:custGeom>
            <a:avLst/>
            <a:gdLst>
              <a:gd name="connsiteX0" fmla="*/ 0 w 2808514"/>
              <a:gd name="connsiteY0" fmla="*/ 0 h 411394"/>
              <a:gd name="connsiteX1" fmla="*/ 1053193 w 2808514"/>
              <a:gd name="connsiteY1" fmla="*/ 383721 h 411394"/>
              <a:gd name="connsiteX2" fmla="*/ 2808514 w 2808514"/>
              <a:gd name="connsiteY2" fmla="*/ 351064 h 411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08514" h="411394">
                <a:moveTo>
                  <a:pt x="0" y="0"/>
                </a:moveTo>
                <a:cubicBezTo>
                  <a:pt x="292553" y="162605"/>
                  <a:pt x="585107" y="325210"/>
                  <a:pt x="1053193" y="383721"/>
                </a:cubicBezTo>
                <a:cubicBezTo>
                  <a:pt x="1521279" y="442232"/>
                  <a:pt x="2164896" y="396648"/>
                  <a:pt x="2808514" y="351064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手繪多邊形 2"/>
          <p:cNvSpPr/>
          <p:nvPr/>
        </p:nvSpPr>
        <p:spPr>
          <a:xfrm>
            <a:off x="6376307" y="3693274"/>
            <a:ext cx="2784022" cy="2568733"/>
          </a:xfrm>
          <a:custGeom>
            <a:avLst/>
            <a:gdLst>
              <a:gd name="connsiteX0" fmla="*/ 0 w 2784022"/>
              <a:gd name="connsiteY0" fmla="*/ 2568733 h 2568733"/>
              <a:gd name="connsiteX1" fmla="*/ 1453243 w 2784022"/>
              <a:gd name="connsiteY1" fmla="*/ 1376747 h 2568733"/>
              <a:gd name="connsiteX2" fmla="*/ 2261507 w 2784022"/>
              <a:gd name="connsiteY2" fmla="*/ 339883 h 2568733"/>
              <a:gd name="connsiteX3" fmla="*/ 2612572 w 2784022"/>
              <a:gd name="connsiteY3" fmla="*/ 45969 h 2568733"/>
              <a:gd name="connsiteX4" fmla="*/ 2784022 w 2784022"/>
              <a:gd name="connsiteY4" fmla="*/ 5147 h 2568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84022" h="2568733">
                <a:moveTo>
                  <a:pt x="0" y="2568733"/>
                </a:moveTo>
                <a:cubicBezTo>
                  <a:pt x="538162" y="2158477"/>
                  <a:pt x="1076325" y="1748222"/>
                  <a:pt x="1453243" y="1376747"/>
                </a:cubicBezTo>
                <a:cubicBezTo>
                  <a:pt x="1830161" y="1005272"/>
                  <a:pt x="2068286" y="561679"/>
                  <a:pt x="2261507" y="339883"/>
                </a:cubicBezTo>
                <a:cubicBezTo>
                  <a:pt x="2454729" y="118087"/>
                  <a:pt x="2525486" y="101758"/>
                  <a:pt x="2612572" y="45969"/>
                </a:cubicBezTo>
                <a:cubicBezTo>
                  <a:pt x="2699658" y="-9820"/>
                  <a:pt x="2741840" y="-2337"/>
                  <a:pt x="2784022" y="5147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手繪多邊形 41"/>
          <p:cNvSpPr/>
          <p:nvPr/>
        </p:nvSpPr>
        <p:spPr>
          <a:xfrm>
            <a:off x="6368143" y="3540230"/>
            <a:ext cx="2841171" cy="1929841"/>
          </a:xfrm>
          <a:custGeom>
            <a:avLst/>
            <a:gdLst>
              <a:gd name="connsiteX0" fmla="*/ 0 w 2841171"/>
              <a:gd name="connsiteY0" fmla="*/ 1929841 h 1929841"/>
              <a:gd name="connsiteX1" fmla="*/ 1485900 w 2841171"/>
              <a:gd name="connsiteY1" fmla="*/ 901141 h 1929841"/>
              <a:gd name="connsiteX2" fmla="*/ 1983921 w 2841171"/>
              <a:gd name="connsiteY2" fmla="*/ 345970 h 1929841"/>
              <a:gd name="connsiteX3" fmla="*/ 2563586 w 2841171"/>
              <a:gd name="connsiteY3" fmla="*/ 35727 h 1929841"/>
              <a:gd name="connsiteX4" fmla="*/ 2841171 w 2841171"/>
              <a:gd name="connsiteY4" fmla="*/ 19399 h 1929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41171" h="1929841">
                <a:moveTo>
                  <a:pt x="0" y="1929841"/>
                </a:moveTo>
                <a:cubicBezTo>
                  <a:pt x="577623" y="1547480"/>
                  <a:pt x="1155247" y="1165119"/>
                  <a:pt x="1485900" y="901141"/>
                </a:cubicBezTo>
                <a:cubicBezTo>
                  <a:pt x="1816553" y="637163"/>
                  <a:pt x="1804307" y="490206"/>
                  <a:pt x="1983921" y="345970"/>
                </a:cubicBezTo>
                <a:cubicBezTo>
                  <a:pt x="2163535" y="201734"/>
                  <a:pt x="2420711" y="90155"/>
                  <a:pt x="2563586" y="35727"/>
                </a:cubicBezTo>
                <a:cubicBezTo>
                  <a:pt x="2706461" y="-18701"/>
                  <a:pt x="2773816" y="349"/>
                  <a:pt x="2841171" y="19399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手繪多邊形 42"/>
          <p:cNvSpPr/>
          <p:nvPr/>
        </p:nvSpPr>
        <p:spPr>
          <a:xfrm>
            <a:off x="6376307" y="1445079"/>
            <a:ext cx="2784022" cy="3444732"/>
          </a:xfrm>
          <a:custGeom>
            <a:avLst/>
            <a:gdLst>
              <a:gd name="connsiteX0" fmla="*/ 0 w 2784022"/>
              <a:gd name="connsiteY0" fmla="*/ 0 h 3444732"/>
              <a:gd name="connsiteX1" fmla="*/ 677636 w 2784022"/>
              <a:gd name="connsiteY1" fmla="*/ 457200 h 3444732"/>
              <a:gd name="connsiteX2" fmla="*/ 1502229 w 2784022"/>
              <a:gd name="connsiteY2" fmla="*/ 2367642 h 3444732"/>
              <a:gd name="connsiteX3" fmla="*/ 2310493 w 2784022"/>
              <a:gd name="connsiteY3" fmla="*/ 3298371 h 3444732"/>
              <a:gd name="connsiteX4" fmla="*/ 2784022 w 2784022"/>
              <a:gd name="connsiteY4" fmla="*/ 3429000 h 3444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84022" h="3444732">
                <a:moveTo>
                  <a:pt x="0" y="0"/>
                </a:moveTo>
                <a:cubicBezTo>
                  <a:pt x="213632" y="31296"/>
                  <a:pt x="427265" y="62593"/>
                  <a:pt x="677636" y="457200"/>
                </a:cubicBezTo>
                <a:cubicBezTo>
                  <a:pt x="928007" y="851807"/>
                  <a:pt x="1230086" y="1894113"/>
                  <a:pt x="1502229" y="2367642"/>
                </a:cubicBezTo>
                <a:cubicBezTo>
                  <a:pt x="1774372" y="2841171"/>
                  <a:pt x="2096861" y="3121478"/>
                  <a:pt x="2310493" y="3298371"/>
                </a:cubicBezTo>
                <a:cubicBezTo>
                  <a:pt x="2524125" y="3475264"/>
                  <a:pt x="2654073" y="3452132"/>
                  <a:pt x="2784022" y="3429000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手繪多邊形 43"/>
          <p:cNvSpPr/>
          <p:nvPr/>
        </p:nvSpPr>
        <p:spPr>
          <a:xfrm>
            <a:off x="6359979" y="3053443"/>
            <a:ext cx="2857500" cy="1990156"/>
          </a:xfrm>
          <a:custGeom>
            <a:avLst/>
            <a:gdLst>
              <a:gd name="connsiteX0" fmla="*/ 0 w 2857500"/>
              <a:gd name="connsiteY0" fmla="*/ 0 h 1990156"/>
              <a:gd name="connsiteX1" fmla="*/ 1053193 w 2857500"/>
              <a:gd name="connsiteY1" fmla="*/ 710293 h 1990156"/>
              <a:gd name="connsiteX2" fmla="*/ 2057400 w 2857500"/>
              <a:gd name="connsiteY2" fmla="*/ 1820636 h 1990156"/>
              <a:gd name="connsiteX3" fmla="*/ 2857500 w 2857500"/>
              <a:gd name="connsiteY3" fmla="*/ 1967593 h 1990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7500" h="1990156">
                <a:moveTo>
                  <a:pt x="0" y="0"/>
                </a:moveTo>
                <a:cubicBezTo>
                  <a:pt x="355146" y="203427"/>
                  <a:pt x="710293" y="406854"/>
                  <a:pt x="1053193" y="710293"/>
                </a:cubicBezTo>
                <a:cubicBezTo>
                  <a:pt x="1396093" y="1013732"/>
                  <a:pt x="1756682" y="1611086"/>
                  <a:pt x="2057400" y="1820636"/>
                </a:cubicBezTo>
                <a:cubicBezTo>
                  <a:pt x="2358118" y="2030186"/>
                  <a:pt x="2607809" y="1998889"/>
                  <a:pt x="2857500" y="1967593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手繪多邊形 44"/>
          <p:cNvSpPr/>
          <p:nvPr/>
        </p:nvSpPr>
        <p:spPr>
          <a:xfrm>
            <a:off x="6400800" y="4653643"/>
            <a:ext cx="2800350" cy="555171"/>
          </a:xfrm>
          <a:custGeom>
            <a:avLst/>
            <a:gdLst>
              <a:gd name="connsiteX0" fmla="*/ 0 w 2800350"/>
              <a:gd name="connsiteY0" fmla="*/ 0 h 555171"/>
              <a:gd name="connsiteX1" fmla="*/ 1894114 w 2800350"/>
              <a:gd name="connsiteY1" fmla="*/ 424543 h 555171"/>
              <a:gd name="connsiteX2" fmla="*/ 2800350 w 2800350"/>
              <a:gd name="connsiteY2" fmla="*/ 555171 h 55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00350" h="555171">
                <a:moveTo>
                  <a:pt x="0" y="0"/>
                </a:moveTo>
                <a:lnTo>
                  <a:pt x="1894114" y="424543"/>
                </a:lnTo>
                <a:cubicBezTo>
                  <a:pt x="2360839" y="517072"/>
                  <a:pt x="2580594" y="536121"/>
                  <a:pt x="2800350" y="555171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手繪多邊形 46"/>
          <p:cNvSpPr/>
          <p:nvPr/>
        </p:nvSpPr>
        <p:spPr>
          <a:xfrm>
            <a:off x="6384472" y="5323114"/>
            <a:ext cx="2759528" cy="947057"/>
          </a:xfrm>
          <a:custGeom>
            <a:avLst/>
            <a:gdLst>
              <a:gd name="connsiteX0" fmla="*/ 0 w 2759528"/>
              <a:gd name="connsiteY0" fmla="*/ 947057 h 947057"/>
              <a:gd name="connsiteX1" fmla="*/ 1257300 w 2759528"/>
              <a:gd name="connsiteY1" fmla="*/ 449036 h 947057"/>
              <a:gd name="connsiteX2" fmla="*/ 2081892 w 2759528"/>
              <a:gd name="connsiteY2" fmla="*/ 171450 h 947057"/>
              <a:gd name="connsiteX3" fmla="*/ 2359478 w 2759528"/>
              <a:gd name="connsiteY3" fmla="*/ 40822 h 947057"/>
              <a:gd name="connsiteX4" fmla="*/ 2759528 w 2759528"/>
              <a:gd name="connsiteY4" fmla="*/ 0 h 947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59528" h="947057">
                <a:moveTo>
                  <a:pt x="0" y="947057"/>
                </a:moveTo>
                <a:lnTo>
                  <a:pt x="1257300" y="449036"/>
                </a:lnTo>
                <a:cubicBezTo>
                  <a:pt x="1604282" y="319768"/>
                  <a:pt x="1898196" y="239486"/>
                  <a:pt x="2081892" y="171450"/>
                </a:cubicBezTo>
                <a:cubicBezTo>
                  <a:pt x="2265588" y="103414"/>
                  <a:pt x="2246539" y="69397"/>
                  <a:pt x="2359478" y="40822"/>
                </a:cubicBezTo>
                <a:cubicBezTo>
                  <a:pt x="2472417" y="12247"/>
                  <a:pt x="2615972" y="6123"/>
                  <a:pt x="2759528" y="0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文字方塊 75"/>
          <p:cNvSpPr txBox="1"/>
          <p:nvPr/>
        </p:nvSpPr>
        <p:spPr>
          <a:xfrm>
            <a:off x="4831298" y="338414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endParaRPr lang="zh-TW" altLang="en-US" sz="2800" baseline="-250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4863667" y="1122633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4866660" y="2025649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endParaRPr lang="zh-TW" altLang="en-US" sz="2800" baseline="-25000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4866660" y="2801712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  <p:sp>
        <p:nvSpPr>
          <p:cNvPr id="85" name="文字方塊 84"/>
          <p:cNvSpPr txBox="1"/>
          <p:nvPr/>
        </p:nvSpPr>
        <p:spPr>
          <a:xfrm>
            <a:off x="4863667" y="3610287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4</a:t>
            </a:r>
            <a:endParaRPr lang="zh-TW" altLang="en-US" sz="2800" baseline="-25000" dirty="0"/>
          </a:p>
        </p:txBody>
      </p:sp>
      <p:sp>
        <p:nvSpPr>
          <p:cNvPr id="86" name="文字方塊 85"/>
          <p:cNvSpPr txBox="1"/>
          <p:nvPr/>
        </p:nvSpPr>
        <p:spPr>
          <a:xfrm>
            <a:off x="4865325" y="4411604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5</a:t>
            </a:r>
            <a:endParaRPr lang="zh-TW" altLang="en-US" sz="2800" baseline="-25000" dirty="0"/>
          </a:p>
        </p:txBody>
      </p:sp>
      <p:sp>
        <p:nvSpPr>
          <p:cNvPr id="87" name="文字方塊 86"/>
          <p:cNvSpPr txBox="1"/>
          <p:nvPr/>
        </p:nvSpPr>
        <p:spPr>
          <a:xfrm>
            <a:off x="4866943" y="5209880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6</a:t>
            </a:r>
            <a:endParaRPr lang="zh-TW" altLang="en-US" sz="2800" baseline="-25000" dirty="0"/>
          </a:p>
        </p:txBody>
      </p:sp>
      <p:sp>
        <p:nvSpPr>
          <p:cNvPr id="88" name="文字方塊 87"/>
          <p:cNvSpPr txBox="1"/>
          <p:nvPr/>
        </p:nvSpPr>
        <p:spPr>
          <a:xfrm>
            <a:off x="4866974" y="6017169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7</a:t>
            </a:r>
            <a:endParaRPr lang="zh-TW" altLang="en-US" sz="2800" baseline="-25000" dirty="0"/>
          </a:p>
        </p:txBody>
      </p:sp>
    </p:spTree>
    <p:extLst>
      <p:ext uri="{BB962C8B-B14F-4D97-AF65-F5344CB8AC3E}">
        <p14:creationId xmlns:p14="http://schemas.microsoft.com/office/powerpoint/2010/main" val="2092425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237341" y="4715708"/>
            <a:ext cx="4035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y = D</a:t>
            </a:r>
            <a:r>
              <a:rPr lang="en-US" altLang="zh-TW" sz="3200" b="1" baseline="-25000" dirty="0" smtClean="0">
                <a:solidFill>
                  <a:srgbClr val="C00000"/>
                </a:solidFill>
              </a:rPr>
              <a:t>2 </a:t>
            </a:r>
            <a:r>
              <a:rPr lang="en-US" altLang="zh-TW" sz="3200" b="1" dirty="0">
                <a:solidFill>
                  <a:srgbClr val="C00000"/>
                </a:solidFill>
              </a:rPr>
              <a:t>+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3200" b="1" dirty="0">
                <a:solidFill>
                  <a:srgbClr val="C00000"/>
                </a:solidFill>
              </a:rPr>
              <a:t> + D</a:t>
            </a:r>
            <a:r>
              <a:rPr lang="en-US" altLang="zh-TW" sz="3200" b="1" baseline="-25000" dirty="0">
                <a:solidFill>
                  <a:srgbClr val="C00000"/>
                </a:solidFill>
              </a:rPr>
              <a:t>6 </a:t>
            </a:r>
            <a:r>
              <a:rPr lang="en-US" altLang="zh-TW" sz="3200" b="1" dirty="0">
                <a:solidFill>
                  <a:srgbClr val="C00000"/>
                </a:solidFill>
              </a:rPr>
              <a:t>+ D</a:t>
            </a:r>
            <a:r>
              <a:rPr lang="en-US" altLang="zh-TW" sz="3200" b="1" baseline="-25000" dirty="0">
                <a:solidFill>
                  <a:srgbClr val="C00000"/>
                </a:solidFill>
              </a:rPr>
              <a:t>7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 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237341" y="4091626"/>
            <a:ext cx="4035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0000FF"/>
                </a:solidFill>
              </a:rPr>
              <a:t>x = 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4 </a:t>
            </a:r>
            <a:r>
              <a:rPr lang="en-US" altLang="zh-TW" sz="3200" b="1" dirty="0">
                <a:solidFill>
                  <a:srgbClr val="0000FF"/>
                </a:solidFill>
              </a:rPr>
              <a:t>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5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>
                <a:solidFill>
                  <a:srgbClr val="0000FF"/>
                </a:solidFill>
              </a:rPr>
              <a:t>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6 </a:t>
            </a:r>
            <a:r>
              <a:rPr lang="en-US" altLang="zh-TW" sz="3200" b="1" dirty="0">
                <a:solidFill>
                  <a:srgbClr val="0000FF"/>
                </a:solidFill>
              </a:rPr>
              <a:t>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7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 </a:t>
            </a:r>
            <a:endParaRPr lang="zh-TW" altLang="en-US" sz="3200" b="1" dirty="0">
              <a:solidFill>
                <a:srgbClr val="0000FF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237341" y="5339789"/>
            <a:ext cx="40142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z = D</a:t>
            </a:r>
            <a:r>
              <a:rPr lang="en-US" altLang="zh-TW" sz="3200" b="1" baseline="-25000" dirty="0" smtClean="0"/>
              <a:t>1 </a:t>
            </a:r>
            <a:r>
              <a:rPr lang="en-US" altLang="zh-TW" sz="3200" b="1" dirty="0"/>
              <a:t>+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3</a:t>
            </a:r>
            <a:r>
              <a:rPr lang="en-US" altLang="zh-TW" sz="3200" b="1" dirty="0"/>
              <a:t> +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5 </a:t>
            </a:r>
            <a:r>
              <a:rPr lang="en-US" altLang="zh-TW" sz="3200" b="1" dirty="0"/>
              <a:t>+ D</a:t>
            </a:r>
            <a:r>
              <a:rPr lang="en-US" altLang="zh-TW" sz="3200" b="1" baseline="-25000" dirty="0"/>
              <a:t>7</a:t>
            </a:r>
            <a:r>
              <a:rPr lang="en-US" altLang="zh-TW" sz="3200" b="1" dirty="0" smtClean="0"/>
              <a:t> </a:t>
            </a:r>
            <a:endParaRPr lang="zh-TW" altLang="en-US" sz="3200" b="1" dirty="0"/>
          </a:p>
        </p:txBody>
      </p:sp>
      <p:sp>
        <p:nvSpPr>
          <p:cNvPr id="7" name="矩形 6"/>
          <p:cNvSpPr/>
          <p:nvPr/>
        </p:nvSpPr>
        <p:spPr>
          <a:xfrm>
            <a:off x="1200171" y="879706"/>
            <a:ext cx="1409351" cy="27515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8-to-3 Encoder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8" name="直線接點 7"/>
          <p:cNvCxnSpPr/>
          <p:nvPr/>
        </p:nvCxnSpPr>
        <p:spPr>
          <a:xfrm>
            <a:off x="763944" y="1039097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763944" y="1384244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763944" y="1729391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763944" y="20745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763944" y="2419685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763944" y="2764832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763944" y="3109979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763944" y="3455126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2609522" y="1500492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2609522" y="2287260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2609521" y="3074027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237341" y="808264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237341" y="1153411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237341" y="149855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237341" y="1842042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237341" y="2134055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4</a:t>
            </a:r>
            <a:endParaRPr lang="zh-TW" altLang="en-US" sz="2400" baseline="-250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237341" y="2479202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5</a:t>
            </a:r>
            <a:endParaRPr lang="zh-TW" altLang="en-US" sz="2400" baseline="-25000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237341" y="2824349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6</a:t>
            </a:r>
            <a:endParaRPr lang="zh-TW" altLang="en-US" sz="2400" baseline="-250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237341" y="3167833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7</a:t>
            </a:r>
            <a:endParaRPr lang="zh-TW" altLang="en-US" sz="2400" baseline="-250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3102100" y="2824348"/>
            <a:ext cx="3193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z</a:t>
            </a:r>
            <a:endParaRPr lang="zh-TW" altLang="en-US" sz="24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87924" y="205642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3094887" y="123147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  <p:grpSp>
        <p:nvGrpSpPr>
          <p:cNvPr id="30" name="Group 4"/>
          <p:cNvGrpSpPr>
            <a:grpSpLocks noChangeAspect="1"/>
          </p:cNvGrpSpPr>
          <p:nvPr/>
        </p:nvGrpSpPr>
        <p:grpSpPr bwMode="auto">
          <a:xfrm>
            <a:off x="8794583" y="1498558"/>
            <a:ext cx="1495425" cy="793750"/>
            <a:chOff x="2347" y="1818"/>
            <a:chExt cx="942" cy="500"/>
          </a:xfrm>
        </p:grpSpPr>
        <p:sp>
          <p:nvSpPr>
            <p:cNvPr id="31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2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3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grpSp>
        <p:nvGrpSpPr>
          <p:cNvPr id="34" name="Group 4"/>
          <p:cNvGrpSpPr>
            <a:grpSpLocks noChangeAspect="1"/>
          </p:cNvGrpSpPr>
          <p:nvPr/>
        </p:nvGrpSpPr>
        <p:grpSpPr bwMode="auto">
          <a:xfrm>
            <a:off x="8794585" y="3085574"/>
            <a:ext cx="1495425" cy="793750"/>
            <a:chOff x="2347" y="1818"/>
            <a:chExt cx="942" cy="500"/>
          </a:xfrm>
        </p:grpSpPr>
        <p:sp>
          <p:nvSpPr>
            <p:cNvPr id="35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6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7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grpSp>
        <p:nvGrpSpPr>
          <p:cNvPr id="38" name="Group 4"/>
          <p:cNvGrpSpPr>
            <a:grpSpLocks noChangeAspect="1"/>
          </p:cNvGrpSpPr>
          <p:nvPr/>
        </p:nvGrpSpPr>
        <p:grpSpPr bwMode="auto">
          <a:xfrm>
            <a:off x="8794584" y="4672589"/>
            <a:ext cx="1495425" cy="793750"/>
            <a:chOff x="2347" y="1818"/>
            <a:chExt cx="942" cy="500"/>
          </a:xfrm>
        </p:grpSpPr>
        <p:sp>
          <p:nvSpPr>
            <p:cNvPr id="39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40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41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sp>
        <p:nvSpPr>
          <p:cNvPr id="46" name="矩形 45"/>
          <p:cNvSpPr/>
          <p:nvPr/>
        </p:nvSpPr>
        <p:spPr>
          <a:xfrm>
            <a:off x="6319158" y="389437"/>
            <a:ext cx="4245428" cy="6131378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8" name="直線接點 47"/>
          <p:cNvCxnSpPr/>
          <p:nvPr/>
        </p:nvCxnSpPr>
        <p:spPr>
          <a:xfrm>
            <a:off x="6106886" y="653142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6106886" y="1456536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6106886" y="2259930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6106886" y="3063324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6106886" y="3866718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6106886" y="4670112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6106886" y="5473506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6106886" y="6276898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字方塊 55"/>
          <p:cNvSpPr txBox="1"/>
          <p:nvPr/>
        </p:nvSpPr>
        <p:spPr>
          <a:xfrm>
            <a:off x="5541999" y="338414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5574368" y="1122633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5577361" y="2025649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1</a:t>
            </a:r>
            <a:endParaRPr lang="zh-TW" altLang="en-US" sz="2800" baseline="-250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5577361" y="2801712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5574368" y="3610287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5576026" y="4411604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62" name="文字方塊 61"/>
          <p:cNvSpPr txBox="1"/>
          <p:nvPr/>
        </p:nvSpPr>
        <p:spPr>
          <a:xfrm>
            <a:off x="5577644" y="5209880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63" name="文字方塊 62"/>
          <p:cNvSpPr txBox="1"/>
          <p:nvPr/>
        </p:nvSpPr>
        <p:spPr>
          <a:xfrm>
            <a:off x="5577675" y="6017169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cxnSp>
        <p:nvCxnSpPr>
          <p:cNvPr id="67" name="直線接點 66"/>
          <p:cNvCxnSpPr/>
          <p:nvPr/>
        </p:nvCxnSpPr>
        <p:spPr>
          <a:xfrm>
            <a:off x="10007434" y="1906545"/>
            <a:ext cx="7286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/>
          <p:cNvCxnSpPr/>
          <p:nvPr/>
        </p:nvCxnSpPr>
        <p:spPr>
          <a:xfrm>
            <a:off x="10007434" y="3482449"/>
            <a:ext cx="7286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9994197" y="5080576"/>
            <a:ext cx="7286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字方塊 70"/>
          <p:cNvSpPr txBox="1"/>
          <p:nvPr/>
        </p:nvSpPr>
        <p:spPr>
          <a:xfrm>
            <a:off x="10877510" y="4789107"/>
            <a:ext cx="276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dirty="0"/>
          </a:p>
        </p:txBody>
      </p:sp>
      <p:sp>
        <p:nvSpPr>
          <p:cNvPr id="72" name="文字方塊 71"/>
          <p:cNvSpPr txBox="1"/>
          <p:nvPr/>
        </p:nvSpPr>
        <p:spPr>
          <a:xfrm>
            <a:off x="10858274" y="3163657"/>
            <a:ext cx="294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1</a:t>
            </a:r>
            <a:endParaRPr lang="zh-TW" altLang="en-US" sz="2800" dirty="0"/>
          </a:p>
        </p:txBody>
      </p:sp>
      <p:sp>
        <p:nvSpPr>
          <p:cNvPr id="73" name="文字方塊 72"/>
          <p:cNvSpPr txBox="1"/>
          <p:nvPr/>
        </p:nvSpPr>
        <p:spPr>
          <a:xfrm>
            <a:off x="10858274" y="1615076"/>
            <a:ext cx="294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dirty="0"/>
          </a:p>
        </p:txBody>
      </p:sp>
      <p:sp>
        <p:nvSpPr>
          <p:cNvPr id="75" name="手繪多邊形 74"/>
          <p:cNvSpPr/>
          <p:nvPr/>
        </p:nvSpPr>
        <p:spPr>
          <a:xfrm>
            <a:off x="6384472" y="1627563"/>
            <a:ext cx="2751364" cy="2234144"/>
          </a:xfrm>
          <a:custGeom>
            <a:avLst/>
            <a:gdLst>
              <a:gd name="connsiteX0" fmla="*/ 0 w 2751364"/>
              <a:gd name="connsiteY0" fmla="*/ 2234144 h 2234144"/>
              <a:gd name="connsiteX1" fmla="*/ 898071 w 2751364"/>
              <a:gd name="connsiteY1" fmla="*/ 1776944 h 2234144"/>
              <a:gd name="connsiteX2" fmla="*/ 2024742 w 2751364"/>
              <a:gd name="connsiteY2" fmla="*/ 274716 h 2234144"/>
              <a:gd name="connsiteX3" fmla="*/ 2751364 w 2751364"/>
              <a:gd name="connsiteY3" fmla="*/ 5294 h 2234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1364" h="2234144">
                <a:moveTo>
                  <a:pt x="0" y="2234144"/>
                </a:moveTo>
                <a:cubicBezTo>
                  <a:pt x="280307" y="2168829"/>
                  <a:pt x="560614" y="2103515"/>
                  <a:pt x="898071" y="1776944"/>
                </a:cubicBezTo>
                <a:cubicBezTo>
                  <a:pt x="1235528" y="1450373"/>
                  <a:pt x="1715860" y="569991"/>
                  <a:pt x="2024742" y="274716"/>
                </a:cubicBezTo>
                <a:cubicBezTo>
                  <a:pt x="2333624" y="-20559"/>
                  <a:pt x="2542494" y="-7633"/>
                  <a:pt x="2751364" y="5294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手繪多邊形 78"/>
          <p:cNvSpPr/>
          <p:nvPr/>
        </p:nvSpPr>
        <p:spPr>
          <a:xfrm>
            <a:off x="6376307" y="1753043"/>
            <a:ext cx="2833007" cy="2928266"/>
          </a:xfrm>
          <a:custGeom>
            <a:avLst/>
            <a:gdLst>
              <a:gd name="connsiteX0" fmla="*/ 0 w 2833007"/>
              <a:gd name="connsiteY0" fmla="*/ 2916928 h 2928266"/>
              <a:gd name="connsiteX1" fmla="*/ 563336 w 2833007"/>
              <a:gd name="connsiteY1" fmla="*/ 2533207 h 2928266"/>
              <a:gd name="connsiteX2" fmla="*/ 2114550 w 2833007"/>
              <a:gd name="connsiteY2" fmla="*/ 320686 h 2928266"/>
              <a:gd name="connsiteX3" fmla="*/ 2833007 w 2833007"/>
              <a:gd name="connsiteY3" fmla="*/ 59428 h 2928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3007" h="2928266">
                <a:moveTo>
                  <a:pt x="0" y="2916928"/>
                </a:moveTo>
                <a:cubicBezTo>
                  <a:pt x="105455" y="2941421"/>
                  <a:pt x="210911" y="2965914"/>
                  <a:pt x="563336" y="2533207"/>
                </a:cubicBezTo>
                <a:cubicBezTo>
                  <a:pt x="915761" y="2100500"/>
                  <a:pt x="1736271" y="732983"/>
                  <a:pt x="2114550" y="320686"/>
                </a:cubicBezTo>
                <a:cubicBezTo>
                  <a:pt x="2492829" y="-91611"/>
                  <a:pt x="2662918" y="-16092"/>
                  <a:pt x="2833007" y="59428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手繪多邊形 79"/>
          <p:cNvSpPr/>
          <p:nvPr/>
        </p:nvSpPr>
        <p:spPr>
          <a:xfrm>
            <a:off x="6392636" y="1915962"/>
            <a:ext cx="2808514" cy="3545945"/>
          </a:xfrm>
          <a:custGeom>
            <a:avLst/>
            <a:gdLst>
              <a:gd name="connsiteX0" fmla="*/ 0 w 2808514"/>
              <a:gd name="connsiteY0" fmla="*/ 3545945 h 3545945"/>
              <a:gd name="connsiteX1" fmla="*/ 718457 w 2808514"/>
              <a:gd name="connsiteY1" fmla="*/ 2754009 h 3545945"/>
              <a:gd name="connsiteX2" fmla="*/ 2171700 w 2808514"/>
              <a:gd name="connsiteY2" fmla="*/ 345545 h 3545945"/>
              <a:gd name="connsiteX3" fmla="*/ 2808514 w 2808514"/>
              <a:gd name="connsiteY3" fmla="*/ 67959 h 3545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8514" h="3545945">
                <a:moveTo>
                  <a:pt x="0" y="3545945"/>
                </a:moveTo>
                <a:cubicBezTo>
                  <a:pt x="178253" y="3416677"/>
                  <a:pt x="356507" y="3287409"/>
                  <a:pt x="718457" y="2754009"/>
                </a:cubicBezTo>
                <a:cubicBezTo>
                  <a:pt x="1080407" y="2220609"/>
                  <a:pt x="1823357" y="793220"/>
                  <a:pt x="2171700" y="345545"/>
                </a:cubicBezTo>
                <a:cubicBezTo>
                  <a:pt x="2520043" y="-102130"/>
                  <a:pt x="2664278" y="-17086"/>
                  <a:pt x="2808514" y="67959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手繪多邊形 80"/>
          <p:cNvSpPr/>
          <p:nvPr/>
        </p:nvSpPr>
        <p:spPr>
          <a:xfrm>
            <a:off x="6368143" y="2050768"/>
            <a:ext cx="2751364" cy="4219403"/>
          </a:xfrm>
          <a:custGeom>
            <a:avLst/>
            <a:gdLst>
              <a:gd name="connsiteX0" fmla="*/ 0 w 2751364"/>
              <a:gd name="connsiteY0" fmla="*/ 4219403 h 4219403"/>
              <a:gd name="connsiteX1" fmla="*/ 832757 w 2751364"/>
              <a:gd name="connsiteY1" fmla="*/ 3247853 h 4219403"/>
              <a:gd name="connsiteX2" fmla="*/ 2318657 w 2751364"/>
              <a:gd name="connsiteY2" fmla="*/ 357696 h 4219403"/>
              <a:gd name="connsiteX3" fmla="*/ 2751364 w 2751364"/>
              <a:gd name="connsiteY3" fmla="*/ 145425 h 4219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1364" h="4219403">
                <a:moveTo>
                  <a:pt x="0" y="4219403"/>
                </a:moveTo>
                <a:cubicBezTo>
                  <a:pt x="223157" y="4055437"/>
                  <a:pt x="446314" y="3891471"/>
                  <a:pt x="832757" y="3247853"/>
                </a:cubicBezTo>
                <a:cubicBezTo>
                  <a:pt x="1219200" y="2604235"/>
                  <a:pt x="1998889" y="874767"/>
                  <a:pt x="2318657" y="357696"/>
                </a:cubicBezTo>
                <a:cubicBezTo>
                  <a:pt x="2638425" y="-159375"/>
                  <a:pt x="2694894" y="-6975"/>
                  <a:pt x="2751364" y="145425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2" name="手繪多邊形 81"/>
          <p:cNvSpPr/>
          <p:nvPr/>
        </p:nvSpPr>
        <p:spPr>
          <a:xfrm>
            <a:off x="6392636" y="2253343"/>
            <a:ext cx="2759528" cy="1041787"/>
          </a:xfrm>
          <a:custGeom>
            <a:avLst/>
            <a:gdLst>
              <a:gd name="connsiteX0" fmla="*/ 0 w 2759528"/>
              <a:gd name="connsiteY0" fmla="*/ 0 h 1041787"/>
              <a:gd name="connsiteX1" fmla="*/ 775607 w 2759528"/>
              <a:gd name="connsiteY1" fmla="*/ 269421 h 1041787"/>
              <a:gd name="connsiteX2" fmla="*/ 2188028 w 2759528"/>
              <a:gd name="connsiteY2" fmla="*/ 963386 h 1041787"/>
              <a:gd name="connsiteX3" fmla="*/ 2759528 w 2759528"/>
              <a:gd name="connsiteY3" fmla="*/ 996043 h 104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9528" h="1041787">
                <a:moveTo>
                  <a:pt x="0" y="0"/>
                </a:moveTo>
                <a:cubicBezTo>
                  <a:pt x="205468" y="54428"/>
                  <a:pt x="410936" y="108857"/>
                  <a:pt x="775607" y="269421"/>
                </a:cubicBezTo>
                <a:cubicBezTo>
                  <a:pt x="1140278" y="429985"/>
                  <a:pt x="1857374" y="842282"/>
                  <a:pt x="2188028" y="963386"/>
                </a:cubicBezTo>
                <a:cubicBezTo>
                  <a:pt x="2518682" y="1084490"/>
                  <a:pt x="2639105" y="1040266"/>
                  <a:pt x="2759528" y="996043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手繪多邊形 82"/>
          <p:cNvSpPr/>
          <p:nvPr/>
        </p:nvSpPr>
        <p:spPr>
          <a:xfrm>
            <a:off x="6376307" y="3053443"/>
            <a:ext cx="2833007" cy="411394"/>
          </a:xfrm>
          <a:custGeom>
            <a:avLst/>
            <a:gdLst>
              <a:gd name="connsiteX0" fmla="*/ 0 w 2808514"/>
              <a:gd name="connsiteY0" fmla="*/ 0 h 411394"/>
              <a:gd name="connsiteX1" fmla="*/ 1053193 w 2808514"/>
              <a:gd name="connsiteY1" fmla="*/ 383721 h 411394"/>
              <a:gd name="connsiteX2" fmla="*/ 2808514 w 2808514"/>
              <a:gd name="connsiteY2" fmla="*/ 351064 h 411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08514" h="411394">
                <a:moveTo>
                  <a:pt x="0" y="0"/>
                </a:moveTo>
                <a:cubicBezTo>
                  <a:pt x="292553" y="162605"/>
                  <a:pt x="585107" y="325210"/>
                  <a:pt x="1053193" y="383721"/>
                </a:cubicBezTo>
                <a:cubicBezTo>
                  <a:pt x="1521279" y="442232"/>
                  <a:pt x="2164896" y="396648"/>
                  <a:pt x="2808514" y="351064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手繪多邊形 2"/>
          <p:cNvSpPr/>
          <p:nvPr/>
        </p:nvSpPr>
        <p:spPr>
          <a:xfrm>
            <a:off x="6376307" y="3693274"/>
            <a:ext cx="2784022" cy="2568733"/>
          </a:xfrm>
          <a:custGeom>
            <a:avLst/>
            <a:gdLst>
              <a:gd name="connsiteX0" fmla="*/ 0 w 2784022"/>
              <a:gd name="connsiteY0" fmla="*/ 2568733 h 2568733"/>
              <a:gd name="connsiteX1" fmla="*/ 1453243 w 2784022"/>
              <a:gd name="connsiteY1" fmla="*/ 1376747 h 2568733"/>
              <a:gd name="connsiteX2" fmla="*/ 2261507 w 2784022"/>
              <a:gd name="connsiteY2" fmla="*/ 339883 h 2568733"/>
              <a:gd name="connsiteX3" fmla="*/ 2612572 w 2784022"/>
              <a:gd name="connsiteY3" fmla="*/ 45969 h 2568733"/>
              <a:gd name="connsiteX4" fmla="*/ 2784022 w 2784022"/>
              <a:gd name="connsiteY4" fmla="*/ 5147 h 2568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84022" h="2568733">
                <a:moveTo>
                  <a:pt x="0" y="2568733"/>
                </a:moveTo>
                <a:cubicBezTo>
                  <a:pt x="538162" y="2158477"/>
                  <a:pt x="1076325" y="1748222"/>
                  <a:pt x="1453243" y="1376747"/>
                </a:cubicBezTo>
                <a:cubicBezTo>
                  <a:pt x="1830161" y="1005272"/>
                  <a:pt x="2068286" y="561679"/>
                  <a:pt x="2261507" y="339883"/>
                </a:cubicBezTo>
                <a:cubicBezTo>
                  <a:pt x="2454729" y="118087"/>
                  <a:pt x="2525486" y="101758"/>
                  <a:pt x="2612572" y="45969"/>
                </a:cubicBezTo>
                <a:cubicBezTo>
                  <a:pt x="2699658" y="-9820"/>
                  <a:pt x="2741840" y="-2337"/>
                  <a:pt x="2784022" y="5147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手繪多邊形 41"/>
          <p:cNvSpPr/>
          <p:nvPr/>
        </p:nvSpPr>
        <p:spPr>
          <a:xfrm>
            <a:off x="6368143" y="3540230"/>
            <a:ext cx="2841171" cy="1929841"/>
          </a:xfrm>
          <a:custGeom>
            <a:avLst/>
            <a:gdLst>
              <a:gd name="connsiteX0" fmla="*/ 0 w 2841171"/>
              <a:gd name="connsiteY0" fmla="*/ 1929841 h 1929841"/>
              <a:gd name="connsiteX1" fmla="*/ 1485900 w 2841171"/>
              <a:gd name="connsiteY1" fmla="*/ 901141 h 1929841"/>
              <a:gd name="connsiteX2" fmla="*/ 1983921 w 2841171"/>
              <a:gd name="connsiteY2" fmla="*/ 345970 h 1929841"/>
              <a:gd name="connsiteX3" fmla="*/ 2563586 w 2841171"/>
              <a:gd name="connsiteY3" fmla="*/ 35727 h 1929841"/>
              <a:gd name="connsiteX4" fmla="*/ 2841171 w 2841171"/>
              <a:gd name="connsiteY4" fmla="*/ 19399 h 1929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41171" h="1929841">
                <a:moveTo>
                  <a:pt x="0" y="1929841"/>
                </a:moveTo>
                <a:cubicBezTo>
                  <a:pt x="577623" y="1547480"/>
                  <a:pt x="1155247" y="1165119"/>
                  <a:pt x="1485900" y="901141"/>
                </a:cubicBezTo>
                <a:cubicBezTo>
                  <a:pt x="1816553" y="637163"/>
                  <a:pt x="1804307" y="490206"/>
                  <a:pt x="1983921" y="345970"/>
                </a:cubicBezTo>
                <a:cubicBezTo>
                  <a:pt x="2163535" y="201734"/>
                  <a:pt x="2420711" y="90155"/>
                  <a:pt x="2563586" y="35727"/>
                </a:cubicBezTo>
                <a:cubicBezTo>
                  <a:pt x="2706461" y="-18701"/>
                  <a:pt x="2773816" y="349"/>
                  <a:pt x="2841171" y="19399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手繪多邊形 42"/>
          <p:cNvSpPr/>
          <p:nvPr/>
        </p:nvSpPr>
        <p:spPr>
          <a:xfrm>
            <a:off x="6376307" y="1445079"/>
            <a:ext cx="2784022" cy="3444732"/>
          </a:xfrm>
          <a:custGeom>
            <a:avLst/>
            <a:gdLst>
              <a:gd name="connsiteX0" fmla="*/ 0 w 2784022"/>
              <a:gd name="connsiteY0" fmla="*/ 0 h 3444732"/>
              <a:gd name="connsiteX1" fmla="*/ 677636 w 2784022"/>
              <a:gd name="connsiteY1" fmla="*/ 457200 h 3444732"/>
              <a:gd name="connsiteX2" fmla="*/ 1502229 w 2784022"/>
              <a:gd name="connsiteY2" fmla="*/ 2367642 h 3444732"/>
              <a:gd name="connsiteX3" fmla="*/ 2310493 w 2784022"/>
              <a:gd name="connsiteY3" fmla="*/ 3298371 h 3444732"/>
              <a:gd name="connsiteX4" fmla="*/ 2784022 w 2784022"/>
              <a:gd name="connsiteY4" fmla="*/ 3429000 h 3444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84022" h="3444732">
                <a:moveTo>
                  <a:pt x="0" y="0"/>
                </a:moveTo>
                <a:cubicBezTo>
                  <a:pt x="213632" y="31296"/>
                  <a:pt x="427265" y="62593"/>
                  <a:pt x="677636" y="457200"/>
                </a:cubicBezTo>
                <a:cubicBezTo>
                  <a:pt x="928007" y="851807"/>
                  <a:pt x="1230086" y="1894113"/>
                  <a:pt x="1502229" y="2367642"/>
                </a:cubicBezTo>
                <a:cubicBezTo>
                  <a:pt x="1774372" y="2841171"/>
                  <a:pt x="2096861" y="3121478"/>
                  <a:pt x="2310493" y="3298371"/>
                </a:cubicBezTo>
                <a:cubicBezTo>
                  <a:pt x="2524125" y="3475264"/>
                  <a:pt x="2654073" y="3452132"/>
                  <a:pt x="2784022" y="3429000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手繪多邊形 43"/>
          <p:cNvSpPr/>
          <p:nvPr/>
        </p:nvSpPr>
        <p:spPr>
          <a:xfrm>
            <a:off x="6359979" y="3053443"/>
            <a:ext cx="2857500" cy="1990156"/>
          </a:xfrm>
          <a:custGeom>
            <a:avLst/>
            <a:gdLst>
              <a:gd name="connsiteX0" fmla="*/ 0 w 2857500"/>
              <a:gd name="connsiteY0" fmla="*/ 0 h 1990156"/>
              <a:gd name="connsiteX1" fmla="*/ 1053193 w 2857500"/>
              <a:gd name="connsiteY1" fmla="*/ 710293 h 1990156"/>
              <a:gd name="connsiteX2" fmla="*/ 2057400 w 2857500"/>
              <a:gd name="connsiteY2" fmla="*/ 1820636 h 1990156"/>
              <a:gd name="connsiteX3" fmla="*/ 2857500 w 2857500"/>
              <a:gd name="connsiteY3" fmla="*/ 1967593 h 1990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7500" h="1990156">
                <a:moveTo>
                  <a:pt x="0" y="0"/>
                </a:moveTo>
                <a:cubicBezTo>
                  <a:pt x="355146" y="203427"/>
                  <a:pt x="710293" y="406854"/>
                  <a:pt x="1053193" y="710293"/>
                </a:cubicBezTo>
                <a:cubicBezTo>
                  <a:pt x="1396093" y="1013732"/>
                  <a:pt x="1756682" y="1611086"/>
                  <a:pt x="2057400" y="1820636"/>
                </a:cubicBezTo>
                <a:cubicBezTo>
                  <a:pt x="2358118" y="2030186"/>
                  <a:pt x="2607809" y="1998889"/>
                  <a:pt x="2857500" y="1967593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手繪多邊形 44"/>
          <p:cNvSpPr/>
          <p:nvPr/>
        </p:nvSpPr>
        <p:spPr>
          <a:xfrm>
            <a:off x="6400800" y="4653643"/>
            <a:ext cx="2800350" cy="555171"/>
          </a:xfrm>
          <a:custGeom>
            <a:avLst/>
            <a:gdLst>
              <a:gd name="connsiteX0" fmla="*/ 0 w 2800350"/>
              <a:gd name="connsiteY0" fmla="*/ 0 h 555171"/>
              <a:gd name="connsiteX1" fmla="*/ 1894114 w 2800350"/>
              <a:gd name="connsiteY1" fmla="*/ 424543 h 555171"/>
              <a:gd name="connsiteX2" fmla="*/ 2800350 w 2800350"/>
              <a:gd name="connsiteY2" fmla="*/ 555171 h 55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00350" h="555171">
                <a:moveTo>
                  <a:pt x="0" y="0"/>
                </a:moveTo>
                <a:lnTo>
                  <a:pt x="1894114" y="424543"/>
                </a:lnTo>
                <a:cubicBezTo>
                  <a:pt x="2360839" y="517072"/>
                  <a:pt x="2580594" y="536121"/>
                  <a:pt x="2800350" y="555171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手繪多邊形 46"/>
          <p:cNvSpPr/>
          <p:nvPr/>
        </p:nvSpPr>
        <p:spPr>
          <a:xfrm>
            <a:off x="6384472" y="5323114"/>
            <a:ext cx="2759528" cy="947057"/>
          </a:xfrm>
          <a:custGeom>
            <a:avLst/>
            <a:gdLst>
              <a:gd name="connsiteX0" fmla="*/ 0 w 2759528"/>
              <a:gd name="connsiteY0" fmla="*/ 947057 h 947057"/>
              <a:gd name="connsiteX1" fmla="*/ 1257300 w 2759528"/>
              <a:gd name="connsiteY1" fmla="*/ 449036 h 947057"/>
              <a:gd name="connsiteX2" fmla="*/ 2081892 w 2759528"/>
              <a:gd name="connsiteY2" fmla="*/ 171450 h 947057"/>
              <a:gd name="connsiteX3" fmla="*/ 2359478 w 2759528"/>
              <a:gd name="connsiteY3" fmla="*/ 40822 h 947057"/>
              <a:gd name="connsiteX4" fmla="*/ 2759528 w 2759528"/>
              <a:gd name="connsiteY4" fmla="*/ 0 h 947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59528" h="947057">
                <a:moveTo>
                  <a:pt x="0" y="947057"/>
                </a:moveTo>
                <a:lnTo>
                  <a:pt x="1257300" y="449036"/>
                </a:lnTo>
                <a:cubicBezTo>
                  <a:pt x="1604282" y="319768"/>
                  <a:pt x="1898196" y="239486"/>
                  <a:pt x="2081892" y="171450"/>
                </a:cubicBezTo>
                <a:cubicBezTo>
                  <a:pt x="2265588" y="103414"/>
                  <a:pt x="2246539" y="69397"/>
                  <a:pt x="2359478" y="40822"/>
                </a:cubicBezTo>
                <a:cubicBezTo>
                  <a:pt x="2472417" y="12247"/>
                  <a:pt x="2615972" y="6123"/>
                  <a:pt x="2759528" y="0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文字方塊 75"/>
          <p:cNvSpPr txBox="1"/>
          <p:nvPr/>
        </p:nvSpPr>
        <p:spPr>
          <a:xfrm>
            <a:off x="4831298" y="338414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endParaRPr lang="zh-TW" altLang="en-US" sz="2800" baseline="-250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4863667" y="1122633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4866660" y="2025649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endParaRPr lang="zh-TW" altLang="en-US" sz="2800" baseline="-25000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4866660" y="2801712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  <p:sp>
        <p:nvSpPr>
          <p:cNvPr id="85" name="文字方塊 84"/>
          <p:cNvSpPr txBox="1"/>
          <p:nvPr/>
        </p:nvSpPr>
        <p:spPr>
          <a:xfrm>
            <a:off x="4863667" y="3610287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4</a:t>
            </a:r>
            <a:endParaRPr lang="zh-TW" altLang="en-US" sz="2800" baseline="-25000" dirty="0"/>
          </a:p>
        </p:txBody>
      </p:sp>
      <p:sp>
        <p:nvSpPr>
          <p:cNvPr id="86" name="文字方塊 85"/>
          <p:cNvSpPr txBox="1"/>
          <p:nvPr/>
        </p:nvSpPr>
        <p:spPr>
          <a:xfrm>
            <a:off x="4865325" y="4411604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5</a:t>
            </a:r>
            <a:endParaRPr lang="zh-TW" altLang="en-US" sz="2800" baseline="-25000" dirty="0"/>
          </a:p>
        </p:txBody>
      </p:sp>
      <p:sp>
        <p:nvSpPr>
          <p:cNvPr id="87" name="文字方塊 86"/>
          <p:cNvSpPr txBox="1"/>
          <p:nvPr/>
        </p:nvSpPr>
        <p:spPr>
          <a:xfrm>
            <a:off x="4866943" y="5209880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6</a:t>
            </a:r>
            <a:endParaRPr lang="zh-TW" altLang="en-US" sz="2800" baseline="-25000" dirty="0"/>
          </a:p>
        </p:txBody>
      </p:sp>
      <p:sp>
        <p:nvSpPr>
          <p:cNvPr id="88" name="文字方塊 87"/>
          <p:cNvSpPr txBox="1"/>
          <p:nvPr/>
        </p:nvSpPr>
        <p:spPr>
          <a:xfrm>
            <a:off x="4866974" y="6017169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7</a:t>
            </a:r>
            <a:endParaRPr lang="zh-TW" altLang="en-US" sz="2800" baseline="-25000" dirty="0"/>
          </a:p>
        </p:txBody>
      </p:sp>
    </p:spTree>
    <p:extLst>
      <p:ext uri="{BB962C8B-B14F-4D97-AF65-F5344CB8AC3E}">
        <p14:creationId xmlns:p14="http://schemas.microsoft.com/office/powerpoint/2010/main" val="791393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237341" y="4715708"/>
            <a:ext cx="4035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y = D</a:t>
            </a:r>
            <a:r>
              <a:rPr lang="en-US" altLang="zh-TW" sz="3200" b="1" baseline="-25000" dirty="0" smtClean="0">
                <a:solidFill>
                  <a:srgbClr val="C00000"/>
                </a:solidFill>
              </a:rPr>
              <a:t>2 </a:t>
            </a:r>
            <a:r>
              <a:rPr lang="en-US" altLang="zh-TW" sz="3200" b="1" dirty="0">
                <a:solidFill>
                  <a:srgbClr val="C00000"/>
                </a:solidFill>
              </a:rPr>
              <a:t>+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3200" b="1" dirty="0">
                <a:solidFill>
                  <a:srgbClr val="C00000"/>
                </a:solidFill>
              </a:rPr>
              <a:t> + D</a:t>
            </a:r>
            <a:r>
              <a:rPr lang="en-US" altLang="zh-TW" sz="3200" b="1" baseline="-25000" dirty="0">
                <a:solidFill>
                  <a:srgbClr val="C00000"/>
                </a:solidFill>
              </a:rPr>
              <a:t>6 </a:t>
            </a:r>
            <a:r>
              <a:rPr lang="en-US" altLang="zh-TW" sz="3200" b="1" dirty="0">
                <a:solidFill>
                  <a:srgbClr val="C00000"/>
                </a:solidFill>
              </a:rPr>
              <a:t>+ D</a:t>
            </a:r>
            <a:r>
              <a:rPr lang="en-US" altLang="zh-TW" sz="3200" b="1" baseline="-25000" dirty="0">
                <a:solidFill>
                  <a:srgbClr val="C00000"/>
                </a:solidFill>
              </a:rPr>
              <a:t>7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 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237341" y="4091626"/>
            <a:ext cx="4035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0000FF"/>
                </a:solidFill>
              </a:rPr>
              <a:t>x = 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4 </a:t>
            </a:r>
            <a:r>
              <a:rPr lang="en-US" altLang="zh-TW" sz="3200" b="1" dirty="0">
                <a:solidFill>
                  <a:srgbClr val="0000FF"/>
                </a:solidFill>
              </a:rPr>
              <a:t>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5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>
                <a:solidFill>
                  <a:srgbClr val="0000FF"/>
                </a:solidFill>
              </a:rPr>
              <a:t>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6 </a:t>
            </a:r>
            <a:r>
              <a:rPr lang="en-US" altLang="zh-TW" sz="3200" b="1" dirty="0">
                <a:solidFill>
                  <a:srgbClr val="0000FF"/>
                </a:solidFill>
              </a:rPr>
              <a:t>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7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 </a:t>
            </a:r>
            <a:endParaRPr lang="zh-TW" altLang="en-US" sz="3200" b="1" dirty="0">
              <a:solidFill>
                <a:srgbClr val="0000FF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237341" y="5339789"/>
            <a:ext cx="40142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z = D</a:t>
            </a:r>
            <a:r>
              <a:rPr lang="en-US" altLang="zh-TW" sz="3200" b="1" baseline="-25000" dirty="0" smtClean="0"/>
              <a:t>1 </a:t>
            </a:r>
            <a:r>
              <a:rPr lang="en-US" altLang="zh-TW" sz="3200" b="1" dirty="0"/>
              <a:t>+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3</a:t>
            </a:r>
            <a:r>
              <a:rPr lang="en-US" altLang="zh-TW" sz="3200" b="1" dirty="0"/>
              <a:t> +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5 </a:t>
            </a:r>
            <a:r>
              <a:rPr lang="en-US" altLang="zh-TW" sz="3200" b="1" dirty="0"/>
              <a:t>+ D</a:t>
            </a:r>
            <a:r>
              <a:rPr lang="en-US" altLang="zh-TW" sz="3200" b="1" baseline="-25000" dirty="0"/>
              <a:t>7</a:t>
            </a:r>
            <a:r>
              <a:rPr lang="en-US" altLang="zh-TW" sz="3200" b="1" dirty="0" smtClean="0"/>
              <a:t> </a:t>
            </a:r>
            <a:endParaRPr lang="zh-TW" altLang="en-US" sz="3200" b="1" dirty="0"/>
          </a:p>
        </p:txBody>
      </p:sp>
      <p:sp>
        <p:nvSpPr>
          <p:cNvPr id="7" name="矩形 6"/>
          <p:cNvSpPr/>
          <p:nvPr/>
        </p:nvSpPr>
        <p:spPr>
          <a:xfrm>
            <a:off x="1200171" y="879706"/>
            <a:ext cx="1409351" cy="27515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8-to-3 Encoder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8" name="直線接點 7"/>
          <p:cNvCxnSpPr/>
          <p:nvPr/>
        </p:nvCxnSpPr>
        <p:spPr>
          <a:xfrm>
            <a:off x="763944" y="1039097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763944" y="1384244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763944" y="1729391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763944" y="20745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763944" y="2419685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763944" y="2764832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763944" y="3109979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763944" y="3455126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2609522" y="1500492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2609522" y="2287260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2609521" y="3074027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237341" y="808264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237341" y="1153411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237341" y="149855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237341" y="1842042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237341" y="2134055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4</a:t>
            </a:r>
            <a:endParaRPr lang="zh-TW" altLang="en-US" sz="2400" baseline="-250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237341" y="2479202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5</a:t>
            </a:r>
            <a:endParaRPr lang="zh-TW" altLang="en-US" sz="2400" baseline="-25000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237341" y="2824349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6</a:t>
            </a:r>
            <a:endParaRPr lang="zh-TW" altLang="en-US" sz="2400" baseline="-250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237341" y="3167833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7</a:t>
            </a:r>
            <a:endParaRPr lang="zh-TW" altLang="en-US" sz="2400" baseline="-250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3102100" y="2824348"/>
            <a:ext cx="3193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z</a:t>
            </a:r>
            <a:endParaRPr lang="zh-TW" altLang="en-US" sz="24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87924" y="205642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3094887" y="123147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  <p:grpSp>
        <p:nvGrpSpPr>
          <p:cNvPr id="30" name="Group 4"/>
          <p:cNvGrpSpPr>
            <a:grpSpLocks noChangeAspect="1"/>
          </p:cNvGrpSpPr>
          <p:nvPr/>
        </p:nvGrpSpPr>
        <p:grpSpPr bwMode="auto">
          <a:xfrm>
            <a:off x="8794583" y="1498558"/>
            <a:ext cx="1495425" cy="793750"/>
            <a:chOff x="2347" y="1818"/>
            <a:chExt cx="942" cy="500"/>
          </a:xfrm>
        </p:grpSpPr>
        <p:sp>
          <p:nvSpPr>
            <p:cNvPr id="31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2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3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grpSp>
        <p:nvGrpSpPr>
          <p:cNvPr id="34" name="Group 4"/>
          <p:cNvGrpSpPr>
            <a:grpSpLocks noChangeAspect="1"/>
          </p:cNvGrpSpPr>
          <p:nvPr/>
        </p:nvGrpSpPr>
        <p:grpSpPr bwMode="auto">
          <a:xfrm>
            <a:off x="8794585" y="3085574"/>
            <a:ext cx="1495425" cy="793750"/>
            <a:chOff x="2347" y="1818"/>
            <a:chExt cx="942" cy="500"/>
          </a:xfrm>
        </p:grpSpPr>
        <p:sp>
          <p:nvSpPr>
            <p:cNvPr id="35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6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7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grpSp>
        <p:nvGrpSpPr>
          <p:cNvPr id="38" name="Group 4"/>
          <p:cNvGrpSpPr>
            <a:grpSpLocks noChangeAspect="1"/>
          </p:cNvGrpSpPr>
          <p:nvPr/>
        </p:nvGrpSpPr>
        <p:grpSpPr bwMode="auto">
          <a:xfrm>
            <a:off x="8794584" y="4672589"/>
            <a:ext cx="1495425" cy="793750"/>
            <a:chOff x="2347" y="1818"/>
            <a:chExt cx="942" cy="500"/>
          </a:xfrm>
        </p:grpSpPr>
        <p:sp>
          <p:nvSpPr>
            <p:cNvPr id="39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40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41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sp>
        <p:nvSpPr>
          <p:cNvPr id="46" name="矩形 45"/>
          <p:cNvSpPr/>
          <p:nvPr/>
        </p:nvSpPr>
        <p:spPr>
          <a:xfrm>
            <a:off x="6319158" y="389437"/>
            <a:ext cx="4245428" cy="6131378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8" name="直線接點 47"/>
          <p:cNvCxnSpPr/>
          <p:nvPr/>
        </p:nvCxnSpPr>
        <p:spPr>
          <a:xfrm>
            <a:off x="6106886" y="653142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6106886" y="1456536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6106886" y="2259930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6106886" y="3063324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6106886" y="3866718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6106886" y="4670112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6106886" y="5473506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6106886" y="6276898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字方塊 55"/>
          <p:cNvSpPr txBox="1"/>
          <p:nvPr/>
        </p:nvSpPr>
        <p:spPr>
          <a:xfrm>
            <a:off x="5541999" y="338414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5574368" y="1122633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5577361" y="2025649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5577361" y="2801712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1</a:t>
            </a:r>
            <a:endParaRPr lang="zh-TW" altLang="en-US" sz="2800" baseline="-25000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5574368" y="3610287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5576026" y="4411604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62" name="文字方塊 61"/>
          <p:cNvSpPr txBox="1"/>
          <p:nvPr/>
        </p:nvSpPr>
        <p:spPr>
          <a:xfrm>
            <a:off x="5577644" y="5209880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63" name="文字方塊 62"/>
          <p:cNvSpPr txBox="1"/>
          <p:nvPr/>
        </p:nvSpPr>
        <p:spPr>
          <a:xfrm>
            <a:off x="5577675" y="6017169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cxnSp>
        <p:nvCxnSpPr>
          <p:cNvPr id="67" name="直線接點 66"/>
          <p:cNvCxnSpPr/>
          <p:nvPr/>
        </p:nvCxnSpPr>
        <p:spPr>
          <a:xfrm>
            <a:off x="10007434" y="1906545"/>
            <a:ext cx="7286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/>
          <p:cNvCxnSpPr/>
          <p:nvPr/>
        </p:nvCxnSpPr>
        <p:spPr>
          <a:xfrm>
            <a:off x="10007434" y="3482449"/>
            <a:ext cx="7286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9994197" y="5080576"/>
            <a:ext cx="7286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字方塊 70"/>
          <p:cNvSpPr txBox="1"/>
          <p:nvPr/>
        </p:nvSpPr>
        <p:spPr>
          <a:xfrm>
            <a:off x="10877510" y="4789107"/>
            <a:ext cx="276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1</a:t>
            </a:r>
            <a:endParaRPr lang="zh-TW" altLang="en-US" sz="2800" dirty="0"/>
          </a:p>
        </p:txBody>
      </p:sp>
      <p:sp>
        <p:nvSpPr>
          <p:cNvPr id="72" name="文字方塊 71"/>
          <p:cNvSpPr txBox="1"/>
          <p:nvPr/>
        </p:nvSpPr>
        <p:spPr>
          <a:xfrm>
            <a:off x="10858274" y="3163657"/>
            <a:ext cx="294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1</a:t>
            </a:r>
            <a:endParaRPr lang="zh-TW" altLang="en-US" sz="2800" dirty="0"/>
          </a:p>
        </p:txBody>
      </p:sp>
      <p:sp>
        <p:nvSpPr>
          <p:cNvPr id="73" name="文字方塊 72"/>
          <p:cNvSpPr txBox="1"/>
          <p:nvPr/>
        </p:nvSpPr>
        <p:spPr>
          <a:xfrm>
            <a:off x="10858274" y="1615076"/>
            <a:ext cx="294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dirty="0"/>
          </a:p>
        </p:txBody>
      </p:sp>
      <p:sp>
        <p:nvSpPr>
          <p:cNvPr id="75" name="手繪多邊形 74"/>
          <p:cNvSpPr/>
          <p:nvPr/>
        </p:nvSpPr>
        <p:spPr>
          <a:xfrm>
            <a:off x="6384472" y="1627563"/>
            <a:ext cx="2751364" cy="2234144"/>
          </a:xfrm>
          <a:custGeom>
            <a:avLst/>
            <a:gdLst>
              <a:gd name="connsiteX0" fmla="*/ 0 w 2751364"/>
              <a:gd name="connsiteY0" fmla="*/ 2234144 h 2234144"/>
              <a:gd name="connsiteX1" fmla="*/ 898071 w 2751364"/>
              <a:gd name="connsiteY1" fmla="*/ 1776944 h 2234144"/>
              <a:gd name="connsiteX2" fmla="*/ 2024742 w 2751364"/>
              <a:gd name="connsiteY2" fmla="*/ 274716 h 2234144"/>
              <a:gd name="connsiteX3" fmla="*/ 2751364 w 2751364"/>
              <a:gd name="connsiteY3" fmla="*/ 5294 h 2234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1364" h="2234144">
                <a:moveTo>
                  <a:pt x="0" y="2234144"/>
                </a:moveTo>
                <a:cubicBezTo>
                  <a:pt x="280307" y="2168829"/>
                  <a:pt x="560614" y="2103515"/>
                  <a:pt x="898071" y="1776944"/>
                </a:cubicBezTo>
                <a:cubicBezTo>
                  <a:pt x="1235528" y="1450373"/>
                  <a:pt x="1715860" y="569991"/>
                  <a:pt x="2024742" y="274716"/>
                </a:cubicBezTo>
                <a:cubicBezTo>
                  <a:pt x="2333624" y="-20559"/>
                  <a:pt x="2542494" y="-7633"/>
                  <a:pt x="2751364" y="5294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手繪多邊形 78"/>
          <p:cNvSpPr/>
          <p:nvPr/>
        </p:nvSpPr>
        <p:spPr>
          <a:xfrm>
            <a:off x="6376307" y="1753043"/>
            <a:ext cx="2833007" cy="2928266"/>
          </a:xfrm>
          <a:custGeom>
            <a:avLst/>
            <a:gdLst>
              <a:gd name="connsiteX0" fmla="*/ 0 w 2833007"/>
              <a:gd name="connsiteY0" fmla="*/ 2916928 h 2928266"/>
              <a:gd name="connsiteX1" fmla="*/ 563336 w 2833007"/>
              <a:gd name="connsiteY1" fmla="*/ 2533207 h 2928266"/>
              <a:gd name="connsiteX2" fmla="*/ 2114550 w 2833007"/>
              <a:gd name="connsiteY2" fmla="*/ 320686 h 2928266"/>
              <a:gd name="connsiteX3" fmla="*/ 2833007 w 2833007"/>
              <a:gd name="connsiteY3" fmla="*/ 59428 h 2928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3007" h="2928266">
                <a:moveTo>
                  <a:pt x="0" y="2916928"/>
                </a:moveTo>
                <a:cubicBezTo>
                  <a:pt x="105455" y="2941421"/>
                  <a:pt x="210911" y="2965914"/>
                  <a:pt x="563336" y="2533207"/>
                </a:cubicBezTo>
                <a:cubicBezTo>
                  <a:pt x="915761" y="2100500"/>
                  <a:pt x="1736271" y="732983"/>
                  <a:pt x="2114550" y="320686"/>
                </a:cubicBezTo>
                <a:cubicBezTo>
                  <a:pt x="2492829" y="-91611"/>
                  <a:pt x="2662918" y="-16092"/>
                  <a:pt x="2833007" y="59428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手繪多邊形 79"/>
          <p:cNvSpPr/>
          <p:nvPr/>
        </p:nvSpPr>
        <p:spPr>
          <a:xfrm>
            <a:off x="6392636" y="1915962"/>
            <a:ext cx="2808514" cy="3545945"/>
          </a:xfrm>
          <a:custGeom>
            <a:avLst/>
            <a:gdLst>
              <a:gd name="connsiteX0" fmla="*/ 0 w 2808514"/>
              <a:gd name="connsiteY0" fmla="*/ 3545945 h 3545945"/>
              <a:gd name="connsiteX1" fmla="*/ 718457 w 2808514"/>
              <a:gd name="connsiteY1" fmla="*/ 2754009 h 3545945"/>
              <a:gd name="connsiteX2" fmla="*/ 2171700 w 2808514"/>
              <a:gd name="connsiteY2" fmla="*/ 345545 h 3545945"/>
              <a:gd name="connsiteX3" fmla="*/ 2808514 w 2808514"/>
              <a:gd name="connsiteY3" fmla="*/ 67959 h 3545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8514" h="3545945">
                <a:moveTo>
                  <a:pt x="0" y="3545945"/>
                </a:moveTo>
                <a:cubicBezTo>
                  <a:pt x="178253" y="3416677"/>
                  <a:pt x="356507" y="3287409"/>
                  <a:pt x="718457" y="2754009"/>
                </a:cubicBezTo>
                <a:cubicBezTo>
                  <a:pt x="1080407" y="2220609"/>
                  <a:pt x="1823357" y="793220"/>
                  <a:pt x="2171700" y="345545"/>
                </a:cubicBezTo>
                <a:cubicBezTo>
                  <a:pt x="2520043" y="-102130"/>
                  <a:pt x="2664278" y="-17086"/>
                  <a:pt x="2808514" y="67959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手繪多邊形 80"/>
          <p:cNvSpPr/>
          <p:nvPr/>
        </p:nvSpPr>
        <p:spPr>
          <a:xfrm>
            <a:off x="6368143" y="2050768"/>
            <a:ext cx="2751364" cy="4219403"/>
          </a:xfrm>
          <a:custGeom>
            <a:avLst/>
            <a:gdLst>
              <a:gd name="connsiteX0" fmla="*/ 0 w 2751364"/>
              <a:gd name="connsiteY0" fmla="*/ 4219403 h 4219403"/>
              <a:gd name="connsiteX1" fmla="*/ 832757 w 2751364"/>
              <a:gd name="connsiteY1" fmla="*/ 3247853 h 4219403"/>
              <a:gd name="connsiteX2" fmla="*/ 2318657 w 2751364"/>
              <a:gd name="connsiteY2" fmla="*/ 357696 h 4219403"/>
              <a:gd name="connsiteX3" fmla="*/ 2751364 w 2751364"/>
              <a:gd name="connsiteY3" fmla="*/ 145425 h 4219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1364" h="4219403">
                <a:moveTo>
                  <a:pt x="0" y="4219403"/>
                </a:moveTo>
                <a:cubicBezTo>
                  <a:pt x="223157" y="4055437"/>
                  <a:pt x="446314" y="3891471"/>
                  <a:pt x="832757" y="3247853"/>
                </a:cubicBezTo>
                <a:cubicBezTo>
                  <a:pt x="1219200" y="2604235"/>
                  <a:pt x="1998889" y="874767"/>
                  <a:pt x="2318657" y="357696"/>
                </a:cubicBezTo>
                <a:cubicBezTo>
                  <a:pt x="2638425" y="-159375"/>
                  <a:pt x="2694894" y="-6975"/>
                  <a:pt x="2751364" y="145425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2" name="手繪多邊形 81"/>
          <p:cNvSpPr/>
          <p:nvPr/>
        </p:nvSpPr>
        <p:spPr>
          <a:xfrm>
            <a:off x="6392636" y="2253343"/>
            <a:ext cx="2759528" cy="1041787"/>
          </a:xfrm>
          <a:custGeom>
            <a:avLst/>
            <a:gdLst>
              <a:gd name="connsiteX0" fmla="*/ 0 w 2759528"/>
              <a:gd name="connsiteY0" fmla="*/ 0 h 1041787"/>
              <a:gd name="connsiteX1" fmla="*/ 775607 w 2759528"/>
              <a:gd name="connsiteY1" fmla="*/ 269421 h 1041787"/>
              <a:gd name="connsiteX2" fmla="*/ 2188028 w 2759528"/>
              <a:gd name="connsiteY2" fmla="*/ 963386 h 1041787"/>
              <a:gd name="connsiteX3" fmla="*/ 2759528 w 2759528"/>
              <a:gd name="connsiteY3" fmla="*/ 996043 h 104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9528" h="1041787">
                <a:moveTo>
                  <a:pt x="0" y="0"/>
                </a:moveTo>
                <a:cubicBezTo>
                  <a:pt x="205468" y="54428"/>
                  <a:pt x="410936" y="108857"/>
                  <a:pt x="775607" y="269421"/>
                </a:cubicBezTo>
                <a:cubicBezTo>
                  <a:pt x="1140278" y="429985"/>
                  <a:pt x="1857374" y="842282"/>
                  <a:pt x="2188028" y="963386"/>
                </a:cubicBezTo>
                <a:cubicBezTo>
                  <a:pt x="2518682" y="1084490"/>
                  <a:pt x="2639105" y="1040266"/>
                  <a:pt x="2759528" y="996043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手繪多邊形 82"/>
          <p:cNvSpPr/>
          <p:nvPr/>
        </p:nvSpPr>
        <p:spPr>
          <a:xfrm>
            <a:off x="6376307" y="3053443"/>
            <a:ext cx="2833007" cy="411394"/>
          </a:xfrm>
          <a:custGeom>
            <a:avLst/>
            <a:gdLst>
              <a:gd name="connsiteX0" fmla="*/ 0 w 2808514"/>
              <a:gd name="connsiteY0" fmla="*/ 0 h 411394"/>
              <a:gd name="connsiteX1" fmla="*/ 1053193 w 2808514"/>
              <a:gd name="connsiteY1" fmla="*/ 383721 h 411394"/>
              <a:gd name="connsiteX2" fmla="*/ 2808514 w 2808514"/>
              <a:gd name="connsiteY2" fmla="*/ 351064 h 411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08514" h="411394">
                <a:moveTo>
                  <a:pt x="0" y="0"/>
                </a:moveTo>
                <a:cubicBezTo>
                  <a:pt x="292553" y="162605"/>
                  <a:pt x="585107" y="325210"/>
                  <a:pt x="1053193" y="383721"/>
                </a:cubicBezTo>
                <a:cubicBezTo>
                  <a:pt x="1521279" y="442232"/>
                  <a:pt x="2164896" y="396648"/>
                  <a:pt x="2808514" y="351064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手繪多邊形 2"/>
          <p:cNvSpPr/>
          <p:nvPr/>
        </p:nvSpPr>
        <p:spPr>
          <a:xfrm>
            <a:off x="6376307" y="3693274"/>
            <a:ext cx="2784022" cy="2568733"/>
          </a:xfrm>
          <a:custGeom>
            <a:avLst/>
            <a:gdLst>
              <a:gd name="connsiteX0" fmla="*/ 0 w 2784022"/>
              <a:gd name="connsiteY0" fmla="*/ 2568733 h 2568733"/>
              <a:gd name="connsiteX1" fmla="*/ 1453243 w 2784022"/>
              <a:gd name="connsiteY1" fmla="*/ 1376747 h 2568733"/>
              <a:gd name="connsiteX2" fmla="*/ 2261507 w 2784022"/>
              <a:gd name="connsiteY2" fmla="*/ 339883 h 2568733"/>
              <a:gd name="connsiteX3" fmla="*/ 2612572 w 2784022"/>
              <a:gd name="connsiteY3" fmla="*/ 45969 h 2568733"/>
              <a:gd name="connsiteX4" fmla="*/ 2784022 w 2784022"/>
              <a:gd name="connsiteY4" fmla="*/ 5147 h 2568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84022" h="2568733">
                <a:moveTo>
                  <a:pt x="0" y="2568733"/>
                </a:moveTo>
                <a:cubicBezTo>
                  <a:pt x="538162" y="2158477"/>
                  <a:pt x="1076325" y="1748222"/>
                  <a:pt x="1453243" y="1376747"/>
                </a:cubicBezTo>
                <a:cubicBezTo>
                  <a:pt x="1830161" y="1005272"/>
                  <a:pt x="2068286" y="561679"/>
                  <a:pt x="2261507" y="339883"/>
                </a:cubicBezTo>
                <a:cubicBezTo>
                  <a:pt x="2454729" y="118087"/>
                  <a:pt x="2525486" y="101758"/>
                  <a:pt x="2612572" y="45969"/>
                </a:cubicBezTo>
                <a:cubicBezTo>
                  <a:pt x="2699658" y="-9820"/>
                  <a:pt x="2741840" y="-2337"/>
                  <a:pt x="2784022" y="5147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手繪多邊形 41"/>
          <p:cNvSpPr/>
          <p:nvPr/>
        </p:nvSpPr>
        <p:spPr>
          <a:xfrm>
            <a:off x="6368143" y="3540230"/>
            <a:ext cx="2841171" cy="1929841"/>
          </a:xfrm>
          <a:custGeom>
            <a:avLst/>
            <a:gdLst>
              <a:gd name="connsiteX0" fmla="*/ 0 w 2841171"/>
              <a:gd name="connsiteY0" fmla="*/ 1929841 h 1929841"/>
              <a:gd name="connsiteX1" fmla="*/ 1485900 w 2841171"/>
              <a:gd name="connsiteY1" fmla="*/ 901141 h 1929841"/>
              <a:gd name="connsiteX2" fmla="*/ 1983921 w 2841171"/>
              <a:gd name="connsiteY2" fmla="*/ 345970 h 1929841"/>
              <a:gd name="connsiteX3" fmla="*/ 2563586 w 2841171"/>
              <a:gd name="connsiteY3" fmla="*/ 35727 h 1929841"/>
              <a:gd name="connsiteX4" fmla="*/ 2841171 w 2841171"/>
              <a:gd name="connsiteY4" fmla="*/ 19399 h 1929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41171" h="1929841">
                <a:moveTo>
                  <a:pt x="0" y="1929841"/>
                </a:moveTo>
                <a:cubicBezTo>
                  <a:pt x="577623" y="1547480"/>
                  <a:pt x="1155247" y="1165119"/>
                  <a:pt x="1485900" y="901141"/>
                </a:cubicBezTo>
                <a:cubicBezTo>
                  <a:pt x="1816553" y="637163"/>
                  <a:pt x="1804307" y="490206"/>
                  <a:pt x="1983921" y="345970"/>
                </a:cubicBezTo>
                <a:cubicBezTo>
                  <a:pt x="2163535" y="201734"/>
                  <a:pt x="2420711" y="90155"/>
                  <a:pt x="2563586" y="35727"/>
                </a:cubicBezTo>
                <a:cubicBezTo>
                  <a:pt x="2706461" y="-18701"/>
                  <a:pt x="2773816" y="349"/>
                  <a:pt x="2841171" y="19399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手繪多邊形 42"/>
          <p:cNvSpPr/>
          <p:nvPr/>
        </p:nvSpPr>
        <p:spPr>
          <a:xfrm>
            <a:off x="6376307" y="1445079"/>
            <a:ext cx="2784022" cy="3444732"/>
          </a:xfrm>
          <a:custGeom>
            <a:avLst/>
            <a:gdLst>
              <a:gd name="connsiteX0" fmla="*/ 0 w 2784022"/>
              <a:gd name="connsiteY0" fmla="*/ 0 h 3444732"/>
              <a:gd name="connsiteX1" fmla="*/ 677636 w 2784022"/>
              <a:gd name="connsiteY1" fmla="*/ 457200 h 3444732"/>
              <a:gd name="connsiteX2" fmla="*/ 1502229 w 2784022"/>
              <a:gd name="connsiteY2" fmla="*/ 2367642 h 3444732"/>
              <a:gd name="connsiteX3" fmla="*/ 2310493 w 2784022"/>
              <a:gd name="connsiteY3" fmla="*/ 3298371 h 3444732"/>
              <a:gd name="connsiteX4" fmla="*/ 2784022 w 2784022"/>
              <a:gd name="connsiteY4" fmla="*/ 3429000 h 3444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84022" h="3444732">
                <a:moveTo>
                  <a:pt x="0" y="0"/>
                </a:moveTo>
                <a:cubicBezTo>
                  <a:pt x="213632" y="31296"/>
                  <a:pt x="427265" y="62593"/>
                  <a:pt x="677636" y="457200"/>
                </a:cubicBezTo>
                <a:cubicBezTo>
                  <a:pt x="928007" y="851807"/>
                  <a:pt x="1230086" y="1894113"/>
                  <a:pt x="1502229" y="2367642"/>
                </a:cubicBezTo>
                <a:cubicBezTo>
                  <a:pt x="1774372" y="2841171"/>
                  <a:pt x="2096861" y="3121478"/>
                  <a:pt x="2310493" y="3298371"/>
                </a:cubicBezTo>
                <a:cubicBezTo>
                  <a:pt x="2524125" y="3475264"/>
                  <a:pt x="2654073" y="3452132"/>
                  <a:pt x="2784022" y="3429000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手繪多邊形 43"/>
          <p:cNvSpPr/>
          <p:nvPr/>
        </p:nvSpPr>
        <p:spPr>
          <a:xfrm>
            <a:off x="6359979" y="3053443"/>
            <a:ext cx="2857500" cy="1990156"/>
          </a:xfrm>
          <a:custGeom>
            <a:avLst/>
            <a:gdLst>
              <a:gd name="connsiteX0" fmla="*/ 0 w 2857500"/>
              <a:gd name="connsiteY0" fmla="*/ 0 h 1990156"/>
              <a:gd name="connsiteX1" fmla="*/ 1053193 w 2857500"/>
              <a:gd name="connsiteY1" fmla="*/ 710293 h 1990156"/>
              <a:gd name="connsiteX2" fmla="*/ 2057400 w 2857500"/>
              <a:gd name="connsiteY2" fmla="*/ 1820636 h 1990156"/>
              <a:gd name="connsiteX3" fmla="*/ 2857500 w 2857500"/>
              <a:gd name="connsiteY3" fmla="*/ 1967593 h 1990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7500" h="1990156">
                <a:moveTo>
                  <a:pt x="0" y="0"/>
                </a:moveTo>
                <a:cubicBezTo>
                  <a:pt x="355146" y="203427"/>
                  <a:pt x="710293" y="406854"/>
                  <a:pt x="1053193" y="710293"/>
                </a:cubicBezTo>
                <a:cubicBezTo>
                  <a:pt x="1396093" y="1013732"/>
                  <a:pt x="1756682" y="1611086"/>
                  <a:pt x="2057400" y="1820636"/>
                </a:cubicBezTo>
                <a:cubicBezTo>
                  <a:pt x="2358118" y="2030186"/>
                  <a:pt x="2607809" y="1998889"/>
                  <a:pt x="2857500" y="1967593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手繪多邊形 44"/>
          <p:cNvSpPr/>
          <p:nvPr/>
        </p:nvSpPr>
        <p:spPr>
          <a:xfrm>
            <a:off x="6400800" y="4653643"/>
            <a:ext cx="2800350" cy="555171"/>
          </a:xfrm>
          <a:custGeom>
            <a:avLst/>
            <a:gdLst>
              <a:gd name="connsiteX0" fmla="*/ 0 w 2800350"/>
              <a:gd name="connsiteY0" fmla="*/ 0 h 555171"/>
              <a:gd name="connsiteX1" fmla="*/ 1894114 w 2800350"/>
              <a:gd name="connsiteY1" fmla="*/ 424543 h 555171"/>
              <a:gd name="connsiteX2" fmla="*/ 2800350 w 2800350"/>
              <a:gd name="connsiteY2" fmla="*/ 555171 h 55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00350" h="555171">
                <a:moveTo>
                  <a:pt x="0" y="0"/>
                </a:moveTo>
                <a:lnTo>
                  <a:pt x="1894114" y="424543"/>
                </a:lnTo>
                <a:cubicBezTo>
                  <a:pt x="2360839" y="517072"/>
                  <a:pt x="2580594" y="536121"/>
                  <a:pt x="2800350" y="555171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手繪多邊形 46"/>
          <p:cNvSpPr/>
          <p:nvPr/>
        </p:nvSpPr>
        <p:spPr>
          <a:xfrm>
            <a:off x="6384472" y="5323114"/>
            <a:ext cx="2759528" cy="947057"/>
          </a:xfrm>
          <a:custGeom>
            <a:avLst/>
            <a:gdLst>
              <a:gd name="connsiteX0" fmla="*/ 0 w 2759528"/>
              <a:gd name="connsiteY0" fmla="*/ 947057 h 947057"/>
              <a:gd name="connsiteX1" fmla="*/ 1257300 w 2759528"/>
              <a:gd name="connsiteY1" fmla="*/ 449036 h 947057"/>
              <a:gd name="connsiteX2" fmla="*/ 2081892 w 2759528"/>
              <a:gd name="connsiteY2" fmla="*/ 171450 h 947057"/>
              <a:gd name="connsiteX3" fmla="*/ 2359478 w 2759528"/>
              <a:gd name="connsiteY3" fmla="*/ 40822 h 947057"/>
              <a:gd name="connsiteX4" fmla="*/ 2759528 w 2759528"/>
              <a:gd name="connsiteY4" fmla="*/ 0 h 947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59528" h="947057">
                <a:moveTo>
                  <a:pt x="0" y="947057"/>
                </a:moveTo>
                <a:lnTo>
                  <a:pt x="1257300" y="449036"/>
                </a:lnTo>
                <a:cubicBezTo>
                  <a:pt x="1604282" y="319768"/>
                  <a:pt x="1898196" y="239486"/>
                  <a:pt x="2081892" y="171450"/>
                </a:cubicBezTo>
                <a:cubicBezTo>
                  <a:pt x="2265588" y="103414"/>
                  <a:pt x="2246539" y="69397"/>
                  <a:pt x="2359478" y="40822"/>
                </a:cubicBezTo>
                <a:cubicBezTo>
                  <a:pt x="2472417" y="12247"/>
                  <a:pt x="2615972" y="6123"/>
                  <a:pt x="2759528" y="0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文字方塊 75"/>
          <p:cNvSpPr txBox="1"/>
          <p:nvPr/>
        </p:nvSpPr>
        <p:spPr>
          <a:xfrm>
            <a:off x="4831298" y="338414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endParaRPr lang="zh-TW" altLang="en-US" sz="2800" baseline="-250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4863667" y="1122633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4866660" y="2025649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endParaRPr lang="zh-TW" altLang="en-US" sz="2800" baseline="-25000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4866660" y="2801712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  <p:sp>
        <p:nvSpPr>
          <p:cNvPr id="85" name="文字方塊 84"/>
          <p:cNvSpPr txBox="1"/>
          <p:nvPr/>
        </p:nvSpPr>
        <p:spPr>
          <a:xfrm>
            <a:off x="4863667" y="3610287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4</a:t>
            </a:r>
            <a:endParaRPr lang="zh-TW" altLang="en-US" sz="2800" baseline="-25000" dirty="0"/>
          </a:p>
        </p:txBody>
      </p:sp>
      <p:sp>
        <p:nvSpPr>
          <p:cNvPr id="86" name="文字方塊 85"/>
          <p:cNvSpPr txBox="1"/>
          <p:nvPr/>
        </p:nvSpPr>
        <p:spPr>
          <a:xfrm>
            <a:off x="4865325" y="4411604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5</a:t>
            </a:r>
            <a:endParaRPr lang="zh-TW" altLang="en-US" sz="2800" baseline="-25000" dirty="0"/>
          </a:p>
        </p:txBody>
      </p:sp>
      <p:sp>
        <p:nvSpPr>
          <p:cNvPr id="87" name="文字方塊 86"/>
          <p:cNvSpPr txBox="1"/>
          <p:nvPr/>
        </p:nvSpPr>
        <p:spPr>
          <a:xfrm>
            <a:off x="4866943" y="5209880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6</a:t>
            </a:r>
            <a:endParaRPr lang="zh-TW" altLang="en-US" sz="2800" baseline="-25000" dirty="0"/>
          </a:p>
        </p:txBody>
      </p:sp>
      <p:sp>
        <p:nvSpPr>
          <p:cNvPr id="88" name="文字方塊 87"/>
          <p:cNvSpPr txBox="1"/>
          <p:nvPr/>
        </p:nvSpPr>
        <p:spPr>
          <a:xfrm>
            <a:off x="4866974" y="6017169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7</a:t>
            </a:r>
            <a:endParaRPr lang="zh-TW" altLang="en-US" sz="2800" baseline="-25000" dirty="0"/>
          </a:p>
        </p:txBody>
      </p:sp>
    </p:spTree>
    <p:extLst>
      <p:ext uri="{BB962C8B-B14F-4D97-AF65-F5344CB8AC3E}">
        <p14:creationId xmlns:p14="http://schemas.microsoft.com/office/powerpoint/2010/main" val="1671926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237341" y="4715708"/>
            <a:ext cx="4035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y = D</a:t>
            </a:r>
            <a:r>
              <a:rPr lang="en-US" altLang="zh-TW" sz="3200" b="1" baseline="-25000" dirty="0" smtClean="0">
                <a:solidFill>
                  <a:srgbClr val="C00000"/>
                </a:solidFill>
              </a:rPr>
              <a:t>2 </a:t>
            </a:r>
            <a:r>
              <a:rPr lang="en-US" altLang="zh-TW" sz="3200" b="1" dirty="0">
                <a:solidFill>
                  <a:srgbClr val="C00000"/>
                </a:solidFill>
              </a:rPr>
              <a:t>+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3200" b="1" dirty="0">
                <a:solidFill>
                  <a:srgbClr val="C00000"/>
                </a:solidFill>
              </a:rPr>
              <a:t> + D</a:t>
            </a:r>
            <a:r>
              <a:rPr lang="en-US" altLang="zh-TW" sz="3200" b="1" baseline="-25000" dirty="0">
                <a:solidFill>
                  <a:srgbClr val="C00000"/>
                </a:solidFill>
              </a:rPr>
              <a:t>6 </a:t>
            </a:r>
            <a:r>
              <a:rPr lang="en-US" altLang="zh-TW" sz="3200" b="1" dirty="0">
                <a:solidFill>
                  <a:srgbClr val="C00000"/>
                </a:solidFill>
              </a:rPr>
              <a:t>+ D</a:t>
            </a:r>
            <a:r>
              <a:rPr lang="en-US" altLang="zh-TW" sz="3200" b="1" baseline="-25000" dirty="0">
                <a:solidFill>
                  <a:srgbClr val="C00000"/>
                </a:solidFill>
              </a:rPr>
              <a:t>7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 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237341" y="4091626"/>
            <a:ext cx="4035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0000FF"/>
                </a:solidFill>
              </a:rPr>
              <a:t>x = 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4 </a:t>
            </a:r>
            <a:r>
              <a:rPr lang="en-US" altLang="zh-TW" sz="3200" b="1" dirty="0">
                <a:solidFill>
                  <a:srgbClr val="0000FF"/>
                </a:solidFill>
              </a:rPr>
              <a:t>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5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>
                <a:solidFill>
                  <a:srgbClr val="0000FF"/>
                </a:solidFill>
              </a:rPr>
              <a:t>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6 </a:t>
            </a:r>
            <a:r>
              <a:rPr lang="en-US" altLang="zh-TW" sz="3200" b="1" dirty="0">
                <a:solidFill>
                  <a:srgbClr val="0000FF"/>
                </a:solidFill>
              </a:rPr>
              <a:t>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7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 </a:t>
            </a:r>
            <a:endParaRPr lang="zh-TW" altLang="en-US" sz="3200" b="1" dirty="0">
              <a:solidFill>
                <a:srgbClr val="0000FF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237341" y="5339789"/>
            <a:ext cx="40142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z = D</a:t>
            </a:r>
            <a:r>
              <a:rPr lang="en-US" altLang="zh-TW" sz="3200" b="1" baseline="-25000" dirty="0" smtClean="0"/>
              <a:t>1 </a:t>
            </a:r>
            <a:r>
              <a:rPr lang="en-US" altLang="zh-TW" sz="3200" b="1" dirty="0"/>
              <a:t>+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3</a:t>
            </a:r>
            <a:r>
              <a:rPr lang="en-US" altLang="zh-TW" sz="3200" b="1" dirty="0"/>
              <a:t> +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5 </a:t>
            </a:r>
            <a:r>
              <a:rPr lang="en-US" altLang="zh-TW" sz="3200" b="1" dirty="0"/>
              <a:t>+ D</a:t>
            </a:r>
            <a:r>
              <a:rPr lang="en-US" altLang="zh-TW" sz="3200" b="1" baseline="-25000" dirty="0"/>
              <a:t>7</a:t>
            </a:r>
            <a:r>
              <a:rPr lang="en-US" altLang="zh-TW" sz="3200" b="1" dirty="0" smtClean="0"/>
              <a:t> </a:t>
            </a:r>
            <a:endParaRPr lang="zh-TW" altLang="en-US" sz="3200" b="1" dirty="0"/>
          </a:p>
        </p:txBody>
      </p:sp>
      <p:sp>
        <p:nvSpPr>
          <p:cNvPr id="7" name="矩形 6"/>
          <p:cNvSpPr/>
          <p:nvPr/>
        </p:nvSpPr>
        <p:spPr>
          <a:xfrm>
            <a:off x="1200171" y="879706"/>
            <a:ext cx="1409351" cy="27515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8-to-3 Encoder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8" name="直線接點 7"/>
          <p:cNvCxnSpPr/>
          <p:nvPr/>
        </p:nvCxnSpPr>
        <p:spPr>
          <a:xfrm>
            <a:off x="763944" y="1039097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763944" y="1384244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763944" y="1729391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763944" y="20745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763944" y="2419685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763944" y="2764832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763944" y="3109979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763944" y="3455126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2609522" y="1500492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2609522" y="2287260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2609521" y="3074027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237341" y="808264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237341" y="1153411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237341" y="149855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237341" y="1842042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237341" y="2134055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4</a:t>
            </a:r>
            <a:endParaRPr lang="zh-TW" altLang="en-US" sz="2400" baseline="-250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237341" y="2479202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5</a:t>
            </a:r>
            <a:endParaRPr lang="zh-TW" altLang="en-US" sz="2400" baseline="-25000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237341" y="2824349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6</a:t>
            </a:r>
            <a:endParaRPr lang="zh-TW" altLang="en-US" sz="2400" baseline="-250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237341" y="3167833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7</a:t>
            </a:r>
            <a:endParaRPr lang="zh-TW" altLang="en-US" sz="2400" baseline="-250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3102100" y="2824348"/>
            <a:ext cx="3193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z</a:t>
            </a:r>
            <a:endParaRPr lang="zh-TW" altLang="en-US" sz="24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87924" y="205642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3094887" y="123147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  <p:grpSp>
        <p:nvGrpSpPr>
          <p:cNvPr id="30" name="Group 4"/>
          <p:cNvGrpSpPr>
            <a:grpSpLocks noChangeAspect="1"/>
          </p:cNvGrpSpPr>
          <p:nvPr/>
        </p:nvGrpSpPr>
        <p:grpSpPr bwMode="auto">
          <a:xfrm>
            <a:off x="8794583" y="1498558"/>
            <a:ext cx="1495425" cy="793750"/>
            <a:chOff x="2347" y="1818"/>
            <a:chExt cx="942" cy="500"/>
          </a:xfrm>
        </p:grpSpPr>
        <p:sp>
          <p:nvSpPr>
            <p:cNvPr id="31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2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3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grpSp>
        <p:nvGrpSpPr>
          <p:cNvPr id="34" name="Group 4"/>
          <p:cNvGrpSpPr>
            <a:grpSpLocks noChangeAspect="1"/>
          </p:cNvGrpSpPr>
          <p:nvPr/>
        </p:nvGrpSpPr>
        <p:grpSpPr bwMode="auto">
          <a:xfrm>
            <a:off x="8794585" y="3085574"/>
            <a:ext cx="1495425" cy="793750"/>
            <a:chOff x="2347" y="1818"/>
            <a:chExt cx="942" cy="500"/>
          </a:xfrm>
        </p:grpSpPr>
        <p:sp>
          <p:nvSpPr>
            <p:cNvPr id="35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6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7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grpSp>
        <p:nvGrpSpPr>
          <p:cNvPr id="38" name="Group 4"/>
          <p:cNvGrpSpPr>
            <a:grpSpLocks noChangeAspect="1"/>
          </p:cNvGrpSpPr>
          <p:nvPr/>
        </p:nvGrpSpPr>
        <p:grpSpPr bwMode="auto">
          <a:xfrm>
            <a:off x="8794584" y="4672589"/>
            <a:ext cx="1495425" cy="793750"/>
            <a:chOff x="2347" y="1818"/>
            <a:chExt cx="942" cy="500"/>
          </a:xfrm>
        </p:grpSpPr>
        <p:sp>
          <p:nvSpPr>
            <p:cNvPr id="39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40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41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sp>
        <p:nvSpPr>
          <p:cNvPr id="46" name="矩形 45"/>
          <p:cNvSpPr/>
          <p:nvPr/>
        </p:nvSpPr>
        <p:spPr>
          <a:xfrm>
            <a:off x="6319158" y="389437"/>
            <a:ext cx="4245428" cy="6131378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8" name="直線接點 47"/>
          <p:cNvCxnSpPr/>
          <p:nvPr/>
        </p:nvCxnSpPr>
        <p:spPr>
          <a:xfrm>
            <a:off x="6106886" y="653142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6106886" y="1456536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6106886" y="2259930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6106886" y="3063324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6106886" y="3866718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6106886" y="4670112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6106886" y="5473506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6106886" y="6276898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字方塊 55"/>
          <p:cNvSpPr txBox="1"/>
          <p:nvPr/>
        </p:nvSpPr>
        <p:spPr>
          <a:xfrm>
            <a:off x="5541999" y="338414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5574368" y="1122633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5577361" y="2025649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5577361" y="2801712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5574368" y="3610287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1</a:t>
            </a:r>
            <a:endParaRPr lang="zh-TW" altLang="en-US" sz="2800" baseline="-250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5576026" y="4411604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62" name="文字方塊 61"/>
          <p:cNvSpPr txBox="1"/>
          <p:nvPr/>
        </p:nvSpPr>
        <p:spPr>
          <a:xfrm>
            <a:off x="5577644" y="5209880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63" name="文字方塊 62"/>
          <p:cNvSpPr txBox="1"/>
          <p:nvPr/>
        </p:nvSpPr>
        <p:spPr>
          <a:xfrm>
            <a:off x="5577675" y="6017169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cxnSp>
        <p:nvCxnSpPr>
          <p:cNvPr id="67" name="直線接點 66"/>
          <p:cNvCxnSpPr/>
          <p:nvPr/>
        </p:nvCxnSpPr>
        <p:spPr>
          <a:xfrm>
            <a:off x="10007434" y="1906545"/>
            <a:ext cx="7286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/>
          <p:cNvCxnSpPr/>
          <p:nvPr/>
        </p:nvCxnSpPr>
        <p:spPr>
          <a:xfrm>
            <a:off x="10007434" y="3482449"/>
            <a:ext cx="7286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9994197" y="5080576"/>
            <a:ext cx="7286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字方塊 70"/>
          <p:cNvSpPr txBox="1"/>
          <p:nvPr/>
        </p:nvSpPr>
        <p:spPr>
          <a:xfrm>
            <a:off x="10877510" y="4789107"/>
            <a:ext cx="276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dirty="0"/>
          </a:p>
        </p:txBody>
      </p:sp>
      <p:sp>
        <p:nvSpPr>
          <p:cNvPr id="72" name="文字方塊 71"/>
          <p:cNvSpPr txBox="1"/>
          <p:nvPr/>
        </p:nvSpPr>
        <p:spPr>
          <a:xfrm>
            <a:off x="10858274" y="3163657"/>
            <a:ext cx="294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dirty="0"/>
          </a:p>
        </p:txBody>
      </p:sp>
      <p:sp>
        <p:nvSpPr>
          <p:cNvPr id="73" name="文字方塊 72"/>
          <p:cNvSpPr txBox="1"/>
          <p:nvPr/>
        </p:nvSpPr>
        <p:spPr>
          <a:xfrm>
            <a:off x="10858274" y="1615076"/>
            <a:ext cx="294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1</a:t>
            </a:r>
            <a:endParaRPr lang="zh-TW" altLang="en-US" sz="2800" dirty="0"/>
          </a:p>
        </p:txBody>
      </p:sp>
      <p:sp>
        <p:nvSpPr>
          <p:cNvPr id="75" name="手繪多邊形 74"/>
          <p:cNvSpPr/>
          <p:nvPr/>
        </p:nvSpPr>
        <p:spPr>
          <a:xfrm>
            <a:off x="6384472" y="1627563"/>
            <a:ext cx="2751364" cy="2234144"/>
          </a:xfrm>
          <a:custGeom>
            <a:avLst/>
            <a:gdLst>
              <a:gd name="connsiteX0" fmla="*/ 0 w 2751364"/>
              <a:gd name="connsiteY0" fmla="*/ 2234144 h 2234144"/>
              <a:gd name="connsiteX1" fmla="*/ 898071 w 2751364"/>
              <a:gd name="connsiteY1" fmla="*/ 1776944 h 2234144"/>
              <a:gd name="connsiteX2" fmla="*/ 2024742 w 2751364"/>
              <a:gd name="connsiteY2" fmla="*/ 274716 h 2234144"/>
              <a:gd name="connsiteX3" fmla="*/ 2751364 w 2751364"/>
              <a:gd name="connsiteY3" fmla="*/ 5294 h 2234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1364" h="2234144">
                <a:moveTo>
                  <a:pt x="0" y="2234144"/>
                </a:moveTo>
                <a:cubicBezTo>
                  <a:pt x="280307" y="2168829"/>
                  <a:pt x="560614" y="2103515"/>
                  <a:pt x="898071" y="1776944"/>
                </a:cubicBezTo>
                <a:cubicBezTo>
                  <a:pt x="1235528" y="1450373"/>
                  <a:pt x="1715860" y="569991"/>
                  <a:pt x="2024742" y="274716"/>
                </a:cubicBezTo>
                <a:cubicBezTo>
                  <a:pt x="2333624" y="-20559"/>
                  <a:pt x="2542494" y="-7633"/>
                  <a:pt x="2751364" y="5294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手繪多邊形 78"/>
          <p:cNvSpPr/>
          <p:nvPr/>
        </p:nvSpPr>
        <p:spPr>
          <a:xfrm>
            <a:off x="6376307" y="1753043"/>
            <a:ext cx="2833007" cy="2928266"/>
          </a:xfrm>
          <a:custGeom>
            <a:avLst/>
            <a:gdLst>
              <a:gd name="connsiteX0" fmla="*/ 0 w 2833007"/>
              <a:gd name="connsiteY0" fmla="*/ 2916928 h 2928266"/>
              <a:gd name="connsiteX1" fmla="*/ 563336 w 2833007"/>
              <a:gd name="connsiteY1" fmla="*/ 2533207 h 2928266"/>
              <a:gd name="connsiteX2" fmla="*/ 2114550 w 2833007"/>
              <a:gd name="connsiteY2" fmla="*/ 320686 h 2928266"/>
              <a:gd name="connsiteX3" fmla="*/ 2833007 w 2833007"/>
              <a:gd name="connsiteY3" fmla="*/ 59428 h 2928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3007" h="2928266">
                <a:moveTo>
                  <a:pt x="0" y="2916928"/>
                </a:moveTo>
                <a:cubicBezTo>
                  <a:pt x="105455" y="2941421"/>
                  <a:pt x="210911" y="2965914"/>
                  <a:pt x="563336" y="2533207"/>
                </a:cubicBezTo>
                <a:cubicBezTo>
                  <a:pt x="915761" y="2100500"/>
                  <a:pt x="1736271" y="732983"/>
                  <a:pt x="2114550" y="320686"/>
                </a:cubicBezTo>
                <a:cubicBezTo>
                  <a:pt x="2492829" y="-91611"/>
                  <a:pt x="2662918" y="-16092"/>
                  <a:pt x="2833007" y="59428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手繪多邊形 79"/>
          <p:cNvSpPr/>
          <p:nvPr/>
        </p:nvSpPr>
        <p:spPr>
          <a:xfrm>
            <a:off x="6392636" y="1915962"/>
            <a:ext cx="2808514" cy="3545945"/>
          </a:xfrm>
          <a:custGeom>
            <a:avLst/>
            <a:gdLst>
              <a:gd name="connsiteX0" fmla="*/ 0 w 2808514"/>
              <a:gd name="connsiteY0" fmla="*/ 3545945 h 3545945"/>
              <a:gd name="connsiteX1" fmla="*/ 718457 w 2808514"/>
              <a:gd name="connsiteY1" fmla="*/ 2754009 h 3545945"/>
              <a:gd name="connsiteX2" fmla="*/ 2171700 w 2808514"/>
              <a:gd name="connsiteY2" fmla="*/ 345545 h 3545945"/>
              <a:gd name="connsiteX3" fmla="*/ 2808514 w 2808514"/>
              <a:gd name="connsiteY3" fmla="*/ 67959 h 3545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8514" h="3545945">
                <a:moveTo>
                  <a:pt x="0" y="3545945"/>
                </a:moveTo>
                <a:cubicBezTo>
                  <a:pt x="178253" y="3416677"/>
                  <a:pt x="356507" y="3287409"/>
                  <a:pt x="718457" y="2754009"/>
                </a:cubicBezTo>
                <a:cubicBezTo>
                  <a:pt x="1080407" y="2220609"/>
                  <a:pt x="1823357" y="793220"/>
                  <a:pt x="2171700" y="345545"/>
                </a:cubicBezTo>
                <a:cubicBezTo>
                  <a:pt x="2520043" y="-102130"/>
                  <a:pt x="2664278" y="-17086"/>
                  <a:pt x="2808514" y="67959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手繪多邊形 80"/>
          <p:cNvSpPr/>
          <p:nvPr/>
        </p:nvSpPr>
        <p:spPr>
          <a:xfrm>
            <a:off x="6368143" y="2050768"/>
            <a:ext cx="2751364" cy="4219403"/>
          </a:xfrm>
          <a:custGeom>
            <a:avLst/>
            <a:gdLst>
              <a:gd name="connsiteX0" fmla="*/ 0 w 2751364"/>
              <a:gd name="connsiteY0" fmla="*/ 4219403 h 4219403"/>
              <a:gd name="connsiteX1" fmla="*/ 832757 w 2751364"/>
              <a:gd name="connsiteY1" fmla="*/ 3247853 h 4219403"/>
              <a:gd name="connsiteX2" fmla="*/ 2318657 w 2751364"/>
              <a:gd name="connsiteY2" fmla="*/ 357696 h 4219403"/>
              <a:gd name="connsiteX3" fmla="*/ 2751364 w 2751364"/>
              <a:gd name="connsiteY3" fmla="*/ 145425 h 4219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1364" h="4219403">
                <a:moveTo>
                  <a:pt x="0" y="4219403"/>
                </a:moveTo>
                <a:cubicBezTo>
                  <a:pt x="223157" y="4055437"/>
                  <a:pt x="446314" y="3891471"/>
                  <a:pt x="832757" y="3247853"/>
                </a:cubicBezTo>
                <a:cubicBezTo>
                  <a:pt x="1219200" y="2604235"/>
                  <a:pt x="1998889" y="874767"/>
                  <a:pt x="2318657" y="357696"/>
                </a:cubicBezTo>
                <a:cubicBezTo>
                  <a:pt x="2638425" y="-159375"/>
                  <a:pt x="2694894" y="-6975"/>
                  <a:pt x="2751364" y="145425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2" name="手繪多邊形 81"/>
          <p:cNvSpPr/>
          <p:nvPr/>
        </p:nvSpPr>
        <p:spPr>
          <a:xfrm>
            <a:off x="6392636" y="2253343"/>
            <a:ext cx="2759528" cy="1041787"/>
          </a:xfrm>
          <a:custGeom>
            <a:avLst/>
            <a:gdLst>
              <a:gd name="connsiteX0" fmla="*/ 0 w 2759528"/>
              <a:gd name="connsiteY0" fmla="*/ 0 h 1041787"/>
              <a:gd name="connsiteX1" fmla="*/ 775607 w 2759528"/>
              <a:gd name="connsiteY1" fmla="*/ 269421 h 1041787"/>
              <a:gd name="connsiteX2" fmla="*/ 2188028 w 2759528"/>
              <a:gd name="connsiteY2" fmla="*/ 963386 h 1041787"/>
              <a:gd name="connsiteX3" fmla="*/ 2759528 w 2759528"/>
              <a:gd name="connsiteY3" fmla="*/ 996043 h 104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9528" h="1041787">
                <a:moveTo>
                  <a:pt x="0" y="0"/>
                </a:moveTo>
                <a:cubicBezTo>
                  <a:pt x="205468" y="54428"/>
                  <a:pt x="410936" y="108857"/>
                  <a:pt x="775607" y="269421"/>
                </a:cubicBezTo>
                <a:cubicBezTo>
                  <a:pt x="1140278" y="429985"/>
                  <a:pt x="1857374" y="842282"/>
                  <a:pt x="2188028" y="963386"/>
                </a:cubicBezTo>
                <a:cubicBezTo>
                  <a:pt x="2518682" y="1084490"/>
                  <a:pt x="2639105" y="1040266"/>
                  <a:pt x="2759528" y="996043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手繪多邊形 82"/>
          <p:cNvSpPr/>
          <p:nvPr/>
        </p:nvSpPr>
        <p:spPr>
          <a:xfrm>
            <a:off x="6376307" y="3053443"/>
            <a:ext cx="2833007" cy="411394"/>
          </a:xfrm>
          <a:custGeom>
            <a:avLst/>
            <a:gdLst>
              <a:gd name="connsiteX0" fmla="*/ 0 w 2808514"/>
              <a:gd name="connsiteY0" fmla="*/ 0 h 411394"/>
              <a:gd name="connsiteX1" fmla="*/ 1053193 w 2808514"/>
              <a:gd name="connsiteY1" fmla="*/ 383721 h 411394"/>
              <a:gd name="connsiteX2" fmla="*/ 2808514 w 2808514"/>
              <a:gd name="connsiteY2" fmla="*/ 351064 h 411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08514" h="411394">
                <a:moveTo>
                  <a:pt x="0" y="0"/>
                </a:moveTo>
                <a:cubicBezTo>
                  <a:pt x="292553" y="162605"/>
                  <a:pt x="585107" y="325210"/>
                  <a:pt x="1053193" y="383721"/>
                </a:cubicBezTo>
                <a:cubicBezTo>
                  <a:pt x="1521279" y="442232"/>
                  <a:pt x="2164896" y="396648"/>
                  <a:pt x="2808514" y="351064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手繪多邊形 2"/>
          <p:cNvSpPr/>
          <p:nvPr/>
        </p:nvSpPr>
        <p:spPr>
          <a:xfrm>
            <a:off x="6376307" y="3693274"/>
            <a:ext cx="2784022" cy="2568733"/>
          </a:xfrm>
          <a:custGeom>
            <a:avLst/>
            <a:gdLst>
              <a:gd name="connsiteX0" fmla="*/ 0 w 2784022"/>
              <a:gd name="connsiteY0" fmla="*/ 2568733 h 2568733"/>
              <a:gd name="connsiteX1" fmla="*/ 1453243 w 2784022"/>
              <a:gd name="connsiteY1" fmla="*/ 1376747 h 2568733"/>
              <a:gd name="connsiteX2" fmla="*/ 2261507 w 2784022"/>
              <a:gd name="connsiteY2" fmla="*/ 339883 h 2568733"/>
              <a:gd name="connsiteX3" fmla="*/ 2612572 w 2784022"/>
              <a:gd name="connsiteY3" fmla="*/ 45969 h 2568733"/>
              <a:gd name="connsiteX4" fmla="*/ 2784022 w 2784022"/>
              <a:gd name="connsiteY4" fmla="*/ 5147 h 2568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84022" h="2568733">
                <a:moveTo>
                  <a:pt x="0" y="2568733"/>
                </a:moveTo>
                <a:cubicBezTo>
                  <a:pt x="538162" y="2158477"/>
                  <a:pt x="1076325" y="1748222"/>
                  <a:pt x="1453243" y="1376747"/>
                </a:cubicBezTo>
                <a:cubicBezTo>
                  <a:pt x="1830161" y="1005272"/>
                  <a:pt x="2068286" y="561679"/>
                  <a:pt x="2261507" y="339883"/>
                </a:cubicBezTo>
                <a:cubicBezTo>
                  <a:pt x="2454729" y="118087"/>
                  <a:pt x="2525486" y="101758"/>
                  <a:pt x="2612572" y="45969"/>
                </a:cubicBezTo>
                <a:cubicBezTo>
                  <a:pt x="2699658" y="-9820"/>
                  <a:pt x="2741840" y="-2337"/>
                  <a:pt x="2784022" y="5147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手繪多邊形 41"/>
          <p:cNvSpPr/>
          <p:nvPr/>
        </p:nvSpPr>
        <p:spPr>
          <a:xfrm>
            <a:off x="6368143" y="3540230"/>
            <a:ext cx="2841171" cy="1929841"/>
          </a:xfrm>
          <a:custGeom>
            <a:avLst/>
            <a:gdLst>
              <a:gd name="connsiteX0" fmla="*/ 0 w 2841171"/>
              <a:gd name="connsiteY0" fmla="*/ 1929841 h 1929841"/>
              <a:gd name="connsiteX1" fmla="*/ 1485900 w 2841171"/>
              <a:gd name="connsiteY1" fmla="*/ 901141 h 1929841"/>
              <a:gd name="connsiteX2" fmla="*/ 1983921 w 2841171"/>
              <a:gd name="connsiteY2" fmla="*/ 345970 h 1929841"/>
              <a:gd name="connsiteX3" fmla="*/ 2563586 w 2841171"/>
              <a:gd name="connsiteY3" fmla="*/ 35727 h 1929841"/>
              <a:gd name="connsiteX4" fmla="*/ 2841171 w 2841171"/>
              <a:gd name="connsiteY4" fmla="*/ 19399 h 1929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41171" h="1929841">
                <a:moveTo>
                  <a:pt x="0" y="1929841"/>
                </a:moveTo>
                <a:cubicBezTo>
                  <a:pt x="577623" y="1547480"/>
                  <a:pt x="1155247" y="1165119"/>
                  <a:pt x="1485900" y="901141"/>
                </a:cubicBezTo>
                <a:cubicBezTo>
                  <a:pt x="1816553" y="637163"/>
                  <a:pt x="1804307" y="490206"/>
                  <a:pt x="1983921" y="345970"/>
                </a:cubicBezTo>
                <a:cubicBezTo>
                  <a:pt x="2163535" y="201734"/>
                  <a:pt x="2420711" y="90155"/>
                  <a:pt x="2563586" y="35727"/>
                </a:cubicBezTo>
                <a:cubicBezTo>
                  <a:pt x="2706461" y="-18701"/>
                  <a:pt x="2773816" y="349"/>
                  <a:pt x="2841171" y="19399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手繪多邊形 42"/>
          <p:cNvSpPr/>
          <p:nvPr/>
        </p:nvSpPr>
        <p:spPr>
          <a:xfrm>
            <a:off x="6376307" y="1445079"/>
            <a:ext cx="2784022" cy="3444732"/>
          </a:xfrm>
          <a:custGeom>
            <a:avLst/>
            <a:gdLst>
              <a:gd name="connsiteX0" fmla="*/ 0 w 2784022"/>
              <a:gd name="connsiteY0" fmla="*/ 0 h 3444732"/>
              <a:gd name="connsiteX1" fmla="*/ 677636 w 2784022"/>
              <a:gd name="connsiteY1" fmla="*/ 457200 h 3444732"/>
              <a:gd name="connsiteX2" fmla="*/ 1502229 w 2784022"/>
              <a:gd name="connsiteY2" fmla="*/ 2367642 h 3444732"/>
              <a:gd name="connsiteX3" fmla="*/ 2310493 w 2784022"/>
              <a:gd name="connsiteY3" fmla="*/ 3298371 h 3444732"/>
              <a:gd name="connsiteX4" fmla="*/ 2784022 w 2784022"/>
              <a:gd name="connsiteY4" fmla="*/ 3429000 h 3444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84022" h="3444732">
                <a:moveTo>
                  <a:pt x="0" y="0"/>
                </a:moveTo>
                <a:cubicBezTo>
                  <a:pt x="213632" y="31296"/>
                  <a:pt x="427265" y="62593"/>
                  <a:pt x="677636" y="457200"/>
                </a:cubicBezTo>
                <a:cubicBezTo>
                  <a:pt x="928007" y="851807"/>
                  <a:pt x="1230086" y="1894113"/>
                  <a:pt x="1502229" y="2367642"/>
                </a:cubicBezTo>
                <a:cubicBezTo>
                  <a:pt x="1774372" y="2841171"/>
                  <a:pt x="2096861" y="3121478"/>
                  <a:pt x="2310493" y="3298371"/>
                </a:cubicBezTo>
                <a:cubicBezTo>
                  <a:pt x="2524125" y="3475264"/>
                  <a:pt x="2654073" y="3452132"/>
                  <a:pt x="2784022" y="3429000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手繪多邊形 43"/>
          <p:cNvSpPr/>
          <p:nvPr/>
        </p:nvSpPr>
        <p:spPr>
          <a:xfrm>
            <a:off x="6359979" y="3053443"/>
            <a:ext cx="2857500" cy="1990156"/>
          </a:xfrm>
          <a:custGeom>
            <a:avLst/>
            <a:gdLst>
              <a:gd name="connsiteX0" fmla="*/ 0 w 2857500"/>
              <a:gd name="connsiteY0" fmla="*/ 0 h 1990156"/>
              <a:gd name="connsiteX1" fmla="*/ 1053193 w 2857500"/>
              <a:gd name="connsiteY1" fmla="*/ 710293 h 1990156"/>
              <a:gd name="connsiteX2" fmla="*/ 2057400 w 2857500"/>
              <a:gd name="connsiteY2" fmla="*/ 1820636 h 1990156"/>
              <a:gd name="connsiteX3" fmla="*/ 2857500 w 2857500"/>
              <a:gd name="connsiteY3" fmla="*/ 1967593 h 1990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7500" h="1990156">
                <a:moveTo>
                  <a:pt x="0" y="0"/>
                </a:moveTo>
                <a:cubicBezTo>
                  <a:pt x="355146" y="203427"/>
                  <a:pt x="710293" y="406854"/>
                  <a:pt x="1053193" y="710293"/>
                </a:cubicBezTo>
                <a:cubicBezTo>
                  <a:pt x="1396093" y="1013732"/>
                  <a:pt x="1756682" y="1611086"/>
                  <a:pt x="2057400" y="1820636"/>
                </a:cubicBezTo>
                <a:cubicBezTo>
                  <a:pt x="2358118" y="2030186"/>
                  <a:pt x="2607809" y="1998889"/>
                  <a:pt x="2857500" y="1967593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手繪多邊形 44"/>
          <p:cNvSpPr/>
          <p:nvPr/>
        </p:nvSpPr>
        <p:spPr>
          <a:xfrm>
            <a:off x="6400800" y="4653643"/>
            <a:ext cx="2800350" cy="555171"/>
          </a:xfrm>
          <a:custGeom>
            <a:avLst/>
            <a:gdLst>
              <a:gd name="connsiteX0" fmla="*/ 0 w 2800350"/>
              <a:gd name="connsiteY0" fmla="*/ 0 h 555171"/>
              <a:gd name="connsiteX1" fmla="*/ 1894114 w 2800350"/>
              <a:gd name="connsiteY1" fmla="*/ 424543 h 555171"/>
              <a:gd name="connsiteX2" fmla="*/ 2800350 w 2800350"/>
              <a:gd name="connsiteY2" fmla="*/ 555171 h 55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00350" h="555171">
                <a:moveTo>
                  <a:pt x="0" y="0"/>
                </a:moveTo>
                <a:lnTo>
                  <a:pt x="1894114" y="424543"/>
                </a:lnTo>
                <a:cubicBezTo>
                  <a:pt x="2360839" y="517072"/>
                  <a:pt x="2580594" y="536121"/>
                  <a:pt x="2800350" y="555171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手繪多邊形 46"/>
          <p:cNvSpPr/>
          <p:nvPr/>
        </p:nvSpPr>
        <p:spPr>
          <a:xfrm>
            <a:off x="6384472" y="5323114"/>
            <a:ext cx="2759528" cy="947057"/>
          </a:xfrm>
          <a:custGeom>
            <a:avLst/>
            <a:gdLst>
              <a:gd name="connsiteX0" fmla="*/ 0 w 2759528"/>
              <a:gd name="connsiteY0" fmla="*/ 947057 h 947057"/>
              <a:gd name="connsiteX1" fmla="*/ 1257300 w 2759528"/>
              <a:gd name="connsiteY1" fmla="*/ 449036 h 947057"/>
              <a:gd name="connsiteX2" fmla="*/ 2081892 w 2759528"/>
              <a:gd name="connsiteY2" fmla="*/ 171450 h 947057"/>
              <a:gd name="connsiteX3" fmla="*/ 2359478 w 2759528"/>
              <a:gd name="connsiteY3" fmla="*/ 40822 h 947057"/>
              <a:gd name="connsiteX4" fmla="*/ 2759528 w 2759528"/>
              <a:gd name="connsiteY4" fmla="*/ 0 h 947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59528" h="947057">
                <a:moveTo>
                  <a:pt x="0" y="947057"/>
                </a:moveTo>
                <a:lnTo>
                  <a:pt x="1257300" y="449036"/>
                </a:lnTo>
                <a:cubicBezTo>
                  <a:pt x="1604282" y="319768"/>
                  <a:pt x="1898196" y="239486"/>
                  <a:pt x="2081892" y="171450"/>
                </a:cubicBezTo>
                <a:cubicBezTo>
                  <a:pt x="2265588" y="103414"/>
                  <a:pt x="2246539" y="69397"/>
                  <a:pt x="2359478" y="40822"/>
                </a:cubicBezTo>
                <a:cubicBezTo>
                  <a:pt x="2472417" y="12247"/>
                  <a:pt x="2615972" y="6123"/>
                  <a:pt x="2759528" y="0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文字方塊 75"/>
          <p:cNvSpPr txBox="1"/>
          <p:nvPr/>
        </p:nvSpPr>
        <p:spPr>
          <a:xfrm>
            <a:off x="4831298" y="338414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endParaRPr lang="zh-TW" altLang="en-US" sz="2800" baseline="-250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4863667" y="1122633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4866660" y="2025649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endParaRPr lang="zh-TW" altLang="en-US" sz="2800" baseline="-25000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4866660" y="2801712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  <p:sp>
        <p:nvSpPr>
          <p:cNvPr id="85" name="文字方塊 84"/>
          <p:cNvSpPr txBox="1"/>
          <p:nvPr/>
        </p:nvSpPr>
        <p:spPr>
          <a:xfrm>
            <a:off x="4863667" y="3610287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4</a:t>
            </a:r>
            <a:endParaRPr lang="zh-TW" altLang="en-US" sz="2800" baseline="-25000" dirty="0"/>
          </a:p>
        </p:txBody>
      </p:sp>
      <p:sp>
        <p:nvSpPr>
          <p:cNvPr id="86" name="文字方塊 85"/>
          <p:cNvSpPr txBox="1"/>
          <p:nvPr/>
        </p:nvSpPr>
        <p:spPr>
          <a:xfrm>
            <a:off x="4865325" y="4411604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5</a:t>
            </a:r>
            <a:endParaRPr lang="zh-TW" altLang="en-US" sz="2800" baseline="-25000" dirty="0"/>
          </a:p>
        </p:txBody>
      </p:sp>
      <p:sp>
        <p:nvSpPr>
          <p:cNvPr id="87" name="文字方塊 86"/>
          <p:cNvSpPr txBox="1"/>
          <p:nvPr/>
        </p:nvSpPr>
        <p:spPr>
          <a:xfrm>
            <a:off x="4866943" y="5209880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6</a:t>
            </a:r>
            <a:endParaRPr lang="zh-TW" altLang="en-US" sz="2800" baseline="-25000" dirty="0"/>
          </a:p>
        </p:txBody>
      </p:sp>
      <p:sp>
        <p:nvSpPr>
          <p:cNvPr id="88" name="文字方塊 87"/>
          <p:cNvSpPr txBox="1"/>
          <p:nvPr/>
        </p:nvSpPr>
        <p:spPr>
          <a:xfrm>
            <a:off x="4866974" y="6017169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7</a:t>
            </a:r>
            <a:endParaRPr lang="zh-TW" altLang="en-US" sz="2800" baseline="-25000" dirty="0"/>
          </a:p>
        </p:txBody>
      </p:sp>
    </p:spTree>
    <p:extLst>
      <p:ext uri="{BB962C8B-B14F-4D97-AF65-F5344CB8AC3E}">
        <p14:creationId xmlns:p14="http://schemas.microsoft.com/office/powerpoint/2010/main" val="879599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237341" y="4715708"/>
            <a:ext cx="4035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y = D</a:t>
            </a:r>
            <a:r>
              <a:rPr lang="en-US" altLang="zh-TW" sz="3200" b="1" baseline="-25000" dirty="0" smtClean="0">
                <a:solidFill>
                  <a:srgbClr val="C00000"/>
                </a:solidFill>
              </a:rPr>
              <a:t>2 </a:t>
            </a:r>
            <a:r>
              <a:rPr lang="en-US" altLang="zh-TW" sz="3200" b="1" dirty="0">
                <a:solidFill>
                  <a:srgbClr val="C00000"/>
                </a:solidFill>
              </a:rPr>
              <a:t>+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3200" b="1" dirty="0">
                <a:solidFill>
                  <a:srgbClr val="C00000"/>
                </a:solidFill>
              </a:rPr>
              <a:t> + D</a:t>
            </a:r>
            <a:r>
              <a:rPr lang="en-US" altLang="zh-TW" sz="3200" b="1" baseline="-25000" dirty="0">
                <a:solidFill>
                  <a:srgbClr val="C00000"/>
                </a:solidFill>
              </a:rPr>
              <a:t>6 </a:t>
            </a:r>
            <a:r>
              <a:rPr lang="en-US" altLang="zh-TW" sz="3200" b="1" dirty="0">
                <a:solidFill>
                  <a:srgbClr val="C00000"/>
                </a:solidFill>
              </a:rPr>
              <a:t>+ D</a:t>
            </a:r>
            <a:r>
              <a:rPr lang="en-US" altLang="zh-TW" sz="3200" b="1" baseline="-25000" dirty="0">
                <a:solidFill>
                  <a:srgbClr val="C00000"/>
                </a:solidFill>
              </a:rPr>
              <a:t>7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 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237341" y="4091626"/>
            <a:ext cx="4035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0000FF"/>
                </a:solidFill>
              </a:rPr>
              <a:t>x = 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4 </a:t>
            </a:r>
            <a:r>
              <a:rPr lang="en-US" altLang="zh-TW" sz="3200" b="1" dirty="0">
                <a:solidFill>
                  <a:srgbClr val="0000FF"/>
                </a:solidFill>
              </a:rPr>
              <a:t>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5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>
                <a:solidFill>
                  <a:srgbClr val="0000FF"/>
                </a:solidFill>
              </a:rPr>
              <a:t>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6 </a:t>
            </a:r>
            <a:r>
              <a:rPr lang="en-US" altLang="zh-TW" sz="3200" b="1" dirty="0">
                <a:solidFill>
                  <a:srgbClr val="0000FF"/>
                </a:solidFill>
              </a:rPr>
              <a:t>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7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 </a:t>
            </a:r>
            <a:endParaRPr lang="zh-TW" altLang="en-US" sz="3200" b="1" dirty="0">
              <a:solidFill>
                <a:srgbClr val="0000FF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237341" y="5339789"/>
            <a:ext cx="40142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z = D</a:t>
            </a:r>
            <a:r>
              <a:rPr lang="en-US" altLang="zh-TW" sz="3200" b="1" baseline="-25000" dirty="0" smtClean="0"/>
              <a:t>1 </a:t>
            </a:r>
            <a:r>
              <a:rPr lang="en-US" altLang="zh-TW" sz="3200" b="1" dirty="0"/>
              <a:t>+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3</a:t>
            </a:r>
            <a:r>
              <a:rPr lang="en-US" altLang="zh-TW" sz="3200" b="1" dirty="0"/>
              <a:t> +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5 </a:t>
            </a:r>
            <a:r>
              <a:rPr lang="en-US" altLang="zh-TW" sz="3200" b="1" dirty="0"/>
              <a:t>+ D</a:t>
            </a:r>
            <a:r>
              <a:rPr lang="en-US" altLang="zh-TW" sz="3200" b="1" baseline="-25000" dirty="0"/>
              <a:t>7</a:t>
            </a:r>
            <a:r>
              <a:rPr lang="en-US" altLang="zh-TW" sz="3200" b="1" dirty="0" smtClean="0"/>
              <a:t> </a:t>
            </a:r>
            <a:endParaRPr lang="zh-TW" altLang="en-US" sz="3200" b="1" dirty="0"/>
          </a:p>
        </p:txBody>
      </p:sp>
      <p:sp>
        <p:nvSpPr>
          <p:cNvPr id="7" name="矩形 6"/>
          <p:cNvSpPr/>
          <p:nvPr/>
        </p:nvSpPr>
        <p:spPr>
          <a:xfrm>
            <a:off x="1200171" y="879706"/>
            <a:ext cx="1409351" cy="27515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8-to-3 Encoder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8" name="直線接點 7"/>
          <p:cNvCxnSpPr/>
          <p:nvPr/>
        </p:nvCxnSpPr>
        <p:spPr>
          <a:xfrm>
            <a:off x="763944" y="1039097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763944" y="1384244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763944" y="1729391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763944" y="20745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763944" y="2419685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763944" y="2764832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763944" y="3109979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763944" y="3455126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2609522" y="1500492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2609522" y="2287260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2609521" y="3074027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237341" y="808264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237341" y="1153411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237341" y="149855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237341" y="1842042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237341" y="2134055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4</a:t>
            </a:r>
            <a:endParaRPr lang="zh-TW" altLang="en-US" sz="2400" baseline="-250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237341" y="2479202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5</a:t>
            </a:r>
            <a:endParaRPr lang="zh-TW" altLang="en-US" sz="2400" baseline="-25000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237341" y="2824349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6</a:t>
            </a:r>
            <a:endParaRPr lang="zh-TW" altLang="en-US" sz="2400" baseline="-250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237341" y="3167833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7</a:t>
            </a:r>
            <a:endParaRPr lang="zh-TW" altLang="en-US" sz="2400" baseline="-250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3102100" y="2824348"/>
            <a:ext cx="3193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z</a:t>
            </a:r>
            <a:endParaRPr lang="zh-TW" altLang="en-US" sz="24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87924" y="205642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3094887" y="123147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  <p:grpSp>
        <p:nvGrpSpPr>
          <p:cNvPr id="30" name="Group 4"/>
          <p:cNvGrpSpPr>
            <a:grpSpLocks noChangeAspect="1"/>
          </p:cNvGrpSpPr>
          <p:nvPr/>
        </p:nvGrpSpPr>
        <p:grpSpPr bwMode="auto">
          <a:xfrm>
            <a:off x="8794583" y="1498558"/>
            <a:ext cx="1495425" cy="793750"/>
            <a:chOff x="2347" y="1818"/>
            <a:chExt cx="942" cy="500"/>
          </a:xfrm>
        </p:grpSpPr>
        <p:sp>
          <p:nvSpPr>
            <p:cNvPr id="31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2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3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grpSp>
        <p:nvGrpSpPr>
          <p:cNvPr id="34" name="Group 4"/>
          <p:cNvGrpSpPr>
            <a:grpSpLocks noChangeAspect="1"/>
          </p:cNvGrpSpPr>
          <p:nvPr/>
        </p:nvGrpSpPr>
        <p:grpSpPr bwMode="auto">
          <a:xfrm>
            <a:off x="8794585" y="3085574"/>
            <a:ext cx="1495425" cy="793750"/>
            <a:chOff x="2347" y="1818"/>
            <a:chExt cx="942" cy="500"/>
          </a:xfrm>
        </p:grpSpPr>
        <p:sp>
          <p:nvSpPr>
            <p:cNvPr id="35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6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7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grpSp>
        <p:nvGrpSpPr>
          <p:cNvPr id="38" name="Group 4"/>
          <p:cNvGrpSpPr>
            <a:grpSpLocks noChangeAspect="1"/>
          </p:cNvGrpSpPr>
          <p:nvPr/>
        </p:nvGrpSpPr>
        <p:grpSpPr bwMode="auto">
          <a:xfrm>
            <a:off x="8794584" y="4672589"/>
            <a:ext cx="1495425" cy="793750"/>
            <a:chOff x="2347" y="1818"/>
            <a:chExt cx="942" cy="500"/>
          </a:xfrm>
        </p:grpSpPr>
        <p:sp>
          <p:nvSpPr>
            <p:cNvPr id="39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40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41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sp>
        <p:nvSpPr>
          <p:cNvPr id="46" name="矩形 45"/>
          <p:cNvSpPr/>
          <p:nvPr/>
        </p:nvSpPr>
        <p:spPr>
          <a:xfrm>
            <a:off x="6319158" y="389437"/>
            <a:ext cx="4245428" cy="6131378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8" name="直線接點 47"/>
          <p:cNvCxnSpPr/>
          <p:nvPr/>
        </p:nvCxnSpPr>
        <p:spPr>
          <a:xfrm>
            <a:off x="6106886" y="653142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6106886" y="1456536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6106886" y="2259930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6106886" y="3063324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6106886" y="3866718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6106886" y="4670112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6106886" y="5473506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6106886" y="6276898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字方塊 55"/>
          <p:cNvSpPr txBox="1"/>
          <p:nvPr/>
        </p:nvSpPr>
        <p:spPr>
          <a:xfrm>
            <a:off x="5541999" y="338414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5574368" y="1122633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5577361" y="2025649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5577361" y="2801712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5574368" y="3610287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5576026" y="4411604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1</a:t>
            </a:r>
            <a:endParaRPr lang="zh-TW" altLang="en-US" sz="2800" baseline="-25000" dirty="0"/>
          </a:p>
        </p:txBody>
      </p:sp>
      <p:sp>
        <p:nvSpPr>
          <p:cNvPr id="62" name="文字方塊 61"/>
          <p:cNvSpPr txBox="1"/>
          <p:nvPr/>
        </p:nvSpPr>
        <p:spPr>
          <a:xfrm>
            <a:off x="5577644" y="5209880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63" name="文字方塊 62"/>
          <p:cNvSpPr txBox="1"/>
          <p:nvPr/>
        </p:nvSpPr>
        <p:spPr>
          <a:xfrm>
            <a:off x="5577675" y="6017169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cxnSp>
        <p:nvCxnSpPr>
          <p:cNvPr id="67" name="直線接點 66"/>
          <p:cNvCxnSpPr/>
          <p:nvPr/>
        </p:nvCxnSpPr>
        <p:spPr>
          <a:xfrm>
            <a:off x="10007434" y="1906545"/>
            <a:ext cx="7286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/>
          <p:cNvCxnSpPr/>
          <p:nvPr/>
        </p:nvCxnSpPr>
        <p:spPr>
          <a:xfrm>
            <a:off x="10007434" y="3482449"/>
            <a:ext cx="7286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9994197" y="5080576"/>
            <a:ext cx="7286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字方塊 70"/>
          <p:cNvSpPr txBox="1"/>
          <p:nvPr/>
        </p:nvSpPr>
        <p:spPr>
          <a:xfrm>
            <a:off x="10877510" y="4789107"/>
            <a:ext cx="276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1</a:t>
            </a:r>
            <a:endParaRPr lang="zh-TW" altLang="en-US" sz="2800" dirty="0"/>
          </a:p>
        </p:txBody>
      </p:sp>
      <p:sp>
        <p:nvSpPr>
          <p:cNvPr id="72" name="文字方塊 71"/>
          <p:cNvSpPr txBox="1"/>
          <p:nvPr/>
        </p:nvSpPr>
        <p:spPr>
          <a:xfrm>
            <a:off x="10858274" y="3163657"/>
            <a:ext cx="294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dirty="0"/>
          </a:p>
        </p:txBody>
      </p:sp>
      <p:sp>
        <p:nvSpPr>
          <p:cNvPr id="73" name="文字方塊 72"/>
          <p:cNvSpPr txBox="1"/>
          <p:nvPr/>
        </p:nvSpPr>
        <p:spPr>
          <a:xfrm>
            <a:off x="10858274" y="1615076"/>
            <a:ext cx="294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1</a:t>
            </a:r>
            <a:endParaRPr lang="zh-TW" altLang="en-US" sz="2800" dirty="0"/>
          </a:p>
        </p:txBody>
      </p:sp>
      <p:sp>
        <p:nvSpPr>
          <p:cNvPr id="75" name="手繪多邊形 74"/>
          <p:cNvSpPr/>
          <p:nvPr/>
        </p:nvSpPr>
        <p:spPr>
          <a:xfrm>
            <a:off x="6384472" y="1627563"/>
            <a:ext cx="2751364" cy="2234144"/>
          </a:xfrm>
          <a:custGeom>
            <a:avLst/>
            <a:gdLst>
              <a:gd name="connsiteX0" fmla="*/ 0 w 2751364"/>
              <a:gd name="connsiteY0" fmla="*/ 2234144 h 2234144"/>
              <a:gd name="connsiteX1" fmla="*/ 898071 w 2751364"/>
              <a:gd name="connsiteY1" fmla="*/ 1776944 h 2234144"/>
              <a:gd name="connsiteX2" fmla="*/ 2024742 w 2751364"/>
              <a:gd name="connsiteY2" fmla="*/ 274716 h 2234144"/>
              <a:gd name="connsiteX3" fmla="*/ 2751364 w 2751364"/>
              <a:gd name="connsiteY3" fmla="*/ 5294 h 2234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1364" h="2234144">
                <a:moveTo>
                  <a:pt x="0" y="2234144"/>
                </a:moveTo>
                <a:cubicBezTo>
                  <a:pt x="280307" y="2168829"/>
                  <a:pt x="560614" y="2103515"/>
                  <a:pt x="898071" y="1776944"/>
                </a:cubicBezTo>
                <a:cubicBezTo>
                  <a:pt x="1235528" y="1450373"/>
                  <a:pt x="1715860" y="569991"/>
                  <a:pt x="2024742" y="274716"/>
                </a:cubicBezTo>
                <a:cubicBezTo>
                  <a:pt x="2333624" y="-20559"/>
                  <a:pt x="2542494" y="-7633"/>
                  <a:pt x="2751364" y="5294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手繪多邊形 78"/>
          <p:cNvSpPr/>
          <p:nvPr/>
        </p:nvSpPr>
        <p:spPr>
          <a:xfrm>
            <a:off x="6376307" y="1753043"/>
            <a:ext cx="2833007" cy="2928266"/>
          </a:xfrm>
          <a:custGeom>
            <a:avLst/>
            <a:gdLst>
              <a:gd name="connsiteX0" fmla="*/ 0 w 2833007"/>
              <a:gd name="connsiteY0" fmla="*/ 2916928 h 2928266"/>
              <a:gd name="connsiteX1" fmla="*/ 563336 w 2833007"/>
              <a:gd name="connsiteY1" fmla="*/ 2533207 h 2928266"/>
              <a:gd name="connsiteX2" fmla="*/ 2114550 w 2833007"/>
              <a:gd name="connsiteY2" fmla="*/ 320686 h 2928266"/>
              <a:gd name="connsiteX3" fmla="*/ 2833007 w 2833007"/>
              <a:gd name="connsiteY3" fmla="*/ 59428 h 2928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3007" h="2928266">
                <a:moveTo>
                  <a:pt x="0" y="2916928"/>
                </a:moveTo>
                <a:cubicBezTo>
                  <a:pt x="105455" y="2941421"/>
                  <a:pt x="210911" y="2965914"/>
                  <a:pt x="563336" y="2533207"/>
                </a:cubicBezTo>
                <a:cubicBezTo>
                  <a:pt x="915761" y="2100500"/>
                  <a:pt x="1736271" y="732983"/>
                  <a:pt x="2114550" y="320686"/>
                </a:cubicBezTo>
                <a:cubicBezTo>
                  <a:pt x="2492829" y="-91611"/>
                  <a:pt x="2662918" y="-16092"/>
                  <a:pt x="2833007" y="59428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手繪多邊形 79"/>
          <p:cNvSpPr/>
          <p:nvPr/>
        </p:nvSpPr>
        <p:spPr>
          <a:xfrm>
            <a:off x="6392636" y="1915962"/>
            <a:ext cx="2808514" cy="3545945"/>
          </a:xfrm>
          <a:custGeom>
            <a:avLst/>
            <a:gdLst>
              <a:gd name="connsiteX0" fmla="*/ 0 w 2808514"/>
              <a:gd name="connsiteY0" fmla="*/ 3545945 h 3545945"/>
              <a:gd name="connsiteX1" fmla="*/ 718457 w 2808514"/>
              <a:gd name="connsiteY1" fmla="*/ 2754009 h 3545945"/>
              <a:gd name="connsiteX2" fmla="*/ 2171700 w 2808514"/>
              <a:gd name="connsiteY2" fmla="*/ 345545 h 3545945"/>
              <a:gd name="connsiteX3" fmla="*/ 2808514 w 2808514"/>
              <a:gd name="connsiteY3" fmla="*/ 67959 h 3545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8514" h="3545945">
                <a:moveTo>
                  <a:pt x="0" y="3545945"/>
                </a:moveTo>
                <a:cubicBezTo>
                  <a:pt x="178253" y="3416677"/>
                  <a:pt x="356507" y="3287409"/>
                  <a:pt x="718457" y="2754009"/>
                </a:cubicBezTo>
                <a:cubicBezTo>
                  <a:pt x="1080407" y="2220609"/>
                  <a:pt x="1823357" y="793220"/>
                  <a:pt x="2171700" y="345545"/>
                </a:cubicBezTo>
                <a:cubicBezTo>
                  <a:pt x="2520043" y="-102130"/>
                  <a:pt x="2664278" y="-17086"/>
                  <a:pt x="2808514" y="67959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手繪多邊形 80"/>
          <p:cNvSpPr/>
          <p:nvPr/>
        </p:nvSpPr>
        <p:spPr>
          <a:xfrm>
            <a:off x="6368143" y="2050768"/>
            <a:ext cx="2751364" cy="4219403"/>
          </a:xfrm>
          <a:custGeom>
            <a:avLst/>
            <a:gdLst>
              <a:gd name="connsiteX0" fmla="*/ 0 w 2751364"/>
              <a:gd name="connsiteY0" fmla="*/ 4219403 h 4219403"/>
              <a:gd name="connsiteX1" fmla="*/ 832757 w 2751364"/>
              <a:gd name="connsiteY1" fmla="*/ 3247853 h 4219403"/>
              <a:gd name="connsiteX2" fmla="*/ 2318657 w 2751364"/>
              <a:gd name="connsiteY2" fmla="*/ 357696 h 4219403"/>
              <a:gd name="connsiteX3" fmla="*/ 2751364 w 2751364"/>
              <a:gd name="connsiteY3" fmla="*/ 145425 h 4219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1364" h="4219403">
                <a:moveTo>
                  <a:pt x="0" y="4219403"/>
                </a:moveTo>
                <a:cubicBezTo>
                  <a:pt x="223157" y="4055437"/>
                  <a:pt x="446314" y="3891471"/>
                  <a:pt x="832757" y="3247853"/>
                </a:cubicBezTo>
                <a:cubicBezTo>
                  <a:pt x="1219200" y="2604235"/>
                  <a:pt x="1998889" y="874767"/>
                  <a:pt x="2318657" y="357696"/>
                </a:cubicBezTo>
                <a:cubicBezTo>
                  <a:pt x="2638425" y="-159375"/>
                  <a:pt x="2694894" y="-6975"/>
                  <a:pt x="2751364" y="145425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2" name="手繪多邊形 81"/>
          <p:cNvSpPr/>
          <p:nvPr/>
        </p:nvSpPr>
        <p:spPr>
          <a:xfrm>
            <a:off x="6392636" y="2253343"/>
            <a:ext cx="2759528" cy="1041787"/>
          </a:xfrm>
          <a:custGeom>
            <a:avLst/>
            <a:gdLst>
              <a:gd name="connsiteX0" fmla="*/ 0 w 2759528"/>
              <a:gd name="connsiteY0" fmla="*/ 0 h 1041787"/>
              <a:gd name="connsiteX1" fmla="*/ 775607 w 2759528"/>
              <a:gd name="connsiteY1" fmla="*/ 269421 h 1041787"/>
              <a:gd name="connsiteX2" fmla="*/ 2188028 w 2759528"/>
              <a:gd name="connsiteY2" fmla="*/ 963386 h 1041787"/>
              <a:gd name="connsiteX3" fmla="*/ 2759528 w 2759528"/>
              <a:gd name="connsiteY3" fmla="*/ 996043 h 104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9528" h="1041787">
                <a:moveTo>
                  <a:pt x="0" y="0"/>
                </a:moveTo>
                <a:cubicBezTo>
                  <a:pt x="205468" y="54428"/>
                  <a:pt x="410936" y="108857"/>
                  <a:pt x="775607" y="269421"/>
                </a:cubicBezTo>
                <a:cubicBezTo>
                  <a:pt x="1140278" y="429985"/>
                  <a:pt x="1857374" y="842282"/>
                  <a:pt x="2188028" y="963386"/>
                </a:cubicBezTo>
                <a:cubicBezTo>
                  <a:pt x="2518682" y="1084490"/>
                  <a:pt x="2639105" y="1040266"/>
                  <a:pt x="2759528" y="996043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手繪多邊形 82"/>
          <p:cNvSpPr/>
          <p:nvPr/>
        </p:nvSpPr>
        <p:spPr>
          <a:xfrm>
            <a:off x="6376307" y="3053443"/>
            <a:ext cx="2833007" cy="411394"/>
          </a:xfrm>
          <a:custGeom>
            <a:avLst/>
            <a:gdLst>
              <a:gd name="connsiteX0" fmla="*/ 0 w 2808514"/>
              <a:gd name="connsiteY0" fmla="*/ 0 h 411394"/>
              <a:gd name="connsiteX1" fmla="*/ 1053193 w 2808514"/>
              <a:gd name="connsiteY1" fmla="*/ 383721 h 411394"/>
              <a:gd name="connsiteX2" fmla="*/ 2808514 w 2808514"/>
              <a:gd name="connsiteY2" fmla="*/ 351064 h 411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08514" h="411394">
                <a:moveTo>
                  <a:pt x="0" y="0"/>
                </a:moveTo>
                <a:cubicBezTo>
                  <a:pt x="292553" y="162605"/>
                  <a:pt x="585107" y="325210"/>
                  <a:pt x="1053193" y="383721"/>
                </a:cubicBezTo>
                <a:cubicBezTo>
                  <a:pt x="1521279" y="442232"/>
                  <a:pt x="2164896" y="396648"/>
                  <a:pt x="2808514" y="351064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手繪多邊形 2"/>
          <p:cNvSpPr/>
          <p:nvPr/>
        </p:nvSpPr>
        <p:spPr>
          <a:xfrm>
            <a:off x="6376307" y="3693274"/>
            <a:ext cx="2784022" cy="2568733"/>
          </a:xfrm>
          <a:custGeom>
            <a:avLst/>
            <a:gdLst>
              <a:gd name="connsiteX0" fmla="*/ 0 w 2784022"/>
              <a:gd name="connsiteY0" fmla="*/ 2568733 h 2568733"/>
              <a:gd name="connsiteX1" fmla="*/ 1453243 w 2784022"/>
              <a:gd name="connsiteY1" fmla="*/ 1376747 h 2568733"/>
              <a:gd name="connsiteX2" fmla="*/ 2261507 w 2784022"/>
              <a:gd name="connsiteY2" fmla="*/ 339883 h 2568733"/>
              <a:gd name="connsiteX3" fmla="*/ 2612572 w 2784022"/>
              <a:gd name="connsiteY3" fmla="*/ 45969 h 2568733"/>
              <a:gd name="connsiteX4" fmla="*/ 2784022 w 2784022"/>
              <a:gd name="connsiteY4" fmla="*/ 5147 h 2568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84022" h="2568733">
                <a:moveTo>
                  <a:pt x="0" y="2568733"/>
                </a:moveTo>
                <a:cubicBezTo>
                  <a:pt x="538162" y="2158477"/>
                  <a:pt x="1076325" y="1748222"/>
                  <a:pt x="1453243" y="1376747"/>
                </a:cubicBezTo>
                <a:cubicBezTo>
                  <a:pt x="1830161" y="1005272"/>
                  <a:pt x="2068286" y="561679"/>
                  <a:pt x="2261507" y="339883"/>
                </a:cubicBezTo>
                <a:cubicBezTo>
                  <a:pt x="2454729" y="118087"/>
                  <a:pt x="2525486" y="101758"/>
                  <a:pt x="2612572" y="45969"/>
                </a:cubicBezTo>
                <a:cubicBezTo>
                  <a:pt x="2699658" y="-9820"/>
                  <a:pt x="2741840" y="-2337"/>
                  <a:pt x="2784022" y="5147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手繪多邊形 41"/>
          <p:cNvSpPr/>
          <p:nvPr/>
        </p:nvSpPr>
        <p:spPr>
          <a:xfrm>
            <a:off x="6368143" y="3540230"/>
            <a:ext cx="2841171" cy="1929841"/>
          </a:xfrm>
          <a:custGeom>
            <a:avLst/>
            <a:gdLst>
              <a:gd name="connsiteX0" fmla="*/ 0 w 2841171"/>
              <a:gd name="connsiteY0" fmla="*/ 1929841 h 1929841"/>
              <a:gd name="connsiteX1" fmla="*/ 1485900 w 2841171"/>
              <a:gd name="connsiteY1" fmla="*/ 901141 h 1929841"/>
              <a:gd name="connsiteX2" fmla="*/ 1983921 w 2841171"/>
              <a:gd name="connsiteY2" fmla="*/ 345970 h 1929841"/>
              <a:gd name="connsiteX3" fmla="*/ 2563586 w 2841171"/>
              <a:gd name="connsiteY3" fmla="*/ 35727 h 1929841"/>
              <a:gd name="connsiteX4" fmla="*/ 2841171 w 2841171"/>
              <a:gd name="connsiteY4" fmla="*/ 19399 h 1929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41171" h="1929841">
                <a:moveTo>
                  <a:pt x="0" y="1929841"/>
                </a:moveTo>
                <a:cubicBezTo>
                  <a:pt x="577623" y="1547480"/>
                  <a:pt x="1155247" y="1165119"/>
                  <a:pt x="1485900" y="901141"/>
                </a:cubicBezTo>
                <a:cubicBezTo>
                  <a:pt x="1816553" y="637163"/>
                  <a:pt x="1804307" y="490206"/>
                  <a:pt x="1983921" y="345970"/>
                </a:cubicBezTo>
                <a:cubicBezTo>
                  <a:pt x="2163535" y="201734"/>
                  <a:pt x="2420711" y="90155"/>
                  <a:pt x="2563586" y="35727"/>
                </a:cubicBezTo>
                <a:cubicBezTo>
                  <a:pt x="2706461" y="-18701"/>
                  <a:pt x="2773816" y="349"/>
                  <a:pt x="2841171" y="19399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手繪多邊形 42"/>
          <p:cNvSpPr/>
          <p:nvPr/>
        </p:nvSpPr>
        <p:spPr>
          <a:xfrm>
            <a:off x="6376307" y="1445079"/>
            <a:ext cx="2784022" cy="3444732"/>
          </a:xfrm>
          <a:custGeom>
            <a:avLst/>
            <a:gdLst>
              <a:gd name="connsiteX0" fmla="*/ 0 w 2784022"/>
              <a:gd name="connsiteY0" fmla="*/ 0 h 3444732"/>
              <a:gd name="connsiteX1" fmla="*/ 677636 w 2784022"/>
              <a:gd name="connsiteY1" fmla="*/ 457200 h 3444732"/>
              <a:gd name="connsiteX2" fmla="*/ 1502229 w 2784022"/>
              <a:gd name="connsiteY2" fmla="*/ 2367642 h 3444732"/>
              <a:gd name="connsiteX3" fmla="*/ 2310493 w 2784022"/>
              <a:gd name="connsiteY3" fmla="*/ 3298371 h 3444732"/>
              <a:gd name="connsiteX4" fmla="*/ 2784022 w 2784022"/>
              <a:gd name="connsiteY4" fmla="*/ 3429000 h 3444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84022" h="3444732">
                <a:moveTo>
                  <a:pt x="0" y="0"/>
                </a:moveTo>
                <a:cubicBezTo>
                  <a:pt x="213632" y="31296"/>
                  <a:pt x="427265" y="62593"/>
                  <a:pt x="677636" y="457200"/>
                </a:cubicBezTo>
                <a:cubicBezTo>
                  <a:pt x="928007" y="851807"/>
                  <a:pt x="1230086" y="1894113"/>
                  <a:pt x="1502229" y="2367642"/>
                </a:cubicBezTo>
                <a:cubicBezTo>
                  <a:pt x="1774372" y="2841171"/>
                  <a:pt x="2096861" y="3121478"/>
                  <a:pt x="2310493" y="3298371"/>
                </a:cubicBezTo>
                <a:cubicBezTo>
                  <a:pt x="2524125" y="3475264"/>
                  <a:pt x="2654073" y="3452132"/>
                  <a:pt x="2784022" y="3429000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手繪多邊形 43"/>
          <p:cNvSpPr/>
          <p:nvPr/>
        </p:nvSpPr>
        <p:spPr>
          <a:xfrm>
            <a:off x="6359979" y="3053443"/>
            <a:ext cx="2857500" cy="1990156"/>
          </a:xfrm>
          <a:custGeom>
            <a:avLst/>
            <a:gdLst>
              <a:gd name="connsiteX0" fmla="*/ 0 w 2857500"/>
              <a:gd name="connsiteY0" fmla="*/ 0 h 1990156"/>
              <a:gd name="connsiteX1" fmla="*/ 1053193 w 2857500"/>
              <a:gd name="connsiteY1" fmla="*/ 710293 h 1990156"/>
              <a:gd name="connsiteX2" fmla="*/ 2057400 w 2857500"/>
              <a:gd name="connsiteY2" fmla="*/ 1820636 h 1990156"/>
              <a:gd name="connsiteX3" fmla="*/ 2857500 w 2857500"/>
              <a:gd name="connsiteY3" fmla="*/ 1967593 h 1990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7500" h="1990156">
                <a:moveTo>
                  <a:pt x="0" y="0"/>
                </a:moveTo>
                <a:cubicBezTo>
                  <a:pt x="355146" y="203427"/>
                  <a:pt x="710293" y="406854"/>
                  <a:pt x="1053193" y="710293"/>
                </a:cubicBezTo>
                <a:cubicBezTo>
                  <a:pt x="1396093" y="1013732"/>
                  <a:pt x="1756682" y="1611086"/>
                  <a:pt x="2057400" y="1820636"/>
                </a:cubicBezTo>
                <a:cubicBezTo>
                  <a:pt x="2358118" y="2030186"/>
                  <a:pt x="2607809" y="1998889"/>
                  <a:pt x="2857500" y="1967593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手繪多邊形 44"/>
          <p:cNvSpPr/>
          <p:nvPr/>
        </p:nvSpPr>
        <p:spPr>
          <a:xfrm>
            <a:off x="6400800" y="4653643"/>
            <a:ext cx="2800350" cy="555171"/>
          </a:xfrm>
          <a:custGeom>
            <a:avLst/>
            <a:gdLst>
              <a:gd name="connsiteX0" fmla="*/ 0 w 2800350"/>
              <a:gd name="connsiteY0" fmla="*/ 0 h 555171"/>
              <a:gd name="connsiteX1" fmla="*/ 1894114 w 2800350"/>
              <a:gd name="connsiteY1" fmla="*/ 424543 h 555171"/>
              <a:gd name="connsiteX2" fmla="*/ 2800350 w 2800350"/>
              <a:gd name="connsiteY2" fmla="*/ 555171 h 55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00350" h="555171">
                <a:moveTo>
                  <a:pt x="0" y="0"/>
                </a:moveTo>
                <a:lnTo>
                  <a:pt x="1894114" y="424543"/>
                </a:lnTo>
                <a:cubicBezTo>
                  <a:pt x="2360839" y="517072"/>
                  <a:pt x="2580594" y="536121"/>
                  <a:pt x="2800350" y="555171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手繪多邊形 46"/>
          <p:cNvSpPr/>
          <p:nvPr/>
        </p:nvSpPr>
        <p:spPr>
          <a:xfrm>
            <a:off x="6384472" y="5323114"/>
            <a:ext cx="2759528" cy="947057"/>
          </a:xfrm>
          <a:custGeom>
            <a:avLst/>
            <a:gdLst>
              <a:gd name="connsiteX0" fmla="*/ 0 w 2759528"/>
              <a:gd name="connsiteY0" fmla="*/ 947057 h 947057"/>
              <a:gd name="connsiteX1" fmla="*/ 1257300 w 2759528"/>
              <a:gd name="connsiteY1" fmla="*/ 449036 h 947057"/>
              <a:gd name="connsiteX2" fmla="*/ 2081892 w 2759528"/>
              <a:gd name="connsiteY2" fmla="*/ 171450 h 947057"/>
              <a:gd name="connsiteX3" fmla="*/ 2359478 w 2759528"/>
              <a:gd name="connsiteY3" fmla="*/ 40822 h 947057"/>
              <a:gd name="connsiteX4" fmla="*/ 2759528 w 2759528"/>
              <a:gd name="connsiteY4" fmla="*/ 0 h 947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59528" h="947057">
                <a:moveTo>
                  <a:pt x="0" y="947057"/>
                </a:moveTo>
                <a:lnTo>
                  <a:pt x="1257300" y="449036"/>
                </a:lnTo>
                <a:cubicBezTo>
                  <a:pt x="1604282" y="319768"/>
                  <a:pt x="1898196" y="239486"/>
                  <a:pt x="2081892" y="171450"/>
                </a:cubicBezTo>
                <a:cubicBezTo>
                  <a:pt x="2265588" y="103414"/>
                  <a:pt x="2246539" y="69397"/>
                  <a:pt x="2359478" y="40822"/>
                </a:cubicBezTo>
                <a:cubicBezTo>
                  <a:pt x="2472417" y="12247"/>
                  <a:pt x="2615972" y="6123"/>
                  <a:pt x="2759528" y="0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文字方塊 75"/>
          <p:cNvSpPr txBox="1"/>
          <p:nvPr/>
        </p:nvSpPr>
        <p:spPr>
          <a:xfrm>
            <a:off x="4831298" y="338414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endParaRPr lang="zh-TW" altLang="en-US" sz="2800" baseline="-250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4863667" y="1122633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4866660" y="2025649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endParaRPr lang="zh-TW" altLang="en-US" sz="2800" baseline="-25000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4866660" y="2801712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  <p:sp>
        <p:nvSpPr>
          <p:cNvPr id="85" name="文字方塊 84"/>
          <p:cNvSpPr txBox="1"/>
          <p:nvPr/>
        </p:nvSpPr>
        <p:spPr>
          <a:xfrm>
            <a:off x="4863667" y="3610287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4</a:t>
            </a:r>
            <a:endParaRPr lang="zh-TW" altLang="en-US" sz="2800" baseline="-25000" dirty="0"/>
          </a:p>
        </p:txBody>
      </p:sp>
      <p:sp>
        <p:nvSpPr>
          <p:cNvPr id="86" name="文字方塊 85"/>
          <p:cNvSpPr txBox="1"/>
          <p:nvPr/>
        </p:nvSpPr>
        <p:spPr>
          <a:xfrm>
            <a:off x="4865325" y="4411604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5</a:t>
            </a:r>
            <a:endParaRPr lang="zh-TW" altLang="en-US" sz="2800" baseline="-25000" dirty="0"/>
          </a:p>
        </p:txBody>
      </p:sp>
      <p:sp>
        <p:nvSpPr>
          <p:cNvPr id="87" name="文字方塊 86"/>
          <p:cNvSpPr txBox="1"/>
          <p:nvPr/>
        </p:nvSpPr>
        <p:spPr>
          <a:xfrm>
            <a:off x="4866943" y="5209880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6</a:t>
            </a:r>
            <a:endParaRPr lang="zh-TW" altLang="en-US" sz="2800" baseline="-25000" dirty="0"/>
          </a:p>
        </p:txBody>
      </p:sp>
      <p:sp>
        <p:nvSpPr>
          <p:cNvPr id="88" name="文字方塊 87"/>
          <p:cNvSpPr txBox="1"/>
          <p:nvPr/>
        </p:nvSpPr>
        <p:spPr>
          <a:xfrm>
            <a:off x="4866974" y="6017169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7</a:t>
            </a:r>
            <a:endParaRPr lang="zh-TW" altLang="en-US" sz="2800" baseline="-25000" dirty="0"/>
          </a:p>
        </p:txBody>
      </p:sp>
    </p:spTree>
    <p:extLst>
      <p:ext uri="{BB962C8B-B14F-4D97-AF65-F5344CB8AC3E}">
        <p14:creationId xmlns:p14="http://schemas.microsoft.com/office/powerpoint/2010/main" val="3358270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237341" y="4715708"/>
            <a:ext cx="4035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y = D</a:t>
            </a:r>
            <a:r>
              <a:rPr lang="en-US" altLang="zh-TW" sz="3200" b="1" baseline="-25000" dirty="0" smtClean="0">
                <a:solidFill>
                  <a:srgbClr val="C00000"/>
                </a:solidFill>
              </a:rPr>
              <a:t>2 </a:t>
            </a:r>
            <a:r>
              <a:rPr lang="en-US" altLang="zh-TW" sz="3200" b="1" dirty="0">
                <a:solidFill>
                  <a:srgbClr val="C00000"/>
                </a:solidFill>
              </a:rPr>
              <a:t>+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3200" b="1" dirty="0">
                <a:solidFill>
                  <a:srgbClr val="C00000"/>
                </a:solidFill>
              </a:rPr>
              <a:t> + D</a:t>
            </a:r>
            <a:r>
              <a:rPr lang="en-US" altLang="zh-TW" sz="3200" b="1" baseline="-25000" dirty="0">
                <a:solidFill>
                  <a:srgbClr val="C00000"/>
                </a:solidFill>
              </a:rPr>
              <a:t>6 </a:t>
            </a:r>
            <a:r>
              <a:rPr lang="en-US" altLang="zh-TW" sz="3200" b="1" dirty="0">
                <a:solidFill>
                  <a:srgbClr val="C00000"/>
                </a:solidFill>
              </a:rPr>
              <a:t>+ D</a:t>
            </a:r>
            <a:r>
              <a:rPr lang="en-US" altLang="zh-TW" sz="3200" b="1" baseline="-25000" dirty="0">
                <a:solidFill>
                  <a:srgbClr val="C00000"/>
                </a:solidFill>
              </a:rPr>
              <a:t>7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 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237341" y="4091626"/>
            <a:ext cx="4035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0000FF"/>
                </a:solidFill>
              </a:rPr>
              <a:t>x = 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4 </a:t>
            </a:r>
            <a:r>
              <a:rPr lang="en-US" altLang="zh-TW" sz="3200" b="1" dirty="0">
                <a:solidFill>
                  <a:srgbClr val="0000FF"/>
                </a:solidFill>
              </a:rPr>
              <a:t>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5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>
                <a:solidFill>
                  <a:srgbClr val="0000FF"/>
                </a:solidFill>
              </a:rPr>
              <a:t>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6 </a:t>
            </a:r>
            <a:r>
              <a:rPr lang="en-US" altLang="zh-TW" sz="3200" b="1" dirty="0">
                <a:solidFill>
                  <a:srgbClr val="0000FF"/>
                </a:solidFill>
              </a:rPr>
              <a:t>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7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 </a:t>
            </a:r>
            <a:endParaRPr lang="zh-TW" altLang="en-US" sz="3200" b="1" dirty="0">
              <a:solidFill>
                <a:srgbClr val="0000FF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237341" y="5339789"/>
            <a:ext cx="40142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z = D</a:t>
            </a:r>
            <a:r>
              <a:rPr lang="en-US" altLang="zh-TW" sz="3200" b="1" baseline="-25000" dirty="0" smtClean="0"/>
              <a:t>1 </a:t>
            </a:r>
            <a:r>
              <a:rPr lang="en-US" altLang="zh-TW" sz="3200" b="1" dirty="0"/>
              <a:t>+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3</a:t>
            </a:r>
            <a:r>
              <a:rPr lang="en-US" altLang="zh-TW" sz="3200" b="1" dirty="0"/>
              <a:t> +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5 </a:t>
            </a:r>
            <a:r>
              <a:rPr lang="en-US" altLang="zh-TW" sz="3200" b="1" dirty="0"/>
              <a:t>+ D</a:t>
            </a:r>
            <a:r>
              <a:rPr lang="en-US" altLang="zh-TW" sz="3200" b="1" baseline="-25000" dirty="0"/>
              <a:t>7</a:t>
            </a:r>
            <a:r>
              <a:rPr lang="en-US" altLang="zh-TW" sz="3200" b="1" dirty="0" smtClean="0"/>
              <a:t> </a:t>
            </a:r>
            <a:endParaRPr lang="zh-TW" altLang="en-US" sz="3200" b="1" dirty="0"/>
          </a:p>
        </p:txBody>
      </p:sp>
      <p:sp>
        <p:nvSpPr>
          <p:cNvPr id="7" name="矩形 6"/>
          <p:cNvSpPr/>
          <p:nvPr/>
        </p:nvSpPr>
        <p:spPr>
          <a:xfrm>
            <a:off x="1200171" y="879706"/>
            <a:ext cx="1409351" cy="27515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8-to-3 Encoder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8" name="直線接點 7"/>
          <p:cNvCxnSpPr/>
          <p:nvPr/>
        </p:nvCxnSpPr>
        <p:spPr>
          <a:xfrm>
            <a:off x="763944" y="1039097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763944" y="1384244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763944" y="1729391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763944" y="20745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763944" y="2419685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763944" y="2764832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763944" y="3109979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763944" y="3455126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2609522" y="1500492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2609522" y="2287260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2609521" y="3074027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237341" y="808264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237341" y="1153411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237341" y="149855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237341" y="1842042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237341" y="2134055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4</a:t>
            </a:r>
            <a:endParaRPr lang="zh-TW" altLang="en-US" sz="2400" baseline="-250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237341" y="2479202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5</a:t>
            </a:r>
            <a:endParaRPr lang="zh-TW" altLang="en-US" sz="2400" baseline="-25000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237341" y="2824349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6</a:t>
            </a:r>
            <a:endParaRPr lang="zh-TW" altLang="en-US" sz="2400" baseline="-250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237341" y="3167833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7</a:t>
            </a:r>
            <a:endParaRPr lang="zh-TW" altLang="en-US" sz="2400" baseline="-250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3102100" y="2824348"/>
            <a:ext cx="3193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z</a:t>
            </a:r>
            <a:endParaRPr lang="zh-TW" altLang="en-US" sz="24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87924" y="205642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3094887" y="123147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  <p:grpSp>
        <p:nvGrpSpPr>
          <p:cNvPr id="30" name="Group 4"/>
          <p:cNvGrpSpPr>
            <a:grpSpLocks noChangeAspect="1"/>
          </p:cNvGrpSpPr>
          <p:nvPr/>
        </p:nvGrpSpPr>
        <p:grpSpPr bwMode="auto">
          <a:xfrm>
            <a:off x="8794583" y="1498558"/>
            <a:ext cx="1495425" cy="793750"/>
            <a:chOff x="2347" y="1818"/>
            <a:chExt cx="942" cy="500"/>
          </a:xfrm>
        </p:grpSpPr>
        <p:sp>
          <p:nvSpPr>
            <p:cNvPr id="31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2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3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grpSp>
        <p:nvGrpSpPr>
          <p:cNvPr id="34" name="Group 4"/>
          <p:cNvGrpSpPr>
            <a:grpSpLocks noChangeAspect="1"/>
          </p:cNvGrpSpPr>
          <p:nvPr/>
        </p:nvGrpSpPr>
        <p:grpSpPr bwMode="auto">
          <a:xfrm>
            <a:off x="8794585" y="3085574"/>
            <a:ext cx="1495425" cy="793750"/>
            <a:chOff x="2347" y="1818"/>
            <a:chExt cx="942" cy="500"/>
          </a:xfrm>
        </p:grpSpPr>
        <p:sp>
          <p:nvSpPr>
            <p:cNvPr id="35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6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7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grpSp>
        <p:nvGrpSpPr>
          <p:cNvPr id="38" name="Group 4"/>
          <p:cNvGrpSpPr>
            <a:grpSpLocks noChangeAspect="1"/>
          </p:cNvGrpSpPr>
          <p:nvPr/>
        </p:nvGrpSpPr>
        <p:grpSpPr bwMode="auto">
          <a:xfrm>
            <a:off x="8794584" y="4672589"/>
            <a:ext cx="1495425" cy="793750"/>
            <a:chOff x="2347" y="1818"/>
            <a:chExt cx="942" cy="500"/>
          </a:xfrm>
        </p:grpSpPr>
        <p:sp>
          <p:nvSpPr>
            <p:cNvPr id="39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40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41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sp>
        <p:nvSpPr>
          <p:cNvPr id="46" name="矩形 45"/>
          <p:cNvSpPr/>
          <p:nvPr/>
        </p:nvSpPr>
        <p:spPr>
          <a:xfrm>
            <a:off x="6319158" y="389437"/>
            <a:ext cx="4245428" cy="6131378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8" name="直線接點 47"/>
          <p:cNvCxnSpPr/>
          <p:nvPr/>
        </p:nvCxnSpPr>
        <p:spPr>
          <a:xfrm>
            <a:off x="6106886" y="653142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6106886" y="1456536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6106886" y="2259930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6106886" y="3063324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6106886" y="3866718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6106886" y="4670112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6106886" y="5473506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6106886" y="6276898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字方塊 55"/>
          <p:cNvSpPr txBox="1"/>
          <p:nvPr/>
        </p:nvSpPr>
        <p:spPr>
          <a:xfrm>
            <a:off x="5541999" y="338414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5574368" y="1122633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5577361" y="2025649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5577361" y="2801712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5574368" y="3610287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5576026" y="4411604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62" name="文字方塊 61"/>
          <p:cNvSpPr txBox="1"/>
          <p:nvPr/>
        </p:nvSpPr>
        <p:spPr>
          <a:xfrm>
            <a:off x="5577644" y="5209880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1</a:t>
            </a:r>
            <a:endParaRPr lang="zh-TW" altLang="en-US" sz="2800" baseline="-25000" dirty="0"/>
          </a:p>
        </p:txBody>
      </p:sp>
      <p:sp>
        <p:nvSpPr>
          <p:cNvPr id="63" name="文字方塊 62"/>
          <p:cNvSpPr txBox="1"/>
          <p:nvPr/>
        </p:nvSpPr>
        <p:spPr>
          <a:xfrm>
            <a:off x="5577675" y="6017169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cxnSp>
        <p:nvCxnSpPr>
          <p:cNvPr id="67" name="直線接點 66"/>
          <p:cNvCxnSpPr/>
          <p:nvPr/>
        </p:nvCxnSpPr>
        <p:spPr>
          <a:xfrm>
            <a:off x="10007434" y="1906545"/>
            <a:ext cx="7286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/>
          <p:cNvCxnSpPr/>
          <p:nvPr/>
        </p:nvCxnSpPr>
        <p:spPr>
          <a:xfrm>
            <a:off x="10007434" y="3482449"/>
            <a:ext cx="7286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9994197" y="5080576"/>
            <a:ext cx="7286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字方塊 70"/>
          <p:cNvSpPr txBox="1"/>
          <p:nvPr/>
        </p:nvSpPr>
        <p:spPr>
          <a:xfrm>
            <a:off x="10877510" y="4789107"/>
            <a:ext cx="276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dirty="0"/>
          </a:p>
        </p:txBody>
      </p:sp>
      <p:sp>
        <p:nvSpPr>
          <p:cNvPr id="72" name="文字方塊 71"/>
          <p:cNvSpPr txBox="1"/>
          <p:nvPr/>
        </p:nvSpPr>
        <p:spPr>
          <a:xfrm>
            <a:off x="10858274" y="3163657"/>
            <a:ext cx="294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1</a:t>
            </a:r>
            <a:endParaRPr lang="zh-TW" altLang="en-US" sz="2800" dirty="0"/>
          </a:p>
        </p:txBody>
      </p:sp>
      <p:sp>
        <p:nvSpPr>
          <p:cNvPr id="73" name="文字方塊 72"/>
          <p:cNvSpPr txBox="1"/>
          <p:nvPr/>
        </p:nvSpPr>
        <p:spPr>
          <a:xfrm>
            <a:off x="10858274" y="1615076"/>
            <a:ext cx="294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1</a:t>
            </a:r>
            <a:endParaRPr lang="zh-TW" altLang="en-US" sz="2800" dirty="0"/>
          </a:p>
        </p:txBody>
      </p:sp>
      <p:sp>
        <p:nvSpPr>
          <p:cNvPr id="75" name="手繪多邊形 74"/>
          <p:cNvSpPr/>
          <p:nvPr/>
        </p:nvSpPr>
        <p:spPr>
          <a:xfrm>
            <a:off x="6384472" y="1627563"/>
            <a:ext cx="2751364" cy="2234144"/>
          </a:xfrm>
          <a:custGeom>
            <a:avLst/>
            <a:gdLst>
              <a:gd name="connsiteX0" fmla="*/ 0 w 2751364"/>
              <a:gd name="connsiteY0" fmla="*/ 2234144 h 2234144"/>
              <a:gd name="connsiteX1" fmla="*/ 898071 w 2751364"/>
              <a:gd name="connsiteY1" fmla="*/ 1776944 h 2234144"/>
              <a:gd name="connsiteX2" fmla="*/ 2024742 w 2751364"/>
              <a:gd name="connsiteY2" fmla="*/ 274716 h 2234144"/>
              <a:gd name="connsiteX3" fmla="*/ 2751364 w 2751364"/>
              <a:gd name="connsiteY3" fmla="*/ 5294 h 2234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1364" h="2234144">
                <a:moveTo>
                  <a:pt x="0" y="2234144"/>
                </a:moveTo>
                <a:cubicBezTo>
                  <a:pt x="280307" y="2168829"/>
                  <a:pt x="560614" y="2103515"/>
                  <a:pt x="898071" y="1776944"/>
                </a:cubicBezTo>
                <a:cubicBezTo>
                  <a:pt x="1235528" y="1450373"/>
                  <a:pt x="1715860" y="569991"/>
                  <a:pt x="2024742" y="274716"/>
                </a:cubicBezTo>
                <a:cubicBezTo>
                  <a:pt x="2333624" y="-20559"/>
                  <a:pt x="2542494" y="-7633"/>
                  <a:pt x="2751364" y="5294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手繪多邊形 78"/>
          <p:cNvSpPr/>
          <p:nvPr/>
        </p:nvSpPr>
        <p:spPr>
          <a:xfrm>
            <a:off x="6376307" y="1753043"/>
            <a:ext cx="2833007" cy="2928266"/>
          </a:xfrm>
          <a:custGeom>
            <a:avLst/>
            <a:gdLst>
              <a:gd name="connsiteX0" fmla="*/ 0 w 2833007"/>
              <a:gd name="connsiteY0" fmla="*/ 2916928 h 2928266"/>
              <a:gd name="connsiteX1" fmla="*/ 563336 w 2833007"/>
              <a:gd name="connsiteY1" fmla="*/ 2533207 h 2928266"/>
              <a:gd name="connsiteX2" fmla="*/ 2114550 w 2833007"/>
              <a:gd name="connsiteY2" fmla="*/ 320686 h 2928266"/>
              <a:gd name="connsiteX3" fmla="*/ 2833007 w 2833007"/>
              <a:gd name="connsiteY3" fmla="*/ 59428 h 2928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3007" h="2928266">
                <a:moveTo>
                  <a:pt x="0" y="2916928"/>
                </a:moveTo>
                <a:cubicBezTo>
                  <a:pt x="105455" y="2941421"/>
                  <a:pt x="210911" y="2965914"/>
                  <a:pt x="563336" y="2533207"/>
                </a:cubicBezTo>
                <a:cubicBezTo>
                  <a:pt x="915761" y="2100500"/>
                  <a:pt x="1736271" y="732983"/>
                  <a:pt x="2114550" y="320686"/>
                </a:cubicBezTo>
                <a:cubicBezTo>
                  <a:pt x="2492829" y="-91611"/>
                  <a:pt x="2662918" y="-16092"/>
                  <a:pt x="2833007" y="59428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手繪多邊形 79"/>
          <p:cNvSpPr/>
          <p:nvPr/>
        </p:nvSpPr>
        <p:spPr>
          <a:xfrm>
            <a:off x="6392636" y="1915962"/>
            <a:ext cx="2808514" cy="3545945"/>
          </a:xfrm>
          <a:custGeom>
            <a:avLst/>
            <a:gdLst>
              <a:gd name="connsiteX0" fmla="*/ 0 w 2808514"/>
              <a:gd name="connsiteY0" fmla="*/ 3545945 h 3545945"/>
              <a:gd name="connsiteX1" fmla="*/ 718457 w 2808514"/>
              <a:gd name="connsiteY1" fmla="*/ 2754009 h 3545945"/>
              <a:gd name="connsiteX2" fmla="*/ 2171700 w 2808514"/>
              <a:gd name="connsiteY2" fmla="*/ 345545 h 3545945"/>
              <a:gd name="connsiteX3" fmla="*/ 2808514 w 2808514"/>
              <a:gd name="connsiteY3" fmla="*/ 67959 h 3545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8514" h="3545945">
                <a:moveTo>
                  <a:pt x="0" y="3545945"/>
                </a:moveTo>
                <a:cubicBezTo>
                  <a:pt x="178253" y="3416677"/>
                  <a:pt x="356507" y="3287409"/>
                  <a:pt x="718457" y="2754009"/>
                </a:cubicBezTo>
                <a:cubicBezTo>
                  <a:pt x="1080407" y="2220609"/>
                  <a:pt x="1823357" y="793220"/>
                  <a:pt x="2171700" y="345545"/>
                </a:cubicBezTo>
                <a:cubicBezTo>
                  <a:pt x="2520043" y="-102130"/>
                  <a:pt x="2664278" y="-17086"/>
                  <a:pt x="2808514" y="67959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手繪多邊形 80"/>
          <p:cNvSpPr/>
          <p:nvPr/>
        </p:nvSpPr>
        <p:spPr>
          <a:xfrm>
            <a:off x="6368143" y="2050768"/>
            <a:ext cx="2751364" cy="4219403"/>
          </a:xfrm>
          <a:custGeom>
            <a:avLst/>
            <a:gdLst>
              <a:gd name="connsiteX0" fmla="*/ 0 w 2751364"/>
              <a:gd name="connsiteY0" fmla="*/ 4219403 h 4219403"/>
              <a:gd name="connsiteX1" fmla="*/ 832757 w 2751364"/>
              <a:gd name="connsiteY1" fmla="*/ 3247853 h 4219403"/>
              <a:gd name="connsiteX2" fmla="*/ 2318657 w 2751364"/>
              <a:gd name="connsiteY2" fmla="*/ 357696 h 4219403"/>
              <a:gd name="connsiteX3" fmla="*/ 2751364 w 2751364"/>
              <a:gd name="connsiteY3" fmla="*/ 145425 h 4219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1364" h="4219403">
                <a:moveTo>
                  <a:pt x="0" y="4219403"/>
                </a:moveTo>
                <a:cubicBezTo>
                  <a:pt x="223157" y="4055437"/>
                  <a:pt x="446314" y="3891471"/>
                  <a:pt x="832757" y="3247853"/>
                </a:cubicBezTo>
                <a:cubicBezTo>
                  <a:pt x="1219200" y="2604235"/>
                  <a:pt x="1998889" y="874767"/>
                  <a:pt x="2318657" y="357696"/>
                </a:cubicBezTo>
                <a:cubicBezTo>
                  <a:pt x="2638425" y="-159375"/>
                  <a:pt x="2694894" y="-6975"/>
                  <a:pt x="2751364" y="145425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2" name="手繪多邊形 81"/>
          <p:cNvSpPr/>
          <p:nvPr/>
        </p:nvSpPr>
        <p:spPr>
          <a:xfrm>
            <a:off x="6392636" y="2253343"/>
            <a:ext cx="2759528" cy="1041787"/>
          </a:xfrm>
          <a:custGeom>
            <a:avLst/>
            <a:gdLst>
              <a:gd name="connsiteX0" fmla="*/ 0 w 2759528"/>
              <a:gd name="connsiteY0" fmla="*/ 0 h 1041787"/>
              <a:gd name="connsiteX1" fmla="*/ 775607 w 2759528"/>
              <a:gd name="connsiteY1" fmla="*/ 269421 h 1041787"/>
              <a:gd name="connsiteX2" fmla="*/ 2188028 w 2759528"/>
              <a:gd name="connsiteY2" fmla="*/ 963386 h 1041787"/>
              <a:gd name="connsiteX3" fmla="*/ 2759528 w 2759528"/>
              <a:gd name="connsiteY3" fmla="*/ 996043 h 104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9528" h="1041787">
                <a:moveTo>
                  <a:pt x="0" y="0"/>
                </a:moveTo>
                <a:cubicBezTo>
                  <a:pt x="205468" y="54428"/>
                  <a:pt x="410936" y="108857"/>
                  <a:pt x="775607" y="269421"/>
                </a:cubicBezTo>
                <a:cubicBezTo>
                  <a:pt x="1140278" y="429985"/>
                  <a:pt x="1857374" y="842282"/>
                  <a:pt x="2188028" y="963386"/>
                </a:cubicBezTo>
                <a:cubicBezTo>
                  <a:pt x="2518682" y="1084490"/>
                  <a:pt x="2639105" y="1040266"/>
                  <a:pt x="2759528" y="996043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手繪多邊形 82"/>
          <p:cNvSpPr/>
          <p:nvPr/>
        </p:nvSpPr>
        <p:spPr>
          <a:xfrm>
            <a:off x="6376307" y="3053443"/>
            <a:ext cx="2833007" cy="411394"/>
          </a:xfrm>
          <a:custGeom>
            <a:avLst/>
            <a:gdLst>
              <a:gd name="connsiteX0" fmla="*/ 0 w 2808514"/>
              <a:gd name="connsiteY0" fmla="*/ 0 h 411394"/>
              <a:gd name="connsiteX1" fmla="*/ 1053193 w 2808514"/>
              <a:gd name="connsiteY1" fmla="*/ 383721 h 411394"/>
              <a:gd name="connsiteX2" fmla="*/ 2808514 w 2808514"/>
              <a:gd name="connsiteY2" fmla="*/ 351064 h 411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08514" h="411394">
                <a:moveTo>
                  <a:pt x="0" y="0"/>
                </a:moveTo>
                <a:cubicBezTo>
                  <a:pt x="292553" y="162605"/>
                  <a:pt x="585107" y="325210"/>
                  <a:pt x="1053193" y="383721"/>
                </a:cubicBezTo>
                <a:cubicBezTo>
                  <a:pt x="1521279" y="442232"/>
                  <a:pt x="2164896" y="396648"/>
                  <a:pt x="2808514" y="351064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手繪多邊形 2"/>
          <p:cNvSpPr/>
          <p:nvPr/>
        </p:nvSpPr>
        <p:spPr>
          <a:xfrm>
            <a:off x="6376307" y="3693274"/>
            <a:ext cx="2784022" cy="2568733"/>
          </a:xfrm>
          <a:custGeom>
            <a:avLst/>
            <a:gdLst>
              <a:gd name="connsiteX0" fmla="*/ 0 w 2784022"/>
              <a:gd name="connsiteY0" fmla="*/ 2568733 h 2568733"/>
              <a:gd name="connsiteX1" fmla="*/ 1453243 w 2784022"/>
              <a:gd name="connsiteY1" fmla="*/ 1376747 h 2568733"/>
              <a:gd name="connsiteX2" fmla="*/ 2261507 w 2784022"/>
              <a:gd name="connsiteY2" fmla="*/ 339883 h 2568733"/>
              <a:gd name="connsiteX3" fmla="*/ 2612572 w 2784022"/>
              <a:gd name="connsiteY3" fmla="*/ 45969 h 2568733"/>
              <a:gd name="connsiteX4" fmla="*/ 2784022 w 2784022"/>
              <a:gd name="connsiteY4" fmla="*/ 5147 h 2568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84022" h="2568733">
                <a:moveTo>
                  <a:pt x="0" y="2568733"/>
                </a:moveTo>
                <a:cubicBezTo>
                  <a:pt x="538162" y="2158477"/>
                  <a:pt x="1076325" y="1748222"/>
                  <a:pt x="1453243" y="1376747"/>
                </a:cubicBezTo>
                <a:cubicBezTo>
                  <a:pt x="1830161" y="1005272"/>
                  <a:pt x="2068286" y="561679"/>
                  <a:pt x="2261507" y="339883"/>
                </a:cubicBezTo>
                <a:cubicBezTo>
                  <a:pt x="2454729" y="118087"/>
                  <a:pt x="2525486" y="101758"/>
                  <a:pt x="2612572" y="45969"/>
                </a:cubicBezTo>
                <a:cubicBezTo>
                  <a:pt x="2699658" y="-9820"/>
                  <a:pt x="2741840" y="-2337"/>
                  <a:pt x="2784022" y="5147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手繪多邊形 41"/>
          <p:cNvSpPr/>
          <p:nvPr/>
        </p:nvSpPr>
        <p:spPr>
          <a:xfrm>
            <a:off x="6368143" y="3540230"/>
            <a:ext cx="2841171" cy="1929841"/>
          </a:xfrm>
          <a:custGeom>
            <a:avLst/>
            <a:gdLst>
              <a:gd name="connsiteX0" fmla="*/ 0 w 2841171"/>
              <a:gd name="connsiteY0" fmla="*/ 1929841 h 1929841"/>
              <a:gd name="connsiteX1" fmla="*/ 1485900 w 2841171"/>
              <a:gd name="connsiteY1" fmla="*/ 901141 h 1929841"/>
              <a:gd name="connsiteX2" fmla="*/ 1983921 w 2841171"/>
              <a:gd name="connsiteY2" fmla="*/ 345970 h 1929841"/>
              <a:gd name="connsiteX3" fmla="*/ 2563586 w 2841171"/>
              <a:gd name="connsiteY3" fmla="*/ 35727 h 1929841"/>
              <a:gd name="connsiteX4" fmla="*/ 2841171 w 2841171"/>
              <a:gd name="connsiteY4" fmla="*/ 19399 h 1929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41171" h="1929841">
                <a:moveTo>
                  <a:pt x="0" y="1929841"/>
                </a:moveTo>
                <a:cubicBezTo>
                  <a:pt x="577623" y="1547480"/>
                  <a:pt x="1155247" y="1165119"/>
                  <a:pt x="1485900" y="901141"/>
                </a:cubicBezTo>
                <a:cubicBezTo>
                  <a:pt x="1816553" y="637163"/>
                  <a:pt x="1804307" y="490206"/>
                  <a:pt x="1983921" y="345970"/>
                </a:cubicBezTo>
                <a:cubicBezTo>
                  <a:pt x="2163535" y="201734"/>
                  <a:pt x="2420711" y="90155"/>
                  <a:pt x="2563586" y="35727"/>
                </a:cubicBezTo>
                <a:cubicBezTo>
                  <a:pt x="2706461" y="-18701"/>
                  <a:pt x="2773816" y="349"/>
                  <a:pt x="2841171" y="19399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手繪多邊形 42"/>
          <p:cNvSpPr/>
          <p:nvPr/>
        </p:nvSpPr>
        <p:spPr>
          <a:xfrm>
            <a:off x="6376307" y="1445079"/>
            <a:ext cx="2784022" cy="3444732"/>
          </a:xfrm>
          <a:custGeom>
            <a:avLst/>
            <a:gdLst>
              <a:gd name="connsiteX0" fmla="*/ 0 w 2784022"/>
              <a:gd name="connsiteY0" fmla="*/ 0 h 3444732"/>
              <a:gd name="connsiteX1" fmla="*/ 677636 w 2784022"/>
              <a:gd name="connsiteY1" fmla="*/ 457200 h 3444732"/>
              <a:gd name="connsiteX2" fmla="*/ 1502229 w 2784022"/>
              <a:gd name="connsiteY2" fmla="*/ 2367642 h 3444732"/>
              <a:gd name="connsiteX3" fmla="*/ 2310493 w 2784022"/>
              <a:gd name="connsiteY3" fmla="*/ 3298371 h 3444732"/>
              <a:gd name="connsiteX4" fmla="*/ 2784022 w 2784022"/>
              <a:gd name="connsiteY4" fmla="*/ 3429000 h 3444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84022" h="3444732">
                <a:moveTo>
                  <a:pt x="0" y="0"/>
                </a:moveTo>
                <a:cubicBezTo>
                  <a:pt x="213632" y="31296"/>
                  <a:pt x="427265" y="62593"/>
                  <a:pt x="677636" y="457200"/>
                </a:cubicBezTo>
                <a:cubicBezTo>
                  <a:pt x="928007" y="851807"/>
                  <a:pt x="1230086" y="1894113"/>
                  <a:pt x="1502229" y="2367642"/>
                </a:cubicBezTo>
                <a:cubicBezTo>
                  <a:pt x="1774372" y="2841171"/>
                  <a:pt x="2096861" y="3121478"/>
                  <a:pt x="2310493" y="3298371"/>
                </a:cubicBezTo>
                <a:cubicBezTo>
                  <a:pt x="2524125" y="3475264"/>
                  <a:pt x="2654073" y="3452132"/>
                  <a:pt x="2784022" y="3429000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手繪多邊形 43"/>
          <p:cNvSpPr/>
          <p:nvPr/>
        </p:nvSpPr>
        <p:spPr>
          <a:xfrm>
            <a:off x="6359979" y="3053443"/>
            <a:ext cx="2857500" cy="1990156"/>
          </a:xfrm>
          <a:custGeom>
            <a:avLst/>
            <a:gdLst>
              <a:gd name="connsiteX0" fmla="*/ 0 w 2857500"/>
              <a:gd name="connsiteY0" fmla="*/ 0 h 1990156"/>
              <a:gd name="connsiteX1" fmla="*/ 1053193 w 2857500"/>
              <a:gd name="connsiteY1" fmla="*/ 710293 h 1990156"/>
              <a:gd name="connsiteX2" fmla="*/ 2057400 w 2857500"/>
              <a:gd name="connsiteY2" fmla="*/ 1820636 h 1990156"/>
              <a:gd name="connsiteX3" fmla="*/ 2857500 w 2857500"/>
              <a:gd name="connsiteY3" fmla="*/ 1967593 h 1990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7500" h="1990156">
                <a:moveTo>
                  <a:pt x="0" y="0"/>
                </a:moveTo>
                <a:cubicBezTo>
                  <a:pt x="355146" y="203427"/>
                  <a:pt x="710293" y="406854"/>
                  <a:pt x="1053193" y="710293"/>
                </a:cubicBezTo>
                <a:cubicBezTo>
                  <a:pt x="1396093" y="1013732"/>
                  <a:pt x="1756682" y="1611086"/>
                  <a:pt x="2057400" y="1820636"/>
                </a:cubicBezTo>
                <a:cubicBezTo>
                  <a:pt x="2358118" y="2030186"/>
                  <a:pt x="2607809" y="1998889"/>
                  <a:pt x="2857500" y="1967593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手繪多邊形 44"/>
          <p:cNvSpPr/>
          <p:nvPr/>
        </p:nvSpPr>
        <p:spPr>
          <a:xfrm>
            <a:off x="6400800" y="4653643"/>
            <a:ext cx="2800350" cy="555171"/>
          </a:xfrm>
          <a:custGeom>
            <a:avLst/>
            <a:gdLst>
              <a:gd name="connsiteX0" fmla="*/ 0 w 2800350"/>
              <a:gd name="connsiteY0" fmla="*/ 0 h 555171"/>
              <a:gd name="connsiteX1" fmla="*/ 1894114 w 2800350"/>
              <a:gd name="connsiteY1" fmla="*/ 424543 h 555171"/>
              <a:gd name="connsiteX2" fmla="*/ 2800350 w 2800350"/>
              <a:gd name="connsiteY2" fmla="*/ 555171 h 55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00350" h="555171">
                <a:moveTo>
                  <a:pt x="0" y="0"/>
                </a:moveTo>
                <a:lnTo>
                  <a:pt x="1894114" y="424543"/>
                </a:lnTo>
                <a:cubicBezTo>
                  <a:pt x="2360839" y="517072"/>
                  <a:pt x="2580594" y="536121"/>
                  <a:pt x="2800350" y="555171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手繪多邊形 46"/>
          <p:cNvSpPr/>
          <p:nvPr/>
        </p:nvSpPr>
        <p:spPr>
          <a:xfrm>
            <a:off x="6384472" y="5323114"/>
            <a:ext cx="2759528" cy="947057"/>
          </a:xfrm>
          <a:custGeom>
            <a:avLst/>
            <a:gdLst>
              <a:gd name="connsiteX0" fmla="*/ 0 w 2759528"/>
              <a:gd name="connsiteY0" fmla="*/ 947057 h 947057"/>
              <a:gd name="connsiteX1" fmla="*/ 1257300 w 2759528"/>
              <a:gd name="connsiteY1" fmla="*/ 449036 h 947057"/>
              <a:gd name="connsiteX2" fmla="*/ 2081892 w 2759528"/>
              <a:gd name="connsiteY2" fmla="*/ 171450 h 947057"/>
              <a:gd name="connsiteX3" fmla="*/ 2359478 w 2759528"/>
              <a:gd name="connsiteY3" fmla="*/ 40822 h 947057"/>
              <a:gd name="connsiteX4" fmla="*/ 2759528 w 2759528"/>
              <a:gd name="connsiteY4" fmla="*/ 0 h 947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59528" h="947057">
                <a:moveTo>
                  <a:pt x="0" y="947057"/>
                </a:moveTo>
                <a:lnTo>
                  <a:pt x="1257300" y="449036"/>
                </a:lnTo>
                <a:cubicBezTo>
                  <a:pt x="1604282" y="319768"/>
                  <a:pt x="1898196" y="239486"/>
                  <a:pt x="2081892" y="171450"/>
                </a:cubicBezTo>
                <a:cubicBezTo>
                  <a:pt x="2265588" y="103414"/>
                  <a:pt x="2246539" y="69397"/>
                  <a:pt x="2359478" y="40822"/>
                </a:cubicBezTo>
                <a:cubicBezTo>
                  <a:pt x="2472417" y="12247"/>
                  <a:pt x="2615972" y="6123"/>
                  <a:pt x="2759528" y="0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文字方塊 75"/>
          <p:cNvSpPr txBox="1"/>
          <p:nvPr/>
        </p:nvSpPr>
        <p:spPr>
          <a:xfrm>
            <a:off x="4831298" y="338414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endParaRPr lang="zh-TW" altLang="en-US" sz="2800" baseline="-250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4863667" y="1122633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4866660" y="2025649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endParaRPr lang="zh-TW" altLang="en-US" sz="2800" baseline="-25000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4866660" y="2801712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  <p:sp>
        <p:nvSpPr>
          <p:cNvPr id="85" name="文字方塊 84"/>
          <p:cNvSpPr txBox="1"/>
          <p:nvPr/>
        </p:nvSpPr>
        <p:spPr>
          <a:xfrm>
            <a:off x="4863667" y="3610287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4</a:t>
            </a:r>
            <a:endParaRPr lang="zh-TW" altLang="en-US" sz="2800" baseline="-25000" dirty="0"/>
          </a:p>
        </p:txBody>
      </p:sp>
      <p:sp>
        <p:nvSpPr>
          <p:cNvPr id="86" name="文字方塊 85"/>
          <p:cNvSpPr txBox="1"/>
          <p:nvPr/>
        </p:nvSpPr>
        <p:spPr>
          <a:xfrm>
            <a:off x="4865325" y="4411604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5</a:t>
            </a:r>
            <a:endParaRPr lang="zh-TW" altLang="en-US" sz="2800" baseline="-25000" dirty="0"/>
          </a:p>
        </p:txBody>
      </p:sp>
      <p:sp>
        <p:nvSpPr>
          <p:cNvPr id="87" name="文字方塊 86"/>
          <p:cNvSpPr txBox="1"/>
          <p:nvPr/>
        </p:nvSpPr>
        <p:spPr>
          <a:xfrm>
            <a:off x="4866943" y="5209880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6</a:t>
            </a:r>
            <a:endParaRPr lang="zh-TW" altLang="en-US" sz="2800" baseline="-25000" dirty="0"/>
          </a:p>
        </p:txBody>
      </p:sp>
      <p:sp>
        <p:nvSpPr>
          <p:cNvPr id="88" name="文字方塊 87"/>
          <p:cNvSpPr txBox="1"/>
          <p:nvPr/>
        </p:nvSpPr>
        <p:spPr>
          <a:xfrm>
            <a:off x="4866974" y="6017169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7</a:t>
            </a:r>
            <a:endParaRPr lang="zh-TW" altLang="en-US" sz="2800" baseline="-25000" dirty="0"/>
          </a:p>
        </p:txBody>
      </p:sp>
    </p:spTree>
    <p:extLst>
      <p:ext uri="{BB962C8B-B14F-4D97-AF65-F5344CB8AC3E}">
        <p14:creationId xmlns:p14="http://schemas.microsoft.com/office/powerpoint/2010/main" val="615860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237341" y="4715708"/>
            <a:ext cx="4035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y = D</a:t>
            </a:r>
            <a:r>
              <a:rPr lang="en-US" altLang="zh-TW" sz="3200" b="1" baseline="-25000" dirty="0" smtClean="0">
                <a:solidFill>
                  <a:srgbClr val="C00000"/>
                </a:solidFill>
              </a:rPr>
              <a:t>2 </a:t>
            </a:r>
            <a:r>
              <a:rPr lang="en-US" altLang="zh-TW" sz="3200" b="1" dirty="0">
                <a:solidFill>
                  <a:srgbClr val="C00000"/>
                </a:solidFill>
              </a:rPr>
              <a:t>+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3200" b="1" dirty="0">
                <a:solidFill>
                  <a:srgbClr val="C00000"/>
                </a:solidFill>
              </a:rPr>
              <a:t> + D</a:t>
            </a:r>
            <a:r>
              <a:rPr lang="en-US" altLang="zh-TW" sz="3200" b="1" baseline="-25000" dirty="0">
                <a:solidFill>
                  <a:srgbClr val="C00000"/>
                </a:solidFill>
              </a:rPr>
              <a:t>6 </a:t>
            </a:r>
            <a:r>
              <a:rPr lang="en-US" altLang="zh-TW" sz="3200" b="1" dirty="0">
                <a:solidFill>
                  <a:srgbClr val="C00000"/>
                </a:solidFill>
              </a:rPr>
              <a:t>+ D</a:t>
            </a:r>
            <a:r>
              <a:rPr lang="en-US" altLang="zh-TW" sz="3200" b="1" baseline="-25000" dirty="0">
                <a:solidFill>
                  <a:srgbClr val="C00000"/>
                </a:solidFill>
              </a:rPr>
              <a:t>7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 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237341" y="4091626"/>
            <a:ext cx="4035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0000FF"/>
                </a:solidFill>
              </a:rPr>
              <a:t>x = 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4 </a:t>
            </a:r>
            <a:r>
              <a:rPr lang="en-US" altLang="zh-TW" sz="3200" b="1" dirty="0">
                <a:solidFill>
                  <a:srgbClr val="0000FF"/>
                </a:solidFill>
              </a:rPr>
              <a:t>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5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>
                <a:solidFill>
                  <a:srgbClr val="0000FF"/>
                </a:solidFill>
              </a:rPr>
              <a:t>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6 </a:t>
            </a:r>
            <a:r>
              <a:rPr lang="en-US" altLang="zh-TW" sz="3200" b="1" dirty="0">
                <a:solidFill>
                  <a:srgbClr val="0000FF"/>
                </a:solidFill>
              </a:rPr>
              <a:t>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7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 </a:t>
            </a:r>
            <a:endParaRPr lang="zh-TW" altLang="en-US" sz="3200" b="1" dirty="0">
              <a:solidFill>
                <a:srgbClr val="0000FF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237341" y="5339789"/>
            <a:ext cx="40142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z = D</a:t>
            </a:r>
            <a:r>
              <a:rPr lang="en-US" altLang="zh-TW" sz="3200" b="1" baseline="-25000" dirty="0" smtClean="0"/>
              <a:t>1 </a:t>
            </a:r>
            <a:r>
              <a:rPr lang="en-US" altLang="zh-TW" sz="3200" b="1" dirty="0"/>
              <a:t>+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3</a:t>
            </a:r>
            <a:r>
              <a:rPr lang="en-US" altLang="zh-TW" sz="3200" b="1" dirty="0"/>
              <a:t> +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5 </a:t>
            </a:r>
            <a:r>
              <a:rPr lang="en-US" altLang="zh-TW" sz="3200" b="1" dirty="0"/>
              <a:t>+ D</a:t>
            </a:r>
            <a:r>
              <a:rPr lang="en-US" altLang="zh-TW" sz="3200" b="1" baseline="-25000" dirty="0"/>
              <a:t>7</a:t>
            </a:r>
            <a:r>
              <a:rPr lang="en-US" altLang="zh-TW" sz="3200" b="1" dirty="0" smtClean="0"/>
              <a:t> </a:t>
            </a:r>
            <a:endParaRPr lang="zh-TW" altLang="en-US" sz="3200" b="1" dirty="0"/>
          </a:p>
        </p:txBody>
      </p:sp>
      <p:sp>
        <p:nvSpPr>
          <p:cNvPr id="7" name="矩形 6"/>
          <p:cNvSpPr/>
          <p:nvPr/>
        </p:nvSpPr>
        <p:spPr>
          <a:xfrm>
            <a:off x="1200171" y="879706"/>
            <a:ext cx="1409351" cy="27515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8-to-3 Encoder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8" name="直線接點 7"/>
          <p:cNvCxnSpPr/>
          <p:nvPr/>
        </p:nvCxnSpPr>
        <p:spPr>
          <a:xfrm>
            <a:off x="763944" y="1039097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763944" y="1384244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763944" y="1729391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763944" y="20745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763944" y="2419685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763944" y="2764832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763944" y="3109979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763944" y="3455126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2609522" y="1500492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2609522" y="2287260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2609521" y="3074027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237341" y="808264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237341" y="1153411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237341" y="149855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237341" y="1842042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237341" y="2134055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4</a:t>
            </a:r>
            <a:endParaRPr lang="zh-TW" altLang="en-US" sz="2400" baseline="-250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237341" y="2479202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5</a:t>
            </a:r>
            <a:endParaRPr lang="zh-TW" altLang="en-US" sz="2400" baseline="-25000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237341" y="2824349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6</a:t>
            </a:r>
            <a:endParaRPr lang="zh-TW" altLang="en-US" sz="2400" baseline="-250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237341" y="3167833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7</a:t>
            </a:r>
            <a:endParaRPr lang="zh-TW" altLang="en-US" sz="2400" baseline="-250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3102100" y="2824348"/>
            <a:ext cx="3193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z</a:t>
            </a:r>
            <a:endParaRPr lang="zh-TW" altLang="en-US" sz="24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87924" y="205642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3094887" y="123147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  <p:grpSp>
        <p:nvGrpSpPr>
          <p:cNvPr id="30" name="Group 4"/>
          <p:cNvGrpSpPr>
            <a:grpSpLocks noChangeAspect="1"/>
          </p:cNvGrpSpPr>
          <p:nvPr/>
        </p:nvGrpSpPr>
        <p:grpSpPr bwMode="auto">
          <a:xfrm>
            <a:off x="8794583" y="1498558"/>
            <a:ext cx="1495425" cy="793750"/>
            <a:chOff x="2347" y="1818"/>
            <a:chExt cx="942" cy="500"/>
          </a:xfrm>
        </p:grpSpPr>
        <p:sp>
          <p:nvSpPr>
            <p:cNvPr id="31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2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3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grpSp>
        <p:nvGrpSpPr>
          <p:cNvPr id="34" name="Group 4"/>
          <p:cNvGrpSpPr>
            <a:grpSpLocks noChangeAspect="1"/>
          </p:cNvGrpSpPr>
          <p:nvPr/>
        </p:nvGrpSpPr>
        <p:grpSpPr bwMode="auto">
          <a:xfrm>
            <a:off x="8794585" y="3085574"/>
            <a:ext cx="1495425" cy="793750"/>
            <a:chOff x="2347" y="1818"/>
            <a:chExt cx="942" cy="500"/>
          </a:xfrm>
        </p:grpSpPr>
        <p:sp>
          <p:nvSpPr>
            <p:cNvPr id="35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6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7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grpSp>
        <p:nvGrpSpPr>
          <p:cNvPr id="38" name="Group 4"/>
          <p:cNvGrpSpPr>
            <a:grpSpLocks noChangeAspect="1"/>
          </p:cNvGrpSpPr>
          <p:nvPr/>
        </p:nvGrpSpPr>
        <p:grpSpPr bwMode="auto">
          <a:xfrm>
            <a:off x="8794584" y="4672589"/>
            <a:ext cx="1495425" cy="793750"/>
            <a:chOff x="2347" y="1818"/>
            <a:chExt cx="942" cy="500"/>
          </a:xfrm>
        </p:grpSpPr>
        <p:sp>
          <p:nvSpPr>
            <p:cNvPr id="39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40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41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sp>
        <p:nvSpPr>
          <p:cNvPr id="46" name="矩形 45"/>
          <p:cNvSpPr/>
          <p:nvPr/>
        </p:nvSpPr>
        <p:spPr>
          <a:xfrm>
            <a:off x="6319158" y="389437"/>
            <a:ext cx="4245428" cy="6131378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8" name="直線接點 47"/>
          <p:cNvCxnSpPr/>
          <p:nvPr/>
        </p:nvCxnSpPr>
        <p:spPr>
          <a:xfrm>
            <a:off x="6106886" y="653142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6106886" y="1456536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6106886" y="2259930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6106886" y="3063324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6106886" y="3866718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6106886" y="4670112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6106886" y="5473506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6106886" y="6276898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字方塊 55"/>
          <p:cNvSpPr txBox="1"/>
          <p:nvPr/>
        </p:nvSpPr>
        <p:spPr>
          <a:xfrm>
            <a:off x="5541999" y="338414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5574368" y="1122633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5577361" y="2025649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5577361" y="2801712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5574368" y="3610287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5576026" y="4411604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62" name="文字方塊 61"/>
          <p:cNvSpPr txBox="1"/>
          <p:nvPr/>
        </p:nvSpPr>
        <p:spPr>
          <a:xfrm>
            <a:off x="5577644" y="5209880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63" name="文字方塊 62"/>
          <p:cNvSpPr txBox="1"/>
          <p:nvPr/>
        </p:nvSpPr>
        <p:spPr>
          <a:xfrm>
            <a:off x="5577675" y="6017169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1</a:t>
            </a:r>
            <a:endParaRPr lang="zh-TW" altLang="en-US" sz="2800" baseline="-25000" dirty="0"/>
          </a:p>
        </p:txBody>
      </p:sp>
      <p:cxnSp>
        <p:nvCxnSpPr>
          <p:cNvPr id="67" name="直線接點 66"/>
          <p:cNvCxnSpPr/>
          <p:nvPr/>
        </p:nvCxnSpPr>
        <p:spPr>
          <a:xfrm>
            <a:off x="10007434" y="1906545"/>
            <a:ext cx="7286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/>
          <p:cNvCxnSpPr/>
          <p:nvPr/>
        </p:nvCxnSpPr>
        <p:spPr>
          <a:xfrm>
            <a:off x="10007434" y="3482449"/>
            <a:ext cx="7286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9994197" y="5080576"/>
            <a:ext cx="7286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字方塊 70"/>
          <p:cNvSpPr txBox="1"/>
          <p:nvPr/>
        </p:nvSpPr>
        <p:spPr>
          <a:xfrm>
            <a:off x="10877510" y="4789107"/>
            <a:ext cx="276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1</a:t>
            </a:r>
            <a:endParaRPr lang="zh-TW" altLang="en-US" sz="2800" dirty="0"/>
          </a:p>
        </p:txBody>
      </p:sp>
      <p:sp>
        <p:nvSpPr>
          <p:cNvPr id="72" name="文字方塊 71"/>
          <p:cNvSpPr txBox="1"/>
          <p:nvPr/>
        </p:nvSpPr>
        <p:spPr>
          <a:xfrm>
            <a:off x="10858274" y="3163657"/>
            <a:ext cx="294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1</a:t>
            </a:r>
            <a:endParaRPr lang="zh-TW" altLang="en-US" sz="2800" dirty="0"/>
          </a:p>
        </p:txBody>
      </p:sp>
      <p:sp>
        <p:nvSpPr>
          <p:cNvPr id="73" name="文字方塊 72"/>
          <p:cNvSpPr txBox="1"/>
          <p:nvPr/>
        </p:nvSpPr>
        <p:spPr>
          <a:xfrm>
            <a:off x="10858274" y="1615076"/>
            <a:ext cx="294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1</a:t>
            </a:r>
            <a:endParaRPr lang="zh-TW" altLang="en-US" sz="2800" dirty="0"/>
          </a:p>
        </p:txBody>
      </p:sp>
      <p:sp>
        <p:nvSpPr>
          <p:cNvPr id="75" name="手繪多邊形 74"/>
          <p:cNvSpPr/>
          <p:nvPr/>
        </p:nvSpPr>
        <p:spPr>
          <a:xfrm>
            <a:off x="6384472" y="1627563"/>
            <a:ext cx="2751364" cy="2234144"/>
          </a:xfrm>
          <a:custGeom>
            <a:avLst/>
            <a:gdLst>
              <a:gd name="connsiteX0" fmla="*/ 0 w 2751364"/>
              <a:gd name="connsiteY0" fmla="*/ 2234144 h 2234144"/>
              <a:gd name="connsiteX1" fmla="*/ 898071 w 2751364"/>
              <a:gd name="connsiteY1" fmla="*/ 1776944 h 2234144"/>
              <a:gd name="connsiteX2" fmla="*/ 2024742 w 2751364"/>
              <a:gd name="connsiteY2" fmla="*/ 274716 h 2234144"/>
              <a:gd name="connsiteX3" fmla="*/ 2751364 w 2751364"/>
              <a:gd name="connsiteY3" fmla="*/ 5294 h 2234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1364" h="2234144">
                <a:moveTo>
                  <a:pt x="0" y="2234144"/>
                </a:moveTo>
                <a:cubicBezTo>
                  <a:pt x="280307" y="2168829"/>
                  <a:pt x="560614" y="2103515"/>
                  <a:pt x="898071" y="1776944"/>
                </a:cubicBezTo>
                <a:cubicBezTo>
                  <a:pt x="1235528" y="1450373"/>
                  <a:pt x="1715860" y="569991"/>
                  <a:pt x="2024742" y="274716"/>
                </a:cubicBezTo>
                <a:cubicBezTo>
                  <a:pt x="2333624" y="-20559"/>
                  <a:pt x="2542494" y="-7633"/>
                  <a:pt x="2751364" y="5294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手繪多邊形 78"/>
          <p:cNvSpPr/>
          <p:nvPr/>
        </p:nvSpPr>
        <p:spPr>
          <a:xfrm>
            <a:off x="6376307" y="1753043"/>
            <a:ext cx="2833007" cy="2928266"/>
          </a:xfrm>
          <a:custGeom>
            <a:avLst/>
            <a:gdLst>
              <a:gd name="connsiteX0" fmla="*/ 0 w 2833007"/>
              <a:gd name="connsiteY0" fmla="*/ 2916928 h 2928266"/>
              <a:gd name="connsiteX1" fmla="*/ 563336 w 2833007"/>
              <a:gd name="connsiteY1" fmla="*/ 2533207 h 2928266"/>
              <a:gd name="connsiteX2" fmla="*/ 2114550 w 2833007"/>
              <a:gd name="connsiteY2" fmla="*/ 320686 h 2928266"/>
              <a:gd name="connsiteX3" fmla="*/ 2833007 w 2833007"/>
              <a:gd name="connsiteY3" fmla="*/ 59428 h 2928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3007" h="2928266">
                <a:moveTo>
                  <a:pt x="0" y="2916928"/>
                </a:moveTo>
                <a:cubicBezTo>
                  <a:pt x="105455" y="2941421"/>
                  <a:pt x="210911" y="2965914"/>
                  <a:pt x="563336" y="2533207"/>
                </a:cubicBezTo>
                <a:cubicBezTo>
                  <a:pt x="915761" y="2100500"/>
                  <a:pt x="1736271" y="732983"/>
                  <a:pt x="2114550" y="320686"/>
                </a:cubicBezTo>
                <a:cubicBezTo>
                  <a:pt x="2492829" y="-91611"/>
                  <a:pt x="2662918" y="-16092"/>
                  <a:pt x="2833007" y="59428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手繪多邊形 79"/>
          <p:cNvSpPr/>
          <p:nvPr/>
        </p:nvSpPr>
        <p:spPr>
          <a:xfrm>
            <a:off x="6392636" y="1915962"/>
            <a:ext cx="2808514" cy="3545945"/>
          </a:xfrm>
          <a:custGeom>
            <a:avLst/>
            <a:gdLst>
              <a:gd name="connsiteX0" fmla="*/ 0 w 2808514"/>
              <a:gd name="connsiteY0" fmla="*/ 3545945 h 3545945"/>
              <a:gd name="connsiteX1" fmla="*/ 718457 w 2808514"/>
              <a:gd name="connsiteY1" fmla="*/ 2754009 h 3545945"/>
              <a:gd name="connsiteX2" fmla="*/ 2171700 w 2808514"/>
              <a:gd name="connsiteY2" fmla="*/ 345545 h 3545945"/>
              <a:gd name="connsiteX3" fmla="*/ 2808514 w 2808514"/>
              <a:gd name="connsiteY3" fmla="*/ 67959 h 3545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8514" h="3545945">
                <a:moveTo>
                  <a:pt x="0" y="3545945"/>
                </a:moveTo>
                <a:cubicBezTo>
                  <a:pt x="178253" y="3416677"/>
                  <a:pt x="356507" y="3287409"/>
                  <a:pt x="718457" y="2754009"/>
                </a:cubicBezTo>
                <a:cubicBezTo>
                  <a:pt x="1080407" y="2220609"/>
                  <a:pt x="1823357" y="793220"/>
                  <a:pt x="2171700" y="345545"/>
                </a:cubicBezTo>
                <a:cubicBezTo>
                  <a:pt x="2520043" y="-102130"/>
                  <a:pt x="2664278" y="-17086"/>
                  <a:pt x="2808514" y="67959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手繪多邊形 80"/>
          <p:cNvSpPr/>
          <p:nvPr/>
        </p:nvSpPr>
        <p:spPr>
          <a:xfrm>
            <a:off x="6368143" y="2050768"/>
            <a:ext cx="2751364" cy="4219403"/>
          </a:xfrm>
          <a:custGeom>
            <a:avLst/>
            <a:gdLst>
              <a:gd name="connsiteX0" fmla="*/ 0 w 2751364"/>
              <a:gd name="connsiteY0" fmla="*/ 4219403 h 4219403"/>
              <a:gd name="connsiteX1" fmla="*/ 832757 w 2751364"/>
              <a:gd name="connsiteY1" fmla="*/ 3247853 h 4219403"/>
              <a:gd name="connsiteX2" fmla="*/ 2318657 w 2751364"/>
              <a:gd name="connsiteY2" fmla="*/ 357696 h 4219403"/>
              <a:gd name="connsiteX3" fmla="*/ 2751364 w 2751364"/>
              <a:gd name="connsiteY3" fmla="*/ 145425 h 4219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1364" h="4219403">
                <a:moveTo>
                  <a:pt x="0" y="4219403"/>
                </a:moveTo>
                <a:cubicBezTo>
                  <a:pt x="223157" y="4055437"/>
                  <a:pt x="446314" y="3891471"/>
                  <a:pt x="832757" y="3247853"/>
                </a:cubicBezTo>
                <a:cubicBezTo>
                  <a:pt x="1219200" y="2604235"/>
                  <a:pt x="1998889" y="874767"/>
                  <a:pt x="2318657" y="357696"/>
                </a:cubicBezTo>
                <a:cubicBezTo>
                  <a:pt x="2638425" y="-159375"/>
                  <a:pt x="2694894" y="-6975"/>
                  <a:pt x="2751364" y="145425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2" name="手繪多邊形 81"/>
          <p:cNvSpPr/>
          <p:nvPr/>
        </p:nvSpPr>
        <p:spPr>
          <a:xfrm>
            <a:off x="6392636" y="2253343"/>
            <a:ext cx="2759528" cy="1041787"/>
          </a:xfrm>
          <a:custGeom>
            <a:avLst/>
            <a:gdLst>
              <a:gd name="connsiteX0" fmla="*/ 0 w 2759528"/>
              <a:gd name="connsiteY0" fmla="*/ 0 h 1041787"/>
              <a:gd name="connsiteX1" fmla="*/ 775607 w 2759528"/>
              <a:gd name="connsiteY1" fmla="*/ 269421 h 1041787"/>
              <a:gd name="connsiteX2" fmla="*/ 2188028 w 2759528"/>
              <a:gd name="connsiteY2" fmla="*/ 963386 h 1041787"/>
              <a:gd name="connsiteX3" fmla="*/ 2759528 w 2759528"/>
              <a:gd name="connsiteY3" fmla="*/ 996043 h 104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9528" h="1041787">
                <a:moveTo>
                  <a:pt x="0" y="0"/>
                </a:moveTo>
                <a:cubicBezTo>
                  <a:pt x="205468" y="54428"/>
                  <a:pt x="410936" y="108857"/>
                  <a:pt x="775607" y="269421"/>
                </a:cubicBezTo>
                <a:cubicBezTo>
                  <a:pt x="1140278" y="429985"/>
                  <a:pt x="1857374" y="842282"/>
                  <a:pt x="2188028" y="963386"/>
                </a:cubicBezTo>
                <a:cubicBezTo>
                  <a:pt x="2518682" y="1084490"/>
                  <a:pt x="2639105" y="1040266"/>
                  <a:pt x="2759528" y="996043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手繪多邊形 82"/>
          <p:cNvSpPr/>
          <p:nvPr/>
        </p:nvSpPr>
        <p:spPr>
          <a:xfrm>
            <a:off x="6376307" y="3053443"/>
            <a:ext cx="2833007" cy="411394"/>
          </a:xfrm>
          <a:custGeom>
            <a:avLst/>
            <a:gdLst>
              <a:gd name="connsiteX0" fmla="*/ 0 w 2808514"/>
              <a:gd name="connsiteY0" fmla="*/ 0 h 411394"/>
              <a:gd name="connsiteX1" fmla="*/ 1053193 w 2808514"/>
              <a:gd name="connsiteY1" fmla="*/ 383721 h 411394"/>
              <a:gd name="connsiteX2" fmla="*/ 2808514 w 2808514"/>
              <a:gd name="connsiteY2" fmla="*/ 351064 h 411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08514" h="411394">
                <a:moveTo>
                  <a:pt x="0" y="0"/>
                </a:moveTo>
                <a:cubicBezTo>
                  <a:pt x="292553" y="162605"/>
                  <a:pt x="585107" y="325210"/>
                  <a:pt x="1053193" y="383721"/>
                </a:cubicBezTo>
                <a:cubicBezTo>
                  <a:pt x="1521279" y="442232"/>
                  <a:pt x="2164896" y="396648"/>
                  <a:pt x="2808514" y="351064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手繪多邊形 2"/>
          <p:cNvSpPr/>
          <p:nvPr/>
        </p:nvSpPr>
        <p:spPr>
          <a:xfrm>
            <a:off x="6376307" y="3693274"/>
            <a:ext cx="2784022" cy="2568733"/>
          </a:xfrm>
          <a:custGeom>
            <a:avLst/>
            <a:gdLst>
              <a:gd name="connsiteX0" fmla="*/ 0 w 2784022"/>
              <a:gd name="connsiteY0" fmla="*/ 2568733 h 2568733"/>
              <a:gd name="connsiteX1" fmla="*/ 1453243 w 2784022"/>
              <a:gd name="connsiteY1" fmla="*/ 1376747 h 2568733"/>
              <a:gd name="connsiteX2" fmla="*/ 2261507 w 2784022"/>
              <a:gd name="connsiteY2" fmla="*/ 339883 h 2568733"/>
              <a:gd name="connsiteX3" fmla="*/ 2612572 w 2784022"/>
              <a:gd name="connsiteY3" fmla="*/ 45969 h 2568733"/>
              <a:gd name="connsiteX4" fmla="*/ 2784022 w 2784022"/>
              <a:gd name="connsiteY4" fmla="*/ 5147 h 2568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84022" h="2568733">
                <a:moveTo>
                  <a:pt x="0" y="2568733"/>
                </a:moveTo>
                <a:cubicBezTo>
                  <a:pt x="538162" y="2158477"/>
                  <a:pt x="1076325" y="1748222"/>
                  <a:pt x="1453243" y="1376747"/>
                </a:cubicBezTo>
                <a:cubicBezTo>
                  <a:pt x="1830161" y="1005272"/>
                  <a:pt x="2068286" y="561679"/>
                  <a:pt x="2261507" y="339883"/>
                </a:cubicBezTo>
                <a:cubicBezTo>
                  <a:pt x="2454729" y="118087"/>
                  <a:pt x="2525486" y="101758"/>
                  <a:pt x="2612572" y="45969"/>
                </a:cubicBezTo>
                <a:cubicBezTo>
                  <a:pt x="2699658" y="-9820"/>
                  <a:pt x="2741840" y="-2337"/>
                  <a:pt x="2784022" y="5147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手繪多邊形 41"/>
          <p:cNvSpPr/>
          <p:nvPr/>
        </p:nvSpPr>
        <p:spPr>
          <a:xfrm>
            <a:off x="6368143" y="3540230"/>
            <a:ext cx="2841171" cy="1929841"/>
          </a:xfrm>
          <a:custGeom>
            <a:avLst/>
            <a:gdLst>
              <a:gd name="connsiteX0" fmla="*/ 0 w 2841171"/>
              <a:gd name="connsiteY0" fmla="*/ 1929841 h 1929841"/>
              <a:gd name="connsiteX1" fmla="*/ 1485900 w 2841171"/>
              <a:gd name="connsiteY1" fmla="*/ 901141 h 1929841"/>
              <a:gd name="connsiteX2" fmla="*/ 1983921 w 2841171"/>
              <a:gd name="connsiteY2" fmla="*/ 345970 h 1929841"/>
              <a:gd name="connsiteX3" fmla="*/ 2563586 w 2841171"/>
              <a:gd name="connsiteY3" fmla="*/ 35727 h 1929841"/>
              <a:gd name="connsiteX4" fmla="*/ 2841171 w 2841171"/>
              <a:gd name="connsiteY4" fmla="*/ 19399 h 1929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41171" h="1929841">
                <a:moveTo>
                  <a:pt x="0" y="1929841"/>
                </a:moveTo>
                <a:cubicBezTo>
                  <a:pt x="577623" y="1547480"/>
                  <a:pt x="1155247" y="1165119"/>
                  <a:pt x="1485900" y="901141"/>
                </a:cubicBezTo>
                <a:cubicBezTo>
                  <a:pt x="1816553" y="637163"/>
                  <a:pt x="1804307" y="490206"/>
                  <a:pt x="1983921" y="345970"/>
                </a:cubicBezTo>
                <a:cubicBezTo>
                  <a:pt x="2163535" y="201734"/>
                  <a:pt x="2420711" y="90155"/>
                  <a:pt x="2563586" y="35727"/>
                </a:cubicBezTo>
                <a:cubicBezTo>
                  <a:pt x="2706461" y="-18701"/>
                  <a:pt x="2773816" y="349"/>
                  <a:pt x="2841171" y="19399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手繪多邊形 42"/>
          <p:cNvSpPr/>
          <p:nvPr/>
        </p:nvSpPr>
        <p:spPr>
          <a:xfrm>
            <a:off x="6376307" y="1445079"/>
            <a:ext cx="2784022" cy="3444732"/>
          </a:xfrm>
          <a:custGeom>
            <a:avLst/>
            <a:gdLst>
              <a:gd name="connsiteX0" fmla="*/ 0 w 2784022"/>
              <a:gd name="connsiteY0" fmla="*/ 0 h 3444732"/>
              <a:gd name="connsiteX1" fmla="*/ 677636 w 2784022"/>
              <a:gd name="connsiteY1" fmla="*/ 457200 h 3444732"/>
              <a:gd name="connsiteX2" fmla="*/ 1502229 w 2784022"/>
              <a:gd name="connsiteY2" fmla="*/ 2367642 h 3444732"/>
              <a:gd name="connsiteX3" fmla="*/ 2310493 w 2784022"/>
              <a:gd name="connsiteY3" fmla="*/ 3298371 h 3444732"/>
              <a:gd name="connsiteX4" fmla="*/ 2784022 w 2784022"/>
              <a:gd name="connsiteY4" fmla="*/ 3429000 h 3444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84022" h="3444732">
                <a:moveTo>
                  <a:pt x="0" y="0"/>
                </a:moveTo>
                <a:cubicBezTo>
                  <a:pt x="213632" y="31296"/>
                  <a:pt x="427265" y="62593"/>
                  <a:pt x="677636" y="457200"/>
                </a:cubicBezTo>
                <a:cubicBezTo>
                  <a:pt x="928007" y="851807"/>
                  <a:pt x="1230086" y="1894113"/>
                  <a:pt x="1502229" y="2367642"/>
                </a:cubicBezTo>
                <a:cubicBezTo>
                  <a:pt x="1774372" y="2841171"/>
                  <a:pt x="2096861" y="3121478"/>
                  <a:pt x="2310493" y="3298371"/>
                </a:cubicBezTo>
                <a:cubicBezTo>
                  <a:pt x="2524125" y="3475264"/>
                  <a:pt x="2654073" y="3452132"/>
                  <a:pt x="2784022" y="3429000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手繪多邊形 43"/>
          <p:cNvSpPr/>
          <p:nvPr/>
        </p:nvSpPr>
        <p:spPr>
          <a:xfrm>
            <a:off x="6359979" y="3053443"/>
            <a:ext cx="2857500" cy="1990156"/>
          </a:xfrm>
          <a:custGeom>
            <a:avLst/>
            <a:gdLst>
              <a:gd name="connsiteX0" fmla="*/ 0 w 2857500"/>
              <a:gd name="connsiteY0" fmla="*/ 0 h 1990156"/>
              <a:gd name="connsiteX1" fmla="*/ 1053193 w 2857500"/>
              <a:gd name="connsiteY1" fmla="*/ 710293 h 1990156"/>
              <a:gd name="connsiteX2" fmla="*/ 2057400 w 2857500"/>
              <a:gd name="connsiteY2" fmla="*/ 1820636 h 1990156"/>
              <a:gd name="connsiteX3" fmla="*/ 2857500 w 2857500"/>
              <a:gd name="connsiteY3" fmla="*/ 1967593 h 1990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7500" h="1990156">
                <a:moveTo>
                  <a:pt x="0" y="0"/>
                </a:moveTo>
                <a:cubicBezTo>
                  <a:pt x="355146" y="203427"/>
                  <a:pt x="710293" y="406854"/>
                  <a:pt x="1053193" y="710293"/>
                </a:cubicBezTo>
                <a:cubicBezTo>
                  <a:pt x="1396093" y="1013732"/>
                  <a:pt x="1756682" y="1611086"/>
                  <a:pt x="2057400" y="1820636"/>
                </a:cubicBezTo>
                <a:cubicBezTo>
                  <a:pt x="2358118" y="2030186"/>
                  <a:pt x="2607809" y="1998889"/>
                  <a:pt x="2857500" y="1967593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手繪多邊形 44"/>
          <p:cNvSpPr/>
          <p:nvPr/>
        </p:nvSpPr>
        <p:spPr>
          <a:xfrm>
            <a:off x="6400800" y="4653643"/>
            <a:ext cx="2800350" cy="555171"/>
          </a:xfrm>
          <a:custGeom>
            <a:avLst/>
            <a:gdLst>
              <a:gd name="connsiteX0" fmla="*/ 0 w 2800350"/>
              <a:gd name="connsiteY0" fmla="*/ 0 h 555171"/>
              <a:gd name="connsiteX1" fmla="*/ 1894114 w 2800350"/>
              <a:gd name="connsiteY1" fmla="*/ 424543 h 555171"/>
              <a:gd name="connsiteX2" fmla="*/ 2800350 w 2800350"/>
              <a:gd name="connsiteY2" fmla="*/ 555171 h 55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00350" h="555171">
                <a:moveTo>
                  <a:pt x="0" y="0"/>
                </a:moveTo>
                <a:lnTo>
                  <a:pt x="1894114" y="424543"/>
                </a:lnTo>
                <a:cubicBezTo>
                  <a:pt x="2360839" y="517072"/>
                  <a:pt x="2580594" y="536121"/>
                  <a:pt x="2800350" y="555171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手繪多邊形 46"/>
          <p:cNvSpPr/>
          <p:nvPr/>
        </p:nvSpPr>
        <p:spPr>
          <a:xfrm>
            <a:off x="6384472" y="5323114"/>
            <a:ext cx="2759528" cy="947057"/>
          </a:xfrm>
          <a:custGeom>
            <a:avLst/>
            <a:gdLst>
              <a:gd name="connsiteX0" fmla="*/ 0 w 2759528"/>
              <a:gd name="connsiteY0" fmla="*/ 947057 h 947057"/>
              <a:gd name="connsiteX1" fmla="*/ 1257300 w 2759528"/>
              <a:gd name="connsiteY1" fmla="*/ 449036 h 947057"/>
              <a:gd name="connsiteX2" fmla="*/ 2081892 w 2759528"/>
              <a:gd name="connsiteY2" fmla="*/ 171450 h 947057"/>
              <a:gd name="connsiteX3" fmla="*/ 2359478 w 2759528"/>
              <a:gd name="connsiteY3" fmla="*/ 40822 h 947057"/>
              <a:gd name="connsiteX4" fmla="*/ 2759528 w 2759528"/>
              <a:gd name="connsiteY4" fmla="*/ 0 h 947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59528" h="947057">
                <a:moveTo>
                  <a:pt x="0" y="947057"/>
                </a:moveTo>
                <a:lnTo>
                  <a:pt x="1257300" y="449036"/>
                </a:lnTo>
                <a:cubicBezTo>
                  <a:pt x="1604282" y="319768"/>
                  <a:pt x="1898196" y="239486"/>
                  <a:pt x="2081892" y="171450"/>
                </a:cubicBezTo>
                <a:cubicBezTo>
                  <a:pt x="2265588" y="103414"/>
                  <a:pt x="2246539" y="69397"/>
                  <a:pt x="2359478" y="40822"/>
                </a:cubicBezTo>
                <a:cubicBezTo>
                  <a:pt x="2472417" y="12247"/>
                  <a:pt x="2615972" y="6123"/>
                  <a:pt x="2759528" y="0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文字方塊 75"/>
          <p:cNvSpPr txBox="1"/>
          <p:nvPr/>
        </p:nvSpPr>
        <p:spPr>
          <a:xfrm>
            <a:off x="4831298" y="338414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endParaRPr lang="zh-TW" altLang="en-US" sz="2800" baseline="-250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4863667" y="1122633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4866660" y="2025649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endParaRPr lang="zh-TW" altLang="en-US" sz="2800" baseline="-25000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4866660" y="2801712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  <p:sp>
        <p:nvSpPr>
          <p:cNvPr id="85" name="文字方塊 84"/>
          <p:cNvSpPr txBox="1"/>
          <p:nvPr/>
        </p:nvSpPr>
        <p:spPr>
          <a:xfrm>
            <a:off x="4863667" y="3610287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4</a:t>
            </a:r>
            <a:endParaRPr lang="zh-TW" altLang="en-US" sz="2800" baseline="-25000" dirty="0"/>
          </a:p>
        </p:txBody>
      </p:sp>
      <p:sp>
        <p:nvSpPr>
          <p:cNvPr id="86" name="文字方塊 85"/>
          <p:cNvSpPr txBox="1"/>
          <p:nvPr/>
        </p:nvSpPr>
        <p:spPr>
          <a:xfrm>
            <a:off x="4865325" y="4411604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5</a:t>
            </a:r>
            <a:endParaRPr lang="zh-TW" altLang="en-US" sz="2800" baseline="-25000" dirty="0"/>
          </a:p>
        </p:txBody>
      </p:sp>
      <p:sp>
        <p:nvSpPr>
          <p:cNvPr id="87" name="文字方塊 86"/>
          <p:cNvSpPr txBox="1"/>
          <p:nvPr/>
        </p:nvSpPr>
        <p:spPr>
          <a:xfrm>
            <a:off x="4866943" y="5209880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6</a:t>
            </a:r>
            <a:endParaRPr lang="zh-TW" altLang="en-US" sz="2800" baseline="-25000" dirty="0"/>
          </a:p>
        </p:txBody>
      </p:sp>
      <p:sp>
        <p:nvSpPr>
          <p:cNvPr id="88" name="文字方塊 87"/>
          <p:cNvSpPr txBox="1"/>
          <p:nvPr/>
        </p:nvSpPr>
        <p:spPr>
          <a:xfrm>
            <a:off x="4866974" y="6017169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7</a:t>
            </a:r>
            <a:endParaRPr lang="zh-TW" altLang="en-US" sz="2800" baseline="-25000" dirty="0"/>
          </a:p>
        </p:txBody>
      </p:sp>
    </p:spTree>
    <p:extLst>
      <p:ext uri="{BB962C8B-B14F-4D97-AF65-F5344CB8AC3E}">
        <p14:creationId xmlns:p14="http://schemas.microsoft.com/office/powerpoint/2010/main" val="796683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237341" y="4715708"/>
            <a:ext cx="4035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y = D</a:t>
            </a:r>
            <a:r>
              <a:rPr lang="en-US" altLang="zh-TW" sz="3200" b="1" baseline="-25000" dirty="0" smtClean="0">
                <a:solidFill>
                  <a:srgbClr val="C00000"/>
                </a:solidFill>
              </a:rPr>
              <a:t>2 </a:t>
            </a:r>
            <a:r>
              <a:rPr lang="en-US" altLang="zh-TW" sz="3200" b="1" dirty="0">
                <a:solidFill>
                  <a:srgbClr val="C00000"/>
                </a:solidFill>
              </a:rPr>
              <a:t>+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3200" b="1" dirty="0">
                <a:solidFill>
                  <a:srgbClr val="C00000"/>
                </a:solidFill>
              </a:rPr>
              <a:t> + D</a:t>
            </a:r>
            <a:r>
              <a:rPr lang="en-US" altLang="zh-TW" sz="3200" b="1" baseline="-25000" dirty="0">
                <a:solidFill>
                  <a:srgbClr val="C00000"/>
                </a:solidFill>
              </a:rPr>
              <a:t>6 </a:t>
            </a:r>
            <a:r>
              <a:rPr lang="en-US" altLang="zh-TW" sz="3200" b="1" dirty="0">
                <a:solidFill>
                  <a:srgbClr val="C00000"/>
                </a:solidFill>
              </a:rPr>
              <a:t>+ D</a:t>
            </a:r>
            <a:r>
              <a:rPr lang="en-US" altLang="zh-TW" sz="3200" b="1" baseline="-25000" dirty="0">
                <a:solidFill>
                  <a:srgbClr val="C00000"/>
                </a:solidFill>
              </a:rPr>
              <a:t>7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 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237341" y="4091626"/>
            <a:ext cx="4035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0000FF"/>
                </a:solidFill>
              </a:rPr>
              <a:t>x = 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4 </a:t>
            </a:r>
            <a:r>
              <a:rPr lang="en-US" altLang="zh-TW" sz="3200" b="1" dirty="0">
                <a:solidFill>
                  <a:srgbClr val="0000FF"/>
                </a:solidFill>
              </a:rPr>
              <a:t>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5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>
                <a:solidFill>
                  <a:srgbClr val="0000FF"/>
                </a:solidFill>
              </a:rPr>
              <a:t>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6 </a:t>
            </a:r>
            <a:r>
              <a:rPr lang="en-US" altLang="zh-TW" sz="3200" b="1" dirty="0">
                <a:solidFill>
                  <a:srgbClr val="0000FF"/>
                </a:solidFill>
              </a:rPr>
              <a:t>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7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 </a:t>
            </a:r>
            <a:endParaRPr lang="zh-TW" altLang="en-US" sz="3200" b="1" dirty="0">
              <a:solidFill>
                <a:srgbClr val="0000FF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237341" y="5339789"/>
            <a:ext cx="40142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z = D</a:t>
            </a:r>
            <a:r>
              <a:rPr lang="en-US" altLang="zh-TW" sz="3200" b="1" baseline="-25000" dirty="0" smtClean="0"/>
              <a:t>1 </a:t>
            </a:r>
            <a:r>
              <a:rPr lang="en-US" altLang="zh-TW" sz="3200" b="1" dirty="0"/>
              <a:t>+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3</a:t>
            </a:r>
            <a:r>
              <a:rPr lang="en-US" altLang="zh-TW" sz="3200" b="1" dirty="0"/>
              <a:t> +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5 </a:t>
            </a:r>
            <a:r>
              <a:rPr lang="en-US" altLang="zh-TW" sz="3200" b="1" dirty="0"/>
              <a:t>+ D</a:t>
            </a:r>
            <a:r>
              <a:rPr lang="en-US" altLang="zh-TW" sz="3200" b="1" baseline="-25000" dirty="0"/>
              <a:t>7</a:t>
            </a:r>
            <a:r>
              <a:rPr lang="en-US" altLang="zh-TW" sz="3200" b="1" dirty="0" smtClean="0"/>
              <a:t> </a:t>
            </a:r>
            <a:endParaRPr lang="zh-TW" altLang="en-US" sz="3200" b="1" dirty="0"/>
          </a:p>
        </p:txBody>
      </p:sp>
      <p:sp>
        <p:nvSpPr>
          <p:cNvPr id="7" name="矩形 6"/>
          <p:cNvSpPr/>
          <p:nvPr/>
        </p:nvSpPr>
        <p:spPr>
          <a:xfrm>
            <a:off x="1200171" y="879706"/>
            <a:ext cx="1409351" cy="27515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8-to-3 Encoder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8" name="直線接點 7"/>
          <p:cNvCxnSpPr/>
          <p:nvPr/>
        </p:nvCxnSpPr>
        <p:spPr>
          <a:xfrm>
            <a:off x="763944" y="1039097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763944" y="1384244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763944" y="1729391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763944" y="20745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763944" y="2419685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763944" y="2764832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763944" y="3109979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763944" y="3455126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2609522" y="1500492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2609522" y="2287260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2609521" y="3074027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237341" y="808264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237341" y="1153411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237341" y="149855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237341" y="1842042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237341" y="2134055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4</a:t>
            </a:r>
            <a:endParaRPr lang="zh-TW" altLang="en-US" sz="2400" baseline="-250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237341" y="2479202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5</a:t>
            </a:r>
            <a:endParaRPr lang="zh-TW" altLang="en-US" sz="2400" baseline="-25000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237341" y="2824349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6</a:t>
            </a:r>
            <a:endParaRPr lang="zh-TW" altLang="en-US" sz="2400" baseline="-250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237341" y="3167833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7</a:t>
            </a:r>
            <a:endParaRPr lang="zh-TW" altLang="en-US" sz="2400" baseline="-250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3102100" y="2824348"/>
            <a:ext cx="3193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z</a:t>
            </a:r>
            <a:endParaRPr lang="zh-TW" altLang="en-US" sz="24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87924" y="205642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3094887" y="123147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  <p:grpSp>
        <p:nvGrpSpPr>
          <p:cNvPr id="30" name="Group 4"/>
          <p:cNvGrpSpPr>
            <a:grpSpLocks noChangeAspect="1"/>
          </p:cNvGrpSpPr>
          <p:nvPr/>
        </p:nvGrpSpPr>
        <p:grpSpPr bwMode="auto">
          <a:xfrm>
            <a:off x="8794583" y="1498558"/>
            <a:ext cx="1495425" cy="793750"/>
            <a:chOff x="2347" y="1818"/>
            <a:chExt cx="942" cy="500"/>
          </a:xfrm>
        </p:grpSpPr>
        <p:sp>
          <p:nvSpPr>
            <p:cNvPr id="31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2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3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grpSp>
        <p:nvGrpSpPr>
          <p:cNvPr id="34" name="Group 4"/>
          <p:cNvGrpSpPr>
            <a:grpSpLocks noChangeAspect="1"/>
          </p:cNvGrpSpPr>
          <p:nvPr/>
        </p:nvGrpSpPr>
        <p:grpSpPr bwMode="auto">
          <a:xfrm>
            <a:off x="8794585" y="3085574"/>
            <a:ext cx="1495425" cy="793750"/>
            <a:chOff x="2347" y="1818"/>
            <a:chExt cx="942" cy="500"/>
          </a:xfrm>
        </p:grpSpPr>
        <p:sp>
          <p:nvSpPr>
            <p:cNvPr id="35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6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7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grpSp>
        <p:nvGrpSpPr>
          <p:cNvPr id="38" name="Group 4"/>
          <p:cNvGrpSpPr>
            <a:grpSpLocks noChangeAspect="1"/>
          </p:cNvGrpSpPr>
          <p:nvPr/>
        </p:nvGrpSpPr>
        <p:grpSpPr bwMode="auto">
          <a:xfrm>
            <a:off x="8794584" y="4672589"/>
            <a:ext cx="1495425" cy="793750"/>
            <a:chOff x="2347" y="1818"/>
            <a:chExt cx="942" cy="500"/>
          </a:xfrm>
        </p:grpSpPr>
        <p:sp>
          <p:nvSpPr>
            <p:cNvPr id="39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40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41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sp>
        <p:nvSpPr>
          <p:cNvPr id="46" name="矩形 45"/>
          <p:cNvSpPr/>
          <p:nvPr/>
        </p:nvSpPr>
        <p:spPr>
          <a:xfrm>
            <a:off x="6319158" y="389437"/>
            <a:ext cx="4245428" cy="6131378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8" name="直線接點 47"/>
          <p:cNvCxnSpPr/>
          <p:nvPr/>
        </p:nvCxnSpPr>
        <p:spPr>
          <a:xfrm>
            <a:off x="6106886" y="653142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6106886" y="1456536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6106886" y="2259930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6106886" y="3063324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6106886" y="3866718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6106886" y="4670112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6106886" y="5473506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6106886" y="6276898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字方塊 55"/>
          <p:cNvSpPr txBox="1"/>
          <p:nvPr/>
        </p:nvSpPr>
        <p:spPr>
          <a:xfrm>
            <a:off x="5541999" y="338414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5574368" y="1122633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5577361" y="2025649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endParaRPr lang="zh-TW" altLang="en-US" sz="2800" b="1" baseline="-25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5577361" y="2801712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5574368" y="3610287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5576026" y="4411604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1</a:t>
            </a:r>
            <a:endParaRPr lang="zh-TW" altLang="en-US" sz="2800" b="1" baseline="-25000" dirty="0"/>
          </a:p>
        </p:txBody>
      </p:sp>
      <p:sp>
        <p:nvSpPr>
          <p:cNvPr id="62" name="文字方塊 61"/>
          <p:cNvSpPr txBox="1"/>
          <p:nvPr/>
        </p:nvSpPr>
        <p:spPr>
          <a:xfrm>
            <a:off x="5577644" y="5209880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63" name="文字方塊 62"/>
          <p:cNvSpPr txBox="1"/>
          <p:nvPr/>
        </p:nvSpPr>
        <p:spPr>
          <a:xfrm>
            <a:off x="5577675" y="6017169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cxnSp>
        <p:nvCxnSpPr>
          <p:cNvPr id="67" name="直線接點 66"/>
          <p:cNvCxnSpPr/>
          <p:nvPr/>
        </p:nvCxnSpPr>
        <p:spPr>
          <a:xfrm>
            <a:off x="10007434" y="1906545"/>
            <a:ext cx="7286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/>
          <p:cNvCxnSpPr/>
          <p:nvPr/>
        </p:nvCxnSpPr>
        <p:spPr>
          <a:xfrm>
            <a:off x="10007434" y="3482449"/>
            <a:ext cx="7286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9994197" y="5080576"/>
            <a:ext cx="7286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字方塊 70"/>
          <p:cNvSpPr txBox="1"/>
          <p:nvPr/>
        </p:nvSpPr>
        <p:spPr>
          <a:xfrm>
            <a:off x="10877510" y="4789107"/>
            <a:ext cx="276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1</a:t>
            </a:r>
            <a:endParaRPr lang="zh-TW" altLang="en-US" sz="2800" dirty="0"/>
          </a:p>
        </p:txBody>
      </p:sp>
      <p:sp>
        <p:nvSpPr>
          <p:cNvPr id="72" name="文字方塊 71"/>
          <p:cNvSpPr txBox="1"/>
          <p:nvPr/>
        </p:nvSpPr>
        <p:spPr>
          <a:xfrm>
            <a:off x="10858274" y="3163657"/>
            <a:ext cx="294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1</a:t>
            </a:r>
            <a:endParaRPr lang="zh-TW" altLang="en-US" sz="2800" dirty="0"/>
          </a:p>
        </p:txBody>
      </p:sp>
      <p:sp>
        <p:nvSpPr>
          <p:cNvPr id="73" name="文字方塊 72"/>
          <p:cNvSpPr txBox="1"/>
          <p:nvPr/>
        </p:nvSpPr>
        <p:spPr>
          <a:xfrm>
            <a:off x="10858274" y="1615076"/>
            <a:ext cx="294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1</a:t>
            </a:r>
            <a:endParaRPr lang="zh-TW" altLang="en-US" sz="2800" dirty="0"/>
          </a:p>
        </p:txBody>
      </p:sp>
      <p:sp>
        <p:nvSpPr>
          <p:cNvPr id="75" name="手繪多邊形 74"/>
          <p:cNvSpPr/>
          <p:nvPr/>
        </p:nvSpPr>
        <p:spPr>
          <a:xfrm>
            <a:off x="6384472" y="1627563"/>
            <a:ext cx="2751364" cy="2234144"/>
          </a:xfrm>
          <a:custGeom>
            <a:avLst/>
            <a:gdLst>
              <a:gd name="connsiteX0" fmla="*/ 0 w 2751364"/>
              <a:gd name="connsiteY0" fmla="*/ 2234144 h 2234144"/>
              <a:gd name="connsiteX1" fmla="*/ 898071 w 2751364"/>
              <a:gd name="connsiteY1" fmla="*/ 1776944 h 2234144"/>
              <a:gd name="connsiteX2" fmla="*/ 2024742 w 2751364"/>
              <a:gd name="connsiteY2" fmla="*/ 274716 h 2234144"/>
              <a:gd name="connsiteX3" fmla="*/ 2751364 w 2751364"/>
              <a:gd name="connsiteY3" fmla="*/ 5294 h 2234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1364" h="2234144">
                <a:moveTo>
                  <a:pt x="0" y="2234144"/>
                </a:moveTo>
                <a:cubicBezTo>
                  <a:pt x="280307" y="2168829"/>
                  <a:pt x="560614" y="2103515"/>
                  <a:pt x="898071" y="1776944"/>
                </a:cubicBezTo>
                <a:cubicBezTo>
                  <a:pt x="1235528" y="1450373"/>
                  <a:pt x="1715860" y="569991"/>
                  <a:pt x="2024742" y="274716"/>
                </a:cubicBezTo>
                <a:cubicBezTo>
                  <a:pt x="2333624" y="-20559"/>
                  <a:pt x="2542494" y="-7633"/>
                  <a:pt x="2751364" y="5294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手繪多邊形 78"/>
          <p:cNvSpPr/>
          <p:nvPr/>
        </p:nvSpPr>
        <p:spPr>
          <a:xfrm>
            <a:off x="6376307" y="1753043"/>
            <a:ext cx="2833007" cy="2928266"/>
          </a:xfrm>
          <a:custGeom>
            <a:avLst/>
            <a:gdLst>
              <a:gd name="connsiteX0" fmla="*/ 0 w 2833007"/>
              <a:gd name="connsiteY0" fmla="*/ 2916928 h 2928266"/>
              <a:gd name="connsiteX1" fmla="*/ 563336 w 2833007"/>
              <a:gd name="connsiteY1" fmla="*/ 2533207 h 2928266"/>
              <a:gd name="connsiteX2" fmla="*/ 2114550 w 2833007"/>
              <a:gd name="connsiteY2" fmla="*/ 320686 h 2928266"/>
              <a:gd name="connsiteX3" fmla="*/ 2833007 w 2833007"/>
              <a:gd name="connsiteY3" fmla="*/ 59428 h 2928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3007" h="2928266">
                <a:moveTo>
                  <a:pt x="0" y="2916928"/>
                </a:moveTo>
                <a:cubicBezTo>
                  <a:pt x="105455" y="2941421"/>
                  <a:pt x="210911" y="2965914"/>
                  <a:pt x="563336" y="2533207"/>
                </a:cubicBezTo>
                <a:cubicBezTo>
                  <a:pt x="915761" y="2100500"/>
                  <a:pt x="1736271" y="732983"/>
                  <a:pt x="2114550" y="320686"/>
                </a:cubicBezTo>
                <a:cubicBezTo>
                  <a:pt x="2492829" y="-91611"/>
                  <a:pt x="2662918" y="-16092"/>
                  <a:pt x="2833007" y="59428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手繪多邊形 79"/>
          <p:cNvSpPr/>
          <p:nvPr/>
        </p:nvSpPr>
        <p:spPr>
          <a:xfrm>
            <a:off x="6392636" y="1915962"/>
            <a:ext cx="2808514" cy="3545945"/>
          </a:xfrm>
          <a:custGeom>
            <a:avLst/>
            <a:gdLst>
              <a:gd name="connsiteX0" fmla="*/ 0 w 2808514"/>
              <a:gd name="connsiteY0" fmla="*/ 3545945 h 3545945"/>
              <a:gd name="connsiteX1" fmla="*/ 718457 w 2808514"/>
              <a:gd name="connsiteY1" fmla="*/ 2754009 h 3545945"/>
              <a:gd name="connsiteX2" fmla="*/ 2171700 w 2808514"/>
              <a:gd name="connsiteY2" fmla="*/ 345545 h 3545945"/>
              <a:gd name="connsiteX3" fmla="*/ 2808514 w 2808514"/>
              <a:gd name="connsiteY3" fmla="*/ 67959 h 3545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8514" h="3545945">
                <a:moveTo>
                  <a:pt x="0" y="3545945"/>
                </a:moveTo>
                <a:cubicBezTo>
                  <a:pt x="178253" y="3416677"/>
                  <a:pt x="356507" y="3287409"/>
                  <a:pt x="718457" y="2754009"/>
                </a:cubicBezTo>
                <a:cubicBezTo>
                  <a:pt x="1080407" y="2220609"/>
                  <a:pt x="1823357" y="793220"/>
                  <a:pt x="2171700" y="345545"/>
                </a:cubicBezTo>
                <a:cubicBezTo>
                  <a:pt x="2520043" y="-102130"/>
                  <a:pt x="2664278" y="-17086"/>
                  <a:pt x="2808514" y="67959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手繪多邊形 80"/>
          <p:cNvSpPr/>
          <p:nvPr/>
        </p:nvSpPr>
        <p:spPr>
          <a:xfrm>
            <a:off x="6368143" y="2050768"/>
            <a:ext cx="2751364" cy="4219403"/>
          </a:xfrm>
          <a:custGeom>
            <a:avLst/>
            <a:gdLst>
              <a:gd name="connsiteX0" fmla="*/ 0 w 2751364"/>
              <a:gd name="connsiteY0" fmla="*/ 4219403 h 4219403"/>
              <a:gd name="connsiteX1" fmla="*/ 832757 w 2751364"/>
              <a:gd name="connsiteY1" fmla="*/ 3247853 h 4219403"/>
              <a:gd name="connsiteX2" fmla="*/ 2318657 w 2751364"/>
              <a:gd name="connsiteY2" fmla="*/ 357696 h 4219403"/>
              <a:gd name="connsiteX3" fmla="*/ 2751364 w 2751364"/>
              <a:gd name="connsiteY3" fmla="*/ 145425 h 4219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1364" h="4219403">
                <a:moveTo>
                  <a:pt x="0" y="4219403"/>
                </a:moveTo>
                <a:cubicBezTo>
                  <a:pt x="223157" y="4055437"/>
                  <a:pt x="446314" y="3891471"/>
                  <a:pt x="832757" y="3247853"/>
                </a:cubicBezTo>
                <a:cubicBezTo>
                  <a:pt x="1219200" y="2604235"/>
                  <a:pt x="1998889" y="874767"/>
                  <a:pt x="2318657" y="357696"/>
                </a:cubicBezTo>
                <a:cubicBezTo>
                  <a:pt x="2638425" y="-159375"/>
                  <a:pt x="2694894" y="-6975"/>
                  <a:pt x="2751364" y="145425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2" name="手繪多邊形 81"/>
          <p:cNvSpPr/>
          <p:nvPr/>
        </p:nvSpPr>
        <p:spPr>
          <a:xfrm>
            <a:off x="6392636" y="2253343"/>
            <a:ext cx="2759528" cy="1041787"/>
          </a:xfrm>
          <a:custGeom>
            <a:avLst/>
            <a:gdLst>
              <a:gd name="connsiteX0" fmla="*/ 0 w 2759528"/>
              <a:gd name="connsiteY0" fmla="*/ 0 h 1041787"/>
              <a:gd name="connsiteX1" fmla="*/ 775607 w 2759528"/>
              <a:gd name="connsiteY1" fmla="*/ 269421 h 1041787"/>
              <a:gd name="connsiteX2" fmla="*/ 2188028 w 2759528"/>
              <a:gd name="connsiteY2" fmla="*/ 963386 h 1041787"/>
              <a:gd name="connsiteX3" fmla="*/ 2759528 w 2759528"/>
              <a:gd name="connsiteY3" fmla="*/ 996043 h 104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9528" h="1041787">
                <a:moveTo>
                  <a:pt x="0" y="0"/>
                </a:moveTo>
                <a:cubicBezTo>
                  <a:pt x="205468" y="54428"/>
                  <a:pt x="410936" y="108857"/>
                  <a:pt x="775607" y="269421"/>
                </a:cubicBezTo>
                <a:cubicBezTo>
                  <a:pt x="1140278" y="429985"/>
                  <a:pt x="1857374" y="842282"/>
                  <a:pt x="2188028" y="963386"/>
                </a:cubicBezTo>
                <a:cubicBezTo>
                  <a:pt x="2518682" y="1084490"/>
                  <a:pt x="2639105" y="1040266"/>
                  <a:pt x="2759528" y="996043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手繪多邊形 82"/>
          <p:cNvSpPr/>
          <p:nvPr/>
        </p:nvSpPr>
        <p:spPr>
          <a:xfrm>
            <a:off x="6376307" y="3053443"/>
            <a:ext cx="2833007" cy="411394"/>
          </a:xfrm>
          <a:custGeom>
            <a:avLst/>
            <a:gdLst>
              <a:gd name="connsiteX0" fmla="*/ 0 w 2808514"/>
              <a:gd name="connsiteY0" fmla="*/ 0 h 411394"/>
              <a:gd name="connsiteX1" fmla="*/ 1053193 w 2808514"/>
              <a:gd name="connsiteY1" fmla="*/ 383721 h 411394"/>
              <a:gd name="connsiteX2" fmla="*/ 2808514 w 2808514"/>
              <a:gd name="connsiteY2" fmla="*/ 351064 h 411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08514" h="411394">
                <a:moveTo>
                  <a:pt x="0" y="0"/>
                </a:moveTo>
                <a:cubicBezTo>
                  <a:pt x="292553" y="162605"/>
                  <a:pt x="585107" y="325210"/>
                  <a:pt x="1053193" y="383721"/>
                </a:cubicBezTo>
                <a:cubicBezTo>
                  <a:pt x="1521279" y="442232"/>
                  <a:pt x="2164896" y="396648"/>
                  <a:pt x="2808514" y="351064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手繪多邊形 2"/>
          <p:cNvSpPr/>
          <p:nvPr/>
        </p:nvSpPr>
        <p:spPr>
          <a:xfrm>
            <a:off x="6376307" y="3693274"/>
            <a:ext cx="2784022" cy="2568733"/>
          </a:xfrm>
          <a:custGeom>
            <a:avLst/>
            <a:gdLst>
              <a:gd name="connsiteX0" fmla="*/ 0 w 2784022"/>
              <a:gd name="connsiteY0" fmla="*/ 2568733 h 2568733"/>
              <a:gd name="connsiteX1" fmla="*/ 1453243 w 2784022"/>
              <a:gd name="connsiteY1" fmla="*/ 1376747 h 2568733"/>
              <a:gd name="connsiteX2" fmla="*/ 2261507 w 2784022"/>
              <a:gd name="connsiteY2" fmla="*/ 339883 h 2568733"/>
              <a:gd name="connsiteX3" fmla="*/ 2612572 w 2784022"/>
              <a:gd name="connsiteY3" fmla="*/ 45969 h 2568733"/>
              <a:gd name="connsiteX4" fmla="*/ 2784022 w 2784022"/>
              <a:gd name="connsiteY4" fmla="*/ 5147 h 2568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84022" h="2568733">
                <a:moveTo>
                  <a:pt x="0" y="2568733"/>
                </a:moveTo>
                <a:cubicBezTo>
                  <a:pt x="538162" y="2158477"/>
                  <a:pt x="1076325" y="1748222"/>
                  <a:pt x="1453243" y="1376747"/>
                </a:cubicBezTo>
                <a:cubicBezTo>
                  <a:pt x="1830161" y="1005272"/>
                  <a:pt x="2068286" y="561679"/>
                  <a:pt x="2261507" y="339883"/>
                </a:cubicBezTo>
                <a:cubicBezTo>
                  <a:pt x="2454729" y="118087"/>
                  <a:pt x="2525486" y="101758"/>
                  <a:pt x="2612572" y="45969"/>
                </a:cubicBezTo>
                <a:cubicBezTo>
                  <a:pt x="2699658" y="-9820"/>
                  <a:pt x="2741840" y="-2337"/>
                  <a:pt x="2784022" y="5147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手繪多邊形 41"/>
          <p:cNvSpPr/>
          <p:nvPr/>
        </p:nvSpPr>
        <p:spPr>
          <a:xfrm>
            <a:off x="6368143" y="3540230"/>
            <a:ext cx="2841171" cy="1929841"/>
          </a:xfrm>
          <a:custGeom>
            <a:avLst/>
            <a:gdLst>
              <a:gd name="connsiteX0" fmla="*/ 0 w 2841171"/>
              <a:gd name="connsiteY0" fmla="*/ 1929841 h 1929841"/>
              <a:gd name="connsiteX1" fmla="*/ 1485900 w 2841171"/>
              <a:gd name="connsiteY1" fmla="*/ 901141 h 1929841"/>
              <a:gd name="connsiteX2" fmla="*/ 1983921 w 2841171"/>
              <a:gd name="connsiteY2" fmla="*/ 345970 h 1929841"/>
              <a:gd name="connsiteX3" fmla="*/ 2563586 w 2841171"/>
              <a:gd name="connsiteY3" fmla="*/ 35727 h 1929841"/>
              <a:gd name="connsiteX4" fmla="*/ 2841171 w 2841171"/>
              <a:gd name="connsiteY4" fmla="*/ 19399 h 1929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41171" h="1929841">
                <a:moveTo>
                  <a:pt x="0" y="1929841"/>
                </a:moveTo>
                <a:cubicBezTo>
                  <a:pt x="577623" y="1547480"/>
                  <a:pt x="1155247" y="1165119"/>
                  <a:pt x="1485900" y="901141"/>
                </a:cubicBezTo>
                <a:cubicBezTo>
                  <a:pt x="1816553" y="637163"/>
                  <a:pt x="1804307" y="490206"/>
                  <a:pt x="1983921" y="345970"/>
                </a:cubicBezTo>
                <a:cubicBezTo>
                  <a:pt x="2163535" y="201734"/>
                  <a:pt x="2420711" y="90155"/>
                  <a:pt x="2563586" y="35727"/>
                </a:cubicBezTo>
                <a:cubicBezTo>
                  <a:pt x="2706461" y="-18701"/>
                  <a:pt x="2773816" y="349"/>
                  <a:pt x="2841171" y="19399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手繪多邊形 42"/>
          <p:cNvSpPr/>
          <p:nvPr/>
        </p:nvSpPr>
        <p:spPr>
          <a:xfrm>
            <a:off x="6376307" y="1445079"/>
            <a:ext cx="2784022" cy="3444732"/>
          </a:xfrm>
          <a:custGeom>
            <a:avLst/>
            <a:gdLst>
              <a:gd name="connsiteX0" fmla="*/ 0 w 2784022"/>
              <a:gd name="connsiteY0" fmla="*/ 0 h 3444732"/>
              <a:gd name="connsiteX1" fmla="*/ 677636 w 2784022"/>
              <a:gd name="connsiteY1" fmla="*/ 457200 h 3444732"/>
              <a:gd name="connsiteX2" fmla="*/ 1502229 w 2784022"/>
              <a:gd name="connsiteY2" fmla="*/ 2367642 h 3444732"/>
              <a:gd name="connsiteX3" fmla="*/ 2310493 w 2784022"/>
              <a:gd name="connsiteY3" fmla="*/ 3298371 h 3444732"/>
              <a:gd name="connsiteX4" fmla="*/ 2784022 w 2784022"/>
              <a:gd name="connsiteY4" fmla="*/ 3429000 h 3444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84022" h="3444732">
                <a:moveTo>
                  <a:pt x="0" y="0"/>
                </a:moveTo>
                <a:cubicBezTo>
                  <a:pt x="213632" y="31296"/>
                  <a:pt x="427265" y="62593"/>
                  <a:pt x="677636" y="457200"/>
                </a:cubicBezTo>
                <a:cubicBezTo>
                  <a:pt x="928007" y="851807"/>
                  <a:pt x="1230086" y="1894113"/>
                  <a:pt x="1502229" y="2367642"/>
                </a:cubicBezTo>
                <a:cubicBezTo>
                  <a:pt x="1774372" y="2841171"/>
                  <a:pt x="2096861" y="3121478"/>
                  <a:pt x="2310493" y="3298371"/>
                </a:cubicBezTo>
                <a:cubicBezTo>
                  <a:pt x="2524125" y="3475264"/>
                  <a:pt x="2654073" y="3452132"/>
                  <a:pt x="2784022" y="3429000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手繪多邊形 43"/>
          <p:cNvSpPr/>
          <p:nvPr/>
        </p:nvSpPr>
        <p:spPr>
          <a:xfrm>
            <a:off x="6359979" y="3053443"/>
            <a:ext cx="2857500" cy="1990156"/>
          </a:xfrm>
          <a:custGeom>
            <a:avLst/>
            <a:gdLst>
              <a:gd name="connsiteX0" fmla="*/ 0 w 2857500"/>
              <a:gd name="connsiteY0" fmla="*/ 0 h 1990156"/>
              <a:gd name="connsiteX1" fmla="*/ 1053193 w 2857500"/>
              <a:gd name="connsiteY1" fmla="*/ 710293 h 1990156"/>
              <a:gd name="connsiteX2" fmla="*/ 2057400 w 2857500"/>
              <a:gd name="connsiteY2" fmla="*/ 1820636 h 1990156"/>
              <a:gd name="connsiteX3" fmla="*/ 2857500 w 2857500"/>
              <a:gd name="connsiteY3" fmla="*/ 1967593 h 1990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7500" h="1990156">
                <a:moveTo>
                  <a:pt x="0" y="0"/>
                </a:moveTo>
                <a:cubicBezTo>
                  <a:pt x="355146" y="203427"/>
                  <a:pt x="710293" y="406854"/>
                  <a:pt x="1053193" y="710293"/>
                </a:cubicBezTo>
                <a:cubicBezTo>
                  <a:pt x="1396093" y="1013732"/>
                  <a:pt x="1756682" y="1611086"/>
                  <a:pt x="2057400" y="1820636"/>
                </a:cubicBezTo>
                <a:cubicBezTo>
                  <a:pt x="2358118" y="2030186"/>
                  <a:pt x="2607809" y="1998889"/>
                  <a:pt x="2857500" y="1967593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手繪多邊形 44"/>
          <p:cNvSpPr/>
          <p:nvPr/>
        </p:nvSpPr>
        <p:spPr>
          <a:xfrm>
            <a:off x="6400800" y="4653643"/>
            <a:ext cx="2800350" cy="555171"/>
          </a:xfrm>
          <a:custGeom>
            <a:avLst/>
            <a:gdLst>
              <a:gd name="connsiteX0" fmla="*/ 0 w 2800350"/>
              <a:gd name="connsiteY0" fmla="*/ 0 h 555171"/>
              <a:gd name="connsiteX1" fmla="*/ 1894114 w 2800350"/>
              <a:gd name="connsiteY1" fmla="*/ 424543 h 555171"/>
              <a:gd name="connsiteX2" fmla="*/ 2800350 w 2800350"/>
              <a:gd name="connsiteY2" fmla="*/ 555171 h 55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00350" h="555171">
                <a:moveTo>
                  <a:pt x="0" y="0"/>
                </a:moveTo>
                <a:lnTo>
                  <a:pt x="1894114" y="424543"/>
                </a:lnTo>
                <a:cubicBezTo>
                  <a:pt x="2360839" y="517072"/>
                  <a:pt x="2580594" y="536121"/>
                  <a:pt x="2800350" y="555171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手繪多邊形 46"/>
          <p:cNvSpPr/>
          <p:nvPr/>
        </p:nvSpPr>
        <p:spPr>
          <a:xfrm>
            <a:off x="6384472" y="5323114"/>
            <a:ext cx="2759528" cy="947057"/>
          </a:xfrm>
          <a:custGeom>
            <a:avLst/>
            <a:gdLst>
              <a:gd name="connsiteX0" fmla="*/ 0 w 2759528"/>
              <a:gd name="connsiteY0" fmla="*/ 947057 h 947057"/>
              <a:gd name="connsiteX1" fmla="*/ 1257300 w 2759528"/>
              <a:gd name="connsiteY1" fmla="*/ 449036 h 947057"/>
              <a:gd name="connsiteX2" fmla="*/ 2081892 w 2759528"/>
              <a:gd name="connsiteY2" fmla="*/ 171450 h 947057"/>
              <a:gd name="connsiteX3" fmla="*/ 2359478 w 2759528"/>
              <a:gd name="connsiteY3" fmla="*/ 40822 h 947057"/>
              <a:gd name="connsiteX4" fmla="*/ 2759528 w 2759528"/>
              <a:gd name="connsiteY4" fmla="*/ 0 h 947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59528" h="947057">
                <a:moveTo>
                  <a:pt x="0" y="947057"/>
                </a:moveTo>
                <a:lnTo>
                  <a:pt x="1257300" y="449036"/>
                </a:lnTo>
                <a:cubicBezTo>
                  <a:pt x="1604282" y="319768"/>
                  <a:pt x="1898196" y="239486"/>
                  <a:pt x="2081892" y="171450"/>
                </a:cubicBezTo>
                <a:cubicBezTo>
                  <a:pt x="2265588" y="103414"/>
                  <a:pt x="2246539" y="69397"/>
                  <a:pt x="2359478" y="40822"/>
                </a:cubicBezTo>
                <a:cubicBezTo>
                  <a:pt x="2472417" y="12247"/>
                  <a:pt x="2615972" y="6123"/>
                  <a:pt x="2759528" y="0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文字方塊 75"/>
          <p:cNvSpPr txBox="1"/>
          <p:nvPr/>
        </p:nvSpPr>
        <p:spPr>
          <a:xfrm>
            <a:off x="4831298" y="338414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endParaRPr lang="zh-TW" altLang="en-US" sz="2800" baseline="-250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4863667" y="1122633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4866660" y="2025649"/>
            <a:ext cx="538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</a:t>
            </a:r>
            <a:r>
              <a:rPr lang="en-US" altLang="zh-TW" sz="2800" b="1" baseline="-25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  <a:endParaRPr lang="zh-TW" altLang="en-US" sz="2800" b="1" baseline="-25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4" name="文字方塊 83"/>
          <p:cNvSpPr txBox="1"/>
          <p:nvPr/>
        </p:nvSpPr>
        <p:spPr>
          <a:xfrm>
            <a:off x="4866660" y="2801712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  <p:sp>
        <p:nvSpPr>
          <p:cNvPr id="85" name="文字方塊 84"/>
          <p:cNvSpPr txBox="1"/>
          <p:nvPr/>
        </p:nvSpPr>
        <p:spPr>
          <a:xfrm>
            <a:off x="4863667" y="3610287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4</a:t>
            </a:r>
            <a:endParaRPr lang="zh-TW" altLang="en-US" sz="2800" baseline="-25000" dirty="0"/>
          </a:p>
        </p:txBody>
      </p:sp>
      <p:sp>
        <p:nvSpPr>
          <p:cNvPr id="86" name="文字方塊 85"/>
          <p:cNvSpPr txBox="1"/>
          <p:nvPr/>
        </p:nvSpPr>
        <p:spPr>
          <a:xfrm>
            <a:off x="4865325" y="4411604"/>
            <a:ext cx="538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D</a:t>
            </a:r>
            <a:r>
              <a:rPr lang="en-US" altLang="zh-TW" sz="2800" b="1" baseline="-25000" dirty="0" smtClean="0"/>
              <a:t>5</a:t>
            </a:r>
            <a:endParaRPr lang="zh-TW" altLang="en-US" sz="2800" b="1" baseline="-25000" dirty="0"/>
          </a:p>
        </p:txBody>
      </p:sp>
      <p:sp>
        <p:nvSpPr>
          <p:cNvPr id="87" name="文字方塊 86"/>
          <p:cNvSpPr txBox="1"/>
          <p:nvPr/>
        </p:nvSpPr>
        <p:spPr>
          <a:xfrm>
            <a:off x="4866943" y="5209880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6</a:t>
            </a:r>
            <a:endParaRPr lang="zh-TW" altLang="en-US" sz="2800" baseline="-25000" dirty="0"/>
          </a:p>
        </p:txBody>
      </p:sp>
      <p:sp>
        <p:nvSpPr>
          <p:cNvPr id="88" name="文字方塊 87"/>
          <p:cNvSpPr txBox="1"/>
          <p:nvPr/>
        </p:nvSpPr>
        <p:spPr>
          <a:xfrm>
            <a:off x="4866974" y="6017169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7</a:t>
            </a:r>
            <a:endParaRPr lang="zh-TW" altLang="en-US" sz="2800" baseline="-25000" dirty="0"/>
          </a:p>
        </p:txBody>
      </p:sp>
    </p:spTree>
    <p:extLst>
      <p:ext uri="{BB962C8B-B14F-4D97-AF65-F5344CB8AC3E}">
        <p14:creationId xmlns:p14="http://schemas.microsoft.com/office/powerpoint/2010/main" val="2316427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237341" y="4715708"/>
            <a:ext cx="4035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y = D</a:t>
            </a:r>
            <a:r>
              <a:rPr lang="en-US" altLang="zh-TW" sz="3200" b="1" baseline="-25000" dirty="0" smtClean="0">
                <a:solidFill>
                  <a:srgbClr val="C00000"/>
                </a:solidFill>
              </a:rPr>
              <a:t>2 </a:t>
            </a:r>
            <a:r>
              <a:rPr lang="en-US" altLang="zh-TW" sz="3200" b="1" dirty="0">
                <a:solidFill>
                  <a:srgbClr val="C00000"/>
                </a:solidFill>
              </a:rPr>
              <a:t>+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3200" b="1" dirty="0">
                <a:solidFill>
                  <a:srgbClr val="C00000"/>
                </a:solidFill>
              </a:rPr>
              <a:t> + D</a:t>
            </a:r>
            <a:r>
              <a:rPr lang="en-US" altLang="zh-TW" sz="3200" b="1" baseline="-25000" dirty="0">
                <a:solidFill>
                  <a:srgbClr val="C00000"/>
                </a:solidFill>
              </a:rPr>
              <a:t>6 </a:t>
            </a:r>
            <a:r>
              <a:rPr lang="en-US" altLang="zh-TW" sz="3200" b="1" dirty="0">
                <a:solidFill>
                  <a:srgbClr val="C00000"/>
                </a:solidFill>
              </a:rPr>
              <a:t>+ D</a:t>
            </a:r>
            <a:r>
              <a:rPr lang="en-US" altLang="zh-TW" sz="3200" b="1" baseline="-25000" dirty="0">
                <a:solidFill>
                  <a:srgbClr val="C00000"/>
                </a:solidFill>
              </a:rPr>
              <a:t>7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 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237341" y="4091626"/>
            <a:ext cx="4035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0000FF"/>
                </a:solidFill>
              </a:rPr>
              <a:t>x = 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4 </a:t>
            </a:r>
            <a:r>
              <a:rPr lang="en-US" altLang="zh-TW" sz="3200" b="1" dirty="0">
                <a:solidFill>
                  <a:srgbClr val="0000FF"/>
                </a:solidFill>
              </a:rPr>
              <a:t>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5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>
                <a:solidFill>
                  <a:srgbClr val="0000FF"/>
                </a:solidFill>
              </a:rPr>
              <a:t>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6 </a:t>
            </a:r>
            <a:r>
              <a:rPr lang="en-US" altLang="zh-TW" sz="3200" b="1" dirty="0">
                <a:solidFill>
                  <a:srgbClr val="0000FF"/>
                </a:solidFill>
              </a:rPr>
              <a:t>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D</a:t>
            </a:r>
            <a:r>
              <a:rPr lang="en-US" altLang="zh-TW" sz="3200" b="1" baseline="-25000" dirty="0" smtClean="0">
                <a:solidFill>
                  <a:srgbClr val="0000FF"/>
                </a:solidFill>
              </a:rPr>
              <a:t>7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 </a:t>
            </a:r>
            <a:endParaRPr lang="zh-TW" altLang="en-US" sz="3200" b="1" dirty="0">
              <a:solidFill>
                <a:srgbClr val="0000FF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237341" y="5339789"/>
            <a:ext cx="40142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z = D</a:t>
            </a:r>
            <a:r>
              <a:rPr lang="en-US" altLang="zh-TW" sz="3200" b="1" baseline="-25000" dirty="0" smtClean="0"/>
              <a:t>1 </a:t>
            </a:r>
            <a:r>
              <a:rPr lang="en-US" altLang="zh-TW" sz="3200" b="1" dirty="0"/>
              <a:t>+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3</a:t>
            </a:r>
            <a:r>
              <a:rPr lang="en-US" altLang="zh-TW" sz="3200" b="1" dirty="0"/>
              <a:t> +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5 </a:t>
            </a:r>
            <a:r>
              <a:rPr lang="en-US" altLang="zh-TW" sz="3200" b="1" dirty="0"/>
              <a:t>+ D</a:t>
            </a:r>
            <a:r>
              <a:rPr lang="en-US" altLang="zh-TW" sz="3200" b="1" baseline="-25000" dirty="0"/>
              <a:t>7</a:t>
            </a:r>
            <a:r>
              <a:rPr lang="en-US" altLang="zh-TW" sz="3200" b="1" dirty="0" smtClean="0"/>
              <a:t> </a:t>
            </a:r>
            <a:endParaRPr lang="zh-TW" altLang="en-US" sz="3200" b="1" dirty="0"/>
          </a:p>
        </p:txBody>
      </p:sp>
      <p:sp>
        <p:nvSpPr>
          <p:cNvPr id="7" name="矩形 6"/>
          <p:cNvSpPr/>
          <p:nvPr/>
        </p:nvSpPr>
        <p:spPr>
          <a:xfrm>
            <a:off x="1200171" y="879706"/>
            <a:ext cx="1409351" cy="27515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8-to-3 Encoder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8" name="直線接點 7"/>
          <p:cNvCxnSpPr/>
          <p:nvPr/>
        </p:nvCxnSpPr>
        <p:spPr>
          <a:xfrm>
            <a:off x="763944" y="1039097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763944" y="1384244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763944" y="1729391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763944" y="207453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763944" y="2419685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763944" y="2764832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763944" y="3109979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763944" y="3455126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2609522" y="1500492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2609522" y="2287260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2609521" y="3074027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237341" y="808264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237341" y="1153411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237341" y="149855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237341" y="1842042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237341" y="2134055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4</a:t>
            </a:r>
            <a:endParaRPr lang="zh-TW" altLang="en-US" sz="2400" baseline="-250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237341" y="2479202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5</a:t>
            </a:r>
            <a:endParaRPr lang="zh-TW" altLang="en-US" sz="2400" baseline="-25000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237341" y="2824349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6</a:t>
            </a:r>
            <a:endParaRPr lang="zh-TW" altLang="en-US" sz="2400" baseline="-250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237341" y="3167833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7</a:t>
            </a:r>
            <a:endParaRPr lang="zh-TW" altLang="en-US" sz="2400" baseline="-250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3102100" y="2824348"/>
            <a:ext cx="3193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z</a:t>
            </a:r>
            <a:endParaRPr lang="zh-TW" altLang="en-US" sz="24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087924" y="205642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3094887" y="123147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  <p:grpSp>
        <p:nvGrpSpPr>
          <p:cNvPr id="30" name="Group 4"/>
          <p:cNvGrpSpPr>
            <a:grpSpLocks noChangeAspect="1"/>
          </p:cNvGrpSpPr>
          <p:nvPr/>
        </p:nvGrpSpPr>
        <p:grpSpPr bwMode="auto">
          <a:xfrm>
            <a:off x="8794583" y="1498558"/>
            <a:ext cx="1495425" cy="793750"/>
            <a:chOff x="2347" y="1818"/>
            <a:chExt cx="942" cy="500"/>
          </a:xfrm>
        </p:grpSpPr>
        <p:sp>
          <p:nvSpPr>
            <p:cNvPr id="31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2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3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grpSp>
        <p:nvGrpSpPr>
          <p:cNvPr id="34" name="Group 4"/>
          <p:cNvGrpSpPr>
            <a:grpSpLocks noChangeAspect="1"/>
          </p:cNvGrpSpPr>
          <p:nvPr/>
        </p:nvGrpSpPr>
        <p:grpSpPr bwMode="auto">
          <a:xfrm>
            <a:off x="8794585" y="3085574"/>
            <a:ext cx="1495425" cy="793750"/>
            <a:chOff x="2347" y="1818"/>
            <a:chExt cx="942" cy="500"/>
          </a:xfrm>
        </p:grpSpPr>
        <p:sp>
          <p:nvSpPr>
            <p:cNvPr id="35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6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37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grpSp>
        <p:nvGrpSpPr>
          <p:cNvPr id="38" name="Group 4"/>
          <p:cNvGrpSpPr>
            <a:grpSpLocks noChangeAspect="1"/>
          </p:cNvGrpSpPr>
          <p:nvPr/>
        </p:nvGrpSpPr>
        <p:grpSpPr bwMode="auto">
          <a:xfrm>
            <a:off x="8794584" y="4672589"/>
            <a:ext cx="1495425" cy="793750"/>
            <a:chOff x="2347" y="1818"/>
            <a:chExt cx="942" cy="500"/>
          </a:xfrm>
        </p:grpSpPr>
        <p:sp>
          <p:nvSpPr>
            <p:cNvPr id="39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40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41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sp>
        <p:nvSpPr>
          <p:cNvPr id="46" name="矩形 45"/>
          <p:cNvSpPr/>
          <p:nvPr/>
        </p:nvSpPr>
        <p:spPr>
          <a:xfrm>
            <a:off x="6319158" y="389437"/>
            <a:ext cx="4245428" cy="6131378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8" name="直線接點 47"/>
          <p:cNvCxnSpPr/>
          <p:nvPr/>
        </p:nvCxnSpPr>
        <p:spPr>
          <a:xfrm>
            <a:off x="6106886" y="653142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6106886" y="1456536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6106886" y="2259930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6106886" y="3063324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6106886" y="3866718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6106886" y="4670112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6106886" y="5473506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6106886" y="6276898"/>
            <a:ext cx="285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字方塊 55"/>
          <p:cNvSpPr txBox="1"/>
          <p:nvPr/>
        </p:nvSpPr>
        <p:spPr>
          <a:xfrm>
            <a:off x="5541999" y="338414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5574368" y="1122633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0</a:t>
            </a:r>
            <a:endParaRPr lang="zh-TW" altLang="en-US" sz="2800" b="1" baseline="-250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5577361" y="2025649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5577361" y="2801712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5574368" y="3610287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0</a:t>
            </a:r>
            <a:endParaRPr lang="zh-TW" altLang="en-US" sz="2800" b="1" baseline="-250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5576026" y="4411604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62" name="文字方塊 61"/>
          <p:cNvSpPr txBox="1"/>
          <p:nvPr/>
        </p:nvSpPr>
        <p:spPr>
          <a:xfrm>
            <a:off x="5577644" y="5209880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sp>
        <p:nvSpPr>
          <p:cNvPr id="63" name="文字方塊 62"/>
          <p:cNvSpPr txBox="1"/>
          <p:nvPr/>
        </p:nvSpPr>
        <p:spPr>
          <a:xfrm>
            <a:off x="5577675" y="6017169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baseline="-25000" dirty="0"/>
          </a:p>
        </p:txBody>
      </p:sp>
      <p:cxnSp>
        <p:nvCxnSpPr>
          <p:cNvPr id="67" name="直線接點 66"/>
          <p:cNvCxnSpPr/>
          <p:nvPr/>
        </p:nvCxnSpPr>
        <p:spPr>
          <a:xfrm>
            <a:off x="10007434" y="1906545"/>
            <a:ext cx="7286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/>
          <p:cNvCxnSpPr/>
          <p:nvPr/>
        </p:nvCxnSpPr>
        <p:spPr>
          <a:xfrm>
            <a:off x="10007434" y="3482449"/>
            <a:ext cx="7286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9994197" y="5080576"/>
            <a:ext cx="7286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字方塊 70"/>
          <p:cNvSpPr txBox="1"/>
          <p:nvPr/>
        </p:nvSpPr>
        <p:spPr>
          <a:xfrm>
            <a:off x="10877510" y="4789107"/>
            <a:ext cx="276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1</a:t>
            </a:r>
            <a:endParaRPr lang="zh-TW" altLang="en-US" sz="2800" dirty="0"/>
          </a:p>
        </p:txBody>
      </p:sp>
      <p:sp>
        <p:nvSpPr>
          <p:cNvPr id="72" name="文字方塊 71"/>
          <p:cNvSpPr txBox="1"/>
          <p:nvPr/>
        </p:nvSpPr>
        <p:spPr>
          <a:xfrm>
            <a:off x="10858274" y="3163657"/>
            <a:ext cx="294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dirty="0"/>
          </a:p>
        </p:txBody>
      </p:sp>
      <p:sp>
        <p:nvSpPr>
          <p:cNvPr id="73" name="文字方塊 72"/>
          <p:cNvSpPr txBox="1"/>
          <p:nvPr/>
        </p:nvSpPr>
        <p:spPr>
          <a:xfrm>
            <a:off x="10858274" y="1615076"/>
            <a:ext cx="294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1</a:t>
            </a:r>
            <a:endParaRPr lang="zh-TW" altLang="en-US" sz="2800" dirty="0"/>
          </a:p>
        </p:txBody>
      </p:sp>
      <p:sp>
        <p:nvSpPr>
          <p:cNvPr id="75" name="手繪多邊形 74"/>
          <p:cNvSpPr/>
          <p:nvPr/>
        </p:nvSpPr>
        <p:spPr>
          <a:xfrm>
            <a:off x="6384472" y="1627563"/>
            <a:ext cx="2751364" cy="2234144"/>
          </a:xfrm>
          <a:custGeom>
            <a:avLst/>
            <a:gdLst>
              <a:gd name="connsiteX0" fmla="*/ 0 w 2751364"/>
              <a:gd name="connsiteY0" fmla="*/ 2234144 h 2234144"/>
              <a:gd name="connsiteX1" fmla="*/ 898071 w 2751364"/>
              <a:gd name="connsiteY1" fmla="*/ 1776944 h 2234144"/>
              <a:gd name="connsiteX2" fmla="*/ 2024742 w 2751364"/>
              <a:gd name="connsiteY2" fmla="*/ 274716 h 2234144"/>
              <a:gd name="connsiteX3" fmla="*/ 2751364 w 2751364"/>
              <a:gd name="connsiteY3" fmla="*/ 5294 h 2234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1364" h="2234144">
                <a:moveTo>
                  <a:pt x="0" y="2234144"/>
                </a:moveTo>
                <a:cubicBezTo>
                  <a:pt x="280307" y="2168829"/>
                  <a:pt x="560614" y="2103515"/>
                  <a:pt x="898071" y="1776944"/>
                </a:cubicBezTo>
                <a:cubicBezTo>
                  <a:pt x="1235528" y="1450373"/>
                  <a:pt x="1715860" y="569991"/>
                  <a:pt x="2024742" y="274716"/>
                </a:cubicBezTo>
                <a:cubicBezTo>
                  <a:pt x="2333624" y="-20559"/>
                  <a:pt x="2542494" y="-7633"/>
                  <a:pt x="2751364" y="5294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手繪多邊形 78"/>
          <p:cNvSpPr/>
          <p:nvPr/>
        </p:nvSpPr>
        <p:spPr>
          <a:xfrm>
            <a:off x="6376307" y="1753043"/>
            <a:ext cx="2833007" cy="2928266"/>
          </a:xfrm>
          <a:custGeom>
            <a:avLst/>
            <a:gdLst>
              <a:gd name="connsiteX0" fmla="*/ 0 w 2833007"/>
              <a:gd name="connsiteY0" fmla="*/ 2916928 h 2928266"/>
              <a:gd name="connsiteX1" fmla="*/ 563336 w 2833007"/>
              <a:gd name="connsiteY1" fmla="*/ 2533207 h 2928266"/>
              <a:gd name="connsiteX2" fmla="*/ 2114550 w 2833007"/>
              <a:gd name="connsiteY2" fmla="*/ 320686 h 2928266"/>
              <a:gd name="connsiteX3" fmla="*/ 2833007 w 2833007"/>
              <a:gd name="connsiteY3" fmla="*/ 59428 h 2928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3007" h="2928266">
                <a:moveTo>
                  <a:pt x="0" y="2916928"/>
                </a:moveTo>
                <a:cubicBezTo>
                  <a:pt x="105455" y="2941421"/>
                  <a:pt x="210911" y="2965914"/>
                  <a:pt x="563336" y="2533207"/>
                </a:cubicBezTo>
                <a:cubicBezTo>
                  <a:pt x="915761" y="2100500"/>
                  <a:pt x="1736271" y="732983"/>
                  <a:pt x="2114550" y="320686"/>
                </a:cubicBezTo>
                <a:cubicBezTo>
                  <a:pt x="2492829" y="-91611"/>
                  <a:pt x="2662918" y="-16092"/>
                  <a:pt x="2833007" y="59428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手繪多邊形 79"/>
          <p:cNvSpPr/>
          <p:nvPr/>
        </p:nvSpPr>
        <p:spPr>
          <a:xfrm>
            <a:off x="6392636" y="1915962"/>
            <a:ext cx="2808514" cy="3545945"/>
          </a:xfrm>
          <a:custGeom>
            <a:avLst/>
            <a:gdLst>
              <a:gd name="connsiteX0" fmla="*/ 0 w 2808514"/>
              <a:gd name="connsiteY0" fmla="*/ 3545945 h 3545945"/>
              <a:gd name="connsiteX1" fmla="*/ 718457 w 2808514"/>
              <a:gd name="connsiteY1" fmla="*/ 2754009 h 3545945"/>
              <a:gd name="connsiteX2" fmla="*/ 2171700 w 2808514"/>
              <a:gd name="connsiteY2" fmla="*/ 345545 h 3545945"/>
              <a:gd name="connsiteX3" fmla="*/ 2808514 w 2808514"/>
              <a:gd name="connsiteY3" fmla="*/ 67959 h 3545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8514" h="3545945">
                <a:moveTo>
                  <a:pt x="0" y="3545945"/>
                </a:moveTo>
                <a:cubicBezTo>
                  <a:pt x="178253" y="3416677"/>
                  <a:pt x="356507" y="3287409"/>
                  <a:pt x="718457" y="2754009"/>
                </a:cubicBezTo>
                <a:cubicBezTo>
                  <a:pt x="1080407" y="2220609"/>
                  <a:pt x="1823357" y="793220"/>
                  <a:pt x="2171700" y="345545"/>
                </a:cubicBezTo>
                <a:cubicBezTo>
                  <a:pt x="2520043" y="-102130"/>
                  <a:pt x="2664278" y="-17086"/>
                  <a:pt x="2808514" y="67959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手繪多邊形 80"/>
          <p:cNvSpPr/>
          <p:nvPr/>
        </p:nvSpPr>
        <p:spPr>
          <a:xfrm>
            <a:off x="6368143" y="2050768"/>
            <a:ext cx="2751364" cy="4219403"/>
          </a:xfrm>
          <a:custGeom>
            <a:avLst/>
            <a:gdLst>
              <a:gd name="connsiteX0" fmla="*/ 0 w 2751364"/>
              <a:gd name="connsiteY0" fmla="*/ 4219403 h 4219403"/>
              <a:gd name="connsiteX1" fmla="*/ 832757 w 2751364"/>
              <a:gd name="connsiteY1" fmla="*/ 3247853 h 4219403"/>
              <a:gd name="connsiteX2" fmla="*/ 2318657 w 2751364"/>
              <a:gd name="connsiteY2" fmla="*/ 357696 h 4219403"/>
              <a:gd name="connsiteX3" fmla="*/ 2751364 w 2751364"/>
              <a:gd name="connsiteY3" fmla="*/ 145425 h 4219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1364" h="4219403">
                <a:moveTo>
                  <a:pt x="0" y="4219403"/>
                </a:moveTo>
                <a:cubicBezTo>
                  <a:pt x="223157" y="4055437"/>
                  <a:pt x="446314" y="3891471"/>
                  <a:pt x="832757" y="3247853"/>
                </a:cubicBezTo>
                <a:cubicBezTo>
                  <a:pt x="1219200" y="2604235"/>
                  <a:pt x="1998889" y="874767"/>
                  <a:pt x="2318657" y="357696"/>
                </a:cubicBezTo>
                <a:cubicBezTo>
                  <a:pt x="2638425" y="-159375"/>
                  <a:pt x="2694894" y="-6975"/>
                  <a:pt x="2751364" y="145425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2" name="手繪多邊形 81"/>
          <p:cNvSpPr/>
          <p:nvPr/>
        </p:nvSpPr>
        <p:spPr>
          <a:xfrm>
            <a:off x="6392636" y="2253343"/>
            <a:ext cx="2759528" cy="1041787"/>
          </a:xfrm>
          <a:custGeom>
            <a:avLst/>
            <a:gdLst>
              <a:gd name="connsiteX0" fmla="*/ 0 w 2759528"/>
              <a:gd name="connsiteY0" fmla="*/ 0 h 1041787"/>
              <a:gd name="connsiteX1" fmla="*/ 775607 w 2759528"/>
              <a:gd name="connsiteY1" fmla="*/ 269421 h 1041787"/>
              <a:gd name="connsiteX2" fmla="*/ 2188028 w 2759528"/>
              <a:gd name="connsiteY2" fmla="*/ 963386 h 1041787"/>
              <a:gd name="connsiteX3" fmla="*/ 2759528 w 2759528"/>
              <a:gd name="connsiteY3" fmla="*/ 996043 h 104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9528" h="1041787">
                <a:moveTo>
                  <a:pt x="0" y="0"/>
                </a:moveTo>
                <a:cubicBezTo>
                  <a:pt x="205468" y="54428"/>
                  <a:pt x="410936" y="108857"/>
                  <a:pt x="775607" y="269421"/>
                </a:cubicBezTo>
                <a:cubicBezTo>
                  <a:pt x="1140278" y="429985"/>
                  <a:pt x="1857374" y="842282"/>
                  <a:pt x="2188028" y="963386"/>
                </a:cubicBezTo>
                <a:cubicBezTo>
                  <a:pt x="2518682" y="1084490"/>
                  <a:pt x="2639105" y="1040266"/>
                  <a:pt x="2759528" y="996043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手繪多邊形 82"/>
          <p:cNvSpPr/>
          <p:nvPr/>
        </p:nvSpPr>
        <p:spPr>
          <a:xfrm>
            <a:off x="6376307" y="3053443"/>
            <a:ext cx="2833007" cy="411394"/>
          </a:xfrm>
          <a:custGeom>
            <a:avLst/>
            <a:gdLst>
              <a:gd name="connsiteX0" fmla="*/ 0 w 2808514"/>
              <a:gd name="connsiteY0" fmla="*/ 0 h 411394"/>
              <a:gd name="connsiteX1" fmla="*/ 1053193 w 2808514"/>
              <a:gd name="connsiteY1" fmla="*/ 383721 h 411394"/>
              <a:gd name="connsiteX2" fmla="*/ 2808514 w 2808514"/>
              <a:gd name="connsiteY2" fmla="*/ 351064 h 411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08514" h="411394">
                <a:moveTo>
                  <a:pt x="0" y="0"/>
                </a:moveTo>
                <a:cubicBezTo>
                  <a:pt x="292553" y="162605"/>
                  <a:pt x="585107" y="325210"/>
                  <a:pt x="1053193" y="383721"/>
                </a:cubicBezTo>
                <a:cubicBezTo>
                  <a:pt x="1521279" y="442232"/>
                  <a:pt x="2164896" y="396648"/>
                  <a:pt x="2808514" y="351064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手繪多邊形 2"/>
          <p:cNvSpPr/>
          <p:nvPr/>
        </p:nvSpPr>
        <p:spPr>
          <a:xfrm>
            <a:off x="6376307" y="3693274"/>
            <a:ext cx="2784022" cy="2568733"/>
          </a:xfrm>
          <a:custGeom>
            <a:avLst/>
            <a:gdLst>
              <a:gd name="connsiteX0" fmla="*/ 0 w 2784022"/>
              <a:gd name="connsiteY0" fmla="*/ 2568733 h 2568733"/>
              <a:gd name="connsiteX1" fmla="*/ 1453243 w 2784022"/>
              <a:gd name="connsiteY1" fmla="*/ 1376747 h 2568733"/>
              <a:gd name="connsiteX2" fmla="*/ 2261507 w 2784022"/>
              <a:gd name="connsiteY2" fmla="*/ 339883 h 2568733"/>
              <a:gd name="connsiteX3" fmla="*/ 2612572 w 2784022"/>
              <a:gd name="connsiteY3" fmla="*/ 45969 h 2568733"/>
              <a:gd name="connsiteX4" fmla="*/ 2784022 w 2784022"/>
              <a:gd name="connsiteY4" fmla="*/ 5147 h 2568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84022" h="2568733">
                <a:moveTo>
                  <a:pt x="0" y="2568733"/>
                </a:moveTo>
                <a:cubicBezTo>
                  <a:pt x="538162" y="2158477"/>
                  <a:pt x="1076325" y="1748222"/>
                  <a:pt x="1453243" y="1376747"/>
                </a:cubicBezTo>
                <a:cubicBezTo>
                  <a:pt x="1830161" y="1005272"/>
                  <a:pt x="2068286" y="561679"/>
                  <a:pt x="2261507" y="339883"/>
                </a:cubicBezTo>
                <a:cubicBezTo>
                  <a:pt x="2454729" y="118087"/>
                  <a:pt x="2525486" y="101758"/>
                  <a:pt x="2612572" y="45969"/>
                </a:cubicBezTo>
                <a:cubicBezTo>
                  <a:pt x="2699658" y="-9820"/>
                  <a:pt x="2741840" y="-2337"/>
                  <a:pt x="2784022" y="5147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手繪多邊形 41"/>
          <p:cNvSpPr/>
          <p:nvPr/>
        </p:nvSpPr>
        <p:spPr>
          <a:xfrm>
            <a:off x="6368143" y="3540230"/>
            <a:ext cx="2841171" cy="1929841"/>
          </a:xfrm>
          <a:custGeom>
            <a:avLst/>
            <a:gdLst>
              <a:gd name="connsiteX0" fmla="*/ 0 w 2841171"/>
              <a:gd name="connsiteY0" fmla="*/ 1929841 h 1929841"/>
              <a:gd name="connsiteX1" fmla="*/ 1485900 w 2841171"/>
              <a:gd name="connsiteY1" fmla="*/ 901141 h 1929841"/>
              <a:gd name="connsiteX2" fmla="*/ 1983921 w 2841171"/>
              <a:gd name="connsiteY2" fmla="*/ 345970 h 1929841"/>
              <a:gd name="connsiteX3" fmla="*/ 2563586 w 2841171"/>
              <a:gd name="connsiteY3" fmla="*/ 35727 h 1929841"/>
              <a:gd name="connsiteX4" fmla="*/ 2841171 w 2841171"/>
              <a:gd name="connsiteY4" fmla="*/ 19399 h 1929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41171" h="1929841">
                <a:moveTo>
                  <a:pt x="0" y="1929841"/>
                </a:moveTo>
                <a:cubicBezTo>
                  <a:pt x="577623" y="1547480"/>
                  <a:pt x="1155247" y="1165119"/>
                  <a:pt x="1485900" y="901141"/>
                </a:cubicBezTo>
                <a:cubicBezTo>
                  <a:pt x="1816553" y="637163"/>
                  <a:pt x="1804307" y="490206"/>
                  <a:pt x="1983921" y="345970"/>
                </a:cubicBezTo>
                <a:cubicBezTo>
                  <a:pt x="2163535" y="201734"/>
                  <a:pt x="2420711" y="90155"/>
                  <a:pt x="2563586" y="35727"/>
                </a:cubicBezTo>
                <a:cubicBezTo>
                  <a:pt x="2706461" y="-18701"/>
                  <a:pt x="2773816" y="349"/>
                  <a:pt x="2841171" y="19399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手繪多邊形 42"/>
          <p:cNvSpPr/>
          <p:nvPr/>
        </p:nvSpPr>
        <p:spPr>
          <a:xfrm>
            <a:off x="6376307" y="1445079"/>
            <a:ext cx="2784022" cy="3444732"/>
          </a:xfrm>
          <a:custGeom>
            <a:avLst/>
            <a:gdLst>
              <a:gd name="connsiteX0" fmla="*/ 0 w 2784022"/>
              <a:gd name="connsiteY0" fmla="*/ 0 h 3444732"/>
              <a:gd name="connsiteX1" fmla="*/ 677636 w 2784022"/>
              <a:gd name="connsiteY1" fmla="*/ 457200 h 3444732"/>
              <a:gd name="connsiteX2" fmla="*/ 1502229 w 2784022"/>
              <a:gd name="connsiteY2" fmla="*/ 2367642 h 3444732"/>
              <a:gd name="connsiteX3" fmla="*/ 2310493 w 2784022"/>
              <a:gd name="connsiteY3" fmla="*/ 3298371 h 3444732"/>
              <a:gd name="connsiteX4" fmla="*/ 2784022 w 2784022"/>
              <a:gd name="connsiteY4" fmla="*/ 3429000 h 3444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84022" h="3444732">
                <a:moveTo>
                  <a:pt x="0" y="0"/>
                </a:moveTo>
                <a:cubicBezTo>
                  <a:pt x="213632" y="31296"/>
                  <a:pt x="427265" y="62593"/>
                  <a:pt x="677636" y="457200"/>
                </a:cubicBezTo>
                <a:cubicBezTo>
                  <a:pt x="928007" y="851807"/>
                  <a:pt x="1230086" y="1894113"/>
                  <a:pt x="1502229" y="2367642"/>
                </a:cubicBezTo>
                <a:cubicBezTo>
                  <a:pt x="1774372" y="2841171"/>
                  <a:pt x="2096861" y="3121478"/>
                  <a:pt x="2310493" y="3298371"/>
                </a:cubicBezTo>
                <a:cubicBezTo>
                  <a:pt x="2524125" y="3475264"/>
                  <a:pt x="2654073" y="3452132"/>
                  <a:pt x="2784022" y="3429000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手繪多邊形 43"/>
          <p:cNvSpPr/>
          <p:nvPr/>
        </p:nvSpPr>
        <p:spPr>
          <a:xfrm>
            <a:off x="6359979" y="3053443"/>
            <a:ext cx="2857500" cy="1990156"/>
          </a:xfrm>
          <a:custGeom>
            <a:avLst/>
            <a:gdLst>
              <a:gd name="connsiteX0" fmla="*/ 0 w 2857500"/>
              <a:gd name="connsiteY0" fmla="*/ 0 h 1990156"/>
              <a:gd name="connsiteX1" fmla="*/ 1053193 w 2857500"/>
              <a:gd name="connsiteY1" fmla="*/ 710293 h 1990156"/>
              <a:gd name="connsiteX2" fmla="*/ 2057400 w 2857500"/>
              <a:gd name="connsiteY2" fmla="*/ 1820636 h 1990156"/>
              <a:gd name="connsiteX3" fmla="*/ 2857500 w 2857500"/>
              <a:gd name="connsiteY3" fmla="*/ 1967593 h 1990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7500" h="1990156">
                <a:moveTo>
                  <a:pt x="0" y="0"/>
                </a:moveTo>
                <a:cubicBezTo>
                  <a:pt x="355146" y="203427"/>
                  <a:pt x="710293" y="406854"/>
                  <a:pt x="1053193" y="710293"/>
                </a:cubicBezTo>
                <a:cubicBezTo>
                  <a:pt x="1396093" y="1013732"/>
                  <a:pt x="1756682" y="1611086"/>
                  <a:pt x="2057400" y="1820636"/>
                </a:cubicBezTo>
                <a:cubicBezTo>
                  <a:pt x="2358118" y="2030186"/>
                  <a:pt x="2607809" y="1998889"/>
                  <a:pt x="2857500" y="1967593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手繪多邊形 44"/>
          <p:cNvSpPr/>
          <p:nvPr/>
        </p:nvSpPr>
        <p:spPr>
          <a:xfrm>
            <a:off x="6400800" y="4653643"/>
            <a:ext cx="2800350" cy="555171"/>
          </a:xfrm>
          <a:custGeom>
            <a:avLst/>
            <a:gdLst>
              <a:gd name="connsiteX0" fmla="*/ 0 w 2800350"/>
              <a:gd name="connsiteY0" fmla="*/ 0 h 555171"/>
              <a:gd name="connsiteX1" fmla="*/ 1894114 w 2800350"/>
              <a:gd name="connsiteY1" fmla="*/ 424543 h 555171"/>
              <a:gd name="connsiteX2" fmla="*/ 2800350 w 2800350"/>
              <a:gd name="connsiteY2" fmla="*/ 555171 h 55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00350" h="555171">
                <a:moveTo>
                  <a:pt x="0" y="0"/>
                </a:moveTo>
                <a:lnTo>
                  <a:pt x="1894114" y="424543"/>
                </a:lnTo>
                <a:cubicBezTo>
                  <a:pt x="2360839" y="517072"/>
                  <a:pt x="2580594" y="536121"/>
                  <a:pt x="2800350" y="555171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手繪多邊形 46"/>
          <p:cNvSpPr/>
          <p:nvPr/>
        </p:nvSpPr>
        <p:spPr>
          <a:xfrm>
            <a:off x="6384472" y="5323114"/>
            <a:ext cx="2759528" cy="947057"/>
          </a:xfrm>
          <a:custGeom>
            <a:avLst/>
            <a:gdLst>
              <a:gd name="connsiteX0" fmla="*/ 0 w 2759528"/>
              <a:gd name="connsiteY0" fmla="*/ 947057 h 947057"/>
              <a:gd name="connsiteX1" fmla="*/ 1257300 w 2759528"/>
              <a:gd name="connsiteY1" fmla="*/ 449036 h 947057"/>
              <a:gd name="connsiteX2" fmla="*/ 2081892 w 2759528"/>
              <a:gd name="connsiteY2" fmla="*/ 171450 h 947057"/>
              <a:gd name="connsiteX3" fmla="*/ 2359478 w 2759528"/>
              <a:gd name="connsiteY3" fmla="*/ 40822 h 947057"/>
              <a:gd name="connsiteX4" fmla="*/ 2759528 w 2759528"/>
              <a:gd name="connsiteY4" fmla="*/ 0 h 947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59528" h="947057">
                <a:moveTo>
                  <a:pt x="0" y="947057"/>
                </a:moveTo>
                <a:lnTo>
                  <a:pt x="1257300" y="449036"/>
                </a:lnTo>
                <a:cubicBezTo>
                  <a:pt x="1604282" y="319768"/>
                  <a:pt x="1898196" y="239486"/>
                  <a:pt x="2081892" y="171450"/>
                </a:cubicBezTo>
                <a:cubicBezTo>
                  <a:pt x="2265588" y="103414"/>
                  <a:pt x="2246539" y="69397"/>
                  <a:pt x="2359478" y="40822"/>
                </a:cubicBezTo>
                <a:cubicBezTo>
                  <a:pt x="2472417" y="12247"/>
                  <a:pt x="2615972" y="6123"/>
                  <a:pt x="2759528" y="0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文字方塊 75"/>
          <p:cNvSpPr txBox="1"/>
          <p:nvPr/>
        </p:nvSpPr>
        <p:spPr>
          <a:xfrm>
            <a:off x="4831298" y="338414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endParaRPr lang="zh-TW" altLang="en-US" sz="2800" baseline="-250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4863667" y="1122633"/>
            <a:ext cx="538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D</a:t>
            </a:r>
            <a:r>
              <a:rPr lang="en-US" altLang="zh-TW" sz="2800" b="1" baseline="-25000" dirty="0" smtClean="0"/>
              <a:t>1</a:t>
            </a:r>
            <a:endParaRPr lang="zh-TW" altLang="en-US" sz="2800" b="1" baseline="-250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4866660" y="2025649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endParaRPr lang="zh-TW" altLang="en-US" sz="2800" baseline="-25000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4866660" y="2801712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  <p:sp>
        <p:nvSpPr>
          <p:cNvPr id="85" name="文字方塊 84"/>
          <p:cNvSpPr txBox="1"/>
          <p:nvPr/>
        </p:nvSpPr>
        <p:spPr>
          <a:xfrm>
            <a:off x="4863667" y="3610287"/>
            <a:ext cx="538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D</a:t>
            </a:r>
            <a:r>
              <a:rPr lang="en-US" altLang="zh-TW" sz="2800" b="1" baseline="-25000" dirty="0" smtClean="0"/>
              <a:t>4</a:t>
            </a:r>
            <a:endParaRPr lang="zh-TW" altLang="en-US" sz="2800" b="1" baseline="-25000" dirty="0"/>
          </a:p>
        </p:txBody>
      </p:sp>
      <p:sp>
        <p:nvSpPr>
          <p:cNvPr id="86" name="文字方塊 85"/>
          <p:cNvSpPr txBox="1"/>
          <p:nvPr/>
        </p:nvSpPr>
        <p:spPr>
          <a:xfrm>
            <a:off x="4865325" y="4411604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5</a:t>
            </a:r>
            <a:endParaRPr lang="zh-TW" altLang="en-US" sz="2800" baseline="-25000" dirty="0"/>
          </a:p>
        </p:txBody>
      </p:sp>
      <p:sp>
        <p:nvSpPr>
          <p:cNvPr id="87" name="文字方塊 86"/>
          <p:cNvSpPr txBox="1"/>
          <p:nvPr/>
        </p:nvSpPr>
        <p:spPr>
          <a:xfrm>
            <a:off x="4866943" y="5209880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6</a:t>
            </a:r>
            <a:endParaRPr lang="zh-TW" altLang="en-US" sz="2800" baseline="-25000" dirty="0"/>
          </a:p>
        </p:txBody>
      </p:sp>
      <p:sp>
        <p:nvSpPr>
          <p:cNvPr id="88" name="文字方塊 87"/>
          <p:cNvSpPr txBox="1"/>
          <p:nvPr/>
        </p:nvSpPr>
        <p:spPr>
          <a:xfrm>
            <a:off x="4866974" y="6017169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7</a:t>
            </a:r>
            <a:endParaRPr lang="zh-TW" altLang="en-US" sz="2800" baseline="-25000" dirty="0"/>
          </a:p>
        </p:txBody>
      </p:sp>
    </p:spTree>
    <p:extLst>
      <p:ext uri="{BB962C8B-B14F-4D97-AF65-F5344CB8AC3E}">
        <p14:creationId xmlns:p14="http://schemas.microsoft.com/office/powerpoint/2010/main" val="1642445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881112" y="0"/>
            <a:ext cx="420660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dirty="0">
                <a:solidFill>
                  <a:srgbClr val="C00000"/>
                </a:solidFill>
              </a:rPr>
              <a:t>Priority Encoder</a:t>
            </a:r>
            <a:endParaRPr lang="zh-TW" altLang="en-US" sz="4800" b="1" dirty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511403" y="1772023"/>
            <a:ext cx="1409351" cy="27515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4-to-2 Priority</a:t>
            </a:r>
          </a:p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Encoder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6" name="直線接點 5"/>
          <p:cNvCxnSpPr/>
          <p:nvPr/>
        </p:nvCxnSpPr>
        <p:spPr>
          <a:xfrm>
            <a:off x="1075176" y="198174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1075176" y="274354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1075176" y="350534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1075176" y="426714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2920754" y="2275611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2920754" y="3062379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564514" y="1702244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564514" y="2486750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564514" y="324854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564514" y="4036315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3399156" y="2831546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3406119" y="2006589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  <p:cxnSp>
        <p:nvCxnSpPr>
          <p:cNvPr id="28" name="直線接點 27"/>
          <p:cNvCxnSpPr/>
          <p:nvPr/>
        </p:nvCxnSpPr>
        <p:spPr>
          <a:xfrm>
            <a:off x="2920754" y="3854315"/>
            <a:ext cx="436227" cy="0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/>
          <p:cNvSpPr txBox="1"/>
          <p:nvPr/>
        </p:nvSpPr>
        <p:spPr>
          <a:xfrm>
            <a:off x="3399156" y="357465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v</a:t>
            </a:r>
            <a:endParaRPr lang="zh-TW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967110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881112" y="0"/>
            <a:ext cx="420660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dirty="0">
                <a:solidFill>
                  <a:srgbClr val="C00000"/>
                </a:solidFill>
              </a:rPr>
              <a:t>Priority Encoder</a:t>
            </a:r>
            <a:endParaRPr lang="zh-TW" altLang="en-US" sz="4800" b="1" dirty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511403" y="1772023"/>
            <a:ext cx="1409351" cy="27515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4-to-2 Priority</a:t>
            </a:r>
          </a:p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Encoder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6" name="直線接點 5"/>
          <p:cNvCxnSpPr/>
          <p:nvPr/>
        </p:nvCxnSpPr>
        <p:spPr>
          <a:xfrm>
            <a:off x="1075176" y="198174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1075176" y="274354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1075176" y="350534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1075176" y="426714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564514" y="1702244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564514" y="2486750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564514" y="324854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564514" y="4036315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sp>
        <p:nvSpPr>
          <p:cNvPr id="19" name="矩形 18"/>
          <p:cNvSpPr/>
          <p:nvPr/>
        </p:nvSpPr>
        <p:spPr>
          <a:xfrm>
            <a:off x="598907" y="4886904"/>
            <a:ext cx="475043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spcBef>
                <a:spcPct val="0"/>
              </a:spcBef>
            </a:pPr>
            <a:r>
              <a:rPr lang="en-US" altLang="zh-TW" sz="3200" b="1" dirty="0">
                <a:solidFill>
                  <a:srgbClr val="0000FF"/>
                </a:solidFill>
              </a:rPr>
              <a:t>D</a:t>
            </a:r>
            <a:r>
              <a:rPr lang="en-US" altLang="zh-TW" sz="3200" b="1" baseline="-25000" dirty="0">
                <a:solidFill>
                  <a:srgbClr val="0000FF"/>
                </a:solidFill>
              </a:rPr>
              <a:t>3 </a:t>
            </a:r>
            <a:r>
              <a:rPr lang="en-US" altLang="zh-TW" sz="3200" b="1" dirty="0">
                <a:solidFill>
                  <a:srgbClr val="0000FF"/>
                </a:solidFill>
              </a:rPr>
              <a:t>has the highest priority</a:t>
            </a:r>
          </a:p>
          <a:p>
            <a:pPr marL="0" lvl="1">
              <a:spcBef>
                <a:spcPct val="0"/>
              </a:spcBef>
            </a:pPr>
            <a:r>
              <a:rPr lang="en-US" altLang="zh-TW" sz="3200" b="1" dirty="0">
                <a:solidFill>
                  <a:srgbClr val="0000FF"/>
                </a:solidFill>
              </a:rPr>
              <a:t>D</a:t>
            </a:r>
            <a:r>
              <a:rPr lang="en-US" altLang="zh-TW" sz="3200" b="1" baseline="-25000" dirty="0">
                <a:solidFill>
                  <a:srgbClr val="0000FF"/>
                </a:solidFill>
              </a:rPr>
              <a:t>0 </a:t>
            </a:r>
            <a:r>
              <a:rPr lang="en-US" altLang="zh-TW" sz="3200" b="1" dirty="0">
                <a:solidFill>
                  <a:srgbClr val="0000FF"/>
                </a:solidFill>
              </a:rPr>
              <a:t>has the lowest priority</a:t>
            </a:r>
            <a:endParaRPr lang="en-US" altLang="zh-TW" sz="3200" b="1" dirty="0">
              <a:solidFill>
                <a:srgbClr val="0000FF"/>
              </a:solidFill>
            </a:endParaRPr>
          </a:p>
        </p:txBody>
      </p:sp>
      <p:cxnSp>
        <p:nvCxnSpPr>
          <p:cNvPr id="20" name="直線接點 19"/>
          <p:cNvCxnSpPr/>
          <p:nvPr/>
        </p:nvCxnSpPr>
        <p:spPr>
          <a:xfrm>
            <a:off x="2920754" y="2275611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>
            <a:off x="2920754" y="3062379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3399156" y="2831546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3406119" y="2006589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  <p:cxnSp>
        <p:nvCxnSpPr>
          <p:cNvPr id="26" name="直線接點 25"/>
          <p:cNvCxnSpPr/>
          <p:nvPr/>
        </p:nvCxnSpPr>
        <p:spPr>
          <a:xfrm>
            <a:off x="2920754" y="3854315"/>
            <a:ext cx="436227" cy="0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/>
          <p:cNvSpPr txBox="1"/>
          <p:nvPr/>
        </p:nvSpPr>
        <p:spPr>
          <a:xfrm>
            <a:off x="3399156" y="357465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v</a:t>
            </a:r>
            <a:endParaRPr lang="zh-TW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294990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881112" y="0"/>
            <a:ext cx="420660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dirty="0">
                <a:solidFill>
                  <a:srgbClr val="C00000"/>
                </a:solidFill>
              </a:rPr>
              <a:t>Priority Encoder</a:t>
            </a:r>
            <a:endParaRPr lang="zh-TW" altLang="en-US" sz="4800" b="1" dirty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511403" y="1772023"/>
            <a:ext cx="1409351" cy="27515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4-to-2 Priority</a:t>
            </a:r>
          </a:p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Encoder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6" name="直線接點 5"/>
          <p:cNvCxnSpPr/>
          <p:nvPr/>
        </p:nvCxnSpPr>
        <p:spPr>
          <a:xfrm>
            <a:off x="1075176" y="198174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1075176" y="274354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1075176" y="350534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1075176" y="4267148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564514" y="1702244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564514" y="2486750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564514" y="3248548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564514" y="4036315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294860"/>
              </p:ext>
            </p:extLst>
          </p:nvPr>
        </p:nvGraphicFramePr>
        <p:xfrm>
          <a:off x="6356010" y="1208291"/>
          <a:ext cx="5572014" cy="3405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002">
                  <a:extLst>
                    <a:ext uri="{9D8B030D-6E8A-4147-A177-3AD203B41FA5}">
                      <a16:colId xmlns:a16="http://schemas.microsoft.com/office/drawing/2014/main" val="1790005131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917817357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2728926950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2913704751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1609159334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3572416527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1701851200"/>
                    </a:ext>
                  </a:extLst>
                </a:gridCol>
              </a:tblGrid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v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0083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28361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560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7984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6768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72912"/>
                  </a:ext>
                </a:extLst>
              </a:tr>
            </a:tbl>
          </a:graphicData>
        </a:graphic>
      </p:graphicFrame>
      <p:sp>
        <p:nvSpPr>
          <p:cNvPr id="19" name="矩形 18"/>
          <p:cNvSpPr/>
          <p:nvPr/>
        </p:nvSpPr>
        <p:spPr>
          <a:xfrm>
            <a:off x="598907" y="4886904"/>
            <a:ext cx="475043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spcBef>
                <a:spcPct val="0"/>
              </a:spcBef>
            </a:pPr>
            <a:r>
              <a:rPr lang="en-US" altLang="zh-TW" sz="3200" b="1" dirty="0">
                <a:solidFill>
                  <a:srgbClr val="0000FF"/>
                </a:solidFill>
              </a:rPr>
              <a:t>D</a:t>
            </a:r>
            <a:r>
              <a:rPr lang="en-US" altLang="zh-TW" sz="3200" b="1" baseline="-25000" dirty="0">
                <a:solidFill>
                  <a:srgbClr val="0000FF"/>
                </a:solidFill>
              </a:rPr>
              <a:t>3 </a:t>
            </a:r>
            <a:r>
              <a:rPr lang="en-US" altLang="zh-TW" sz="3200" b="1" dirty="0">
                <a:solidFill>
                  <a:srgbClr val="0000FF"/>
                </a:solidFill>
              </a:rPr>
              <a:t>has the highest priority</a:t>
            </a:r>
          </a:p>
          <a:p>
            <a:pPr marL="0" lvl="1">
              <a:spcBef>
                <a:spcPct val="0"/>
              </a:spcBef>
            </a:pPr>
            <a:r>
              <a:rPr lang="en-US" altLang="zh-TW" sz="3200" b="1" dirty="0">
                <a:solidFill>
                  <a:srgbClr val="0000FF"/>
                </a:solidFill>
              </a:rPr>
              <a:t>D</a:t>
            </a:r>
            <a:r>
              <a:rPr lang="en-US" altLang="zh-TW" sz="3200" b="1" baseline="-25000" dirty="0">
                <a:solidFill>
                  <a:srgbClr val="0000FF"/>
                </a:solidFill>
              </a:rPr>
              <a:t>0 </a:t>
            </a:r>
            <a:r>
              <a:rPr lang="en-US" altLang="zh-TW" sz="3200" b="1" dirty="0">
                <a:solidFill>
                  <a:srgbClr val="0000FF"/>
                </a:solidFill>
              </a:rPr>
              <a:t>has the lowest priority</a:t>
            </a:r>
            <a:endParaRPr lang="en-US" altLang="zh-TW" sz="3200" b="1" dirty="0">
              <a:solidFill>
                <a:srgbClr val="0000FF"/>
              </a:solidFill>
            </a:endParaRPr>
          </a:p>
        </p:txBody>
      </p:sp>
      <p:cxnSp>
        <p:nvCxnSpPr>
          <p:cNvPr id="20" name="直線接點 19"/>
          <p:cNvCxnSpPr/>
          <p:nvPr/>
        </p:nvCxnSpPr>
        <p:spPr>
          <a:xfrm>
            <a:off x="2920754" y="2275611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>
            <a:off x="2920754" y="3062379"/>
            <a:ext cx="43622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3399156" y="2831546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y</a:t>
            </a:r>
            <a:endParaRPr lang="zh-TW" altLang="en-US" sz="24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3406119" y="2006589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</a:t>
            </a:r>
            <a:endParaRPr lang="zh-TW" altLang="en-US" sz="2400" dirty="0"/>
          </a:p>
        </p:txBody>
      </p:sp>
      <p:cxnSp>
        <p:nvCxnSpPr>
          <p:cNvPr id="24" name="直線接點 23"/>
          <p:cNvCxnSpPr/>
          <p:nvPr/>
        </p:nvCxnSpPr>
        <p:spPr>
          <a:xfrm>
            <a:off x="2920754" y="3854315"/>
            <a:ext cx="436227" cy="0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/>
          <p:cNvSpPr txBox="1"/>
          <p:nvPr/>
        </p:nvSpPr>
        <p:spPr>
          <a:xfrm>
            <a:off x="3399156" y="357465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v</a:t>
            </a:r>
            <a:endParaRPr lang="zh-TW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157321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881112" y="0"/>
            <a:ext cx="420660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dirty="0">
                <a:solidFill>
                  <a:srgbClr val="C00000"/>
                </a:solidFill>
              </a:rPr>
              <a:t>Priority Encoder</a:t>
            </a:r>
            <a:endParaRPr lang="zh-TW" altLang="en-US" sz="4800" b="1" dirty="0">
              <a:solidFill>
                <a:srgbClr val="C00000"/>
              </a:solidFill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3613261"/>
              </p:ext>
            </p:extLst>
          </p:nvPr>
        </p:nvGraphicFramePr>
        <p:xfrm>
          <a:off x="6356010" y="1208291"/>
          <a:ext cx="5572014" cy="3405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002">
                  <a:extLst>
                    <a:ext uri="{9D8B030D-6E8A-4147-A177-3AD203B41FA5}">
                      <a16:colId xmlns:a16="http://schemas.microsoft.com/office/drawing/2014/main" val="1790005131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917817357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2728926950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2913704751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1609159334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3572416527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1701851200"/>
                    </a:ext>
                  </a:extLst>
                </a:gridCol>
              </a:tblGrid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v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0083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28361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560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7984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6768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72912"/>
                  </a:ext>
                </a:extLst>
              </a:tr>
            </a:tbl>
          </a:graphicData>
        </a:graphic>
      </p:graphicFrame>
      <p:sp>
        <p:nvSpPr>
          <p:cNvPr id="26" name="文字方塊 25"/>
          <p:cNvSpPr txBox="1"/>
          <p:nvPr/>
        </p:nvSpPr>
        <p:spPr>
          <a:xfrm>
            <a:off x="1469589" y="4861220"/>
            <a:ext cx="7857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x =</a:t>
            </a:r>
            <a:endParaRPr lang="zh-TW" altLang="en-US" sz="3200" b="1" dirty="0"/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7731985"/>
              </p:ext>
            </p:extLst>
          </p:nvPr>
        </p:nvGraphicFramePr>
        <p:xfrm>
          <a:off x="1473547" y="1424621"/>
          <a:ext cx="3240255" cy="301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51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603621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28" name="文字方塊 27"/>
          <p:cNvSpPr txBox="1"/>
          <p:nvPr/>
        </p:nvSpPr>
        <p:spPr>
          <a:xfrm>
            <a:off x="1029405" y="1585766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1469589" y="1006127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</p:spTree>
    <p:extLst>
      <p:ext uri="{BB962C8B-B14F-4D97-AF65-F5344CB8AC3E}">
        <p14:creationId xmlns:p14="http://schemas.microsoft.com/office/powerpoint/2010/main" val="4125649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881112" y="0"/>
            <a:ext cx="420660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dirty="0">
                <a:solidFill>
                  <a:srgbClr val="C00000"/>
                </a:solidFill>
              </a:rPr>
              <a:t>Priority Encoder</a:t>
            </a:r>
            <a:endParaRPr lang="zh-TW" altLang="en-US" sz="4800" b="1" dirty="0">
              <a:solidFill>
                <a:srgbClr val="C00000"/>
              </a:solidFill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253530"/>
              </p:ext>
            </p:extLst>
          </p:nvPr>
        </p:nvGraphicFramePr>
        <p:xfrm>
          <a:off x="6356010" y="1208291"/>
          <a:ext cx="5572014" cy="3405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002">
                  <a:extLst>
                    <a:ext uri="{9D8B030D-6E8A-4147-A177-3AD203B41FA5}">
                      <a16:colId xmlns:a16="http://schemas.microsoft.com/office/drawing/2014/main" val="1790005131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917817357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2728926950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2913704751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1609159334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3572416527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1701851200"/>
                    </a:ext>
                  </a:extLst>
                </a:gridCol>
              </a:tblGrid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v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0083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28361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560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7984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6768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72912"/>
                  </a:ext>
                </a:extLst>
              </a:tr>
            </a:tbl>
          </a:graphicData>
        </a:graphic>
      </p:graphicFrame>
      <p:sp>
        <p:nvSpPr>
          <p:cNvPr id="26" name="文字方塊 25"/>
          <p:cNvSpPr txBox="1"/>
          <p:nvPr/>
        </p:nvSpPr>
        <p:spPr>
          <a:xfrm>
            <a:off x="1469589" y="4861220"/>
            <a:ext cx="7857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x =</a:t>
            </a:r>
            <a:endParaRPr lang="zh-TW" altLang="en-US" sz="3200" b="1" dirty="0"/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4495297"/>
              </p:ext>
            </p:extLst>
          </p:nvPr>
        </p:nvGraphicFramePr>
        <p:xfrm>
          <a:off x="1473547" y="1424621"/>
          <a:ext cx="3240255" cy="301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51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603621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28" name="文字方塊 27"/>
          <p:cNvSpPr txBox="1"/>
          <p:nvPr/>
        </p:nvSpPr>
        <p:spPr>
          <a:xfrm>
            <a:off x="1029405" y="1585766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1469589" y="1006127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</p:spTree>
    <p:extLst>
      <p:ext uri="{BB962C8B-B14F-4D97-AF65-F5344CB8AC3E}">
        <p14:creationId xmlns:p14="http://schemas.microsoft.com/office/powerpoint/2010/main" val="3059706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881112" y="0"/>
            <a:ext cx="420660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dirty="0">
                <a:solidFill>
                  <a:srgbClr val="C00000"/>
                </a:solidFill>
              </a:rPr>
              <a:t>Priority Encoder</a:t>
            </a:r>
            <a:endParaRPr lang="zh-TW" altLang="en-US" sz="4800" b="1" dirty="0">
              <a:solidFill>
                <a:srgbClr val="C00000"/>
              </a:solidFill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3866613"/>
              </p:ext>
            </p:extLst>
          </p:nvPr>
        </p:nvGraphicFramePr>
        <p:xfrm>
          <a:off x="6356010" y="1208291"/>
          <a:ext cx="5572014" cy="3405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002">
                  <a:extLst>
                    <a:ext uri="{9D8B030D-6E8A-4147-A177-3AD203B41FA5}">
                      <a16:colId xmlns:a16="http://schemas.microsoft.com/office/drawing/2014/main" val="1790005131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917817357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2728926950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2913704751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1609159334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3572416527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1701851200"/>
                    </a:ext>
                  </a:extLst>
                </a:gridCol>
              </a:tblGrid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v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0083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28361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560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7984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6768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72912"/>
                  </a:ext>
                </a:extLst>
              </a:tr>
            </a:tbl>
          </a:graphicData>
        </a:graphic>
      </p:graphicFrame>
      <p:sp>
        <p:nvSpPr>
          <p:cNvPr id="26" name="文字方塊 25"/>
          <p:cNvSpPr txBox="1"/>
          <p:nvPr/>
        </p:nvSpPr>
        <p:spPr>
          <a:xfrm>
            <a:off x="1469589" y="4861220"/>
            <a:ext cx="7857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x =</a:t>
            </a:r>
            <a:endParaRPr lang="zh-TW" altLang="en-US" sz="3200" b="1" dirty="0"/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5744505"/>
              </p:ext>
            </p:extLst>
          </p:nvPr>
        </p:nvGraphicFramePr>
        <p:xfrm>
          <a:off x="1473547" y="1424621"/>
          <a:ext cx="3240255" cy="301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51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603621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28" name="文字方塊 27"/>
          <p:cNvSpPr txBox="1"/>
          <p:nvPr/>
        </p:nvSpPr>
        <p:spPr>
          <a:xfrm>
            <a:off x="1029405" y="1585766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1469589" y="1006127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</p:spTree>
    <p:extLst>
      <p:ext uri="{BB962C8B-B14F-4D97-AF65-F5344CB8AC3E}">
        <p14:creationId xmlns:p14="http://schemas.microsoft.com/office/powerpoint/2010/main" val="4225395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881112" y="0"/>
            <a:ext cx="420660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dirty="0">
                <a:solidFill>
                  <a:srgbClr val="C00000"/>
                </a:solidFill>
              </a:rPr>
              <a:t>Priority Encoder</a:t>
            </a:r>
            <a:endParaRPr lang="zh-TW" altLang="en-US" sz="4800" b="1" dirty="0">
              <a:solidFill>
                <a:srgbClr val="C00000"/>
              </a:solidFill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973590"/>
              </p:ext>
            </p:extLst>
          </p:nvPr>
        </p:nvGraphicFramePr>
        <p:xfrm>
          <a:off x="6356010" y="1208291"/>
          <a:ext cx="5572014" cy="3405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002">
                  <a:extLst>
                    <a:ext uri="{9D8B030D-6E8A-4147-A177-3AD203B41FA5}">
                      <a16:colId xmlns:a16="http://schemas.microsoft.com/office/drawing/2014/main" val="1790005131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917817357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2728926950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2913704751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1609159334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3572416527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1701851200"/>
                    </a:ext>
                  </a:extLst>
                </a:gridCol>
              </a:tblGrid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v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0083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28361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560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7984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6768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72912"/>
                  </a:ext>
                </a:extLst>
              </a:tr>
            </a:tbl>
          </a:graphicData>
        </a:graphic>
      </p:graphicFrame>
      <p:sp>
        <p:nvSpPr>
          <p:cNvPr id="26" name="文字方塊 25"/>
          <p:cNvSpPr txBox="1"/>
          <p:nvPr/>
        </p:nvSpPr>
        <p:spPr>
          <a:xfrm>
            <a:off x="1469589" y="4861220"/>
            <a:ext cx="7857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x =</a:t>
            </a:r>
            <a:endParaRPr lang="zh-TW" altLang="en-US" sz="3200" b="1" dirty="0"/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4614787"/>
              </p:ext>
            </p:extLst>
          </p:nvPr>
        </p:nvGraphicFramePr>
        <p:xfrm>
          <a:off x="1473547" y="1424621"/>
          <a:ext cx="3240255" cy="301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51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603621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28" name="文字方塊 27"/>
          <p:cNvSpPr txBox="1"/>
          <p:nvPr/>
        </p:nvSpPr>
        <p:spPr>
          <a:xfrm>
            <a:off x="1029405" y="1585766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1469589" y="1006127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</p:spTree>
    <p:extLst>
      <p:ext uri="{BB962C8B-B14F-4D97-AF65-F5344CB8AC3E}">
        <p14:creationId xmlns:p14="http://schemas.microsoft.com/office/powerpoint/2010/main" val="3014223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881112" y="0"/>
            <a:ext cx="420660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dirty="0">
                <a:solidFill>
                  <a:srgbClr val="C00000"/>
                </a:solidFill>
              </a:rPr>
              <a:t>Priority Encoder</a:t>
            </a:r>
            <a:endParaRPr lang="zh-TW" altLang="en-US" sz="4800" b="1" dirty="0">
              <a:solidFill>
                <a:srgbClr val="C00000"/>
              </a:solidFill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417630"/>
              </p:ext>
            </p:extLst>
          </p:nvPr>
        </p:nvGraphicFramePr>
        <p:xfrm>
          <a:off x="6356010" y="1208291"/>
          <a:ext cx="5572014" cy="3405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002">
                  <a:extLst>
                    <a:ext uri="{9D8B030D-6E8A-4147-A177-3AD203B41FA5}">
                      <a16:colId xmlns:a16="http://schemas.microsoft.com/office/drawing/2014/main" val="1790005131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917817357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2728926950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2913704751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1609159334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3572416527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1701851200"/>
                    </a:ext>
                  </a:extLst>
                </a:gridCol>
              </a:tblGrid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v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0083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28361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560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7984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6768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72912"/>
                  </a:ext>
                </a:extLst>
              </a:tr>
            </a:tbl>
          </a:graphicData>
        </a:graphic>
      </p:graphicFrame>
      <p:sp>
        <p:nvSpPr>
          <p:cNvPr id="26" name="文字方塊 25"/>
          <p:cNvSpPr txBox="1"/>
          <p:nvPr/>
        </p:nvSpPr>
        <p:spPr>
          <a:xfrm>
            <a:off x="1469589" y="4861220"/>
            <a:ext cx="7857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x =</a:t>
            </a:r>
            <a:endParaRPr lang="zh-TW" altLang="en-US" sz="3200" b="1" dirty="0"/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427574"/>
              </p:ext>
            </p:extLst>
          </p:nvPr>
        </p:nvGraphicFramePr>
        <p:xfrm>
          <a:off x="1473547" y="1424621"/>
          <a:ext cx="3240255" cy="301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51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603621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28" name="文字方塊 27"/>
          <p:cNvSpPr txBox="1"/>
          <p:nvPr/>
        </p:nvSpPr>
        <p:spPr>
          <a:xfrm>
            <a:off x="1029405" y="1585766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1469589" y="1006127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</p:spTree>
    <p:extLst>
      <p:ext uri="{BB962C8B-B14F-4D97-AF65-F5344CB8AC3E}">
        <p14:creationId xmlns:p14="http://schemas.microsoft.com/office/powerpoint/2010/main" val="2105983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881112" y="0"/>
            <a:ext cx="420660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dirty="0">
                <a:solidFill>
                  <a:srgbClr val="C00000"/>
                </a:solidFill>
              </a:rPr>
              <a:t>Priority Encoder</a:t>
            </a:r>
            <a:endParaRPr lang="zh-TW" altLang="en-US" sz="4800" b="1" dirty="0">
              <a:solidFill>
                <a:srgbClr val="C00000"/>
              </a:solidFill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4524112"/>
              </p:ext>
            </p:extLst>
          </p:nvPr>
        </p:nvGraphicFramePr>
        <p:xfrm>
          <a:off x="6356010" y="1208291"/>
          <a:ext cx="5572014" cy="3405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002">
                  <a:extLst>
                    <a:ext uri="{9D8B030D-6E8A-4147-A177-3AD203B41FA5}">
                      <a16:colId xmlns:a16="http://schemas.microsoft.com/office/drawing/2014/main" val="1790005131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917817357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2728926950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2913704751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1609159334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3572416527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1701851200"/>
                    </a:ext>
                  </a:extLst>
                </a:gridCol>
              </a:tblGrid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v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0083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28361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560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7984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6768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72912"/>
                  </a:ext>
                </a:extLst>
              </a:tr>
            </a:tbl>
          </a:graphicData>
        </a:graphic>
      </p:graphicFrame>
      <p:sp>
        <p:nvSpPr>
          <p:cNvPr id="26" name="文字方塊 25"/>
          <p:cNvSpPr txBox="1"/>
          <p:nvPr/>
        </p:nvSpPr>
        <p:spPr>
          <a:xfrm>
            <a:off x="1469589" y="4861220"/>
            <a:ext cx="14109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x =</a:t>
            </a:r>
            <a:r>
              <a:rPr lang="en-US" altLang="zh-TW" sz="3200" b="1" dirty="0"/>
              <a:t>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2</a:t>
            </a:r>
            <a:r>
              <a:rPr lang="en-US" altLang="zh-TW" sz="3200" b="1" dirty="0" smtClean="0"/>
              <a:t> </a:t>
            </a:r>
            <a:endParaRPr lang="zh-TW" altLang="en-US" sz="3200" b="1" dirty="0"/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427574"/>
              </p:ext>
            </p:extLst>
          </p:nvPr>
        </p:nvGraphicFramePr>
        <p:xfrm>
          <a:off x="1473547" y="1424621"/>
          <a:ext cx="3240255" cy="301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51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603621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28" name="文字方塊 27"/>
          <p:cNvSpPr txBox="1"/>
          <p:nvPr/>
        </p:nvSpPr>
        <p:spPr>
          <a:xfrm>
            <a:off x="1029405" y="1585766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1469589" y="1006127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  <p:sp>
        <p:nvSpPr>
          <p:cNvPr id="3" name="圓角矩形 2"/>
          <p:cNvSpPr/>
          <p:nvPr/>
        </p:nvSpPr>
        <p:spPr>
          <a:xfrm>
            <a:off x="3423845" y="2049236"/>
            <a:ext cx="1289957" cy="239349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9053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881112" y="0"/>
            <a:ext cx="420660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dirty="0">
                <a:solidFill>
                  <a:srgbClr val="C00000"/>
                </a:solidFill>
              </a:rPr>
              <a:t>Priority Encoder</a:t>
            </a:r>
            <a:endParaRPr lang="zh-TW" altLang="en-US" sz="4800" b="1" dirty="0">
              <a:solidFill>
                <a:srgbClr val="C00000"/>
              </a:solidFill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4524112"/>
              </p:ext>
            </p:extLst>
          </p:nvPr>
        </p:nvGraphicFramePr>
        <p:xfrm>
          <a:off x="6356010" y="1208291"/>
          <a:ext cx="5572014" cy="3405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002">
                  <a:extLst>
                    <a:ext uri="{9D8B030D-6E8A-4147-A177-3AD203B41FA5}">
                      <a16:colId xmlns:a16="http://schemas.microsoft.com/office/drawing/2014/main" val="1790005131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917817357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2728926950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2913704751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1609159334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3572416527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1701851200"/>
                    </a:ext>
                  </a:extLst>
                </a:gridCol>
              </a:tblGrid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v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0083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28361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560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7984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6768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72912"/>
                  </a:ext>
                </a:extLst>
              </a:tr>
            </a:tbl>
          </a:graphicData>
        </a:graphic>
      </p:graphicFrame>
      <p:sp>
        <p:nvSpPr>
          <p:cNvPr id="26" name="文字方塊 25"/>
          <p:cNvSpPr txBox="1"/>
          <p:nvPr/>
        </p:nvSpPr>
        <p:spPr>
          <a:xfrm>
            <a:off x="1469589" y="4861220"/>
            <a:ext cx="22733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x =</a:t>
            </a:r>
            <a:r>
              <a:rPr lang="en-US" altLang="zh-TW" sz="3200" b="1" dirty="0"/>
              <a:t>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2 </a:t>
            </a:r>
            <a:r>
              <a:rPr lang="en-US" altLang="zh-TW" sz="3200" b="1" dirty="0" smtClean="0"/>
              <a:t>+ D</a:t>
            </a:r>
            <a:r>
              <a:rPr lang="en-US" altLang="zh-TW" sz="3200" b="1" baseline="-25000" dirty="0" smtClean="0"/>
              <a:t>3</a:t>
            </a:r>
            <a:r>
              <a:rPr lang="en-US" altLang="zh-TW" sz="3200" b="1" dirty="0" smtClean="0"/>
              <a:t> </a:t>
            </a:r>
            <a:endParaRPr lang="zh-TW" altLang="en-US" sz="3200" b="1" dirty="0"/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427574"/>
              </p:ext>
            </p:extLst>
          </p:nvPr>
        </p:nvGraphicFramePr>
        <p:xfrm>
          <a:off x="1473547" y="1424621"/>
          <a:ext cx="3240255" cy="301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51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603621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28" name="文字方塊 27"/>
          <p:cNvSpPr txBox="1"/>
          <p:nvPr/>
        </p:nvSpPr>
        <p:spPr>
          <a:xfrm>
            <a:off x="1029405" y="1585766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1469589" y="1006127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  <p:sp>
        <p:nvSpPr>
          <p:cNvPr id="3" name="圓角矩形 2"/>
          <p:cNvSpPr/>
          <p:nvPr/>
        </p:nvSpPr>
        <p:spPr>
          <a:xfrm>
            <a:off x="2767693" y="2049236"/>
            <a:ext cx="1289957" cy="2393490"/>
          </a:xfrm>
          <a:prstGeom prst="round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圓角矩形 8"/>
          <p:cNvSpPr/>
          <p:nvPr/>
        </p:nvSpPr>
        <p:spPr>
          <a:xfrm>
            <a:off x="3423845" y="2049236"/>
            <a:ext cx="1289957" cy="239349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1321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881112" y="0"/>
            <a:ext cx="420660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dirty="0">
                <a:solidFill>
                  <a:srgbClr val="C00000"/>
                </a:solidFill>
              </a:rPr>
              <a:t>Priority Encoder</a:t>
            </a:r>
            <a:endParaRPr lang="zh-TW" altLang="en-US" sz="4800" b="1" dirty="0">
              <a:solidFill>
                <a:srgbClr val="C00000"/>
              </a:solidFill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2712276"/>
              </p:ext>
            </p:extLst>
          </p:nvPr>
        </p:nvGraphicFramePr>
        <p:xfrm>
          <a:off x="6356010" y="1208291"/>
          <a:ext cx="5572014" cy="3405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002">
                  <a:extLst>
                    <a:ext uri="{9D8B030D-6E8A-4147-A177-3AD203B41FA5}">
                      <a16:colId xmlns:a16="http://schemas.microsoft.com/office/drawing/2014/main" val="1790005131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917817357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2728926950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2913704751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1609159334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3572416527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1701851200"/>
                    </a:ext>
                  </a:extLst>
                </a:gridCol>
              </a:tblGrid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v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0083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28361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560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7984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6768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72912"/>
                  </a:ext>
                </a:extLst>
              </a:tr>
            </a:tbl>
          </a:graphicData>
        </a:graphic>
      </p:graphicFrame>
      <p:sp>
        <p:nvSpPr>
          <p:cNvPr id="26" name="文字方塊 25"/>
          <p:cNvSpPr txBox="1"/>
          <p:nvPr/>
        </p:nvSpPr>
        <p:spPr>
          <a:xfrm>
            <a:off x="1469589" y="4861220"/>
            <a:ext cx="7857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y =</a:t>
            </a:r>
            <a:endParaRPr lang="zh-TW" altLang="en-US" sz="3200" b="1" dirty="0"/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228367"/>
              </p:ext>
            </p:extLst>
          </p:nvPr>
        </p:nvGraphicFramePr>
        <p:xfrm>
          <a:off x="1473547" y="1424621"/>
          <a:ext cx="3240255" cy="301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51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603621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28" name="文字方塊 27"/>
          <p:cNvSpPr txBox="1"/>
          <p:nvPr/>
        </p:nvSpPr>
        <p:spPr>
          <a:xfrm>
            <a:off x="1029405" y="1585766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1469589" y="1006127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</p:spTree>
    <p:extLst>
      <p:ext uri="{BB962C8B-B14F-4D97-AF65-F5344CB8AC3E}">
        <p14:creationId xmlns:p14="http://schemas.microsoft.com/office/powerpoint/2010/main" val="2009347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881112" y="0"/>
            <a:ext cx="420660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dirty="0">
                <a:solidFill>
                  <a:srgbClr val="C00000"/>
                </a:solidFill>
              </a:rPr>
              <a:t>Priority Encoder</a:t>
            </a:r>
            <a:endParaRPr lang="zh-TW" altLang="en-US" sz="4800" b="1" dirty="0">
              <a:solidFill>
                <a:srgbClr val="C00000"/>
              </a:solidFill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6601648"/>
              </p:ext>
            </p:extLst>
          </p:nvPr>
        </p:nvGraphicFramePr>
        <p:xfrm>
          <a:off x="6356010" y="1208291"/>
          <a:ext cx="5572014" cy="3405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002">
                  <a:extLst>
                    <a:ext uri="{9D8B030D-6E8A-4147-A177-3AD203B41FA5}">
                      <a16:colId xmlns:a16="http://schemas.microsoft.com/office/drawing/2014/main" val="1790005131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917817357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2728926950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2913704751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1609159334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3572416527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1701851200"/>
                    </a:ext>
                  </a:extLst>
                </a:gridCol>
              </a:tblGrid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v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0083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28361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560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7984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6768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72912"/>
                  </a:ext>
                </a:extLst>
              </a:tr>
            </a:tbl>
          </a:graphicData>
        </a:graphic>
      </p:graphicFrame>
      <p:sp>
        <p:nvSpPr>
          <p:cNvPr id="26" name="文字方塊 25"/>
          <p:cNvSpPr txBox="1"/>
          <p:nvPr/>
        </p:nvSpPr>
        <p:spPr>
          <a:xfrm>
            <a:off x="1469589" y="4861220"/>
            <a:ext cx="7857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y =</a:t>
            </a:r>
            <a:endParaRPr lang="zh-TW" altLang="en-US" sz="3200" b="1" dirty="0"/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972210"/>
              </p:ext>
            </p:extLst>
          </p:nvPr>
        </p:nvGraphicFramePr>
        <p:xfrm>
          <a:off x="1473547" y="1424621"/>
          <a:ext cx="3240255" cy="301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51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603621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28" name="文字方塊 27"/>
          <p:cNvSpPr txBox="1"/>
          <p:nvPr/>
        </p:nvSpPr>
        <p:spPr>
          <a:xfrm>
            <a:off x="1029405" y="1585766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1469589" y="1006127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</p:spTree>
    <p:extLst>
      <p:ext uri="{BB962C8B-B14F-4D97-AF65-F5344CB8AC3E}">
        <p14:creationId xmlns:p14="http://schemas.microsoft.com/office/powerpoint/2010/main" val="1419555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881112" y="0"/>
            <a:ext cx="420660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dirty="0">
                <a:solidFill>
                  <a:srgbClr val="C00000"/>
                </a:solidFill>
              </a:rPr>
              <a:t>Priority Encoder</a:t>
            </a:r>
            <a:endParaRPr lang="zh-TW" altLang="en-US" sz="4800" b="1" dirty="0">
              <a:solidFill>
                <a:srgbClr val="C00000"/>
              </a:solidFill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2979929"/>
              </p:ext>
            </p:extLst>
          </p:nvPr>
        </p:nvGraphicFramePr>
        <p:xfrm>
          <a:off x="6356010" y="1208291"/>
          <a:ext cx="5572014" cy="3405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002">
                  <a:extLst>
                    <a:ext uri="{9D8B030D-6E8A-4147-A177-3AD203B41FA5}">
                      <a16:colId xmlns:a16="http://schemas.microsoft.com/office/drawing/2014/main" val="1790005131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917817357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2728926950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2913704751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1609159334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3572416527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1701851200"/>
                    </a:ext>
                  </a:extLst>
                </a:gridCol>
              </a:tblGrid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v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0083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28361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560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7984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6768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72912"/>
                  </a:ext>
                </a:extLst>
              </a:tr>
            </a:tbl>
          </a:graphicData>
        </a:graphic>
      </p:graphicFrame>
      <p:sp>
        <p:nvSpPr>
          <p:cNvPr id="26" name="文字方塊 25"/>
          <p:cNvSpPr txBox="1"/>
          <p:nvPr/>
        </p:nvSpPr>
        <p:spPr>
          <a:xfrm>
            <a:off x="1469589" y="4861220"/>
            <a:ext cx="7857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y =</a:t>
            </a:r>
            <a:endParaRPr lang="zh-TW" altLang="en-US" sz="3200" b="1" dirty="0"/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5587948"/>
              </p:ext>
            </p:extLst>
          </p:nvPr>
        </p:nvGraphicFramePr>
        <p:xfrm>
          <a:off x="1473547" y="1424621"/>
          <a:ext cx="3240255" cy="301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51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603621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28" name="文字方塊 27"/>
          <p:cNvSpPr txBox="1"/>
          <p:nvPr/>
        </p:nvSpPr>
        <p:spPr>
          <a:xfrm>
            <a:off x="1029405" y="1585766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1469589" y="1006127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</p:spTree>
    <p:extLst>
      <p:ext uri="{BB962C8B-B14F-4D97-AF65-F5344CB8AC3E}">
        <p14:creationId xmlns:p14="http://schemas.microsoft.com/office/powerpoint/2010/main" val="1772875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881112" y="0"/>
            <a:ext cx="420660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dirty="0">
                <a:solidFill>
                  <a:srgbClr val="C00000"/>
                </a:solidFill>
              </a:rPr>
              <a:t>Priority Encoder</a:t>
            </a:r>
            <a:endParaRPr lang="zh-TW" altLang="en-US" sz="4800" b="1" dirty="0">
              <a:solidFill>
                <a:srgbClr val="C00000"/>
              </a:solidFill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7295723"/>
              </p:ext>
            </p:extLst>
          </p:nvPr>
        </p:nvGraphicFramePr>
        <p:xfrm>
          <a:off x="6356010" y="1208291"/>
          <a:ext cx="5572014" cy="3405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002">
                  <a:extLst>
                    <a:ext uri="{9D8B030D-6E8A-4147-A177-3AD203B41FA5}">
                      <a16:colId xmlns:a16="http://schemas.microsoft.com/office/drawing/2014/main" val="1790005131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917817357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2728926950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2913704751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1609159334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3572416527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1701851200"/>
                    </a:ext>
                  </a:extLst>
                </a:gridCol>
              </a:tblGrid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v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0083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28361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560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7984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6768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72912"/>
                  </a:ext>
                </a:extLst>
              </a:tr>
            </a:tbl>
          </a:graphicData>
        </a:graphic>
      </p:graphicFrame>
      <p:sp>
        <p:nvSpPr>
          <p:cNvPr id="26" name="文字方塊 25"/>
          <p:cNvSpPr txBox="1"/>
          <p:nvPr/>
        </p:nvSpPr>
        <p:spPr>
          <a:xfrm>
            <a:off x="1469589" y="4861220"/>
            <a:ext cx="7857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y =</a:t>
            </a:r>
            <a:endParaRPr lang="zh-TW" altLang="en-US" sz="3200" b="1" dirty="0"/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7359065"/>
              </p:ext>
            </p:extLst>
          </p:nvPr>
        </p:nvGraphicFramePr>
        <p:xfrm>
          <a:off x="1473547" y="1424621"/>
          <a:ext cx="3240255" cy="301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51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603621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28" name="文字方塊 27"/>
          <p:cNvSpPr txBox="1"/>
          <p:nvPr/>
        </p:nvSpPr>
        <p:spPr>
          <a:xfrm>
            <a:off x="1029405" y="1585766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1469589" y="1006127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</p:spTree>
    <p:extLst>
      <p:ext uri="{BB962C8B-B14F-4D97-AF65-F5344CB8AC3E}">
        <p14:creationId xmlns:p14="http://schemas.microsoft.com/office/powerpoint/2010/main" val="1392304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881112" y="0"/>
            <a:ext cx="420660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dirty="0">
                <a:solidFill>
                  <a:srgbClr val="C00000"/>
                </a:solidFill>
              </a:rPr>
              <a:t>Priority Encoder</a:t>
            </a:r>
            <a:endParaRPr lang="zh-TW" altLang="en-US" sz="4800" b="1" dirty="0">
              <a:solidFill>
                <a:srgbClr val="C00000"/>
              </a:solidFill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024206"/>
              </p:ext>
            </p:extLst>
          </p:nvPr>
        </p:nvGraphicFramePr>
        <p:xfrm>
          <a:off x="6356010" y="1208291"/>
          <a:ext cx="5572014" cy="3405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002">
                  <a:extLst>
                    <a:ext uri="{9D8B030D-6E8A-4147-A177-3AD203B41FA5}">
                      <a16:colId xmlns:a16="http://schemas.microsoft.com/office/drawing/2014/main" val="1790005131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917817357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2728926950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2913704751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1609159334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3572416527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1701851200"/>
                    </a:ext>
                  </a:extLst>
                </a:gridCol>
              </a:tblGrid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v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0083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28361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560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7984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6768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72912"/>
                  </a:ext>
                </a:extLst>
              </a:tr>
            </a:tbl>
          </a:graphicData>
        </a:graphic>
      </p:graphicFrame>
      <p:sp>
        <p:nvSpPr>
          <p:cNvPr id="26" name="文字方塊 25"/>
          <p:cNvSpPr txBox="1"/>
          <p:nvPr/>
        </p:nvSpPr>
        <p:spPr>
          <a:xfrm>
            <a:off x="1469589" y="4861220"/>
            <a:ext cx="7857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y =</a:t>
            </a:r>
            <a:endParaRPr lang="zh-TW" altLang="en-US" sz="3200" b="1" dirty="0"/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8255905"/>
              </p:ext>
            </p:extLst>
          </p:nvPr>
        </p:nvGraphicFramePr>
        <p:xfrm>
          <a:off x="1473547" y="1424621"/>
          <a:ext cx="3240255" cy="301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51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603621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28" name="文字方塊 27"/>
          <p:cNvSpPr txBox="1"/>
          <p:nvPr/>
        </p:nvSpPr>
        <p:spPr>
          <a:xfrm>
            <a:off x="1029405" y="1585766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1469589" y="1006127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</p:spTree>
    <p:extLst>
      <p:ext uri="{BB962C8B-B14F-4D97-AF65-F5344CB8AC3E}">
        <p14:creationId xmlns:p14="http://schemas.microsoft.com/office/powerpoint/2010/main" val="2083257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881112" y="0"/>
            <a:ext cx="420660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dirty="0">
                <a:solidFill>
                  <a:srgbClr val="C00000"/>
                </a:solidFill>
              </a:rPr>
              <a:t>Priority Encoder</a:t>
            </a:r>
            <a:endParaRPr lang="zh-TW" altLang="en-US" sz="4800" b="1" dirty="0">
              <a:solidFill>
                <a:srgbClr val="C00000"/>
              </a:solidFill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476535"/>
              </p:ext>
            </p:extLst>
          </p:nvPr>
        </p:nvGraphicFramePr>
        <p:xfrm>
          <a:off x="6356010" y="1208291"/>
          <a:ext cx="5572014" cy="3405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002">
                  <a:extLst>
                    <a:ext uri="{9D8B030D-6E8A-4147-A177-3AD203B41FA5}">
                      <a16:colId xmlns:a16="http://schemas.microsoft.com/office/drawing/2014/main" val="1790005131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917817357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2728926950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2913704751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1609159334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3572416527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1701851200"/>
                    </a:ext>
                  </a:extLst>
                </a:gridCol>
              </a:tblGrid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v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0083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28361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560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7984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6768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72912"/>
                  </a:ext>
                </a:extLst>
              </a:tr>
            </a:tbl>
          </a:graphicData>
        </a:graphic>
      </p:graphicFrame>
      <p:sp>
        <p:nvSpPr>
          <p:cNvPr id="26" name="文字方塊 25"/>
          <p:cNvSpPr txBox="1"/>
          <p:nvPr/>
        </p:nvSpPr>
        <p:spPr>
          <a:xfrm>
            <a:off x="1469589" y="4861220"/>
            <a:ext cx="13740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y =</a:t>
            </a:r>
            <a:r>
              <a:rPr lang="en-US" altLang="zh-TW" sz="3200" b="1" dirty="0"/>
              <a:t>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3 </a:t>
            </a:r>
            <a:endParaRPr lang="zh-TW" altLang="en-US" sz="3200" b="1" dirty="0"/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8255905"/>
              </p:ext>
            </p:extLst>
          </p:nvPr>
        </p:nvGraphicFramePr>
        <p:xfrm>
          <a:off x="1473547" y="1424621"/>
          <a:ext cx="3240255" cy="301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51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603621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28" name="文字方塊 27"/>
          <p:cNvSpPr txBox="1"/>
          <p:nvPr/>
        </p:nvSpPr>
        <p:spPr>
          <a:xfrm>
            <a:off x="1029405" y="1585766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1469589" y="1006127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  <p:sp>
        <p:nvSpPr>
          <p:cNvPr id="9" name="圓角矩形 8"/>
          <p:cNvSpPr/>
          <p:nvPr/>
        </p:nvSpPr>
        <p:spPr>
          <a:xfrm>
            <a:off x="2770702" y="2024743"/>
            <a:ext cx="1289957" cy="241798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6471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881112" y="0"/>
            <a:ext cx="420660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dirty="0">
                <a:solidFill>
                  <a:srgbClr val="C00000"/>
                </a:solidFill>
              </a:rPr>
              <a:t>Priority Encoder</a:t>
            </a:r>
            <a:endParaRPr lang="zh-TW" altLang="en-US" sz="4800" b="1" dirty="0">
              <a:solidFill>
                <a:srgbClr val="C00000"/>
              </a:solidFill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153314"/>
              </p:ext>
            </p:extLst>
          </p:nvPr>
        </p:nvGraphicFramePr>
        <p:xfrm>
          <a:off x="6356010" y="1208291"/>
          <a:ext cx="5572014" cy="3405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002">
                  <a:extLst>
                    <a:ext uri="{9D8B030D-6E8A-4147-A177-3AD203B41FA5}">
                      <a16:colId xmlns:a16="http://schemas.microsoft.com/office/drawing/2014/main" val="1790005131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917817357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2728926950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2913704751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1609159334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3572416527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1701851200"/>
                    </a:ext>
                  </a:extLst>
                </a:gridCol>
              </a:tblGrid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v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0083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28361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560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7984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6768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72912"/>
                  </a:ext>
                </a:extLst>
              </a:tr>
            </a:tbl>
          </a:graphicData>
        </a:graphic>
      </p:graphicFrame>
      <p:sp>
        <p:nvSpPr>
          <p:cNvPr id="26" name="文字方塊 25"/>
          <p:cNvSpPr txBox="1"/>
          <p:nvPr/>
        </p:nvSpPr>
        <p:spPr>
          <a:xfrm>
            <a:off x="1469589" y="4861220"/>
            <a:ext cx="271741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y =</a:t>
            </a:r>
            <a:r>
              <a:rPr lang="en-US" altLang="zh-TW" sz="3200" b="1" dirty="0"/>
              <a:t>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3</a:t>
            </a:r>
            <a:r>
              <a:rPr lang="en-US" altLang="zh-TW" sz="3200" b="1" dirty="0"/>
              <a:t> </a:t>
            </a:r>
            <a:r>
              <a:rPr lang="en-US" altLang="zh-TW" sz="3200" b="1" dirty="0" smtClean="0"/>
              <a:t>+ D</a:t>
            </a:r>
            <a:r>
              <a:rPr lang="en-US" altLang="zh-TW" sz="3200" b="1" baseline="-25000" dirty="0" smtClean="0"/>
              <a:t>1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2</a:t>
            </a:r>
            <a:r>
              <a:rPr lang="en-US" altLang="zh-TW" sz="3200" b="1" dirty="0" smtClean="0"/>
              <a:t> </a:t>
            </a:r>
            <a:endParaRPr lang="zh-TW" altLang="en-US" sz="3200" b="1" dirty="0"/>
          </a:p>
          <a:p>
            <a:r>
              <a:rPr lang="en-US" altLang="zh-TW" sz="3200" b="1" baseline="-25000" dirty="0" smtClean="0"/>
              <a:t> </a:t>
            </a:r>
            <a:endParaRPr lang="zh-TW" altLang="en-US" sz="3200" b="1" dirty="0"/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8255905"/>
              </p:ext>
            </p:extLst>
          </p:nvPr>
        </p:nvGraphicFramePr>
        <p:xfrm>
          <a:off x="1473547" y="1424621"/>
          <a:ext cx="3240255" cy="301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51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603621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28" name="文字方塊 27"/>
          <p:cNvSpPr txBox="1"/>
          <p:nvPr/>
        </p:nvSpPr>
        <p:spPr>
          <a:xfrm>
            <a:off x="1029405" y="1585766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1469589" y="1006127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  <p:sp>
        <p:nvSpPr>
          <p:cNvPr id="9" name="圓角矩形 8"/>
          <p:cNvSpPr/>
          <p:nvPr/>
        </p:nvSpPr>
        <p:spPr>
          <a:xfrm>
            <a:off x="2770702" y="2024743"/>
            <a:ext cx="1289957" cy="241798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圓角矩形 9"/>
          <p:cNvSpPr/>
          <p:nvPr/>
        </p:nvSpPr>
        <p:spPr>
          <a:xfrm>
            <a:off x="2117559" y="2620736"/>
            <a:ext cx="1295112" cy="1203620"/>
          </a:xfrm>
          <a:prstGeom prst="round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" name="直線接點 5"/>
          <p:cNvCxnSpPr/>
          <p:nvPr/>
        </p:nvCxnSpPr>
        <p:spPr>
          <a:xfrm>
            <a:off x="3574679" y="4947557"/>
            <a:ext cx="30335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6656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881112" y="0"/>
            <a:ext cx="420660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dirty="0">
                <a:solidFill>
                  <a:srgbClr val="C00000"/>
                </a:solidFill>
              </a:rPr>
              <a:t>Priority Encoder</a:t>
            </a:r>
            <a:endParaRPr lang="zh-TW" altLang="en-US" sz="4800" b="1" dirty="0">
              <a:solidFill>
                <a:srgbClr val="C00000"/>
              </a:solidFill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8347844"/>
              </p:ext>
            </p:extLst>
          </p:nvPr>
        </p:nvGraphicFramePr>
        <p:xfrm>
          <a:off x="6356010" y="1208291"/>
          <a:ext cx="5572014" cy="3405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002">
                  <a:extLst>
                    <a:ext uri="{9D8B030D-6E8A-4147-A177-3AD203B41FA5}">
                      <a16:colId xmlns:a16="http://schemas.microsoft.com/office/drawing/2014/main" val="1790005131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917817357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2728926950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2913704751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1609159334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3572416527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1701851200"/>
                    </a:ext>
                  </a:extLst>
                </a:gridCol>
              </a:tblGrid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v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0083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28361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560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7984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6768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72912"/>
                  </a:ext>
                </a:extLst>
              </a:tr>
            </a:tbl>
          </a:graphicData>
        </a:graphic>
      </p:graphicFrame>
      <p:sp>
        <p:nvSpPr>
          <p:cNvPr id="26" name="文字方塊 25"/>
          <p:cNvSpPr txBox="1"/>
          <p:nvPr/>
        </p:nvSpPr>
        <p:spPr>
          <a:xfrm>
            <a:off x="1469589" y="4861220"/>
            <a:ext cx="7857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v =</a:t>
            </a:r>
            <a:endParaRPr lang="zh-TW" altLang="en-US" sz="3200" b="1" dirty="0"/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083009"/>
              </p:ext>
            </p:extLst>
          </p:nvPr>
        </p:nvGraphicFramePr>
        <p:xfrm>
          <a:off x="1473547" y="1424621"/>
          <a:ext cx="3240255" cy="301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51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603621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28" name="文字方塊 27"/>
          <p:cNvSpPr txBox="1"/>
          <p:nvPr/>
        </p:nvSpPr>
        <p:spPr>
          <a:xfrm>
            <a:off x="1029405" y="1585766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1469589" y="1006127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</p:spTree>
    <p:extLst>
      <p:ext uri="{BB962C8B-B14F-4D97-AF65-F5344CB8AC3E}">
        <p14:creationId xmlns:p14="http://schemas.microsoft.com/office/powerpoint/2010/main" val="3514245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881112" y="0"/>
            <a:ext cx="420660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dirty="0">
                <a:solidFill>
                  <a:srgbClr val="C00000"/>
                </a:solidFill>
              </a:rPr>
              <a:t>Priority Encoder</a:t>
            </a:r>
            <a:endParaRPr lang="zh-TW" altLang="en-US" sz="4800" b="1" dirty="0">
              <a:solidFill>
                <a:srgbClr val="C00000"/>
              </a:solidFill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84859"/>
              </p:ext>
            </p:extLst>
          </p:nvPr>
        </p:nvGraphicFramePr>
        <p:xfrm>
          <a:off x="6356010" y="1208291"/>
          <a:ext cx="5572014" cy="3405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002">
                  <a:extLst>
                    <a:ext uri="{9D8B030D-6E8A-4147-A177-3AD203B41FA5}">
                      <a16:colId xmlns:a16="http://schemas.microsoft.com/office/drawing/2014/main" val="1790005131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917817357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2728926950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2913704751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1609159334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3572416527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1701851200"/>
                    </a:ext>
                  </a:extLst>
                </a:gridCol>
              </a:tblGrid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v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0083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28361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560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7984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6768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72912"/>
                  </a:ext>
                </a:extLst>
              </a:tr>
            </a:tbl>
          </a:graphicData>
        </a:graphic>
      </p:graphicFrame>
      <p:sp>
        <p:nvSpPr>
          <p:cNvPr id="26" name="文字方塊 25"/>
          <p:cNvSpPr txBox="1"/>
          <p:nvPr/>
        </p:nvSpPr>
        <p:spPr>
          <a:xfrm>
            <a:off x="1469589" y="4861220"/>
            <a:ext cx="7857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v =</a:t>
            </a:r>
            <a:endParaRPr lang="zh-TW" altLang="en-US" sz="3200" b="1" dirty="0"/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8033499"/>
              </p:ext>
            </p:extLst>
          </p:nvPr>
        </p:nvGraphicFramePr>
        <p:xfrm>
          <a:off x="1473547" y="1424621"/>
          <a:ext cx="3240255" cy="301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51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603621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28" name="文字方塊 27"/>
          <p:cNvSpPr txBox="1"/>
          <p:nvPr/>
        </p:nvSpPr>
        <p:spPr>
          <a:xfrm>
            <a:off x="1029405" y="1585766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1469589" y="1006127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</p:spTree>
    <p:extLst>
      <p:ext uri="{BB962C8B-B14F-4D97-AF65-F5344CB8AC3E}">
        <p14:creationId xmlns:p14="http://schemas.microsoft.com/office/powerpoint/2010/main" val="3499065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881112" y="0"/>
            <a:ext cx="420660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dirty="0">
                <a:solidFill>
                  <a:srgbClr val="C00000"/>
                </a:solidFill>
              </a:rPr>
              <a:t>Priority Encoder</a:t>
            </a:r>
            <a:endParaRPr lang="zh-TW" altLang="en-US" sz="4800" b="1" dirty="0">
              <a:solidFill>
                <a:srgbClr val="C00000"/>
              </a:solidFill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6098865"/>
              </p:ext>
            </p:extLst>
          </p:nvPr>
        </p:nvGraphicFramePr>
        <p:xfrm>
          <a:off x="6356010" y="1208291"/>
          <a:ext cx="5572014" cy="3405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002">
                  <a:extLst>
                    <a:ext uri="{9D8B030D-6E8A-4147-A177-3AD203B41FA5}">
                      <a16:colId xmlns:a16="http://schemas.microsoft.com/office/drawing/2014/main" val="1790005131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917817357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2728926950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2913704751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1609159334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3572416527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1701851200"/>
                    </a:ext>
                  </a:extLst>
                </a:gridCol>
              </a:tblGrid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v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0083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28361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560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7984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6768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72912"/>
                  </a:ext>
                </a:extLst>
              </a:tr>
            </a:tbl>
          </a:graphicData>
        </a:graphic>
      </p:graphicFrame>
      <p:sp>
        <p:nvSpPr>
          <p:cNvPr id="26" name="文字方塊 25"/>
          <p:cNvSpPr txBox="1"/>
          <p:nvPr/>
        </p:nvSpPr>
        <p:spPr>
          <a:xfrm>
            <a:off x="1469589" y="4861220"/>
            <a:ext cx="7857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v =</a:t>
            </a:r>
            <a:endParaRPr lang="zh-TW" altLang="en-US" sz="3200" b="1" dirty="0"/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1828969"/>
              </p:ext>
            </p:extLst>
          </p:nvPr>
        </p:nvGraphicFramePr>
        <p:xfrm>
          <a:off x="1473547" y="1424621"/>
          <a:ext cx="3240255" cy="301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51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603621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28" name="文字方塊 27"/>
          <p:cNvSpPr txBox="1"/>
          <p:nvPr/>
        </p:nvSpPr>
        <p:spPr>
          <a:xfrm>
            <a:off x="1029405" y="1585766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1469589" y="1006127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</p:spTree>
    <p:extLst>
      <p:ext uri="{BB962C8B-B14F-4D97-AF65-F5344CB8AC3E}">
        <p14:creationId xmlns:p14="http://schemas.microsoft.com/office/powerpoint/2010/main" val="3634255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881112" y="0"/>
            <a:ext cx="420660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dirty="0">
                <a:solidFill>
                  <a:srgbClr val="C00000"/>
                </a:solidFill>
              </a:rPr>
              <a:t>Priority Encoder</a:t>
            </a:r>
            <a:endParaRPr lang="zh-TW" altLang="en-US" sz="4800" b="1" dirty="0">
              <a:solidFill>
                <a:srgbClr val="C00000"/>
              </a:solidFill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837226"/>
              </p:ext>
            </p:extLst>
          </p:nvPr>
        </p:nvGraphicFramePr>
        <p:xfrm>
          <a:off x="6356010" y="1208291"/>
          <a:ext cx="5572014" cy="3405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002">
                  <a:extLst>
                    <a:ext uri="{9D8B030D-6E8A-4147-A177-3AD203B41FA5}">
                      <a16:colId xmlns:a16="http://schemas.microsoft.com/office/drawing/2014/main" val="1790005131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917817357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2728926950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2913704751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1609159334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3572416527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1701851200"/>
                    </a:ext>
                  </a:extLst>
                </a:gridCol>
              </a:tblGrid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v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0083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28361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560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7984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6768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72912"/>
                  </a:ext>
                </a:extLst>
              </a:tr>
            </a:tbl>
          </a:graphicData>
        </a:graphic>
      </p:graphicFrame>
      <p:sp>
        <p:nvSpPr>
          <p:cNvPr id="26" name="文字方塊 25"/>
          <p:cNvSpPr txBox="1"/>
          <p:nvPr/>
        </p:nvSpPr>
        <p:spPr>
          <a:xfrm>
            <a:off x="1469589" y="4861220"/>
            <a:ext cx="7857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v =</a:t>
            </a:r>
            <a:endParaRPr lang="zh-TW" altLang="en-US" sz="3200" b="1" dirty="0"/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8003113"/>
              </p:ext>
            </p:extLst>
          </p:nvPr>
        </p:nvGraphicFramePr>
        <p:xfrm>
          <a:off x="1473547" y="1424621"/>
          <a:ext cx="3240255" cy="301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51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603621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28" name="文字方塊 27"/>
          <p:cNvSpPr txBox="1"/>
          <p:nvPr/>
        </p:nvSpPr>
        <p:spPr>
          <a:xfrm>
            <a:off x="1029405" y="1585766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1469589" y="1006127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</p:spTree>
    <p:extLst>
      <p:ext uri="{BB962C8B-B14F-4D97-AF65-F5344CB8AC3E}">
        <p14:creationId xmlns:p14="http://schemas.microsoft.com/office/powerpoint/2010/main" val="2878167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881112" y="0"/>
            <a:ext cx="420660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dirty="0">
                <a:solidFill>
                  <a:srgbClr val="C00000"/>
                </a:solidFill>
              </a:rPr>
              <a:t>Priority Encoder</a:t>
            </a:r>
            <a:endParaRPr lang="zh-TW" altLang="en-US" sz="4800" b="1" dirty="0">
              <a:solidFill>
                <a:srgbClr val="C00000"/>
              </a:solidFill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766755"/>
              </p:ext>
            </p:extLst>
          </p:nvPr>
        </p:nvGraphicFramePr>
        <p:xfrm>
          <a:off x="6356010" y="1208291"/>
          <a:ext cx="5572014" cy="3405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002">
                  <a:extLst>
                    <a:ext uri="{9D8B030D-6E8A-4147-A177-3AD203B41FA5}">
                      <a16:colId xmlns:a16="http://schemas.microsoft.com/office/drawing/2014/main" val="1790005131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917817357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2728926950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2913704751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1609159334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3572416527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1701851200"/>
                    </a:ext>
                  </a:extLst>
                </a:gridCol>
              </a:tblGrid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v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0083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28361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560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7984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6768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72912"/>
                  </a:ext>
                </a:extLst>
              </a:tr>
            </a:tbl>
          </a:graphicData>
        </a:graphic>
      </p:graphicFrame>
      <p:sp>
        <p:nvSpPr>
          <p:cNvPr id="26" name="文字方塊 25"/>
          <p:cNvSpPr txBox="1"/>
          <p:nvPr/>
        </p:nvSpPr>
        <p:spPr>
          <a:xfrm>
            <a:off x="1469589" y="4861220"/>
            <a:ext cx="7857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v =</a:t>
            </a:r>
            <a:endParaRPr lang="zh-TW" altLang="en-US" sz="3200" b="1" dirty="0"/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36316"/>
              </p:ext>
            </p:extLst>
          </p:nvPr>
        </p:nvGraphicFramePr>
        <p:xfrm>
          <a:off x="1473547" y="1424621"/>
          <a:ext cx="3240255" cy="301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51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603621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28" name="文字方塊 27"/>
          <p:cNvSpPr txBox="1"/>
          <p:nvPr/>
        </p:nvSpPr>
        <p:spPr>
          <a:xfrm>
            <a:off x="1029405" y="1585766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1469589" y="1006127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</p:spTree>
    <p:extLst>
      <p:ext uri="{BB962C8B-B14F-4D97-AF65-F5344CB8AC3E}">
        <p14:creationId xmlns:p14="http://schemas.microsoft.com/office/powerpoint/2010/main" val="778815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881112" y="0"/>
            <a:ext cx="420660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dirty="0">
                <a:solidFill>
                  <a:srgbClr val="C00000"/>
                </a:solidFill>
              </a:rPr>
              <a:t>Priority Encoder</a:t>
            </a:r>
            <a:endParaRPr lang="zh-TW" altLang="en-US" sz="4800" b="1" dirty="0">
              <a:solidFill>
                <a:srgbClr val="C00000"/>
              </a:solidFill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3044692"/>
              </p:ext>
            </p:extLst>
          </p:nvPr>
        </p:nvGraphicFramePr>
        <p:xfrm>
          <a:off x="6356010" y="1208291"/>
          <a:ext cx="5572014" cy="3405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002">
                  <a:extLst>
                    <a:ext uri="{9D8B030D-6E8A-4147-A177-3AD203B41FA5}">
                      <a16:colId xmlns:a16="http://schemas.microsoft.com/office/drawing/2014/main" val="1790005131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917817357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2728926950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2913704751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1609159334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3572416527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1701851200"/>
                    </a:ext>
                  </a:extLst>
                </a:gridCol>
              </a:tblGrid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v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0083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28361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560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7984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6768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72912"/>
                  </a:ext>
                </a:extLst>
              </a:tr>
            </a:tbl>
          </a:graphicData>
        </a:graphic>
      </p:graphicFrame>
      <p:sp>
        <p:nvSpPr>
          <p:cNvPr id="26" name="文字方塊 25"/>
          <p:cNvSpPr txBox="1"/>
          <p:nvPr/>
        </p:nvSpPr>
        <p:spPr>
          <a:xfrm>
            <a:off x="1469589" y="4861220"/>
            <a:ext cx="14109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v =</a:t>
            </a:r>
            <a:r>
              <a:rPr lang="en-US" altLang="zh-TW" sz="3200" b="1" dirty="0"/>
              <a:t>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0</a:t>
            </a:r>
            <a:r>
              <a:rPr lang="en-US" altLang="zh-TW" sz="3200" b="1" dirty="0" smtClean="0"/>
              <a:t> </a:t>
            </a:r>
            <a:endParaRPr lang="zh-TW" altLang="en-US" sz="3200" b="1" dirty="0"/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36316"/>
              </p:ext>
            </p:extLst>
          </p:nvPr>
        </p:nvGraphicFramePr>
        <p:xfrm>
          <a:off x="1473547" y="1424621"/>
          <a:ext cx="3240255" cy="301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51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603621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28" name="文字方塊 27"/>
          <p:cNvSpPr txBox="1"/>
          <p:nvPr/>
        </p:nvSpPr>
        <p:spPr>
          <a:xfrm>
            <a:off x="1029405" y="1585766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1469589" y="1006127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  <p:sp>
        <p:nvSpPr>
          <p:cNvPr id="8" name="圓角矩形 7"/>
          <p:cNvSpPr/>
          <p:nvPr/>
        </p:nvSpPr>
        <p:spPr>
          <a:xfrm>
            <a:off x="2118555" y="3233057"/>
            <a:ext cx="2595247" cy="1209669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2604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881112" y="0"/>
            <a:ext cx="420660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dirty="0">
                <a:solidFill>
                  <a:srgbClr val="C00000"/>
                </a:solidFill>
              </a:rPr>
              <a:t>Priority Encoder</a:t>
            </a:r>
            <a:endParaRPr lang="zh-TW" altLang="en-US" sz="4800" b="1" dirty="0">
              <a:solidFill>
                <a:srgbClr val="C00000"/>
              </a:solidFill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4361979"/>
              </p:ext>
            </p:extLst>
          </p:nvPr>
        </p:nvGraphicFramePr>
        <p:xfrm>
          <a:off x="6356010" y="1208291"/>
          <a:ext cx="5572014" cy="3405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002">
                  <a:extLst>
                    <a:ext uri="{9D8B030D-6E8A-4147-A177-3AD203B41FA5}">
                      <a16:colId xmlns:a16="http://schemas.microsoft.com/office/drawing/2014/main" val="1790005131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917817357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2728926950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2913704751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1609159334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3572416527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1701851200"/>
                    </a:ext>
                  </a:extLst>
                </a:gridCol>
              </a:tblGrid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v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0083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28361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560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7984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6768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72912"/>
                  </a:ext>
                </a:extLst>
              </a:tr>
            </a:tbl>
          </a:graphicData>
        </a:graphic>
      </p:graphicFrame>
      <p:sp>
        <p:nvSpPr>
          <p:cNvPr id="26" name="文字方塊 25"/>
          <p:cNvSpPr txBox="1"/>
          <p:nvPr/>
        </p:nvSpPr>
        <p:spPr>
          <a:xfrm>
            <a:off x="1469589" y="4861220"/>
            <a:ext cx="22012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v =</a:t>
            </a:r>
            <a:r>
              <a:rPr lang="en-US" altLang="zh-TW" sz="3200" b="1" dirty="0"/>
              <a:t>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0</a:t>
            </a:r>
            <a:r>
              <a:rPr lang="en-US" altLang="zh-TW" sz="3200" b="1" dirty="0" smtClean="0"/>
              <a:t> + D</a:t>
            </a:r>
            <a:r>
              <a:rPr lang="en-US" altLang="zh-TW" sz="3200" b="1" baseline="-25000" dirty="0" smtClean="0"/>
              <a:t>1</a:t>
            </a:r>
            <a:endParaRPr lang="zh-TW" altLang="en-US" sz="3200" b="1" dirty="0"/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36316"/>
              </p:ext>
            </p:extLst>
          </p:nvPr>
        </p:nvGraphicFramePr>
        <p:xfrm>
          <a:off x="1473547" y="1424621"/>
          <a:ext cx="3240255" cy="301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51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603621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28" name="文字方塊 27"/>
          <p:cNvSpPr txBox="1"/>
          <p:nvPr/>
        </p:nvSpPr>
        <p:spPr>
          <a:xfrm>
            <a:off x="1029405" y="1585766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1469589" y="1006127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  <p:sp>
        <p:nvSpPr>
          <p:cNvPr id="8" name="圓角矩形 7"/>
          <p:cNvSpPr/>
          <p:nvPr/>
        </p:nvSpPr>
        <p:spPr>
          <a:xfrm>
            <a:off x="2118555" y="3233057"/>
            <a:ext cx="2595247" cy="1209669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圓角矩形 8"/>
          <p:cNvSpPr/>
          <p:nvPr/>
        </p:nvSpPr>
        <p:spPr>
          <a:xfrm>
            <a:off x="2118554" y="2628222"/>
            <a:ext cx="2595247" cy="1209669"/>
          </a:xfrm>
          <a:prstGeom prst="round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1392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881112" y="0"/>
            <a:ext cx="420660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dirty="0">
                <a:solidFill>
                  <a:srgbClr val="C00000"/>
                </a:solidFill>
              </a:rPr>
              <a:t>Priority Encoder</a:t>
            </a:r>
            <a:endParaRPr lang="zh-TW" altLang="en-US" sz="4800" b="1" dirty="0">
              <a:solidFill>
                <a:srgbClr val="C00000"/>
              </a:solidFill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8150467"/>
              </p:ext>
            </p:extLst>
          </p:nvPr>
        </p:nvGraphicFramePr>
        <p:xfrm>
          <a:off x="6356010" y="1208291"/>
          <a:ext cx="5572014" cy="3405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002">
                  <a:extLst>
                    <a:ext uri="{9D8B030D-6E8A-4147-A177-3AD203B41FA5}">
                      <a16:colId xmlns:a16="http://schemas.microsoft.com/office/drawing/2014/main" val="1790005131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917817357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2728926950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2913704751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1609159334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3572416527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1701851200"/>
                    </a:ext>
                  </a:extLst>
                </a:gridCol>
              </a:tblGrid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v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0083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28361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560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7984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6768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72912"/>
                  </a:ext>
                </a:extLst>
              </a:tr>
            </a:tbl>
          </a:graphicData>
        </a:graphic>
      </p:graphicFrame>
      <p:sp>
        <p:nvSpPr>
          <p:cNvPr id="26" name="文字方塊 25"/>
          <p:cNvSpPr txBox="1"/>
          <p:nvPr/>
        </p:nvSpPr>
        <p:spPr>
          <a:xfrm>
            <a:off x="1469589" y="4861220"/>
            <a:ext cx="310052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v =</a:t>
            </a:r>
            <a:r>
              <a:rPr lang="en-US" altLang="zh-TW" sz="3200" b="1" dirty="0"/>
              <a:t>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0</a:t>
            </a:r>
            <a:r>
              <a:rPr lang="en-US" altLang="zh-TW" sz="3200" b="1" dirty="0" smtClean="0"/>
              <a:t> + D</a:t>
            </a:r>
            <a:r>
              <a:rPr lang="en-US" altLang="zh-TW" sz="3200" b="1" baseline="-25000" dirty="0" smtClean="0"/>
              <a:t>1</a:t>
            </a:r>
            <a:r>
              <a:rPr lang="en-US" altLang="zh-TW" sz="3200" b="1" dirty="0"/>
              <a:t> </a:t>
            </a:r>
            <a:r>
              <a:rPr lang="en-US" altLang="zh-TW" sz="3200" b="1" dirty="0" smtClean="0"/>
              <a:t>+ D</a:t>
            </a:r>
            <a:r>
              <a:rPr lang="en-US" altLang="zh-TW" sz="3200" b="1" baseline="-25000" dirty="0" smtClean="0"/>
              <a:t>2</a:t>
            </a:r>
            <a:endParaRPr lang="zh-TW" altLang="en-US" sz="3200" b="1" dirty="0"/>
          </a:p>
          <a:p>
            <a:endParaRPr lang="zh-TW" altLang="en-US" sz="3200" b="1" dirty="0"/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36316"/>
              </p:ext>
            </p:extLst>
          </p:nvPr>
        </p:nvGraphicFramePr>
        <p:xfrm>
          <a:off x="1473547" y="1424621"/>
          <a:ext cx="3240255" cy="301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51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603621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28" name="文字方塊 27"/>
          <p:cNvSpPr txBox="1"/>
          <p:nvPr/>
        </p:nvSpPr>
        <p:spPr>
          <a:xfrm>
            <a:off x="1029405" y="1585766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1469589" y="1006127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  <p:sp>
        <p:nvSpPr>
          <p:cNvPr id="8" name="圓角矩形 7"/>
          <p:cNvSpPr/>
          <p:nvPr/>
        </p:nvSpPr>
        <p:spPr>
          <a:xfrm>
            <a:off x="2118555" y="3233057"/>
            <a:ext cx="2595247" cy="1209669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圓角矩形 8"/>
          <p:cNvSpPr/>
          <p:nvPr/>
        </p:nvSpPr>
        <p:spPr>
          <a:xfrm>
            <a:off x="2118554" y="2628222"/>
            <a:ext cx="2595247" cy="1209669"/>
          </a:xfrm>
          <a:prstGeom prst="round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圓角矩形 9"/>
          <p:cNvSpPr/>
          <p:nvPr/>
        </p:nvSpPr>
        <p:spPr>
          <a:xfrm>
            <a:off x="3404918" y="2022709"/>
            <a:ext cx="1308884" cy="2420017"/>
          </a:xfrm>
          <a:prstGeom prst="roundRect">
            <a:avLst/>
          </a:prstGeom>
          <a:noFill/>
          <a:ln w="381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7610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881112" y="0"/>
            <a:ext cx="420660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dirty="0">
                <a:solidFill>
                  <a:srgbClr val="C00000"/>
                </a:solidFill>
              </a:rPr>
              <a:t>Priority Encoder</a:t>
            </a:r>
            <a:endParaRPr lang="zh-TW" altLang="en-US" sz="4800" b="1" dirty="0">
              <a:solidFill>
                <a:srgbClr val="C00000"/>
              </a:solidFill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8891478"/>
              </p:ext>
            </p:extLst>
          </p:nvPr>
        </p:nvGraphicFramePr>
        <p:xfrm>
          <a:off x="6356010" y="1208291"/>
          <a:ext cx="5572014" cy="3405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002">
                  <a:extLst>
                    <a:ext uri="{9D8B030D-6E8A-4147-A177-3AD203B41FA5}">
                      <a16:colId xmlns:a16="http://schemas.microsoft.com/office/drawing/2014/main" val="1790005131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917817357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2728926950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2913704751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1609159334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3572416527"/>
                    </a:ext>
                  </a:extLst>
                </a:gridCol>
                <a:gridCol w="796002">
                  <a:extLst>
                    <a:ext uri="{9D8B030D-6E8A-4147-A177-3AD203B41FA5}">
                      <a16:colId xmlns:a16="http://schemas.microsoft.com/office/drawing/2014/main" val="1701851200"/>
                    </a:ext>
                  </a:extLst>
                </a:gridCol>
              </a:tblGrid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D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v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0083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28361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5601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7984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67685"/>
                  </a:ext>
                </a:extLst>
              </a:tr>
              <a:tr h="567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72912"/>
                  </a:ext>
                </a:extLst>
              </a:tr>
            </a:tbl>
          </a:graphicData>
        </a:graphic>
      </p:graphicFrame>
      <p:sp>
        <p:nvSpPr>
          <p:cNvPr id="26" name="文字方塊 25"/>
          <p:cNvSpPr txBox="1"/>
          <p:nvPr/>
        </p:nvSpPr>
        <p:spPr>
          <a:xfrm>
            <a:off x="1469589" y="4861220"/>
            <a:ext cx="399981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v =</a:t>
            </a:r>
            <a:r>
              <a:rPr lang="en-US" altLang="zh-TW" sz="3200" b="1" dirty="0"/>
              <a:t>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0</a:t>
            </a:r>
            <a:r>
              <a:rPr lang="en-US" altLang="zh-TW" sz="3200" b="1" dirty="0" smtClean="0"/>
              <a:t> + D</a:t>
            </a:r>
            <a:r>
              <a:rPr lang="en-US" altLang="zh-TW" sz="3200" b="1" baseline="-25000" dirty="0" smtClean="0"/>
              <a:t>1</a:t>
            </a:r>
            <a:r>
              <a:rPr lang="en-US" altLang="zh-TW" sz="3200" b="1" dirty="0"/>
              <a:t> </a:t>
            </a:r>
            <a:r>
              <a:rPr lang="en-US" altLang="zh-TW" sz="3200" b="1" dirty="0" smtClean="0"/>
              <a:t>+ D</a:t>
            </a:r>
            <a:r>
              <a:rPr lang="en-US" altLang="zh-TW" sz="3200" b="1" baseline="-25000" dirty="0" smtClean="0"/>
              <a:t>2</a:t>
            </a:r>
            <a:r>
              <a:rPr lang="en-US" altLang="zh-TW" sz="3200" b="1" dirty="0"/>
              <a:t> </a:t>
            </a:r>
            <a:r>
              <a:rPr lang="en-US" altLang="zh-TW" sz="3200" b="1" dirty="0" smtClean="0"/>
              <a:t>+ D</a:t>
            </a:r>
            <a:r>
              <a:rPr lang="en-US" altLang="zh-TW" sz="3200" b="1" baseline="-25000" dirty="0" smtClean="0"/>
              <a:t>3</a:t>
            </a:r>
            <a:endParaRPr lang="zh-TW" altLang="en-US" sz="3200" b="1" dirty="0"/>
          </a:p>
          <a:p>
            <a:endParaRPr lang="zh-TW" altLang="en-US" sz="3200" b="1" dirty="0"/>
          </a:p>
          <a:p>
            <a:endParaRPr lang="zh-TW" altLang="en-US" sz="3200" b="1" dirty="0"/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36316"/>
              </p:ext>
            </p:extLst>
          </p:nvPr>
        </p:nvGraphicFramePr>
        <p:xfrm>
          <a:off x="1473547" y="1424621"/>
          <a:ext cx="3240255" cy="301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51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648051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603621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603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28" name="文字方塊 27"/>
          <p:cNvSpPr txBox="1"/>
          <p:nvPr/>
        </p:nvSpPr>
        <p:spPr>
          <a:xfrm>
            <a:off x="1029405" y="1585766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1469589" y="1006127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2</a:t>
            </a:r>
            <a:r>
              <a:rPr lang="en-US" altLang="zh-TW" sz="2800" dirty="0" smtClean="0"/>
              <a:t>D</a:t>
            </a:r>
            <a:r>
              <a:rPr lang="en-US" altLang="zh-TW" sz="2800" baseline="-25000" dirty="0" smtClean="0"/>
              <a:t>3</a:t>
            </a:r>
            <a:endParaRPr lang="zh-TW" altLang="en-US" sz="2800" baseline="-25000" dirty="0"/>
          </a:p>
        </p:txBody>
      </p:sp>
      <p:sp>
        <p:nvSpPr>
          <p:cNvPr id="8" name="圓角矩形 7"/>
          <p:cNvSpPr/>
          <p:nvPr/>
        </p:nvSpPr>
        <p:spPr>
          <a:xfrm>
            <a:off x="2118555" y="3233057"/>
            <a:ext cx="2595247" cy="1209669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圓角矩形 8"/>
          <p:cNvSpPr/>
          <p:nvPr/>
        </p:nvSpPr>
        <p:spPr>
          <a:xfrm>
            <a:off x="2118554" y="2628222"/>
            <a:ext cx="2595247" cy="1209669"/>
          </a:xfrm>
          <a:prstGeom prst="round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圓角矩形 9"/>
          <p:cNvSpPr/>
          <p:nvPr/>
        </p:nvSpPr>
        <p:spPr>
          <a:xfrm>
            <a:off x="3404918" y="2022709"/>
            <a:ext cx="1308884" cy="2420017"/>
          </a:xfrm>
          <a:prstGeom prst="roundRect">
            <a:avLst/>
          </a:prstGeom>
          <a:noFill/>
          <a:ln w="381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圓角矩形 10"/>
          <p:cNvSpPr/>
          <p:nvPr/>
        </p:nvSpPr>
        <p:spPr>
          <a:xfrm>
            <a:off x="2761649" y="2022709"/>
            <a:ext cx="1308884" cy="2420017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6189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881112" y="0"/>
            <a:ext cx="420660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dirty="0">
                <a:solidFill>
                  <a:srgbClr val="C00000"/>
                </a:solidFill>
              </a:rPr>
              <a:t>Priority Encoder</a:t>
            </a:r>
            <a:endParaRPr lang="zh-TW" altLang="en-US" sz="4800" b="1" dirty="0">
              <a:solidFill>
                <a:srgbClr val="C00000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270419" y="1101947"/>
            <a:ext cx="39998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v =</a:t>
            </a:r>
            <a:r>
              <a:rPr lang="en-US" altLang="zh-TW" sz="3200" b="1" dirty="0"/>
              <a:t>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0</a:t>
            </a:r>
            <a:r>
              <a:rPr lang="en-US" altLang="zh-TW" sz="3200" b="1" dirty="0" smtClean="0"/>
              <a:t> + D</a:t>
            </a:r>
            <a:r>
              <a:rPr lang="en-US" altLang="zh-TW" sz="3200" b="1" baseline="-25000" dirty="0" smtClean="0"/>
              <a:t>1</a:t>
            </a:r>
            <a:r>
              <a:rPr lang="en-US" altLang="zh-TW" sz="3200" b="1" dirty="0"/>
              <a:t> </a:t>
            </a:r>
            <a:r>
              <a:rPr lang="en-US" altLang="zh-TW" sz="3200" b="1" dirty="0" smtClean="0"/>
              <a:t>+ D</a:t>
            </a:r>
            <a:r>
              <a:rPr lang="en-US" altLang="zh-TW" sz="3200" b="1" baseline="-25000" dirty="0" smtClean="0"/>
              <a:t>2</a:t>
            </a:r>
            <a:r>
              <a:rPr lang="en-US" altLang="zh-TW" sz="3200" b="1" dirty="0"/>
              <a:t> </a:t>
            </a:r>
            <a:r>
              <a:rPr lang="en-US" altLang="zh-TW" sz="3200" b="1" dirty="0" smtClean="0"/>
              <a:t>+ D</a:t>
            </a:r>
            <a:r>
              <a:rPr lang="en-US" altLang="zh-TW" sz="3200" b="1" baseline="-25000" dirty="0" smtClean="0"/>
              <a:t>3</a:t>
            </a:r>
            <a:endParaRPr lang="zh-TW" altLang="en-US" sz="3200" b="1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270419" y="530447"/>
            <a:ext cx="2717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y =</a:t>
            </a:r>
            <a:r>
              <a:rPr lang="en-US" altLang="zh-TW" sz="3200" b="1" dirty="0"/>
              <a:t>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3</a:t>
            </a:r>
            <a:r>
              <a:rPr lang="en-US" altLang="zh-TW" sz="3200" b="1" dirty="0"/>
              <a:t> </a:t>
            </a:r>
            <a:r>
              <a:rPr lang="en-US" altLang="zh-TW" sz="3200" b="1" dirty="0" smtClean="0"/>
              <a:t>+ D</a:t>
            </a:r>
            <a:r>
              <a:rPr lang="en-US" altLang="zh-TW" sz="3200" b="1" baseline="-25000" dirty="0" smtClean="0"/>
              <a:t>1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2</a:t>
            </a:r>
            <a:r>
              <a:rPr lang="en-US" altLang="zh-TW" sz="3200" b="1" dirty="0" smtClean="0"/>
              <a:t> </a:t>
            </a:r>
            <a:endParaRPr lang="zh-TW" altLang="en-US" sz="3200" b="1" dirty="0"/>
          </a:p>
        </p:txBody>
      </p:sp>
      <p:cxnSp>
        <p:nvCxnSpPr>
          <p:cNvPr id="13" name="直線接點 12"/>
          <p:cNvCxnSpPr/>
          <p:nvPr/>
        </p:nvCxnSpPr>
        <p:spPr>
          <a:xfrm>
            <a:off x="2375509" y="616784"/>
            <a:ext cx="30335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311306" y="0"/>
            <a:ext cx="22733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x =</a:t>
            </a:r>
            <a:r>
              <a:rPr lang="en-US" altLang="zh-TW" sz="3200" b="1" dirty="0"/>
              <a:t>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2 </a:t>
            </a:r>
            <a:r>
              <a:rPr lang="en-US" altLang="zh-TW" sz="3200" b="1" dirty="0" smtClean="0"/>
              <a:t>+ D</a:t>
            </a:r>
            <a:r>
              <a:rPr lang="en-US" altLang="zh-TW" sz="3200" b="1" baseline="-25000" dirty="0" smtClean="0"/>
              <a:t>3</a:t>
            </a:r>
            <a:r>
              <a:rPr lang="en-US" altLang="zh-TW" sz="3200" b="1" dirty="0" smtClean="0"/>
              <a:t> </a:t>
            </a:r>
            <a:endParaRPr lang="zh-TW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131659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881112" y="0"/>
            <a:ext cx="420660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dirty="0">
                <a:solidFill>
                  <a:srgbClr val="C00000"/>
                </a:solidFill>
              </a:rPr>
              <a:t>Priority Encoder</a:t>
            </a:r>
            <a:endParaRPr lang="zh-TW" altLang="en-US" sz="4800" b="1" dirty="0">
              <a:solidFill>
                <a:srgbClr val="C00000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270419" y="1101947"/>
            <a:ext cx="39998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v =</a:t>
            </a:r>
            <a:r>
              <a:rPr lang="en-US" altLang="zh-TW" sz="3200" b="1" dirty="0"/>
              <a:t>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0</a:t>
            </a:r>
            <a:r>
              <a:rPr lang="en-US" altLang="zh-TW" sz="3200" b="1" dirty="0" smtClean="0"/>
              <a:t> + D</a:t>
            </a:r>
            <a:r>
              <a:rPr lang="en-US" altLang="zh-TW" sz="3200" b="1" baseline="-25000" dirty="0" smtClean="0"/>
              <a:t>1</a:t>
            </a:r>
            <a:r>
              <a:rPr lang="en-US" altLang="zh-TW" sz="3200" b="1" dirty="0"/>
              <a:t> </a:t>
            </a:r>
            <a:r>
              <a:rPr lang="en-US" altLang="zh-TW" sz="3200" b="1" dirty="0" smtClean="0"/>
              <a:t>+ D</a:t>
            </a:r>
            <a:r>
              <a:rPr lang="en-US" altLang="zh-TW" sz="3200" b="1" baseline="-25000" dirty="0" smtClean="0"/>
              <a:t>2</a:t>
            </a:r>
            <a:r>
              <a:rPr lang="en-US" altLang="zh-TW" sz="3200" b="1" dirty="0"/>
              <a:t> </a:t>
            </a:r>
            <a:r>
              <a:rPr lang="en-US" altLang="zh-TW" sz="3200" b="1" dirty="0" smtClean="0"/>
              <a:t>+ D</a:t>
            </a:r>
            <a:r>
              <a:rPr lang="en-US" altLang="zh-TW" sz="3200" b="1" baseline="-25000" dirty="0" smtClean="0"/>
              <a:t>3</a:t>
            </a:r>
            <a:endParaRPr lang="zh-TW" altLang="en-US" sz="3200" b="1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270419" y="530447"/>
            <a:ext cx="2717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y =</a:t>
            </a:r>
            <a:r>
              <a:rPr lang="en-US" altLang="zh-TW" sz="3200" b="1" dirty="0"/>
              <a:t>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3</a:t>
            </a:r>
            <a:r>
              <a:rPr lang="en-US" altLang="zh-TW" sz="3200" b="1" dirty="0"/>
              <a:t> </a:t>
            </a:r>
            <a:r>
              <a:rPr lang="en-US" altLang="zh-TW" sz="3200" b="1" dirty="0" smtClean="0"/>
              <a:t>+ D</a:t>
            </a:r>
            <a:r>
              <a:rPr lang="en-US" altLang="zh-TW" sz="3200" b="1" baseline="-25000" dirty="0" smtClean="0"/>
              <a:t>1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2</a:t>
            </a:r>
            <a:r>
              <a:rPr lang="en-US" altLang="zh-TW" sz="3200" b="1" dirty="0" smtClean="0"/>
              <a:t> </a:t>
            </a:r>
            <a:endParaRPr lang="zh-TW" altLang="en-US" sz="3200" b="1" dirty="0"/>
          </a:p>
        </p:txBody>
      </p:sp>
      <p:cxnSp>
        <p:nvCxnSpPr>
          <p:cNvPr id="13" name="直線接點 12"/>
          <p:cNvCxnSpPr/>
          <p:nvPr/>
        </p:nvCxnSpPr>
        <p:spPr>
          <a:xfrm>
            <a:off x="2375509" y="616784"/>
            <a:ext cx="30335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311306" y="0"/>
            <a:ext cx="22733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x =</a:t>
            </a:r>
            <a:r>
              <a:rPr lang="en-US" altLang="zh-TW" sz="3200" b="1" dirty="0"/>
              <a:t> </a:t>
            </a:r>
            <a:r>
              <a:rPr lang="en-US" altLang="zh-TW" sz="3200" b="1" dirty="0" smtClean="0"/>
              <a:t>D</a:t>
            </a:r>
            <a:r>
              <a:rPr lang="en-US" altLang="zh-TW" sz="3200" b="1" baseline="-25000" dirty="0" smtClean="0"/>
              <a:t>2 </a:t>
            </a:r>
            <a:r>
              <a:rPr lang="en-US" altLang="zh-TW" sz="3200" b="1" dirty="0" smtClean="0"/>
              <a:t>+ D</a:t>
            </a:r>
            <a:r>
              <a:rPr lang="en-US" altLang="zh-TW" sz="3200" b="1" baseline="-25000" dirty="0" smtClean="0"/>
              <a:t>3</a:t>
            </a:r>
            <a:r>
              <a:rPr lang="en-US" altLang="zh-TW" sz="3200" b="1" dirty="0" smtClean="0"/>
              <a:t> </a:t>
            </a:r>
            <a:endParaRPr lang="zh-TW" altLang="en-US" sz="3200" b="1" dirty="0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982BECC8-393D-4E0E-99B4-16B3C761CF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80" r="-1" b="19065"/>
          <a:stretch/>
        </p:blipFill>
        <p:spPr bwMode="auto">
          <a:xfrm>
            <a:off x="180678" y="1686722"/>
            <a:ext cx="11769036" cy="5171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82816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小水滴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小水滴</Template>
  <TotalTime>121</TotalTime>
  <Words>3864</Words>
  <Application>Microsoft Office PowerPoint</Application>
  <PresentationFormat>寬螢幕</PresentationFormat>
  <Paragraphs>3238</Paragraphs>
  <Slides>72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72</vt:i4>
      </vt:variant>
    </vt:vector>
  </HeadingPairs>
  <TitlesOfParts>
    <vt:vector size="77" baseType="lpstr">
      <vt:lpstr>微軟正黑體</vt:lpstr>
      <vt:lpstr>新細明體</vt:lpstr>
      <vt:lpstr>Arial</vt:lpstr>
      <vt:lpstr>Tw Cen MT</vt:lpstr>
      <vt:lpstr>小水滴</vt:lpstr>
      <vt:lpstr>TOPIC 7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7</dc:title>
  <dc:creator>Windows 使用者</dc:creator>
  <cp:lastModifiedBy>Windows 使用者</cp:lastModifiedBy>
  <cp:revision>26</cp:revision>
  <dcterms:created xsi:type="dcterms:W3CDTF">2021-12-16T00:51:32Z</dcterms:created>
  <dcterms:modified xsi:type="dcterms:W3CDTF">2021-12-16T02:52:48Z</dcterms:modified>
</cp:coreProperties>
</file>