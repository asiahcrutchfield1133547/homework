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6" r:id="rId6"/>
    <p:sldId id="269" r:id="rId7"/>
    <p:sldId id="270" r:id="rId8"/>
    <p:sldId id="273" r:id="rId9"/>
    <p:sldId id="271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6" r:id="rId19"/>
    <p:sldId id="288" r:id="rId20"/>
    <p:sldId id="318" r:id="rId21"/>
    <p:sldId id="289" r:id="rId22"/>
    <p:sldId id="287" r:id="rId23"/>
    <p:sldId id="262" r:id="rId24"/>
    <p:sldId id="263" r:id="rId25"/>
    <p:sldId id="282" r:id="rId26"/>
    <p:sldId id="283" r:id="rId27"/>
    <p:sldId id="264" r:id="rId28"/>
    <p:sldId id="284" r:id="rId29"/>
    <p:sldId id="290" r:id="rId30"/>
    <p:sldId id="291" r:id="rId31"/>
    <p:sldId id="292" r:id="rId32"/>
    <p:sldId id="265" r:id="rId33"/>
    <p:sldId id="296" r:id="rId34"/>
    <p:sldId id="293" r:id="rId35"/>
    <p:sldId id="297" r:id="rId36"/>
    <p:sldId id="295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7" r:id="rId46"/>
    <p:sldId id="308" r:id="rId47"/>
    <p:sldId id="309" r:id="rId48"/>
    <p:sldId id="310" r:id="rId49"/>
    <p:sldId id="306" r:id="rId50"/>
    <p:sldId id="311" r:id="rId51"/>
    <p:sldId id="440" r:id="rId52"/>
    <p:sldId id="312" r:id="rId53"/>
    <p:sldId id="313" r:id="rId54"/>
    <p:sldId id="316" r:id="rId55"/>
    <p:sldId id="314" r:id="rId56"/>
    <p:sldId id="315" r:id="rId57"/>
    <p:sldId id="317" r:id="rId58"/>
    <p:sldId id="372" r:id="rId59"/>
    <p:sldId id="319" r:id="rId60"/>
    <p:sldId id="320" r:id="rId61"/>
    <p:sldId id="321" r:id="rId62"/>
    <p:sldId id="322" r:id="rId63"/>
    <p:sldId id="329" r:id="rId64"/>
    <p:sldId id="323" r:id="rId65"/>
    <p:sldId id="324" r:id="rId66"/>
    <p:sldId id="325" r:id="rId67"/>
    <p:sldId id="326" r:id="rId68"/>
    <p:sldId id="327" r:id="rId69"/>
    <p:sldId id="328" r:id="rId70"/>
    <p:sldId id="330" r:id="rId71"/>
    <p:sldId id="331" r:id="rId72"/>
    <p:sldId id="332" r:id="rId73"/>
    <p:sldId id="333" r:id="rId74"/>
    <p:sldId id="335" r:id="rId75"/>
    <p:sldId id="334" r:id="rId76"/>
    <p:sldId id="336" r:id="rId77"/>
    <p:sldId id="337" r:id="rId78"/>
    <p:sldId id="338" r:id="rId79"/>
    <p:sldId id="339" r:id="rId80"/>
    <p:sldId id="340" r:id="rId81"/>
    <p:sldId id="344" r:id="rId82"/>
    <p:sldId id="343" r:id="rId83"/>
    <p:sldId id="341" r:id="rId84"/>
    <p:sldId id="342" r:id="rId85"/>
    <p:sldId id="345" r:id="rId86"/>
    <p:sldId id="347" r:id="rId87"/>
    <p:sldId id="350" r:id="rId88"/>
    <p:sldId id="349" r:id="rId89"/>
    <p:sldId id="348" r:id="rId90"/>
    <p:sldId id="346" r:id="rId91"/>
    <p:sldId id="352" r:id="rId92"/>
    <p:sldId id="353" r:id="rId93"/>
    <p:sldId id="351" r:id="rId94"/>
    <p:sldId id="354" r:id="rId95"/>
    <p:sldId id="355" r:id="rId96"/>
    <p:sldId id="356" r:id="rId97"/>
    <p:sldId id="357" r:id="rId98"/>
    <p:sldId id="358" r:id="rId99"/>
    <p:sldId id="363" r:id="rId100"/>
    <p:sldId id="360" r:id="rId101"/>
    <p:sldId id="359" r:id="rId102"/>
    <p:sldId id="361" r:id="rId103"/>
    <p:sldId id="362" r:id="rId104"/>
    <p:sldId id="364" r:id="rId105"/>
    <p:sldId id="365" r:id="rId106"/>
    <p:sldId id="366" r:id="rId107"/>
    <p:sldId id="367" r:id="rId108"/>
    <p:sldId id="368" r:id="rId109"/>
    <p:sldId id="369" r:id="rId110"/>
    <p:sldId id="370" r:id="rId111"/>
    <p:sldId id="371" r:id="rId112"/>
    <p:sldId id="373" r:id="rId113"/>
    <p:sldId id="380" r:id="rId114"/>
    <p:sldId id="384" r:id="rId115"/>
    <p:sldId id="385" r:id="rId116"/>
    <p:sldId id="381" r:id="rId117"/>
    <p:sldId id="382" r:id="rId118"/>
    <p:sldId id="386" r:id="rId119"/>
    <p:sldId id="383" r:id="rId120"/>
    <p:sldId id="387" r:id="rId121"/>
    <p:sldId id="376" r:id="rId122"/>
    <p:sldId id="375" r:id="rId123"/>
    <p:sldId id="377" r:id="rId124"/>
    <p:sldId id="378" r:id="rId125"/>
    <p:sldId id="374" r:id="rId126"/>
    <p:sldId id="379" r:id="rId127"/>
    <p:sldId id="414" r:id="rId128"/>
    <p:sldId id="390" r:id="rId129"/>
    <p:sldId id="388" r:id="rId130"/>
    <p:sldId id="389" r:id="rId131"/>
    <p:sldId id="391" r:id="rId132"/>
    <p:sldId id="392" r:id="rId133"/>
    <p:sldId id="393" r:id="rId134"/>
    <p:sldId id="394" r:id="rId135"/>
    <p:sldId id="395" r:id="rId136"/>
    <p:sldId id="396" r:id="rId137"/>
    <p:sldId id="397" r:id="rId138"/>
    <p:sldId id="398" r:id="rId139"/>
    <p:sldId id="399" r:id="rId140"/>
    <p:sldId id="400" r:id="rId141"/>
    <p:sldId id="401" r:id="rId142"/>
    <p:sldId id="402" r:id="rId143"/>
    <p:sldId id="403" r:id="rId144"/>
    <p:sldId id="404" r:id="rId145"/>
    <p:sldId id="405" r:id="rId146"/>
    <p:sldId id="406" r:id="rId147"/>
    <p:sldId id="407" r:id="rId148"/>
    <p:sldId id="408" r:id="rId149"/>
    <p:sldId id="409" r:id="rId150"/>
    <p:sldId id="410" r:id="rId151"/>
    <p:sldId id="411" r:id="rId152"/>
    <p:sldId id="412" r:id="rId153"/>
    <p:sldId id="413" r:id="rId154"/>
    <p:sldId id="415" r:id="rId155"/>
    <p:sldId id="416" r:id="rId156"/>
    <p:sldId id="441" r:id="rId157"/>
    <p:sldId id="417" r:id="rId158"/>
    <p:sldId id="418" r:id="rId159"/>
    <p:sldId id="419" r:id="rId160"/>
    <p:sldId id="422" r:id="rId161"/>
    <p:sldId id="421" r:id="rId162"/>
    <p:sldId id="420" r:id="rId163"/>
    <p:sldId id="423" r:id="rId164"/>
    <p:sldId id="424" r:id="rId165"/>
    <p:sldId id="426" r:id="rId166"/>
    <p:sldId id="427" r:id="rId167"/>
    <p:sldId id="428" r:id="rId168"/>
    <p:sldId id="425" r:id="rId169"/>
    <p:sldId id="429" r:id="rId170"/>
    <p:sldId id="430" r:id="rId171"/>
    <p:sldId id="431" r:id="rId172"/>
    <p:sldId id="432" r:id="rId173"/>
    <p:sldId id="433" r:id="rId174"/>
    <p:sldId id="434" r:id="rId175"/>
    <p:sldId id="435" r:id="rId176"/>
    <p:sldId id="436" r:id="rId177"/>
    <p:sldId id="437" r:id="rId178"/>
    <p:sldId id="438" r:id="rId179"/>
    <p:sldId id="439" r:id="rId18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5" d="100"/>
          <a:sy n="55" d="100"/>
        </p:scale>
        <p:origin x="60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presProps" Target="pres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viewProps" Target="viewProps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4.wmf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4.wmf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4.wmf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4.wmf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4.wmf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4.wmf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4.wmf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4.wmf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4.wmf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4.wmf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4.wmf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4.wmf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4.wmf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4.wmf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14.wmf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14.wmf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14.wmf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14.wmf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14.wmf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14.wmf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14.wmf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14.wmf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14.wmf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14.wmf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14.wmf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14.wmf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14.wmf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14.wmf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14.wmf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14.wmf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14.wmf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14.wmf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14.wmf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4" Type="http://schemas.openxmlformats.org/officeDocument/2006/relationships/image" Target="../media/image14.wmf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14.wmf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4" Type="http://schemas.openxmlformats.org/officeDocument/2006/relationships/image" Target="../media/image14.wmf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4" Type="http://schemas.openxmlformats.org/officeDocument/2006/relationships/image" Target="../media/image14.wmf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4" Type="http://schemas.openxmlformats.org/officeDocument/2006/relationships/image" Target="../media/image14.wmf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4" Type="http://schemas.openxmlformats.org/officeDocument/2006/relationships/image" Target="../media/image14.wmf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4" Type="http://schemas.openxmlformats.org/officeDocument/2006/relationships/image" Target="../media/image14.wmf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14.wmf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4" Type="http://schemas.openxmlformats.org/officeDocument/2006/relationships/image" Target="../media/image14.wmf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4" Type="http://schemas.openxmlformats.org/officeDocument/2006/relationships/image" Target="../media/image14.wmf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4" Type="http://schemas.openxmlformats.org/officeDocument/2006/relationships/image" Target="../media/image14.wmf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02080" y="2297864"/>
            <a:ext cx="1166676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b="1" i="1" dirty="0">
                <a:solidFill>
                  <a:srgbClr val="C00000"/>
                </a:solidFill>
              </a:rPr>
              <a:t>Gate-level minimization</a:t>
            </a:r>
            <a:r>
              <a:rPr lang="en-US" altLang="zh-TW" sz="3600" b="1" dirty="0">
                <a:solidFill>
                  <a:srgbClr val="C00000"/>
                </a:solidFill>
              </a:rPr>
              <a:t> </a:t>
            </a:r>
            <a:r>
              <a:rPr lang="en-US" altLang="zh-TW" sz="3600" dirty="0"/>
              <a:t>is the design task of finding an optimal gate-level implementation of Boolean functions describing a digital circuit.</a:t>
            </a:r>
          </a:p>
        </p:txBody>
      </p:sp>
    </p:spTree>
    <p:extLst>
      <p:ext uri="{BB962C8B-B14F-4D97-AF65-F5344CB8AC3E}">
        <p14:creationId xmlns:p14="http://schemas.microsoft.com/office/powerpoint/2010/main" val="2801449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24594" y="894486"/>
            <a:ext cx="11136084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TW" sz="4400" b="1" dirty="0">
                <a:solidFill>
                  <a:srgbClr val="C00000"/>
                </a:solidFill>
              </a:rPr>
              <a:t>Boolean function</a:t>
            </a:r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 smtClean="0"/>
              <a:t>Sum </a:t>
            </a:r>
            <a:r>
              <a:rPr lang="en-US" altLang="zh-TW" sz="3200" dirty="0"/>
              <a:t>of </a:t>
            </a:r>
            <a:r>
              <a:rPr lang="en-US" altLang="zh-TW" sz="3200" dirty="0" err="1"/>
              <a:t>minterms</a:t>
            </a:r>
            <a:endParaRPr lang="en-US" altLang="zh-TW" sz="3200" dirty="0"/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 smtClean="0"/>
              <a:t>Sum </a:t>
            </a:r>
            <a:r>
              <a:rPr lang="en-US" altLang="zh-TW" sz="3200" dirty="0"/>
              <a:t>of products (or product of sum) in the simplest form</a:t>
            </a:r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 smtClean="0"/>
              <a:t>A </a:t>
            </a:r>
            <a:r>
              <a:rPr lang="en-US" altLang="zh-TW" sz="3200" dirty="0"/>
              <a:t>minimum number of terms</a:t>
            </a:r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 smtClean="0"/>
              <a:t>A </a:t>
            </a:r>
            <a:r>
              <a:rPr lang="en-US" altLang="zh-TW" sz="3200" dirty="0"/>
              <a:t>minimum number of literals</a:t>
            </a:r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/>
              <a:t>The simplified expression may not be unique</a:t>
            </a:r>
          </a:p>
        </p:txBody>
      </p:sp>
    </p:spTree>
    <p:extLst>
      <p:ext uri="{BB962C8B-B14F-4D97-AF65-F5344CB8AC3E}">
        <p14:creationId xmlns:p14="http://schemas.microsoft.com/office/powerpoint/2010/main" val="2308769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81843" y="559751"/>
            <a:ext cx="9446079" cy="4346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TW" sz="4400" b="1" dirty="0">
                <a:solidFill>
                  <a:srgbClr val="C00000"/>
                </a:solidFill>
              </a:rPr>
              <a:t>Logic minimization</a:t>
            </a:r>
          </a:p>
          <a:p>
            <a:pPr marL="1200150" lvl="1" indent="-74295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3600" dirty="0" smtClean="0"/>
              <a:t>Algebraic </a:t>
            </a:r>
            <a:r>
              <a:rPr lang="en-US" altLang="zh-TW" sz="3600" dirty="0"/>
              <a:t>approaches: lack specific rules</a:t>
            </a:r>
          </a:p>
          <a:p>
            <a:pPr marL="1200150" lvl="1" indent="-74295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3600" dirty="0" smtClean="0"/>
              <a:t>The </a:t>
            </a:r>
            <a:r>
              <a:rPr lang="en-US" altLang="zh-TW" sz="3600" dirty="0" err="1"/>
              <a:t>Karnaugh</a:t>
            </a:r>
            <a:r>
              <a:rPr lang="en-US" altLang="zh-TW" sz="3600" dirty="0"/>
              <a:t> map (or K-map)</a:t>
            </a:r>
          </a:p>
          <a:p>
            <a:pPr marL="1795500" lvl="2" indent="-5715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TW" sz="3600" dirty="0" smtClean="0"/>
              <a:t>a </a:t>
            </a:r>
            <a:r>
              <a:rPr lang="en-US" altLang="zh-TW" sz="3600" dirty="0"/>
              <a:t>simple straight forward procedure</a:t>
            </a:r>
          </a:p>
          <a:p>
            <a:pPr marL="1795500" lvl="2" indent="-5715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TW" sz="3600" dirty="0" smtClean="0"/>
              <a:t>a </a:t>
            </a:r>
            <a:r>
              <a:rPr lang="en-US" altLang="zh-TW" sz="3600" dirty="0"/>
              <a:t>pictorial form of a truth table</a:t>
            </a:r>
          </a:p>
          <a:p>
            <a:pPr marL="1795500" lvl="2" indent="-5715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TW" sz="3600" dirty="0" smtClean="0"/>
              <a:t>applicable </a:t>
            </a:r>
            <a:r>
              <a:rPr lang="en-US" altLang="zh-TW" sz="3600" dirty="0"/>
              <a:t>if the # of variables &lt; 7</a:t>
            </a:r>
          </a:p>
        </p:txBody>
      </p:sp>
    </p:spTree>
    <p:extLst>
      <p:ext uri="{BB962C8B-B14F-4D97-AF65-F5344CB8AC3E}">
        <p14:creationId xmlns:p14="http://schemas.microsoft.com/office/powerpoint/2010/main" val="1738598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4672" y="1693414"/>
            <a:ext cx="11462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/>
              <a:t>A diagram made up of </a:t>
            </a:r>
            <a:r>
              <a:rPr lang="en-US" altLang="zh-TW" sz="3200" dirty="0" smtClean="0"/>
              <a:t>squares. Each </a:t>
            </a:r>
            <a:r>
              <a:rPr lang="en-US" altLang="zh-TW" sz="3200" dirty="0"/>
              <a:t>square represents one </a:t>
            </a:r>
            <a:r>
              <a:rPr lang="en-US" altLang="zh-TW" sz="3200" dirty="0" err="1"/>
              <a:t>minterm</a:t>
            </a:r>
            <a:endParaRPr lang="en-US" altLang="zh-TW" sz="3200" dirty="0"/>
          </a:p>
        </p:txBody>
      </p:sp>
      <p:sp>
        <p:nvSpPr>
          <p:cNvPr id="5" name="矩形 4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err="1">
                <a:solidFill>
                  <a:schemeClr val="bg1"/>
                </a:solidFill>
              </a:rPr>
              <a:t>Karnaugh</a:t>
            </a:r>
            <a:r>
              <a:rPr lang="en-US" altLang="zh-TW" sz="4800" b="1" dirty="0">
                <a:solidFill>
                  <a:schemeClr val="bg1"/>
                </a:solidFill>
              </a:rPr>
              <a:t> map (or K-map)</a:t>
            </a:r>
          </a:p>
        </p:txBody>
      </p:sp>
    </p:spTree>
    <p:extLst>
      <p:ext uri="{BB962C8B-B14F-4D97-AF65-F5344CB8AC3E}">
        <p14:creationId xmlns:p14="http://schemas.microsoft.com/office/powerpoint/2010/main" val="2673345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50218"/>
            <a:ext cx="5824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dirty="0" smtClean="0"/>
              <a:t>A </a:t>
            </a:r>
            <a:r>
              <a:rPr lang="en-US" altLang="zh-TW" sz="3200" dirty="0"/>
              <a:t>truth table in square diagram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1934993"/>
            <a:ext cx="38427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smtClean="0">
                <a:solidFill>
                  <a:srgbClr val="C00000"/>
                </a:solidFill>
              </a:rPr>
              <a:t>F =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xy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49944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Two-variable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249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50218"/>
            <a:ext cx="5824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dirty="0" smtClean="0"/>
              <a:t>A </a:t>
            </a:r>
            <a:r>
              <a:rPr lang="en-US" altLang="zh-TW" sz="3200" dirty="0"/>
              <a:t>truth table in square diagram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1934993"/>
            <a:ext cx="38427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smtClean="0">
                <a:solidFill>
                  <a:srgbClr val="C00000"/>
                </a:solidFill>
              </a:rPr>
              <a:t>F =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xy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49944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Two-variable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476035"/>
              </p:ext>
            </p:extLst>
          </p:nvPr>
        </p:nvGraphicFramePr>
        <p:xfrm>
          <a:off x="634207" y="2837237"/>
          <a:ext cx="3152319" cy="3721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773">
                  <a:extLst>
                    <a:ext uri="{9D8B030D-6E8A-4147-A177-3AD203B41FA5}">
                      <a16:colId xmlns:a16="http://schemas.microsoft.com/office/drawing/2014/main" val="486965519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4276080718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198550048"/>
                    </a:ext>
                  </a:extLst>
                </a:gridCol>
              </a:tblGrid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4945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70779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76900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57048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762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319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50218"/>
            <a:ext cx="5824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dirty="0" smtClean="0"/>
              <a:t>A </a:t>
            </a:r>
            <a:r>
              <a:rPr lang="en-US" altLang="zh-TW" sz="3200" dirty="0"/>
              <a:t>truth table in square diagram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1934993"/>
            <a:ext cx="38427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smtClean="0">
                <a:solidFill>
                  <a:srgbClr val="C00000"/>
                </a:solidFill>
              </a:rPr>
              <a:t>F =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xy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49944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Two-variable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388190"/>
              </p:ext>
            </p:extLst>
          </p:nvPr>
        </p:nvGraphicFramePr>
        <p:xfrm>
          <a:off x="634207" y="2837237"/>
          <a:ext cx="3152319" cy="3721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773">
                  <a:extLst>
                    <a:ext uri="{9D8B030D-6E8A-4147-A177-3AD203B41FA5}">
                      <a16:colId xmlns:a16="http://schemas.microsoft.com/office/drawing/2014/main" val="486965519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4276080718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198550048"/>
                    </a:ext>
                  </a:extLst>
                </a:gridCol>
              </a:tblGrid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4945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70779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76900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57048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762442"/>
                  </a:ext>
                </a:extLst>
              </a:tr>
            </a:tbl>
          </a:graphicData>
        </a:graphic>
      </p:graphicFrame>
      <p:pic>
        <p:nvPicPr>
          <p:cNvPr id="10" name="Picture 10">
            <a:extLst>
              <a:ext uri="{FF2B5EF4-FFF2-40B4-BE49-F238E27FC236}">
                <a16:creationId xmlns:a16="http://schemas.microsoft.com/office/drawing/2014/main" id="{FFE51B60-F45D-4D15-8CF3-89166EE3F4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40" b="12396"/>
          <a:stretch/>
        </p:blipFill>
        <p:spPr bwMode="auto">
          <a:xfrm>
            <a:off x="4555671" y="2831262"/>
            <a:ext cx="3477985" cy="3727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4970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50218"/>
            <a:ext cx="5824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dirty="0" smtClean="0"/>
              <a:t>A </a:t>
            </a:r>
            <a:r>
              <a:rPr lang="en-US" altLang="zh-TW" sz="3200" dirty="0"/>
              <a:t>truth table in square diagram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1934993"/>
            <a:ext cx="38427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smtClean="0">
                <a:solidFill>
                  <a:srgbClr val="C00000"/>
                </a:solidFill>
              </a:rPr>
              <a:t>F =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xy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49944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Two-variable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388190"/>
              </p:ext>
            </p:extLst>
          </p:nvPr>
        </p:nvGraphicFramePr>
        <p:xfrm>
          <a:off x="634207" y="2837237"/>
          <a:ext cx="3152319" cy="3721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773">
                  <a:extLst>
                    <a:ext uri="{9D8B030D-6E8A-4147-A177-3AD203B41FA5}">
                      <a16:colId xmlns:a16="http://schemas.microsoft.com/office/drawing/2014/main" val="486965519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4276080718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198550048"/>
                    </a:ext>
                  </a:extLst>
                </a:gridCol>
              </a:tblGrid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4945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70779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76900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57048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762442"/>
                  </a:ext>
                </a:extLst>
              </a:tr>
            </a:tbl>
          </a:graphicData>
        </a:graphic>
      </p:graphicFrame>
      <p:pic>
        <p:nvPicPr>
          <p:cNvPr id="10" name="Picture 10">
            <a:extLst>
              <a:ext uri="{FF2B5EF4-FFF2-40B4-BE49-F238E27FC236}">
                <a16:creationId xmlns:a16="http://schemas.microsoft.com/office/drawing/2014/main" id="{FFE51B60-F45D-4D15-8CF3-89166EE3F4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40" b="12396"/>
          <a:stretch/>
        </p:blipFill>
        <p:spPr bwMode="auto">
          <a:xfrm>
            <a:off x="4555671" y="2831262"/>
            <a:ext cx="3477985" cy="3727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8188779" y="1350218"/>
            <a:ext cx="389436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81050" lvl="1" indent="-323850">
              <a:lnSpc>
                <a:spcPct val="125000"/>
              </a:lnSpc>
            </a:pPr>
            <a:r>
              <a:rPr lang="en-US" altLang="zh-TW" sz="3200" dirty="0" smtClean="0"/>
              <a:t>4 </a:t>
            </a:r>
            <a:r>
              <a:rPr lang="en-US" altLang="zh-TW" sz="3200" dirty="0" err="1"/>
              <a:t>minterms</a:t>
            </a:r>
            <a:endParaRPr lang="en-US" altLang="zh-TW" sz="3200" dirty="0"/>
          </a:p>
          <a:p>
            <a:pPr marL="781050" lvl="1" indent="-323850">
              <a:lnSpc>
                <a:spcPct val="125000"/>
              </a:lnSpc>
            </a:pPr>
            <a:r>
              <a:rPr lang="en-US" altLang="zh-TW" sz="3200" dirty="0" smtClean="0"/>
              <a:t>			x</a:t>
            </a:r>
            <a:r>
              <a:rPr lang="en-US" altLang="zh-TW" sz="3200" dirty="0"/>
              <a:t>' = row </a:t>
            </a:r>
            <a:r>
              <a:rPr lang="en-US" altLang="zh-TW" sz="3200" dirty="0" smtClean="0"/>
              <a:t>0</a:t>
            </a:r>
          </a:p>
          <a:p>
            <a:pPr marL="781050" lvl="1" indent="-323850">
              <a:lnSpc>
                <a:spcPct val="125000"/>
              </a:lnSpc>
            </a:pPr>
            <a:r>
              <a:rPr lang="en-US" altLang="zh-TW" sz="3200" dirty="0" smtClean="0"/>
              <a:t>			x </a:t>
            </a:r>
            <a:r>
              <a:rPr lang="en-US" altLang="zh-TW" sz="3200" dirty="0"/>
              <a:t>= row 1</a:t>
            </a:r>
          </a:p>
          <a:p>
            <a:pPr marL="781050" lvl="1" indent="-323850">
              <a:lnSpc>
                <a:spcPct val="125000"/>
              </a:lnSpc>
            </a:pPr>
            <a:r>
              <a:rPr lang="en-US" altLang="zh-TW" sz="3200" dirty="0" smtClean="0"/>
              <a:t>			y</a:t>
            </a:r>
            <a:r>
              <a:rPr lang="en-US" altLang="zh-TW" sz="3200" dirty="0"/>
              <a:t>' = column </a:t>
            </a:r>
            <a:r>
              <a:rPr lang="en-US" altLang="zh-TW" sz="3200" dirty="0" smtClean="0"/>
              <a:t>0</a:t>
            </a:r>
            <a:endParaRPr lang="en-US" altLang="zh-TW" sz="3200" dirty="0"/>
          </a:p>
          <a:p>
            <a:pPr marL="781050" lvl="1" indent="-323850">
              <a:lnSpc>
                <a:spcPct val="125000"/>
              </a:lnSpc>
            </a:pPr>
            <a:r>
              <a:rPr lang="en-US" altLang="zh-TW" sz="3200" dirty="0" smtClean="0"/>
              <a:t>			y </a:t>
            </a:r>
            <a:r>
              <a:rPr lang="en-US" altLang="zh-TW" sz="3200" dirty="0"/>
              <a:t>= column 1</a:t>
            </a:r>
          </a:p>
        </p:txBody>
      </p:sp>
    </p:spTree>
    <p:extLst>
      <p:ext uri="{BB962C8B-B14F-4D97-AF65-F5344CB8AC3E}">
        <p14:creationId xmlns:p14="http://schemas.microsoft.com/office/powerpoint/2010/main" val="1202258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50218"/>
            <a:ext cx="5824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dirty="0" smtClean="0"/>
              <a:t>A </a:t>
            </a:r>
            <a:r>
              <a:rPr lang="en-US" altLang="zh-TW" sz="3200" dirty="0"/>
              <a:t>truth table in square diagram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1934993"/>
            <a:ext cx="38427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smtClean="0">
                <a:solidFill>
                  <a:srgbClr val="C00000"/>
                </a:solidFill>
              </a:rPr>
              <a:t>F =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xy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49944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Two-variable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388190"/>
              </p:ext>
            </p:extLst>
          </p:nvPr>
        </p:nvGraphicFramePr>
        <p:xfrm>
          <a:off x="634207" y="2837237"/>
          <a:ext cx="3152319" cy="3721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773">
                  <a:extLst>
                    <a:ext uri="{9D8B030D-6E8A-4147-A177-3AD203B41FA5}">
                      <a16:colId xmlns:a16="http://schemas.microsoft.com/office/drawing/2014/main" val="486965519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4276080718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198550048"/>
                    </a:ext>
                  </a:extLst>
                </a:gridCol>
              </a:tblGrid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4945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70779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76900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57048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762442"/>
                  </a:ext>
                </a:extLst>
              </a:tr>
            </a:tbl>
          </a:graphicData>
        </a:graphic>
      </p:graphicFrame>
      <p:pic>
        <p:nvPicPr>
          <p:cNvPr id="8" name="Picture 12">
            <a:extLst>
              <a:ext uri="{FF2B5EF4-FFF2-40B4-BE49-F238E27FC236}">
                <a16:creationId xmlns:a16="http://schemas.microsoft.com/office/drawing/2014/main" id="{DA5E66C6-F9DD-407B-8EBA-B2B0609535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00" b="14042"/>
          <a:stretch/>
        </p:blipFill>
        <p:spPr bwMode="auto">
          <a:xfrm>
            <a:off x="4098468" y="2605783"/>
            <a:ext cx="4865918" cy="4192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7747907" y="1350218"/>
            <a:ext cx="4269921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81050" lvl="1" indent="-323850">
              <a:lnSpc>
                <a:spcPct val="125000"/>
              </a:lnSpc>
            </a:pPr>
            <a:r>
              <a:rPr lang="en-US" altLang="zh-TW" sz="3200" dirty="0" smtClean="0"/>
              <a:t>4 </a:t>
            </a:r>
            <a:r>
              <a:rPr lang="en-US" altLang="zh-TW" sz="3200" dirty="0" err="1"/>
              <a:t>minterms</a:t>
            </a:r>
            <a:endParaRPr lang="en-US" altLang="zh-TW" sz="3200" dirty="0"/>
          </a:p>
          <a:p>
            <a:pPr marL="781050" lvl="1" indent="-323850">
              <a:lnSpc>
                <a:spcPct val="125000"/>
              </a:lnSpc>
            </a:pPr>
            <a:r>
              <a:rPr lang="en-US" altLang="zh-TW" sz="3200" dirty="0" smtClean="0"/>
              <a:t>			x</a:t>
            </a:r>
            <a:r>
              <a:rPr lang="en-US" altLang="zh-TW" sz="3200" dirty="0"/>
              <a:t>' = row </a:t>
            </a:r>
            <a:r>
              <a:rPr lang="en-US" altLang="zh-TW" sz="3200" dirty="0" smtClean="0"/>
              <a:t>0</a:t>
            </a:r>
          </a:p>
          <a:p>
            <a:pPr marL="781050" lvl="1" indent="-323850">
              <a:lnSpc>
                <a:spcPct val="125000"/>
              </a:lnSpc>
            </a:pPr>
            <a:r>
              <a:rPr lang="en-US" altLang="zh-TW" sz="3200" dirty="0" smtClean="0"/>
              <a:t>			x </a:t>
            </a:r>
            <a:r>
              <a:rPr lang="en-US" altLang="zh-TW" sz="3200" dirty="0"/>
              <a:t>= row 1</a:t>
            </a:r>
          </a:p>
          <a:p>
            <a:pPr marL="781050" lvl="1" indent="-323850">
              <a:lnSpc>
                <a:spcPct val="125000"/>
              </a:lnSpc>
            </a:pPr>
            <a:r>
              <a:rPr lang="en-US" altLang="zh-TW" sz="3200" dirty="0" smtClean="0"/>
              <a:t>			y</a:t>
            </a:r>
            <a:r>
              <a:rPr lang="en-US" altLang="zh-TW" sz="3200" dirty="0"/>
              <a:t>' = column </a:t>
            </a:r>
            <a:r>
              <a:rPr lang="en-US" altLang="zh-TW" sz="3200" dirty="0" smtClean="0"/>
              <a:t>0</a:t>
            </a:r>
            <a:endParaRPr lang="en-US" altLang="zh-TW" sz="3200" dirty="0"/>
          </a:p>
          <a:p>
            <a:pPr marL="781050" lvl="1" indent="-323850">
              <a:lnSpc>
                <a:spcPct val="125000"/>
              </a:lnSpc>
            </a:pPr>
            <a:r>
              <a:rPr lang="en-US" altLang="zh-TW" sz="3200" dirty="0" smtClean="0"/>
              <a:t>			y </a:t>
            </a:r>
            <a:r>
              <a:rPr lang="en-US" altLang="zh-TW" sz="3200" dirty="0"/>
              <a:t>= column 1</a:t>
            </a:r>
          </a:p>
        </p:txBody>
      </p:sp>
    </p:spTree>
    <p:extLst>
      <p:ext uri="{BB962C8B-B14F-4D97-AF65-F5344CB8AC3E}">
        <p14:creationId xmlns:p14="http://schemas.microsoft.com/office/powerpoint/2010/main" val="3701108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50218"/>
            <a:ext cx="5824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dirty="0" smtClean="0"/>
              <a:t>A </a:t>
            </a:r>
            <a:r>
              <a:rPr lang="en-US" altLang="zh-TW" sz="3200" dirty="0"/>
              <a:t>truth table in square diagram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1934993"/>
            <a:ext cx="38427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smtClean="0">
                <a:solidFill>
                  <a:srgbClr val="C00000"/>
                </a:solidFill>
              </a:rPr>
              <a:t>F =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’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49944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Two-variable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388190"/>
              </p:ext>
            </p:extLst>
          </p:nvPr>
        </p:nvGraphicFramePr>
        <p:xfrm>
          <a:off x="634207" y="2837237"/>
          <a:ext cx="3152319" cy="3721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773">
                  <a:extLst>
                    <a:ext uri="{9D8B030D-6E8A-4147-A177-3AD203B41FA5}">
                      <a16:colId xmlns:a16="http://schemas.microsoft.com/office/drawing/2014/main" val="486965519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4276080718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198550048"/>
                    </a:ext>
                  </a:extLst>
                </a:gridCol>
              </a:tblGrid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4945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70779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76900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57048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762442"/>
                  </a:ext>
                </a:extLst>
              </a:tr>
            </a:tbl>
          </a:graphicData>
        </a:graphic>
      </p:graphicFrame>
      <p:pic>
        <p:nvPicPr>
          <p:cNvPr id="8" name="Picture 12">
            <a:extLst>
              <a:ext uri="{FF2B5EF4-FFF2-40B4-BE49-F238E27FC236}">
                <a16:creationId xmlns:a16="http://schemas.microsoft.com/office/drawing/2014/main" id="{DA5E66C6-F9DD-407B-8EBA-B2B0609535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00" b="14042"/>
          <a:stretch/>
        </p:blipFill>
        <p:spPr bwMode="auto">
          <a:xfrm>
            <a:off x="4098468" y="2605783"/>
            <a:ext cx="4865918" cy="4192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圓角矩形 2"/>
          <p:cNvSpPr/>
          <p:nvPr/>
        </p:nvSpPr>
        <p:spPr>
          <a:xfrm>
            <a:off x="5372100" y="5070021"/>
            <a:ext cx="2326821" cy="113483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491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50218"/>
            <a:ext cx="5824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dirty="0" smtClean="0"/>
              <a:t>A </a:t>
            </a:r>
            <a:r>
              <a:rPr lang="en-US" altLang="zh-TW" sz="3200" dirty="0"/>
              <a:t>truth table in square diagram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1934993"/>
            <a:ext cx="38427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smtClean="0">
                <a:solidFill>
                  <a:srgbClr val="C00000"/>
                </a:solidFill>
              </a:rPr>
              <a:t>F =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’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49944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Two-variable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388190"/>
              </p:ext>
            </p:extLst>
          </p:nvPr>
        </p:nvGraphicFramePr>
        <p:xfrm>
          <a:off x="634207" y="2837237"/>
          <a:ext cx="3152319" cy="3721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773">
                  <a:extLst>
                    <a:ext uri="{9D8B030D-6E8A-4147-A177-3AD203B41FA5}">
                      <a16:colId xmlns:a16="http://schemas.microsoft.com/office/drawing/2014/main" val="486965519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4276080718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198550048"/>
                    </a:ext>
                  </a:extLst>
                </a:gridCol>
              </a:tblGrid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4945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70779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76900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57048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762442"/>
                  </a:ext>
                </a:extLst>
              </a:tr>
            </a:tbl>
          </a:graphicData>
        </a:graphic>
      </p:graphicFrame>
      <p:pic>
        <p:nvPicPr>
          <p:cNvPr id="8" name="Picture 12">
            <a:extLst>
              <a:ext uri="{FF2B5EF4-FFF2-40B4-BE49-F238E27FC236}">
                <a16:creationId xmlns:a16="http://schemas.microsoft.com/office/drawing/2014/main" id="{DA5E66C6-F9DD-407B-8EBA-B2B0609535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00" b="14042"/>
          <a:stretch/>
        </p:blipFill>
        <p:spPr bwMode="auto">
          <a:xfrm>
            <a:off x="4098468" y="2605783"/>
            <a:ext cx="4865918" cy="4192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圓角矩形 2"/>
          <p:cNvSpPr/>
          <p:nvPr/>
        </p:nvSpPr>
        <p:spPr>
          <a:xfrm>
            <a:off x="5372100" y="5070021"/>
            <a:ext cx="2326821" cy="113483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8809264" y="1350218"/>
            <a:ext cx="21178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’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767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50218"/>
            <a:ext cx="5824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dirty="0" smtClean="0"/>
              <a:t>A </a:t>
            </a:r>
            <a:r>
              <a:rPr lang="en-US" altLang="zh-TW" sz="3200" dirty="0"/>
              <a:t>truth table in square diagram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1934993"/>
            <a:ext cx="38427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smtClean="0">
                <a:solidFill>
                  <a:srgbClr val="C00000"/>
                </a:solidFill>
              </a:rPr>
              <a:t>F =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xy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49944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Two-variable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388190"/>
              </p:ext>
            </p:extLst>
          </p:nvPr>
        </p:nvGraphicFramePr>
        <p:xfrm>
          <a:off x="634207" y="2837237"/>
          <a:ext cx="3152319" cy="3721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773">
                  <a:extLst>
                    <a:ext uri="{9D8B030D-6E8A-4147-A177-3AD203B41FA5}">
                      <a16:colId xmlns:a16="http://schemas.microsoft.com/office/drawing/2014/main" val="486965519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4276080718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198550048"/>
                    </a:ext>
                  </a:extLst>
                </a:gridCol>
              </a:tblGrid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4945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70779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76900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57048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762442"/>
                  </a:ext>
                </a:extLst>
              </a:tr>
            </a:tbl>
          </a:graphicData>
        </a:graphic>
      </p:graphicFrame>
      <p:pic>
        <p:nvPicPr>
          <p:cNvPr id="8" name="Picture 12">
            <a:extLst>
              <a:ext uri="{FF2B5EF4-FFF2-40B4-BE49-F238E27FC236}">
                <a16:creationId xmlns:a16="http://schemas.microsoft.com/office/drawing/2014/main" id="{DA5E66C6-F9DD-407B-8EBA-B2B0609535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00" b="14042"/>
          <a:stretch/>
        </p:blipFill>
        <p:spPr bwMode="auto">
          <a:xfrm>
            <a:off x="4098468" y="2605783"/>
            <a:ext cx="4865918" cy="4192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圓角矩形 2"/>
          <p:cNvSpPr/>
          <p:nvPr/>
        </p:nvSpPr>
        <p:spPr>
          <a:xfrm>
            <a:off x="5372100" y="5070021"/>
            <a:ext cx="2326821" cy="113483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8809264" y="1350218"/>
            <a:ext cx="264848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’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 marL="781050" lvl="1" indent="-323850"/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= x(y’ + y) </a:t>
            </a:r>
          </a:p>
          <a:p>
            <a:pPr marL="781050" lvl="1" indent="-323850"/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= x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742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50218"/>
            <a:ext cx="5824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dirty="0" smtClean="0"/>
              <a:t>A </a:t>
            </a:r>
            <a:r>
              <a:rPr lang="en-US" altLang="zh-TW" sz="3200" dirty="0"/>
              <a:t>truth table in square diagram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1934993"/>
            <a:ext cx="38427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smtClean="0">
                <a:solidFill>
                  <a:srgbClr val="C00000"/>
                </a:solidFill>
              </a:rPr>
              <a:t>F =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x’y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49944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Two-variable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388190"/>
              </p:ext>
            </p:extLst>
          </p:nvPr>
        </p:nvGraphicFramePr>
        <p:xfrm>
          <a:off x="634207" y="2837237"/>
          <a:ext cx="3152319" cy="3721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773">
                  <a:extLst>
                    <a:ext uri="{9D8B030D-6E8A-4147-A177-3AD203B41FA5}">
                      <a16:colId xmlns:a16="http://schemas.microsoft.com/office/drawing/2014/main" val="486965519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4276080718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198550048"/>
                    </a:ext>
                  </a:extLst>
                </a:gridCol>
              </a:tblGrid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4945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70779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76900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57048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762442"/>
                  </a:ext>
                </a:extLst>
              </a:tr>
            </a:tbl>
          </a:graphicData>
        </a:graphic>
      </p:graphicFrame>
      <p:pic>
        <p:nvPicPr>
          <p:cNvPr id="8" name="Picture 12">
            <a:extLst>
              <a:ext uri="{FF2B5EF4-FFF2-40B4-BE49-F238E27FC236}">
                <a16:creationId xmlns:a16="http://schemas.microsoft.com/office/drawing/2014/main" id="{DA5E66C6-F9DD-407B-8EBA-B2B0609535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00" b="14042"/>
          <a:stretch/>
        </p:blipFill>
        <p:spPr bwMode="auto">
          <a:xfrm>
            <a:off x="4098468" y="2605783"/>
            <a:ext cx="4865918" cy="4192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圓角矩形 2"/>
          <p:cNvSpPr/>
          <p:nvPr/>
        </p:nvSpPr>
        <p:spPr>
          <a:xfrm>
            <a:off x="6515100" y="3902529"/>
            <a:ext cx="1183821" cy="230232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6494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50218"/>
            <a:ext cx="5824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dirty="0" smtClean="0"/>
              <a:t>A </a:t>
            </a:r>
            <a:r>
              <a:rPr lang="en-US" altLang="zh-TW" sz="3200" dirty="0"/>
              <a:t>truth table in square diagram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1934993"/>
            <a:ext cx="38427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smtClean="0">
                <a:solidFill>
                  <a:srgbClr val="C00000"/>
                </a:solidFill>
              </a:rPr>
              <a:t>F =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x’y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49944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Two-variable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388190"/>
              </p:ext>
            </p:extLst>
          </p:nvPr>
        </p:nvGraphicFramePr>
        <p:xfrm>
          <a:off x="634207" y="2837237"/>
          <a:ext cx="3152319" cy="3721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773">
                  <a:extLst>
                    <a:ext uri="{9D8B030D-6E8A-4147-A177-3AD203B41FA5}">
                      <a16:colId xmlns:a16="http://schemas.microsoft.com/office/drawing/2014/main" val="486965519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4276080718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198550048"/>
                    </a:ext>
                  </a:extLst>
                </a:gridCol>
              </a:tblGrid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4945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70779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76900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57048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762442"/>
                  </a:ext>
                </a:extLst>
              </a:tr>
            </a:tbl>
          </a:graphicData>
        </a:graphic>
      </p:graphicFrame>
      <p:pic>
        <p:nvPicPr>
          <p:cNvPr id="8" name="Picture 12">
            <a:extLst>
              <a:ext uri="{FF2B5EF4-FFF2-40B4-BE49-F238E27FC236}">
                <a16:creationId xmlns:a16="http://schemas.microsoft.com/office/drawing/2014/main" id="{DA5E66C6-F9DD-407B-8EBA-B2B0609535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00" b="14042"/>
          <a:stretch/>
        </p:blipFill>
        <p:spPr bwMode="auto">
          <a:xfrm>
            <a:off x="4098468" y="2605783"/>
            <a:ext cx="4865918" cy="4192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圓角矩形 2"/>
          <p:cNvSpPr/>
          <p:nvPr/>
        </p:nvSpPr>
        <p:spPr>
          <a:xfrm>
            <a:off x="6515100" y="3902529"/>
            <a:ext cx="1183821" cy="230232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8964386" y="1393226"/>
            <a:ext cx="21178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x’y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208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50218"/>
            <a:ext cx="5824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dirty="0" smtClean="0"/>
              <a:t>A </a:t>
            </a:r>
            <a:r>
              <a:rPr lang="en-US" altLang="zh-TW" sz="3200" dirty="0"/>
              <a:t>truth table in square diagram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1934993"/>
            <a:ext cx="38427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smtClean="0">
                <a:solidFill>
                  <a:srgbClr val="C00000"/>
                </a:solidFill>
              </a:rPr>
              <a:t>F =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x’y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49944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Two-variable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388190"/>
              </p:ext>
            </p:extLst>
          </p:nvPr>
        </p:nvGraphicFramePr>
        <p:xfrm>
          <a:off x="634207" y="2837237"/>
          <a:ext cx="3152319" cy="3721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773">
                  <a:extLst>
                    <a:ext uri="{9D8B030D-6E8A-4147-A177-3AD203B41FA5}">
                      <a16:colId xmlns:a16="http://schemas.microsoft.com/office/drawing/2014/main" val="486965519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4276080718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198550048"/>
                    </a:ext>
                  </a:extLst>
                </a:gridCol>
              </a:tblGrid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4945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70779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76900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57048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762442"/>
                  </a:ext>
                </a:extLst>
              </a:tr>
            </a:tbl>
          </a:graphicData>
        </a:graphic>
      </p:graphicFrame>
      <p:pic>
        <p:nvPicPr>
          <p:cNvPr id="8" name="Picture 12">
            <a:extLst>
              <a:ext uri="{FF2B5EF4-FFF2-40B4-BE49-F238E27FC236}">
                <a16:creationId xmlns:a16="http://schemas.microsoft.com/office/drawing/2014/main" id="{DA5E66C6-F9DD-407B-8EBA-B2B0609535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00" b="14042"/>
          <a:stretch/>
        </p:blipFill>
        <p:spPr bwMode="auto">
          <a:xfrm>
            <a:off x="4098468" y="2605783"/>
            <a:ext cx="4865918" cy="4192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圓角矩形 2"/>
          <p:cNvSpPr/>
          <p:nvPr/>
        </p:nvSpPr>
        <p:spPr>
          <a:xfrm>
            <a:off x="6515100" y="3902529"/>
            <a:ext cx="1183821" cy="230232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8964386" y="1393226"/>
            <a:ext cx="253947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x’y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endParaRPr lang="en-US" altLang="zh-TW" sz="32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81050" lvl="1" indent="-323850"/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=</a:t>
            </a:r>
            <a:r>
              <a:rPr lang="zh-TW" alt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(x‘</a:t>
            </a:r>
            <a:r>
              <a:rPr lang="zh-TW" alt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r>
              <a:rPr lang="zh-TW" alt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x)y</a:t>
            </a:r>
          </a:p>
          <a:p>
            <a:pPr marL="781050" lvl="1" indent="-323850"/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= y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204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50218"/>
            <a:ext cx="5824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dirty="0" smtClean="0"/>
              <a:t>A </a:t>
            </a:r>
            <a:r>
              <a:rPr lang="en-US" altLang="zh-TW" sz="3200" dirty="0"/>
              <a:t>truth table in square diagram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1934993"/>
            <a:ext cx="38427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 =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’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x’y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49944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Two-variable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388190"/>
              </p:ext>
            </p:extLst>
          </p:nvPr>
        </p:nvGraphicFramePr>
        <p:xfrm>
          <a:off x="634207" y="2837237"/>
          <a:ext cx="3152319" cy="3721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773">
                  <a:extLst>
                    <a:ext uri="{9D8B030D-6E8A-4147-A177-3AD203B41FA5}">
                      <a16:colId xmlns:a16="http://schemas.microsoft.com/office/drawing/2014/main" val="486965519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4276080718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198550048"/>
                    </a:ext>
                  </a:extLst>
                </a:gridCol>
              </a:tblGrid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4945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70779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76900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57048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762442"/>
                  </a:ext>
                </a:extLst>
              </a:tr>
            </a:tbl>
          </a:graphicData>
        </a:graphic>
      </p:graphicFrame>
      <p:pic>
        <p:nvPicPr>
          <p:cNvPr id="8" name="Picture 12">
            <a:extLst>
              <a:ext uri="{FF2B5EF4-FFF2-40B4-BE49-F238E27FC236}">
                <a16:creationId xmlns:a16="http://schemas.microsoft.com/office/drawing/2014/main" id="{DA5E66C6-F9DD-407B-8EBA-B2B0609535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00" b="14042"/>
          <a:stretch/>
        </p:blipFill>
        <p:spPr bwMode="auto">
          <a:xfrm>
            <a:off x="4098468" y="2605783"/>
            <a:ext cx="4865918" cy="4192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圓角矩形 2"/>
          <p:cNvSpPr/>
          <p:nvPr/>
        </p:nvSpPr>
        <p:spPr>
          <a:xfrm>
            <a:off x="6515100" y="3902529"/>
            <a:ext cx="1183821" cy="230232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5396593" y="5053693"/>
            <a:ext cx="2302328" cy="115116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0705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50218"/>
            <a:ext cx="5824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dirty="0" smtClean="0"/>
              <a:t>A </a:t>
            </a:r>
            <a:r>
              <a:rPr lang="en-US" altLang="zh-TW" sz="3200" dirty="0"/>
              <a:t>truth table in square diagram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1934993"/>
            <a:ext cx="526297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 =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’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x’y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= x + y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49944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Two-variable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388190"/>
              </p:ext>
            </p:extLst>
          </p:nvPr>
        </p:nvGraphicFramePr>
        <p:xfrm>
          <a:off x="634207" y="2837237"/>
          <a:ext cx="3152319" cy="3721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773">
                  <a:extLst>
                    <a:ext uri="{9D8B030D-6E8A-4147-A177-3AD203B41FA5}">
                      <a16:colId xmlns:a16="http://schemas.microsoft.com/office/drawing/2014/main" val="486965519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4276080718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198550048"/>
                    </a:ext>
                  </a:extLst>
                </a:gridCol>
              </a:tblGrid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4945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70779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769004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570480"/>
                  </a:ext>
                </a:extLst>
              </a:tr>
              <a:tr h="74434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762442"/>
                  </a:ext>
                </a:extLst>
              </a:tr>
            </a:tbl>
          </a:graphicData>
        </a:graphic>
      </p:graphicFrame>
      <p:pic>
        <p:nvPicPr>
          <p:cNvPr id="8" name="Picture 12">
            <a:extLst>
              <a:ext uri="{FF2B5EF4-FFF2-40B4-BE49-F238E27FC236}">
                <a16:creationId xmlns:a16="http://schemas.microsoft.com/office/drawing/2014/main" id="{DA5E66C6-F9DD-407B-8EBA-B2B0609535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00" b="14042"/>
          <a:stretch/>
        </p:blipFill>
        <p:spPr bwMode="auto">
          <a:xfrm>
            <a:off x="4098468" y="2605783"/>
            <a:ext cx="4865918" cy="4192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圓角矩形 2"/>
          <p:cNvSpPr/>
          <p:nvPr/>
        </p:nvSpPr>
        <p:spPr>
          <a:xfrm>
            <a:off x="6515100" y="3902529"/>
            <a:ext cx="1183821" cy="230232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5396593" y="5053693"/>
            <a:ext cx="2302328" cy="115116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541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50218"/>
            <a:ext cx="5824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dirty="0" smtClean="0"/>
              <a:t>A </a:t>
            </a:r>
            <a:r>
              <a:rPr lang="en-US" altLang="zh-TW" sz="3200" dirty="0"/>
              <a:t>truth table in square diagram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1934993"/>
            <a:ext cx="38427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 =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’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x’y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49944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Two-variable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pic>
        <p:nvPicPr>
          <p:cNvPr id="8" name="Picture 12">
            <a:extLst>
              <a:ext uri="{FF2B5EF4-FFF2-40B4-BE49-F238E27FC236}">
                <a16:creationId xmlns:a16="http://schemas.microsoft.com/office/drawing/2014/main" id="{DA5E66C6-F9DD-407B-8EBA-B2B0609535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00" b="14042"/>
          <a:stretch/>
        </p:blipFill>
        <p:spPr bwMode="auto">
          <a:xfrm>
            <a:off x="318404" y="2519768"/>
            <a:ext cx="4865918" cy="4192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圓角矩形 2"/>
          <p:cNvSpPr/>
          <p:nvPr/>
        </p:nvSpPr>
        <p:spPr>
          <a:xfrm>
            <a:off x="2735036" y="3816514"/>
            <a:ext cx="1183821" cy="230232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1616529" y="4967678"/>
            <a:ext cx="2302328" cy="115116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0165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50218"/>
            <a:ext cx="5824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dirty="0" smtClean="0"/>
              <a:t>A </a:t>
            </a:r>
            <a:r>
              <a:rPr lang="en-US" altLang="zh-TW" sz="3200" dirty="0"/>
              <a:t>truth table in square diagram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1934993"/>
            <a:ext cx="77700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 =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’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x’y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= </a:t>
            </a:r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’ + </a:t>
            </a:r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x’y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+ </a:t>
            </a:r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49944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Two-variable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pic>
        <p:nvPicPr>
          <p:cNvPr id="8" name="Picture 12">
            <a:extLst>
              <a:ext uri="{FF2B5EF4-FFF2-40B4-BE49-F238E27FC236}">
                <a16:creationId xmlns:a16="http://schemas.microsoft.com/office/drawing/2014/main" id="{DA5E66C6-F9DD-407B-8EBA-B2B0609535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00" b="14042"/>
          <a:stretch/>
        </p:blipFill>
        <p:spPr bwMode="auto">
          <a:xfrm>
            <a:off x="318404" y="2519768"/>
            <a:ext cx="4865918" cy="4192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圓角矩形 2"/>
          <p:cNvSpPr/>
          <p:nvPr/>
        </p:nvSpPr>
        <p:spPr>
          <a:xfrm>
            <a:off x="2735036" y="3816514"/>
            <a:ext cx="1183821" cy="230232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1616529" y="4967678"/>
            <a:ext cx="2302328" cy="115116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4093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B9730221-DA47-4E44-9984-4D1C71A7E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02" y="822325"/>
            <a:ext cx="11959744" cy="5366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528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50218"/>
            <a:ext cx="5824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dirty="0" smtClean="0"/>
              <a:t>A </a:t>
            </a:r>
            <a:r>
              <a:rPr lang="en-US" altLang="zh-TW" sz="3200" dirty="0"/>
              <a:t>truth table in square diagram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1934993"/>
            <a:ext cx="77700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 =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’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x’y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= </a:t>
            </a:r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’ + </a:t>
            </a:r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x’y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+ </a:t>
            </a:r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49944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Two-variable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pic>
        <p:nvPicPr>
          <p:cNvPr id="8" name="Picture 12">
            <a:extLst>
              <a:ext uri="{FF2B5EF4-FFF2-40B4-BE49-F238E27FC236}">
                <a16:creationId xmlns:a16="http://schemas.microsoft.com/office/drawing/2014/main" id="{DA5E66C6-F9DD-407B-8EBA-B2B0609535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00" b="14042"/>
          <a:stretch/>
        </p:blipFill>
        <p:spPr bwMode="auto">
          <a:xfrm>
            <a:off x="318404" y="2519768"/>
            <a:ext cx="4865918" cy="4192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圓角矩形 2"/>
          <p:cNvSpPr/>
          <p:nvPr/>
        </p:nvSpPr>
        <p:spPr>
          <a:xfrm>
            <a:off x="2735036" y="3816514"/>
            <a:ext cx="1183821" cy="230232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1616529" y="4967678"/>
            <a:ext cx="2302328" cy="115116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手繪多邊形 1"/>
          <p:cNvSpPr/>
          <p:nvPr/>
        </p:nvSpPr>
        <p:spPr>
          <a:xfrm>
            <a:off x="5486400" y="2522764"/>
            <a:ext cx="963386" cy="400166"/>
          </a:xfrm>
          <a:custGeom>
            <a:avLst/>
            <a:gdLst>
              <a:gd name="connsiteX0" fmla="*/ 0 w 963386"/>
              <a:gd name="connsiteY0" fmla="*/ 0 h 400166"/>
              <a:gd name="connsiteX1" fmla="*/ 440871 w 963386"/>
              <a:gd name="connsiteY1" fmla="*/ 400050 h 400166"/>
              <a:gd name="connsiteX2" fmla="*/ 963386 w 963386"/>
              <a:gd name="connsiteY2" fmla="*/ 32657 h 400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3386" h="400166">
                <a:moveTo>
                  <a:pt x="0" y="0"/>
                </a:moveTo>
                <a:cubicBezTo>
                  <a:pt x="140153" y="197303"/>
                  <a:pt x="280307" y="394607"/>
                  <a:pt x="440871" y="400050"/>
                </a:cubicBezTo>
                <a:cubicBezTo>
                  <a:pt x="601435" y="405493"/>
                  <a:pt x="782410" y="219075"/>
                  <a:pt x="963386" y="32657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手繪多邊形 8"/>
          <p:cNvSpPr/>
          <p:nvPr/>
        </p:nvSpPr>
        <p:spPr>
          <a:xfrm>
            <a:off x="4384221" y="2539093"/>
            <a:ext cx="2979965" cy="685816"/>
          </a:xfrm>
          <a:custGeom>
            <a:avLst/>
            <a:gdLst>
              <a:gd name="connsiteX0" fmla="*/ 0 w 2979965"/>
              <a:gd name="connsiteY0" fmla="*/ 0 h 685816"/>
              <a:gd name="connsiteX1" fmla="*/ 1543050 w 2979965"/>
              <a:gd name="connsiteY1" fmla="*/ 685800 h 685816"/>
              <a:gd name="connsiteX2" fmla="*/ 2979965 w 2979965"/>
              <a:gd name="connsiteY2" fmla="*/ 16328 h 685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9965" h="685816">
                <a:moveTo>
                  <a:pt x="0" y="0"/>
                </a:moveTo>
                <a:cubicBezTo>
                  <a:pt x="523194" y="341539"/>
                  <a:pt x="1046389" y="683079"/>
                  <a:pt x="1543050" y="685800"/>
                </a:cubicBezTo>
                <a:cubicBezTo>
                  <a:pt x="2039711" y="688521"/>
                  <a:pt x="2509838" y="352424"/>
                  <a:pt x="2979965" y="16328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3845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50218"/>
            <a:ext cx="5824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dirty="0" smtClean="0"/>
              <a:t>A </a:t>
            </a:r>
            <a:r>
              <a:rPr lang="en-US" altLang="zh-TW" sz="3200" dirty="0"/>
              <a:t>truth table in square diagram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1934993"/>
            <a:ext cx="92993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81050" lvl="1" indent="-323850"/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 =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’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x’y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+ </a:t>
            </a:r>
            <a:r>
              <a:rPr lang="en-US" altLang="zh-TW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= </a:t>
            </a:r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’ + </a:t>
            </a:r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x’y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+ </a:t>
            </a:r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+ </a:t>
            </a:r>
            <a:r>
              <a:rPr lang="en-US" altLang="zh-TW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= x + y 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49944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Two-variable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pic>
        <p:nvPicPr>
          <p:cNvPr id="8" name="Picture 12">
            <a:extLst>
              <a:ext uri="{FF2B5EF4-FFF2-40B4-BE49-F238E27FC236}">
                <a16:creationId xmlns:a16="http://schemas.microsoft.com/office/drawing/2014/main" id="{DA5E66C6-F9DD-407B-8EBA-B2B0609535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00" b="14042"/>
          <a:stretch/>
        </p:blipFill>
        <p:spPr bwMode="auto">
          <a:xfrm>
            <a:off x="318404" y="2519768"/>
            <a:ext cx="4865918" cy="4192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圓角矩形 2"/>
          <p:cNvSpPr/>
          <p:nvPr/>
        </p:nvSpPr>
        <p:spPr>
          <a:xfrm>
            <a:off x="2735036" y="3816514"/>
            <a:ext cx="1183821" cy="230232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1616529" y="4967678"/>
            <a:ext cx="2302328" cy="115116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手繪多邊形 1"/>
          <p:cNvSpPr/>
          <p:nvPr/>
        </p:nvSpPr>
        <p:spPr>
          <a:xfrm>
            <a:off x="5486400" y="2522764"/>
            <a:ext cx="963386" cy="400166"/>
          </a:xfrm>
          <a:custGeom>
            <a:avLst/>
            <a:gdLst>
              <a:gd name="connsiteX0" fmla="*/ 0 w 963386"/>
              <a:gd name="connsiteY0" fmla="*/ 0 h 400166"/>
              <a:gd name="connsiteX1" fmla="*/ 440871 w 963386"/>
              <a:gd name="connsiteY1" fmla="*/ 400050 h 400166"/>
              <a:gd name="connsiteX2" fmla="*/ 963386 w 963386"/>
              <a:gd name="connsiteY2" fmla="*/ 32657 h 400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3386" h="400166">
                <a:moveTo>
                  <a:pt x="0" y="0"/>
                </a:moveTo>
                <a:cubicBezTo>
                  <a:pt x="140153" y="197303"/>
                  <a:pt x="280307" y="394607"/>
                  <a:pt x="440871" y="400050"/>
                </a:cubicBezTo>
                <a:cubicBezTo>
                  <a:pt x="601435" y="405493"/>
                  <a:pt x="782410" y="219075"/>
                  <a:pt x="963386" y="32657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手繪多邊形 8"/>
          <p:cNvSpPr/>
          <p:nvPr/>
        </p:nvSpPr>
        <p:spPr>
          <a:xfrm>
            <a:off x="4384221" y="2539093"/>
            <a:ext cx="2979965" cy="685816"/>
          </a:xfrm>
          <a:custGeom>
            <a:avLst/>
            <a:gdLst>
              <a:gd name="connsiteX0" fmla="*/ 0 w 2979965"/>
              <a:gd name="connsiteY0" fmla="*/ 0 h 685816"/>
              <a:gd name="connsiteX1" fmla="*/ 1543050 w 2979965"/>
              <a:gd name="connsiteY1" fmla="*/ 685800 h 685816"/>
              <a:gd name="connsiteX2" fmla="*/ 2979965 w 2979965"/>
              <a:gd name="connsiteY2" fmla="*/ 16328 h 685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9965" h="685816">
                <a:moveTo>
                  <a:pt x="0" y="0"/>
                </a:moveTo>
                <a:cubicBezTo>
                  <a:pt x="523194" y="341539"/>
                  <a:pt x="1046389" y="683079"/>
                  <a:pt x="1543050" y="685800"/>
                </a:cubicBezTo>
                <a:cubicBezTo>
                  <a:pt x="2039711" y="688521"/>
                  <a:pt x="2509838" y="352424"/>
                  <a:pt x="2979965" y="16328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3760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1539760"/>
            <a:ext cx="115443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US" altLang="zh-TW" sz="3200" dirty="0"/>
              <a:t>8 </a:t>
            </a:r>
            <a:r>
              <a:rPr lang="en-US" altLang="zh-TW" sz="3200" dirty="0" err="1"/>
              <a:t>minterms</a:t>
            </a:r>
            <a:endParaRPr lang="en-US" altLang="zh-TW" sz="3200" dirty="0"/>
          </a:p>
          <a:p>
            <a:pPr marL="971550" lvl="1" indent="-514350">
              <a:buFont typeface="+mj-lt"/>
              <a:buAutoNum type="arabicPeriod"/>
            </a:pPr>
            <a:r>
              <a:rPr lang="en-US" altLang="zh-TW" sz="3200" dirty="0"/>
              <a:t>Any two adjacent squares in the map differ by only on </a:t>
            </a:r>
            <a:r>
              <a:rPr lang="en-US" altLang="zh-TW" sz="3200" dirty="0" smtClean="0"/>
              <a:t>variable, </a:t>
            </a:r>
            <a:r>
              <a:rPr lang="en-US" altLang="zh-TW" sz="3200" dirty="0"/>
              <a:t>primed in one square and unprimed in the other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10918F4C-3067-48B7-BA15-10316601FE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51" b="12096"/>
          <a:stretch/>
        </p:blipFill>
        <p:spPr bwMode="auto">
          <a:xfrm>
            <a:off x="6335485" y="3081283"/>
            <a:ext cx="5326419" cy="3776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3087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4508" y="1668628"/>
            <a:ext cx="80749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Two </a:t>
            </a:r>
            <a:r>
              <a:rPr lang="en-US" altLang="zh-TW" sz="3600" b="1" dirty="0">
                <a:solidFill>
                  <a:srgbClr val="C00000"/>
                </a:solidFill>
              </a:rPr>
              <a:t>adjacent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minterms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600" b="1" dirty="0">
                <a:solidFill>
                  <a:srgbClr val="C00000"/>
                </a:solidFill>
              </a:rPr>
              <a:t>can be simplified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0918F4C-3067-48B7-BA15-10316601FE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18" b="12096"/>
          <a:stretch/>
        </p:blipFill>
        <p:spPr bwMode="auto">
          <a:xfrm>
            <a:off x="6253843" y="3081283"/>
            <a:ext cx="5408062" cy="3776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7042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4508" y="1668628"/>
            <a:ext cx="80749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Two </a:t>
            </a:r>
            <a:r>
              <a:rPr lang="en-US" altLang="zh-TW" sz="3600" b="1" dirty="0">
                <a:solidFill>
                  <a:srgbClr val="C00000"/>
                </a:solidFill>
              </a:rPr>
              <a:t>adjacent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minterms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600" b="1" dirty="0">
                <a:solidFill>
                  <a:srgbClr val="C00000"/>
                </a:solidFill>
              </a:rPr>
              <a:t>can be simplified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18506" y="3479808"/>
            <a:ext cx="390253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altLang="zh-TW" sz="3600" i="1" dirty="0" smtClean="0"/>
              <a:t>m</a:t>
            </a:r>
            <a:r>
              <a:rPr lang="en-US" altLang="zh-TW" sz="3600" i="1" baseline="-25000" dirty="0" smtClean="0"/>
              <a:t>5</a:t>
            </a:r>
            <a:r>
              <a:rPr lang="en-US" altLang="zh-TW" sz="3600" i="1" dirty="0" smtClean="0"/>
              <a:t> + </a:t>
            </a:r>
            <a:r>
              <a:rPr lang="en-US" altLang="zh-TW" sz="3600" i="1" dirty="0"/>
              <a:t>m</a:t>
            </a:r>
            <a:r>
              <a:rPr lang="en-US" altLang="zh-TW" sz="3600" i="1" baseline="-25000" dirty="0"/>
              <a:t>7 </a:t>
            </a:r>
            <a:endParaRPr lang="en-US" altLang="zh-TW" sz="3600" i="1" baseline="-25000" dirty="0" smtClean="0"/>
          </a:p>
          <a:p>
            <a:pPr lvl="2"/>
            <a:r>
              <a:rPr lang="en-US" altLang="zh-TW" sz="3600" i="1" dirty="0" smtClean="0"/>
              <a:t>= </a:t>
            </a:r>
            <a:r>
              <a:rPr lang="en-US" altLang="zh-TW" sz="3600" i="1" dirty="0" err="1" smtClean="0"/>
              <a:t>xy’z</a:t>
            </a:r>
            <a:r>
              <a:rPr lang="en-US" altLang="zh-TW" sz="3600" i="1" dirty="0" smtClean="0"/>
              <a:t> </a:t>
            </a:r>
            <a:r>
              <a:rPr lang="en-US" altLang="zh-TW" sz="3600" i="1" dirty="0"/>
              <a:t>+ xyz </a:t>
            </a:r>
            <a:endParaRPr lang="en-US" altLang="zh-TW" sz="3600" i="1" dirty="0" smtClean="0"/>
          </a:p>
          <a:p>
            <a:pPr lvl="2"/>
            <a:r>
              <a:rPr lang="en-US" altLang="zh-TW" sz="3600" i="1" dirty="0" smtClean="0"/>
              <a:t>= </a:t>
            </a:r>
            <a:r>
              <a:rPr lang="en-US" altLang="zh-TW" sz="3600" i="1" dirty="0" err="1"/>
              <a:t>xz</a:t>
            </a:r>
            <a:r>
              <a:rPr lang="en-US" altLang="zh-TW" sz="3600" i="1" dirty="0"/>
              <a:t> </a:t>
            </a:r>
            <a:r>
              <a:rPr lang="en-US" altLang="zh-TW" sz="3600" dirty="0"/>
              <a:t>(</a:t>
            </a:r>
            <a:r>
              <a:rPr lang="en-US" altLang="zh-TW" sz="3600" i="1" dirty="0" smtClean="0"/>
              <a:t>y’ + y</a:t>
            </a:r>
            <a:r>
              <a:rPr lang="en-US" altLang="zh-TW" sz="3600" dirty="0"/>
              <a:t>) </a:t>
            </a:r>
            <a:endParaRPr lang="en-US" altLang="zh-TW" sz="3600" dirty="0" smtClean="0"/>
          </a:p>
          <a:p>
            <a:pPr lvl="2"/>
            <a:r>
              <a:rPr lang="en-US" altLang="zh-TW" sz="3600" dirty="0" smtClean="0"/>
              <a:t>= </a:t>
            </a:r>
            <a:r>
              <a:rPr lang="en-US" altLang="zh-TW" sz="3600" i="1" dirty="0" err="1"/>
              <a:t>xz</a:t>
            </a:r>
            <a:endParaRPr lang="en-US" altLang="zh-TW" sz="3600" i="1" dirty="0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0918F4C-3067-48B7-BA15-10316601FE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18" b="12096"/>
          <a:stretch/>
        </p:blipFill>
        <p:spPr bwMode="auto">
          <a:xfrm>
            <a:off x="6253843" y="3081283"/>
            <a:ext cx="5408062" cy="3776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9756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2772" y="1595735"/>
            <a:ext cx="93208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Example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3-1: </a:t>
            </a:r>
            <a:r>
              <a:rPr lang="en-US" altLang="zh-TW" sz="3200" dirty="0" smtClean="0"/>
              <a:t>F(x, y, z</a:t>
            </a:r>
            <a:r>
              <a:rPr lang="en-US" altLang="zh-TW" sz="3200" dirty="0"/>
              <a:t>) = </a:t>
            </a:r>
            <a:r>
              <a:rPr lang="en-US" altLang="zh-TW" sz="3200" dirty="0" smtClean="0"/>
              <a:t>∑(</a:t>
            </a:r>
            <a:r>
              <a:rPr lang="en-US" altLang="zh-TW" sz="3200" dirty="0"/>
              <a:t>2</a:t>
            </a:r>
            <a:r>
              <a:rPr lang="en-US" altLang="zh-TW" sz="3200" dirty="0" smtClean="0"/>
              <a:t>, 3, 4, 5)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1609450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2772" y="1595735"/>
            <a:ext cx="93208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Example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3-1: </a:t>
            </a:r>
            <a:r>
              <a:rPr lang="en-US" altLang="zh-TW" sz="3200" dirty="0" smtClean="0"/>
              <a:t>F(x, y, z</a:t>
            </a:r>
            <a:r>
              <a:rPr lang="en-US" altLang="zh-TW" sz="3200" dirty="0"/>
              <a:t>) = </a:t>
            </a:r>
            <a:r>
              <a:rPr lang="en-US" altLang="zh-TW" sz="3200" dirty="0" smtClean="0"/>
              <a:t>∑(</a:t>
            </a:r>
            <a:r>
              <a:rPr lang="en-US" altLang="zh-TW" sz="3200" dirty="0"/>
              <a:t>2</a:t>
            </a:r>
            <a:r>
              <a:rPr lang="en-US" altLang="zh-TW" sz="3200" dirty="0" smtClean="0"/>
              <a:t>, 3, 4, 5)</a:t>
            </a:r>
            <a:endParaRPr lang="en-US" altLang="zh-TW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8BDF86-AAB1-45AE-BCC9-BC5667477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705" y="2578134"/>
            <a:ext cx="6600590" cy="4279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8885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2772" y="1595735"/>
            <a:ext cx="93208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Example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3-1: </a:t>
            </a:r>
            <a:r>
              <a:rPr lang="en-US" altLang="zh-TW" sz="3200" dirty="0" smtClean="0"/>
              <a:t>F(x, y, z</a:t>
            </a:r>
            <a:r>
              <a:rPr lang="en-US" altLang="zh-TW" sz="3200" dirty="0"/>
              <a:t>) = </a:t>
            </a:r>
            <a:r>
              <a:rPr lang="en-US" altLang="zh-TW" sz="3200" dirty="0" smtClean="0"/>
              <a:t>∑(</a:t>
            </a:r>
            <a:r>
              <a:rPr lang="en-US" altLang="zh-TW" sz="3200" dirty="0"/>
              <a:t>2</a:t>
            </a:r>
            <a:r>
              <a:rPr lang="en-US" altLang="zh-TW" sz="3200" dirty="0" smtClean="0"/>
              <a:t>, 3, 4, 5)</a:t>
            </a:r>
            <a:endParaRPr lang="en-US" altLang="zh-TW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8BDF86-AAB1-45AE-BCC9-BC5667477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705" y="2578134"/>
            <a:ext cx="6600590" cy="4279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8523656" y="3851484"/>
            <a:ext cx="2523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x’yz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x’yz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5984422" y="3648023"/>
            <a:ext cx="2188028" cy="106277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5194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2772" y="1595735"/>
            <a:ext cx="93208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Example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3-1: </a:t>
            </a:r>
            <a:r>
              <a:rPr lang="en-US" altLang="zh-TW" sz="3200" dirty="0" smtClean="0"/>
              <a:t>F(x, y, z</a:t>
            </a:r>
            <a:r>
              <a:rPr lang="en-US" altLang="zh-TW" sz="3200" dirty="0"/>
              <a:t>) = </a:t>
            </a:r>
            <a:r>
              <a:rPr lang="en-US" altLang="zh-TW" sz="3200" dirty="0" smtClean="0"/>
              <a:t>∑(</a:t>
            </a:r>
            <a:r>
              <a:rPr lang="en-US" altLang="zh-TW" sz="3200" dirty="0"/>
              <a:t>2</a:t>
            </a:r>
            <a:r>
              <a:rPr lang="en-US" altLang="zh-TW" sz="3200" dirty="0" smtClean="0"/>
              <a:t>, 3, 4, 5)</a:t>
            </a:r>
            <a:endParaRPr lang="en-US" altLang="zh-TW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8BDF86-AAB1-45AE-BCC9-BC5667477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705" y="2578134"/>
            <a:ext cx="6600590" cy="4279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8523656" y="3851484"/>
            <a:ext cx="26468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x’yz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x’yz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 </a:t>
            </a:r>
          </a:p>
          <a:p>
            <a:r>
              <a:rPr lang="en-US" altLang="zh-TW" sz="3600" b="1" dirty="0" smtClean="0">
                <a:solidFill>
                  <a:srgbClr val="C00000"/>
                </a:solidFill>
              </a:rPr>
              <a:t>=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x’y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5984422" y="3648023"/>
            <a:ext cx="2188028" cy="106277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611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2772" y="1595735"/>
            <a:ext cx="93208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Example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3-1: </a:t>
            </a:r>
            <a:r>
              <a:rPr lang="en-US" altLang="zh-TW" sz="3200" dirty="0" smtClean="0"/>
              <a:t>F(x, y, z</a:t>
            </a:r>
            <a:r>
              <a:rPr lang="en-US" altLang="zh-TW" sz="3200" dirty="0"/>
              <a:t>) = </a:t>
            </a:r>
            <a:r>
              <a:rPr lang="en-US" altLang="zh-TW" sz="3200" dirty="0" smtClean="0"/>
              <a:t>∑(</a:t>
            </a:r>
            <a:r>
              <a:rPr lang="en-US" altLang="zh-TW" sz="3200" dirty="0"/>
              <a:t>2</a:t>
            </a:r>
            <a:r>
              <a:rPr lang="en-US" altLang="zh-TW" sz="3200" dirty="0" smtClean="0"/>
              <a:t>, 3, 4, 5)</a:t>
            </a:r>
            <a:endParaRPr lang="en-US" altLang="zh-TW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8BDF86-AAB1-45AE-BCC9-BC5667477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705" y="2578134"/>
            <a:ext cx="6600590" cy="4279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8523656" y="3851484"/>
            <a:ext cx="26468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x’yz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x’yz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 </a:t>
            </a:r>
          </a:p>
          <a:p>
            <a:r>
              <a:rPr lang="en-US" altLang="zh-TW" sz="3600" b="1" dirty="0" smtClean="0">
                <a:solidFill>
                  <a:srgbClr val="C00000"/>
                </a:solidFill>
              </a:rPr>
              <a:t>=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x’y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5984422" y="3648023"/>
            <a:ext cx="2188028" cy="106277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3796394" y="4742559"/>
            <a:ext cx="2188028" cy="106277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272257" y="4950778"/>
            <a:ext cx="2523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xy’z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xy’z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651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2772" y="1595735"/>
            <a:ext cx="93208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Example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3-1: </a:t>
            </a:r>
            <a:r>
              <a:rPr lang="en-US" altLang="zh-TW" sz="3200" dirty="0" smtClean="0"/>
              <a:t>F(x, y, z</a:t>
            </a:r>
            <a:r>
              <a:rPr lang="en-US" altLang="zh-TW" sz="3200" dirty="0"/>
              <a:t>) = </a:t>
            </a:r>
            <a:r>
              <a:rPr lang="en-US" altLang="zh-TW" sz="3200" dirty="0" smtClean="0"/>
              <a:t>∑(</a:t>
            </a:r>
            <a:r>
              <a:rPr lang="en-US" altLang="zh-TW" sz="3200" dirty="0"/>
              <a:t>2</a:t>
            </a:r>
            <a:r>
              <a:rPr lang="en-US" altLang="zh-TW" sz="3200" dirty="0" smtClean="0"/>
              <a:t>, 3, 4, 5)</a:t>
            </a:r>
            <a:endParaRPr lang="en-US" altLang="zh-TW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8BDF86-AAB1-45AE-BCC9-BC5667477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705" y="2578134"/>
            <a:ext cx="6600590" cy="4279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8523656" y="3851484"/>
            <a:ext cx="26468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x’yz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x’yz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 </a:t>
            </a:r>
          </a:p>
          <a:p>
            <a:r>
              <a:rPr lang="en-US" altLang="zh-TW" sz="3600" b="1" dirty="0" smtClean="0">
                <a:solidFill>
                  <a:srgbClr val="C00000"/>
                </a:solidFill>
              </a:rPr>
              <a:t>=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x’y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5984422" y="3648023"/>
            <a:ext cx="2188028" cy="106277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3796394" y="4742559"/>
            <a:ext cx="2188028" cy="106277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272257" y="4950778"/>
            <a:ext cx="25234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xy’z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xy’z</a:t>
            </a:r>
            <a:endParaRPr lang="en-US" altLang="zh-TW" sz="3600" b="1" dirty="0" smtClean="0">
              <a:solidFill>
                <a:srgbClr val="C00000"/>
              </a:solidFill>
            </a:endParaRPr>
          </a:p>
          <a:p>
            <a:r>
              <a:rPr lang="en-US" altLang="zh-TW" sz="3600" b="1" dirty="0" smtClean="0">
                <a:solidFill>
                  <a:srgbClr val="C00000"/>
                </a:solidFill>
              </a:rPr>
              <a:t>= </a:t>
            </a:r>
            <a:r>
              <a:rPr lang="en-US" altLang="zh-TW" sz="3600" b="1" dirty="0" err="1">
                <a:solidFill>
                  <a:srgbClr val="C00000"/>
                </a:solidFill>
              </a:rPr>
              <a:t>xy</a:t>
            </a:r>
            <a:r>
              <a:rPr lang="en-US" altLang="zh-TW" sz="3600" b="1" dirty="0">
                <a:solidFill>
                  <a:srgbClr val="C00000"/>
                </a:solidFill>
              </a:rPr>
              <a:t>’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303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2772" y="1595735"/>
            <a:ext cx="93208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200" b="1" dirty="0">
                <a:solidFill>
                  <a:srgbClr val="C00000"/>
                </a:solidFill>
              </a:rPr>
              <a:t>Example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3-1: </a:t>
            </a:r>
            <a:r>
              <a:rPr lang="en-US" altLang="zh-TW" sz="3200" dirty="0" smtClean="0"/>
              <a:t>F(x, y, z</a:t>
            </a:r>
            <a:r>
              <a:rPr lang="en-US" altLang="zh-TW" sz="3200" dirty="0"/>
              <a:t>) = </a:t>
            </a:r>
            <a:r>
              <a:rPr lang="en-US" altLang="zh-TW" sz="3200" dirty="0" smtClean="0"/>
              <a:t>∑(</a:t>
            </a:r>
            <a:r>
              <a:rPr lang="en-US" altLang="zh-TW" sz="3200" dirty="0"/>
              <a:t>2</a:t>
            </a:r>
            <a:r>
              <a:rPr lang="en-US" altLang="zh-TW" sz="3200" dirty="0" smtClean="0"/>
              <a:t>, 3, 4, 5) = </a:t>
            </a:r>
            <a:r>
              <a:rPr lang="en-US" altLang="zh-TW" sz="3200" dirty="0" err="1" smtClean="0"/>
              <a:t>x’y</a:t>
            </a:r>
            <a:r>
              <a:rPr lang="en-US" altLang="zh-TW" sz="3200" dirty="0" smtClean="0"/>
              <a:t> </a:t>
            </a:r>
            <a:r>
              <a:rPr lang="en-US" altLang="zh-TW" sz="3200" dirty="0"/>
              <a:t>+ </a:t>
            </a:r>
            <a:r>
              <a:rPr lang="en-US" altLang="zh-TW" sz="3200" dirty="0" err="1" smtClean="0"/>
              <a:t>xy</a:t>
            </a:r>
            <a:r>
              <a:rPr lang="en-US" altLang="zh-TW" sz="3200" dirty="0" smtClean="0"/>
              <a:t>’</a:t>
            </a:r>
            <a:endParaRPr lang="zh-TW" alt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8BDF86-AAB1-45AE-BCC9-BC5667477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705" y="2578134"/>
            <a:ext cx="6600590" cy="4279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1811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843CD2D-31F6-479F-9046-E40E1F5FF8B6}"/>
              </a:ext>
            </a:extLst>
          </p:cNvPr>
          <p:cNvSpPr txBox="1">
            <a:spLocks noChangeArrowheads="1"/>
          </p:cNvSpPr>
          <p:nvPr/>
        </p:nvSpPr>
        <p:spPr>
          <a:xfrm>
            <a:off x="29144" y="1719943"/>
            <a:ext cx="6290014" cy="50657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altLang="zh-TW" sz="3600" b="1" dirty="0" smtClean="0">
                <a:solidFill>
                  <a:srgbClr val="C00000"/>
                </a:solidFill>
              </a:rPr>
              <a:t>m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0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and m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are adjacent</a:t>
            </a:r>
          </a:p>
          <a:p>
            <a:pPr marL="457200" lvl="1" indent="0">
              <a:buNone/>
            </a:pPr>
            <a:r>
              <a:rPr lang="en-US" altLang="zh-TW" sz="3600" i="1" dirty="0" smtClean="0"/>
              <a:t>  </a:t>
            </a:r>
          </a:p>
          <a:p>
            <a:endParaRPr lang="zh-TW" altLang="en-US" sz="3600" dirty="0"/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1E4D0213-3CA0-4FFA-B309-225863A942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25" b="10585"/>
          <a:stretch/>
        </p:blipFill>
        <p:spPr bwMode="auto">
          <a:xfrm>
            <a:off x="5176158" y="2342924"/>
            <a:ext cx="6074228" cy="4379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8933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843CD2D-31F6-479F-9046-E40E1F5FF8B6}"/>
              </a:ext>
            </a:extLst>
          </p:cNvPr>
          <p:cNvSpPr txBox="1">
            <a:spLocks noChangeArrowheads="1"/>
          </p:cNvSpPr>
          <p:nvPr/>
        </p:nvSpPr>
        <p:spPr>
          <a:xfrm>
            <a:off x="29144" y="1719943"/>
            <a:ext cx="6290014" cy="50657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altLang="zh-TW" sz="3600" b="1" dirty="0" smtClean="0">
                <a:solidFill>
                  <a:srgbClr val="C00000"/>
                </a:solidFill>
              </a:rPr>
              <a:t>m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0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and m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are adjacent</a:t>
            </a:r>
          </a:p>
          <a:p>
            <a:pPr marL="457200" lvl="1" indent="0">
              <a:buNone/>
            </a:pPr>
            <a:r>
              <a:rPr lang="en-US" altLang="zh-TW" sz="3600" dirty="0" smtClean="0"/>
              <a:t>M</a:t>
            </a:r>
            <a:r>
              <a:rPr lang="en-US" altLang="zh-TW" sz="3600" baseline="-25000" dirty="0" smtClean="0"/>
              <a:t>0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+ m</a:t>
            </a:r>
            <a:r>
              <a:rPr lang="en-US" altLang="zh-TW" sz="3600" baseline="-25000" dirty="0" smtClean="0"/>
              <a:t>2 </a:t>
            </a:r>
          </a:p>
          <a:p>
            <a:pPr marL="457200" lvl="1" indent="0">
              <a:buNone/>
            </a:pPr>
            <a:r>
              <a:rPr lang="en-US" altLang="zh-TW" sz="3600" i="1" dirty="0" smtClean="0"/>
              <a:t>= </a:t>
            </a:r>
            <a:r>
              <a:rPr lang="en-US" altLang="zh-TW" sz="3600" i="1" dirty="0" err="1" smtClean="0"/>
              <a:t>x'y'z</a:t>
            </a:r>
            <a:r>
              <a:rPr lang="en-US" altLang="zh-TW" sz="3600" i="1" dirty="0" smtClean="0"/>
              <a:t>' + </a:t>
            </a:r>
            <a:r>
              <a:rPr lang="en-US" altLang="zh-TW" sz="3600" i="1" dirty="0" err="1" smtClean="0"/>
              <a:t>x'yz</a:t>
            </a:r>
            <a:r>
              <a:rPr lang="en-US" altLang="zh-TW" sz="3600" i="1" dirty="0" smtClean="0"/>
              <a:t>' </a:t>
            </a:r>
          </a:p>
          <a:p>
            <a:pPr marL="457200" lvl="1" indent="0">
              <a:buNone/>
            </a:pPr>
            <a:r>
              <a:rPr lang="en-US" altLang="zh-TW" sz="3600" i="1" dirty="0" smtClean="0"/>
              <a:t>= </a:t>
            </a:r>
            <a:r>
              <a:rPr lang="en-US" altLang="zh-TW" sz="3600" i="1" dirty="0" err="1" smtClean="0"/>
              <a:t>x'z</a:t>
            </a:r>
            <a:r>
              <a:rPr lang="en-US" altLang="zh-TW" sz="3600" i="1" dirty="0" smtClean="0"/>
              <a:t>' </a:t>
            </a:r>
            <a:r>
              <a:rPr lang="en-US" altLang="zh-TW" sz="3600" dirty="0" smtClean="0"/>
              <a:t>(</a:t>
            </a:r>
            <a:r>
              <a:rPr lang="en-US" altLang="zh-TW" sz="3600" i="1" dirty="0" err="1" smtClean="0"/>
              <a:t>y'+y</a:t>
            </a:r>
            <a:r>
              <a:rPr lang="en-US" altLang="zh-TW" sz="3600" dirty="0" smtClean="0"/>
              <a:t>) </a:t>
            </a:r>
          </a:p>
          <a:p>
            <a:pPr marL="457200" lvl="1" indent="0">
              <a:buNone/>
            </a:pPr>
            <a:r>
              <a:rPr lang="en-US" altLang="zh-TW" sz="3600" dirty="0" smtClean="0"/>
              <a:t>= </a:t>
            </a:r>
            <a:r>
              <a:rPr lang="en-US" altLang="zh-TW" sz="3600" i="1" dirty="0" err="1" smtClean="0"/>
              <a:t>x'z</a:t>
            </a:r>
            <a:r>
              <a:rPr lang="en-US" altLang="zh-TW" sz="3600" i="1" dirty="0" smtClean="0"/>
              <a:t>'	  </a:t>
            </a:r>
          </a:p>
          <a:p>
            <a:endParaRPr lang="zh-TW" altLang="en-US" sz="3600" dirty="0"/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1E4D0213-3CA0-4FFA-B309-225863A942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25" b="10585"/>
          <a:stretch/>
        </p:blipFill>
        <p:spPr bwMode="auto">
          <a:xfrm>
            <a:off x="5176158" y="2342924"/>
            <a:ext cx="6074228" cy="4379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4057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843CD2D-31F6-479F-9046-E40E1F5FF8B6}"/>
              </a:ext>
            </a:extLst>
          </p:cNvPr>
          <p:cNvSpPr txBox="1">
            <a:spLocks noChangeArrowheads="1"/>
          </p:cNvSpPr>
          <p:nvPr/>
        </p:nvSpPr>
        <p:spPr>
          <a:xfrm>
            <a:off x="29144" y="1719943"/>
            <a:ext cx="6290014" cy="50657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altLang="zh-TW" sz="3600" b="1" dirty="0" smtClean="0">
                <a:solidFill>
                  <a:srgbClr val="C00000"/>
                </a:solidFill>
              </a:rPr>
              <a:t>m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4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and m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6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are adjacent</a:t>
            </a:r>
          </a:p>
          <a:p>
            <a:endParaRPr lang="zh-TW" altLang="en-US" sz="3600" dirty="0"/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1E4D0213-3CA0-4FFA-B309-225863A942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25" b="10585"/>
          <a:stretch/>
        </p:blipFill>
        <p:spPr bwMode="auto">
          <a:xfrm>
            <a:off x="5176158" y="2342924"/>
            <a:ext cx="6074228" cy="4379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75191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843CD2D-31F6-479F-9046-E40E1F5FF8B6}"/>
              </a:ext>
            </a:extLst>
          </p:cNvPr>
          <p:cNvSpPr txBox="1">
            <a:spLocks noChangeArrowheads="1"/>
          </p:cNvSpPr>
          <p:nvPr/>
        </p:nvSpPr>
        <p:spPr>
          <a:xfrm>
            <a:off x="29144" y="1719943"/>
            <a:ext cx="6290014" cy="50657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altLang="zh-TW" sz="3600" b="1" dirty="0" smtClean="0">
                <a:solidFill>
                  <a:srgbClr val="C00000"/>
                </a:solidFill>
              </a:rPr>
              <a:t>m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4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and m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6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are adjacent</a:t>
            </a:r>
          </a:p>
          <a:p>
            <a:pPr marL="457200" lvl="1" indent="0">
              <a:buNone/>
            </a:pPr>
            <a:r>
              <a:rPr lang="en-US" altLang="zh-TW" sz="3600" dirty="0" smtClean="0"/>
              <a:t>M</a:t>
            </a:r>
            <a:r>
              <a:rPr lang="en-US" altLang="zh-TW" sz="3600" baseline="-25000" dirty="0" smtClean="0"/>
              <a:t>4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+ m</a:t>
            </a:r>
            <a:r>
              <a:rPr lang="en-US" altLang="zh-TW" sz="3600" baseline="-25000" dirty="0" smtClean="0"/>
              <a:t>6 </a:t>
            </a:r>
          </a:p>
          <a:p>
            <a:pPr marL="457200" lvl="1" indent="0">
              <a:buNone/>
            </a:pPr>
            <a:r>
              <a:rPr lang="en-US" altLang="zh-TW" sz="3600" i="1" dirty="0" smtClean="0"/>
              <a:t>= </a:t>
            </a:r>
            <a:r>
              <a:rPr lang="en-US" altLang="zh-TW" sz="3600" i="1" dirty="0" err="1"/>
              <a:t>xy'z</a:t>
            </a:r>
            <a:r>
              <a:rPr lang="en-US" altLang="zh-TW" sz="3600" i="1" dirty="0"/>
              <a:t>' + xyz' </a:t>
            </a:r>
            <a:endParaRPr lang="en-US" altLang="zh-TW" sz="3600" i="1" dirty="0" smtClean="0"/>
          </a:p>
          <a:p>
            <a:pPr marL="457200" lvl="1" indent="0">
              <a:buNone/>
            </a:pPr>
            <a:r>
              <a:rPr lang="en-US" altLang="zh-TW" sz="3600" i="1" dirty="0" smtClean="0"/>
              <a:t>= </a:t>
            </a:r>
            <a:r>
              <a:rPr lang="en-US" altLang="zh-TW" sz="3600" i="1" dirty="0" err="1"/>
              <a:t>xz</a:t>
            </a:r>
            <a:r>
              <a:rPr lang="en-US" altLang="zh-TW" sz="3600" i="1" dirty="0"/>
              <a:t>' </a:t>
            </a:r>
            <a:r>
              <a:rPr lang="en-US" altLang="zh-TW" sz="3600" dirty="0"/>
              <a:t>(</a:t>
            </a:r>
            <a:r>
              <a:rPr lang="en-US" altLang="zh-TW" sz="3600" i="1" dirty="0" err="1"/>
              <a:t>y'+y</a:t>
            </a:r>
            <a:r>
              <a:rPr lang="en-US" altLang="zh-TW" sz="3600" dirty="0"/>
              <a:t>) </a:t>
            </a:r>
            <a:endParaRPr lang="en-US" altLang="zh-TW" sz="3600" dirty="0" smtClean="0"/>
          </a:p>
          <a:p>
            <a:pPr marL="457200" lvl="1" indent="0">
              <a:buNone/>
            </a:pPr>
            <a:r>
              <a:rPr lang="en-US" altLang="zh-TW" sz="3600" dirty="0" smtClean="0"/>
              <a:t>= </a:t>
            </a:r>
            <a:r>
              <a:rPr lang="en-US" altLang="zh-TW" sz="3600" i="1" dirty="0" err="1"/>
              <a:t>xz</a:t>
            </a:r>
            <a:r>
              <a:rPr lang="en-US" altLang="zh-TW" sz="3600" i="1" dirty="0"/>
              <a:t>'</a:t>
            </a:r>
          </a:p>
          <a:p>
            <a:endParaRPr lang="zh-TW" altLang="en-US" sz="3600" dirty="0"/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1E4D0213-3CA0-4FFA-B309-225863A942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25" b="10585"/>
          <a:stretch/>
        </p:blipFill>
        <p:spPr bwMode="auto">
          <a:xfrm>
            <a:off x="5176158" y="2342924"/>
            <a:ext cx="6074228" cy="4379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0530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1514" y="1570949"/>
            <a:ext cx="687160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Example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3-2: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/>
              <a:t>F(x,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y,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z</a:t>
            </a:r>
            <a:r>
              <a:rPr lang="en-US" altLang="zh-TW" sz="3200" b="1" dirty="0"/>
              <a:t>) = </a:t>
            </a:r>
            <a:r>
              <a:rPr lang="en-US" altLang="zh-TW" sz="3200" b="1" dirty="0">
                <a:latin typeface="Symbol" panose="05050102010706020507" pitchFamily="18" charset="2"/>
              </a:rPr>
              <a:t>S</a:t>
            </a:r>
            <a:r>
              <a:rPr lang="en-US" altLang="zh-TW" sz="3200" b="1" dirty="0"/>
              <a:t>(3</a:t>
            </a:r>
            <a:r>
              <a:rPr lang="en-US" altLang="zh-TW" sz="3200" b="1" dirty="0" smtClean="0"/>
              <a:t>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4,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6,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7)</a:t>
            </a:r>
            <a:endParaRPr lang="en-US" altLang="zh-TW" sz="3200" b="1" dirty="0"/>
          </a:p>
        </p:txBody>
      </p:sp>
    </p:spTree>
    <p:extLst>
      <p:ext uri="{BB962C8B-B14F-4D97-AF65-F5344CB8AC3E}">
        <p14:creationId xmlns:p14="http://schemas.microsoft.com/office/powerpoint/2010/main" val="2931392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1514" y="1570949"/>
            <a:ext cx="687160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Example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3-2: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/>
              <a:t>F(x,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y,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z</a:t>
            </a:r>
            <a:r>
              <a:rPr lang="en-US" altLang="zh-TW" sz="3200" b="1" dirty="0"/>
              <a:t>) = </a:t>
            </a:r>
            <a:r>
              <a:rPr lang="en-US" altLang="zh-TW" sz="3200" b="1" dirty="0">
                <a:latin typeface="Symbol" panose="05050102010706020507" pitchFamily="18" charset="2"/>
              </a:rPr>
              <a:t>S</a:t>
            </a:r>
            <a:r>
              <a:rPr lang="en-US" altLang="zh-TW" sz="3200" b="1" dirty="0"/>
              <a:t>(3</a:t>
            </a:r>
            <a:r>
              <a:rPr lang="en-US" altLang="zh-TW" sz="3200" b="1" dirty="0" smtClean="0"/>
              <a:t>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4,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6,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7)</a:t>
            </a:r>
            <a:endParaRPr lang="en-US" altLang="zh-TW" sz="3200" b="1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EA288160-E0A9-4448-AA7A-61D8473232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07" t="-27373" r="-112" b="27373"/>
          <a:stretch/>
        </p:blipFill>
        <p:spPr bwMode="auto">
          <a:xfrm>
            <a:off x="3212646" y="1147309"/>
            <a:ext cx="5766708" cy="5041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4654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1514" y="1570949"/>
            <a:ext cx="687160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Example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3-2: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/>
              <a:t>F(x,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y,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z</a:t>
            </a:r>
            <a:r>
              <a:rPr lang="en-US" altLang="zh-TW" sz="3200" b="1" dirty="0"/>
              <a:t>) = </a:t>
            </a:r>
            <a:r>
              <a:rPr lang="en-US" altLang="zh-TW" sz="3200" b="1" dirty="0">
                <a:latin typeface="Symbol" panose="05050102010706020507" pitchFamily="18" charset="2"/>
              </a:rPr>
              <a:t>S</a:t>
            </a:r>
            <a:r>
              <a:rPr lang="en-US" altLang="zh-TW" sz="3200" b="1" dirty="0"/>
              <a:t>(3</a:t>
            </a:r>
            <a:r>
              <a:rPr lang="en-US" altLang="zh-TW" sz="3200" b="1" dirty="0" smtClean="0"/>
              <a:t>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4,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6,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7)</a:t>
            </a:r>
            <a:endParaRPr lang="en-US" altLang="zh-TW" sz="3200" b="1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EA288160-E0A9-4448-AA7A-61D8473232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07" t="-27373" r="-112" b="27373"/>
          <a:stretch/>
        </p:blipFill>
        <p:spPr bwMode="auto">
          <a:xfrm>
            <a:off x="3212646" y="1147309"/>
            <a:ext cx="5766708" cy="5041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圓角矩形 5"/>
          <p:cNvSpPr/>
          <p:nvPr/>
        </p:nvSpPr>
        <p:spPr>
          <a:xfrm>
            <a:off x="6049735" y="3453492"/>
            <a:ext cx="914400" cy="186962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8979354" y="2467589"/>
            <a:ext cx="2406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x’yz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+ xyz </a:t>
            </a:r>
          </a:p>
        </p:txBody>
      </p:sp>
    </p:spTree>
    <p:extLst>
      <p:ext uri="{BB962C8B-B14F-4D97-AF65-F5344CB8AC3E}">
        <p14:creationId xmlns:p14="http://schemas.microsoft.com/office/powerpoint/2010/main" val="2250376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1514" y="1570949"/>
            <a:ext cx="687160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Example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3-2: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/>
              <a:t>F(x,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y,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z</a:t>
            </a:r>
            <a:r>
              <a:rPr lang="en-US" altLang="zh-TW" sz="3200" b="1" dirty="0"/>
              <a:t>) = </a:t>
            </a:r>
            <a:r>
              <a:rPr lang="en-US" altLang="zh-TW" sz="3200" b="1" dirty="0">
                <a:latin typeface="Symbol" panose="05050102010706020507" pitchFamily="18" charset="2"/>
              </a:rPr>
              <a:t>S</a:t>
            </a:r>
            <a:r>
              <a:rPr lang="en-US" altLang="zh-TW" sz="3200" b="1" dirty="0"/>
              <a:t>(3</a:t>
            </a:r>
            <a:r>
              <a:rPr lang="en-US" altLang="zh-TW" sz="3200" b="1" dirty="0" smtClean="0"/>
              <a:t>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4,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6,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7)</a:t>
            </a:r>
            <a:endParaRPr lang="en-US" altLang="zh-TW" sz="3200" b="1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EA288160-E0A9-4448-AA7A-61D8473232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07" t="-27373" r="-112" b="27373"/>
          <a:stretch/>
        </p:blipFill>
        <p:spPr bwMode="auto">
          <a:xfrm>
            <a:off x="3212646" y="1147309"/>
            <a:ext cx="5766708" cy="5041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圓角矩形 5"/>
          <p:cNvSpPr/>
          <p:nvPr/>
        </p:nvSpPr>
        <p:spPr>
          <a:xfrm>
            <a:off x="6049735" y="3453492"/>
            <a:ext cx="914400" cy="186962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8979354" y="2467589"/>
            <a:ext cx="24064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x’yz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+ xyz </a:t>
            </a:r>
          </a:p>
          <a:p>
            <a:r>
              <a:rPr lang="en-US" altLang="zh-TW" sz="3600" b="1" dirty="0" smtClean="0">
                <a:solidFill>
                  <a:srgbClr val="C00000"/>
                </a:solidFill>
              </a:rPr>
              <a:t>=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yz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64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1514" y="1570949"/>
            <a:ext cx="687160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Example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3-2: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/>
              <a:t>F(x,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y,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z</a:t>
            </a:r>
            <a:r>
              <a:rPr lang="en-US" altLang="zh-TW" sz="3200" b="1" dirty="0"/>
              <a:t>) = </a:t>
            </a:r>
            <a:r>
              <a:rPr lang="en-US" altLang="zh-TW" sz="3200" b="1" dirty="0">
                <a:latin typeface="Symbol" panose="05050102010706020507" pitchFamily="18" charset="2"/>
              </a:rPr>
              <a:t>S</a:t>
            </a:r>
            <a:r>
              <a:rPr lang="en-US" altLang="zh-TW" sz="3200" b="1" dirty="0"/>
              <a:t>(3</a:t>
            </a:r>
            <a:r>
              <a:rPr lang="en-US" altLang="zh-TW" sz="3200" b="1" dirty="0" smtClean="0"/>
              <a:t>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4,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6,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7)</a:t>
            </a:r>
            <a:endParaRPr lang="en-US" altLang="zh-TW" sz="3200" b="1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EA288160-E0A9-4448-AA7A-61D8473232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07" t="-27373" r="-112" b="27373"/>
          <a:stretch/>
        </p:blipFill>
        <p:spPr bwMode="auto">
          <a:xfrm>
            <a:off x="3212646" y="1147308"/>
            <a:ext cx="5766708" cy="5041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圓角矩形 5"/>
          <p:cNvSpPr/>
          <p:nvPr/>
        </p:nvSpPr>
        <p:spPr>
          <a:xfrm>
            <a:off x="6049735" y="3453492"/>
            <a:ext cx="914400" cy="186962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8979354" y="2467589"/>
            <a:ext cx="24064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x’yz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+ xyz </a:t>
            </a:r>
          </a:p>
          <a:p>
            <a:r>
              <a:rPr lang="en-US" altLang="zh-TW" sz="3600" b="1" dirty="0" smtClean="0">
                <a:solidFill>
                  <a:srgbClr val="C00000"/>
                </a:solidFill>
              </a:rPr>
              <a:t>=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yz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21" name="手繪多邊形 20"/>
          <p:cNvSpPr/>
          <p:nvPr/>
        </p:nvSpPr>
        <p:spPr>
          <a:xfrm>
            <a:off x="4100444" y="4343398"/>
            <a:ext cx="1012510" cy="1004207"/>
          </a:xfrm>
          <a:custGeom>
            <a:avLst/>
            <a:gdLst>
              <a:gd name="connsiteX0" fmla="*/ 57150 w 1012510"/>
              <a:gd name="connsiteY0" fmla="*/ 0 h 1004207"/>
              <a:gd name="connsiteX1" fmla="*/ 1012372 w 1012510"/>
              <a:gd name="connsiteY1" fmla="*/ 481693 h 1004207"/>
              <a:gd name="connsiteX2" fmla="*/ 0 w 1012510"/>
              <a:gd name="connsiteY2" fmla="*/ 1004207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2510" h="1004207">
                <a:moveTo>
                  <a:pt x="57150" y="0"/>
                </a:moveTo>
                <a:cubicBezTo>
                  <a:pt x="539523" y="157162"/>
                  <a:pt x="1021897" y="314325"/>
                  <a:pt x="1012372" y="481693"/>
                </a:cubicBezTo>
                <a:cubicBezTo>
                  <a:pt x="1002847" y="649061"/>
                  <a:pt x="501423" y="826634"/>
                  <a:pt x="0" y="1004207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手繪多邊形 21"/>
          <p:cNvSpPr/>
          <p:nvPr/>
        </p:nvSpPr>
        <p:spPr>
          <a:xfrm flipH="1">
            <a:off x="7004957" y="4376053"/>
            <a:ext cx="1012510" cy="1004207"/>
          </a:xfrm>
          <a:custGeom>
            <a:avLst/>
            <a:gdLst>
              <a:gd name="connsiteX0" fmla="*/ 57150 w 1012510"/>
              <a:gd name="connsiteY0" fmla="*/ 0 h 1004207"/>
              <a:gd name="connsiteX1" fmla="*/ 1012372 w 1012510"/>
              <a:gd name="connsiteY1" fmla="*/ 481693 h 1004207"/>
              <a:gd name="connsiteX2" fmla="*/ 0 w 1012510"/>
              <a:gd name="connsiteY2" fmla="*/ 1004207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2510" h="1004207">
                <a:moveTo>
                  <a:pt x="57150" y="0"/>
                </a:moveTo>
                <a:cubicBezTo>
                  <a:pt x="539523" y="157162"/>
                  <a:pt x="1021897" y="314325"/>
                  <a:pt x="1012372" y="481693"/>
                </a:cubicBezTo>
                <a:cubicBezTo>
                  <a:pt x="1002847" y="649061"/>
                  <a:pt x="501423" y="826634"/>
                  <a:pt x="0" y="1004207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732129" y="4245336"/>
            <a:ext cx="2646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xy’z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 + xyz’ </a:t>
            </a:r>
          </a:p>
        </p:txBody>
      </p:sp>
    </p:spTree>
    <p:extLst>
      <p:ext uri="{BB962C8B-B14F-4D97-AF65-F5344CB8AC3E}">
        <p14:creationId xmlns:p14="http://schemas.microsoft.com/office/powerpoint/2010/main" val="3838440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1514" y="1570949"/>
            <a:ext cx="687160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Example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3-2: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/>
              <a:t>F(x,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y,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z</a:t>
            </a:r>
            <a:r>
              <a:rPr lang="en-US" altLang="zh-TW" sz="3200" b="1" dirty="0"/>
              <a:t>) = </a:t>
            </a:r>
            <a:r>
              <a:rPr lang="en-US" altLang="zh-TW" sz="3200" b="1" dirty="0">
                <a:latin typeface="Symbol" panose="05050102010706020507" pitchFamily="18" charset="2"/>
              </a:rPr>
              <a:t>S</a:t>
            </a:r>
            <a:r>
              <a:rPr lang="en-US" altLang="zh-TW" sz="3200" b="1" dirty="0"/>
              <a:t>(3</a:t>
            </a:r>
            <a:r>
              <a:rPr lang="en-US" altLang="zh-TW" sz="3200" b="1" dirty="0" smtClean="0"/>
              <a:t>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4,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6,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7)</a:t>
            </a:r>
            <a:endParaRPr lang="en-US" altLang="zh-TW" sz="3200" b="1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EA288160-E0A9-4448-AA7A-61D8473232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07" t="-27373" r="-112" b="27373"/>
          <a:stretch/>
        </p:blipFill>
        <p:spPr bwMode="auto">
          <a:xfrm>
            <a:off x="3212646" y="1147308"/>
            <a:ext cx="5766708" cy="5041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圓角矩形 5"/>
          <p:cNvSpPr/>
          <p:nvPr/>
        </p:nvSpPr>
        <p:spPr>
          <a:xfrm>
            <a:off x="6049735" y="3453492"/>
            <a:ext cx="914400" cy="186962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8979354" y="2467589"/>
            <a:ext cx="24064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x’yz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+ xyz </a:t>
            </a:r>
          </a:p>
          <a:p>
            <a:r>
              <a:rPr lang="en-US" altLang="zh-TW" sz="3600" b="1" dirty="0" smtClean="0">
                <a:solidFill>
                  <a:srgbClr val="C00000"/>
                </a:solidFill>
              </a:rPr>
              <a:t>=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yz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21" name="手繪多邊形 20"/>
          <p:cNvSpPr/>
          <p:nvPr/>
        </p:nvSpPr>
        <p:spPr>
          <a:xfrm>
            <a:off x="4100444" y="4343398"/>
            <a:ext cx="1012510" cy="1004207"/>
          </a:xfrm>
          <a:custGeom>
            <a:avLst/>
            <a:gdLst>
              <a:gd name="connsiteX0" fmla="*/ 57150 w 1012510"/>
              <a:gd name="connsiteY0" fmla="*/ 0 h 1004207"/>
              <a:gd name="connsiteX1" fmla="*/ 1012372 w 1012510"/>
              <a:gd name="connsiteY1" fmla="*/ 481693 h 1004207"/>
              <a:gd name="connsiteX2" fmla="*/ 0 w 1012510"/>
              <a:gd name="connsiteY2" fmla="*/ 1004207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2510" h="1004207">
                <a:moveTo>
                  <a:pt x="57150" y="0"/>
                </a:moveTo>
                <a:cubicBezTo>
                  <a:pt x="539523" y="157162"/>
                  <a:pt x="1021897" y="314325"/>
                  <a:pt x="1012372" y="481693"/>
                </a:cubicBezTo>
                <a:cubicBezTo>
                  <a:pt x="1002847" y="649061"/>
                  <a:pt x="501423" y="826634"/>
                  <a:pt x="0" y="1004207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手繪多邊形 21"/>
          <p:cNvSpPr/>
          <p:nvPr/>
        </p:nvSpPr>
        <p:spPr>
          <a:xfrm flipH="1">
            <a:off x="7004957" y="4376053"/>
            <a:ext cx="1012510" cy="1004207"/>
          </a:xfrm>
          <a:custGeom>
            <a:avLst/>
            <a:gdLst>
              <a:gd name="connsiteX0" fmla="*/ 57150 w 1012510"/>
              <a:gd name="connsiteY0" fmla="*/ 0 h 1004207"/>
              <a:gd name="connsiteX1" fmla="*/ 1012372 w 1012510"/>
              <a:gd name="connsiteY1" fmla="*/ 481693 h 1004207"/>
              <a:gd name="connsiteX2" fmla="*/ 0 w 1012510"/>
              <a:gd name="connsiteY2" fmla="*/ 1004207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2510" h="1004207">
                <a:moveTo>
                  <a:pt x="57150" y="0"/>
                </a:moveTo>
                <a:cubicBezTo>
                  <a:pt x="539523" y="157162"/>
                  <a:pt x="1021897" y="314325"/>
                  <a:pt x="1012372" y="481693"/>
                </a:cubicBezTo>
                <a:cubicBezTo>
                  <a:pt x="1002847" y="649061"/>
                  <a:pt x="501423" y="826634"/>
                  <a:pt x="0" y="1004207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732129" y="4245336"/>
            <a:ext cx="26356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xy’z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 + xyz’ </a:t>
            </a:r>
          </a:p>
          <a:p>
            <a:r>
              <a:rPr lang="en-US" altLang="zh-TW" sz="3600" b="1" dirty="0" smtClean="0">
                <a:solidFill>
                  <a:srgbClr val="C00000"/>
                </a:solidFill>
              </a:rPr>
              <a:t>=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8896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1514" y="1570949"/>
            <a:ext cx="94923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Example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3-2: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/>
              <a:t>F(x,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y,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z</a:t>
            </a:r>
            <a:r>
              <a:rPr lang="en-US" altLang="zh-TW" sz="3200" b="1" dirty="0"/>
              <a:t>) = </a:t>
            </a:r>
            <a:r>
              <a:rPr lang="en-US" altLang="zh-TW" sz="3200" b="1" dirty="0">
                <a:latin typeface="Symbol" panose="05050102010706020507" pitchFamily="18" charset="2"/>
              </a:rPr>
              <a:t>S</a:t>
            </a:r>
            <a:r>
              <a:rPr lang="en-US" altLang="zh-TW" sz="3200" b="1" dirty="0"/>
              <a:t>(3</a:t>
            </a:r>
            <a:r>
              <a:rPr lang="en-US" altLang="zh-TW" sz="3200" b="1" dirty="0" smtClean="0"/>
              <a:t>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4,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6,</a:t>
            </a:r>
            <a:r>
              <a:rPr lang="zh-TW" altLang="en-US" sz="3200" b="1" dirty="0" smtClean="0"/>
              <a:t> </a:t>
            </a:r>
            <a:r>
              <a:rPr lang="en-US" altLang="zh-TW" sz="3200" b="1" dirty="0" smtClean="0"/>
              <a:t>7) =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yz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EA288160-E0A9-4448-AA7A-61D8473232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07" t="1045" r="-112" b="27373"/>
          <a:stretch/>
        </p:blipFill>
        <p:spPr bwMode="auto">
          <a:xfrm>
            <a:off x="3212646" y="2579914"/>
            <a:ext cx="5766708" cy="360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圓角矩形 5"/>
          <p:cNvSpPr/>
          <p:nvPr/>
        </p:nvSpPr>
        <p:spPr>
          <a:xfrm>
            <a:off x="6049735" y="3453492"/>
            <a:ext cx="914400" cy="186962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8979354" y="2467589"/>
            <a:ext cx="24064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x’yz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+ xyz </a:t>
            </a:r>
          </a:p>
          <a:p>
            <a:r>
              <a:rPr lang="en-US" altLang="zh-TW" sz="3600" b="1" dirty="0" smtClean="0">
                <a:solidFill>
                  <a:srgbClr val="C00000"/>
                </a:solidFill>
              </a:rPr>
              <a:t>=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yz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21" name="手繪多邊形 20"/>
          <p:cNvSpPr/>
          <p:nvPr/>
        </p:nvSpPr>
        <p:spPr>
          <a:xfrm>
            <a:off x="4100444" y="4343398"/>
            <a:ext cx="1012510" cy="1004207"/>
          </a:xfrm>
          <a:custGeom>
            <a:avLst/>
            <a:gdLst>
              <a:gd name="connsiteX0" fmla="*/ 57150 w 1012510"/>
              <a:gd name="connsiteY0" fmla="*/ 0 h 1004207"/>
              <a:gd name="connsiteX1" fmla="*/ 1012372 w 1012510"/>
              <a:gd name="connsiteY1" fmla="*/ 481693 h 1004207"/>
              <a:gd name="connsiteX2" fmla="*/ 0 w 1012510"/>
              <a:gd name="connsiteY2" fmla="*/ 1004207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2510" h="1004207">
                <a:moveTo>
                  <a:pt x="57150" y="0"/>
                </a:moveTo>
                <a:cubicBezTo>
                  <a:pt x="539523" y="157162"/>
                  <a:pt x="1021897" y="314325"/>
                  <a:pt x="1012372" y="481693"/>
                </a:cubicBezTo>
                <a:cubicBezTo>
                  <a:pt x="1002847" y="649061"/>
                  <a:pt x="501423" y="826634"/>
                  <a:pt x="0" y="1004207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手繪多邊形 21"/>
          <p:cNvSpPr/>
          <p:nvPr/>
        </p:nvSpPr>
        <p:spPr>
          <a:xfrm flipH="1">
            <a:off x="7004957" y="4376053"/>
            <a:ext cx="1012510" cy="1004207"/>
          </a:xfrm>
          <a:custGeom>
            <a:avLst/>
            <a:gdLst>
              <a:gd name="connsiteX0" fmla="*/ 57150 w 1012510"/>
              <a:gd name="connsiteY0" fmla="*/ 0 h 1004207"/>
              <a:gd name="connsiteX1" fmla="*/ 1012372 w 1012510"/>
              <a:gd name="connsiteY1" fmla="*/ 481693 h 1004207"/>
              <a:gd name="connsiteX2" fmla="*/ 0 w 1012510"/>
              <a:gd name="connsiteY2" fmla="*/ 1004207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2510" h="1004207">
                <a:moveTo>
                  <a:pt x="57150" y="0"/>
                </a:moveTo>
                <a:cubicBezTo>
                  <a:pt x="539523" y="157162"/>
                  <a:pt x="1021897" y="314325"/>
                  <a:pt x="1012372" y="481693"/>
                </a:cubicBezTo>
                <a:cubicBezTo>
                  <a:pt x="1002847" y="649061"/>
                  <a:pt x="501423" y="826634"/>
                  <a:pt x="0" y="1004207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732129" y="4245336"/>
            <a:ext cx="26356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xy’z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 + xyz’ </a:t>
            </a:r>
          </a:p>
          <a:p>
            <a:r>
              <a:rPr lang="en-US" altLang="zh-TW" sz="3600" b="1" dirty="0" smtClean="0">
                <a:solidFill>
                  <a:srgbClr val="C00000"/>
                </a:solidFill>
              </a:rPr>
              <a:t>=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022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1854" y="1537998"/>
            <a:ext cx="3931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Four adjacent squares</a:t>
            </a:r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8F83C156-DC0F-49B4-B3BB-C3499EA606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10" b="11783"/>
          <a:stretch/>
        </p:blipFill>
        <p:spPr bwMode="auto">
          <a:xfrm>
            <a:off x="6900808" y="2957057"/>
            <a:ext cx="5291192" cy="3770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0969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1854" y="1537998"/>
            <a:ext cx="3931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Four adjacent squares</a:t>
            </a:r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8F83C156-DC0F-49B4-B3BB-C3499EA606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10" b="11783"/>
          <a:stretch/>
        </p:blipFill>
        <p:spPr bwMode="auto">
          <a:xfrm>
            <a:off x="6900808" y="2957057"/>
            <a:ext cx="5291192" cy="3770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07796" y="2454570"/>
            <a:ext cx="6786967" cy="3121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200" dirty="0" smtClean="0"/>
              <a:t>m</a:t>
            </a:r>
            <a:r>
              <a:rPr lang="en-US" altLang="zh-TW" sz="3200" baseline="-25000" dirty="0" smtClean="0"/>
              <a:t>1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+ m</a:t>
            </a:r>
            <a:r>
              <a:rPr lang="en-US" altLang="zh-TW" sz="3200" baseline="-25000" dirty="0" smtClean="0"/>
              <a:t>3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+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m</a:t>
            </a:r>
            <a:r>
              <a:rPr lang="en-US" altLang="zh-TW" sz="3200" baseline="-25000" dirty="0" smtClean="0"/>
              <a:t>5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+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m</a:t>
            </a:r>
            <a:r>
              <a:rPr lang="en-US" altLang="zh-TW" sz="3200" baseline="-25000" dirty="0" smtClean="0"/>
              <a:t>7</a:t>
            </a:r>
            <a:r>
              <a:rPr lang="en-US" altLang="zh-TW" sz="3200" dirty="0" smtClean="0"/>
              <a:t> </a:t>
            </a:r>
          </a:p>
          <a:p>
            <a:pPr lvl="1">
              <a:lnSpc>
                <a:spcPct val="125000"/>
              </a:lnSpc>
            </a:pPr>
            <a:r>
              <a:rPr lang="en-US" altLang="zh-TW" sz="3200" dirty="0" smtClean="0"/>
              <a:t>=</a:t>
            </a:r>
            <a:r>
              <a:rPr lang="en-US" altLang="zh-TW" sz="3200" i="1" dirty="0" smtClean="0"/>
              <a:t> </a:t>
            </a:r>
            <a:r>
              <a:rPr lang="en-US" altLang="zh-TW" sz="3200" i="1" dirty="0" err="1" smtClean="0"/>
              <a:t>x'y'z</a:t>
            </a:r>
            <a:r>
              <a:rPr lang="en-US" altLang="zh-TW" sz="3200" dirty="0"/>
              <a:t> </a:t>
            </a:r>
            <a:r>
              <a:rPr lang="en-US" altLang="zh-TW" sz="3200" i="1" dirty="0" smtClean="0"/>
              <a:t>+</a:t>
            </a:r>
            <a:r>
              <a:rPr lang="en-US" altLang="zh-TW" sz="3200" dirty="0"/>
              <a:t> </a:t>
            </a:r>
            <a:r>
              <a:rPr lang="en-US" altLang="zh-TW" sz="3200" i="1" dirty="0" err="1" smtClean="0"/>
              <a:t>x'yz</a:t>
            </a:r>
            <a:r>
              <a:rPr lang="en-US" altLang="zh-TW" sz="3200" dirty="0"/>
              <a:t> </a:t>
            </a:r>
            <a:r>
              <a:rPr lang="en-US" altLang="zh-TW" sz="3200" i="1" dirty="0" smtClean="0"/>
              <a:t>+</a:t>
            </a:r>
            <a:r>
              <a:rPr lang="en-US" altLang="zh-TW" sz="3200" dirty="0"/>
              <a:t> </a:t>
            </a:r>
            <a:r>
              <a:rPr lang="en-US" altLang="zh-TW" sz="3200" i="1" dirty="0" err="1" smtClean="0"/>
              <a:t>xy'z</a:t>
            </a:r>
            <a:r>
              <a:rPr lang="en-US" altLang="zh-TW" sz="3200" dirty="0"/>
              <a:t> </a:t>
            </a:r>
            <a:r>
              <a:rPr lang="en-US" altLang="zh-TW" sz="3200" i="1" dirty="0" smtClean="0"/>
              <a:t>+</a:t>
            </a:r>
            <a:r>
              <a:rPr lang="en-US" altLang="zh-TW" sz="3200" dirty="0"/>
              <a:t> </a:t>
            </a:r>
            <a:r>
              <a:rPr lang="en-US" altLang="zh-TW" sz="3200" i="1" dirty="0" smtClean="0"/>
              <a:t>xyz</a:t>
            </a:r>
          </a:p>
          <a:p>
            <a:pPr lvl="1">
              <a:lnSpc>
                <a:spcPct val="125000"/>
              </a:lnSpc>
            </a:pPr>
            <a:r>
              <a:rPr lang="en-US" altLang="zh-TW" sz="3200" i="1" dirty="0" smtClean="0"/>
              <a:t>=</a:t>
            </a:r>
            <a:r>
              <a:rPr lang="en-US" altLang="zh-TW" sz="3200" dirty="0" smtClean="0"/>
              <a:t> </a:t>
            </a:r>
            <a:r>
              <a:rPr lang="en-US" altLang="zh-TW" sz="3200" i="1" dirty="0" err="1" smtClean="0"/>
              <a:t>x'z</a:t>
            </a:r>
            <a:r>
              <a:rPr lang="en-US" altLang="zh-TW" sz="3200" i="1" dirty="0" smtClean="0"/>
              <a:t>(y'</a:t>
            </a:r>
            <a:r>
              <a:rPr lang="en-US" altLang="zh-TW" sz="3200" dirty="0"/>
              <a:t> </a:t>
            </a:r>
            <a:r>
              <a:rPr lang="en-US" altLang="zh-TW" sz="3200" i="1" dirty="0" smtClean="0"/>
              <a:t>+</a:t>
            </a:r>
            <a:r>
              <a:rPr lang="en-US" altLang="zh-TW" sz="3200" dirty="0" smtClean="0"/>
              <a:t> </a:t>
            </a:r>
            <a:r>
              <a:rPr lang="en-US" altLang="zh-TW" sz="3200" i="1" dirty="0" smtClean="0"/>
              <a:t>y) + </a:t>
            </a:r>
            <a:r>
              <a:rPr lang="en-US" altLang="zh-TW" sz="3200" i="1" dirty="0" err="1" smtClean="0"/>
              <a:t>xz</a:t>
            </a:r>
            <a:r>
              <a:rPr lang="en-US" altLang="zh-TW" sz="3200" i="1" dirty="0" smtClean="0"/>
              <a:t>(y'</a:t>
            </a:r>
            <a:r>
              <a:rPr lang="en-US" altLang="zh-TW" sz="3200" dirty="0"/>
              <a:t> </a:t>
            </a:r>
            <a:r>
              <a:rPr lang="en-US" altLang="zh-TW" sz="3200" i="1" dirty="0" smtClean="0"/>
              <a:t>+</a:t>
            </a:r>
            <a:r>
              <a:rPr lang="en-US" altLang="zh-TW" sz="3200" dirty="0" smtClean="0"/>
              <a:t> </a:t>
            </a:r>
            <a:r>
              <a:rPr lang="en-US" altLang="zh-TW" sz="3200" i="1" dirty="0" smtClean="0"/>
              <a:t>y)</a:t>
            </a:r>
          </a:p>
          <a:p>
            <a:pPr lvl="1">
              <a:lnSpc>
                <a:spcPct val="125000"/>
              </a:lnSpc>
            </a:pPr>
            <a:r>
              <a:rPr lang="en-US" altLang="zh-TW" sz="3200" i="1" dirty="0" smtClean="0"/>
              <a:t>= </a:t>
            </a:r>
            <a:r>
              <a:rPr lang="en-US" altLang="zh-TW" sz="3200" i="1" dirty="0" err="1" smtClean="0"/>
              <a:t>x'z</a:t>
            </a:r>
            <a:r>
              <a:rPr lang="en-US" altLang="zh-TW" sz="3200" i="1" dirty="0" smtClean="0"/>
              <a:t> + </a:t>
            </a:r>
            <a:r>
              <a:rPr lang="en-US" altLang="zh-TW" sz="3200" i="1" dirty="0" err="1" smtClean="0"/>
              <a:t>xz</a:t>
            </a:r>
            <a:r>
              <a:rPr lang="en-US" altLang="zh-TW" sz="3200" i="1" dirty="0" smtClean="0"/>
              <a:t> </a:t>
            </a:r>
          </a:p>
          <a:p>
            <a:pPr lvl="1">
              <a:lnSpc>
                <a:spcPct val="125000"/>
              </a:lnSpc>
            </a:pPr>
            <a:r>
              <a:rPr lang="en-US" altLang="zh-TW" sz="3200" i="1" dirty="0" smtClean="0"/>
              <a:t>= z</a:t>
            </a:r>
            <a:endParaRPr lang="en-US" altLang="zh-TW" sz="3200" i="1" dirty="0"/>
          </a:p>
        </p:txBody>
      </p:sp>
      <p:sp>
        <p:nvSpPr>
          <p:cNvPr id="6" name="圓角矩形 5"/>
          <p:cNvSpPr/>
          <p:nvPr/>
        </p:nvSpPr>
        <p:spPr>
          <a:xfrm>
            <a:off x="8907234" y="4041320"/>
            <a:ext cx="2065565" cy="206556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1705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1854" y="1537998"/>
            <a:ext cx="3931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Four adjacent squares</a:t>
            </a:r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8F83C156-DC0F-49B4-B3BB-C3499EA606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10" b="11783"/>
          <a:stretch/>
        </p:blipFill>
        <p:spPr bwMode="auto">
          <a:xfrm>
            <a:off x="6900808" y="2957057"/>
            <a:ext cx="5291192" cy="3770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07796" y="2454570"/>
            <a:ext cx="678696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200" dirty="0" smtClean="0"/>
              <a:t>m</a:t>
            </a:r>
            <a:r>
              <a:rPr lang="en-US" altLang="zh-TW" sz="3200" baseline="-25000" dirty="0" smtClean="0"/>
              <a:t>1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+ m</a:t>
            </a:r>
            <a:r>
              <a:rPr lang="en-US" altLang="zh-TW" sz="3200" baseline="-25000" dirty="0" smtClean="0"/>
              <a:t>3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+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m</a:t>
            </a:r>
            <a:r>
              <a:rPr lang="en-US" altLang="zh-TW" sz="3200" baseline="-25000" dirty="0" smtClean="0"/>
              <a:t>5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+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m</a:t>
            </a:r>
            <a:r>
              <a:rPr lang="en-US" altLang="zh-TW" sz="3200" baseline="-25000" dirty="0" smtClean="0"/>
              <a:t>7</a:t>
            </a:r>
            <a:r>
              <a:rPr lang="en-US" altLang="zh-TW" sz="3200" dirty="0" smtClean="0"/>
              <a:t> </a:t>
            </a:r>
          </a:p>
          <a:p>
            <a:pPr lvl="1">
              <a:lnSpc>
                <a:spcPct val="125000"/>
              </a:lnSpc>
            </a:pPr>
            <a:r>
              <a:rPr lang="en-US" altLang="zh-TW" sz="3200" dirty="0" smtClean="0"/>
              <a:t>=</a:t>
            </a:r>
            <a:r>
              <a:rPr lang="en-US" altLang="zh-TW" sz="3200" i="1" dirty="0" smtClean="0"/>
              <a:t> </a:t>
            </a:r>
            <a:r>
              <a:rPr lang="en-US" altLang="zh-TW" sz="3200" b="1" i="1" dirty="0" err="1" smtClean="0">
                <a:solidFill>
                  <a:srgbClr val="C00000"/>
                </a:solidFill>
              </a:rPr>
              <a:t>x'y'z</a:t>
            </a:r>
            <a:r>
              <a:rPr lang="en-US" altLang="zh-TW" sz="3200" b="1" dirty="0">
                <a:solidFill>
                  <a:srgbClr val="C00000"/>
                </a:solidFill>
              </a:rPr>
              <a:t> </a:t>
            </a:r>
            <a:r>
              <a:rPr lang="en-US" altLang="zh-TW" sz="3200" b="1" i="1" dirty="0" smtClean="0">
                <a:solidFill>
                  <a:srgbClr val="C00000"/>
                </a:solidFill>
              </a:rPr>
              <a:t>+</a:t>
            </a:r>
            <a:r>
              <a:rPr lang="en-US" altLang="zh-TW" sz="3200" b="1" dirty="0">
                <a:solidFill>
                  <a:srgbClr val="C00000"/>
                </a:solidFill>
              </a:rPr>
              <a:t> </a:t>
            </a:r>
            <a:r>
              <a:rPr lang="en-US" altLang="zh-TW" sz="3200" b="1" i="1" dirty="0" err="1" smtClean="0">
                <a:solidFill>
                  <a:srgbClr val="C00000"/>
                </a:solidFill>
              </a:rPr>
              <a:t>x'yz</a:t>
            </a:r>
            <a:r>
              <a:rPr lang="en-US" altLang="zh-TW" sz="3200" b="1" dirty="0">
                <a:solidFill>
                  <a:srgbClr val="C00000"/>
                </a:solidFill>
              </a:rPr>
              <a:t> </a:t>
            </a:r>
            <a:r>
              <a:rPr lang="en-US" altLang="zh-TW" sz="3200" i="1" dirty="0" smtClean="0"/>
              <a:t>+</a:t>
            </a:r>
            <a:r>
              <a:rPr lang="en-US" altLang="zh-TW" sz="3200" dirty="0"/>
              <a:t> </a:t>
            </a:r>
            <a:r>
              <a:rPr lang="en-US" altLang="zh-TW" sz="3200" i="1" dirty="0" err="1" smtClean="0"/>
              <a:t>xy'z</a:t>
            </a:r>
            <a:r>
              <a:rPr lang="en-US" altLang="zh-TW" sz="3200" dirty="0"/>
              <a:t> </a:t>
            </a:r>
            <a:r>
              <a:rPr lang="en-US" altLang="zh-TW" sz="3200" i="1" dirty="0" smtClean="0"/>
              <a:t>+</a:t>
            </a:r>
            <a:r>
              <a:rPr lang="en-US" altLang="zh-TW" sz="3200" dirty="0"/>
              <a:t> </a:t>
            </a:r>
            <a:r>
              <a:rPr lang="en-US" altLang="zh-TW" sz="3200" i="1" dirty="0" smtClean="0"/>
              <a:t>xyz</a:t>
            </a:r>
          </a:p>
          <a:p>
            <a:pPr lvl="1">
              <a:lnSpc>
                <a:spcPct val="125000"/>
              </a:lnSpc>
            </a:pPr>
            <a:r>
              <a:rPr lang="en-US" altLang="zh-TW" sz="3200" i="1" dirty="0" smtClean="0"/>
              <a:t>=</a:t>
            </a:r>
            <a:r>
              <a:rPr lang="en-US" altLang="zh-TW" sz="3200" dirty="0" smtClean="0"/>
              <a:t> </a:t>
            </a:r>
            <a:r>
              <a:rPr lang="en-US" altLang="zh-TW" sz="3200" b="1" i="1" dirty="0" err="1" smtClean="0">
                <a:solidFill>
                  <a:srgbClr val="C00000"/>
                </a:solidFill>
              </a:rPr>
              <a:t>x'z</a:t>
            </a:r>
            <a:r>
              <a:rPr lang="en-US" altLang="zh-TW" sz="3200" b="1" i="1" dirty="0" smtClean="0">
                <a:solidFill>
                  <a:srgbClr val="C00000"/>
                </a:solidFill>
              </a:rPr>
              <a:t>(y'</a:t>
            </a:r>
            <a:r>
              <a:rPr lang="en-US" altLang="zh-TW" sz="3200" b="1" dirty="0">
                <a:solidFill>
                  <a:srgbClr val="C00000"/>
                </a:solidFill>
              </a:rPr>
              <a:t> </a:t>
            </a:r>
            <a:r>
              <a:rPr lang="en-US" altLang="zh-TW" sz="3200" b="1" i="1" dirty="0" smtClean="0">
                <a:solidFill>
                  <a:srgbClr val="C00000"/>
                </a:solidFill>
              </a:rPr>
              <a:t>+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i="1" dirty="0" smtClean="0">
                <a:solidFill>
                  <a:srgbClr val="C00000"/>
                </a:solidFill>
              </a:rPr>
              <a:t>y) </a:t>
            </a:r>
            <a:r>
              <a:rPr lang="en-US" altLang="zh-TW" sz="3200" i="1" dirty="0" smtClean="0"/>
              <a:t>+ </a:t>
            </a:r>
            <a:r>
              <a:rPr lang="en-US" altLang="zh-TW" sz="3200" i="1" dirty="0" err="1" smtClean="0"/>
              <a:t>xz</a:t>
            </a:r>
            <a:r>
              <a:rPr lang="en-US" altLang="zh-TW" sz="3200" i="1" dirty="0" smtClean="0"/>
              <a:t>(y'</a:t>
            </a:r>
            <a:r>
              <a:rPr lang="en-US" altLang="zh-TW" sz="3200" dirty="0"/>
              <a:t> </a:t>
            </a:r>
            <a:r>
              <a:rPr lang="en-US" altLang="zh-TW" sz="3200" i="1" dirty="0" smtClean="0"/>
              <a:t>+</a:t>
            </a:r>
            <a:r>
              <a:rPr lang="en-US" altLang="zh-TW" sz="3200" dirty="0" smtClean="0"/>
              <a:t> </a:t>
            </a:r>
            <a:r>
              <a:rPr lang="en-US" altLang="zh-TW" sz="3200" i="1" dirty="0" smtClean="0"/>
              <a:t>y)</a:t>
            </a:r>
          </a:p>
          <a:p>
            <a:pPr lvl="1">
              <a:lnSpc>
                <a:spcPct val="125000"/>
              </a:lnSpc>
            </a:pPr>
            <a:r>
              <a:rPr lang="en-US" altLang="zh-TW" sz="3200" i="1" dirty="0" smtClean="0"/>
              <a:t>= </a:t>
            </a:r>
            <a:r>
              <a:rPr lang="en-US" altLang="zh-TW" sz="3200" b="1" i="1" dirty="0" err="1" smtClean="0">
                <a:solidFill>
                  <a:srgbClr val="C00000"/>
                </a:solidFill>
              </a:rPr>
              <a:t>x'z</a:t>
            </a:r>
            <a:r>
              <a:rPr lang="en-US" altLang="zh-TW" sz="3200" i="1" dirty="0" smtClean="0"/>
              <a:t> + </a:t>
            </a:r>
            <a:r>
              <a:rPr lang="en-US" altLang="zh-TW" sz="3200" i="1" dirty="0" err="1" smtClean="0"/>
              <a:t>xz</a:t>
            </a:r>
            <a:r>
              <a:rPr lang="en-US" altLang="zh-TW" sz="3200" i="1" dirty="0" smtClean="0"/>
              <a:t> </a:t>
            </a:r>
          </a:p>
          <a:p>
            <a:pPr lvl="1">
              <a:lnSpc>
                <a:spcPct val="125000"/>
              </a:lnSpc>
            </a:pPr>
            <a:r>
              <a:rPr lang="en-US" altLang="zh-TW" sz="3200" i="1" dirty="0" smtClean="0"/>
              <a:t>= z</a:t>
            </a:r>
            <a:endParaRPr lang="en-US" altLang="zh-TW" sz="3200" i="1" dirty="0"/>
          </a:p>
        </p:txBody>
      </p:sp>
      <p:sp>
        <p:nvSpPr>
          <p:cNvPr id="6" name="圓角矩形 5"/>
          <p:cNvSpPr/>
          <p:nvPr/>
        </p:nvSpPr>
        <p:spPr>
          <a:xfrm>
            <a:off x="8907234" y="4041320"/>
            <a:ext cx="2065565" cy="102053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91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1854" y="1537998"/>
            <a:ext cx="3931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Four adjacent squares</a:t>
            </a:r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8F83C156-DC0F-49B4-B3BB-C3499EA606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10" b="11783"/>
          <a:stretch/>
        </p:blipFill>
        <p:spPr bwMode="auto">
          <a:xfrm>
            <a:off x="6900808" y="2957057"/>
            <a:ext cx="5291192" cy="3770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07796" y="2454570"/>
            <a:ext cx="678696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200" dirty="0" smtClean="0"/>
              <a:t>m</a:t>
            </a:r>
            <a:r>
              <a:rPr lang="en-US" altLang="zh-TW" sz="3200" baseline="-25000" dirty="0" smtClean="0"/>
              <a:t>1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+ m</a:t>
            </a:r>
            <a:r>
              <a:rPr lang="en-US" altLang="zh-TW" sz="3200" baseline="-25000" dirty="0" smtClean="0"/>
              <a:t>3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+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m</a:t>
            </a:r>
            <a:r>
              <a:rPr lang="en-US" altLang="zh-TW" sz="3200" baseline="-25000" dirty="0" smtClean="0"/>
              <a:t>5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+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m</a:t>
            </a:r>
            <a:r>
              <a:rPr lang="en-US" altLang="zh-TW" sz="3200" baseline="-25000" dirty="0" smtClean="0"/>
              <a:t>7</a:t>
            </a:r>
            <a:r>
              <a:rPr lang="en-US" altLang="zh-TW" sz="3200" dirty="0" smtClean="0"/>
              <a:t> </a:t>
            </a:r>
          </a:p>
          <a:p>
            <a:pPr lvl="1">
              <a:lnSpc>
                <a:spcPct val="125000"/>
              </a:lnSpc>
            </a:pPr>
            <a:r>
              <a:rPr lang="en-US" altLang="zh-TW" sz="3200" dirty="0" smtClean="0"/>
              <a:t>=</a:t>
            </a:r>
            <a:r>
              <a:rPr lang="en-US" altLang="zh-TW" sz="3200" i="1" dirty="0" smtClean="0"/>
              <a:t> </a:t>
            </a:r>
            <a:r>
              <a:rPr lang="en-US" altLang="zh-TW" sz="3200" i="1" dirty="0" err="1" smtClean="0"/>
              <a:t>x'y'z</a:t>
            </a:r>
            <a:r>
              <a:rPr lang="en-US" altLang="zh-TW" sz="3200" dirty="0"/>
              <a:t> </a:t>
            </a:r>
            <a:r>
              <a:rPr lang="en-US" altLang="zh-TW" sz="3200" i="1" dirty="0" smtClean="0"/>
              <a:t>+</a:t>
            </a:r>
            <a:r>
              <a:rPr lang="en-US" altLang="zh-TW" sz="3200" dirty="0"/>
              <a:t> </a:t>
            </a:r>
            <a:r>
              <a:rPr lang="en-US" altLang="zh-TW" sz="3200" i="1" dirty="0" err="1" smtClean="0"/>
              <a:t>x'yz</a:t>
            </a:r>
            <a:r>
              <a:rPr lang="en-US" altLang="zh-TW" sz="3200" dirty="0"/>
              <a:t> </a:t>
            </a:r>
            <a:r>
              <a:rPr lang="en-US" altLang="zh-TW" sz="3200" i="1" dirty="0" smtClean="0"/>
              <a:t>+</a:t>
            </a:r>
            <a:r>
              <a:rPr lang="en-US" altLang="zh-TW" sz="3200" dirty="0"/>
              <a:t> </a:t>
            </a:r>
            <a:r>
              <a:rPr lang="en-US" altLang="zh-TW" sz="3200" b="1" i="1" dirty="0" err="1" smtClean="0">
                <a:solidFill>
                  <a:srgbClr val="C00000"/>
                </a:solidFill>
              </a:rPr>
              <a:t>xy'z</a:t>
            </a:r>
            <a:r>
              <a:rPr lang="en-US" altLang="zh-TW" sz="3200" b="1" dirty="0">
                <a:solidFill>
                  <a:srgbClr val="C00000"/>
                </a:solidFill>
              </a:rPr>
              <a:t> </a:t>
            </a:r>
            <a:r>
              <a:rPr lang="en-US" altLang="zh-TW" sz="3200" b="1" i="1" dirty="0" smtClean="0">
                <a:solidFill>
                  <a:srgbClr val="C00000"/>
                </a:solidFill>
              </a:rPr>
              <a:t>+</a:t>
            </a:r>
            <a:r>
              <a:rPr lang="en-US" altLang="zh-TW" sz="3200" b="1" dirty="0">
                <a:solidFill>
                  <a:srgbClr val="C00000"/>
                </a:solidFill>
              </a:rPr>
              <a:t> </a:t>
            </a:r>
            <a:r>
              <a:rPr lang="en-US" altLang="zh-TW" sz="3200" b="1" i="1" dirty="0" smtClean="0">
                <a:solidFill>
                  <a:srgbClr val="C00000"/>
                </a:solidFill>
              </a:rPr>
              <a:t>xyz</a:t>
            </a:r>
          </a:p>
          <a:p>
            <a:pPr lvl="1">
              <a:lnSpc>
                <a:spcPct val="125000"/>
              </a:lnSpc>
            </a:pPr>
            <a:r>
              <a:rPr lang="en-US" altLang="zh-TW" sz="3200" i="1" dirty="0" smtClean="0"/>
              <a:t>=</a:t>
            </a:r>
            <a:r>
              <a:rPr lang="en-US" altLang="zh-TW" sz="3200" dirty="0" smtClean="0"/>
              <a:t> </a:t>
            </a:r>
            <a:r>
              <a:rPr lang="en-US" altLang="zh-TW" sz="3200" i="1" dirty="0" err="1" smtClean="0"/>
              <a:t>x'z</a:t>
            </a:r>
            <a:r>
              <a:rPr lang="en-US" altLang="zh-TW" sz="3200" i="1" dirty="0" smtClean="0"/>
              <a:t>(y'</a:t>
            </a:r>
            <a:r>
              <a:rPr lang="en-US" altLang="zh-TW" sz="3200" dirty="0"/>
              <a:t> </a:t>
            </a:r>
            <a:r>
              <a:rPr lang="en-US" altLang="zh-TW" sz="3200" i="1" dirty="0" smtClean="0"/>
              <a:t>+</a:t>
            </a:r>
            <a:r>
              <a:rPr lang="en-US" altLang="zh-TW" sz="3200" dirty="0" smtClean="0"/>
              <a:t> </a:t>
            </a:r>
            <a:r>
              <a:rPr lang="en-US" altLang="zh-TW" sz="3200" i="1" dirty="0" smtClean="0"/>
              <a:t>y) + </a:t>
            </a:r>
            <a:r>
              <a:rPr lang="en-US" altLang="zh-TW" sz="3200" b="1" i="1" dirty="0" err="1" smtClean="0">
                <a:solidFill>
                  <a:srgbClr val="C00000"/>
                </a:solidFill>
              </a:rPr>
              <a:t>xz</a:t>
            </a:r>
            <a:r>
              <a:rPr lang="en-US" altLang="zh-TW" sz="3200" b="1" i="1" dirty="0" smtClean="0">
                <a:solidFill>
                  <a:srgbClr val="C00000"/>
                </a:solidFill>
              </a:rPr>
              <a:t>(y'</a:t>
            </a:r>
            <a:r>
              <a:rPr lang="en-US" altLang="zh-TW" sz="3200" b="1" dirty="0">
                <a:solidFill>
                  <a:srgbClr val="C00000"/>
                </a:solidFill>
              </a:rPr>
              <a:t> </a:t>
            </a:r>
            <a:r>
              <a:rPr lang="en-US" altLang="zh-TW" sz="3200" b="1" i="1" dirty="0" smtClean="0">
                <a:solidFill>
                  <a:srgbClr val="C00000"/>
                </a:solidFill>
              </a:rPr>
              <a:t>+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i="1" dirty="0" smtClean="0">
                <a:solidFill>
                  <a:srgbClr val="C00000"/>
                </a:solidFill>
              </a:rPr>
              <a:t>y)</a:t>
            </a:r>
          </a:p>
          <a:p>
            <a:pPr lvl="1">
              <a:lnSpc>
                <a:spcPct val="125000"/>
              </a:lnSpc>
            </a:pPr>
            <a:r>
              <a:rPr lang="en-US" altLang="zh-TW" sz="3200" i="1" dirty="0" smtClean="0"/>
              <a:t>= </a:t>
            </a:r>
            <a:r>
              <a:rPr lang="en-US" altLang="zh-TW" sz="3200" i="1" dirty="0" err="1" smtClean="0"/>
              <a:t>x'z</a:t>
            </a:r>
            <a:r>
              <a:rPr lang="en-US" altLang="zh-TW" sz="3200" i="1" dirty="0" smtClean="0"/>
              <a:t> + </a:t>
            </a:r>
            <a:r>
              <a:rPr lang="en-US" altLang="zh-TW" sz="3200" b="1" i="1" dirty="0" err="1" smtClean="0">
                <a:solidFill>
                  <a:srgbClr val="C00000"/>
                </a:solidFill>
              </a:rPr>
              <a:t>xz</a:t>
            </a:r>
            <a:r>
              <a:rPr lang="en-US" altLang="zh-TW" sz="3200" i="1" dirty="0" smtClean="0"/>
              <a:t> </a:t>
            </a:r>
          </a:p>
          <a:p>
            <a:pPr lvl="1">
              <a:lnSpc>
                <a:spcPct val="125000"/>
              </a:lnSpc>
            </a:pPr>
            <a:r>
              <a:rPr lang="en-US" altLang="zh-TW" sz="3200" i="1" dirty="0" smtClean="0"/>
              <a:t>= z</a:t>
            </a:r>
            <a:endParaRPr lang="en-US" altLang="zh-TW" sz="3200" i="1" dirty="0"/>
          </a:p>
        </p:txBody>
      </p:sp>
      <p:sp>
        <p:nvSpPr>
          <p:cNvPr id="6" name="圓角矩形 5"/>
          <p:cNvSpPr/>
          <p:nvPr/>
        </p:nvSpPr>
        <p:spPr>
          <a:xfrm>
            <a:off x="8907234" y="5086350"/>
            <a:ext cx="2065565" cy="102053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8713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1854" y="1537998"/>
            <a:ext cx="3931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Four adjacent squares</a:t>
            </a:r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8F83C156-DC0F-49B4-B3BB-C3499EA606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10" b="11783"/>
          <a:stretch/>
        </p:blipFill>
        <p:spPr bwMode="auto">
          <a:xfrm>
            <a:off x="6900808" y="2957057"/>
            <a:ext cx="5291192" cy="3770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07796" y="2454570"/>
            <a:ext cx="6786967" cy="3121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200" dirty="0" smtClean="0"/>
              <a:t>m</a:t>
            </a:r>
            <a:r>
              <a:rPr lang="en-US" altLang="zh-TW" sz="3200" baseline="-25000" dirty="0" smtClean="0"/>
              <a:t>1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+ m</a:t>
            </a:r>
            <a:r>
              <a:rPr lang="en-US" altLang="zh-TW" sz="3200" baseline="-25000" dirty="0" smtClean="0"/>
              <a:t>3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+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m</a:t>
            </a:r>
            <a:r>
              <a:rPr lang="en-US" altLang="zh-TW" sz="3200" baseline="-25000" dirty="0" smtClean="0"/>
              <a:t>5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+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m</a:t>
            </a:r>
            <a:r>
              <a:rPr lang="en-US" altLang="zh-TW" sz="3200" baseline="-25000" dirty="0" smtClean="0"/>
              <a:t>7</a:t>
            </a:r>
            <a:r>
              <a:rPr lang="en-US" altLang="zh-TW" sz="3200" dirty="0" smtClean="0"/>
              <a:t> </a:t>
            </a:r>
          </a:p>
          <a:p>
            <a:pPr lvl="1">
              <a:lnSpc>
                <a:spcPct val="125000"/>
              </a:lnSpc>
            </a:pPr>
            <a:r>
              <a:rPr lang="en-US" altLang="zh-TW" sz="3200" dirty="0" smtClean="0"/>
              <a:t>=</a:t>
            </a:r>
            <a:r>
              <a:rPr lang="en-US" altLang="zh-TW" sz="3200" i="1" dirty="0" smtClean="0"/>
              <a:t> </a:t>
            </a:r>
            <a:r>
              <a:rPr lang="en-US" altLang="zh-TW" sz="3200" i="1" dirty="0" err="1" smtClean="0"/>
              <a:t>x'y'z</a:t>
            </a:r>
            <a:r>
              <a:rPr lang="en-US" altLang="zh-TW" sz="3200" dirty="0"/>
              <a:t> </a:t>
            </a:r>
            <a:r>
              <a:rPr lang="en-US" altLang="zh-TW" sz="3200" i="1" dirty="0" smtClean="0"/>
              <a:t>+</a:t>
            </a:r>
            <a:r>
              <a:rPr lang="en-US" altLang="zh-TW" sz="3200" dirty="0"/>
              <a:t> </a:t>
            </a:r>
            <a:r>
              <a:rPr lang="en-US" altLang="zh-TW" sz="3200" i="1" dirty="0" err="1" smtClean="0"/>
              <a:t>x'yz</a:t>
            </a:r>
            <a:r>
              <a:rPr lang="en-US" altLang="zh-TW" sz="3200" dirty="0"/>
              <a:t> </a:t>
            </a:r>
            <a:r>
              <a:rPr lang="en-US" altLang="zh-TW" sz="3200" i="1" dirty="0" smtClean="0"/>
              <a:t>+</a:t>
            </a:r>
            <a:r>
              <a:rPr lang="en-US" altLang="zh-TW" sz="3200" dirty="0"/>
              <a:t> </a:t>
            </a:r>
            <a:r>
              <a:rPr lang="en-US" altLang="zh-TW" sz="3200" i="1" dirty="0" err="1" smtClean="0"/>
              <a:t>xy'z</a:t>
            </a:r>
            <a:r>
              <a:rPr lang="en-US" altLang="zh-TW" sz="3200" dirty="0"/>
              <a:t> </a:t>
            </a:r>
            <a:r>
              <a:rPr lang="en-US" altLang="zh-TW" sz="3200" i="1" dirty="0" smtClean="0"/>
              <a:t>+</a:t>
            </a:r>
            <a:r>
              <a:rPr lang="en-US" altLang="zh-TW" sz="3200" dirty="0"/>
              <a:t> </a:t>
            </a:r>
            <a:r>
              <a:rPr lang="en-US" altLang="zh-TW" sz="3200" i="1" dirty="0" smtClean="0"/>
              <a:t>xyz</a:t>
            </a:r>
          </a:p>
          <a:p>
            <a:pPr lvl="1">
              <a:lnSpc>
                <a:spcPct val="125000"/>
              </a:lnSpc>
            </a:pPr>
            <a:r>
              <a:rPr lang="en-US" altLang="zh-TW" sz="3200" i="1" dirty="0" smtClean="0"/>
              <a:t>=</a:t>
            </a:r>
            <a:r>
              <a:rPr lang="en-US" altLang="zh-TW" sz="3200" dirty="0" smtClean="0"/>
              <a:t> </a:t>
            </a:r>
            <a:r>
              <a:rPr lang="en-US" altLang="zh-TW" sz="3200" i="1" dirty="0" err="1" smtClean="0"/>
              <a:t>x'z</a:t>
            </a:r>
            <a:r>
              <a:rPr lang="en-US" altLang="zh-TW" sz="3200" i="1" dirty="0" smtClean="0"/>
              <a:t>(y'</a:t>
            </a:r>
            <a:r>
              <a:rPr lang="en-US" altLang="zh-TW" sz="3200" dirty="0"/>
              <a:t> </a:t>
            </a:r>
            <a:r>
              <a:rPr lang="en-US" altLang="zh-TW" sz="3200" i="1" dirty="0" smtClean="0"/>
              <a:t>+</a:t>
            </a:r>
            <a:r>
              <a:rPr lang="en-US" altLang="zh-TW" sz="3200" dirty="0" smtClean="0"/>
              <a:t> </a:t>
            </a:r>
            <a:r>
              <a:rPr lang="en-US" altLang="zh-TW" sz="3200" i="1" dirty="0" smtClean="0"/>
              <a:t>y) + </a:t>
            </a:r>
            <a:r>
              <a:rPr lang="en-US" altLang="zh-TW" sz="3200" i="1" dirty="0" err="1" smtClean="0"/>
              <a:t>xz</a:t>
            </a:r>
            <a:r>
              <a:rPr lang="en-US" altLang="zh-TW" sz="3200" i="1" dirty="0" smtClean="0"/>
              <a:t>(y'</a:t>
            </a:r>
            <a:r>
              <a:rPr lang="en-US" altLang="zh-TW" sz="3200" dirty="0"/>
              <a:t> </a:t>
            </a:r>
            <a:r>
              <a:rPr lang="en-US" altLang="zh-TW" sz="3200" i="1" dirty="0" smtClean="0"/>
              <a:t>+</a:t>
            </a:r>
            <a:r>
              <a:rPr lang="en-US" altLang="zh-TW" sz="3200" dirty="0" smtClean="0"/>
              <a:t> </a:t>
            </a:r>
            <a:r>
              <a:rPr lang="en-US" altLang="zh-TW" sz="3200" i="1" dirty="0" smtClean="0"/>
              <a:t>y)</a:t>
            </a:r>
          </a:p>
          <a:p>
            <a:pPr lvl="1">
              <a:lnSpc>
                <a:spcPct val="125000"/>
              </a:lnSpc>
            </a:pPr>
            <a:r>
              <a:rPr lang="en-US" altLang="zh-TW" sz="3200" i="1" dirty="0" smtClean="0"/>
              <a:t>= </a:t>
            </a:r>
            <a:r>
              <a:rPr lang="en-US" altLang="zh-TW" sz="3200" i="1" dirty="0" err="1" smtClean="0"/>
              <a:t>x'z</a:t>
            </a:r>
            <a:r>
              <a:rPr lang="en-US" altLang="zh-TW" sz="3200" i="1" dirty="0" smtClean="0"/>
              <a:t> + </a:t>
            </a:r>
            <a:r>
              <a:rPr lang="en-US" altLang="zh-TW" sz="3200" i="1" dirty="0" err="1" smtClean="0"/>
              <a:t>xz</a:t>
            </a:r>
            <a:r>
              <a:rPr lang="en-US" altLang="zh-TW" sz="3200" i="1" dirty="0" smtClean="0"/>
              <a:t> </a:t>
            </a:r>
          </a:p>
          <a:p>
            <a:pPr lvl="1">
              <a:lnSpc>
                <a:spcPct val="125000"/>
              </a:lnSpc>
            </a:pPr>
            <a:r>
              <a:rPr lang="en-US" altLang="zh-TW" sz="3200" i="1" dirty="0" smtClean="0"/>
              <a:t>= z</a:t>
            </a:r>
            <a:endParaRPr lang="en-US" altLang="zh-TW" sz="3200" i="1" dirty="0"/>
          </a:p>
        </p:txBody>
      </p:sp>
      <p:sp>
        <p:nvSpPr>
          <p:cNvPr id="6" name="圓角矩形 5"/>
          <p:cNvSpPr/>
          <p:nvPr/>
        </p:nvSpPr>
        <p:spPr>
          <a:xfrm>
            <a:off x="8907234" y="4041320"/>
            <a:ext cx="2065565" cy="206556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3448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1854" y="1537998"/>
            <a:ext cx="3931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Four adjacent squares</a:t>
            </a:r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8F83C156-DC0F-49B4-B3BB-C3499EA606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10" b="11783"/>
          <a:stretch/>
        </p:blipFill>
        <p:spPr bwMode="auto">
          <a:xfrm>
            <a:off x="6574236" y="3087685"/>
            <a:ext cx="5291192" cy="3770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07797" y="2454570"/>
            <a:ext cx="6096000" cy="312156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200" dirty="0" smtClean="0"/>
              <a:t>m</a:t>
            </a:r>
            <a:r>
              <a:rPr lang="en-US" altLang="zh-TW" sz="3200" baseline="-25000" dirty="0" smtClean="0"/>
              <a:t>0</a:t>
            </a:r>
            <a:r>
              <a:rPr lang="zh-TW" altLang="en-US" sz="3200" dirty="0"/>
              <a:t> </a:t>
            </a:r>
            <a:r>
              <a:rPr lang="en-US" altLang="zh-TW" sz="3200" dirty="0" smtClean="0"/>
              <a:t>+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m</a:t>
            </a:r>
            <a:r>
              <a:rPr lang="en-US" altLang="zh-TW" sz="3200" baseline="-25000" dirty="0" smtClean="0"/>
              <a:t>2</a:t>
            </a:r>
            <a:r>
              <a:rPr lang="zh-TW" altLang="en-US" sz="3200" dirty="0"/>
              <a:t> </a:t>
            </a:r>
            <a:r>
              <a:rPr lang="en-US" altLang="zh-TW" sz="3200" dirty="0" smtClean="0"/>
              <a:t>+</a:t>
            </a:r>
            <a:r>
              <a:rPr lang="zh-TW" altLang="en-US" sz="3200" dirty="0"/>
              <a:t> </a:t>
            </a:r>
            <a:r>
              <a:rPr lang="en-US" altLang="zh-TW" sz="3200" dirty="0" smtClean="0"/>
              <a:t>m</a:t>
            </a:r>
            <a:r>
              <a:rPr lang="en-US" altLang="zh-TW" sz="3200" baseline="-25000" dirty="0" smtClean="0"/>
              <a:t>4</a:t>
            </a:r>
            <a:r>
              <a:rPr lang="zh-TW" altLang="en-US" sz="3200" dirty="0"/>
              <a:t> </a:t>
            </a:r>
            <a:r>
              <a:rPr lang="en-US" altLang="zh-TW" sz="3200" dirty="0" smtClean="0"/>
              <a:t>+</a:t>
            </a:r>
            <a:r>
              <a:rPr lang="zh-TW" altLang="en-US" sz="3200" dirty="0"/>
              <a:t> </a:t>
            </a:r>
            <a:r>
              <a:rPr lang="en-US" altLang="zh-TW" sz="3200" dirty="0" smtClean="0"/>
              <a:t>m</a:t>
            </a:r>
            <a:r>
              <a:rPr lang="en-US" altLang="zh-TW" sz="3200" baseline="-25000" dirty="0" smtClean="0"/>
              <a:t>6</a:t>
            </a:r>
            <a:r>
              <a:rPr lang="en-US" altLang="zh-TW" sz="3200" dirty="0" smtClean="0"/>
              <a:t> </a:t>
            </a:r>
          </a:p>
          <a:p>
            <a:pPr lvl="1">
              <a:lnSpc>
                <a:spcPct val="125000"/>
              </a:lnSpc>
            </a:pPr>
            <a:r>
              <a:rPr lang="en-US" altLang="zh-TW" sz="3200" dirty="0" smtClean="0"/>
              <a:t>= </a:t>
            </a:r>
            <a:r>
              <a:rPr lang="en-US" altLang="zh-TW" sz="3200" i="1" dirty="0" err="1"/>
              <a:t>x'y'z</a:t>
            </a:r>
            <a:r>
              <a:rPr lang="en-US" altLang="zh-TW" sz="3200" i="1" dirty="0" smtClean="0"/>
              <a:t>'</a:t>
            </a:r>
            <a:r>
              <a:rPr lang="zh-TW" altLang="en-US" sz="3200" dirty="0"/>
              <a:t> </a:t>
            </a:r>
            <a:r>
              <a:rPr lang="en-US" altLang="zh-TW" sz="3200" i="1" dirty="0" smtClean="0"/>
              <a:t>+</a:t>
            </a:r>
            <a:r>
              <a:rPr lang="zh-TW" altLang="en-US" sz="3200" dirty="0"/>
              <a:t> </a:t>
            </a:r>
            <a:r>
              <a:rPr lang="en-US" altLang="zh-TW" sz="3200" i="1" dirty="0" err="1" smtClean="0"/>
              <a:t>x'yz</a:t>
            </a:r>
            <a:r>
              <a:rPr lang="en-US" altLang="zh-TW" sz="3200" i="1" dirty="0" smtClean="0"/>
              <a:t>'</a:t>
            </a:r>
            <a:r>
              <a:rPr lang="zh-TW" altLang="en-US" sz="3200" dirty="0"/>
              <a:t> </a:t>
            </a:r>
            <a:r>
              <a:rPr lang="en-US" altLang="zh-TW" sz="3200" i="1" dirty="0" smtClean="0"/>
              <a:t>+</a:t>
            </a:r>
            <a:r>
              <a:rPr lang="zh-TW" altLang="en-US" sz="3200" dirty="0"/>
              <a:t> </a:t>
            </a:r>
            <a:r>
              <a:rPr lang="en-US" altLang="zh-TW" sz="3200" i="1" dirty="0" err="1" smtClean="0"/>
              <a:t>xy'z</a:t>
            </a:r>
            <a:r>
              <a:rPr lang="en-US" altLang="zh-TW" sz="3200" i="1" dirty="0" smtClean="0"/>
              <a:t>'</a:t>
            </a:r>
            <a:r>
              <a:rPr lang="zh-TW" altLang="en-US" sz="3200" dirty="0"/>
              <a:t> </a:t>
            </a:r>
            <a:r>
              <a:rPr lang="en-US" altLang="zh-TW" sz="3200" i="1" dirty="0" smtClean="0"/>
              <a:t>+</a:t>
            </a:r>
            <a:r>
              <a:rPr lang="zh-TW" altLang="en-US" sz="3200" dirty="0"/>
              <a:t> </a:t>
            </a:r>
            <a:r>
              <a:rPr lang="en-US" altLang="zh-TW" sz="3200" i="1" dirty="0" smtClean="0"/>
              <a:t>xyz</a:t>
            </a:r>
            <a:r>
              <a:rPr lang="en-US" altLang="zh-TW" sz="3200" i="1" dirty="0"/>
              <a:t>'	</a:t>
            </a:r>
            <a:endParaRPr lang="en-US" altLang="zh-TW" sz="32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200" i="1" dirty="0" smtClean="0"/>
              <a:t>= </a:t>
            </a:r>
            <a:r>
              <a:rPr lang="en-US" altLang="zh-TW" sz="3200" i="1" dirty="0" err="1"/>
              <a:t>x'z</a:t>
            </a:r>
            <a:r>
              <a:rPr lang="en-US" altLang="zh-TW" sz="3200" i="1" dirty="0"/>
              <a:t>'(y</a:t>
            </a:r>
            <a:r>
              <a:rPr lang="en-US" altLang="zh-TW" sz="3200" i="1" dirty="0" smtClean="0"/>
              <a:t>'</a:t>
            </a:r>
            <a:r>
              <a:rPr lang="zh-TW" altLang="en-US" sz="3200" dirty="0"/>
              <a:t> </a:t>
            </a:r>
            <a:r>
              <a:rPr lang="en-US" altLang="zh-TW" sz="3200" i="1" dirty="0" smtClean="0"/>
              <a:t>+</a:t>
            </a:r>
            <a:r>
              <a:rPr lang="zh-TW" altLang="en-US" sz="3200" dirty="0"/>
              <a:t> </a:t>
            </a:r>
            <a:r>
              <a:rPr lang="en-US" altLang="zh-TW" sz="3200" i="1" dirty="0" smtClean="0"/>
              <a:t>y</a:t>
            </a:r>
            <a:r>
              <a:rPr lang="en-US" altLang="zh-TW" sz="3200" i="1" dirty="0"/>
              <a:t>) </a:t>
            </a:r>
            <a:r>
              <a:rPr lang="en-US" altLang="zh-TW" sz="3200" i="1" dirty="0" smtClean="0"/>
              <a:t>+</a:t>
            </a:r>
            <a:r>
              <a:rPr lang="zh-TW" altLang="en-US" sz="3200" dirty="0"/>
              <a:t> </a:t>
            </a:r>
            <a:r>
              <a:rPr lang="en-US" altLang="zh-TW" sz="3200" i="1" dirty="0" err="1" smtClean="0"/>
              <a:t>xz</a:t>
            </a:r>
            <a:r>
              <a:rPr lang="en-US" altLang="zh-TW" sz="3200" i="1" dirty="0"/>
              <a:t>'(y</a:t>
            </a:r>
            <a:r>
              <a:rPr lang="en-US" altLang="zh-TW" sz="3200" i="1" dirty="0" smtClean="0"/>
              <a:t>'</a:t>
            </a:r>
            <a:r>
              <a:rPr lang="zh-TW" altLang="en-US" sz="3200" dirty="0"/>
              <a:t> </a:t>
            </a:r>
            <a:r>
              <a:rPr lang="en-US" altLang="zh-TW" sz="3200" i="1" dirty="0" smtClean="0"/>
              <a:t>+</a:t>
            </a:r>
            <a:r>
              <a:rPr lang="zh-TW" altLang="en-US" sz="3200" dirty="0"/>
              <a:t> </a:t>
            </a:r>
            <a:r>
              <a:rPr lang="en-US" altLang="zh-TW" sz="3200" i="1" dirty="0" smtClean="0"/>
              <a:t>y</a:t>
            </a:r>
            <a:r>
              <a:rPr lang="en-US" altLang="zh-TW" sz="3200" i="1" dirty="0"/>
              <a:t>)		</a:t>
            </a:r>
            <a:endParaRPr lang="en-US" altLang="zh-TW" sz="32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200" i="1" dirty="0" smtClean="0"/>
              <a:t>= </a:t>
            </a:r>
            <a:r>
              <a:rPr lang="en-US" altLang="zh-TW" sz="3200" i="1" dirty="0" err="1"/>
              <a:t>x'z</a:t>
            </a:r>
            <a:r>
              <a:rPr lang="en-US" altLang="zh-TW" sz="3200" i="1" dirty="0"/>
              <a:t>' + </a:t>
            </a:r>
            <a:r>
              <a:rPr lang="en-US" altLang="zh-TW" sz="3200" i="1" dirty="0" err="1"/>
              <a:t>xz</a:t>
            </a:r>
            <a:r>
              <a:rPr lang="en-US" altLang="zh-TW" sz="3200" i="1" dirty="0"/>
              <a:t>‘ </a:t>
            </a:r>
            <a:endParaRPr lang="en-US" altLang="zh-TW" sz="3200" i="1" dirty="0" smtClean="0"/>
          </a:p>
          <a:p>
            <a:pPr lvl="1">
              <a:lnSpc>
                <a:spcPct val="125000"/>
              </a:lnSpc>
            </a:pPr>
            <a:r>
              <a:rPr lang="en-US" altLang="zh-TW" sz="3200" i="1" dirty="0" smtClean="0"/>
              <a:t>= </a:t>
            </a:r>
            <a:r>
              <a:rPr lang="en-US" altLang="zh-TW" sz="3200" i="1" dirty="0"/>
              <a:t>z'</a:t>
            </a:r>
          </a:p>
        </p:txBody>
      </p:sp>
      <p:grpSp>
        <p:nvGrpSpPr>
          <p:cNvPr id="8" name="群組 7"/>
          <p:cNvGrpSpPr/>
          <p:nvPr/>
        </p:nvGrpSpPr>
        <p:grpSpPr>
          <a:xfrm>
            <a:off x="7127420" y="4202389"/>
            <a:ext cx="1448866" cy="2011739"/>
            <a:chOff x="7453992" y="4071761"/>
            <a:chExt cx="1448866" cy="2011739"/>
          </a:xfrm>
        </p:grpSpPr>
        <p:sp>
          <p:nvSpPr>
            <p:cNvPr id="7" name="手繪多邊形 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 8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7" name="群組 16"/>
          <p:cNvGrpSpPr/>
          <p:nvPr/>
        </p:nvGrpSpPr>
        <p:grpSpPr>
          <a:xfrm flipH="1">
            <a:off x="10643506" y="4211107"/>
            <a:ext cx="1448866" cy="2011739"/>
            <a:chOff x="7453992" y="4071761"/>
            <a:chExt cx="1448866" cy="2011739"/>
          </a:xfrm>
        </p:grpSpPr>
        <p:sp>
          <p:nvSpPr>
            <p:cNvPr id="18" name="手繪多邊形 17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 18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38704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79630" y="3440276"/>
            <a:ext cx="743274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6600" b="1" dirty="0">
                <a:solidFill>
                  <a:srgbClr val="C00000"/>
                </a:solidFill>
              </a:rPr>
              <a:t>2, 4, </a:t>
            </a:r>
            <a:r>
              <a:rPr lang="en-US" altLang="zh-TW" sz="6600" b="1" dirty="0" smtClean="0">
                <a:solidFill>
                  <a:srgbClr val="C00000"/>
                </a:solidFill>
              </a:rPr>
              <a:t>and 8 </a:t>
            </a:r>
            <a:r>
              <a:rPr lang="en-US" altLang="zh-TW" sz="6600" b="1" dirty="0">
                <a:solidFill>
                  <a:srgbClr val="C00000"/>
                </a:solidFill>
              </a:rPr>
              <a:t>squares</a:t>
            </a:r>
          </a:p>
        </p:txBody>
      </p:sp>
    </p:spTree>
    <p:extLst>
      <p:ext uri="{BB962C8B-B14F-4D97-AF65-F5344CB8AC3E}">
        <p14:creationId xmlns:p14="http://schemas.microsoft.com/office/powerpoint/2010/main" val="3165334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6754" y="2103506"/>
            <a:ext cx="1034129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zh-TW" sz="3200" i="1" dirty="0" err="1" smtClean="0"/>
              <a:t>x‘y’z</a:t>
            </a:r>
            <a:r>
              <a:rPr lang="en-US" altLang="zh-TW" sz="3200" i="1" dirty="0" smtClean="0"/>
              <a:t>‘</a:t>
            </a:r>
            <a:r>
              <a:rPr lang="zh-TW" altLang="en-US" sz="3200" dirty="0" smtClean="0"/>
              <a:t> </a:t>
            </a:r>
            <a:r>
              <a:rPr lang="en-US" altLang="zh-TW" sz="3200" i="1" dirty="0"/>
              <a:t>+</a:t>
            </a:r>
            <a:r>
              <a:rPr lang="zh-TW" altLang="en-US" sz="3200" dirty="0"/>
              <a:t> </a:t>
            </a:r>
            <a:r>
              <a:rPr lang="en-US" altLang="zh-TW" sz="3200" i="1" dirty="0" err="1" smtClean="0"/>
              <a:t>x’yz</a:t>
            </a:r>
            <a:r>
              <a:rPr lang="en-US" altLang="zh-TW" sz="3200" i="1" dirty="0" smtClean="0"/>
              <a:t>‘</a:t>
            </a:r>
            <a:r>
              <a:rPr lang="zh-TW" altLang="en-US" sz="3200" dirty="0" smtClean="0"/>
              <a:t> </a:t>
            </a:r>
            <a:r>
              <a:rPr lang="en-US" altLang="zh-TW" sz="3200" i="1" dirty="0"/>
              <a:t>+</a:t>
            </a:r>
            <a:r>
              <a:rPr lang="zh-TW" altLang="en-US" sz="3200" dirty="0"/>
              <a:t> </a:t>
            </a:r>
            <a:r>
              <a:rPr lang="en-US" altLang="zh-TW" sz="3200" i="1" dirty="0" err="1" smtClean="0"/>
              <a:t>xy’z</a:t>
            </a:r>
            <a:r>
              <a:rPr lang="en-US" altLang="zh-TW" sz="3200" i="1" dirty="0" smtClean="0"/>
              <a:t>‘</a:t>
            </a:r>
            <a:r>
              <a:rPr lang="zh-TW" altLang="en-US" sz="3200" dirty="0" smtClean="0"/>
              <a:t> </a:t>
            </a:r>
            <a:r>
              <a:rPr lang="en-US" altLang="zh-TW" sz="3200" i="1" dirty="0"/>
              <a:t>+</a:t>
            </a:r>
            <a:r>
              <a:rPr lang="zh-TW" altLang="en-US" sz="3200" dirty="0"/>
              <a:t> </a:t>
            </a:r>
            <a:r>
              <a:rPr lang="en-US" altLang="zh-TW" sz="3200" i="1" dirty="0" smtClean="0"/>
              <a:t>xyz’ +</a:t>
            </a:r>
            <a:r>
              <a:rPr lang="zh-TW" altLang="en-US" sz="3200" i="1" dirty="0" smtClean="0"/>
              <a:t> </a:t>
            </a:r>
            <a:r>
              <a:rPr lang="en-US" altLang="zh-TW" sz="3200" i="1" dirty="0" err="1" smtClean="0"/>
              <a:t>x'y'z</a:t>
            </a:r>
            <a:r>
              <a:rPr lang="en-US" altLang="zh-TW" sz="3200" dirty="0" smtClean="0"/>
              <a:t> </a:t>
            </a:r>
            <a:r>
              <a:rPr lang="en-US" altLang="zh-TW" sz="3200" i="1" dirty="0"/>
              <a:t>+</a:t>
            </a:r>
            <a:r>
              <a:rPr lang="en-US" altLang="zh-TW" sz="3200" dirty="0"/>
              <a:t> </a:t>
            </a:r>
            <a:r>
              <a:rPr lang="en-US" altLang="zh-TW" sz="3200" i="1" dirty="0" err="1"/>
              <a:t>x'yz</a:t>
            </a:r>
            <a:r>
              <a:rPr lang="en-US" altLang="zh-TW" sz="3200" dirty="0"/>
              <a:t> </a:t>
            </a:r>
            <a:r>
              <a:rPr lang="en-US" altLang="zh-TW" sz="3200" i="1" dirty="0"/>
              <a:t>+</a:t>
            </a:r>
            <a:r>
              <a:rPr lang="en-US" altLang="zh-TW" sz="3200" dirty="0"/>
              <a:t> </a:t>
            </a:r>
            <a:r>
              <a:rPr lang="en-US" altLang="zh-TW" sz="3200" i="1" dirty="0" err="1"/>
              <a:t>xy'z</a:t>
            </a:r>
            <a:r>
              <a:rPr lang="en-US" altLang="zh-TW" sz="3200" dirty="0"/>
              <a:t> </a:t>
            </a:r>
            <a:r>
              <a:rPr lang="en-US" altLang="zh-TW" sz="3200" i="1" dirty="0"/>
              <a:t>+</a:t>
            </a:r>
            <a:r>
              <a:rPr lang="en-US" altLang="zh-TW" sz="3200" dirty="0"/>
              <a:t> </a:t>
            </a:r>
            <a:r>
              <a:rPr lang="en-US" altLang="zh-TW" sz="3200" i="1" dirty="0"/>
              <a:t>xyz 	</a:t>
            </a:r>
          </a:p>
        </p:txBody>
      </p:sp>
      <p:sp>
        <p:nvSpPr>
          <p:cNvPr id="8" name="左大括弧 7"/>
          <p:cNvSpPr/>
          <p:nvPr/>
        </p:nvSpPr>
        <p:spPr>
          <a:xfrm rot="16200000">
            <a:off x="1959430" y="2341944"/>
            <a:ext cx="542925" cy="1481821"/>
          </a:xfrm>
          <a:prstGeom prst="lef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左大括弧 8"/>
          <p:cNvSpPr/>
          <p:nvPr/>
        </p:nvSpPr>
        <p:spPr>
          <a:xfrm rot="16200000">
            <a:off x="4482194" y="2341943"/>
            <a:ext cx="542925" cy="1481821"/>
          </a:xfrm>
          <a:prstGeom prst="lef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左大括弧 9"/>
          <p:cNvSpPr/>
          <p:nvPr/>
        </p:nvSpPr>
        <p:spPr>
          <a:xfrm rot="16200000">
            <a:off x="6931479" y="2365083"/>
            <a:ext cx="542925" cy="1481821"/>
          </a:xfrm>
          <a:prstGeom prst="lef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左大括弧 10"/>
          <p:cNvSpPr/>
          <p:nvPr/>
        </p:nvSpPr>
        <p:spPr>
          <a:xfrm rot="16200000">
            <a:off x="9209314" y="2380058"/>
            <a:ext cx="542925" cy="1481821"/>
          </a:xfrm>
          <a:prstGeom prst="lef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1747293" y="3392431"/>
            <a:ext cx="7906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i="1" dirty="0" err="1" smtClean="0"/>
              <a:t>x‘z</a:t>
            </a:r>
            <a:r>
              <a:rPr lang="en-US" altLang="zh-TW" sz="3200" i="1" dirty="0"/>
              <a:t>‘</a:t>
            </a:r>
            <a:endParaRPr lang="zh-TW" altLang="en-US" sz="3200" dirty="0"/>
          </a:p>
        </p:txBody>
      </p:sp>
      <p:sp>
        <p:nvSpPr>
          <p:cNvPr id="13" name="矩形 12"/>
          <p:cNvSpPr/>
          <p:nvPr/>
        </p:nvSpPr>
        <p:spPr>
          <a:xfrm>
            <a:off x="4413659" y="3377456"/>
            <a:ext cx="6799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i="1" dirty="0" err="1" smtClean="0"/>
              <a:t>xz</a:t>
            </a:r>
            <a:r>
              <a:rPr lang="en-US" altLang="zh-TW" sz="3200" i="1" dirty="0"/>
              <a:t>‘</a:t>
            </a:r>
            <a:endParaRPr lang="zh-TW" altLang="en-US" sz="3200" dirty="0"/>
          </a:p>
        </p:txBody>
      </p:sp>
      <p:sp>
        <p:nvSpPr>
          <p:cNvPr id="14" name="矩形 13"/>
          <p:cNvSpPr/>
          <p:nvPr/>
        </p:nvSpPr>
        <p:spPr>
          <a:xfrm>
            <a:off x="6862944" y="3392431"/>
            <a:ext cx="6799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i="1" dirty="0" err="1" smtClean="0"/>
              <a:t>x’z</a:t>
            </a:r>
            <a:endParaRPr lang="zh-TW" altLang="en-US" sz="3200" dirty="0"/>
          </a:p>
        </p:txBody>
      </p:sp>
      <p:sp>
        <p:nvSpPr>
          <p:cNvPr id="15" name="矩形 14"/>
          <p:cNvSpPr/>
          <p:nvPr/>
        </p:nvSpPr>
        <p:spPr>
          <a:xfrm>
            <a:off x="9140780" y="3377455"/>
            <a:ext cx="5693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i="1" dirty="0" err="1" smtClean="0"/>
              <a:t>xz</a:t>
            </a:r>
            <a:endParaRPr lang="zh-TW" altLang="en-US" sz="3200" dirty="0"/>
          </a:p>
        </p:txBody>
      </p:sp>
      <p:sp>
        <p:nvSpPr>
          <p:cNvPr id="16" name="左大括弧 15"/>
          <p:cNvSpPr/>
          <p:nvPr/>
        </p:nvSpPr>
        <p:spPr>
          <a:xfrm rot="16200000">
            <a:off x="3163395" y="2956563"/>
            <a:ext cx="542925" cy="2584529"/>
          </a:xfrm>
          <a:prstGeom prst="lef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3253991" y="3392431"/>
            <a:ext cx="458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+</a:t>
            </a:r>
            <a:endParaRPr lang="zh-TW" altLang="en-US" sz="32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5748908" y="3377454"/>
            <a:ext cx="458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+</a:t>
            </a:r>
            <a:endParaRPr lang="zh-TW" altLang="en-US" sz="32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8125101" y="3354317"/>
            <a:ext cx="458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+</a:t>
            </a:r>
            <a:endParaRPr lang="zh-TW" altLang="en-US" sz="3200" dirty="0"/>
          </a:p>
        </p:txBody>
      </p:sp>
      <p:sp>
        <p:nvSpPr>
          <p:cNvPr id="21" name="矩形 20"/>
          <p:cNvSpPr/>
          <p:nvPr/>
        </p:nvSpPr>
        <p:spPr>
          <a:xfrm>
            <a:off x="3197452" y="4600253"/>
            <a:ext cx="4748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i="1" dirty="0" smtClean="0"/>
              <a:t>z</a:t>
            </a:r>
            <a:r>
              <a:rPr lang="en-US" altLang="zh-TW" sz="3200" i="1" dirty="0"/>
              <a:t>‘</a:t>
            </a:r>
            <a:endParaRPr lang="zh-TW" altLang="en-US" sz="3200" dirty="0"/>
          </a:p>
        </p:txBody>
      </p:sp>
      <p:sp>
        <p:nvSpPr>
          <p:cNvPr id="22" name="左大括弧 21"/>
          <p:cNvSpPr/>
          <p:nvPr/>
        </p:nvSpPr>
        <p:spPr>
          <a:xfrm rot="16200000">
            <a:off x="8009223" y="3033601"/>
            <a:ext cx="542925" cy="2400182"/>
          </a:xfrm>
          <a:prstGeom prst="lef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8098584" y="4532902"/>
            <a:ext cx="3642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i="1" dirty="0" smtClean="0"/>
              <a:t>z</a:t>
            </a:r>
            <a:endParaRPr lang="zh-TW" altLang="en-US" sz="32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5748908" y="4600253"/>
            <a:ext cx="458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+</a:t>
            </a:r>
            <a:endParaRPr lang="zh-TW" altLang="en-US" sz="3200" dirty="0"/>
          </a:p>
        </p:txBody>
      </p:sp>
      <p:sp>
        <p:nvSpPr>
          <p:cNvPr id="25" name="左大括弧 24"/>
          <p:cNvSpPr/>
          <p:nvPr/>
        </p:nvSpPr>
        <p:spPr>
          <a:xfrm rot="16200000">
            <a:off x="5536140" y="3042656"/>
            <a:ext cx="542925" cy="4827668"/>
          </a:xfrm>
          <a:prstGeom prst="lef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5578212" y="5864900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37750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1513" y="1606813"/>
            <a:ext cx="8561615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TW" sz="3600" b="1" dirty="0">
                <a:solidFill>
                  <a:srgbClr val="C00000"/>
                </a:solidFill>
              </a:rPr>
              <a:t>Example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3-3: </a:t>
            </a:r>
            <a:r>
              <a:rPr lang="en-US" altLang="zh-TW" sz="3600" b="1" i="1" dirty="0" smtClean="0"/>
              <a:t>F(x, y, z</a:t>
            </a:r>
            <a:r>
              <a:rPr lang="en-US" altLang="zh-TW" sz="3600" b="1" i="1" dirty="0"/>
              <a:t>) </a:t>
            </a:r>
            <a:r>
              <a:rPr lang="en-US" altLang="zh-TW" sz="3600" b="1" dirty="0"/>
              <a:t>= </a:t>
            </a:r>
            <a:r>
              <a:rPr lang="en-US" altLang="zh-TW" sz="3600" b="1" dirty="0">
                <a:latin typeface="Symbol" panose="05050102010706020507" pitchFamily="18" charset="2"/>
              </a:rPr>
              <a:t>S</a:t>
            </a:r>
            <a:r>
              <a:rPr lang="en-US" altLang="zh-TW" sz="3600" b="1" dirty="0"/>
              <a:t>(0</a:t>
            </a:r>
            <a:r>
              <a:rPr lang="en-US" altLang="zh-TW" sz="3600" b="1" dirty="0" smtClean="0"/>
              <a:t>, 2, 4, 5, 6</a:t>
            </a:r>
            <a:r>
              <a:rPr lang="en-US" altLang="zh-TW" sz="36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05938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1513" y="1606813"/>
            <a:ext cx="8561615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TW" sz="3600" b="1" dirty="0">
                <a:solidFill>
                  <a:srgbClr val="C00000"/>
                </a:solidFill>
              </a:rPr>
              <a:t>Example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3-3: </a:t>
            </a:r>
            <a:r>
              <a:rPr lang="en-US" altLang="zh-TW" sz="3600" b="1" i="1" dirty="0" smtClean="0"/>
              <a:t>F(x, y, z</a:t>
            </a:r>
            <a:r>
              <a:rPr lang="en-US" altLang="zh-TW" sz="3600" b="1" i="1" dirty="0"/>
              <a:t>) </a:t>
            </a:r>
            <a:r>
              <a:rPr lang="en-US" altLang="zh-TW" sz="3600" b="1" dirty="0"/>
              <a:t>= </a:t>
            </a:r>
            <a:r>
              <a:rPr lang="en-US" altLang="zh-TW" sz="3600" b="1" dirty="0">
                <a:latin typeface="Symbol" panose="05050102010706020507" pitchFamily="18" charset="2"/>
              </a:rPr>
              <a:t>S</a:t>
            </a:r>
            <a:r>
              <a:rPr lang="en-US" altLang="zh-TW" sz="3600" b="1" dirty="0"/>
              <a:t>(0</a:t>
            </a:r>
            <a:r>
              <a:rPr lang="en-US" altLang="zh-TW" sz="3600" b="1" dirty="0" smtClean="0"/>
              <a:t>, 2, 4, 5, 6</a:t>
            </a:r>
            <a:r>
              <a:rPr lang="en-US" altLang="zh-TW" sz="3600" b="1" dirty="0"/>
              <a:t>)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C9190B35-AFE6-479D-8BE5-74754A6BF9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62" b="27196"/>
          <a:stretch/>
        </p:blipFill>
        <p:spPr bwMode="auto">
          <a:xfrm>
            <a:off x="2179863" y="2271674"/>
            <a:ext cx="8139793" cy="4602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9141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1513" y="1606813"/>
            <a:ext cx="8561615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TW" sz="3600" b="1" dirty="0">
                <a:solidFill>
                  <a:srgbClr val="C00000"/>
                </a:solidFill>
              </a:rPr>
              <a:t>Example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3-3: </a:t>
            </a:r>
            <a:r>
              <a:rPr lang="en-US" altLang="zh-TW" sz="3600" b="1" i="1" dirty="0" smtClean="0"/>
              <a:t>F(x, y, z</a:t>
            </a:r>
            <a:r>
              <a:rPr lang="en-US" altLang="zh-TW" sz="3600" b="1" i="1" dirty="0"/>
              <a:t>) </a:t>
            </a:r>
            <a:r>
              <a:rPr lang="en-US" altLang="zh-TW" sz="3600" b="1" dirty="0"/>
              <a:t>= </a:t>
            </a:r>
            <a:r>
              <a:rPr lang="en-US" altLang="zh-TW" sz="3600" b="1" dirty="0">
                <a:latin typeface="Symbol" panose="05050102010706020507" pitchFamily="18" charset="2"/>
              </a:rPr>
              <a:t>S</a:t>
            </a:r>
            <a:r>
              <a:rPr lang="en-US" altLang="zh-TW" sz="3600" b="1" dirty="0"/>
              <a:t>(0</a:t>
            </a:r>
            <a:r>
              <a:rPr lang="en-US" altLang="zh-TW" sz="3600" b="1" dirty="0" smtClean="0"/>
              <a:t>, 2, 4, 5, 6) =  </a:t>
            </a:r>
            <a:endParaRPr lang="en-US" altLang="zh-TW" sz="3600" b="1" dirty="0"/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C9190B35-AFE6-479D-8BE5-74754A6BF9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62" b="27196"/>
          <a:stretch/>
        </p:blipFill>
        <p:spPr bwMode="auto">
          <a:xfrm>
            <a:off x="2179863" y="2271674"/>
            <a:ext cx="8139793" cy="4602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群組 5"/>
          <p:cNvGrpSpPr/>
          <p:nvPr/>
        </p:nvGrpSpPr>
        <p:grpSpPr>
          <a:xfrm>
            <a:off x="3779527" y="3492097"/>
            <a:ext cx="1448866" cy="2329039"/>
            <a:chOff x="7453992" y="4071761"/>
            <a:chExt cx="1448866" cy="2011739"/>
          </a:xfrm>
        </p:grpSpPr>
        <p:sp>
          <p:nvSpPr>
            <p:cNvPr id="7" name="手繪多邊形 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 7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9" name="群組 8"/>
          <p:cNvGrpSpPr/>
          <p:nvPr/>
        </p:nvGrpSpPr>
        <p:grpSpPr>
          <a:xfrm flipH="1">
            <a:off x="7633069" y="3482003"/>
            <a:ext cx="1448866" cy="2329039"/>
            <a:chOff x="7453992" y="4071761"/>
            <a:chExt cx="1448866" cy="2011739"/>
          </a:xfrm>
        </p:grpSpPr>
        <p:sp>
          <p:nvSpPr>
            <p:cNvPr id="10" name="手繪多邊形 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 1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7689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1513" y="1606813"/>
            <a:ext cx="8561615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TW" sz="3600" b="1" dirty="0">
                <a:solidFill>
                  <a:srgbClr val="C00000"/>
                </a:solidFill>
              </a:rPr>
              <a:t>Example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3-3: </a:t>
            </a:r>
            <a:r>
              <a:rPr lang="en-US" altLang="zh-TW" sz="3600" b="1" i="1" dirty="0" smtClean="0"/>
              <a:t>F(x, y, z</a:t>
            </a:r>
            <a:r>
              <a:rPr lang="en-US" altLang="zh-TW" sz="3600" b="1" i="1" dirty="0"/>
              <a:t>) </a:t>
            </a:r>
            <a:r>
              <a:rPr lang="en-US" altLang="zh-TW" sz="3600" b="1" dirty="0"/>
              <a:t>= </a:t>
            </a:r>
            <a:r>
              <a:rPr lang="en-US" altLang="zh-TW" sz="3600" b="1" dirty="0">
                <a:latin typeface="Symbol" panose="05050102010706020507" pitchFamily="18" charset="2"/>
              </a:rPr>
              <a:t>S</a:t>
            </a:r>
            <a:r>
              <a:rPr lang="en-US" altLang="zh-TW" sz="3600" b="1" dirty="0"/>
              <a:t>(0</a:t>
            </a:r>
            <a:r>
              <a:rPr lang="en-US" altLang="zh-TW" sz="3600" b="1" dirty="0" smtClean="0"/>
              <a:t>, 2, 4, 5, 6) =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z’</a:t>
            </a:r>
            <a:r>
              <a:rPr lang="en-US" altLang="zh-TW" sz="3600" b="1" dirty="0" smtClean="0"/>
              <a:t> </a:t>
            </a:r>
            <a:endParaRPr lang="en-US" altLang="zh-TW" sz="3600" b="1" dirty="0"/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C9190B35-AFE6-479D-8BE5-74754A6BF9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62" b="27196"/>
          <a:stretch/>
        </p:blipFill>
        <p:spPr bwMode="auto">
          <a:xfrm>
            <a:off x="2179863" y="2271674"/>
            <a:ext cx="8139793" cy="4602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群組 5"/>
          <p:cNvGrpSpPr/>
          <p:nvPr/>
        </p:nvGrpSpPr>
        <p:grpSpPr>
          <a:xfrm>
            <a:off x="3779527" y="3492097"/>
            <a:ext cx="1448866" cy="2329039"/>
            <a:chOff x="7453992" y="4071761"/>
            <a:chExt cx="1448866" cy="2011739"/>
          </a:xfrm>
        </p:grpSpPr>
        <p:sp>
          <p:nvSpPr>
            <p:cNvPr id="7" name="手繪多邊形 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 7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9" name="群組 8"/>
          <p:cNvGrpSpPr/>
          <p:nvPr/>
        </p:nvGrpSpPr>
        <p:grpSpPr>
          <a:xfrm flipH="1">
            <a:off x="7633069" y="3482003"/>
            <a:ext cx="1448866" cy="2329039"/>
            <a:chOff x="7453992" y="4071761"/>
            <a:chExt cx="1448866" cy="2011739"/>
          </a:xfrm>
        </p:grpSpPr>
        <p:sp>
          <p:nvSpPr>
            <p:cNvPr id="10" name="手繪多邊形 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 1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7762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1513" y="1606813"/>
            <a:ext cx="10235294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TW" sz="3600" b="1" dirty="0">
                <a:solidFill>
                  <a:srgbClr val="C00000"/>
                </a:solidFill>
              </a:rPr>
              <a:t>Example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3-3: </a:t>
            </a:r>
            <a:r>
              <a:rPr lang="en-US" altLang="zh-TW" sz="3600" b="1" i="1" dirty="0" smtClean="0"/>
              <a:t>F(x, y, z</a:t>
            </a:r>
            <a:r>
              <a:rPr lang="en-US" altLang="zh-TW" sz="3600" b="1" i="1" dirty="0"/>
              <a:t>) </a:t>
            </a:r>
            <a:r>
              <a:rPr lang="en-US" altLang="zh-TW" sz="3600" b="1" dirty="0"/>
              <a:t>= </a:t>
            </a:r>
            <a:r>
              <a:rPr lang="en-US" altLang="zh-TW" sz="3600" b="1" dirty="0">
                <a:latin typeface="Symbol" panose="05050102010706020507" pitchFamily="18" charset="2"/>
              </a:rPr>
              <a:t>S</a:t>
            </a:r>
            <a:r>
              <a:rPr lang="en-US" altLang="zh-TW" sz="3600" b="1" dirty="0"/>
              <a:t>(0</a:t>
            </a:r>
            <a:r>
              <a:rPr lang="en-US" altLang="zh-TW" sz="3600" b="1" dirty="0" smtClean="0"/>
              <a:t>, 2, 4, 5, 6) =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z’</a:t>
            </a:r>
            <a:endParaRPr lang="en-US" altLang="zh-TW" sz="3600" b="1" dirty="0"/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C9190B35-AFE6-479D-8BE5-74754A6BF9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62" b="27196"/>
          <a:stretch/>
        </p:blipFill>
        <p:spPr bwMode="auto">
          <a:xfrm>
            <a:off x="2179863" y="2271674"/>
            <a:ext cx="8139793" cy="4602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圓角矩形 11"/>
          <p:cNvSpPr/>
          <p:nvPr/>
        </p:nvSpPr>
        <p:spPr>
          <a:xfrm>
            <a:off x="4090305" y="4661807"/>
            <a:ext cx="2334988" cy="115932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4514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Three-variable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1513" y="1606813"/>
            <a:ext cx="10235294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TW" sz="3600" b="1" dirty="0">
                <a:solidFill>
                  <a:srgbClr val="C00000"/>
                </a:solidFill>
              </a:rPr>
              <a:t>Example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3-3: </a:t>
            </a:r>
            <a:r>
              <a:rPr lang="en-US" altLang="zh-TW" sz="3600" b="1" i="1" dirty="0" smtClean="0"/>
              <a:t>F(x, y, z</a:t>
            </a:r>
            <a:r>
              <a:rPr lang="en-US" altLang="zh-TW" sz="3600" b="1" i="1" dirty="0"/>
              <a:t>) </a:t>
            </a:r>
            <a:r>
              <a:rPr lang="en-US" altLang="zh-TW" sz="3600" b="1" dirty="0"/>
              <a:t>= </a:t>
            </a:r>
            <a:r>
              <a:rPr lang="en-US" altLang="zh-TW" sz="3600" b="1" dirty="0">
                <a:latin typeface="Symbol" panose="05050102010706020507" pitchFamily="18" charset="2"/>
              </a:rPr>
              <a:t>S</a:t>
            </a:r>
            <a:r>
              <a:rPr lang="en-US" altLang="zh-TW" sz="3600" b="1" dirty="0"/>
              <a:t>(0</a:t>
            </a:r>
            <a:r>
              <a:rPr lang="en-US" altLang="zh-TW" sz="3600" b="1" dirty="0" smtClean="0"/>
              <a:t>, 2, 4, 5, 6) =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z’ +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xy</a:t>
            </a:r>
            <a:r>
              <a:rPr lang="en-US" altLang="zh-TW" sz="3600" b="1" dirty="0" smtClean="0"/>
              <a:t> </a:t>
            </a:r>
            <a:endParaRPr lang="en-US" altLang="zh-TW" sz="3600" b="1" dirty="0"/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C9190B35-AFE6-479D-8BE5-74754A6BF9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62" b="27196"/>
          <a:stretch/>
        </p:blipFill>
        <p:spPr bwMode="auto">
          <a:xfrm>
            <a:off x="2179863" y="2271674"/>
            <a:ext cx="8139793" cy="4602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圓角矩形 11"/>
          <p:cNvSpPr/>
          <p:nvPr/>
        </p:nvSpPr>
        <p:spPr>
          <a:xfrm>
            <a:off x="4090305" y="4661807"/>
            <a:ext cx="2334988" cy="115932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7157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6559" y="2093464"/>
            <a:ext cx="10779577" cy="2189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0" lvl="1" indent="-9144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4800" b="1" dirty="0" smtClean="0">
                <a:solidFill>
                  <a:srgbClr val="C00000"/>
                </a:solidFill>
              </a:rPr>
              <a:t>All </a:t>
            </a:r>
            <a:r>
              <a:rPr lang="en-US" altLang="zh-TW" sz="4800" b="1" dirty="0">
                <a:solidFill>
                  <a:srgbClr val="C00000"/>
                </a:solidFill>
              </a:rPr>
              <a:t>the </a:t>
            </a:r>
            <a:r>
              <a:rPr lang="en-US" altLang="zh-TW" sz="4800" b="1" dirty="0" err="1">
                <a:solidFill>
                  <a:srgbClr val="C00000"/>
                </a:solidFill>
              </a:rPr>
              <a:t>minterms</a:t>
            </a:r>
            <a:r>
              <a:rPr lang="en-US" altLang="zh-TW" sz="4800" b="1" dirty="0">
                <a:solidFill>
                  <a:srgbClr val="C00000"/>
                </a:solidFill>
              </a:rPr>
              <a:t> are covered</a:t>
            </a:r>
          </a:p>
          <a:p>
            <a:pPr marL="1371600" lvl="1" indent="-9144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4800" b="1" dirty="0" smtClean="0">
                <a:solidFill>
                  <a:srgbClr val="C00000"/>
                </a:solidFill>
              </a:rPr>
              <a:t>Minimize </a:t>
            </a:r>
            <a:r>
              <a:rPr lang="en-US" altLang="zh-TW" sz="4800" b="1" dirty="0">
                <a:solidFill>
                  <a:srgbClr val="C00000"/>
                </a:solidFill>
              </a:rPr>
              <a:t>the number of terms</a:t>
            </a:r>
          </a:p>
        </p:txBody>
      </p:sp>
    </p:spTree>
    <p:extLst>
      <p:ext uri="{BB962C8B-B14F-4D97-AF65-F5344CB8AC3E}">
        <p14:creationId xmlns:p14="http://schemas.microsoft.com/office/powerpoint/2010/main" val="2226579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1536238"/>
            <a:ext cx="336368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10000"/>
              </a:spcBef>
            </a:pPr>
            <a:r>
              <a:rPr lang="zh-TW" altLang="en-US" sz="3200" b="1" dirty="0" smtClean="0"/>
              <a:t>16 </a:t>
            </a:r>
            <a:r>
              <a:rPr lang="en-US" altLang="zh-TW" sz="3200" b="1" dirty="0" err="1" smtClean="0"/>
              <a:t>minterms</a:t>
            </a:r>
            <a:endParaRPr lang="en-US" altLang="zh-TW" sz="3200" b="1" dirty="0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646ECFDF-F708-456B-B8A4-346A4CB4DD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59" t="1" b="20610"/>
          <a:stretch/>
        </p:blipFill>
        <p:spPr bwMode="auto">
          <a:xfrm>
            <a:off x="3363683" y="1470924"/>
            <a:ext cx="5184323" cy="5301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4042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711654" y="3363920"/>
            <a:ext cx="1076869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spcBef>
                <a:spcPct val="10000"/>
              </a:spcBef>
            </a:pPr>
            <a:r>
              <a:rPr lang="en-US" altLang="zh-TW" sz="4800" b="1" dirty="0">
                <a:solidFill>
                  <a:srgbClr val="C00000"/>
                </a:solidFill>
              </a:rPr>
              <a:t>combinations of 2, 4, 8, and 16 adjacent squares</a:t>
            </a:r>
          </a:p>
        </p:txBody>
      </p:sp>
    </p:spTree>
    <p:extLst>
      <p:ext uri="{BB962C8B-B14F-4D97-AF65-F5344CB8AC3E}">
        <p14:creationId xmlns:p14="http://schemas.microsoft.com/office/powerpoint/2010/main" val="2980155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39927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1470924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8070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97971" y="150493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1657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97971" y="150493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圓角矩形 1"/>
          <p:cNvSpPr/>
          <p:nvPr/>
        </p:nvSpPr>
        <p:spPr>
          <a:xfrm>
            <a:off x="1910447" y="2400300"/>
            <a:ext cx="1787978" cy="361267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0856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97971" y="150493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圓角矩形 1"/>
          <p:cNvSpPr/>
          <p:nvPr/>
        </p:nvSpPr>
        <p:spPr>
          <a:xfrm>
            <a:off x="1910447" y="2400300"/>
            <a:ext cx="1787978" cy="361267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7063176" y="2369597"/>
            <a:ext cx="33954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w’x’y’z</a:t>
            </a:r>
            <a:r>
              <a:rPr lang="en-US" altLang="zh-TW" sz="3600" dirty="0" smtClean="0"/>
              <a:t>’ + </a:t>
            </a:r>
            <a:r>
              <a:rPr lang="en-US" altLang="zh-TW" sz="3600" dirty="0" err="1" smtClean="0"/>
              <a:t>w’x’y’z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7078443" y="3395408"/>
            <a:ext cx="3193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w’xy’z</a:t>
            </a:r>
            <a:r>
              <a:rPr lang="en-US" altLang="zh-TW" sz="3600" dirty="0" smtClean="0"/>
              <a:t>’ + </a:t>
            </a:r>
            <a:r>
              <a:rPr lang="en-US" altLang="zh-TW" sz="3600" dirty="0" err="1" smtClean="0"/>
              <a:t>w’xy’z</a:t>
            </a:r>
            <a:endParaRPr lang="zh-TW" altLang="en-US" sz="36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078443" y="4295239"/>
            <a:ext cx="29915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wxy’z</a:t>
            </a:r>
            <a:r>
              <a:rPr lang="en-US" altLang="zh-TW" sz="3600" dirty="0" smtClean="0"/>
              <a:t>’ + </a:t>
            </a:r>
            <a:r>
              <a:rPr lang="en-US" altLang="zh-TW" sz="3600" dirty="0" err="1" smtClean="0"/>
              <a:t>wxy’z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078443" y="5199421"/>
            <a:ext cx="3193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wx’y’z</a:t>
            </a:r>
            <a:r>
              <a:rPr lang="en-US" altLang="zh-TW" sz="3600" dirty="0" smtClean="0"/>
              <a:t>’ + </a:t>
            </a:r>
            <a:r>
              <a:rPr lang="en-US" altLang="zh-TW" sz="3600" dirty="0" err="1" smtClean="0"/>
              <a:t>wx’y’z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729252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97971" y="150493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圓角矩形 1"/>
          <p:cNvSpPr/>
          <p:nvPr/>
        </p:nvSpPr>
        <p:spPr>
          <a:xfrm>
            <a:off x="1910447" y="2400300"/>
            <a:ext cx="1787978" cy="361267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7063176" y="2369597"/>
            <a:ext cx="52693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w’x’y’z</a:t>
            </a:r>
            <a:r>
              <a:rPr lang="en-US" altLang="zh-TW" sz="3600" dirty="0" smtClean="0"/>
              <a:t>’ + </a:t>
            </a:r>
            <a:r>
              <a:rPr lang="en-US" altLang="zh-TW" sz="3600" dirty="0" err="1" smtClean="0"/>
              <a:t>w’x’y’z</a:t>
            </a:r>
            <a:r>
              <a:rPr lang="en-US" altLang="zh-TW" sz="3600" dirty="0" smtClean="0"/>
              <a:t>  = </a:t>
            </a:r>
            <a:r>
              <a:rPr lang="en-US" altLang="zh-TW" sz="3600" dirty="0" err="1" smtClean="0"/>
              <a:t>w’x’y</a:t>
            </a:r>
            <a:r>
              <a:rPr lang="en-US" altLang="zh-TW" sz="3600" dirty="0" smtClean="0"/>
              <a:t>’ 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7078443" y="3395408"/>
            <a:ext cx="49664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w’xy’z</a:t>
            </a:r>
            <a:r>
              <a:rPr lang="en-US" altLang="zh-TW" sz="3600" dirty="0" smtClean="0"/>
              <a:t>’ + </a:t>
            </a:r>
            <a:r>
              <a:rPr lang="en-US" altLang="zh-TW" sz="3600" dirty="0" err="1" smtClean="0"/>
              <a:t>w’xy’z</a:t>
            </a:r>
            <a:r>
              <a:rPr lang="en-US" altLang="zh-TW" sz="3600" dirty="0" smtClean="0"/>
              <a:t> = </a:t>
            </a:r>
            <a:r>
              <a:rPr lang="en-US" altLang="zh-TW" sz="3600" dirty="0" err="1" smtClean="0"/>
              <a:t>w’xy</a:t>
            </a:r>
            <a:r>
              <a:rPr lang="en-US" altLang="zh-TW" sz="3600" dirty="0" smtClean="0"/>
              <a:t>’  </a:t>
            </a:r>
            <a:endParaRPr lang="zh-TW" altLang="en-US" sz="36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078443" y="4295239"/>
            <a:ext cx="46762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wxy’z</a:t>
            </a:r>
            <a:r>
              <a:rPr lang="en-US" altLang="zh-TW" sz="3600" dirty="0" smtClean="0"/>
              <a:t>’ + </a:t>
            </a:r>
            <a:r>
              <a:rPr lang="en-US" altLang="zh-TW" sz="3600" dirty="0" err="1" smtClean="0"/>
              <a:t>wxy’z</a:t>
            </a:r>
            <a:r>
              <a:rPr lang="en-US" altLang="zh-TW" sz="3600" dirty="0" smtClean="0"/>
              <a:t> = </a:t>
            </a:r>
            <a:r>
              <a:rPr lang="en-US" altLang="zh-TW" sz="3600" dirty="0" err="1"/>
              <a:t>wxy</a:t>
            </a:r>
            <a:r>
              <a:rPr lang="en-US" altLang="zh-TW" sz="3600" dirty="0"/>
              <a:t>’</a:t>
            </a:r>
            <a:r>
              <a:rPr lang="en-US" altLang="zh-TW" sz="3600" dirty="0" smtClean="0"/>
              <a:t>  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078443" y="5199421"/>
            <a:ext cx="4725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wx’y’z</a:t>
            </a:r>
            <a:r>
              <a:rPr lang="en-US" altLang="zh-TW" sz="3600" dirty="0" smtClean="0"/>
              <a:t>’ + </a:t>
            </a:r>
            <a:r>
              <a:rPr lang="en-US" altLang="zh-TW" sz="3600" dirty="0" err="1" smtClean="0"/>
              <a:t>wx’y’z</a:t>
            </a:r>
            <a:r>
              <a:rPr lang="en-US" altLang="zh-TW" sz="3600" dirty="0" smtClean="0"/>
              <a:t> = </a:t>
            </a:r>
            <a:r>
              <a:rPr lang="en-US" altLang="zh-TW" sz="3600" dirty="0" err="1"/>
              <a:t>wx’y</a:t>
            </a:r>
            <a:r>
              <a:rPr lang="en-US" altLang="zh-TW" sz="3600" dirty="0"/>
              <a:t>’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419138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97971" y="150493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圓角矩形 1"/>
          <p:cNvSpPr/>
          <p:nvPr/>
        </p:nvSpPr>
        <p:spPr>
          <a:xfrm>
            <a:off x="1910447" y="2400300"/>
            <a:ext cx="1787978" cy="361267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7063176" y="2369597"/>
            <a:ext cx="13837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w’x’y</a:t>
            </a:r>
            <a:r>
              <a:rPr lang="en-US" altLang="zh-TW" sz="3600" dirty="0" smtClean="0"/>
              <a:t>’ 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7078443" y="3395408"/>
            <a:ext cx="1409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w’xy</a:t>
            </a:r>
            <a:r>
              <a:rPr lang="en-US" altLang="zh-TW" sz="3600" dirty="0" smtClean="0"/>
              <a:t>’  </a:t>
            </a:r>
            <a:endParaRPr lang="zh-TW" altLang="en-US" sz="36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078443" y="4295239"/>
            <a:ext cx="13083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wxy</a:t>
            </a:r>
            <a:r>
              <a:rPr lang="en-US" altLang="zh-TW" sz="3600" dirty="0"/>
              <a:t>’</a:t>
            </a:r>
            <a:r>
              <a:rPr lang="en-US" altLang="zh-TW" sz="3600" dirty="0" smtClean="0"/>
              <a:t>  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078443" y="5199421"/>
            <a:ext cx="1156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wx’y</a:t>
            </a:r>
            <a:r>
              <a:rPr lang="en-US" altLang="zh-TW" sz="3600" dirty="0"/>
              <a:t>’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2376982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97971" y="150493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圓角矩形 1"/>
          <p:cNvSpPr/>
          <p:nvPr/>
        </p:nvSpPr>
        <p:spPr>
          <a:xfrm>
            <a:off x="1910447" y="2400300"/>
            <a:ext cx="1787978" cy="361267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7003102" y="2814391"/>
            <a:ext cx="30428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w’x’y</a:t>
            </a:r>
            <a:r>
              <a:rPr lang="en-US" altLang="zh-TW" sz="3600" dirty="0" smtClean="0"/>
              <a:t>’ + </a:t>
            </a:r>
            <a:r>
              <a:rPr lang="en-US" altLang="zh-TW" sz="3600" dirty="0" err="1" smtClean="0"/>
              <a:t>w’xy</a:t>
            </a:r>
            <a:r>
              <a:rPr lang="en-US" altLang="zh-TW" sz="3600" dirty="0"/>
              <a:t>’  </a:t>
            </a:r>
            <a:endParaRPr lang="zh-TW" altLang="en-US" sz="3600" dirty="0"/>
          </a:p>
          <a:p>
            <a:r>
              <a:rPr lang="en-US" altLang="zh-TW" sz="3600" dirty="0" smtClean="0"/>
              <a:t> </a:t>
            </a:r>
            <a:endParaRPr lang="zh-TW" altLang="en-US" sz="36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078443" y="4729208"/>
            <a:ext cx="2587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wxy</a:t>
            </a:r>
            <a:r>
              <a:rPr lang="en-US" altLang="zh-TW" sz="3600" dirty="0" smtClean="0"/>
              <a:t>’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+ </a:t>
            </a:r>
            <a:r>
              <a:rPr lang="en-US" altLang="zh-TW" sz="3600" dirty="0" err="1" smtClean="0"/>
              <a:t>wx’y</a:t>
            </a:r>
            <a:r>
              <a:rPr lang="en-US" altLang="zh-TW" sz="3600" dirty="0" smtClean="0"/>
              <a:t>’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498431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97971" y="150493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圓角矩形 1"/>
          <p:cNvSpPr/>
          <p:nvPr/>
        </p:nvSpPr>
        <p:spPr>
          <a:xfrm>
            <a:off x="1910447" y="2400300"/>
            <a:ext cx="1787978" cy="361267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7003102" y="2814391"/>
            <a:ext cx="4331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w’x’y</a:t>
            </a:r>
            <a:r>
              <a:rPr lang="en-US" altLang="zh-TW" sz="3600" dirty="0" smtClean="0"/>
              <a:t>’ + </a:t>
            </a:r>
            <a:r>
              <a:rPr lang="en-US" altLang="zh-TW" sz="3600" dirty="0" err="1" smtClean="0"/>
              <a:t>w’xy</a:t>
            </a:r>
            <a:r>
              <a:rPr lang="en-US" altLang="zh-TW" sz="3600" dirty="0" smtClean="0"/>
              <a:t>’ = </a:t>
            </a:r>
            <a:r>
              <a:rPr lang="en-US" altLang="zh-TW" sz="3600" dirty="0" err="1" smtClean="0"/>
              <a:t>w’y</a:t>
            </a:r>
            <a:r>
              <a:rPr lang="en-US" altLang="zh-TW" sz="3600" dirty="0" smtClean="0"/>
              <a:t>’  </a:t>
            </a:r>
            <a:endParaRPr lang="zh-TW" altLang="en-US" sz="3600" dirty="0"/>
          </a:p>
          <a:p>
            <a:r>
              <a:rPr lang="en-US" altLang="zh-TW" sz="3600" dirty="0" smtClean="0"/>
              <a:t> </a:t>
            </a:r>
            <a:endParaRPr lang="zh-TW" altLang="en-US" sz="36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078443" y="4729208"/>
            <a:ext cx="3775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wxy</a:t>
            </a:r>
            <a:r>
              <a:rPr lang="en-US" altLang="zh-TW" sz="3600" dirty="0" smtClean="0"/>
              <a:t>’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+ </a:t>
            </a:r>
            <a:r>
              <a:rPr lang="en-US" altLang="zh-TW" sz="3600" dirty="0" err="1" smtClean="0"/>
              <a:t>wx’y</a:t>
            </a:r>
            <a:r>
              <a:rPr lang="en-US" altLang="zh-TW" sz="3600" dirty="0" smtClean="0"/>
              <a:t>’ = </a:t>
            </a:r>
            <a:r>
              <a:rPr lang="en-US" altLang="zh-TW" sz="3600" dirty="0" err="1" smtClean="0"/>
              <a:t>wy</a:t>
            </a:r>
            <a:r>
              <a:rPr lang="en-US" altLang="zh-TW" sz="3600" dirty="0" smtClean="0"/>
              <a:t>’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151737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97971" y="150493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圓角矩形 1"/>
          <p:cNvSpPr/>
          <p:nvPr/>
        </p:nvSpPr>
        <p:spPr>
          <a:xfrm>
            <a:off x="1910447" y="2400300"/>
            <a:ext cx="1787978" cy="361267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7257827" y="2768222"/>
            <a:ext cx="11785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w’y</a:t>
            </a:r>
            <a:r>
              <a:rPr lang="en-US" altLang="zh-TW" sz="3600" dirty="0" smtClean="0"/>
              <a:t>’  </a:t>
            </a:r>
            <a:endParaRPr lang="zh-TW" altLang="en-US" sz="3600" dirty="0"/>
          </a:p>
          <a:p>
            <a:r>
              <a:rPr lang="en-US" altLang="zh-TW" sz="3600" dirty="0" smtClean="0"/>
              <a:t> </a:t>
            </a:r>
            <a:endParaRPr lang="zh-TW" altLang="en-US" sz="36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331306" y="4721044"/>
            <a:ext cx="8242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wy</a:t>
            </a:r>
            <a:r>
              <a:rPr lang="en-US" altLang="zh-TW" sz="3600" dirty="0" smtClean="0"/>
              <a:t>’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188032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97971" y="150493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圓角矩形 1"/>
          <p:cNvSpPr/>
          <p:nvPr/>
        </p:nvSpPr>
        <p:spPr>
          <a:xfrm>
            <a:off x="1910447" y="2400300"/>
            <a:ext cx="1787978" cy="361267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7154174" y="3830371"/>
            <a:ext cx="212590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w’y</a:t>
            </a:r>
            <a:r>
              <a:rPr lang="en-US" altLang="zh-TW" sz="3600" dirty="0" smtClean="0"/>
              <a:t>’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+ </a:t>
            </a:r>
            <a:r>
              <a:rPr lang="en-US" altLang="zh-TW" sz="3600" dirty="0" err="1" smtClean="0"/>
              <a:t>wy</a:t>
            </a:r>
            <a:r>
              <a:rPr lang="en-US" altLang="zh-TW" sz="3600" dirty="0"/>
              <a:t>’</a:t>
            </a:r>
            <a:endParaRPr lang="zh-TW" altLang="en-US" sz="3600" dirty="0"/>
          </a:p>
          <a:p>
            <a:r>
              <a:rPr lang="en-US" altLang="zh-TW" sz="3600" dirty="0" smtClean="0"/>
              <a:t>  </a:t>
            </a:r>
            <a:endParaRPr lang="zh-TW" altLang="en-US" sz="3600" dirty="0"/>
          </a:p>
          <a:p>
            <a:r>
              <a:rPr lang="en-US" altLang="zh-TW" sz="3600" dirty="0" smtClean="0"/>
              <a:t> 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922894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97971" y="150493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圓角矩形 1"/>
          <p:cNvSpPr/>
          <p:nvPr/>
        </p:nvSpPr>
        <p:spPr>
          <a:xfrm>
            <a:off x="1910447" y="2400300"/>
            <a:ext cx="1787978" cy="361267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7154174" y="3830371"/>
            <a:ext cx="300595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w’y</a:t>
            </a:r>
            <a:r>
              <a:rPr lang="en-US" altLang="zh-TW" sz="3600" dirty="0" smtClean="0"/>
              <a:t>’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+ </a:t>
            </a:r>
            <a:r>
              <a:rPr lang="en-US" altLang="zh-TW" sz="3600" dirty="0" err="1" smtClean="0"/>
              <a:t>wy</a:t>
            </a:r>
            <a:r>
              <a:rPr lang="en-US" altLang="zh-TW" sz="3600" dirty="0" smtClean="0"/>
              <a:t>’ = y’</a:t>
            </a:r>
            <a:endParaRPr lang="zh-TW" altLang="en-US" sz="3600" dirty="0"/>
          </a:p>
          <a:p>
            <a:r>
              <a:rPr lang="en-US" altLang="zh-TW" sz="3600" dirty="0" smtClean="0"/>
              <a:t>  </a:t>
            </a:r>
            <a:endParaRPr lang="zh-TW" altLang="en-US" sz="3600" dirty="0"/>
          </a:p>
          <a:p>
            <a:r>
              <a:rPr lang="en-US" altLang="zh-TW" sz="3600" dirty="0" smtClean="0"/>
              <a:t> 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53491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97971" y="150493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圓角矩形 1"/>
          <p:cNvSpPr/>
          <p:nvPr/>
        </p:nvSpPr>
        <p:spPr>
          <a:xfrm>
            <a:off x="1910447" y="2400300"/>
            <a:ext cx="1787978" cy="361267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7505238" y="3789550"/>
            <a:ext cx="51648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y’</a:t>
            </a:r>
            <a:endParaRPr lang="zh-TW" altLang="en-US" sz="3600" dirty="0"/>
          </a:p>
          <a:p>
            <a:r>
              <a:rPr lang="en-US" altLang="zh-TW" sz="3600" dirty="0" smtClean="0"/>
              <a:t>  </a:t>
            </a:r>
            <a:endParaRPr lang="zh-TW" altLang="en-US" sz="3600" dirty="0"/>
          </a:p>
          <a:p>
            <a:r>
              <a:rPr lang="en-US" altLang="zh-TW" sz="3600" dirty="0" smtClean="0"/>
              <a:t> 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02911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97971" y="150493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群組 6"/>
          <p:cNvGrpSpPr/>
          <p:nvPr/>
        </p:nvGrpSpPr>
        <p:grpSpPr>
          <a:xfrm>
            <a:off x="1861457" y="2401244"/>
            <a:ext cx="869199" cy="1787035"/>
            <a:chOff x="7453992" y="4071761"/>
            <a:chExt cx="1448866" cy="2011739"/>
          </a:xfrm>
        </p:grpSpPr>
        <p:sp>
          <p:nvSpPr>
            <p:cNvPr id="9" name="手繪多邊形 8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 9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" name="群組 10"/>
          <p:cNvGrpSpPr/>
          <p:nvPr/>
        </p:nvGrpSpPr>
        <p:grpSpPr>
          <a:xfrm flipH="1">
            <a:off x="4626427" y="2401245"/>
            <a:ext cx="900794" cy="1795076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998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97971" y="150493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群組 6"/>
          <p:cNvGrpSpPr/>
          <p:nvPr/>
        </p:nvGrpSpPr>
        <p:grpSpPr>
          <a:xfrm>
            <a:off x="1861457" y="2401244"/>
            <a:ext cx="869199" cy="1787035"/>
            <a:chOff x="7453992" y="4071761"/>
            <a:chExt cx="1448866" cy="2011739"/>
          </a:xfrm>
        </p:grpSpPr>
        <p:sp>
          <p:nvSpPr>
            <p:cNvPr id="9" name="手繪多邊形 8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 9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" name="群組 10"/>
          <p:cNvGrpSpPr/>
          <p:nvPr/>
        </p:nvGrpSpPr>
        <p:grpSpPr>
          <a:xfrm flipH="1">
            <a:off x="4626427" y="2401245"/>
            <a:ext cx="900794" cy="1795076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" name="文字方塊 4"/>
          <p:cNvSpPr txBox="1"/>
          <p:nvPr/>
        </p:nvSpPr>
        <p:spPr>
          <a:xfrm>
            <a:off x="7102929" y="2416733"/>
            <a:ext cx="33954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w’x’y’z</a:t>
            </a:r>
            <a:r>
              <a:rPr lang="en-US" altLang="zh-TW" sz="3600" dirty="0" smtClean="0"/>
              <a:t>’ + </a:t>
            </a:r>
            <a:r>
              <a:rPr lang="en-US" altLang="zh-TW" sz="3600" dirty="0" err="1" smtClean="0"/>
              <a:t>w’x’yz</a:t>
            </a:r>
            <a:r>
              <a:rPr lang="en-US" altLang="zh-TW" sz="3600" dirty="0" smtClean="0"/>
              <a:t>’</a:t>
            </a:r>
            <a:endParaRPr lang="zh-TW" altLang="en-US" sz="3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7102929" y="3302506"/>
            <a:ext cx="31806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w’xy’z</a:t>
            </a:r>
            <a:r>
              <a:rPr lang="en-US" altLang="zh-TW" sz="3600" dirty="0" smtClean="0"/>
              <a:t>’ + </a:t>
            </a:r>
            <a:r>
              <a:rPr lang="en-US" altLang="zh-TW" sz="3600" dirty="0" err="1" smtClean="0"/>
              <a:t>w’xyz</a:t>
            </a:r>
            <a:r>
              <a:rPr lang="en-US" altLang="zh-TW" sz="3600" dirty="0" smtClean="0"/>
              <a:t>’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326005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97971" y="150493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群組 6"/>
          <p:cNvGrpSpPr/>
          <p:nvPr/>
        </p:nvGrpSpPr>
        <p:grpSpPr>
          <a:xfrm>
            <a:off x="1861457" y="2401244"/>
            <a:ext cx="869199" cy="1787035"/>
            <a:chOff x="7453992" y="4071761"/>
            <a:chExt cx="1448866" cy="2011739"/>
          </a:xfrm>
        </p:grpSpPr>
        <p:sp>
          <p:nvSpPr>
            <p:cNvPr id="9" name="手繪多邊形 8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 9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" name="群組 10"/>
          <p:cNvGrpSpPr/>
          <p:nvPr/>
        </p:nvGrpSpPr>
        <p:grpSpPr>
          <a:xfrm flipH="1">
            <a:off x="4626427" y="2401245"/>
            <a:ext cx="900794" cy="1795076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" name="文字方塊 4"/>
          <p:cNvSpPr txBox="1"/>
          <p:nvPr/>
        </p:nvSpPr>
        <p:spPr>
          <a:xfrm>
            <a:off x="7102929" y="2416733"/>
            <a:ext cx="5101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w’x’y’z</a:t>
            </a:r>
            <a:r>
              <a:rPr lang="en-US" altLang="zh-TW" sz="3600" dirty="0" smtClean="0"/>
              <a:t>’ + </a:t>
            </a:r>
            <a:r>
              <a:rPr lang="en-US" altLang="zh-TW" sz="3600" dirty="0" err="1" smtClean="0"/>
              <a:t>w’x’yz</a:t>
            </a:r>
            <a:r>
              <a:rPr lang="en-US" altLang="zh-TW" sz="3600" dirty="0" smtClean="0"/>
              <a:t>’ = </a:t>
            </a:r>
            <a:r>
              <a:rPr lang="en-US" altLang="zh-TW" sz="3600" dirty="0" err="1" smtClean="0"/>
              <a:t>w’x’z</a:t>
            </a:r>
            <a:r>
              <a:rPr lang="en-US" altLang="zh-TW" sz="3600" dirty="0"/>
              <a:t>’</a:t>
            </a:r>
            <a:endParaRPr lang="zh-TW" altLang="en-US" sz="3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7102929" y="3302506"/>
            <a:ext cx="47981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w’xy’z</a:t>
            </a:r>
            <a:r>
              <a:rPr lang="en-US" altLang="zh-TW" sz="3600" dirty="0" smtClean="0"/>
              <a:t>’ + </a:t>
            </a:r>
            <a:r>
              <a:rPr lang="en-US" altLang="zh-TW" sz="3600" dirty="0" err="1" smtClean="0"/>
              <a:t>w’xyz</a:t>
            </a:r>
            <a:r>
              <a:rPr lang="en-US" altLang="zh-TW" sz="3600" dirty="0" smtClean="0"/>
              <a:t>’ = </a:t>
            </a:r>
            <a:r>
              <a:rPr lang="en-US" altLang="zh-TW" sz="3600" dirty="0" err="1" smtClean="0"/>
              <a:t>w’xz</a:t>
            </a:r>
            <a:r>
              <a:rPr lang="en-US" altLang="zh-TW" sz="3600" dirty="0" smtClean="0"/>
              <a:t>’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983730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97971" y="150493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群組 6"/>
          <p:cNvGrpSpPr/>
          <p:nvPr/>
        </p:nvGrpSpPr>
        <p:grpSpPr>
          <a:xfrm>
            <a:off x="1861457" y="2401244"/>
            <a:ext cx="869199" cy="1787035"/>
            <a:chOff x="7453992" y="4071761"/>
            <a:chExt cx="1448866" cy="2011739"/>
          </a:xfrm>
        </p:grpSpPr>
        <p:sp>
          <p:nvSpPr>
            <p:cNvPr id="9" name="手繪多邊形 8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 9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" name="群組 10"/>
          <p:cNvGrpSpPr/>
          <p:nvPr/>
        </p:nvGrpSpPr>
        <p:grpSpPr>
          <a:xfrm flipH="1">
            <a:off x="4626427" y="2401245"/>
            <a:ext cx="900794" cy="1795076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" name="文字方塊 4"/>
          <p:cNvSpPr txBox="1"/>
          <p:nvPr/>
        </p:nvSpPr>
        <p:spPr>
          <a:xfrm>
            <a:off x="7102929" y="2416733"/>
            <a:ext cx="12282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w’x’z</a:t>
            </a:r>
            <a:r>
              <a:rPr lang="en-US" altLang="zh-TW" sz="3600" dirty="0"/>
              <a:t>’</a:t>
            </a:r>
            <a:endParaRPr lang="zh-TW" altLang="en-US" sz="3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7102929" y="3302506"/>
            <a:ext cx="1127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w’xz</a:t>
            </a:r>
            <a:r>
              <a:rPr lang="en-US" altLang="zh-TW" sz="3600" dirty="0" smtClean="0"/>
              <a:t>’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745585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97971" y="150493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群組 6"/>
          <p:cNvGrpSpPr/>
          <p:nvPr/>
        </p:nvGrpSpPr>
        <p:grpSpPr>
          <a:xfrm>
            <a:off x="1861457" y="2401244"/>
            <a:ext cx="869199" cy="1787035"/>
            <a:chOff x="7453992" y="4071761"/>
            <a:chExt cx="1448866" cy="2011739"/>
          </a:xfrm>
        </p:grpSpPr>
        <p:sp>
          <p:nvSpPr>
            <p:cNvPr id="9" name="手繪多邊形 8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 9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" name="群組 10"/>
          <p:cNvGrpSpPr/>
          <p:nvPr/>
        </p:nvGrpSpPr>
        <p:grpSpPr>
          <a:xfrm flipH="1">
            <a:off x="4626427" y="2401245"/>
            <a:ext cx="900794" cy="1795076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" name="文字方塊 4"/>
          <p:cNvSpPr txBox="1"/>
          <p:nvPr/>
        </p:nvSpPr>
        <p:spPr>
          <a:xfrm>
            <a:off x="7249888" y="2860641"/>
            <a:ext cx="41184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w’x’z</a:t>
            </a:r>
            <a:r>
              <a:rPr lang="en-US" altLang="zh-TW" sz="3600" dirty="0" smtClean="0"/>
              <a:t>’ + </a:t>
            </a:r>
            <a:r>
              <a:rPr lang="en-US" altLang="zh-TW" sz="3600" dirty="0" err="1" smtClean="0"/>
              <a:t>w’xz</a:t>
            </a:r>
            <a:r>
              <a:rPr lang="en-US" altLang="zh-TW" sz="3600" dirty="0" smtClean="0"/>
              <a:t>’ = </a:t>
            </a:r>
            <a:r>
              <a:rPr lang="en-US" altLang="zh-TW" sz="3600" dirty="0" err="1" smtClean="0"/>
              <a:t>w’z</a:t>
            </a:r>
            <a:r>
              <a:rPr lang="en-US" altLang="zh-TW" sz="3600" dirty="0" smtClean="0"/>
              <a:t>’ 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492758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97971" y="150493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群組 6"/>
          <p:cNvGrpSpPr/>
          <p:nvPr/>
        </p:nvGrpSpPr>
        <p:grpSpPr>
          <a:xfrm>
            <a:off x="1885949" y="3302803"/>
            <a:ext cx="869199" cy="1787035"/>
            <a:chOff x="7453992" y="4071761"/>
            <a:chExt cx="1448866" cy="2011739"/>
          </a:xfrm>
        </p:grpSpPr>
        <p:sp>
          <p:nvSpPr>
            <p:cNvPr id="9" name="手繪多邊形 8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 9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" name="群組 10"/>
          <p:cNvGrpSpPr/>
          <p:nvPr/>
        </p:nvGrpSpPr>
        <p:grpSpPr>
          <a:xfrm flipH="1">
            <a:off x="4610098" y="3278461"/>
            <a:ext cx="900794" cy="1795076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229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97971" y="150493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群組 6"/>
          <p:cNvGrpSpPr/>
          <p:nvPr/>
        </p:nvGrpSpPr>
        <p:grpSpPr>
          <a:xfrm>
            <a:off x="1885949" y="3302803"/>
            <a:ext cx="869199" cy="1787035"/>
            <a:chOff x="7453992" y="4071761"/>
            <a:chExt cx="1448866" cy="2011739"/>
          </a:xfrm>
        </p:grpSpPr>
        <p:sp>
          <p:nvSpPr>
            <p:cNvPr id="9" name="手繪多邊形 8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 9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" name="群組 10"/>
          <p:cNvGrpSpPr/>
          <p:nvPr/>
        </p:nvGrpSpPr>
        <p:grpSpPr>
          <a:xfrm flipH="1">
            <a:off x="4610098" y="3278461"/>
            <a:ext cx="900794" cy="1795076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" name="文字方塊 1"/>
          <p:cNvSpPr txBox="1"/>
          <p:nvPr/>
        </p:nvSpPr>
        <p:spPr>
          <a:xfrm>
            <a:off x="7943850" y="3753434"/>
            <a:ext cx="718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err="1" smtClean="0"/>
              <a:t>xz</a:t>
            </a:r>
            <a:r>
              <a:rPr lang="en-US" altLang="zh-TW" sz="3600" dirty="0" smtClean="0"/>
              <a:t>’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572772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2996292" y="162657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群組 6"/>
          <p:cNvGrpSpPr/>
          <p:nvPr/>
        </p:nvGrpSpPr>
        <p:grpSpPr>
          <a:xfrm>
            <a:off x="4784270" y="3424443"/>
            <a:ext cx="869199" cy="1787035"/>
            <a:chOff x="7453992" y="4071761"/>
            <a:chExt cx="1448866" cy="2011739"/>
          </a:xfrm>
        </p:grpSpPr>
        <p:sp>
          <p:nvSpPr>
            <p:cNvPr id="9" name="手繪多邊形 8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 9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" name="群組 10"/>
          <p:cNvGrpSpPr/>
          <p:nvPr/>
        </p:nvGrpSpPr>
        <p:grpSpPr>
          <a:xfrm flipH="1">
            <a:off x="7508419" y="3400101"/>
            <a:ext cx="900794" cy="1795076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4817756" y="2518384"/>
            <a:ext cx="869199" cy="1787035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7" name="群組 16"/>
          <p:cNvGrpSpPr/>
          <p:nvPr/>
        </p:nvGrpSpPr>
        <p:grpSpPr>
          <a:xfrm flipH="1">
            <a:off x="7508418" y="2506619"/>
            <a:ext cx="900794" cy="1795076"/>
            <a:chOff x="7453992" y="4071761"/>
            <a:chExt cx="1448866" cy="2011739"/>
          </a:xfrm>
        </p:grpSpPr>
        <p:sp>
          <p:nvSpPr>
            <p:cNvPr id="18" name="手繪多邊形 17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 18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0" name="圓角矩形 19"/>
          <p:cNvSpPr/>
          <p:nvPr/>
        </p:nvSpPr>
        <p:spPr>
          <a:xfrm>
            <a:off x="4809707" y="2495359"/>
            <a:ext cx="1787978" cy="3612672"/>
          </a:xfrm>
          <a:prstGeom prst="roundRect">
            <a:avLst/>
          </a:prstGeom>
          <a:noFill/>
          <a:ln w="3810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5438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2996292" y="162657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群組 6"/>
          <p:cNvGrpSpPr/>
          <p:nvPr/>
        </p:nvGrpSpPr>
        <p:grpSpPr>
          <a:xfrm>
            <a:off x="4784270" y="3424443"/>
            <a:ext cx="869199" cy="1787035"/>
            <a:chOff x="7453992" y="4071761"/>
            <a:chExt cx="1448866" cy="2011739"/>
          </a:xfrm>
        </p:grpSpPr>
        <p:sp>
          <p:nvSpPr>
            <p:cNvPr id="9" name="手繪多邊形 8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 9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" name="群組 10"/>
          <p:cNvGrpSpPr/>
          <p:nvPr/>
        </p:nvGrpSpPr>
        <p:grpSpPr>
          <a:xfrm flipH="1">
            <a:off x="7508419" y="3400101"/>
            <a:ext cx="900794" cy="1795076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4817756" y="2518384"/>
            <a:ext cx="869199" cy="1787035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7" name="群組 16"/>
          <p:cNvGrpSpPr/>
          <p:nvPr/>
        </p:nvGrpSpPr>
        <p:grpSpPr>
          <a:xfrm flipH="1">
            <a:off x="7508418" y="2506619"/>
            <a:ext cx="900794" cy="1795076"/>
            <a:chOff x="7453992" y="4071761"/>
            <a:chExt cx="1448866" cy="2011739"/>
          </a:xfrm>
        </p:grpSpPr>
        <p:sp>
          <p:nvSpPr>
            <p:cNvPr id="18" name="手繪多邊形 17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 18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0" name="圓角矩形 19"/>
          <p:cNvSpPr/>
          <p:nvPr/>
        </p:nvSpPr>
        <p:spPr>
          <a:xfrm>
            <a:off x="4809707" y="2495359"/>
            <a:ext cx="1787978" cy="3612672"/>
          </a:xfrm>
          <a:prstGeom prst="roundRect">
            <a:avLst/>
          </a:prstGeom>
          <a:noFill/>
          <a:ln w="3810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2290828" y="3641272"/>
            <a:ext cx="6719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b="1" dirty="0" smtClean="0">
                <a:solidFill>
                  <a:srgbClr val="006600"/>
                </a:solidFill>
              </a:rPr>
              <a:t>y’</a:t>
            </a:r>
            <a:endParaRPr lang="zh-TW" altLang="en-US" sz="4800" b="1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881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2996292" y="162657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群組 6"/>
          <p:cNvGrpSpPr/>
          <p:nvPr/>
        </p:nvGrpSpPr>
        <p:grpSpPr>
          <a:xfrm>
            <a:off x="4784270" y="3424443"/>
            <a:ext cx="869199" cy="1787035"/>
            <a:chOff x="7453992" y="4071761"/>
            <a:chExt cx="1448866" cy="2011739"/>
          </a:xfrm>
        </p:grpSpPr>
        <p:sp>
          <p:nvSpPr>
            <p:cNvPr id="9" name="手繪多邊形 8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 9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" name="群組 10"/>
          <p:cNvGrpSpPr/>
          <p:nvPr/>
        </p:nvGrpSpPr>
        <p:grpSpPr>
          <a:xfrm flipH="1">
            <a:off x="7508419" y="3400101"/>
            <a:ext cx="900794" cy="1795076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4817756" y="2518384"/>
            <a:ext cx="869199" cy="1787035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7" name="群組 16"/>
          <p:cNvGrpSpPr/>
          <p:nvPr/>
        </p:nvGrpSpPr>
        <p:grpSpPr>
          <a:xfrm flipH="1">
            <a:off x="7508418" y="2506619"/>
            <a:ext cx="900794" cy="1795076"/>
            <a:chOff x="7453992" y="4071761"/>
            <a:chExt cx="1448866" cy="2011739"/>
          </a:xfrm>
        </p:grpSpPr>
        <p:sp>
          <p:nvSpPr>
            <p:cNvPr id="18" name="手繪多邊形 17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 18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0" name="圓角矩形 19"/>
          <p:cNvSpPr/>
          <p:nvPr/>
        </p:nvSpPr>
        <p:spPr>
          <a:xfrm>
            <a:off x="4809707" y="2495359"/>
            <a:ext cx="1787978" cy="3612672"/>
          </a:xfrm>
          <a:prstGeom prst="roundRect">
            <a:avLst/>
          </a:prstGeom>
          <a:noFill/>
          <a:ln w="3810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2290828" y="3641272"/>
            <a:ext cx="6719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b="1" dirty="0" smtClean="0">
                <a:solidFill>
                  <a:srgbClr val="006600"/>
                </a:solidFill>
              </a:rPr>
              <a:t>y’</a:t>
            </a:r>
            <a:endParaRPr lang="zh-TW" altLang="en-US" sz="4800" b="1" dirty="0">
              <a:solidFill>
                <a:srgbClr val="0066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0148209" y="2401245"/>
            <a:ext cx="12875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b="1" dirty="0" err="1" smtClean="0">
                <a:solidFill>
                  <a:srgbClr val="0000FF"/>
                </a:solidFill>
              </a:rPr>
              <a:t>w’z</a:t>
            </a:r>
            <a:r>
              <a:rPr lang="en-US" altLang="zh-TW" sz="4800" b="1" dirty="0" smtClean="0">
                <a:solidFill>
                  <a:srgbClr val="0000FF"/>
                </a:solidFill>
              </a:rPr>
              <a:t>’</a:t>
            </a:r>
            <a:endParaRPr lang="zh-TW" altLang="en-US" sz="4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825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∑(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1, 2, 4, 5, 6, 8, 9, 12, 13, 14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2996292" y="162657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群組 6"/>
          <p:cNvGrpSpPr/>
          <p:nvPr/>
        </p:nvGrpSpPr>
        <p:grpSpPr>
          <a:xfrm>
            <a:off x="4784270" y="3424443"/>
            <a:ext cx="869199" cy="1787035"/>
            <a:chOff x="7453992" y="4071761"/>
            <a:chExt cx="1448866" cy="2011739"/>
          </a:xfrm>
        </p:grpSpPr>
        <p:sp>
          <p:nvSpPr>
            <p:cNvPr id="9" name="手繪多邊形 8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 9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" name="群組 10"/>
          <p:cNvGrpSpPr/>
          <p:nvPr/>
        </p:nvGrpSpPr>
        <p:grpSpPr>
          <a:xfrm flipH="1">
            <a:off x="7508419" y="3400101"/>
            <a:ext cx="900794" cy="1795076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4817756" y="2518384"/>
            <a:ext cx="869199" cy="1787035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7" name="群組 16"/>
          <p:cNvGrpSpPr/>
          <p:nvPr/>
        </p:nvGrpSpPr>
        <p:grpSpPr>
          <a:xfrm flipH="1">
            <a:off x="7508418" y="2506619"/>
            <a:ext cx="900794" cy="1795076"/>
            <a:chOff x="7453992" y="4071761"/>
            <a:chExt cx="1448866" cy="2011739"/>
          </a:xfrm>
        </p:grpSpPr>
        <p:sp>
          <p:nvSpPr>
            <p:cNvPr id="18" name="手繪多邊形 17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 18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0" name="圓角矩形 19"/>
          <p:cNvSpPr/>
          <p:nvPr/>
        </p:nvSpPr>
        <p:spPr>
          <a:xfrm>
            <a:off x="4809707" y="2495359"/>
            <a:ext cx="1787978" cy="3612672"/>
          </a:xfrm>
          <a:prstGeom prst="roundRect">
            <a:avLst/>
          </a:prstGeom>
          <a:noFill/>
          <a:ln w="3810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2290828" y="3641272"/>
            <a:ext cx="6719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b="1" dirty="0" smtClean="0">
                <a:solidFill>
                  <a:srgbClr val="006600"/>
                </a:solidFill>
              </a:rPr>
              <a:t>y’</a:t>
            </a:r>
            <a:endParaRPr lang="zh-TW" altLang="en-US" sz="4800" b="1" dirty="0">
              <a:solidFill>
                <a:srgbClr val="0066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0148209" y="2401245"/>
            <a:ext cx="12875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b="1" dirty="0" err="1" smtClean="0">
                <a:solidFill>
                  <a:srgbClr val="0000FF"/>
                </a:solidFill>
              </a:rPr>
              <a:t>w’z</a:t>
            </a:r>
            <a:r>
              <a:rPr lang="en-US" altLang="zh-TW" sz="4800" b="1" dirty="0" smtClean="0">
                <a:solidFill>
                  <a:srgbClr val="0000FF"/>
                </a:solidFill>
              </a:rPr>
              <a:t>’</a:t>
            </a:r>
            <a:endParaRPr lang="zh-TW" altLang="en-US" sz="4800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0156258" y="4078752"/>
            <a:ext cx="9669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b="1" dirty="0" err="1" smtClean="0">
                <a:solidFill>
                  <a:srgbClr val="C00000"/>
                </a:solidFill>
              </a:rPr>
              <a:t>xz</a:t>
            </a:r>
            <a:r>
              <a:rPr lang="en-US" altLang="zh-TW" sz="4800" b="1" dirty="0" smtClean="0">
                <a:solidFill>
                  <a:srgbClr val="C00000"/>
                </a:solidFill>
              </a:rPr>
              <a:t>’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59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971" y="92391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F(w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, x, y, z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 y’ + </a:t>
            </a:r>
            <a:r>
              <a:rPr lang="en-US" altLang="zh-TW" sz="3600" b="1" dirty="0" err="1" smtClean="0">
                <a:solidFill>
                  <a:srgbClr val="C00000"/>
                </a:solidFill>
                <a:latin typeface="+mj-lt"/>
              </a:rPr>
              <a:t>xz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’ + </a:t>
            </a:r>
            <a:r>
              <a:rPr lang="en-US" altLang="zh-TW" sz="3600" b="1" dirty="0" err="1" smtClean="0">
                <a:solidFill>
                  <a:srgbClr val="C00000"/>
                </a:solidFill>
                <a:latin typeface="+mj-lt"/>
              </a:rPr>
              <a:t>w’z</a:t>
            </a:r>
            <a:r>
              <a:rPr lang="en-US" altLang="zh-TW" sz="3600" b="1" dirty="0" smtClean="0">
                <a:solidFill>
                  <a:srgbClr val="C00000"/>
                </a:solidFill>
                <a:latin typeface="+mj-lt"/>
              </a:rPr>
              <a:t>’</a:t>
            </a:r>
            <a:endParaRPr lang="en-US" altLang="zh-TW" sz="3600" b="1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856650-4570-45FC-A867-359BC97C6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b="12639"/>
          <a:stretch/>
        </p:blipFill>
        <p:spPr bwMode="auto">
          <a:xfrm>
            <a:off x="2996292" y="1626574"/>
            <a:ext cx="7151917" cy="523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群組 6"/>
          <p:cNvGrpSpPr/>
          <p:nvPr/>
        </p:nvGrpSpPr>
        <p:grpSpPr>
          <a:xfrm>
            <a:off x="4784270" y="3424443"/>
            <a:ext cx="869199" cy="1787035"/>
            <a:chOff x="7453992" y="4071761"/>
            <a:chExt cx="1448866" cy="2011739"/>
          </a:xfrm>
        </p:grpSpPr>
        <p:sp>
          <p:nvSpPr>
            <p:cNvPr id="9" name="手繪多邊形 8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 9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" name="群組 10"/>
          <p:cNvGrpSpPr/>
          <p:nvPr/>
        </p:nvGrpSpPr>
        <p:grpSpPr>
          <a:xfrm flipH="1">
            <a:off x="7508419" y="3400101"/>
            <a:ext cx="900794" cy="1795076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4817756" y="2518384"/>
            <a:ext cx="869199" cy="1787035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7" name="群組 16"/>
          <p:cNvGrpSpPr/>
          <p:nvPr/>
        </p:nvGrpSpPr>
        <p:grpSpPr>
          <a:xfrm flipH="1">
            <a:off x="7508418" y="2506619"/>
            <a:ext cx="900794" cy="1795076"/>
            <a:chOff x="7453992" y="4071761"/>
            <a:chExt cx="1448866" cy="2011739"/>
          </a:xfrm>
        </p:grpSpPr>
        <p:sp>
          <p:nvSpPr>
            <p:cNvPr id="18" name="手繪多邊形 17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 18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0" name="圓角矩形 19"/>
          <p:cNvSpPr/>
          <p:nvPr/>
        </p:nvSpPr>
        <p:spPr>
          <a:xfrm>
            <a:off x="4809707" y="2495359"/>
            <a:ext cx="1787978" cy="3612672"/>
          </a:xfrm>
          <a:prstGeom prst="roundRect">
            <a:avLst/>
          </a:prstGeom>
          <a:noFill/>
          <a:ln w="3810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2290828" y="3641272"/>
            <a:ext cx="6719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b="1" dirty="0" smtClean="0">
                <a:solidFill>
                  <a:srgbClr val="006600"/>
                </a:solidFill>
              </a:rPr>
              <a:t>y’</a:t>
            </a:r>
            <a:endParaRPr lang="zh-TW" altLang="en-US" sz="4800" b="1" dirty="0">
              <a:solidFill>
                <a:srgbClr val="0066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0148209" y="2401245"/>
            <a:ext cx="12875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b="1" dirty="0" err="1" smtClean="0">
                <a:solidFill>
                  <a:srgbClr val="0000FF"/>
                </a:solidFill>
              </a:rPr>
              <a:t>w’z</a:t>
            </a:r>
            <a:r>
              <a:rPr lang="en-US" altLang="zh-TW" sz="4800" b="1" dirty="0" smtClean="0">
                <a:solidFill>
                  <a:srgbClr val="0000FF"/>
                </a:solidFill>
              </a:rPr>
              <a:t>’</a:t>
            </a:r>
            <a:endParaRPr lang="zh-TW" altLang="en-US" sz="4800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0156258" y="4078752"/>
            <a:ext cx="9669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b="1" dirty="0" err="1" smtClean="0">
                <a:solidFill>
                  <a:srgbClr val="C00000"/>
                </a:solidFill>
              </a:rPr>
              <a:t>xz</a:t>
            </a:r>
            <a:r>
              <a:rPr lang="en-US" altLang="zh-TW" sz="4800" b="1" dirty="0" smtClean="0">
                <a:solidFill>
                  <a:srgbClr val="C00000"/>
                </a:solidFill>
              </a:rPr>
              <a:t>’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281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</p:spTree>
    <p:extLst>
      <p:ext uri="{BB962C8B-B14F-4D97-AF65-F5344CB8AC3E}">
        <p14:creationId xmlns:p14="http://schemas.microsoft.com/office/powerpoint/2010/main" val="3377858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0" y="1496994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2284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0" y="1496994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7837095" y="1754914"/>
            <a:ext cx="13614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A’B’C’ </a:t>
            </a:r>
          </a:p>
          <a:p>
            <a:r>
              <a:rPr lang="en-US" altLang="zh-TW" sz="3600" dirty="0" smtClean="0"/>
              <a:t> 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339518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0" y="1496994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7837095" y="1754914"/>
            <a:ext cx="39264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A’B’C’ </a:t>
            </a:r>
          </a:p>
          <a:p>
            <a:r>
              <a:rPr lang="en-US" altLang="zh-TW" sz="3600" dirty="0" smtClean="0"/>
              <a:t>= </a:t>
            </a:r>
            <a:r>
              <a:rPr lang="en-US" altLang="zh-TW" sz="3600" dirty="0"/>
              <a:t>A’B’C</a:t>
            </a:r>
            <a:r>
              <a:rPr lang="en-US" altLang="zh-TW" sz="3600" dirty="0" smtClean="0"/>
              <a:t>’(D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+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D’)</a:t>
            </a:r>
          </a:p>
          <a:p>
            <a:r>
              <a:rPr lang="en-US" altLang="zh-TW" sz="3600" dirty="0" smtClean="0"/>
              <a:t>=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A’B’C’D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+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A’B’C’D’</a:t>
            </a:r>
          </a:p>
          <a:p>
            <a:r>
              <a:rPr lang="en-US" altLang="zh-TW" sz="3600" dirty="0" smtClean="0"/>
              <a:t> 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39348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0" y="1496994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7837095" y="1754914"/>
            <a:ext cx="39264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A’B’C’ </a:t>
            </a:r>
          </a:p>
          <a:p>
            <a:r>
              <a:rPr lang="en-US" altLang="zh-TW" sz="3600" dirty="0" smtClean="0"/>
              <a:t>= </a:t>
            </a:r>
            <a:r>
              <a:rPr lang="en-US" altLang="zh-TW" sz="3600" dirty="0"/>
              <a:t>A’B’C</a:t>
            </a:r>
            <a:r>
              <a:rPr lang="en-US" altLang="zh-TW" sz="3600" dirty="0" smtClean="0"/>
              <a:t>’(D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+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D’)</a:t>
            </a:r>
          </a:p>
          <a:p>
            <a:r>
              <a:rPr lang="en-US" altLang="zh-TW" sz="3600" dirty="0" smtClean="0"/>
              <a:t>=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A’B’C’D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+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A’B’C’D’</a:t>
            </a:r>
          </a:p>
          <a:p>
            <a:r>
              <a:rPr lang="en-US" altLang="zh-TW" sz="3600" dirty="0" smtClean="0"/>
              <a:t> </a:t>
            </a:r>
            <a:endParaRPr lang="zh-TW" altLang="en-US" sz="3600" dirty="0"/>
          </a:p>
        </p:txBody>
      </p:sp>
      <p:sp>
        <p:nvSpPr>
          <p:cNvPr id="3" name="橢圓 2"/>
          <p:cNvSpPr/>
          <p:nvPr/>
        </p:nvSpPr>
        <p:spPr>
          <a:xfrm>
            <a:off x="3485488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2651367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6261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0" y="1496994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7837095" y="1754914"/>
            <a:ext cx="39264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A’B’C’ </a:t>
            </a:r>
          </a:p>
          <a:p>
            <a:r>
              <a:rPr lang="en-US" altLang="zh-TW" sz="3600" dirty="0" smtClean="0"/>
              <a:t>= </a:t>
            </a:r>
            <a:r>
              <a:rPr lang="en-US" altLang="zh-TW" sz="3600" dirty="0"/>
              <a:t>A’B’C</a:t>
            </a:r>
            <a:r>
              <a:rPr lang="en-US" altLang="zh-TW" sz="3600" dirty="0" smtClean="0"/>
              <a:t>’(D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+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D’)</a:t>
            </a:r>
          </a:p>
          <a:p>
            <a:r>
              <a:rPr lang="en-US" altLang="zh-TW" sz="3600" dirty="0" smtClean="0"/>
              <a:t>=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A’B’C’D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+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A’B’C’D’</a:t>
            </a:r>
          </a:p>
          <a:p>
            <a:r>
              <a:rPr lang="en-US" altLang="zh-TW" sz="3600" dirty="0" smtClean="0"/>
              <a:t> </a:t>
            </a:r>
            <a:endParaRPr lang="zh-TW" altLang="en-US" sz="3600" dirty="0"/>
          </a:p>
        </p:txBody>
      </p:sp>
      <p:sp>
        <p:nvSpPr>
          <p:cNvPr id="10" name="矩形 9"/>
          <p:cNvSpPr/>
          <p:nvPr/>
        </p:nvSpPr>
        <p:spPr>
          <a:xfrm>
            <a:off x="9077018" y="3892528"/>
            <a:ext cx="12348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A’B’C’</a:t>
            </a:r>
            <a:endParaRPr lang="zh-TW" altLang="en-US" sz="3600" dirty="0"/>
          </a:p>
        </p:txBody>
      </p:sp>
      <p:sp>
        <p:nvSpPr>
          <p:cNvPr id="15" name="橢圓 14"/>
          <p:cNvSpPr/>
          <p:nvPr/>
        </p:nvSpPr>
        <p:spPr>
          <a:xfrm>
            <a:off x="3485488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2651367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722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0" y="1496994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7837095" y="1754914"/>
            <a:ext cx="39264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A’B’C’ </a:t>
            </a:r>
          </a:p>
          <a:p>
            <a:r>
              <a:rPr lang="en-US" altLang="zh-TW" sz="3600" dirty="0" smtClean="0"/>
              <a:t>= </a:t>
            </a:r>
            <a:r>
              <a:rPr lang="en-US" altLang="zh-TW" sz="3600" dirty="0"/>
              <a:t>A’B’C</a:t>
            </a:r>
            <a:r>
              <a:rPr lang="en-US" altLang="zh-TW" sz="3600" dirty="0" smtClean="0"/>
              <a:t>’(D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+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D’)</a:t>
            </a:r>
          </a:p>
          <a:p>
            <a:r>
              <a:rPr lang="en-US" altLang="zh-TW" sz="3600" dirty="0" smtClean="0"/>
              <a:t>=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A’B’C’D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+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A’B’C’D’</a:t>
            </a:r>
          </a:p>
          <a:p>
            <a:r>
              <a:rPr lang="en-US" altLang="zh-TW" sz="3600" dirty="0" smtClean="0"/>
              <a:t> 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9077018" y="4467216"/>
            <a:ext cx="1584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0 0 0 X</a:t>
            </a:r>
            <a:endParaRPr lang="zh-TW" altLang="en-US" sz="3600" dirty="0"/>
          </a:p>
        </p:txBody>
      </p:sp>
      <p:sp>
        <p:nvSpPr>
          <p:cNvPr id="10" name="矩形 9"/>
          <p:cNvSpPr/>
          <p:nvPr/>
        </p:nvSpPr>
        <p:spPr>
          <a:xfrm>
            <a:off x="9077018" y="3892528"/>
            <a:ext cx="12348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A’B’C’</a:t>
            </a:r>
            <a:endParaRPr lang="zh-TW" altLang="en-US" sz="3600" dirty="0"/>
          </a:p>
        </p:txBody>
      </p:sp>
      <p:sp>
        <p:nvSpPr>
          <p:cNvPr id="15" name="橢圓 14"/>
          <p:cNvSpPr/>
          <p:nvPr/>
        </p:nvSpPr>
        <p:spPr>
          <a:xfrm>
            <a:off x="3485488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2651367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6356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0" y="1496994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7837095" y="1754914"/>
            <a:ext cx="39264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A’B’C’ </a:t>
            </a:r>
          </a:p>
          <a:p>
            <a:r>
              <a:rPr lang="en-US" altLang="zh-TW" sz="3600" dirty="0" smtClean="0"/>
              <a:t>= </a:t>
            </a:r>
            <a:r>
              <a:rPr lang="en-US" altLang="zh-TW" sz="3600" dirty="0"/>
              <a:t>A’B’C</a:t>
            </a:r>
            <a:r>
              <a:rPr lang="en-US" altLang="zh-TW" sz="3600" dirty="0" smtClean="0"/>
              <a:t>’(D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+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D’)</a:t>
            </a:r>
          </a:p>
          <a:p>
            <a:r>
              <a:rPr lang="en-US" altLang="zh-TW" sz="3600" dirty="0" smtClean="0"/>
              <a:t>=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A’B’C’D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+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A’B’C’D’</a:t>
            </a:r>
          </a:p>
          <a:p>
            <a:r>
              <a:rPr lang="en-US" altLang="zh-TW" sz="3600" dirty="0" smtClean="0"/>
              <a:t> </a:t>
            </a:r>
            <a:endParaRPr lang="zh-TW" altLang="en-US" sz="3600" dirty="0"/>
          </a:p>
        </p:txBody>
      </p:sp>
      <p:cxnSp>
        <p:nvCxnSpPr>
          <p:cNvPr id="6" name="直線單箭頭接點 5"/>
          <p:cNvCxnSpPr/>
          <p:nvPr/>
        </p:nvCxnSpPr>
        <p:spPr>
          <a:xfrm flipH="1">
            <a:off x="8766614" y="5113547"/>
            <a:ext cx="1102448" cy="527974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9077018" y="4467216"/>
            <a:ext cx="1584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0 0 0 X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8079693" y="5641520"/>
            <a:ext cx="1584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0 0 0 0</a:t>
            </a:r>
            <a:endParaRPr lang="zh-TW" altLang="en-US" sz="36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10179466" y="5641521"/>
            <a:ext cx="1584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0 0 0 1</a:t>
            </a:r>
            <a:endParaRPr lang="zh-TW" altLang="en-US" sz="3600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9869062" y="5113547"/>
            <a:ext cx="1102448" cy="527974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9077018" y="3892528"/>
            <a:ext cx="12348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A’B’C’</a:t>
            </a:r>
            <a:endParaRPr lang="zh-TW" altLang="en-US" sz="3600" dirty="0"/>
          </a:p>
        </p:txBody>
      </p:sp>
      <p:sp>
        <p:nvSpPr>
          <p:cNvPr id="15" name="橢圓 14"/>
          <p:cNvSpPr/>
          <p:nvPr/>
        </p:nvSpPr>
        <p:spPr>
          <a:xfrm>
            <a:off x="3485488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2651367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6373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0" y="1496994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9207883" y="2647257"/>
            <a:ext cx="11753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 smtClean="0"/>
              <a:t>B’CD’</a:t>
            </a:r>
            <a:endParaRPr lang="zh-TW" altLang="en-US" sz="3600" dirty="0"/>
          </a:p>
        </p:txBody>
      </p:sp>
      <p:sp>
        <p:nvSpPr>
          <p:cNvPr id="14" name="橢圓 13"/>
          <p:cNvSpPr/>
          <p:nvPr/>
        </p:nvSpPr>
        <p:spPr>
          <a:xfrm>
            <a:off x="3485488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2651367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0029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0" y="1496994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8799117" y="3234409"/>
            <a:ext cx="1584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X 0 1 0</a:t>
            </a:r>
            <a:endParaRPr lang="zh-TW" altLang="en-US" sz="3600" dirty="0"/>
          </a:p>
        </p:txBody>
      </p:sp>
      <p:sp>
        <p:nvSpPr>
          <p:cNvPr id="10" name="矩形 9"/>
          <p:cNvSpPr/>
          <p:nvPr/>
        </p:nvSpPr>
        <p:spPr>
          <a:xfrm>
            <a:off x="9207883" y="2647257"/>
            <a:ext cx="11753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 smtClean="0"/>
              <a:t>B’CD’</a:t>
            </a:r>
            <a:endParaRPr lang="zh-TW" altLang="en-US" sz="3600" dirty="0"/>
          </a:p>
        </p:txBody>
      </p:sp>
      <p:sp>
        <p:nvSpPr>
          <p:cNvPr id="14" name="橢圓 13"/>
          <p:cNvSpPr/>
          <p:nvPr/>
        </p:nvSpPr>
        <p:spPr>
          <a:xfrm>
            <a:off x="3485488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2651367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9891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0" y="1496994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線單箭頭接點 5"/>
          <p:cNvCxnSpPr/>
          <p:nvPr/>
        </p:nvCxnSpPr>
        <p:spPr>
          <a:xfrm flipH="1">
            <a:off x="8488713" y="3880740"/>
            <a:ext cx="1102448" cy="527974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8799117" y="3234409"/>
            <a:ext cx="1584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X 0 1 0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801792" y="4408713"/>
            <a:ext cx="1584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1 0 1 0</a:t>
            </a:r>
            <a:endParaRPr lang="zh-TW" altLang="en-US" sz="36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9901565" y="4408714"/>
            <a:ext cx="1584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0 0 1 0</a:t>
            </a:r>
            <a:endParaRPr lang="zh-TW" altLang="en-US" sz="3600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9591161" y="3880740"/>
            <a:ext cx="1102448" cy="527974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9207883" y="2647257"/>
            <a:ext cx="11753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 smtClean="0"/>
              <a:t>B’CD’</a:t>
            </a:r>
            <a:endParaRPr lang="zh-TW" altLang="en-US" sz="3600" dirty="0"/>
          </a:p>
        </p:txBody>
      </p:sp>
      <p:sp>
        <p:nvSpPr>
          <p:cNvPr id="14" name="橢圓 13"/>
          <p:cNvSpPr/>
          <p:nvPr/>
        </p:nvSpPr>
        <p:spPr>
          <a:xfrm>
            <a:off x="3485488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2651367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9490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0" y="1500850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線單箭頭接點 5"/>
          <p:cNvCxnSpPr/>
          <p:nvPr/>
        </p:nvCxnSpPr>
        <p:spPr>
          <a:xfrm flipH="1">
            <a:off x="8488713" y="3880740"/>
            <a:ext cx="1102448" cy="527974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8799117" y="3234409"/>
            <a:ext cx="1584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X 0 1 0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801792" y="4408713"/>
            <a:ext cx="1584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1 0 1 0</a:t>
            </a:r>
            <a:endParaRPr lang="zh-TW" altLang="en-US" sz="36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9901565" y="4408714"/>
            <a:ext cx="1584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0 0 1 0</a:t>
            </a:r>
            <a:endParaRPr lang="zh-TW" altLang="en-US" sz="3600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9591161" y="3880740"/>
            <a:ext cx="1102448" cy="527974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9207883" y="2647257"/>
            <a:ext cx="11753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 smtClean="0"/>
              <a:t>B’CD’</a:t>
            </a:r>
            <a:endParaRPr lang="zh-TW" altLang="en-US" sz="3600" dirty="0"/>
          </a:p>
        </p:txBody>
      </p:sp>
      <p:sp>
        <p:nvSpPr>
          <p:cNvPr id="14" name="橢圓 13"/>
          <p:cNvSpPr/>
          <p:nvPr/>
        </p:nvSpPr>
        <p:spPr>
          <a:xfrm>
            <a:off x="5134011" y="3053443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5134010" y="5527221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3485488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2651367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2046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0" y="1500850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8375126" y="2619383"/>
            <a:ext cx="14127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 smtClean="0"/>
              <a:t>A’BCD’</a:t>
            </a:r>
            <a:endParaRPr lang="zh-TW" altLang="en-US" sz="3600" dirty="0"/>
          </a:p>
        </p:txBody>
      </p:sp>
      <p:sp>
        <p:nvSpPr>
          <p:cNvPr id="15" name="橢圓 14"/>
          <p:cNvSpPr/>
          <p:nvPr/>
        </p:nvSpPr>
        <p:spPr>
          <a:xfrm>
            <a:off x="5134011" y="3053443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134010" y="5527221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3485488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2651367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490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0" y="1500850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8375126" y="2619383"/>
            <a:ext cx="14127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 smtClean="0"/>
              <a:t>A’BCD’</a:t>
            </a:r>
            <a:endParaRPr lang="zh-TW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75126" y="3498395"/>
            <a:ext cx="15840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 smtClean="0"/>
              <a:t>0 1 1 0</a:t>
            </a:r>
            <a:endParaRPr lang="zh-TW" altLang="en-US" sz="3600" dirty="0"/>
          </a:p>
        </p:txBody>
      </p:sp>
      <p:sp>
        <p:nvSpPr>
          <p:cNvPr id="8" name="橢圓 7"/>
          <p:cNvSpPr/>
          <p:nvPr/>
        </p:nvSpPr>
        <p:spPr>
          <a:xfrm>
            <a:off x="5134011" y="3053443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5134010" y="5527221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485488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2651367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9285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0" y="1500850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8375126" y="2619383"/>
            <a:ext cx="14127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 smtClean="0"/>
              <a:t>A’BCD’</a:t>
            </a:r>
            <a:endParaRPr lang="zh-TW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75126" y="3498395"/>
            <a:ext cx="15840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 smtClean="0"/>
              <a:t>0 1 1 0</a:t>
            </a:r>
            <a:endParaRPr lang="zh-TW" altLang="en-US" sz="3600" dirty="0"/>
          </a:p>
        </p:txBody>
      </p:sp>
      <p:sp>
        <p:nvSpPr>
          <p:cNvPr id="7" name="橢圓 6"/>
          <p:cNvSpPr/>
          <p:nvPr/>
        </p:nvSpPr>
        <p:spPr>
          <a:xfrm>
            <a:off x="5134011" y="3053443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5134011" y="3053443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5134010" y="5527221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485488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2651367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5134009" y="3865789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60362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0" y="1500850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8375126" y="2619383"/>
            <a:ext cx="11753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 smtClean="0"/>
              <a:t>AB’C’</a:t>
            </a:r>
            <a:endParaRPr lang="zh-TW" altLang="en-US" sz="3600" dirty="0"/>
          </a:p>
        </p:txBody>
      </p:sp>
      <p:sp>
        <p:nvSpPr>
          <p:cNvPr id="7" name="橢圓 6"/>
          <p:cNvSpPr/>
          <p:nvPr/>
        </p:nvSpPr>
        <p:spPr>
          <a:xfrm>
            <a:off x="5134011" y="3053443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5134010" y="5527221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3485488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2651367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5134009" y="3865789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1945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0" y="1500850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8375126" y="2619383"/>
            <a:ext cx="11753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 smtClean="0"/>
              <a:t>AB’C’</a:t>
            </a:r>
            <a:endParaRPr lang="zh-TW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75126" y="3265714"/>
            <a:ext cx="15840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 smtClean="0"/>
              <a:t>1 0 0 X</a:t>
            </a:r>
            <a:endParaRPr lang="zh-TW" altLang="en-US" sz="3600" dirty="0"/>
          </a:p>
        </p:txBody>
      </p:sp>
      <p:sp>
        <p:nvSpPr>
          <p:cNvPr id="8" name="橢圓 7"/>
          <p:cNvSpPr/>
          <p:nvPr/>
        </p:nvSpPr>
        <p:spPr>
          <a:xfrm>
            <a:off x="5134011" y="3053443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5134010" y="5527221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485488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2651367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5134009" y="3865789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6609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0" y="1500850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8375126" y="2619383"/>
            <a:ext cx="11753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 smtClean="0"/>
              <a:t>AB’C’</a:t>
            </a:r>
            <a:endParaRPr lang="zh-TW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75126" y="3265714"/>
            <a:ext cx="15840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 smtClean="0"/>
              <a:t>1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0 0 X</a:t>
            </a:r>
            <a:endParaRPr lang="zh-TW" altLang="en-US" sz="3600" dirty="0"/>
          </a:p>
        </p:txBody>
      </p:sp>
      <p:cxnSp>
        <p:nvCxnSpPr>
          <p:cNvPr id="7" name="直線單箭頭接點 6"/>
          <p:cNvCxnSpPr/>
          <p:nvPr/>
        </p:nvCxnSpPr>
        <p:spPr>
          <a:xfrm flipH="1">
            <a:off x="8082442" y="3842647"/>
            <a:ext cx="1102448" cy="527974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7395521" y="4370620"/>
            <a:ext cx="1584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1 0 0 0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9495294" y="4370621"/>
            <a:ext cx="1584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1 0 0 1</a:t>
            </a:r>
            <a:endParaRPr lang="zh-TW" altLang="en-US" sz="3600" dirty="0"/>
          </a:p>
        </p:txBody>
      </p:sp>
      <p:cxnSp>
        <p:nvCxnSpPr>
          <p:cNvPr id="11" name="直線單箭頭接點 10"/>
          <p:cNvCxnSpPr/>
          <p:nvPr/>
        </p:nvCxnSpPr>
        <p:spPr>
          <a:xfrm>
            <a:off x="9184890" y="3842647"/>
            <a:ext cx="1102448" cy="527974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5134011" y="3053443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5134010" y="5527221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485488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2651367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134009" y="3865789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9805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0" y="1500850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8375126" y="2619383"/>
            <a:ext cx="11753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 smtClean="0"/>
              <a:t>AB’C’</a:t>
            </a:r>
            <a:endParaRPr lang="zh-TW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8375126" y="3265714"/>
            <a:ext cx="15840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 smtClean="0"/>
              <a:t>1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0 0 X</a:t>
            </a:r>
            <a:endParaRPr lang="zh-TW" altLang="en-US" sz="3600" dirty="0"/>
          </a:p>
        </p:txBody>
      </p:sp>
      <p:cxnSp>
        <p:nvCxnSpPr>
          <p:cNvPr id="7" name="直線單箭頭接點 6"/>
          <p:cNvCxnSpPr/>
          <p:nvPr/>
        </p:nvCxnSpPr>
        <p:spPr>
          <a:xfrm flipH="1">
            <a:off x="8082442" y="3842647"/>
            <a:ext cx="1102448" cy="527974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7395521" y="4370620"/>
            <a:ext cx="1584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1 0 0 0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9495294" y="4370621"/>
            <a:ext cx="1584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1 0 0 1</a:t>
            </a:r>
            <a:endParaRPr lang="zh-TW" altLang="en-US" sz="3600" dirty="0"/>
          </a:p>
        </p:txBody>
      </p:sp>
      <p:cxnSp>
        <p:nvCxnSpPr>
          <p:cNvPr id="11" name="直線單箭頭接點 10"/>
          <p:cNvCxnSpPr/>
          <p:nvPr/>
        </p:nvCxnSpPr>
        <p:spPr>
          <a:xfrm>
            <a:off x="9184890" y="3842647"/>
            <a:ext cx="1102448" cy="527974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/>
          <p:cNvSpPr/>
          <p:nvPr/>
        </p:nvSpPr>
        <p:spPr>
          <a:xfrm>
            <a:off x="2652068" y="55435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3485488" y="55435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5134011" y="3053443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5134010" y="5527221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3485488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2651367" y="3028950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5134009" y="3865789"/>
            <a:ext cx="424543" cy="4245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5860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0" y="1500850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9282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2261507" y="1402879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群組 5"/>
          <p:cNvGrpSpPr/>
          <p:nvPr/>
        </p:nvGrpSpPr>
        <p:grpSpPr>
          <a:xfrm rot="16200000">
            <a:off x="5112173" y="4860025"/>
            <a:ext cx="869199" cy="1626413"/>
            <a:chOff x="7453992" y="4071761"/>
            <a:chExt cx="1448866" cy="2011739"/>
          </a:xfrm>
        </p:grpSpPr>
        <p:sp>
          <p:nvSpPr>
            <p:cNvPr id="7" name="手繪多邊形 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 7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9" name="群組 8"/>
          <p:cNvGrpSpPr/>
          <p:nvPr/>
        </p:nvGrpSpPr>
        <p:grpSpPr>
          <a:xfrm rot="5400000">
            <a:off x="5105123" y="2312767"/>
            <a:ext cx="869199" cy="1626413"/>
            <a:chOff x="7453992" y="4071761"/>
            <a:chExt cx="1448866" cy="2011739"/>
          </a:xfrm>
        </p:grpSpPr>
        <p:sp>
          <p:nvSpPr>
            <p:cNvPr id="10" name="手繪多邊形 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 1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784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2261507" y="1402879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群組 5"/>
          <p:cNvGrpSpPr/>
          <p:nvPr/>
        </p:nvGrpSpPr>
        <p:grpSpPr>
          <a:xfrm rot="16200000">
            <a:off x="5112173" y="4860025"/>
            <a:ext cx="869199" cy="1626413"/>
            <a:chOff x="7453992" y="4071761"/>
            <a:chExt cx="1448866" cy="2011739"/>
          </a:xfrm>
        </p:grpSpPr>
        <p:sp>
          <p:nvSpPr>
            <p:cNvPr id="7" name="手繪多邊形 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 7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9" name="群組 8"/>
          <p:cNvGrpSpPr/>
          <p:nvPr/>
        </p:nvGrpSpPr>
        <p:grpSpPr>
          <a:xfrm rot="5400000">
            <a:off x="5105123" y="2312767"/>
            <a:ext cx="869199" cy="1626413"/>
            <a:chOff x="7453992" y="4071761"/>
            <a:chExt cx="1448866" cy="2011739"/>
          </a:xfrm>
        </p:grpSpPr>
        <p:sp>
          <p:nvSpPr>
            <p:cNvPr id="10" name="手繪多邊形 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 1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" name="文字方塊 1"/>
          <p:cNvSpPr txBox="1"/>
          <p:nvPr/>
        </p:nvSpPr>
        <p:spPr>
          <a:xfrm>
            <a:off x="2718706" y="3891737"/>
            <a:ext cx="819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B’C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711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2261507" y="1402879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手繪多邊形 2"/>
          <p:cNvSpPr/>
          <p:nvPr/>
        </p:nvSpPr>
        <p:spPr>
          <a:xfrm>
            <a:off x="4612821" y="2645229"/>
            <a:ext cx="949544" cy="963385"/>
          </a:xfrm>
          <a:custGeom>
            <a:avLst/>
            <a:gdLst>
              <a:gd name="connsiteX0" fmla="*/ 0 w 949544"/>
              <a:gd name="connsiteY0" fmla="*/ 898071 h 898071"/>
              <a:gd name="connsiteX1" fmla="*/ 816429 w 949544"/>
              <a:gd name="connsiteY1" fmla="*/ 734786 h 898071"/>
              <a:gd name="connsiteX2" fmla="*/ 938893 w 949544"/>
              <a:gd name="connsiteY2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9544" h="898071">
                <a:moveTo>
                  <a:pt x="0" y="898071"/>
                </a:moveTo>
                <a:cubicBezTo>
                  <a:pt x="329973" y="891268"/>
                  <a:pt x="659947" y="884465"/>
                  <a:pt x="816429" y="734786"/>
                </a:cubicBezTo>
                <a:cubicBezTo>
                  <a:pt x="972911" y="585107"/>
                  <a:pt x="955902" y="292553"/>
                  <a:pt x="938893" y="0"/>
                </a:cubicBezTo>
              </a:path>
            </a:pathLst>
          </a:cu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手繪多邊形 14"/>
          <p:cNvSpPr/>
          <p:nvPr/>
        </p:nvSpPr>
        <p:spPr>
          <a:xfrm flipH="1">
            <a:off x="7188308" y="2645228"/>
            <a:ext cx="949544" cy="963385"/>
          </a:xfrm>
          <a:custGeom>
            <a:avLst/>
            <a:gdLst>
              <a:gd name="connsiteX0" fmla="*/ 0 w 949544"/>
              <a:gd name="connsiteY0" fmla="*/ 898071 h 898071"/>
              <a:gd name="connsiteX1" fmla="*/ 816429 w 949544"/>
              <a:gd name="connsiteY1" fmla="*/ 734786 h 898071"/>
              <a:gd name="connsiteX2" fmla="*/ 938893 w 949544"/>
              <a:gd name="connsiteY2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9544" h="898071">
                <a:moveTo>
                  <a:pt x="0" y="898071"/>
                </a:moveTo>
                <a:cubicBezTo>
                  <a:pt x="329973" y="891268"/>
                  <a:pt x="659947" y="884465"/>
                  <a:pt x="816429" y="734786"/>
                </a:cubicBezTo>
                <a:cubicBezTo>
                  <a:pt x="972911" y="585107"/>
                  <a:pt x="955902" y="292553"/>
                  <a:pt x="938893" y="0"/>
                </a:cubicBezTo>
              </a:path>
            </a:pathLst>
          </a:cu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 flipH="1" flipV="1">
            <a:off x="7188308" y="5202781"/>
            <a:ext cx="949544" cy="963385"/>
          </a:xfrm>
          <a:custGeom>
            <a:avLst/>
            <a:gdLst>
              <a:gd name="connsiteX0" fmla="*/ 0 w 949544"/>
              <a:gd name="connsiteY0" fmla="*/ 898071 h 898071"/>
              <a:gd name="connsiteX1" fmla="*/ 816429 w 949544"/>
              <a:gd name="connsiteY1" fmla="*/ 734786 h 898071"/>
              <a:gd name="connsiteX2" fmla="*/ 938893 w 949544"/>
              <a:gd name="connsiteY2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9544" h="898071">
                <a:moveTo>
                  <a:pt x="0" y="898071"/>
                </a:moveTo>
                <a:cubicBezTo>
                  <a:pt x="329973" y="891268"/>
                  <a:pt x="659947" y="884465"/>
                  <a:pt x="816429" y="734786"/>
                </a:cubicBezTo>
                <a:cubicBezTo>
                  <a:pt x="972911" y="585107"/>
                  <a:pt x="955902" y="292553"/>
                  <a:pt x="938893" y="0"/>
                </a:cubicBezTo>
              </a:path>
            </a:pathLst>
          </a:cu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 flipV="1">
            <a:off x="4612821" y="5202781"/>
            <a:ext cx="949544" cy="963385"/>
          </a:xfrm>
          <a:custGeom>
            <a:avLst/>
            <a:gdLst>
              <a:gd name="connsiteX0" fmla="*/ 0 w 949544"/>
              <a:gd name="connsiteY0" fmla="*/ 898071 h 898071"/>
              <a:gd name="connsiteX1" fmla="*/ 816429 w 949544"/>
              <a:gd name="connsiteY1" fmla="*/ 734786 h 898071"/>
              <a:gd name="connsiteX2" fmla="*/ 938893 w 949544"/>
              <a:gd name="connsiteY2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9544" h="898071">
                <a:moveTo>
                  <a:pt x="0" y="898071"/>
                </a:moveTo>
                <a:cubicBezTo>
                  <a:pt x="329973" y="891268"/>
                  <a:pt x="659947" y="884465"/>
                  <a:pt x="816429" y="734786"/>
                </a:cubicBezTo>
                <a:cubicBezTo>
                  <a:pt x="972911" y="585107"/>
                  <a:pt x="955902" y="292553"/>
                  <a:pt x="938893" y="0"/>
                </a:cubicBezTo>
              </a:path>
            </a:pathLst>
          </a:cu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3942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2261507" y="1402879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9657028" y="4046755"/>
            <a:ext cx="963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0000FF"/>
                </a:solidFill>
              </a:rPr>
              <a:t>B’D’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" name="手繪多邊形 2"/>
          <p:cNvSpPr/>
          <p:nvPr/>
        </p:nvSpPr>
        <p:spPr>
          <a:xfrm>
            <a:off x="4612821" y="2645229"/>
            <a:ext cx="949544" cy="963385"/>
          </a:xfrm>
          <a:custGeom>
            <a:avLst/>
            <a:gdLst>
              <a:gd name="connsiteX0" fmla="*/ 0 w 949544"/>
              <a:gd name="connsiteY0" fmla="*/ 898071 h 898071"/>
              <a:gd name="connsiteX1" fmla="*/ 816429 w 949544"/>
              <a:gd name="connsiteY1" fmla="*/ 734786 h 898071"/>
              <a:gd name="connsiteX2" fmla="*/ 938893 w 949544"/>
              <a:gd name="connsiteY2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9544" h="898071">
                <a:moveTo>
                  <a:pt x="0" y="898071"/>
                </a:moveTo>
                <a:cubicBezTo>
                  <a:pt x="329973" y="891268"/>
                  <a:pt x="659947" y="884465"/>
                  <a:pt x="816429" y="734786"/>
                </a:cubicBezTo>
                <a:cubicBezTo>
                  <a:pt x="972911" y="585107"/>
                  <a:pt x="955902" y="292553"/>
                  <a:pt x="938893" y="0"/>
                </a:cubicBezTo>
              </a:path>
            </a:pathLst>
          </a:cu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手繪多邊形 14"/>
          <p:cNvSpPr/>
          <p:nvPr/>
        </p:nvSpPr>
        <p:spPr>
          <a:xfrm flipH="1">
            <a:off x="7188308" y="2645228"/>
            <a:ext cx="949544" cy="963385"/>
          </a:xfrm>
          <a:custGeom>
            <a:avLst/>
            <a:gdLst>
              <a:gd name="connsiteX0" fmla="*/ 0 w 949544"/>
              <a:gd name="connsiteY0" fmla="*/ 898071 h 898071"/>
              <a:gd name="connsiteX1" fmla="*/ 816429 w 949544"/>
              <a:gd name="connsiteY1" fmla="*/ 734786 h 898071"/>
              <a:gd name="connsiteX2" fmla="*/ 938893 w 949544"/>
              <a:gd name="connsiteY2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9544" h="898071">
                <a:moveTo>
                  <a:pt x="0" y="898071"/>
                </a:moveTo>
                <a:cubicBezTo>
                  <a:pt x="329973" y="891268"/>
                  <a:pt x="659947" y="884465"/>
                  <a:pt x="816429" y="734786"/>
                </a:cubicBezTo>
                <a:cubicBezTo>
                  <a:pt x="972911" y="585107"/>
                  <a:pt x="955902" y="292553"/>
                  <a:pt x="938893" y="0"/>
                </a:cubicBezTo>
              </a:path>
            </a:pathLst>
          </a:cu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 flipH="1" flipV="1">
            <a:off x="7188308" y="5202781"/>
            <a:ext cx="949544" cy="963385"/>
          </a:xfrm>
          <a:custGeom>
            <a:avLst/>
            <a:gdLst>
              <a:gd name="connsiteX0" fmla="*/ 0 w 949544"/>
              <a:gd name="connsiteY0" fmla="*/ 898071 h 898071"/>
              <a:gd name="connsiteX1" fmla="*/ 816429 w 949544"/>
              <a:gd name="connsiteY1" fmla="*/ 734786 h 898071"/>
              <a:gd name="connsiteX2" fmla="*/ 938893 w 949544"/>
              <a:gd name="connsiteY2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9544" h="898071">
                <a:moveTo>
                  <a:pt x="0" y="898071"/>
                </a:moveTo>
                <a:cubicBezTo>
                  <a:pt x="329973" y="891268"/>
                  <a:pt x="659947" y="884465"/>
                  <a:pt x="816429" y="734786"/>
                </a:cubicBezTo>
                <a:cubicBezTo>
                  <a:pt x="972911" y="585107"/>
                  <a:pt x="955902" y="292553"/>
                  <a:pt x="938893" y="0"/>
                </a:cubicBezTo>
              </a:path>
            </a:pathLst>
          </a:cu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 flipV="1">
            <a:off x="4612821" y="5202781"/>
            <a:ext cx="949544" cy="963385"/>
          </a:xfrm>
          <a:custGeom>
            <a:avLst/>
            <a:gdLst>
              <a:gd name="connsiteX0" fmla="*/ 0 w 949544"/>
              <a:gd name="connsiteY0" fmla="*/ 898071 h 898071"/>
              <a:gd name="connsiteX1" fmla="*/ 816429 w 949544"/>
              <a:gd name="connsiteY1" fmla="*/ 734786 h 898071"/>
              <a:gd name="connsiteX2" fmla="*/ 938893 w 949544"/>
              <a:gd name="connsiteY2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9544" h="898071">
                <a:moveTo>
                  <a:pt x="0" y="898071"/>
                </a:moveTo>
                <a:cubicBezTo>
                  <a:pt x="329973" y="891268"/>
                  <a:pt x="659947" y="884465"/>
                  <a:pt x="816429" y="734786"/>
                </a:cubicBezTo>
                <a:cubicBezTo>
                  <a:pt x="972911" y="585107"/>
                  <a:pt x="955902" y="292553"/>
                  <a:pt x="938893" y="0"/>
                </a:cubicBezTo>
              </a:path>
            </a:pathLst>
          </a:cu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0614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 =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2261507" y="1402879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圓角矩形 9"/>
          <p:cNvSpPr/>
          <p:nvPr/>
        </p:nvSpPr>
        <p:spPr>
          <a:xfrm>
            <a:off x="7210006" y="2748452"/>
            <a:ext cx="831816" cy="1652098"/>
          </a:xfrm>
          <a:prstGeom prst="roundRect">
            <a:avLst/>
          </a:prstGeom>
          <a:noFill/>
          <a:ln w="3810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8391564" y="2049210"/>
            <a:ext cx="12939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006600"/>
                </a:solidFill>
              </a:rPr>
              <a:t>A’CD</a:t>
            </a:r>
            <a:r>
              <a:rPr lang="en-US" altLang="zh-TW" sz="3600" b="1" dirty="0" smtClean="0">
                <a:solidFill>
                  <a:srgbClr val="006600"/>
                </a:solidFill>
              </a:rPr>
              <a:t>’</a:t>
            </a:r>
            <a:endParaRPr lang="zh-TW" altLang="en-US" sz="3600" b="1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413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Four-variable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B747B095-F505-41C8-805C-6C7B19E75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92" y="923917"/>
            <a:ext cx="832792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F	= 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BCD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 + AB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  <a:r>
              <a:rPr lang="en-US" altLang="zh-TW" sz="3600" b="1" dirty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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	=	B’C  + B’D’ + 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A’CD</a:t>
            </a:r>
            <a:r>
              <a:rPr lang="en-US" altLang="zh-TW" sz="3600" b="1" dirty="0" smtClean="0">
                <a:solidFill>
                  <a:srgbClr val="C00000"/>
                </a:solidFill>
                <a:latin typeface="Tahoma" panose="020B060403050404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’</a:t>
            </a:r>
            <a:endParaRPr lang="en-US" altLang="zh-TW" sz="3600" b="1" dirty="0">
              <a:solidFill>
                <a:srgbClr val="C00000"/>
              </a:solidFill>
              <a:latin typeface="Tahoma" panose="020B0604030504040204" pitchFamily="34" charset="0"/>
              <a:ea typeface="新細明體" panose="02020500000000000000" pitchFamily="18" charset="-120"/>
              <a:sym typeface="Symbol" panose="05050102010706020507" pitchFamily="18" charset="2"/>
            </a:endParaRP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2E77A00-1436-466A-A0B8-7D64FECA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17"/>
          <a:stretch/>
        </p:blipFill>
        <p:spPr bwMode="auto">
          <a:xfrm>
            <a:off x="4790952" y="1524081"/>
            <a:ext cx="7395521" cy="52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4868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5879" y="1482903"/>
            <a:ext cx="1174024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600" b="1" dirty="0" err="1" smtClean="0"/>
              <a:t>Implicant</a:t>
            </a:r>
            <a:r>
              <a:rPr lang="en-US" altLang="zh-TW" sz="3600" b="1" dirty="0"/>
              <a:t>: </a:t>
            </a:r>
            <a:r>
              <a:rPr lang="en-US" altLang="zh-TW" sz="3600" dirty="0"/>
              <a:t>a product term obtained by combining </a:t>
            </a:r>
            <a:r>
              <a:rPr lang="en-US" altLang="zh-TW" sz="3600" dirty="0" smtClean="0"/>
              <a:t>adjacent squares</a:t>
            </a:r>
            <a:endParaRPr lang="en-US" altLang="zh-TW" sz="3600" dirty="0"/>
          </a:p>
          <a:p>
            <a:pPr lvl="1"/>
            <a:r>
              <a:rPr lang="en-US" altLang="zh-TW" sz="3600" b="1" dirty="0" smtClean="0"/>
              <a:t>Prime </a:t>
            </a:r>
            <a:r>
              <a:rPr lang="en-US" altLang="zh-TW" sz="3600" b="1" dirty="0" err="1"/>
              <a:t>implicant</a:t>
            </a:r>
            <a:r>
              <a:rPr lang="en-US" altLang="zh-TW" sz="3600" b="1" dirty="0"/>
              <a:t>: </a:t>
            </a:r>
            <a:r>
              <a:rPr lang="en-US" altLang="zh-TW" sz="3600" dirty="0"/>
              <a:t>a product term obtained by combining the </a:t>
            </a:r>
            <a:r>
              <a:rPr lang="en-US" altLang="zh-TW" sz="3600" b="1" dirty="0"/>
              <a:t>maximum</a:t>
            </a:r>
            <a:r>
              <a:rPr lang="en-US" altLang="zh-TW" sz="3600" dirty="0"/>
              <a:t> possible number of adjacent squares (combining all possible maximum numbers of squares)</a:t>
            </a:r>
          </a:p>
          <a:p>
            <a:pPr lvl="1"/>
            <a:r>
              <a:rPr lang="en-US" altLang="zh-TW" sz="3600" b="1" dirty="0" smtClean="0"/>
              <a:t>Essential </a:t>
            </a:r>
            <a:r>
              <a:rPr lang="en-US" altLang="zh-TW" sz="3600" b="1" dirty="0"/>
              <a:t>Prime </a:t>
            </a:r>
            <a:r>
              <a:rPr lang="en-US" altLang="zh-TW" sz="3600" b="1" dirty="0" err="1"/>
              <a:t>implicant</a:t>
            </a:r>
            <a:r>
              <a:rPr lang="en-US" altLang="zh-TW" sz="3600" b="1" dirty="0"/>
              <a:t>: 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a </a:t>
            </a:r>
            <a:r>
              <a:rPr lang="en-US" altLang="zh-TW" sz="3600" dirty="0" err="1"/>
              <a:t>minterm</a:t>
            </a:r>
            <a:r>
              <a:rPr lang="en-US" altLang="zh-TW" sz="3600" dirty="0"/>
              <a:t> is covered by only one prime </a:t>
            </a:r>
            <a:r>
              <a:rPr lang="en-US" altLang="zh-TW" sz="3600" dirty="0" err="1" smtClean="0"/>
              <a:t>implicant</a:t>
            </a:r>
            <a:endParaRPr lang="en-US" altLang="zh-TW" sz="3600" dirty="0" smtClean="0"/>
          </a:p>
        </p:txBody>
      </p:sp>
      <p:sp>
        <p:nvSpPr>
          <p:cNvPr id="5" name="矩形 4"/>
          <p:cNvSpPr/>
          <p:nvPr/>
        </p:nvSpPr>
        <p:spPr>
          <a:xfrm>
            <a:off x="0" y="92920"/>
            <a:ext cx="12192000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4400" b="1" dirty="0">
                <a:solidFill>
                  <a:schemeClr val="bg1"/>
                </a:solidFill>
              </a:rPr>
              <a:t>Prime </a:t>
            </a:r>
            <a:r>
              <a:rPr lang="en-US" altLang="zh-TW" sz="4400" b="1" dirty="0" err="1">
                <a:solidFill>
                  <a:schemeClr val="bg1"/>
                </a:solidFill>
              </a:rPr>
              <a:t>Implicants</a:t>
            </a:r>
            <a:endParaRPr lang="en-US" altLang="zh-TW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456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36868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9452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039279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3" name="圓角矩形 2"/>
          <p:cNvSpPr/>
          <p:nvPr/>
        </p:nvSpPr>
        <p:spPr>
          <a:xfrm>
            <a:off x="3698421" y="2792187"/>
            <a:ext cx="2024744" cy="87357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3962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327382" y="2525935"/>
          <a:ext cx="4907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A’B’C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sp>
        <p:nvSpPr>
          <p:cNvPr id="3" name="圓角矩形 2"/>
          <p:cNvSpPr/>
          <p:nvPr/>
        </p:nvSpPr>
        <p:spPr>
          <a:xfrm>
            <a:off x="3698421" y="2792187"/>
            <a:ext cx="2024744" cy="87357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2234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7032326" y="1405460"/>
            <a:ext cx="214513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327382" y="2525935"/>
          <a:ext cx="4907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A’B’C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sp>
        <p:nvSpPr>
          <p:cNvPr id="3" name="圓角矩形 2"/>
          <p:cNvSpPr/>
          <p:nvPr/>
        </p:nvSpPr>
        <p:spPr>
          <a:xfrm>
            <a:off x="3698421" y="2792187"/>
            <a:ext cx="2024744" cy="87357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6498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6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3" name="圓角矩形 2"/>
          <p:cNvSpPr/>
          <p:nvPr/>
        </p:nvSpPr>
        <p:spPr>
          <a:xfrm>
            <a:off x="2694214" y="3683160"/>
            <a:ext cx="987879" cy="175425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5954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327382" y="2525935"/>
          <a:ext cx="4907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BC’D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sp>
        <p:nvSpPr>
          <p:cNvPr id="3" name="圓角矩形 2"/>
          <p:cNvSpPr/>
          <p:nvPr/>
        </p:nvSpPr>
        <p:spPr>
          <a:xfrm>
            <a:off x="2694214" y="3683160"/>
            <a:ext cx="987879" cy="175425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6239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4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7032326" y="1405460"/>
            <a:ext cx="214513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327382" y="2525935"/>
          <a:ext cx="4907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BC’D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sp>
        <p:nvSpPr>
          <p:cNvPr id="3" name="圓角矩形 2"/>
          <p:cNvSpPr/>
          <p:nvPr/>
        </p:nvSpPr>
        <p:spPr>
          <a:xfrm>
            <a:off x="2694214" y="3683160"/>
            <a:ext cx="987879" cy="175425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66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8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10" name="圓角矩形 9"/>
          <p:cNvSpPr/>
          <p:nvPr/>
        </p:nvSpPr>
        <p:spPr>
          <a:xfrm>
            <a:off x="2694214" y="3682093"/>
            <a:ext cx="2008415" cy="174715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155819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123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7032326" y="1405460"/>
            <a:ext cx="34980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Prime </a:t>
            </a:r>
            <a:r>
              <a:rPr lang="en-US" altLang="zh-TW" sz="4000" b="1" dirty="0" err="1">
                <a:solidFill>
                  <a:srgbClr val="C00000"/>
                </a:solidFill>
              </a:rPr>
              <a:t>implicant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2694214" y="3682093"/>
            <a:ext cx="2008415" cy="174715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155819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5124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7032326" y="1405460"/>
            <a:ext cx="34980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Prime </a:t>
            </a:r>
            <a:r>
              <a:rPr lang="en-US" altLang="zh-TW" sz="4000" b="1" dirty="0" err="1">
                <a:solidFill>
                  <a:srgbClr val="C00000"/>
                </a:solidFill>
              </a:rPr>
              <a:t>implicant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973538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1" name="圓角矩形 10"/>
          <p:cNvSpPr/>
          <p:nvPr/>
        </p:nvSpPr>
        <p:spPr>
          <a:xfrm>
            <a:off x="2694214" y="4555671"/>
            <a:ext cx="2008415" cy="174715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695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7032326" y="1405460"/>
            <a:ext cx="34980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Prime </a:t>
            </a:r>
            <a:r>
              <a:rPr lang="en-US" altLang="zh-TW" sz="4000" b="1" dirty="0" err="1">
                <a:solidFill>
                  <a:srgbClr val="C00000"/>
                </a:solidFill>
              </a:rPr>
              <a:t>implicant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706243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AB’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1" name="圓角矩形 10"/>
          <p:cNvSpPr/>
          <p:nvPr/>
        </p:nvSpPr>
        <p:spPr>
          <a:xfrm>
            <a:off x="1652990" y="5421535"/>
            <a:ext cx="4070175" cy="88129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2447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7032326" y="1405460"/>
            <a:ext cx="34980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Prime </a:t>
            </a:r>
            <a:r>
              <a:rPr lang="en-US" altLang="zh-TW" sz="4000" b="1" dirty="0" err="1">
                <a:solidFill>
                  <a:srgbClr val="C00000"/>
                </a:solidFill>
              </a:rPr>
              <a:t>implicant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612439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AB’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1" name="圓角矩形 10"/>
          <p:cNvSpPr/>
          <p:nvPr/>
        </p:nvSpPr>
        <p:spPr>
          <a:xfrm>
            <a:off x="3698421" y="2808515"/>
            <a:ext cx="1004208" cy="349431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9556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7032326" y="1405460"/>
            <a:ext cx="34980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Prime </a:t>
            </a:r>
            <a:r>
              <a:rPr lang="en-US" altLang="zh-TW" sz="4000" b="1" dirty="0" err="1">
                <a:solidFill>
                  <a:srgbClr val="C00000"/>
                </a:solidFill>
              </a:rPr>
              <a:t>implicant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312162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B’D’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5" name="手繪多邊形 14"/>
          <p:cNvSpPr/>
          <p:nvPr/>
        </p:nvSpPr>
        <p:spPr>
          <a:xfrm>
            <a:off x="1559379" y="271870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 flipV="1">
            <a:off x="1652991" y="542153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 flipH="1" flipV="1">
            <a:off x="4725634" y="542153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 17"/>
          <p:cNvSpPr/>
          <p:nvPr/>
        </p:nvSpPr>
        <p:spPr>
          <a:xfrm>
            <a:off x="1559380" y="2707752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手繪多邊形 18"/>
          <p:cNvSpPr/>
          <p:nvPr/>
        </p:nvSpPr>
        <p:spPr>
          <a:xfrm flipH="1">
            <a:off x="4699988" y="271870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3598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7032326" y="1405460"/>
            <a:ext cx="34980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Prime </a:t>
            </a:r>
            <a:r>
              <a:rPr lang="en-US" altLang="zh-TW" sz="4000" b="1" dirty="0" err="1">
                <a:solidFill>
                  <a:srgbClr val="C00000"/>
                </a:solidFill>
              </a:rPr>
              <a:t>implicant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250315"/>
              </p:ext>
            </p:extLst>
          </p:nvPr>
        </p:nvGraphicFramePr>
        <p:xfrm>
          <a:off x="6327382" y="2525935"/>
          <a:ext cx="4907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B’D’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pSp>
        <p:nvGrpSpPr>
          <p:cNvPr id="14" name="群組 13"/>
          <p:cNvGrpSpPr/>
          <p:nvPr/>
        </p:nvGrpSpPr>
        <p:grpSpPr>
          <a:xfrm rot="5400000">
            <a:off x="4280708" y="2209900"/>
            <a:ext cx="868333" cy="2016579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/>
          <p:cNvGrpSpPr/>
          <p:nvPr/>
        </p:nvGrpSpPr>
        <p:grpSpPr>
          <a:xfrm rot="16200000">
            <a:off x="4271967" y="4878241"/>
            <a:ext cx="868333" cy="2016579"/>
            <a:chOff x="7453992" y="4071761"/>
            <a:chExt cx="1448866" cy="2011739"/>
          </a:xfrm>
        </p:grpSpPr>
        <p:sp>
          <p:nvSpPr>
            <p:cNvPr id="23" name="手繪多邊形 2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 2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55335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5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7032326" y="1405460"/>
            <a:ext cx="34980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Prime </a:t>
            </a:r>
            <a:r>
              <a:rPr lang="en-US" altLang="zh-TW" sz="4000" b="1" dirty="0" err="1">
                <a:solidFill>
                  <a:srgbClr val="C00000"/>
                </a:solidFill>
              </a:rPr>
              <a:t>implicant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250315"/>
              </p:ext>
            </p:extLst>
          </p:nvPr>
        </p:nvGraphicFramePr>
        <p:xfrm>
          <a:off x="6327382" y="2525935"/>
          <a:ext cx="4907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B’D’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7975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0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54879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390752"/>
              </p:ext>
            </p:extLst>
          </p:nvPr>
        </p:nvGraphicFramePr>
        <p:xfrm>
          <a:off x="6327382" y="2525935"/>
          <a:ext cx="4907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B’D’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pSp>
        <p:nvGrpSpPr>
          <p:cNvPr id="14" name="群組 13"/>
          <p:cNvGrpSpPr/>
          <p:nvPr/>
        </p:nvGrpSpPr>
        <p:grpSpPr>
          <a:xfrm rot="5400000">
            <a:off x="4280708" y="2209900"/>
            <a:ext cx="868333" cy="2016579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/>
          <p:cNvGrpSpPr/>
          <p:nvPr/>
        </p:nvGrpSpPr>
        <p:grpSpPr>
          <a:xfrm rot="16200000">
            <a:off x="4271967" y="4878241"/>
            <a:ext cx="868333" cy="2016579"/>
            <a:chOff x="7453992" y="4071761"/>
            <a:chExt cx="1448866" cy="2011739"/>
          </a:xfrm>
        </p:grpSpPr>
        <p:sp>
          <p:nvSpPr>
            <p:cNvPr id="23" name="手繪多邊形 2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 2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880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073597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390752"/>
              </p:ext>
            </p:extLst>
          </p:nvPr>
        </p:nvGraphicFramePr>
        <p:xfrm>
          <a:off x="6327382" y="2525935"/>
          <a:ext cx="4907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B’D’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pSp>
        <p:nvGrpSpPr>
          <p:cNvPr id="14" name="群組 13"/>
          <p:cNvGrpSpPr/>
          <p:nvPr/>
        </p:nvGrpSpPr>
        <p:grpSpPr>
          <a:xfrm rot="5400000">
            <a:off x="4280708" y="2209900"/>
            <a:ext cx="868333" cy="2016579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/>
          <p:cNvGrpSpPr/>
          <p:nvPr/>
        </p:nvGrpSpPr>
        <p:grpSpPr>
          <a:xfrm rot="16200000">
            <a:off x="4271967" y="4878241"/>
            <a:ext cx="868333" cy="2016579"/>
            <a:chOff x="7453992" y="4071761"/>
            <a:chExt cx="1448866" cy="2011739"/>
          </a:xfrm>
        </p:grpSpPr>
        <p:sp>
          <p:nvSpPr>
            <p:cNvPr id="23" name="手繪多邊形 2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 2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6871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073597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390752"/>
              </p:ext>
            </p:extLst>
          </p:nvPr>
        </p:nvGraphicFramePr>
        <p:xfrm>
          <a:off x="6327382" y="2525935"/>
          <a:ext cx="4907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B’D’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sp>
        <p:nvSpPr>
          <p:cNvPr id="15" name="圓角矩形 14"/>
          <p:cNvSpPr/>
          <p:nvPr/>
        </p:nvSpPr>
        <p:spPr>
          <a:xfrm>
            <a:off x="3698421" y="2808515"/>
            <a:ext cx="1004208" cy="349431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271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989736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1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1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390752"/>
              </p:ext>
            </p:extLst>
          </p:nvPr>
        </p:nvGraphicFramePr>
        <p:xfrm>
          <a:off x="6327382" y="2525935"/>
          <a:ext cx="4907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B’D’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pSp>
        <p:nvGrpSpPr>
          <p:cNvPr id="14" name="群組 13"/>
          <p:cNvGrpSpPr/>
          <p:nvPr/>
        </p:nvGrpSpPr>
        <p:grpSpPr>
          <a:xfrm rot="5400000">
            <a:off x="4280708" y="2209900"/>
            <a:ext cx="868333" cy="2016579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/>
          <p:cNvGrpSpPr/>
          <p:nvPr/>
        </p:nvGrpSpPr>
        <p:grpSpPr>
          <a:xfrm rot="16200000">
            <a:off x="4271967" y="4878241"/>
            <a:ext cx="868333" cy="2016579"/>
            <a:chOff x="7453992" y="4071761"/>
            <a:chExt cx="1448866" cy="2011739"/>
          </a:xfrm>
        </p:grpSpPr>
        <p:sp>
          <p:nvSpPr>
            <p:cNvPr id="23" name="手繪多邊形 2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 2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9928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8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989736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1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1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390752"/>
              </p:ext>
            </p:extLst>
          </p:nvPr>
        </p:nvGraphicFramePr>
        <p:xfrm>
          <a:off x="6327382" y="2525935"/>
          <a:ext cx="4907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B’D’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sp>
        <p:nvSpPr>
          <p:cNvPr id="15" name="文字方塊 14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6" name="手繪多邊形 15"/>
          <p:cNvSpPr/>
          <p:nvPr/>
        </p:nvSpPr>
        <p:spPr>
          <a:xfrm>
            <a:off x="1559379" y="271870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 flipV="1">
            <a:off x="1652991" y="542153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 17"/>
          <p:cNvSpPr/>
          <p:nvPr/>
        </p:nvSpPr>
        <p:spPr>
          <a:xfrm flipH="1" flipV="1">
            <a:off x="4725634" y="542153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手繪多邊形 18"/>
          <p:cNvSpPr/>
          <p:nvPr/>
        </p:nvSpPr>
        <p:spPr>
          <a:xfrm>
            <a:off x="1559380" y="2707752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手繪多邊形 24"/>
          <p:cNvSpPr/>
          <p:nvPr/>
        </p:nvSpPr>
        <p:spPr>
          <a:xfrm flipH="1">
            <a:off x="4699988" y="271870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5608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2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54879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390752"/>
              </p:ext>
            </p:extLst>
          </p:nvPr>
        </p:nvGraphicFramePr>
        <p:xfrm>
          <a:off x="6327382" y="2525935"/>
          <a:ext cx="4907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B’D’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pSp>
        <p:nvGrpSpPr>
          <p:cNvPr id="14" name="群組 13"/>
          <p:cNvGrpSpPr/>
          <p:nvPr/>
        </p:nvGrpSpPr>
        <p:grpSpPr>
          <a:xfrm rot="5400000">
            <a:off x="4280708" y="2209900"/>
            <a:ext cx="868333" cy="2016579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/>
          <p:cNvGrpSpPr/>
          <p:nvPr/>
        </p:nvGrpSpPr>
        <p:grpSpPr>
          <a:xfrm rot="16200000">
            <a:off x="4271967" y="4878241"/>
            <a:ext cx="868333" cy="2016579"/>
            <a:chOff x="7453992" y="4071761"/>
            <a:chExt cx="1448866" cy="2011739"/>
          </a:xfrm>
        </p:grpSpPr>
        <p:sp>
          <p:nvSpPr>
            <p:cNvPr id="23" name="手繪多邊形 2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 2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" name="文字方塊 2"/>
          <p:cNvSpPr txBox="1"/>
          <p:nvPr/>
        </p:nvSpPr>
        <p:spPr>
          <a:xfrm>
            <a:off x="8254416" y="4989983"/>
            <a:ext cx="82426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800" b="1" dirty="0" smtClean="0">
                <a:solidFill>
                  <a:srgbClr val="0000FF"/>
                </a:solidFill>
                <a:latin typeface="Bahnschrift SemiLight" panose="020B0502040204020203" pitchFamily="34" charset="0"/>
              </a:rPr>
              <a:t>X</a:t>
            </a:r>
            <a:endParaRPr lang="zh-TW" altLang="en-US" sz="8800" b="1" dirty="0">
              <a:solidFill>
                <a:srgbClr val="0000FF"/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801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6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10" name="圓角矩形 9"/>
          <p:cNvSpPr/>
          <p:nvPr/>
        </p:nvSpPr>
        <p:spPr>
          <a:xfrm>
            <a:off x="2694214" y="3682093"/>
            <a:ext cx="2008415" cy="174715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714444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57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0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57534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10" name="圓角矩形 9"/>
          <p:cNvSpPr/>
          <p:nvPr/>
        </p:nvSpPr>
        <p:spPr>
          <a:xfrm>
            <a:off x="2694214" y="3682093"/>
            <a:ext cx="2008415" cy="174715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83057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128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4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57534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959195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2694214" y="4563839"/>
            <a:ext cx="2008415" cy="174715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4624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8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22611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958500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2685139" y="3674378"/>
            <a:ext cx="2008415" cy="174715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1658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2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22611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938945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3706586" y="2800350"/>
            <a:ext cx="986968" cy="353513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6689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6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002236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233715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2694214" y="3673928"/>
            <a:ext cx="1999340" cy="174760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4377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0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493990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102302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2694214" y="3673928"/>
            <a:ext cx="1999340" cy="174760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 rot="1462972">
            <a:off x="7629586" y="1865597"/>
            <a:ext cx="8611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9600" b="1" dirty="0" smtClean="0">
                <a:solidFill>
                  <a:srgbClr val="0000FF"/>
                </a:solidFill>
                <a:sym typeface="Symbol" panose="05050102010706020507" pitchFamily="18" charset="2"/>
              </a:rPr>
              <a:t></a:t>
            </a:r>
            <a:endParaRPr lang="zh-TW" altLang="en-US" sz="9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779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3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758331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1" name="圓角矩形 10"/>
          <p:cNvSpPr/>
          <p:nvPr/>
        </p:nvSpPr>
        <p:spPr>
          <a:xfrm>
            <a:off x="3698421" y="2808515"/>
            <a:ext cx="1004208" cy="349431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656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7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84958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758331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1" name="圓角矩形 10"/>
          <p:cNvSpPr/>
          <p:nvPr/>
        </p:nvSpPr>
        <p:spPr>
          <a:xfrm>
            <a:off x="3698421" y="2808515"/>
            <a:ext cx="1004208" cy="349431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590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2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84958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758331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1" name="圓角矩形 10"/>
          <p:cNvSpPr/>
          <p:nvPr/>
        </p:nvSpPr>
        <p:spPr>
          <a:xfrm>
            <a:off x="2686050" y="3698421"/>
            <a:ext cx="2016579" cy="172311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622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6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652832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758331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1" name="圓角矩形 10"/>
          <p:cNvSpPr/>
          <p:nvPr/>
        </p:nvSpPr>
        <p:spPr>
          <a:xfrm>
            <a:off x="3706586" y="2800350"/>
            <a:ext cx="987879" cy="353513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694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9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652832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758331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grpSp>
        <p:nvGrpSpPr>
          <p:cNvPr id="12" name="群組 11"/>
          <p:cNvGrpSpPr/>
          <p:nvPr/>
        </p:nvGrpSpPr>
        <p:grpSpPr>
          <a:xfrm rot="5400000">
            <a:off x="4280708" y="2209900"/>
            <a:ext cx="868333" cy="2016579"/>
            <a:chOff x="7453992" y="4071761"/>
            <a:chExt cx="1448866" cy="2011739"/>
          </a:xfrm>
        </p:grpSpPr>
        <p:sp>
          <p:nvSpPr>
            <p:cNvPr id="14" name="手繪多邊形 13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 14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6" name="群組 15"/>
          <p:cNvGrpSpPr/>
          <p:nvPr/>
        </p:nvGrpSpPr>
        <p:grpSpPr>
          <a:xfrm rot="16200000">
            <a:off x="4271967" y="4878241"/>
            <a:ext cx="868333" cy="2016579"/>
            <a:chOff x="7453992" y="4071761"/>
            <a:chExt cx="1448866" cy="2011739"/>
          </a:xfrm>
        </p:grpSpPr>
        <p:sp>
          <p:nvSpPr>
            <p:cNvPr id="17" name="手繪多邊形 1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 17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3347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4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873059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758331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grpSp>
        <p:nvGrpSpPr>
          <p:cNvPr id="12" name="群組 11"/>
          <p:cNvGrpSpPr/>
          <p:nvPr/>
        </p:nvGrpSpPr>
        <p:grpSpPr>
          <a:xfrm rot="5400000">
            <a:off x="4280708" y="2209900"/>
            <a:ext cx="868333" cy="2016579"/>
            <a:chOff x="7453992" y="4071761"/>
            <a:chExt cx="1448866" cy="2011739"/>
          </a:xfrm>
        </p:grpSpPr>
        <p:sp>
          <p:nvSpPr>
            <p:cNvPr id="14" name="手繪多邊形 13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 14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6" name="群組 15"/>
          <p:cNvGrpSpPr/>
          <p:nvPr/>
        </p:nvGrpSpPr>
        <p:grpSpPr>
          <a:xfrm rot="16200000">
            <a:off x="4271967" y="4878241"/>
            <a:ext cx="868333" cy="2016579"/>
            <a:chOff x="7453992" y="4071761"/>
            <a:chExt cx="1448866" cy="2011739"/>
          </a:xfrm>
        </p:grpSpPr>
        <p:sp>
          <p:nvSpPr>
            <p:cNvPr id="17" name="手繪多邊形 1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 17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9" name="文字方塊 18"/>
          <p:cNvSpPr txBox="1"/>
          <p:nvPr/>
        </p:nvSpPr>
        <p:spPr>
          <a:xfrm>
            <a:off x="7748231" y="3830654"/>
            <a:ext cx="82426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800" b="1" dirty="0" smtClean="0">
                <a:solidFill>
                  <a:srgbClr val="0000FF"/>
                </a:solidFill>
                <a:latin typeface="Bahnschrift SemiLight" panose="020B0502040204020203" pitchFamily="34" charset="0"/>
              </a:rPr>
              <a:t>X</a:t>
            </a:r>
            <a:endParaRPr lang="zh-TW" altLang="en-US" sz="8800" b="1" dirty="0">
              <a:solidFill>
                <a:srgbClr val="0000FF"/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70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8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545593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B’D’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5" name="手繪多邊形 14"/>
          <p:cNvSpPr/>
          <p:nvPr/>
        </p:nvSpPr>
        <p:spPr>
          <a:xfrm>
            <a:off x="1559379" y="271870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 flipV="1">
            <a:off x="1652991" y="542153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 flipH="1" flipV="1">
            <a:off x="4725634" y="542153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 17"/>
          <p:cNvSpPr/>
          <p:nvPr/>
        </p:nvSpPr>
        <p:spPr>
          <a:xfrm>
            <a:off x="1559380" y="2707752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手繪多邊形 18"/>
          <p:cNvSpPr/>
          <p:nvPr/>
        </p:nvSpPr>
        <p:spPr>
          <a:xfrm flipH="1">
            <a:off x="4699988" y="271870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679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1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114412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545593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B’D’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5" name="手繪多邊形 14"/>
          <p:cNvSpPr/>
          <p:nvPr/>
        </p:nvSpPr>
        <p:spPr>
          <a:xfrm>
            <a:off x="1559379" y="271870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 flipV="1">
            <a:off x="1652991" y="542153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 flipH="1" flipV="1">
            <a:off x="4725634" y="542153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 17"/>
          <p:cNvSpPr/>
          <p:nvPr/>
        </p:nvSpPr>
        <p:spPr>
          <a:xfrm>
            <a:off x="1559380" y="2707752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手繪多邊形 18"/>
          <p:cNvSpPr/>
          <p:nvPr/>
        </p:nvSpPr>
        <p:spPr>
          <a:xfrm flipH="1">
            <a:off x="4699988" y="271870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609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9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114412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545593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B’D’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sp>
        <p:nvSpPr>
          <p:cNvPr id="20" name="圓角矩形 19"/>
          <p:cNvSpPr/>
          <p:nvPr/>
        </p:nvSpPr>
        <p:spPr>
          <a:xfrm>
            <a:off x="1652990" y="5421535"/>
            <a:ext cx="4070175" cy="91395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6260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3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440148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545593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B’D’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5" name="手繪多邊形 14"/>
          <p:cNvSpPr/>
          <p:nvPr/>
        </p:nvSpPr>
        <p:spPr>
          <a:xfrm>
            <a:off x="1559379" y="271870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 flipV="1">
            <a:off x="1652991" y="542153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 flipH="1" flipV="1">
            <a:off x="4725634" y="542153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 17"/>
          <p:cNvSpPr/>
          <p:nvPr/>
        </p:nvSpPr>
        <p:spPr>
          <a:xfrm>
            <a:off x="1559380" y="2707752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手繪多邊形 18"/>
          <p:cNvSpPr/>
          <p:nvPr/>
        </p:nvSpPr>
        <p:spPr>
          <a:xfrm flipH="1">
            <a:off x="4699988" y="271870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298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7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440148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545593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B’D’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grpSp>
        <p:nvGrpSpPr>
          <p:cNvPr id="20" name="群組 19"/>
          <p:cNvGrpSpPr/>
          <p:nvPr/>
        </p:nvGrpSpPr>
        <p:grpSpPr>
          <a:xfrm rot="5400000">
            <a:off x="4280708" y="2209900"/>
            <a:ext cx="868333" cy="2016579"/>
            <a:chOff x="7453992" y="4071761"/>
            <a:chExt cx="1448866" cy="2011739"/>
          </a:xfrm>
        </p:grpSpPr>
        <p:sp>
          <p:nvSpPr>
            <p:cNvPr id="21" name="手繪多邊形 20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 21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3" name="群組 22"/>
          <p:cNvGrpSpPr/>
          <p:nvPr/>
        </p:nvGrpSpPr>
        <p:grpSpPr>
          <a:xfrm rot="16200000">
            <a:off x="4271967" y="4878241"/>
            <a:ext cx="868333" cy="2016579"/>
            <a:chOff x="7453992" y="4071761"/>
            <a:chExt cx="1448866" cy="2011739"/>
          </a:xfrm>
        </p:grpSpPr>
        <p:sp>
          <p:nvSpPr>
            <p:cNvPr id="24" name="手繪多邊形 23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 24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5653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1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484950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545593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B’D’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5" name="手繪多邊形 14"/>
          <p:cNvSpPr/>
          <p:nvPr/>
        </p:nvSpPr>
        <p:spPr>
          <a:xfrm>
            <a:off x="1559379" y="271870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 flipV="1">
            <a:off x="1652991" y="542153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 flipH="1" flipV="1">
            <a:off x="4725634" y="542153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 17"/>
          <p:cNvSpPr/>
          <p:nvPr/>
        </p:nvSpPr>
        <p:spPr>
          <a:xfrm>
            <a:off x="1559380" y="2707752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手繪多邊形 18"/>
          <p:cNvSpPr/>
          <p:nvPr/>
        </p:nvSpPr>
        <p:spPr>
          <a:xfrm flipH="1">
            <a:off x="4699988" y="271870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083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5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081914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545593"/>
              </p:ext>
            </p:extLst>
          </p:nvPr>
        </p:nvGraphicFramePr>
        <p:xfrm>
          <a:off x="6327382" y="2525935"/>
          <a:ext cx="490796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B’D’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</a:tbl>
          </a:graphicData>
        </a:graphic>
      </p:graphicFrame>
      <p:sp>
        <p:nvSpPr>
          <p:cNvPr id="15" name="手繪多邊形 14"/>
          <p:cNvSpPr/>
          <p:nvPr/>
        </p:nvSpPr>
        <p:spPr>
          <a:xfrm>
            <a:off x="1559379" y="271870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 flipV="1">
            <a:off x="1652991" y="542153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 flipH="1" flipV="1">
            <a:off x="4725634" y="542153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 17"/>
          <p:cNvSpPr/>
          <p:nvPr/>
        </p:nvSpPr>
        <p:spPr>
          <a:xfrm>
            <a:off x="1559380" y="2707752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手繪多邊形 18"/>
          <p:cNvSpPr/>
          <p:nvPr/>
        </p:nvSpPr>
        <p:spPr>
          <a:xfrm flipH="1">
            <a:off x="4699988" y="271870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6326966" y="1349896"/>
            <a:ext cx="5503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err="1" smtClean="0">
                <a:solidFill>
                  <a:srgbClr val="C00000"/>
                </a:solidFill>
              </a:rPr>
              <a:t>Essitial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prime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implicant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?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 rot="1462972">
            <a:off x="7809201" y="4298555"/>
            <a:ext cx="8611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9600" b="1" dirty="0" smtClean="0">
                <a:solidFill>
                  <a:srgbClr val="0000FF"/>
                </a:solidFill>
                <a:sym typeface="Symbol" panose="05050102010706020507" pitchFamily="18" charset="2"/>
              </a:rPr>
              <a:t></a:t>
            </a:r>
            <a:endParaRPr lang="zh-TW" altLang="en-US" sz="9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158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9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7032326" y="1405460"/>
            <a:ext cx="34980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Prime </a:t>
            </a:r>
            <a:r>
              <a:rPr lang="en-US" altLang="zh-TW" sz="4000" b="1" dirty="0" err="1">
                <a:solidFill>
                  <a:srgbClr val="C00000"/>
                </a:solidFill>
              </a:rPr>
              <a:t>implicant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534088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B’D’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401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FD1181A-BAA2-42AF-A967-F57502DE3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49423"/>
              </p:ext>
            </p:extLst>
          </p:nvPr>
        </p:nvGraphicFramePr>
        <p:xfrm>
          <a:off x="401215" y="130970"/>
          <a:ext cx="8486709" cy="750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3" name="Equation" r:id="rId3" imgW="2870200" imgH="254000" progId="Equation.DSMT4">
                  <p:embed/>
                </p:oleObj>
              </mc:Choice>
              <mc:Fallback>
                <p:oleObj name="Equation" r:id="rId3" imgW="2870200" imgH="2540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FD1181A-BAA2-42AF-A967-F57502DE3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15" y="130970"/>
                        <a:ext cx="8486709" cy="750773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7032326" y="1405460"/>
            <a:ext cx="34980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Prime </a:t>
            </a:r>
            <a:r>
              <a:rPr lang="en-US" altLang="zh-TW" sz="4000" b="1" dirty="0" err="1">
                <a:solidFill>
                  <a:srgbClr val="C00000"/>
                </a:solidFill>
              </a:rPr>
              <a:t>implicant</a:t>
            </a:r>
            <a:endParaRPr lang="zh-TW" altLang="en-US" sz="4000" dirty="0">
              <a:solidFill>
                <a:srgbClr val="C00000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228837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549063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2" name="手繪多邊形 11"/>
          <p:cNvSpPr/>
          <p:nvPr/>
        </p:nvSpPr>
        <p:spPr>
          <a:xfrm>
            <a:off x="1559379" y="271870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手繪多邊形 13"/>
          <p:cNvSpPr/>
          <p:nvPr/>
        </p:nvSpPr>
        <p:spPr>
          <a:xfrm flipV="1">
            <a:off x="1652991" y="542153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手繪多邊形 14"/>
          <p:cNvSpPr/>
          <p:nvPr/>
        </p:nvSpPr>
        <p:spPr>
          <a:xfrm flipH="1" flipV="1">
            <a:off x="4725634" y="542153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>
            <a:off x="1559380" y="2707752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 flipH="1">
            <a:off x="4699988" y="271870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圓角矩形 17"/>
          <p:cNvSpPr/>
          <p:nvPr/>
        </p:nvSpPr>
        <p:spPr>
          <a:xfrm>
            <a:off x="2686050" y="3698421"/>
            <a:ext cx="2016579" cy="172311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8343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845164"/>
            <a:ext cx="121919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altLang="zh-TW" sz="6000" b="1" dirty="0">
                <a:solidFill>
                  <a:srgbClr val="C00000"/>
                </a:solidFill>
              </a:rPr>
              <a:t>The essential P.I. must be </a:t>
            </a:r>
            <a:r>
              <a:rPr lang="en-US" altLang="zh-TW" sz="6000" b="1" dirty="0" smtClean="0">
                <a:solidFill>
                  <a:srgbClr val="C00000"/>
                </a:solidFill>
              </a:rPr>
              <a:t>included</a:t>
            </a:r>
            <a:r>
              <a:rPr lang="zh-TW" altLang="en-US" sz="6000" b="1" dirty="0" smtClean="0">
                <a:solidFill>
                  <a:srgbClr val="C00000"/>
                </a:solidFill>
              </a:rPr>
              <a:t> </a:t>
            </a:r>
            <a:endParaRPr lang="en-US" altLang="zh-TW" sz="6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62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460833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549063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2" name="手繪多邊形 11"/>
          <p:cNvSpPr/>
          <p:nvPr/>
        </p:nvSpPr>
        <p:spPr>
          <a:xfrm>
            <a:off x="1559379" y="271870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手繪多邊形 13"/>
          <p:cNvSpPr/>
          <p:nvPr/>
        </p:nvSpPr>
        <p:spPr>
          <a:xfrm flipV="1">
            <a:off x="1652991" y="542153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手繪多邊形 14"/>
          <p:cNvSpPr/>
          <p:nvPr/>
        </p:nvSpPr>
        <p:spPr>
          <a:xfrm flipH="1" flipV="1">
            <a:off x="4725634" y="542153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>
            <a:off x="1559380" y="2707752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 flipH="1">
            <a:off x="4699988" y="271870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圓角矩形 17"/>
          <p:cNvSpPr/>
          <p:nvPr/>
        </p:nvSpPr>
        <p:spPr>
          <a:xfrm>
            <a:off x="2686050" y="3698421"/>
            <a:ext cx="2016579" cy="172311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314162" y="145852"/>
            <a:ext cx="25923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/>
              <a:t>F  = </a:t>
            </a:r>
            <a:r>
              <a:rPr lang="en-US" altLang="zh-TW" sz="3200" dirty="0" smtClean="0"/>
              <a:t>BD + B’D 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606344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460833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057179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314162" y="145852"/>
            <a:ext cx="25923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/>
              <a:t>F  = </a:t>
            </a:r>
            <a:r>
              <a:rPr lang="en-US" altLang="zh-TW" sz="3200" dirty="0" smtClean="0"/>
              <a:t>BD + B’D </a:t>
            </a:r>
            <a:endParaRPr lang="zh-TW" altLang="en-US" sz="32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488324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592255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035991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8" name="圓角矩形 17"/>
          <p:cNvSpPr/>
          <p:nvPr/>
        </p:nvSpPr>
        <p:spPr>
          <a:xfrm>
            <a:off x="2661557" y="4572000"/>
            <a:ext cx="2016579" cy="175532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314162" y="145852"/>
            <a:ext cx="24785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/>
              <a:t>F  = </a:t>
            </a:r>
            <a:r>
              <a:rPr lang="en-US" altLang="zh-TW" sz="3200" dirty="0" smtClean="0"/>
              <a:t>BD + B‘D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625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1990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2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AD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035991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8" name="圓角矩形 17"/>
          <p:cNvSpPr/>
          <p:nvPr/>
        </p:nvSpPr>
        <p:spPr>
          <a:xfrm>
            <a:off x="2661557" y="4572000"/>
            <a:ext cx="2016579" cy="175532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314162" y="145852"/>
            <a:ext cx="24785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/>
              <a:t>F  = </a:t>
            </a:r>
            <a:r>
              <a:rPr lang="en-US" altLang="zh-TW" sz="3200" dirty="0" smtClean="0"/>
              <a:t>BD + B‘D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904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1990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2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AD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035991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8" name="圓角矩形 17"/>
          <p:cNvSpPr/>
          <p:nvPr/>
        </p:nvSpPr>
        <p:spPr>
          <a:xfrm>
            <a:off x="2661557" y="4572000"/>
            <a:ext cx="2016579" cy="175532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314162" y="145852"/>
            <a:ext cx="35237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/>
              <a:t>F  = </a:t>
            </a:r>
            <a:r>
              <a:rPr lang="en-US" altLang="zh-TW" sz="3200" dirty="0" smtClean="0"/>
              <a:t>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89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862351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2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AD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035991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8" name="圓角矩形 17"/>
          <p:cNvSpPr/>
          <p:nvPr/>
        </p:nvSpPr>
        <p:spPr>
          <a:xfrm>
            <a:off x="2661557" y="4572000"/>
            <a:ext cx="2016579" cy="175532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314162" y="145852"/>
            <a:ext cx="35237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/>
              <a:t>F  = </a:t>
            </a:r>
            <a:r>
              <a:rPr lang="en-US" altLang="zh-TW" sz="3200" dirty="0" smtClean="0"/>
              <a:t>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grpSp>
        <p:nvGrpSpPr>
          <p:cNvPr id="19" name="群組 18"/>
          <p:cNvGrpSpPr/>
          <p:nvPr/>
        </p:nvGrpSpPr>
        <p:grpSpPr>
          <a:xfrm rot="5400000">
            <a:off x="4280708" y="2209900"/>
            <a:ext cx="868333" cy="2016579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/>
          <p:cNvGrpSpPr/>
          <p:nvPr/>
        </p:nvGrpSpPr>
        <p:grpSpPr>
          <a:xfrm rot="16200000">
            <a:off x="4271967" y="4878241"/>
            <a:ext cx="868333" cy="2016579"/>
            <a:chOff x="7453992" y="4071761"/>
            <a:chExt cx="1448866" cy="2011739"/>
          </a:xfrm>
        </p:grpSpPr>
        <p:sp>
          <p:nvSpPr>
            <p:cNvPr id="23" name="手繪多邊形 2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 2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39940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078811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2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AD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6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B’C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035991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8" name="圓角矩形 17"/>
          <p:cNvSpPr/>
          <p:nvPr/>
        </p:nvSpPr>
        <p:spPr>
          <a:xfrm>
            <a:off x="2661557" y="4572000"/>
            <a:ext cx="2016579" cy="175532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314162" y="145852"/>
            <a:ext cx="35237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/>
              <a:t>F  = </a:t>
            </a:r>
            <a:r>
              <a:rPr lang="en-US" altLang="zh-TW" sz="3200" dirty="0" smtClean="0"/>
              <a:t>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grpSp>
        <p:nvGrpSpPr>
          <p:cNvPr id="19" name="群組 18"/>
          <p:cNvGrpSpPr/>
          <p:nvPr/>
        </p:nvGrpSpPr>
        <p:grpSpPr>
          <a:xfrm rot="5400000">
            <a:off x="4280708" y="2209900"/>
            <a:ext cx="868333" cy="2016579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/>
          <p:cNvGrpSpPr/>
          <p:nvPr/>
        </p:nvGrpSpPr>
        <p:grpSpPr>
          <a:xfrm rot="16200000">
            <a:off x="4271967" y="4878241"/>
            <a:ext cx="868333" cy="2016579"/>
            <a:chOff x="7453992" y="4071761"/>
            <a:chExt cx="1448866" cy="2011739"/>
          </a:xfrm>
        </p:grpSpPr>
        <p:sp>
          <p:nvSpPr>
            <p:cNvPr id="23" name="手繪多邊形 2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 2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86405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078811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2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AD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6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B’C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035991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8" name="圓角矩形 17"/>
          <p:cNvSpPr/>
          <p:nvPr/>
        </p:nvSpPr>
        <p:spPr>
          <a:xfrm>
            <a:off x="2661557" y="4572000"/>
            <a:ext cx="2016579" cy="175532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314162" y="145852"/>
            <a:ext cx="470834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/>
              <a:t>F  </a:t>
            </a:r>
            <a:r>
              <a:rPr lang="en-US" altLang="zh-TW" sz="3200" dirty="0" smtClean="0"/>
              <a:t>	=	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 +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B’C</a:t>
            </a:r>
          </a:p>
          <a:p>
            <a:r>
              <a:rPr lang="en-US" altLang="zh-TW" sz="3200" b="1" dirty="0">
                <a:solidFill>
                  <a:srgbClr val="0000FF"/>
                </a:solidFill>
              </a:rPr>
              <a:t>	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grpSp>
        <p:nvGrpSpPr>
          <p:cNvPr id="19" name="群組 18"/>
          <p:cNvGrpSpPr/>
          <p:nvPr/>
        </p:nvGrpSpPr>
        <p:grpSpPr>
          <a:xfrm rot="5400000">
            <a:off x="4280708" y="2209900"/>
            <a:ext cx="868333" cy="2016579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/>
          <p:cNvGrpSpPr/>
          <p:nvPr/>
        </p:nvGrpSpPr>
        <p:grpSpPr>
          <a:xfrm rot="16200000">
            <a:off x="4271967" y="4878241"/>
            <a:ext cx="868333" cy="2016579"/>
            <a:chOff x="7453992" y="4071761"/>
            <a:chExt cx="1448866" cy="2011739"/>
          </a:xfrm>
        </p:grpSpPr>
        <p:sp>
          <p:nvSpPr>
            <p:cNvPr id="23" name="手繪多邊形 2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 2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07294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209954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2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AD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035991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8" name="圓角矩形 17"/>
          <p:cNvSpPr/>
          <p:nvPr/>
        </p:nvSpPr>
        <p:spPr>
          <a:xfrm>
            <a:off x="2661557" y="4572000"/>
            <a:ext cx="2016579" cy="175532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314162" y="145852"/>
            <a:ext cx="365196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= </a:t>
            </a:r>
          </a:p>
          <a:p>
            <a:r>
              <a:rPr lang="en-US" altLang="zh-TW" sz="3200" dirty="0"/>
              <a:t>	</a:t>
            </a:r>
            <a:r>
              <a:rPr lang="en-US" altLang="zh-TW" sz="3200" dirty="0" smtClean="0"/>
              <a:t>	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14162" y="145852"/>
            <a:ext cx="470834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/>
              <a:t>F  </a:t>
            </a:r>
            <a:r>
              <a:rPr lang="en-US" altLang="zh-TW" sz="3200" dirty="0" smtClean="0"/>
              <a:t>	=	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 +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B’C</a:t>
            </a:r>
          </a:p>
          <a:p>
            <a:r>
              <a:rPr lang="en-US" altLang="zh-TW" sz="3200" b="1" dirty="0">
                <a:solidFill>
                  <a:srgbClr val="0000FF"/>
                </a:solidFill>
              </a:rPr>
              <a:t>	</a:t>
            </a:r>
            <a:r>
              <a:rPr lang="en-US" altLang="zh-TW" sz="3200" dirty="0" smtClean="0"/>
              <a:t>=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18607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785471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209954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2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AD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8" name="圓角矩形 17"/>
          <p:cNvSpPr/>
          <p:nvPr/>
        </p:nvSpPr>
        <p:spPr>
          <a:xfrm>
            <a:off x="2661557" y="4572000"/>
            <a:ext cx="2032907" cy="175532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圓角矩形 11"/>
          <p:cNvSpPr/>
          <p:nvPr/>
        </p:nvSpPr>
        <p:spPr>
          <a:xfrm>
            <a:off x="3706585" y="2800350"/>
            <a:ext cx="987879" cy="352697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314162" y="145852"/>
            <a:ext cx="365196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= </a:t>
            </a:r>
          </a:p>
          <a:p>
            <a:r>
              <a:rPr lang="en-US" altLang="zh-TW" sz="3200" dirty="0"/>
              <a:t>	</a:t>
            </a:r>
            <a:r>
              <a:rPr lang="en-US" altLang="zh-TW" sz="3200" dirty="0" smtClean="0"/>
              <a:t>	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14162" y="145852"/>
            <a:ext cx="470834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/>
              <a:t>F  </a:t>
            </a:r>
            <a:r>
              <a:rPr lang="en-US" altLang="zh-TW" sz="3200" dirty="0" smtClean="0"/>
              <a:t>	=	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 +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B’C</a:t>
            </a:r>
          </a:p>
          <a:p>
            <a:r>
              <a:rPr lang="en-US" altLang="zh-TW" sz="3200" b="1" dirty="0">
                <a:solidFill>
                  <a:srgbClr val="0000FF"/>
                </a:solidFill>
              </a:rPr>
              <a:t>	</a:t>
            </a:r>
            <a:r>
              <a:rPr lang="en-US" altLang="zh-TW" sz="3200" dirty="0" smtClean="0"/>
              <a:t>=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667949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821448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2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AD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4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CD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035991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8" name="圓角矩形 17"/>
          <p:cNvSpPr/>
          <p:nvPr/>
        </p:nvSpPr>
        <p:spPr>
          <a:xfrm>
            <a:off x="2661557" y="4572000"/>
            <a:ext cx="2016579" cy="175532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圓角矩形 11"/>
          <p:cNvSpPr/>
          <p:nvPr/>
        </p:nvSpPr>
        <p:spPr>
          <a:xfrm>
            <a:off x="3690257" y="2800350"/>
            <a:ext cx="987879" cy="352697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314162" y="145852"/>
            <a:ext cx="365196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= </a:t>
            </a:r>
          </a:p>
          <a:p>
            <a:r>
              <a:rPr lang="en-US" altLang="zh-TW" sz="3200" dirty="0"/>
              <a:t>	</a:t>
            </a:r>
            <a:r>
              <a:rPr lang="en-US" altLang="zh-TW" sz="3200" dirty="0" smtClean="0"/>
              <a:t>	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14162" y="145852"/>
            <a:ext cx="470834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/>
              <a:t>F  </a:t>
            </a:r>
            <a:r>
              <a:rPr lang="en-US" altLang="zh-TW" sz="3200" dirty="0" smtClean="0"/>
              <a:t>	=	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 +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B’C</a:t>
            </a:r>
          </a:p>
          <a:p>
            <a:r>
              <a:rPr lang="en-US" altLang="zh-TW" sz="3200" b="1" dirty="0">
                <a:solidFill>
                  <a:srgbClr val="0000FF"/>
                </a:solidFill>
              </a:rPr>
              <a:t>	</a:t>
            </a:r>
            <a:r>
              <a:rPr lang="en-US" altLang="zh-TW" sz="3200" dirty="0" smtClean="0"/>
              <a:t>=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355724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654723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2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AD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4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CD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057179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2" name="圓角矩形 11"/>
          <p:cNvSpPr/>
          <p:nvPr/>
        </p:nvSpPr>
        <p:spPr>
          <a:xfrm>
            <a:off x="2661557" y="4572000"/>
            <a:ext cx="2016579" cy="175532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14162" y="145852"/>
            <a:ext cx="470834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=	BD </a:t>
            </a:r>
            <a:r>
              <a:rPr lang="en-US" altLang="zh-TW" sz="3200" dirty="0"/>
              <a:t>+ B‘D + </a:t>
            </a:r>
            <a:r>
              <a:rPr lang="en-US" altLang="zh-TW" sz="3200" b="1" dirty="0">
                <a:solidFill>
                  <a:srgbClr val="0000FF"/>
                </a:solidFill>
              </a:rPr>
              <a:t>AD +</a:t>
            </a:r>
            <a:r>
              <a:rPr lang="zh-TW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B’C</a:t>
            </a:r>
          </a:p>
          <a:p>
            <a:r>
              <a:rPr lang="en-US" altLang="zh-TW" sz="3200" dirty="0"/>
              <a:t>	</a:t>
            </a:r>
            <a:r>
              <a:rPr lang="en-US" altLang="zh-TW" sz="3200" dirty="0" smtClean="0"/>
              <a:t>=	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+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CD</a:t>
            </a:r>
            <a:endParaRPr lang="en-US" altLang="zh-TW" sz="3200" b="1" dirty="0">
              <a:solidFill>
                <a:srgbClr val="0000FF"/>
              </a:solidFill>
            </a:endParaRPr>
          </a:p>
          <a:p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17" name="圓角矩形 16"/>
          <p:cNvSpPr/>
          <p:nvPr/>
        </p:nvSpPr>
        <p:spPr>
          <a:xfrm>
            <a:off x="3690257" y="2800350"/>
            <a:ext cx="987879" cy="352697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9671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648892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AB’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057179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2" name="圓角矩形 11"/>
          <p:cNvSpPr/>
          <p:nvPr/>
        </p:nvSpPr>
        <p:spPr>
          <a:xfrm>
            <a:off x="1652990" y="5453743"/>
            <a:ext cx="4070175" cy="87358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14162" y="145852"/>
            <a:ext cx="470834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=	BD </a:t>
            </a:r>
            <a:r>
              <a:rPr lang="en-US" altLang="zh-TW" sz="3200" dirty="0"/>
              <a:t>+ B‘D + </a:t>
            </a:r>
            <a:r>
              <a:rPr lang="en-US" altLang="zh-TW" sz="3200" b="1" dirty="0">
                <a:solidFill>
                  <a:srgbClr val="0000FF"/>
                </a:solidFill>
              </a:rPr>
              <a:t>AD +</a:t>
            </a:r>
            <a:r>
              <a:rPr lang="zh-TW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B’C</a:t>
            </a:r>
          </a:p>
          <a:p>
            <a:r>
              <a:rPr lang="en-US" altLang="zh-TW" sz="3200" dirty="0"/>
              <a:t>	</a:t>
            </a:r>
            <a:r>
              <a:rPr lang="en-US" altLang="zh-TW" sz="3200" dirty="0" smtClean="0"/>
              <a:t>=	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+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CD</a:t>
            </a:r>
            <a:endParaRPr lang="en-US" altLang="zh-TW" sz="3200" b="1" dirty="0">
              <a:solidFill>
                <a:srgbClr val="0000FF"/>
              </a:solidFill>
            </a:endParaRPr>
          </a:p>
          <a:p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53604" y="145852"/>
            <a:ext cx="26068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=	BD </a:t>
            </a:r>
            <a:r>
              <a:rPr lang="en-US" altLang="zh-TW" sz="3200" dirty="0"/>
              <a:t>+ </a:t>
            </a:r>
            <a:r>
              <a:rPr lang="en-US" altLang="zh-TW" sz="3200" dirty="0" smtClean="0"/>
              <a:t>B‘D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490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61659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3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AB’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057179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2" name="圓角矩形 11"/>
          <p:cNvSpPr/>
          <p:nvPr/>
        </p:nvSpPr>
        <p:spPr>
          <a:xfrm>
            <a:off x="1652990" y="5453743"/>
            <a:ext cx="4070175" cy="87358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14162" y="145852"/>
            <a:ext cx="470834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=	BD </a:t>
            </a:r>
            <a:r>
              <a:rPr lang="en-US" altLang="zh-TW" sz="3200" dirty="0"/>
              <a:t>+ B‘D + </a:t>
            </a:r>
            <a:r>
              <a:rPr lang="en-US" altLang="zh-TW" sz="3200" b="1" dirty="0">
                <a:solidFill>
                  <a:srgbClr val="0000FF"/>
                </a:solidFill>
              </a:rPr>
              <a:t>AD +</a:t>
            </a:r>
            <a:r>
              <a:rPr lang="zh-TW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B’C</a:t>
            </a:r>
          </a:p>
          <a:p>
            <a:r>
              <a:rPr lang="en-US" altLang="zh-TW" sz="3200" dirty="0"/>
              <a:t>	</a:t>
            </a:r>
            <a:r>
              <a:rPr lang="en-US" altLang="zh-TW" sz="3200" dirty="0" smtClean="0"/>
              <a:t>=	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+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CD</a:t>
            </a:r>
            <a:endParaRPr lang="en-US" altLang="zh-TW" sz="3200" b="1" dirty="0">
              <a:solidFill>
                <a:srgbClr val="0000FF"/>
              </a:solidFill>
            </a:endParaRPr>
          </a:p>
          <a:p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53604" y="145852"/>
            <a:ext cx="26068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=	BD </a:t>
            </a:r>
            <a:r>
              <a:rPr lang="en-US" altLang="zh-TW" sz="3200" dirty="0"/>
              <a:t>+ </a:t>
            </a:r>
            <a:r>
              <a:rPr lang="en-US" altLang="zh-TW" sz="3200" dirty="0" smtClean="0"/>
              <a:t>B‘D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399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61659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3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AB’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057179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2" name="圓角矩形 11"/>
          <p:cNvSpPr/>
          <p:nvPr/>
        </p:nvSpPr>
        <p:spPr>
          <a:xfrm>
            <a:off x="1652990" y="5453743"/>
            <a:ext cx="4070175" cy="87358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14162" y="145852"/>
            <a:ext cx="470834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=	BD </a:t>
            </a:r>
            <a:r>
              <a:rPr lang="en-US" altLang="zh-TW" sz="3200" dirty="0"/>
              <a:t>+ B‘D + </a:t>
            </a:r>
            <a:r>
              <a:rPr lang="en-US" altLang="zh-TW" sz="3200" b="1" dirty="0">
                <a:solidFill>
                  <a:srgbClr val="0000FF"/>
                </a:solidFill>
              </a:rPr>
              <a:t>AD +</a:t>
            </a:r>
            <a:r>
              <a:rPr lang="zh-TW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B’C</a:t>
            </a:r>
          </a:p>
          <a:p>
            <a:r>
              <a:rPr lang="en-US" altLang="zh-TW" sz="3200" dirty="0"/>
              <a:t>	</a:t>
            </a:r>
            <a:r>
              <a:rPr lang="en-US" altLang="zh-TW" sz="3200" dirty="0" smtClean="0"/>
              <a:t>=	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+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CD</a:t>
            </a:r>
            <a:endParaRPr lang="en-US" altLang="zh-TW" sz="3200" b="1" dirty="0">
              <a:solidFill>
                <a:srgbClr val="0000FF"/>
              </a:solidFill>
            </a:endParaRPr>
          </a:p>
          <a:p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53604" y="145852"/>
            <a:ext cx="37160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=	BD </a:t>
            </a:r>
            <a:r>
              <a:rPr lang="en-US" altLang="zh-TW" sz="3200" dirty="0"/>
              <a:t>+ </a:t>
            </a:r>
            <a:r>
              <a:rPr lang="en-US" altLang="zh-TW" sz="3200" dirty="0" smtClean="0"/>
              <a:t>B‘D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+</a:t>
            </a:r>
            <a:r>
              <a:rPr lang="zh-TW" altLang="en-US" sz="3200" dirty="0" smtClean="0"/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AB’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402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61659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3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AB’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057179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2" name="圓角矩形 11"/>
          <p:cNvSpPr/>
          <p:nvPr/>
        </p:nvSpPr>
        <p:spPr>
          <a:xfrm>
            <a:off x="1652990" y="5453743"/>
            <a:ext cx="4070175" cy="87358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14162" y="145852"/>
            <a:ext cx="470834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=	BD </a:t>
            </a:r>
            <a:r>
              <a:rPr lang="en-US" altLang="zh-TW" sz="3200" dirty="0"/>
              <a:t>+ B‘D + </a:t>
            </a:r>
            <a:r>
              <a:rPr lang="en-US" altLang="zh-TW" sz="3200" b="1" dirty="0">
                <a:solidFill>
                  <a:srgbClr val="0000FF"/>
                </a:solidFill>
              </a:rPr>
              <a:t>AD +</a:t>
            </a:r>
            <a:r>
              <a:rPr lang="zh-TW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B’C</a:t>
            </a:r>
          </a:p>
          <a:p>
            <a:r>
              <a:rPr lang="en-US" altLang="zh-TW" sz="3200" dirty="0"/>
              <a:t>	</a:t>
            </a:r>
            <a:r>
              <a:rPr lang="en-US" altLang="zh-TW" sz="3200" dirty="0" smtClean="0"/>
              <a:t>=	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+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CD</a:t>
            </a:r>
            <a:endParaRPr lang="en-US" altLang="zh-TW" sz="3200" b="1" dirty="0">
              <a:solidFill>
                <a:srgbClr val="0000FF"/>
              </a:solidFill>
            </a:endParaRPr>
          </a:p>
          <a:p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53604" y="145852"/>
            <a:ext cx="37160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=	BD </a:t>
            </a:r>
            <a:r>
              <a:rPr lang="en-US" altLang="zh-TW" sz="3200" dirty="0"/>
              <a:t>+ </a:t>
            </a:r>
            <a:r>
              <a:rPr lang="en-US" altLang="zh-TW" sz="3200" dirty="0" smtClean="0"/>
              <a:t>B‘D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+</a:t>
            </a:r>
            <a:r>
              <a:rPr lang="zh-TW" altLang="en-US" sz="3200" dirty="0" smtClean="0"/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AB’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grpSp>
        <p:nvGrpSpPr>
          <p:cNvPr id="11" name="群組 10"/>
          <p:cNvGrpSpPr/>
          <p:nvPr/>
        </p:nvGrpSpPr>
        <p:grpSpPr>
          <a:xfrm rot="5400000">
            <a:off x="4280708" y="2209900"/>
            <a:ext cx="868333" cy="2016579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7" name="群組 16"/>
          <p:cNvGrpSpPr/>
          <p:nvPr/>
        </p:nvGrpSpPr>
        <p:grpSpPr>
          <a:xfrm rot="16200000">
            <a:off x="4271967" y="4878241"/>
            <a:ext cx="868333" cy="2016579"/>
            <a:chOff x="7453992" y="4071761"/>
            <a:chExt cx="1448866" cy="2011739"/>
          </a:xfrm>
        </p:grpSpPr>
        <p:sp>
          <p:nvSpPr>
            <p:cNvPr id="18" name="手繪多邊形 17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 19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7230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639956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3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AB’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6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B’C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057179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2" name="圓角矩形 11"/>
          <p:cNvSpPr/>
          <p:nvPr/>
        </p:nvSpPr>
        <p:spPr>
          <a:xfrm>
            <a:off x="1652990" y="5453743"/>
            <a:ext cx="4070175" cy="87358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14162" y="145852"/>
            <a:ext cx="470834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=	BD </a:t>
            </a:r>
            <a:r>
              <a:rPr lang="en-US" altLang="zh-TW" sz="3200" dirty="0"/>
              <a:t>+ B‘D + </a:t>
            </a:r>
            <a:r>
              <a:rPr lang="en-US" altLang="zh-TW" sz="3200" b="1" dirty="0">
                <a:solidFill>
                  <a:srgbClr val="0000FF"/>
                </a:solidFill>
              </a:rPr>
              <a:t>AD +</a:t>
            </a:r>
            <a:r>
              <a:rPr lang="zh-TW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B’C</a:t>
            </a:r>
          </a:p>
          <a:p>
            <a:r>
              <a:rPr lang="en-US" altLang="zh-TW" sz="3200" dirty="0"/>
              <a:t>	</a:t>
            </a:r>
            <a:r>
              <a:rPr lang="en-US" altLang="zh-TW" sz="3200" dirty="0" smtClean="0"/>
              <a:t>=	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+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CD</a:t>
            </a:r>
            <a:endParaRPr lang="en-US" altLang="zh-TW" sz="3200" b="1" dirty="0">
              <a:solidFill>
                <a:srgbClr val="0000FF"/>
              </a:solidFill>
            </a:endParaRPr>
          </a:p>
          <a:p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53604" y="145852"/>
            <a:ext cx="37160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=	BD </a:t>
            </a:r>
            <a:r>
              <a:rPr lang="en-US" altLang="zh-TW" sz="3200" dirty="0"/>
              <a:t>+ </a:t>
            </a:r>
            <a:r>
              <a:rPr lang="en-US" altLang="zh-TW" sz="3200" dirty="0" smtClean="0"/>
              <a:t>B‘D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+</a:t>
            </a:r>
            <a:r>
              <a:rPr lang="zh-TW" altLang="en-US" sz="3200" dirty="0" smtClean="0"/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AB’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grpSp>
        <p:nvGrpSpPr>
          <p:cNvPr id="11" name="群組 10"/>
          <p:cNvGrpSpPr/>
          <p:nvPr/>
        </p:nvGrpSpPr>
        <p:grpSpPr>
          <a:xfrm rot="5400000">
            <a:off x="4280708" y="2209900"/>
            <a:ext cx="868333" cy="2016579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7" name="群組 16"/>
          <p:cNvGrpSpPr/>
          <p:nvPr/>
        </p:nvGrpSpPr>
        <p:grpSpPr>
          <a:xfrm rot="16200000">
            <a:off x="4271967" y="4878241"/>
            <a:ext cx="868333" cy="2016579"/>
            <a:chOff x="7453992" y="4071761"/>
            <a:chExt cx="1448866" cy="2011739"/>
          </a:xfrm>
        </p:grpSpPr>
        <p:sp>
          <p:nvSpPr>
            <p:cNvPr id="18" name="手繪多邊形 17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 19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264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639956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3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AB’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6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B’C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057179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2" name="圓角矩形 11"/>
          <p:cNvSpPr/>
          <p:nvPr/>
        </p:nvSpPr>
        <p:spPr>
          <a:xfrm>
            <a:off x="1652990" y="5453743"/>
            <a:ext cx="4070175" cy="87358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14162" y="145852"/>
            <a:ext cx="470834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=	BD </a:t>
            </a:r>
            <a:r>
              <a:rPr lang="en-US" altLang="zh-TW" sz="3200" dirty="0"/>
              <a:t>+ B‘D + </a:t>
            </a:r>
            <a:r>
              <a:rPr lang="en-US" altLang="zh-TW" sz="3200" b="1" dirty="0">
                <a:solidFill>
                  <a:srgbClr val="0000FF"/>
                </a:solidFill>
              </a:rPr>
              <a:t>AD +</a:t>
            </a:r>
            <a:r>
              <a:rPr lang="zh-TW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B’C</a:t>
            </a:r>
          </a:p>
          <a:p>
            <a:r>
              <a:rPr lang="en-US" altLang="zh-TW" sz="3200" dirty="0"/>
              <a:t>	</a:t>
            </a:r>
            <a:r>
              <a:rPr lang="en-US" altLang="zh-TW" sz="3200" dirty="0" smtClean="0"/>
              <a:t>=	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+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CD</a:t>
            </a:r>
            <a:endParaRPr lang="en-US" altLang="zh-TW" sz="3200" b="1" dirty="0">
              <a:solidFill>
                <a:srgbClr val="0000FF"/>
              </a:solidFill>
            </a:endParaRPr>
          </a:p>
          <a:p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53604" y="145852"/>
            <a:ext cx="47724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=	BD </a:t>
            </a:r>
            <a:r>
              <a:rPr lang="en-US" altLang="zh-TW" sz="3200" dirty="0"/>
              <a:t>+ </a:t>
            </a:r>
            <a:r>
              <a:rPr lang="en-US" altLang="zh-TW" sz="3200" dirty="0" smtClean="0"/>
              <a:t>B‘D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+</a:t>
            </a:r>
            <a:r>
              <a:rPr lang="zh-TW" altLang="en-US" sz="3200" dirty="0" smtClean="0"/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AB’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+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B’C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grpSp>
        <p:nvGrpSpPr>
          <p:cNvPr id="11" name="群組 10"/>
          <p:cNvGrpSpPr/>
          <p:nvPr/>
        </p:nvGrpSpPr>
        <p:grpSpPr>
          <a:xfrm rot="5400000">
            <a:off x="4280708" y="2209900"/>
            <a:ext cx="868333" cy="2016579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7" name="群組 16"/>
          <p:cNvGrpSpPr/>
          <p:nvPr/>
        </p:nvGrpSpPr>
        <p:grpSpPr>
          <a:xfrm rot="16200000">
            <a:off x="4271967" y="4878241"/>
            <a:ext cx="868333" cy="2016579"/>
            <a:chOff x="7453992" y="4071761"/>
            <a:chExt cx="1448866" cy="2011739"/>
          </a:xfrm>
        </p:grpSpPr>
        <p:sp>
          <p:nvSpPr>
            <p:cNvPr id="18" name="手繪多邊形 17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 19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6037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781367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3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AB’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057179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2" name="圓角矩形 11"/>
          <p:cNvSpPr/>
          <p:nvPr/>
        </p:nvSpPr>
        <p:spPr>
          <a:xfrm>
            <a:off x="1652990" y="5453743"/>
            <a:ext cx="4070175" cy="87358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14162" y="145852"/>
            <a:ext cx="470834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=	BD </a:t>
            </a:r>
            <a:r>
              <a:rPr lang="en-US" altLang="zh-TW" sz="3200" dirty="0"/>
              <a:t>+ B‘D + </a:t>
            </a:r>
            <a:r>
              <a:rPr lang="en-US" altLang="zh-TW" sz="3200" b="1" dirty="0">
                <a:solidFill>
                  <a:srgbClr val="0000FF"/>
                </a:solidFill>
              </a:rPr>
              <a:t>AD +</a:t>
            </a:r>
            <a:r>
              <a:rPr lang="zh-TW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B’C</a:t>
            </a:r>
          </a:p>
          <a:p>
            <a:r>
              <a:rPr lang="en-US" altLang="zh-TW" sz="3200" dirty="0"/>
              <a:t>	</a:t>
            </a:r>
            <a:r>
              <a:rPr lang="en-US" altLang="zh-TW" sz="3200" dirty="0" smtClean="0"/>
              <a:t>=	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+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CD</a:t>
            </a:r>
            <a:endParaRPr lang="en-US" altLang="zh-TW" sz="3200" b="1" dirty="0">
              <a:solidFill>
                <a:srgbClr val="0000FF"/>
              </a:solidFill>
            </a:endParaRPr>
          </a:p>
          <a:p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53604" y="145852"/>
            <a:ext cx="477246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	=	BD </a:t>
            </a:r>
            <a:r>
              <a:rPr lang="en-US" altLang="zh-TW" sz="3200" dirty="0"/>
              <a:t>+ </a:t>
            </a:r>
            <a:r>
              <a:rPr lang="en-US" altLang="zh-TW" sz="3200" dirty="0" smtClean="0"/>
              <a:t>B‘D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+</a:t>
            </a:r>
            <a:r>
              <a:rPr lang="zh-TW" altLang="en-US" sz="3200" dirty="0" smtClean="0"/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AB’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+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B’C</a:t>
            </a:r>
          </a:p>
          <a:p>
            <a:r>
              <a:rPr lang="en-US" altLang="zh-TW" sz="3200" dirty="0" smtClean="0"/>
              <a:t>	=</a:t>
            </a:r>
            <a:r>
              <a:rPr lang="en-US" altLang="zh-TW" sz="3200" dirty="0"/>
              <a:t>	BD + B‘D</a:t>
            </a:r>
            <a:r>
              <a:rPr lang="zh-TW" altLang="en-US" sz="3200" dirty="0"/>
              <a:t> </a:t>
            </a:r>
            <a:r>
              <a:rPr lang="en-US" altLang="zh-TW" sz="3200" dirty="0"/>
              <a:t>+</a:t>
            </a:r>
            <a:r>
              <a:rPr lang="zh-TW" altLang="en-US" sz="3200" dirty="0"/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AB’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456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781367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3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AB’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057179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2" name="圓角矩形 11"/>
          <p:cNvSpPr/>
          <p:nvPr/>
        </p:nvSpPr>
        <p:spPr>
          <a:xfrm>
            <a:off x="1652990" y="5453743"/>
            <a:ext cx="4070175" cy="87358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14162" y="145852"/>
            <a:ext cx="470834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=	BD </a:t>
            </a:r>
            <a:r>
              <a:rPr lang="en-US" altLang="zh-TW" sz="3200" dirty="0"/>
              <a:t>+ B‘D + </a:t>
            </a:r>
            <a:r>
              <a:rPr lang="en-US" altLang="zh-TW" sz="3200" b="1" dirty="0">
                <a:solidFill>
                  <a:srgbClr val="0000FF"/>
                </a:solidFill>
              </a:rPr>
              <a:t>AD +</a:t>
            </a:r>
            <a:r>
              <a:rPr lang="zh-TW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B’C</a:t>
            </a:r>
          </a:p>
          <a:p>
            <a:r>
              <a:rPr lang="en-US" altLang="zh-TW" sz="3200" dirty="0"/>
              <a:t>	</a:t>
            </a:r>
            <a:r>
              <a:rPr lang="en-US" altLang="zh-TW" sz="3200" dirty="0" smtClean="0"/>
              <a:t>=	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+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CD</a:t>
            </a:r>
            <a:endParaRPr lang="en-US" altLang="zh-TW" sz="3200" b="1" dirty="0">
              <a:solidFill>
                <a:srgbClr val="0000FF"/>
              </a:solidFill>
            </a:endParaRPr>
          </a:p>
          <a:p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53604" y="145852"/>
            <a:ext cx="477246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	=	BD </a:t>
            </a:r>
            <a:r>
              <a:rPr lang="en-US" altLang="zh-TW" sz="3200" dirty="0"/>
              <a:t>+ </a:t>
            </a:r>
            <a:r>
              <a:rPr lang="en-US" altLang="zh-TW" sz="3200" dirty="0" smtClean="0"/>
              <a:t>B‘D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+</a:t>
            </a:r>
            <a:r>
              <a:rPr lang="zh-TW" altLang="en-US" sz="3200" dirty="0" smtClean="0"/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AB’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+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B’C</a:t>
            </a:r>
          </a:p>
          <a:p>
            <a:r>
              <a:rPr lang="en-US" altLang="zh-TW" sz="3200" dirty="0" smtClean="0"/>
              <a:t>	=</a:t>
            </a:r>
            <a:r>
              <a:rPr lang="en-US" altLang="zh-TW" sz="3200" dirty="0"/>
              <a:t>	BD + B‘D</a:t>
            </a:r>
            <a:r>
              <a:rPr lang="zh-TW" altLang="en-US" sz="3200" dirty="0"/>
              <a:t> </a:t>
            </a:r>
            <a:r>
              <a:rPr lang="en-US" altLang="zh-TW" sz="3200" dirty="0"/>
              <a:t>+</a:t>
            </a:r>
            <a:r>
              <a:rPr lang="zh-TW" altLang="en-US" sz="3200" dirty="0"/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AB’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3688077" y="2805497"/>
            <a:ext cx="998223" cy="352182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0314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38896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3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AB’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4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CD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057179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2" name="圓角矩形 11"/>
          <p:cNvSpPr/>
          <p:nvPr/>
        </p:nvSpPr>
        <p:spPr>
          <a:xfrm>
            <a:off x="1652990" y="5453743"/>
            <a:ext cx="4070175" cy="87358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14162" y="145852"/>
            <a:ext cx="470834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=	BD </a:t>
            </a:r>
            <a:r>
              <a:rPr lang="en-US" altLang="zh-TW" sz="3200" dirty="0"/>
              <a:t>+ B‘D + </a:t>
            </a:r>
            <a:r>
              <a:rPr lang="en-US" altLang="zh-TW" sz="3200" b="1" dirty="0">
                <a:solidFill>
                  <a:srgbClr val="0000FF"/>
                </a:solidFill>
              </a:rPr>
              <a:t>AD +</a:t>
            </a:r>
            <a:r>
              <a:rPr lang="zh-TW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B’C</a:t>
            </a:r>
          </a:p>
          <a:p>
            <a:r>
              <a:rPr lang="en-US" altLang="zh-TW" sz="3200" dirty="0"/>
              <a:t>	</a:t>
            </a:r>
            <a:r>
              <a:rPr lang="en-US" altLang="zh-TW" sz="3200" dirty="0" smtClean="0"/>
              <a:t>=	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+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CD</a:t>
            </a:r>
            <a:endParaRPr lang="en-US" altLang="zh-TW" sz="3200" b="1" dirty="0">
              <a:solidFill>
                <a:srgbClr val="0000FF"/>
              </a:solidFill>
            </a:endParaRPr>
          </a:p>
          <a:p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53604" y="145852"/>
            <a:ext cx="477246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	=	BD </a:t>
            </a:r>
            <a:r>
              <a:rPr lang="en-US" altLang="zh-TW" sz="3200" dirty="0"/>
              <a:t>+ </a:t>
            </a:r>
            <a:r>
              <a:rPr lang="en-US" altLang="zh-TW" sz="3200" dirty="0" smtClean="0"/>
              <a:t>B‘D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+</a:t>
            </a:r>
            <a:r>
              <a:rPr lang="zh-TW" altLang="en-US" sz="3200" dirty="0" smtClean="0"/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AB’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+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B’C</a:t>
            </a:r>
          </a:p>
          <a:p>
            <a:r>
              <a:rPr lang="en-US" altLang="zh-TW" sz="3200" dirty="0" smtClean="0"/>
              <a:t>	=</a:t>
            </a:r>
            <a:r>
              <a:rPr lang="en-US" altLang="zh-TW" sz="3200" dirty="0"/>
              <a:t>	BD + B‘D</a:t>
            </a:r>
            <a:r>
              <a:rPr lang="zh-TW" altLang="en-US" sz="3200" dirty="0"/>
              <a:t> </a:t>
            </a:r>
            <a:r>
              <a:rPr lang="en-US" altLang="zh-TW" sz="3200" dirty="0"/>
              <a:t>+</a:t>
            </a:r>
            <a:r>
              <a:rPr lang="zh-TW" altLang="en-US" sz="3200" dirty="0"/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AB’</a:t>
            </a:r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3688077" y="2805497"/>
            <a:ext cx="998223" cy="352182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7734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6985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971393" y="1724691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38896"/>
              </p:ext>
            </p:extLst>
          </p:nvPr>
        </p:nvGraphicFramePr>
        <p:xfrm>
          <a:off x="6327382" y="2525935"/>
          <a:ext cx="490796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  <a:gridCol w="2058043">
                  <a:extLst>
                    <a:ext uri="{9D8B030D-6E8A-4147-A177-3AD203B41FA5}">
                      <a16:colId xmlns:a16="http://schemas.microsoft.com/office/drawing/2014/main" val="2415059491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BD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3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AB’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4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0000FF"/>
                          </a:solidFill>
                        </a:rPr>
                        <a:t>CD</a:t>
                      </a:r>
                      <a:endParaRPr lang="zh-TW" altLang="en-US" sz="3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B’D’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Essential</a:t>
                      </a:r>
                      <a:endParaRPr lang="zh-TW" altLang="en-US" sz="32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B’C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057179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3800" b="1" dirty="0">
                        <a:solidFill>
                          <a:srgbClr val="0000FF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652235" y="2310492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2" name="圓角矩形 11"/>
          <p:cNvSpPr/>
          <p:nvPr/>
        </p:nvSpPr>
        <p:spPr>
          <a:xfrm>
            <a:off x="1652990" y="5453743"/>
            <a:ext cx="4070175" cy="87358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14162" y="145852"/>
            <a:ext cx="470834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=	BD </a:t>
            </a:r>
            <a:r>
              <a:rPr lang="en-US" altLang="zh-TW" sz="3200" dirty="0"/>
              <a:t>+ B‘D + </a:t>
            </a:r>
            <a:r>
              <a:rPr lang="en-US" altLang="zh-TW" sz="3200" b="1" dirty="0">
                <a:solidFill>
                  <a:srgbClr val="0000FF"/>
                </a:solidFill>
              </a:rPr>
              <a:t>AD +</a:t>
            </a:r>
            <a:r>
              <a:rPr lang="zh-TW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B’C</a:t>
            </a:r>
          </a:p>
          <a:p>
            <a:r>
              <a:rPr lang="en-US" altLang="zh-TW" sz="3200" dirty="0"/>
              <a:t>	</a:t>
            </a:r>
            <a:r>
              <a:rPr lang="en-US" altLang="zh-TW" sz="3200" dirty="0" smtClean="0"/>
              <a:t>=	BD + B‘D +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AD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+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CD</a:t>
            </a:r>
            <a:endParaRPr lang="en-US" altLang="zh-TW" sz="3200" b="1" dirty="0">
              <a:solidFill>
                <a:srgbClr val="0000FF"/>
              </a:solidFill>
            </a:endParaRPr>
          </a:p>
          <a:p>
            <a:endParaRPr lang="zh-TW" altLang="en-US" sz="32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53604" y="145852"/>
            <a:ext cx="477246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F  	=	BD </a:t>
            </a:r>
            <a:r>
              <a:rPr lang="en-US" altLang="zh-TW" sz="3200" dirty="0"/>
              <a:t>+ </a:t>
            </a:r>
            <a:r>
              <a:rPr lang="en-US" altLang="zh-TW" sz="3200" dirty="0" smtClean="0"/>
              <a:t>B‘D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+</a:t>
            </a:r>
            <a:r>
              <a:rPr lang="zh-TW" altLang="en-US" sz="3200" dirty="0" smtClean="0"/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AB’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+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B’C</a:t>
            </a:r>
          </a:p>
          <a:p>
            <a:r>
              <a:rPr lang="en-US" altLang="zh-TW" sz="3200" dirty="0" smtClean="0"/>
              <a:t>	=</a:t>
            </a:r>
            <a:r>
              <a:rPr lang="en-US" altLang="zh-TW" sz="3200" dirty="0"/>
              <a:t>	BD + B‘D</a:t>
            </a:r>
            <a:r>
              <a:rPr lang="zh-TW" altLang="en-US" sz="3200" dirty="0"/>
              <a:t> </a:t>
            </a:r>
            <a:r>
              <a:rPr lang="en-US" altLang="zh-TW" sz="3200" dirty="0"/>
              <a:t>+</a:t>
            </a:r>
            <a:r>
              <a:rPr lang="zh-TW" altLang="en-US" sz="3200" dirty="0"/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AB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’</a:t>
            </a:r>
            <a:r>
              <a:rPr lang="en-US" altLang="zh-TW" sz="3200" b="1" dirty="0">
                <a:solidFill>
                  <a:srgbClr val="0000FF"/>
                </a:solidFill>
              </a:rPr>
              <a:t> +</a:t>
            </a:r>
            <a:r>
              <a:rPr lang="zh-TW" altLang="en-US" sz="3200" b="1" dirty="0">
                <a:solidFill>
                  <a:srgbClr val="0000FF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CD</a:t>
            </a:r>
            <a:endParaRPr lang="en-US" altLang="zh-TW" sz="3200" b="1" dirty="0">
              <a:solidFill>
                <a:srgbClr val="0000FF"/>
              </a:solidFill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3688077" y="2805497"/>
            <a:ext cx="998223" cy="352182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8950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906199" y="896966"/>
            <a:ext cx="7741222" cy="4944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5400" dirty="0" smtClean="0"/>
              <a:t>F  =	BD </a:t>
            </a:r>
            <a:r>
              <a:rPr lang="en-US" altLang="zh-TW" sz="5400" dirty="0"/>
              <a:t>+ B‘D + </a:t>
            </a:r>
            <a:r>
              <a:rPr lang="en-US" altLang="zh-TW" sz="5400" b="1" dirty="0">
                <a:solidFill>
                  <a:srgbClr val="0000FF"/>
                </a:solidFill>
              </a:rPr>
              <a:t>AD +</a:t>
            </a:r>
            <a:r>
              <a:rPr lang="zh-TW" altLang="en-US" sz="5400" b="1" dirty="0">
                <a:solidFill>
                  <a:srgbClr val="0000FF"/>
                </a:solidFill>
              </a:rPr>
              <a:t> </a:t>
            </a:r>
            <a:r>
              <a:rPr lang="en-US" altLang="zh-TW" sz="5400" b="1" dirty="0">
                <a:solidFill>
                  <a:srgbClr val="0000FF"/>
                </a:solidFill>
              </a:rPr>
              <a:t>B’C</a:t>
            </a:r>
          </a:p>
          <a:p>
            <a:pPr>
              <a:lnSpc>
                <a:spcPct val="150000"/>
              </a:lnSpc>
            </a:pPr>
            <a:r>
              <a:rPr lang="en-US" altLang="zh-TW" sz="5400" dirty="0"/>
              <a:t>	</a:t>
            </a:r>
            <a:r>
              <a:rPr lang="en-US" altLang="zh-TW" sz="5400" dirty="0" smtClean="0"/>
              <a:t>=	BD + B‘D + </a:t>
            </a:r>
            <a:r>
              <a:rPr lang="en-US" altLang="zh-TW" sz="5400" b="1" dirty="0" smtClean="0">
                <a:solidFill>
                  <a:srgbClr val="0000FF"/>
                </a:solidFill>
              </a:rPr>
              <a:t>AD</a:t>
            </a:r>
            <a:r>
              <a:rPr lang="zh-TW" altLang="en-US" sz="54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5400" b="1" dirty="0" smtClean="0">
                <a:solidFill>
                  <a:srgbClr val="0000FF"/>
                </a:solidFill>
              </a:rPr>
              <a:t>+</a:t>
            </a:r>
            <a:r>
              <a:rPr lang="zh-TW" altLang="en-US" sz="54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5400" b="1" dirty="0" smtClean="0">
                <a:solidFill>
                  <a:srgbClr val="0000FF"/>
                </a:solidFill>
              </a:rPr>
              <a:t>CD</a:t>
            </a:r>
          </a:p>
          <a:p>
            <a:pPr>
              <a:lnSpc>
                <a:spcPct val="150000"/>
              </a:lnSpc>
            </a:pPr>
            <a:r>
              <a:rPr lang="en-US" altLang="zh-TW" sz="5400" dirty="0" smtClean="0"/>
              <a:t>	=</a:t>
            </a:r>
            <a:r>
              <a:rPr lang="en-US" altLang="zh-TW" sz="5400" dirty="0"/>
              <a:t>	BD + B‘D</a:t>
            </a:r>
            <a:r>
              <a:rPr lang="zh-TW" altLang="en-US" sz="5400" dirty="0"/>
              <a:t> </a:t>
            </a:r>
            <a:r>
              <a:rPr lang="en-US" altLang="zh-TW" sz="5400" dirty="0"/>
              <a:t>+</a:t>
            </a:r>
            <a:r>
              <a:rPr lang="zh-TW" altLang="en-US" sz="5400" dirty="0"/>
              <a:t> </a:t>
            </a:r>
            <a:r>
              <a:rPr lang="en-US" altLang="zh-TW" sz="5400" b="1" dirty="0">
                <a:solidFill>
                  <a:srgbClr val="0000FF"/>
                </a:solidFill>
              </a:rPr>
              <a:t>AB’</a:t>
            </a:r>
            <a:r>
              <a:rPr lang="zh-TW" altLang="en-US" sz="5400" b="1" dirty="0">
                <a:solidFill>
                  <a:srgbClr val="0000FF"/>
                </a:solidFill>
              </a:rPr>
              <a:t> </a:t>
            </a:r>
            <a:r>
              <a:rPr lang="en-US" altLang="zh-TW" sz="5400" b="1" dirty="0">
                <a:solidFill>
                  <a:srgbClr val="0000FF"/>
                </a:solidFill>
              </a:rPr>
              <a:t>+</a:t>
            </a:r>
            <a:r>
              <a:rPr lang="zh-TW" altLang="en-US" sz="5400" b="1" dirty="0">
                <a:solidFill>
                  <a:srgbClr val="0000FF"/>
                </a:solidFill>
              </a:rPr>
              <a:t> </a:t>
            </a:r>
            <a:r>
              <a:rPr lang="en-US" altLang="zh-TW" sz="5400" b="1" dirty="0">
                <a:solidFill>
                  <a:srgbClr val="0000FF"/>
                </a:solidFill>
              </a:rPr>
              <a:t>B’C</a:t>
            </a:r>
          </a:p>
          <a:p>
            <a:pPr>
              <a:lnSpc>
                <a:spcPct val="150000"/>
              </a:lnSpc>
            </a:pPr>
            <a:r>
              <a:rPr lang="en-US" altLang="zh-TW" sz="5400" dirty="0"/>
              <a:t>	=	BD + B‘D</a:t>
            </a:r>
            <a:r>
              <a:rPr lang="zh-TW" altLang="en-US" sz="5400" dirty="0"/>
              <a:t> </a:t>
            </a:r>
            <a:r>
              <a:rPr lang="en-US" altLang="zh-TW" sz="5400" dirty="0"/>
              <a:t>+</a:t>
            </a:r>
            <a:r>
              <a:rPr lang="zh-TW" altLang="en-US" sz="5400" dirty="0"/>
              <a:t> </a:t>
            </a:r>
            <a:r>
              <a:rPr lang="en-US" altLang="zh-TW" sz="5400" b="1" dirty="0">
                <a:solidFill>
                  <a:srgbClr val="0000FF"/>
                </a:solidFill>
              </a:rPr>
              <a:t>AB’ +</a:t>
            </a:r>
            <a:r>
              <a:rPr lang="zh-TW" altLang="en-US" sz="5400" b="1" dirty="0">
                <a:solidFill>
                  <a:srgbClr val="0000FF"/>
                </a:solidFill>
              </a:rPr>
              <a:t> </a:t>
            </a:r>
            <a:r>
              <a:rPr lang="en-US" altLang="zh-TW" sz="5400" b="1" dirty="0" smtClean="0">
                <a:solidFill>
                  <a:srgbClr val="0000FF"/>
                </a:solidFill>
              </a:rPr>
              <a:t>CD</a:t>
            </a:r>
            <a:endParaRPr lang="en-US" altLang="zh-TW" sz="5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313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小水滴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小水滴</Template>
  <TotalTime>358</TotalTime>
  <Words>5996</Words>
  <Application>Microsoft Office PowerPoint</Application>
  <PresentationFormat>寬螢幕</PresentationFormat>
  <Paragraphs>3031</Paragraphs>
  <Slides>179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179</vt:i4>
      </vt:variant>
    </vt:vector>
  </HeadingPairs>
  <TitlesOfParts>
    <vt:vector size="188" baseType="lpstr">
      <vt:lpstr>新細明體</vt:lpstr>
      <vt:lpstr>Arial</vt:lpstr>
      <vt:lpstr>Bahnschrift SemiLight</vt:lpstr>
      <vt:lpstr>Symbol</vt:lpstr>
      <vt:lpstr>Tahoma</vt:lpstr>
      <vt:lpstr>Tw Cen MT</vt:lpstr>
      <vt:lpstr>Wingdings</vt:lpstr>
      <vt:lpstr>小水滴</vt:lpstr>
      <vt:lpstr>Equation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Windows 使用者</dc:creator>
  <cp:lastModifiedBy>user</cp:lastModifiedBy>
  <cp:revision>56</cp:revision>
  <dcterms:created xsi:type="dcterms:W3CDTF">2021-10-28T23:52:06Z</dcterms:created>
  <dcterms:modified xsi:type="dcterms:W3CDTF">2021-11-05T03:02:11Z</dcterms:modified>
</cp:coreProperties>
</file>