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6" r:id="rId9"/>
    <p:sldId id="272" r:id="rId10"/>
    <p:sldId id="273" r:id="rId11"/>
    <p:sldId id="274" r:id="rId12"/>
    <p:sldId id="275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8" r:id="rId34"/>
    <p:sldId id="299" r:id="rId35"/>
    <p:sldId id="300" r:id="rId36"/>
    <p:sldId id="301" r:id="rId37"/>
    <p:sldId id="297" r:id="rId38"/>
    <p:sldId id="303" r:id="rId39"/>
    <p:sldId id="304" r:id="rId40"/>
    <p:sldId id="305" r:id="rId41"/>
    <p:sldId id="306" r:id="rId42"/>
    <p:sldId id="302" r:id="rId43"/>
    <p:sldId id="307" r:id="rId44"/>
    <p:sldId id="308" r:id="rId45"/>
    <p:sldId id="309" r:id="rId46"/>
    <p:sldId id="310" r:id="rId47"/>
    <p:sldId id="311" r:id="rId48"/>
    <p:sldId id="330" r:id="rId49"/>
    <p:sldId id="312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258" r:id="rId58"/>
    <p:sldId id="331" r:id="rId59"/>
    <p:sldId id="332" r:id="rId60"/>
    <p:sldId id="261" r:id="rId61"/>
    <p:sldId id="322" r:id="rId62"/>
    <p:sldId id="323" r:id="rId63"/>
    <p:sldId id="324" r:id="rId64"/>
    <p:sldId id="325" r:id="rId65"/>
    <p:sldId id="262" r:id="rId66"/>
    <p:sldId id="326" r:id="rId67"/>
    <p:sldId id="327" r:id="rId68"/>
    <p:sldId id="328" r:id="rId69"/>
    <p:sldId id="329" r:id="rId70"/>
    <p:sldId id="263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7736" y="150070"/>
            <a:ext cx="85256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Analysis of Clocked Sequential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Circuits</a:t>
            </a:r>
            <a:endParaRPr lang="zh-TW" alt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1372" y="925970"/>
            <a:ext cx="114354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zh-TW" altLang="en-US" sz="3600" dirty="0"/>
              <a:t>(</a:t>
            </a:r>
            <a:r>
              <a:rPr lang="en-US" altLang="zh-TW" sz="3600" dirty="0"/>
              <a:t>inputs, current state) </a:t>
            </a:r>
            <a:r>
              <a:rPr lang="en-US" altLang="zh-TW" sz="3600" dirty="0" smtClean="0">
                <a:latin typeface="Symbol" panose="05050102010706020507" pitchFamily="18" charset="2"/>
                <a:sym typeface="Wingdings" panose="05000000000000000000" pitchFamily="2" charset="2"/>
              </a:rPr>
              <a:t>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(output, next state)</a:t>
            </a:r>
          </a:p>
          <a:p>
            <a:pPr lvl="1">
              <a:spcBef>
                <a:spcPct val="0"/>
              </a:spcBef>
            </a:pPr>
            <a:r>
              <a:rPr lang="en-US" altLang="zh-TW" sz="3600" dirty="0"/>
              <a:t>a state transition table or  state transition diagram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3927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18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019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018661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23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997593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25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34862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87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234301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15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234301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147260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147260" y="17841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224695" y="34508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21602" y="41844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221602" y="52982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221602" y="606385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723831" y="61618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717645" y="54828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194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048715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302580" y="10248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991276" y="367718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894086" y="56284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147260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147260" y="17841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224695" y="34508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221602" y="41844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221602" y="52982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221602" y="606385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723831" y="61618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717645" y="54828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2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790531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302580" y="10248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991276" y="367718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894086" y="56284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3147260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147260" y="17841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224695" y="34508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221602" y="41844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221602" y="52982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221602" y="606385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723831" y="61618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717645" y="54828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04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37048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302580" y="10248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991276" y="367718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894086" y="56284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3147260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147260" y="17841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224695" y="34508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221602" y="41844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221602" y="52982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221602" y="606385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723831" y="61618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717645" y="54828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17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325348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20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325348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81993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74890" y="180859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196194" y="34947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196194" y="418876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246242" y="53003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198319" y="60426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765862" y="61651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10210" y="548505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0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667401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81993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74890" y="180859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196194" y="34947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196194" y="418876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246242" y="53003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198319" y="60426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765862" y="61651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262819" y="102978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65862" y="364860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610210" y="548505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738434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01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667401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81993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74890" y="180859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196194" y="34947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196194" y="418876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246242" y="53003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198319" y="60426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765862" y="61651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262819" y="102978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65862" y="364860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610210" y="548505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738434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25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651502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81993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74890" y="180859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196194" y="34947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196194" y="418876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246242" y="53003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198319" y="60426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765862" y="61651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262819" y="102978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65862" y="364860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610210" y="548505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738434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41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507955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04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507955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31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507955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91608" y="56956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79820" y="183396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28851" y="351112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28851" y="41852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722915" y="61890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468763" y="549318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301270" y="530851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286004" y="60449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48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417849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91608" y="56956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79820" y="183396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28851" y="351112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28851" y="41852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722915" y="61890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468763" y="549318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289730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827990" y="36540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780392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95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417849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91608" y="56956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79820" y="183396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28851" y="351112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28851" y="41852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722915" y="61890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468763" y="549318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289730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827990" y="36540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780392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937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284577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91608" y="56956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79820" y="183396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28851" y="351112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28851" y="41852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722915" y="61890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468763" y="549318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289730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827990" y="36540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780392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59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918548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97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918548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2815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23877" y="178234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37015" y="347533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37015" y="42101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392667" y="531107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392667" y="60458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519338" y="54957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83762" y="613854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1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04217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2815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23877" y="178234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37015" y="347533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37014" y="4210125"/>
            <a:ext cx="33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392667" y="531107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392667" y="60458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519338" y="54957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83762" y="613854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935967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839414" y="4076473"/>
            <a:ext cx="33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333884" y="1002268"/>
            <a:ext cx="33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33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04217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2815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23877" y="178234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37015" y="347533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37014" y="4210125"/>
            <a:ext cx="33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392667" y="531107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392667" y="60458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519338" y="54957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83762" y="613854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935967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839414" y="4076473"/>
            <a:ext cx="33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333884" y="1002268"/>
            <a:ext cx="33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10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01604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2815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23877" y="178234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37015" y="347533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37014" y="4210125"/>
            <a:ext cx="33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392667" y="531107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392667" y="60458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519338" y="54957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83762" y="613854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935967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839414" y="4076473"/>
            <a:ext cx="33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333884" y="1002268"/>
            <a:ext cx="33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118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695225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6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695225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2815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65665" y="17507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302329" y="34835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302329" y="41937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367643" y="53029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07936" y="604391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779536" y="61663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79536" y="548757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10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438898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2815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65665" y="17507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302329" y="34835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302329" y="41937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367643" y="53029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07936" y="604391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779536" y="61663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79536" y="548757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35156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779536" y="36367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780315" y="567223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70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438898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2815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65665" y="17507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302329" y="34835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302329" y="41937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367643" y="53029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07936" y="604391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779536" y="61663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79536" y="548757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35156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779536" y="36367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780315" y="567223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圓角矩形 24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74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382253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2815" y="6329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65665" y="17507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302329" y="34835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302329" y="41937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367643" y="53029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07936" y="604391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779536" y="61663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79536" y="548757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35156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779536" y="36367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780315" y="567223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圓角矩形 24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815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627309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7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627309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14651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14651" y="17656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53344" y="34605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58154" y="419256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408996" y="530229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401894" y="60343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683687" y="54869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97861" y="61341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62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169821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14651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14651" y="17656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53344" y="34605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58154" y="419256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408996" y="530229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401894" y="60343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683687" y="54869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97861" y="61341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780315" y="60371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53593" y="1002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697861" y="36452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35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FF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820273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14651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14651" y="17656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53344" y="34605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58154" y="419256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408996" y="530229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401894" y="60343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683687" y="54869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97861" y="61341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780315" y="60371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53593" y="1002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697861" y="36452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85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75746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4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75746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04280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04280" y="18167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324616" y="351492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324616" y="41925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319806" y="60396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319806" y="53427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32227" y="55274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732227" y="61543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18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498172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04280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04280" y="18167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324616" y="351492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324616" y="41925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319806" y="60396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319806" y="53427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32227" y="55274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732227" y="61543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320014" y="1002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878278" y="365407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738434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15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498172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04280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04280" y="18167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324616" y="351492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324616" y="41925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319806" y="60396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319806" y="53427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32227" y="55274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732227" y="61543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320014" y="1002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878278" y="365407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738434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6" name="圓角矩形 25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42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FF"/>
              </a:solidFill>
            </a:endParaRPr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5623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04280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04280" y="18167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324616" y="351492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324616" y="41925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319806" y="60396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319806" y="53427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32227" y="55274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732227" y="61543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320014" y="1002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878278" y="365407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738434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6" name="圓角矩形 25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29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115688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61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115688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38965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38965" y="18249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53344" y="34523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51016" y="417817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097769" y="52950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093568" y="60208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731080" y="62055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48983" y="54797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87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727800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38965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38965" y="18249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53344" y="34523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51016" y="417817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097769" y="52950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093568" y="60208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731080" y="62055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48983" y="54797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738434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43223" y="1002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795128" y="363705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95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727800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38965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38965" y="18249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53344" y="34523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51016" y="417817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097769" y="52950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093568" y="60208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731080" y="62055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48983" y="54797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738434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43223" y="1002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795128" y="363705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60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013624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80315" y="10022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738434" y="360723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0315" y="193541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4108" y="11084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38965" y="6329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38965" y="18249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53344" y="34523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51016" y="417817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097769" y="52950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093568" y="60208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731080" y="62055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48983" y="54797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738434" y="56375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43223" y="1002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795128" y="363705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4016831" y="5207987"/>
            <a:ext cx="622608" cy="335564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31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1" b="49913"/>
          <a:stretch/>
        </p:blipFill>
        <p:spPr bwMode="auto">
          <a:xfrm>
            <a:off x="6799942" y="303229"/>
            <a:ext cx="5079094" cy="1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939644" y="207266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State input (present state)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39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9183" y="174562"/>
            <a:ext cx="54239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Flip-flop input equations</a:t>
            </a:r>
            <a:endParaRPr lang="zh-TW" alt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00271" y="882448"/>
            <a:ext cx="104191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200" dirty="0"/>
              <a:t>The part of circuit that generates the inputs to </a:t>
            </a:r>
            <a:r>
              <a:rPr lang="en-US" altLang="zh-TW" sz="3200" dirty="0" smtClean="0"/>
              <a:t>flip-flops, also </a:t>
            </a:r>
            <a:r>
              <a:rPr lang="en-US" altLang="zh-TW" sz="3200" dirty="0"/>
              <a:t>called excitation </a:t>
            </a:r>
            <a:r>
              <a:rPr lang="en-US" altLang="zh-TW" sz="3200" dirty="0" smtClean="0"/>
              <a:t>functions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236820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931479" y="46574"/>
            <a:ext cx="526052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Flip-Flop input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equations</a:t>
            </a:r>
          </a:p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A(t + 1</a:t>
            </a:r>
            <a:r>
              <a:rPr lang="en-US" altLang="zh-TW" sz="3200" b="1" dirty="0">
                <a:solidFill>
                  <a:srgbClr val="C00000"/>
                </a:solidFill>
              </a:rPr>
              <a:t>) = Ax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Bx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4539343" y="1387928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39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6366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931479" y="46574"/>
            <a:ext cx="526052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Flip-Flop input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equations</a:t>
            </a:r>
          </a:p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A(t + 1</a:t>
            </a:r>
            <a:r>
              <a:rPr lang="en-US" altLang="zh-TW" sz="3200" b="1" dirty="0">
                <a:solidFill>
                  <a:srgbClr val="C00000"/>
                </a:solidFill>
              </a:rPr>
              <a:t>) = Ax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Bx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4539343" y="1387928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58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6366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931479" y="46574"/>
            <a:ext cx="526052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Flip-Flop input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equations</a:t>
            </a:r>
          </a:p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A(t + 1</a:t>
            </a:r>
            <a:r>
              <a:rPr lang="en-US" altLang="zh-TW" sz="3200" b="1" dirty="0">
                <a:solidFill>
                  <a:srgbClr val="C00000"/>
                </a:solidFill>
              </a:rPr>
              <a:t>) = Ax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Bx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sz="3200" b="1" dirty="0">
                <a:solidFill>
                  <a:srgbClr val="C00000"/>
                </a:solidFill>
              </a:rPr>
              <a:t>B(t + 1)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A’x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4539343" y="1387928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4539343" y="4015241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16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6366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931479" y="46574"/>
            <a:ext cx="526052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Flip-Flop input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equations</a:t>
            </a:r>
          </a:p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A(t + 1</a:t>
            </a:r>
            <a:r>
              <a:rPr lang="en-US" altLang="zh-TW" sz="3200" b="1" dirty="0">
                <a:solidFill>
                  <a:srgbClr val="C00000"/>
                </a:solidFill>
              </a:rPr>
              <a:t>) = Ax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Bx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sz="3200" b="1" dirty="0">
                <a:solidFill>
                  <a:srgbClr val="C00000"/>
                </a:solidFill>
              </a:rPr>
              <a:t>B(t + 1)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A’x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4539343" y="4015241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4539343" y="1387928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99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6366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931479" y="46574"/>
            <a:ext cx="526052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Flip-Flop input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equations</a:t>
            </a:r>
          </a:p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A(t + 1</a:t>
            </a:r>
            <a:r>
              <a:rPr lang="en-US" altLang="zh-TW" sz="3200" b="1" dirty="0">
                <a:solidFill>
                  <a:srgbClr val="C00000"/>
                </a:solidFill>
              </a:rPr>
              <a:t>) = Ax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Bx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sz="3200" b="1" dirty="0">
                <a:solidFill>
                  <a:srgbClr val="C00000"/>
                </a:solidFill>
              </a:rPr>
              <a:t>B(t + 1)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A’x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>
                <a:solidFill>
                  <a:srgbClr val="0000FF"/>
                </a:solidFill>
              </a:rPr>
              <a:t>The output equation</a:t>
            </a:r>
          </a:p>
          <a:p>
            <a:pPr lvl="1"/>
            <a:r>
              <a:rPr lang="en-US" altLang="zh-TW" sz="3200" b="1" dirty="0">
                <a:solidFill>
                  <a:srgbClr val="0000FF"/>
                </a:solidFill>
              </a:rPr>
              <a:t>y = (A + B) · x’</a:t>
            </a:r>
          </a:p>
          <a:p>
            <a:pPr lvl="1"/>
            <a:endParaRPr lang="en-US" altLang="zh-TW" sz="3200" b="1" dirty="0">
              <a:solidFill>
                <a:srgbClr val="C0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4539343" y="4015241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4539343" y="1387928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5927272" y="6007326"/>
            <a:ext cx="179614" cy="81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18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6366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931479" y="46574"/>
            <a:ext cx="526052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Flip-Flop input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equations</a:t>
            </a:r>
          </a:p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A(t + 1</a:t>
            </a:r>
            <a:r>
              <a:rPr lang="en-US" altLang="zh-TW" sz="3200" b="1" dirty="0">
                <a:solidFill>
                  <a:srgbClr val="C00000"/>
                </a:solidFill>
              </a:rPr>
              <a:t>) = Ax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Bx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sz="3200" b="1" dirty="0">
                <a:solidFill>
                  <a:srgbClr val="C00000"/>
                </a:solidFill>
              </a:rPr>
              <a:t>B(t + 1)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A’x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>
                <a:solidFill>
                  <a:srgbClr val="0000FF"/>
                </a:solidFill>
              </a:rPr>
              <a:t>The output equation</a:t>
            </a:r>
          </a:p>
          <a:p>
            <a:pPr lvl="1"/>
            <a:r>
              <a:rPr lang="en-US" altLang="zh-TW" sz="3200" b="1" dirty="0">
                <a:solidFill>
                  <a:srgbClr val="0000FF"/>
                </a:solidFill>
              </a:rPr>
              <a:t>y = (A + B) · x’</a:t>
            </a:r>
          </a:p>
          <a:p>
            <a:pPr lvl="1"/>
            <a:endParaRPr lang="en-US" altLang="zh-TW" sz="3200" b="1" dirty="0">
              <a:solidFill>
                <a:srgbClr val="C0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4539343" y="4015241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4539343" y="1387928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5927272" y="6007326"/>
            <a:ext cx="179614" cy="81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05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6366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931479" y="46574"/>
            <a:ext cx="526052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Flip-Flop input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equations</a:t>
            </a:r>
          </a:p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A(t + 1</a:t>
            </a:r>
            <a:r>
              <a:rPr lang="en-US" altLang="zh-TW" sz="3200" b="1" dirty="0">
                <a:solidFill>
                  <a:srgbClr val="C00000"/>
                </a:solidFill>
              </a:rPr>
              <a:t>) = Ax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Bx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sz="3200" b="1" dirty="0">
                <a:solidFill>
                  <a:srgbClr val="C00000"/>
                </a:solidFill>
              </a:rPr>
              <a:t>B(t + 1)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A’x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>
                <a:solidFill>
                  <a:srgbClr val="0000FF"/>
                </a:solidFill>
              </a:rPr>
              <a:t>The output equation</a:t>
            </a:r>
          </a:p>
          <a:p>
            <a:pPr lvl="1"/>
            <a:r>
              <a:rPr lang="en-US" altLang="zh-TW" sz="3200" b="1" dirty="0">
                <a:solidFill>
                  <a:srgbClr val="0000FF"/>
                </a:solidFill>
              </a:rPr>
              <a:t>y = (A + B) · x’</a:t>
            </a:r>
          </a:p>
          <a:p>
            <a:pPr lvl="1"/>
            <a:endParaRPr lang="en-US" altLang="zh-TW" sz="3200" b="1" dirty="0">
              <a:solidFill>
                <a:srgbClr val="C0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4539343" y="4015241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4539343" y="1387928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5927272" y="6007326"/>
            <a:ext cx="179614" cy="81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圓角矩形 1"/>
          <p:cNvSpPr/>
          <p:nvPr/>
        </p:nvSpPr>
        <p:spPr>
          <a:xfrm>
            <a:off x="4033156" y="5192484"/>
            <a:ext cx="644978" cy="359229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29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11F0846-FF55-46BA-8FDB-8AC066EBE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6" b="8508"/>
          <a:stretch/>
        </p:blipFill>
        <p:spPr bwMode="auto">
          <a:xfrm>
            <a:off x="98888" y="89807"/>
            <a:ext cx="6408048" cy="66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62034" y="1371600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462034" y="3970338"/>
            <a:ext cx="89806" cy="106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63666"/>
              </p:ext>
            </p:extLst>
          </p:nvPr>
        </p:nvGraphicFramePr>
        <p:xfrm>
          <a:off x="6799942" y="2813591"/>
          <a:ext cx="5258704" cy="396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338">
                  <a:extLst>
                    <a:ext uri="{9D8B030D-6E8A-4147-A177-3AD203B41FA5}">
                      <a16:colId xmlns:a16="http://schemas.microsoft.com/office/drawing/2014/main" val="3108797301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715310050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95237439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73526145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822609847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4080909134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2116581859"/>
                    </a:ext>
                  </a:extLst>
                </a:gridCol>
                <a:gridCol w="657338">
                  <a:extLst>
                    <a:ext uri="{9D8B030D-6E8A-4147-A177-3AD203B41FA5}">
                      <a16:colId xmlns:a16="http://schemas.microsoft.com/office/drawing/2014/main" val="1438989921"/>
                    </a:ext>
                  </a:extLst>
                </a:gridCol>
              </a:tblGrid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56922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9058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77744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13860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467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015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811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1665"/>
                  </a:ext>
                </a:extLst>
              </a:tr>
              <a:tr h="4408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95218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931479" y="46574"/>
            <a:ext cx="526052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The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Flip-Flop input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equations</a:t>
            </a:r>
          </a:p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A(t + 1</a:t>
            </a:r>
            <a:r>
              <a:rPr lang="en-US" altLang="zh-TW" sz="3200" b="1" dirty="0">
                <a:solidFill>
                  <a:srgbClr val="C00000"/>
                </a:solidFill>
              </a:rPr>
              <a:t>) = Ax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Bx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sz="3200" b="1" dirty="0">
                <a:solidFill>
                  <a:srgbClr val="C00000"/>
                </a:solidFill>
              </a:rPr>
              <a:t>B(t + 1)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A’x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>
                <a:solidFill>
                  <a:srgbClr val="0000FF"/>
                </a:solidFill>
              </a:rPr>
              <a:t>The output equation</a:t>
            </a:r>
          </a:p>
          <a:p>
            <a:pPr lvl="1"/>
            <a:r>
              <a:rPr lang="en-US" altLang="zh-TW" sz="3200" b="1" dirty="0">
                <a:solidFill>
                  <a:srgbClr val="0000FF"/>
                </a:solidFill>
              </a:rPr>
              <a:t>y = (A + B) · x’</a:t>
            </a:r>
          </a:p>
          <a:p>
            <a:pPr lvl="1"/>
            <a:endParaRPr lang="en-US" altLang="zh-TW" sz="3200" b="1" dirty="0">
              <a:solidFill>
                <a:srgbClr val="C0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4539343" y="4015241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4539343" y="1387928"/>
            <a:ext cx="179614" cy="81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5927272" y="6007326"/>
            <a:ext cx="179614" cy="81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圓角矩形 1"/>
          <p:cNvSpPr/>
          <p:nvPr/>
        </p:nvSpPr>
        <p:spPr>
          <a:xfrm>
            <a:off x="4033156" y="5192484"/>
            <a:ext cx="644978" cy="359229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73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5613" y="101084"/>
            <a:ext cx="70839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table</a:t>
            </a:r>
            <a:r>
              <a:rPr lang="zh-TW" altLang="en-US" sz="44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(Type-1)</a:t>
            </a:r>
            <a:endParaRPr lang="en-US" altLang="zh-TW" sz="44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DEBF9429-6272-4357-9507-C892E2EC04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9"/>
          <a:stretch/>
        </p:blipFill>
        <p:spPr bwMode="auto">
          <a:xfrm>
            <a:off x="210004" y="1077686"/>
            <a:ext cx="7041064" cy="5641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512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5613" y="101084"/>
            <a:ext cx="70839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table</a:t>
            </a:r>
            <a:r>
              <a:rPr lang="zh-TW" altLang="en-US" sz="44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(Type-1)</a:t>
            </a:r>
            <a:endParaRPr lang="en-US" altLang="zh-TW" sz="44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DEBF9429-6272-4357-9507-C892E2EC04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9"/>
          <a:stretch/>
        </p:blipFill>
        <p:spPr bwMode="auto">
          <a:xfrm>
            <a:off x="210004" y="1077686"/>
            <a:ext cx="7041064" cy="5641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85613" y="1126672"/>
            <a:ext cx="3355658" cy="556804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67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5613" y="101084"/>
            <a:ext cx="70839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table</a:t>
            </a:r>
            <a:r>
              <a:rPr lang="zh-TW" altLang="en-US" sz="44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(Type-1)</a:t>
            </a:r>
            <a:endParaRPr lang="en-US" altLang="zh-TW" sz="44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DEBF9429-6272-4357-9507-C892E2EC04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9"/>
          <a:stretch/>
        </p:blipFill>
        <p:spPr bwMode="auto">
          <a:xfrm>
            <a:off x="210004" y="1077686"/>
            <a:ext cx="7041064" cy="5641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730536" y="1138916"/>
            <a:ext cx="3355658" cy="556804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73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5613" y="101084"/>
            <a:ext cx="708392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table (Type-2)</a:t>
            </a:r>
            <a:endParaRPr lang="en-US" altLang="zh-TW" sz="4400" b="1" dirty="0">
              <a:solidFill>
                <a:srgbClr val="C00000"/>
              </a:solidFill>
            </a:endParaRPr>
          </a:p>
          <a:p>
            <a:pPr>
              <a:spcBef>
                <a:spcPct val="0"/>
              </a:spcBef>
            </a:pPr>
            <a:endParaRPr lang="en-US" altLang="zh-TW" sz="4400" b="1" dirty="0">
              <a:solidFill>
                <a:srgbClr val="C00000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EA9CC6A-AEA8-4497-A9FF-97ADB145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1"/>
          <a:stretch/>
        </p:blipFill>
        <p:spPr bwMode="auto">
          <a:xfrm>
            <a:off x="105726" y="1713914"/>
            <a:ext cx="7448960" cy="3641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661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5613" y="101084"/>
            <a:ext cx="708392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table (Type-2)</a:t>
            </a:r>
            <a:endParaRPr lang="en-US" altLang="zh-TW" sz="4400" b="1" dirty="0">
              <a:solidFill>
                <a:srgbClr val="C00000"/>
              </a:solidFill>
            </a:endParaRPr>
          </a:p>
          <a:p>
            <a:pPr>
              <a:spcBef>
                <a:spcPct val="0"/>
              </a:spcBef>
            </a:pPr>
            <a:endParaRPr lang="en-US" altLang="zh-TW" sz="4400" b="1" dirty="0">
              <a:solidFill>
                <a:srgbClr val="C00000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EA9CC6A-AEA8-4497-A9FF-97ADB145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1"/>
          <a:stretch/>
        </p:blipFill>
        <p:spPr bwMode="auto">
          <a:xfrm>
            <a:off x="23188" y="1094015"/>
            <a:ext cx="6363346" cy="3110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0">
            <a:extLst>
              <a:ext uri="{FF2B5EF4-FFF2-40B4-BE49-F238E27FC236}">
                <a16:creationId xmlns:a16="http://schemas.microsoft.com/office/drawing/2014/main" id="{DEBF9429-6272-4357-9507-C892E2EC04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9"/>
          <a:stretch/>
        </p:blipFill>
        <p:spPr bwMode="auto">
          <a:xfrm>
            <a:off x="6515099" y="1094015"/>
            <a:ext cx="5783036" cy="46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6515100" y="2383971"/>
            <a:ext cx="5783036" cy="8490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3187" y="2540565"/>
            <a:ext cx="6246984" cy="3740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3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5613" y="101084"/>
            <a:ext cx="708392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table (Type-2)</a:t>
            </a:r>
            <a:endParaRPr lang="en-US" altLang="zh-TW" sz="4400" b="1" dirty="0">
              <a:solidFill>
                <a:srgbClr val="C00000"/>
              </a:solidFill>
            </a:endParaRPr>
          </a:p>
          <a:p>
            <a:pPr>
              <a:spcBef>
                <a:spcPct val="0"/>
              </a:spcBef>
            </a:pPr>
            <a:endParaRPr lang="en-US" altLang="zh-TW" sz="4400" b="1" dirty="0">
              <a:solidFill>
                <a:srgbClr val="C00000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EA9CC6A-AEA8-4497-A9FF-97ADB145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1"/>
          <a:stretch/>
        </p:blipFill>
        <p:spPr bwMode="auto">
          <a:xfrm>
            <a:off x="23188" y="1094015"/>
            <a:ext cx="6363346" cy="3110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0">
            <a:extLst>
              <a:ext uri="{FF2B5EF4-FFF2-40B4-BE49-F238E27FC236}">
                <a16:creationId xmlns:a16="http://schemas.microsoft.com/office/drawing/2014/main" id="{DEBF9429-6272-4357-9507-C892E2EC04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9"/>
          <a:stretch/>
        </p:blipFill>
        <p:spPr bwMode="auto">
          <a:xfrm>
            <a:off x="6515099" y="1094015"/>
            <a:ext cx="5783036" cy="46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6515099" y="3213056"/>
            <a:ext cx="5783036" cy="8490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3187" y="2916122"/>
            <a:ext cx="6246984" cy="3740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594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5613" y="101084"/>
            <a:ext cx="708392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table (Type-2)</a:t>
            </a:r>
            <a:endParaRPr lang="en-US" altLang="zh-TW" sz="4400" b="1" dirty="0">
              <a:solidFill>
                <a:srgbClr val="C00000"/>
              </a:solidFill>
            </a:endParaRPr>
          </a:p>
          <a:p>
            <a:pPr>
              <a:spcBef>
                <a:spcPct val="0"/>
              </a:spcBef>
            </a:pPr>
            <a:endParaRPr lang="en-US" altLang="zh-TW" sz="4400" b="1" dirty="0">
              <a:solidFill>
                <a:srgbClr val="C00000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EA9CC6A-AEA8-4497-A9FF-97ADB145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1"/>
          <a:stretch/>
        </p:blipFill>
        <p:spPr bwMode="auto">
          <a:xfrm>
            <a:off x="23188" y="1094015"/>
            <a:ext cx="6363346" cy="3110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0">
            <a:extLst>
              <a:ext uri="{FF2B5EF4-FFF2-40B4-BE49-F238E27FC236}">
                <a16:creationId xmlns:a16="http://schemas.microsoft.com/office/drawing/2014/main" id="{DEBF9429-6272-4357-9507-C892E2EC04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9"/>
          <a:stretch/>
        </p:blipFill>
        <p:spPr bwMode="auto">
          <a:xfrm>
            <a:off x="6515099" y="1094015"/>
            <a:ext cx="5783036" cy="46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6515099" y="4045813"/>
            <a:ext cx="5783036" cy="8490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3188" y="3324337"/>
            <a:ext cx="6246984" cy="3740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66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5613" y="101084"/>
            <a:ext cx="708392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table (Type-2)</a:t>
            </a:r>
            <a:endParaRPr lang="en-US" altLang="zh-TW" sz="4400" b="1" dirty="0">
              <a:solidFill>
                <a:srgbClr val="C00000"/>
              </a:solidFill>
            </a:endParaRPr>
          </a:p>
          <a:p>
            <a:pPr>
              <a:spcBef>
                <a:spcPct val="0"/>
              </a:spcBef>
            </a:pPr>
            <a:endParaRPr lang="en-US" altLang="zh-TW" sz="4400" b="1" dirty="0">
              <a:solidFill>
                <a:srgbClr val="C00000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EA9CC6A-AEA8-4497-A9FF-97ADB145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1"/>
          <a:stretch/>
        </p:blipFill>
        <p:spPr bwMode="auto">
          <a:xfrm>
            <a:off x="23188" y="1094015"/>
            <a:ext cx="6363346" cy="3110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0">
            <a:extLst>
              <a:ext uri="{FF2B5EF4-FFF2-40B4-BE49-F238E27FC236}">
                <a16:creationId xmlns:a16="http://schemas.microsoft.com/office/drawing/2014/main" id="{DEBF9429-6272-4357-9507-C892E2EC04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9"/>
          <a:stretch/>
        </p:blipFill>
        <p:spPr bwMode="auto">
          <a:xfrm>
            <a:off x="6515099" y="1094015"/>
            <a:ext cx="5783036" cy="46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6515099" y="4878479"/>
            <a:ext cx="5783036" cy="8490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3188" y="3716223"/>
            <a:ext cx="6246984" cy="3740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98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3263" y="141906"/>
            <a:ext cx="58111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diagram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5F30E43-7849-4D8D-8697-4F96422A8B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66" b="16333"/>
          <a:stretch/>
        </p:blipFill>
        <p:spPr bwMode="auto">
          <a:xfrm>
            <a:off x="389874" y="1009318"/>
            <a:ext cx="4358132" cy="4248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8EA9CC6A-AEA8-4497-A9FF-97ADB145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1"/>
          <a:stretch/>
        </p:blipFill>
        <p:spPr bwMode="auto">
          <a:xfrm>
            <a:off x="5037365" y="1879931"/>
            <a:ext cx="6910116" cy="3377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085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3263" y="141906"/>
            <a:ext cx="58111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diagram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5F30E43-7849-4D8D-8697-4F96422A8B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66" b="16333"/>
          <a:stretch/>
        </p:blipFill>
        <p:spPr bwMode="auto">
          <a:xfrm>
            <a:off x="389874" y="1009318"/>
            <a:ext cx="4358132" cy="4248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8EA9CC6A-AEA8-4497-A9FF-97ADB145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1"/>
          <a:stretch/>
        </p:blipFill>
        <p:spPr bwMode="auto">
          <a:xfrm>
            <a:off x="5037365" y="1879931"/>
            <a:ext cx="6910116" cy="3377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037365" y="3437165"/>
            <a:ext cx="6711043" cy="4000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1012372" y="2367643"/>
            <a:ext cx="32657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87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3263" y="141906"/>
            <a:ext cx="58111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diagram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5F30E43-7849-4D8D-8697-4F96422A8B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66" b="16333"/>
          <a:stretch/>
        </p:blipFill>
        <p:spPr bwMode="auto">
          <a:xfrm>
            <a:off x="389874" y="1009318"/>
            <a:ext cx="4358132" cy="4248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8EA9CC6A-AEA8-4497-A9FF-97ADB145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1"/>
          <a:stretch/>
        </p:blipFill>
        <p:spPr bwMode="auto">
          <a:xfrm>
            <a:off x="5037365" y="1879931"/>
            <a:ext cx="6910116" cy="3377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037365" y="3845379"/>
            <a:ext cx="6711043" cy="4000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1012372" y="5265964"/>
            <a:ext cx="32657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87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3263" y="141906"/>
            <a:ext cx="58111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diagram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5F30E43-7849-4D8D-8697-4F96422A8B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66" b="16333"/>
          <a:stretch/>
        </p:blipFill>
        <p:spPr bwMode="auto">
          <a:xfrm>
            <a:off x="389874" y="1009318"/>
            <a:ext cx="4358132" cy="4248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8EA9CC6A-AEA8-4497-A9FF-97ADB145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1"/>
          <a:stretch/>
        </p:blipFill>
        <p:spPr bwMode="auto">
          <a:xfrm>
            <a:off x="5037365" y="1879931"/>
            <a:ext cx="6910116" cy="3377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037365" y="4278086"/>
            <a:ext cx="6711043" cy="4000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3820886" y="2343150"/>
            <a:ext cx="32657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26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3263" y="141906"/>
            <a:ext cx="58111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400" b="1" dirty="0">
                <a:solidFill>
                  <a:srgbClr val="C00000"/>
                </a:solidFill>
              </a:rPr>
              <a:t>State transition diagram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5F30E43-7849-4D8D-8697-4F96422A8B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66" b="16333"/>
          <a:stretch/>
        </p:blipFill>
        <p:spPr bwMode="auto">
          <a:xfrm>
            <a:off x="389874" y="1009318"/>
            <a:ext cx="4358132" cy="4248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8EA9CC6A-AEA8-4497-A9FF-97ADB145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1"/>
          <a:stretch/>
        </p:blipFill>
        <p:spPr bwMode="auto">
          <a:xfrm>
            <a:off x="5037365" y="1879931"/>
            <a:ext cx="6910116" cy="3377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037365" y="4727122"/>
            <a:ext cx="6711043" cy="4000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3812722" y="5257800"/>
            <a:ext cx="32657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50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1227" y="3000603"/>
            <a:ext cx="1149186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4000" b="1" dirty="0">
                <a:solidFill>
                  <a:srgbClr val="C00000"/>
                </a:solidFill>
              </a:rPr>
              <a:t>a logic diagram </a:t>
            </a:r>
            <a:r>
              <a:rPr lang="en-US" altLang="zh-TW" sz="4000" b="1" dirty="0" smtClean="0">
                <a:solidFill>
                  <a:srgbClr val="C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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4000" b="1" dirty="0">
                <a:solidFill>
                  <a:srgbClr val="C00000"/>
                </a:solidFill>
              </a:rPr>
              <a:t>a state table </a:t>
            </a:r>
            <a:r>
              <a:rPr lang="en-US" altLang="zh-TW" sz="4000" b="1" dirty="0">
                <a:solidFill>
                  <a:srgbClr val="C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</a:t>
            </a:r>
            <a:r>
              <a:rPr lang="en-US" altLang="zh-TW" sz="4000" b="1" dirty="0" smtClean="0">
                <a:solidFill>
                  <a:srgbClr val="C00000"/>
                </a:solidFill>
                <a:latin typeface="Symbol" panose="05050102010706020507" pitchFamily="18" charset="2"/>
              </a:rPr>
              <a:t> </a:t>
            </a:r>
            <a:r>
              <a:rPr lang="en-US" altLang="zh-TW" sz="4000" b="1" dirty="0">
                <a:solidFill>
                  <a:srgbClr val="C00000"/>
                </a:solidFill>
              </a:rPr>
              <a:t>a state diagram</a:t>
            </a:r>
          </a:p>
        </p:txBody>
      </p:sp>
    </p:spTree>
    <p:extLst>
      <p:ext uri="{BB962C8B-B14F-4D97-AF65-F5344CB8AC3E}">
        <p14:creationId xmlns:p14="http://schemas.microsoft.com/office/powerpoint/2010/main" val="2668149547"/>
      </p:ext>
    </p:extLst>
  </p:cSld>
  <p:clrMapOvr>
    <a:masterClrMapping/>
  </p:clrMapOvr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100</TotalTime>
  <Words>3565</Words>
  <Application>Microsoft Office PowerPoint</Application>
  <PresentationFormat>寬螢幕</PresentationFormat>
  <Paragraphs>3087</Paragraphs>
  <Slides>70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70</vt:i4>
      </vt:variant>
    </vt:vector>
  </HeadingPairs>
  <TitlesOfParts>
    <vt:vector size="76" baseType="lpstr">
      <vt:lpstr>新細明體</vt:lpstr>
      <vt:lpstr>Arial</vt:lpstr>
      <vt:lpstr>Symbol</vt:lpstr>
      <vt:lpstr>Tw Cen MT</vt:lpstr>
      <vt:lpstr>Wingdings</vt:lpstr>
      <vt:lpstr>小水滴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Windows 使用者</cp:lastModifiedBy>
  <cp:revision>27</cp:revision>
  <dcterms:created xsi:type="dcterms:W3CDTF">2021-12-23T09:35:03Z</dcterms:created>
  <dcterms:modified xsi:type="dcterms:W3CDTF">2021-12-24T00:12:45Z</dcterms:modified>
</cp:coreProperties>
</file>