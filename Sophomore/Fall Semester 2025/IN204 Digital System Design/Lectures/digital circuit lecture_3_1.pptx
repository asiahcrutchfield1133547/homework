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3" r:id="rId9"/>
    <p:sldId id="261" r:id="rId10"/>
    <p:sldId id="264" r:id="rId11"/>
    <p:sldId id="265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5" r:id="rId20"/>
    <p:sldId id="276" r:id="rId21"/>
    <p:sldId id="280" r:id="rId22"/>
    <p:sldId id="274" r:id="rId23"/>
    <p:sldId id="277" r:id="rId24"/>
    <p:sldId id="278" r:id="rId25"/>
    <p:sldId id="279" r:id="rId26"/>
    <p:sldId id="281" r:id="rId27"/>
    <p:sldId id="316" r:id="rId28"/>
    <p:sldId id="312" r:id="rId29"/>
    <p:sldId id="314" r:id="rId30"/>
    <p:sldId id="313" r:id="rId31"/>
    <p:sldId id="315" r:id="rId32"/>
    <p:sldId id="283" r:id="rId33"/>
    <p:sldId id="320" r:id="rId34"/>
    <p:sldId id="319" r:id="rId35"/>
    <p:sldId id="318" r:id="rId36"/>
    <p:sldId id="317" r:id="rId37"/>
    <p:sldId id="321" r:id="rId38"/>
    <p:sldId id="284" r:id="rId39"/>
    <p:sldId id="322" r:id="rId40"/>
    <p:sldId id="323" r:id="rId41"/>
    <p:sldId id="324" r:id="rId42"/>
    <p:sldId id="325" r:id="rId43"/>
    <p:sldId id="326" r:id="rId44"/>
    <p:sldId id="285" r:id="rId45"/>
    <p:sldId id="330" r:id="rId46"/>
    <p:sldId id="329" r:id="rId47"/>
    <p:sldId id="328" r:id="rId48"/>
    <p:sldId id="327" r:id="rId49"/>
    <p:sldId id="331" r:id="rId50"/>
    <p:sldId id="286" r:id="rId51"/>
    <p:sldId id="287" r:id="rId52"/>
    <p:sldId id="332" r:id="rId53"/>
    <p:sldId id="336" r:id="rId54"/>
    <p:sldId id="335" r:id="rId55"/>
    <p:sldId id="334" r:id="rId56"/>
    <p:sldId id="333" r:id="rId57"/>
    <p:sldId id="288" r:id="rId58"/>
    <p:sldId id="341" r:id="rId59"/>
    <p:sldId id="340" r:id="rId60"/>
    <p:sldId id="339" r:id="rId61"/>
    <p:sldId id="338" r:id="rId62"/>
    <p:sldId id="337" r:id="rId63"/>
    <p:sldId id="289" r:id="rId64"/>
    <p:sldId id="342" r:id="rId65"/>
    <p:sldId id="343" r:id="rId66"/>
    <p:sldId id="290" r:id="rId67"/>
    <p:sldId id="345" r:id="rId68"/>
    <p:sldId id="344" r:id="rId69"/>
    <p:sldId id="346" r:id="rId70"/>
    <p:sldId id="282" r:id="rId71"/>
    <p:sldId id="348" r:id="rId72"/>
    <p:sldId id="347" r:id="rId73"/>
    <p:sldId id="349" r:id="rId74"/>
    <p:sldId id="350" r:id="rId75"/>
    <p:sldId id="291" r:id="rId76"/>
    <p:sldId id="351" r:id="rId77"/>
    <p:sldId id="352" r:id="rId78"/>
    <p:sldId id="353" r:id="rId79"/>
    <p:sldId id="354" r:id="rId80"/>
    <p:sldId id="355" r:id="rId81"/>
    <p:sldId id="292" r:id="rId82"/>
    <p:sldId id="295" r:id="rId83"/>
    <p:sldId id="301" r:id="rId84"/>
    <p:sldId id="300" r:id="rId85"/>
    <p:sldId id="299" r:id="rId86"/>
    <p:sldId id="298" r:id="rId87"/>
    <p:sldId id="297" r:id="rId88"/>
    <p:sldId id="296" r:id="rId89"/>
    <p:sldId id="293" r:id="rId90"/>
    <p:sldId id="294" r:id="rId91"/>
    <p:sldId id="309" r:id="rId92"/>
    <p:sldId id="308" r:id="rId93"/>
    <p:sldId id="307" r:id="rId94"/>
    <p:sldId id="306" r:id="rId95"/>
    <p:sldId id="305" r:id="rId96"/>
    <p:sldId id="304" r:id="rId97"/>
    <p:sldId id="303" r:id="rId98"/>
    <p:sldId id="302" r:id="rId99"/>
    <p:sldId id="311" r:id="rId100"/>
    <p:sldId id="310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74915"/>
              </p:ext>
            </p:extLst>
          </p:nvPr>
        </p:nvGraphicFramePr>
        <p:xfrm>
          <a:off x="604156" y="220776"/>
          <a:ext cx="11038117" cy="487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194">
                  <a:extLst>
                    <a:ext uri="{9D8B030D-6E8A-4147-A177-3AD203B41FA5}">
                      <a16:colId xmlns:a16="http://schemas.microsoft.com/office/drawing/2014/main" val="1363532214"/>
                    </a:ext>
                  </a:extLst>
                </a:gridCol>
                <a:gridCol w="3339194">
                  <a:extLst>
                    <a:ext uri="{9D8B030D-6E8A-4147-A177-3AD203B41FA5}">
                      <a16:colId xmlns:a16="http://schemas.microsoft.com/office/drawing/2014/main" val="85794293"/>
                    </a:ext>
                  </a:extLst>
                </a:gridCol>
                <a:gridCol w="4359729">
                  <a:extLst>
                    <a:ext uri="{9D8B030D-6E8A-4147-A177-3AD203B41FA5}">
                      <a16:colId xmlns:a16="http://schemas.microsoft.com/office/drawing/2014/main" val="3397666097"/>
                    </a:ext>
                  </a:extLst>
                </a:gridCol>
              </a:tblGrid>
              <a:tr h="670902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>
                          <a:solidFill>
                            <a:schemeClr val="bg1"/>
                          </a:solidFill>
                        </a:rPr>
                        <a:t>Boolean Algebra</a:t>
                      </a:r>
                      <a:endParaRPr lang="zh-TW" altLang="en-US" sz="3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435905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element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operators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94367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S = {1, 2, 3, ….}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 = {+ , - , ….}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91060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9600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507675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1832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361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12093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4284451" y="6252570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endParaRPr lang="zh-TW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535475" y="5616865"/>
            <a:ext cx="1151424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zh-TW" sz="2400" dirty="0" smtClean="0"/>
              <a:t> Provide basic assumptions for the Boolean algebra system.</a:t>
            </a:r>
          </a:p>
          <a:p>
            <a:pPr marL="342900" indent="-342900">
              <a:buFont typeface="+mj-lt"/>
              <a:buAutoNum type="arabicParenR"/>
            </a:pPr>
            <a:r>
              <a:rPr lang="zh-TW" altLang="en-US" sz="2400" dirty="0" smtClean="0"/>
              <a:t> Explain something </a:t>
            </a:r>
            <a:r>
              <a:rPr lang="zh-TW" altLang="en-US" sz="2400" dirty="0"/>
              <a:t>that need to be </a:t>
            </a:r>
            <a:r>
              <a:rPr lang="zh-TW" altLang="en-US" sz="2400" dirty="0" smtClean="0"/>
              <a:t>followed </a:t>
            </a:r>
            <a:r>
              <a:rPr lang="en-US" altLang="zh-TW" sz="2400" dirty="0" smtClean="0"/>
              <a:t>when applied operators on the element set.</a:t>
            </a:r>
            <a:endParaRPr lang="zh-TW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35475" y="5093645"/>
            <a:ext cx="17829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b="1" dirty="0" smtClean="0">
                <a:solidFill>
                  <a:srgbClr val="C00000"/>
                </a:solidFill>
              </a:rPr>
              <a:t>Postulates: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934427"/>
            <a:ext cx="112095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SzPct val="100000"/>
            </a:pPr>
            <a:r>
              <a:rPr lang="en-US" altLang="zh-TW" sz="2800" dirty="0"/>
              <a:t>A set </a:t>
            </a:r>
            <a:r>
              <a:rPr lang="en-US" altLang="zh-TW" sz="2800" i="1" dirty="0"/>
              <a:t>S</a:t>
            </a:r>
            <a:r>
              <a:rPr lang="en-US" altLang="zh-TW" sz="2800" dirty="0"/>
              <a:t> is closed with respect to a binary operator if, for every pair of elements of </a:t>
            </a:r>
            <a:r>
              <a:rPr lang="en-US" altLang="zh-TW" sz="2800" i="1" dirty="0"/>
              <a:t>S</a:t>
            </a:r>
            <a:r>
              <a:rPr lang="en-US" altLang="zh-TW" sz="2800" dirty="0"/>
              <a:t>, the binary operator specifies a rule for obtaining a unique element of </a:t>
            </a:r>
            <a:r>
              <a:rPr lang="en-US" altLang="zh-TW" sz="2800" i="1" dirty="0"/>
              <a:t>S</a:t>
            </a:r>
            <a:r>
              <a:rPr lang="en-US" altLang="zh-TW" sz="2800" dirty="0"/>
              <a:t>.</a:t>
            </a:r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1475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Closure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434521" y="2890158"/>
            <a:ext cx="4689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N | 1, 2 , 3 , 4 , 5…… } 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34521" y="3494315"/>
            <a:ext cx="1936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+, – } </a:t>
            </a:r>
            <a:endParaRPr lang="zh-TW" altLang="en-US" sz="28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497480" y="4270099"/>
            <a:ext cx="4971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 + 3 = 5 where 2, 3, and 5 </a:t>
            </a:r>
            <a:r>
              <a:rPr lang="en-US" altLang="zh-TW" sz="2800" dirty="0" smtClean="0">
                <a:sym typeface="Symbol" panose="05050102010706020507" pitchFamily="18" charset="2"/>
              </a:rPr>
              <a:t> S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97480" y="5045884"/>
            <a:ext cx="5598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 </a:t>
            </a:r>
            <a:r>
              <a:rPr lang="en-US" altLang="zh-TW" sz="2800" dirty="0"/>
              <a:t>–</a:t>
            </a:r>
            <a:r>
              <a:rPr lang="en-US" altLang="zh-TW" sz="2800" dirty="0" smtClean="0"/>
              <a:t> 3 = -1 where 2 and 3</a:t>
            </a:r>
            <a:r>
              <a:rPr lang="en-US" altLang="zh-TW" sz="2800" dirty="0" smtClean="0">
                <a:sym typeface="Symbol" panose="05050102010706020507" pitchFamily="18" charset="2"/>
              </a:rPr>
              <a:t> S, -1  S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3807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379" y="950755"/>
            <a:ext cx="112095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SzPct val="100000"/>
            </a:pPr>
            <a:r>
              <a:rPr lang="en-US" altLang="zh-TW" sz="2800" dirty="0"/>
              <a:t>A binary operator * on a set </a:t>
            </a:r>
            <a:r>
              <a:rPr lang="en-US" altLang="zh-TW" sz="2800" i="1" dirty="0"/>
              <a:t>S</a:t>
            </a:r>
            <a:r>
              <a:rPr lang="en-US" altLang="zh-TW" sz="2800" dirty="0"/>
              <a:t> is said to be commutative </a:t>
            </a:r>
            <a:r>
              <a:rPr lang="en-US" altLang="zh-TW" sz="2800" dirty="0" smtClean="0"/>
              <a:t>whenever</a:t>
            </a:r>
            <a:endParaRPr lang="en-US" altLang="zh-TW" sz="2800" i="1" dirty="0" smtClean="0"/>
          </a:p>
          <a:p>
            <a:pPr marL="0" lvl="1" algn="ctr">
              <a:buSzPct val="100000"/>
            </a:pPr>
            <a:r>
              <a:rPr lang="es-ES" altLang="zh-TW" sz="2800" i="1" dirty="0" smtClean="0"/>
              <a:t>x </a:t>
            </a:r>
            <a:r>
              <a:rPr lang="es-E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s-ES" altLang="zh-TW" sz="2800" i="1" dirty="0"/>
              <a:t> y = y </a:t>
            </a:r>
            <a:r>
              <a:rPr lang="es-E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s-ES" altLang="zh-TW" sz="2800" i="1" dirty="0"/>
              <a:t> x </a:t>
            </a:r>
            <a:r>
              <a:rPr lang="es-ES" altLang="zh-TW" sz="2800" dirty="0"/>
              <a:t>for all </a:t>
            </a:r>
            <a:r>
              <a:rPr lang="es-ES" altLang="zh-TW" sz="2800" i="1" dirty="0"/>
              <a:t>x, y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es-ES" altLang="zh-TW" sz="2800" i="1" dirty="0"/>
              <a:t> S</a:t>
            </a:r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32305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Commutative law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34521" y="2890158"/>
            <a:ext cx="4490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N | 1, 2 , 3 , 4 , …… } 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34521" y="3494315"/>
            <a:ext cx="1936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+, – } 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97480" y="4270099"/>
            <a:ext cx="2929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2 + 3 = 3 + 2 = 5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97480" y="5045884"/>
            <a:ext cx="3567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 = 3 – 2 ≠ 2 – 3 = -1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57377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379" y="950755"/>
            <a:ext cx="112095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SzPct val="100000"/>
            </a:pPr>
            <a:r>
              <a:rPr lang="en-US" altLang="zh-TW" sz="2800" dirty="0"/>
              <a:t>If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dirty="0"/>
              <a:t> and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dirty="0"/>
              <a:t> are two binary operators on a set </a:t>
            </a:r>
            <a:r>
              <a:rPr lang="en-US" altLang="zh-TW" sz="2800" i="1" dirty="0"/>
              <a:t>S</a:t>
            </a:r>
            <a:r>
              <a:rPr lang="en-US" altLang="zh-TW" sz="2800" dirty="0"/>
              <a:t>,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dirty="0"/>
              <a:t> is said to be </a:t>
            </a:r>
            <a:r>
              <a:rPr lang="en-US" altLang="zh-TW" sz="2800" dirty="0" smtClean="0"/>
              <a:t>distributive over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whenever</a:t>
            </a:r>
          </a:p>
          <a:p>
            <a:pPr marL="0" lvl="1" algn="ctr">
              <a:buSzPct val="100000"/>
            </a:pPr>
            <a:r>
              <a:rPr lang="en-US" altLang="zh-TW" sz="2800" dirty="0" smtClean="0"/>
              <a:t>    </a:t>
            </a:r>
            <a:r>
              <a:rPr lang="en-US" altLang="zh-TW" sz="2800" i="1" dirty="0"/>
              <a:t>x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i="1" dirty="0"/>
              <a:t> </a:t>
            </a:r>
            <a:r>
              <a:rPr lang="en-US" altLang="zh-TW" sz="2800" dirty="0"/>
              <a:t>(</a:t>
            </a:r>
            <a:r>
              <a:rPr lang="en-US" altLang="zh-TW" sz="2800" i="1" dirty="0"/>
              <a:t>y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i="1" dirty="0"/>
              <a:t> z</a:t>
            </a:r>
            <a:r>
              <a:rPr lang="en-US" altLang="zh-TW" sz="2800" dirty="0"/>
              <a:t>) = (</a:t>
            </a:r>
            <a:r>
              <a:rPr lang="en-US" altLang="zh-TW" sz="2800" i="1" dirty="0"/>
              <a:t>x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i="1" dirty="0"/>
              <a:t> y</a:t>
            </a:r>
            <a:r>
              <a:rPr lang="en-US" altLang="zh-TW" sz="2800" dirty="0"/>
              <a:t>)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dirty="0">
                <a:cs typeface="Times New Roman" panose="02020603050405020304" pitchFamily="18" charset="0"/>
              </a:rPr>
              <a:t> (</a:t>
            </a:r>
            <a:r>
              <a:rPr lang="en-US" altLang="zh-TW" sz="2800" i="1" dirty="0">
                <a:cs typeface="Times New Roman" panose="02020603050405020304" pitchFamily="18" charset="0"/>
              </a:rPr>
              <a:t>x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i="1" dirty="0">
                <a:cs typeface="Times New Roman" panose="02020603050405020304" pitchFamily="18" charset="0"/>
              </a:rPr>
              <a:t> z</a:t>
            </a:r>
            <a:r>
              <a:rPr lang="en-US" altLang="zh-TW" sz="2800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28871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Distributive law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34521" y="2890158"/>
            <a:ext cx="4490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N | 1, 2 , 3 , 4 , …… } 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34521" y="3494315"/>
            <a:ext cx="1936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+, </a:t>
            </a:r>
            <a:r>
              <a:rPr lang="en-US" altLang="zh-TW" sz="2800" dirty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} 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97480" y="4270099"/>
            <a:ext cx="5107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3 </a:t>
            </a:r>
            <a:r>
              <a:rPr lang="en-US" altLang="zh-TW" sz="2800" dirty="0" smtClean="0">
                <a:sym typeface="Symbol" panose="05050102010706020507" pitchFamily="18" charset="2"/>
              </a:rPr>
              <a:t> (</a:t>
            </a:r>
            <a:r>
              <a:rPr lang="en-US" altLang="zh-TW" sz="2800" dirty="0" smtClean="0"/>
              <a:t>2 + 3) = 3 </a:t>
            </a:r>
            <a:r>
              <a:rPr lang="en-US" altLang="zh-TW" sz="2800" dirty="0" smtClean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2 + </a:t>
            </a:r>
            <a:r>
              <a:rPr lang="en-US" altLang="zh-TW" sz="2800" dirty="0"/>
              <a:t>3 </a:t>
            </a:r>
            <a:r>
              <a:rPr lang="en-US" altLang="zh-TW" sz="2800" dirty="0">
                <a:sym typeface="Symbol" panose="05050102010706020507" pitchFamily="18" charset="2"/>
              </a:rPr>
              <a:t>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3 = 15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97480" y="4953178"/>
            <a:ext cx="6176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9 = 3 </a:t>
            </a:r>
            <a:r>
              <a:rPr lang="en-US" altLang="zh-TW" sz="2800" dirty="0" smtClean="0">
                <a:sym typeface="Symbol" panose="05050102010706020507" pitchFamily="18" charset="2"/>
              </a:rPr>
              <a:t>+ (</a:t>
            </a:r>
            <a:r>
              <a:rPr lang="en-US" altLang="zh-TW" sz="2800" dirty="0" smtClean="0"/>
              <a:t>2 </a:t>
            </a:r>
            <a:r>
              <a:rPr lang="en-US" altLang="zh-TW" sz="2800" dirty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3) ≠ (3 </a:t>
            </a:r>
            <a:r>
              <a:rPr lang="en-US" altLang="zh-TW" sz="2800" dirty="0" smtClean="0">
                <a:sym typeface="Symbol" panose="05050102010706020507" pitchFamily="18" charset="2"/>
              </a:rPr>
              <a:t>+</a:t>
            </a:r>
            <a:r>
              <a:rPr lang="en-US" altLang="zh-TW" sz="2800" dirty="0" smtClean="0"/>
              <a:t> 2) </a:t>
            </a:r>
            <a:r>
              <a:rPr lang="en-US" altLang="zh-TW" sz="2800" dirty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(3 </a:t>
            </a:r>
            <a:r>
              <a:rPr lang="en-US" altLang="zh-TW" sz="2800" dirty="0" smtClean="0">
                <a:sym typeface="Symbol" panose="05050102010706020507" pitchFamily="18" charset="2"/>
              </a:rPr>
              <a:t>+</a:t>
            </a:r>
            <a:r>
              <a:rPr lang="en-US" altLang="zh-TW" sz="2800" dirty="0" smtClean="0"/>
              <a:t> 3) = 30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6757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379" y="950755"/>
            <a:ext cx="1120956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SzPct val="100000"/>
            </a:pPr>
            <a:r>
              <a:rPr lang="en-US" altLang="zh-TW" sz="2800" dirty="0"/>
              <a:t>A set </a:t>
            </a:r>
            <a:r>
              <a:rPr lang="en-US" altLang="zh-TW" sz="2800" i="1" dirty="0"/>
              <a:t>S</a:t>
            </a:r>
            <a:r>
              <a:rPr lang="en-US" altLang="zh-TW" sz="2800" dirty="0"/>
              <a:t> is said to have an identity element with respect to a binary operation * on </a:t>
            </a:r>
            <a:r>
              <a:rPr lang="en-US" altLang="zh-TW" sz="2800" i="1" dirty="0"/>
              <a:t>S</a:t>
            </a:r>
            <a:r>
              <a:rPr lang="en-US" altLang="zh-TW" sz="2800" dirty="0"/>
              <a:t> if there exists an element </a:t>
            </a:r>
            <a:r>
              <a:rPr lang="en-US" altLang="zh-TW" sz="2800" i="1" dirty="0"/>
              <a:t>e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en-US" altLang="zh-TW" sz="2800" dirty="0"/>
              <a:t> </a:t>
            </a:r>
            <a:r>
              <a:rPr lang="en-US" altLang="zh-TW" sz="2800" i="1" dirty="0"/>
              <a:t>S</a:t>
            </a:r>
            <a:r>
              <a:rPr lang="en-US" altLang="zh-TW" sz="2800" dirty="0"/>
              <a:t> with the property </a:t>
            </a:r>
            <a:r>
              <a:rPr lang="en-US" altLang="zh-TW" sz="2800" dirty="0" smtClean="0"/>
              <a:t>that</a:t>
            </a:r>
          </a:p>
          <a:p>
            <a:pPr marL="0" lvl="1" algn="ctr">
              <a:buSzPct val="100000"/>
            </a:pPr>
            <a:r>
              <a:rPr lang="pt-BR" altLang="zh-TW" sz="2800" i="1" dirty="0" smtClean="0"/>
              <a:t>e </a:t>
            </a:r>
            <a:r>
              <a:rPr lang="pt-BR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t-BR" altLang="zh-TW" sz="2800" i="1" dirty="0"/>
              <a:t> x = x </a:t>
            </a:r>
            <a:r>
              <a:rPr lang="pt-BR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t-BR" altLang="zh-TW" sz="2800" i="1" dirty="0"/>
              <a:t> e = x </a:t>
            </a:r>
            <a:r>
              <a:rPr lang="pt-BR" altLang="zh-TW" sz="2800" dirty="0"/>
              <a:t>for every </a:t>
            </a:r>
            <a:r>
              <a:rPr lang="pt-BR" altLang="zh-TW" sz="2800" i="1" dirty="0"/>
              <a:t>x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pt-BR" altLang="zh-TW" sz="2800" i="1" dirty="0"/>
              <a:t> S</a:t>
            </a:r>
            <a:br>
              <a:rPr lang="pt-BR" altLang="zh-TW" sz="2800" i="1" dirty="0"/>
            </a:br>
            <a:endParaRPr lang="en-US" altLang="zh-TW" sz="2800" dirty="0"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2227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Identity </a:t>
            </a:r>
            <a:r>
              <a:rPr lang="en-US" altLang="zh-TW" sz="3200" b="1" dirty="0">
                <a:solidFill>
                  <a:srgbClr val="C00000"/>
                </a:solidFill>
              </a:rPr>
              <a:t>law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34521" y="2890158"/>
            <a:ext cx="4490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N | 1, 2 , 3 , 4 , …… } 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34521" y="3494315"/>
            <a:ext cx="153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{ </a:t>
            </a:r>
            <a:r>
              <a:rPr lang="en-US" altLang="zh-TW" sz="2800" dirty="0" smtClean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} 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97480" y="4270099"/>
            <a:ext cx="2845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 </a:t>
            </a:r>
            <a:r>
              <a:rPr lang="en-US" altLang="zh-TW" sz="2800" dirty="0" smtClean="0">
                <a:sym typeface="Symbol" panose="05050102010706020507" pitchFamily="18" charset="2"/>
              </a:rPr>
              <a:t> 2 = 2  1 = 2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97480" y="4874256"/>
            <a:ext cx="9582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 </a:t>
            </a:r>
            <a:r>
              <a:rPr lang="en-US" altLang="zh-TW" sz="2800" dirty="0" smtClean="0">
                <a:sym typeface="Symbol" panose="05050102010706020507" pitchFamily="18" charset="2"/>
              </a:rPr>
              <a:t>is</a:t>
            </a:r>
            <a:r>
              <a:rPr lang="en-US" altLang="zh-TW" sz="2800" dirty="0"/>
              <a:t> an identity element with respect to a binary operation </a:t>
            </a:r>
            <a:r>
              <a:rPr lang="en-US" altLang="zh-TW" sz="2800" dirty="0">
                <a:sym typeface="Symbol" panose="05050102010706020507" pitchFamily="18" charset="2"/>
              </a:rPr>
              <a:t>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on </a:t>
            </a:r>
            <a:r>
              <a:rPr lang="en-US" altLang="zh-TW" sz="2800" i="1" dirty="0"/>
              <a:t>S</a:t>
            </a:r>
            <a:r>
              <a:rPr lang="en-US" altLang="zh-TW" sz="2800" dirty="0" smtClean="0">
                <a:sym typeface="Symbol" panose="05050102010706020507" pitchFamily="18" charset="2"/>
              </a:rPr>
              <a:t>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7817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379" y="950755"/>
            <a:ext cx="112095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SzPct val="100000"/>
            </a:pPr>
            <a:r>
              <a:rPr lang="en-US" altLang="zh-TW" sz="2800" dirty="0"/>
              <a:t>If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is a binary operator </a:t>
            </a:r>
            <a:r>
              <a:rPr lang="en-US" altLang="zh-TW" sz="2800" dirty="0"/>
              <a:t>on a set </a:t>
            </a:r>
            <a:r>
              <a:rPr lang="en-US" altLang="zh-TW" sz="2800" i="1" dirty="0"/>
              <a:t>S</a:t>
            </a:r>
            <a:r>
              <a:rPr lang="en-US" altLang="zh-TW" sz="2800" dirty="0"/>
              <a:t>, </a:t>
            </a:r>
            <a:r>
              <a:rPr lang="en-US" altLang="zh-TW" sz="2800" dirty="0" smtClean="0"/>
              <a:t>for </a:t>
            </a:r>
            <a:r>
              <a:rPr lang="en-US" altLang="zh-TW" sz="2800" dirty="0"/>
              <a:t>every element </a:t>
            </a:r>
            <a:r>
              <a:rPr lang="en-US" altLang="zh-TW" sz="2800" i="1" dirty="0"/>
              <a:t>x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en-US" altLang="zh-TW" sz="2800" i="1" dirty="0"/>
              <a:t> </a:t>
            </a:r>
            <a:r>
              <a:rPr lang="en-US" altLang="zh-TW" sz="2800" i="1" dirty="0" smtClean="0"/>
              <a:t>S</a:t>
            </a:r>
            <a:r>
              <a:rPr lang="en-US" altLang="zh-TW" sz="2800" dirty="0" smtClean="0"/>
              <a:t>, </a:t>
            </a:r>
            <a:r>
              <a:rPr lang="en-US" altLang="zh-TW" sz="2800" dirty="0"/>
              <a:t>there exists an element </a:t>
            </a:r>
            <a:r>
              <a:rPr lang="en-US" altLang="zh-TW" sz="2800" i="1" dirty="0" smtClean="0"/>
              <a:t>x’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en-US" altLang="zh-TW" sz="2800" i="1" dirty="0"/>
              <a:t> </a:t>
            </a:r>
            <a:r>
              <a:rPr lang="en-US" altLang="zh-TW" sz="2800" i="1" dirty="0" smtClean="0"/>
              <a:t>S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(called the complement of </a:t>
            </a:r>
            <a:r>
              <a:rPr lang="en-US" altLang="zh-TW" sz="2800" i="1" dirty="0"/>
              <a:t>x</a:t>
            </a:r>
            <a:r>
              <a:rPr lang="en-US" altLang="zh-TW" sz="2800" dirty="0"/>
              <a:t>)</a:t>
            </a:r>
            <a:r>
              <a:rPr lang="en-US" altLang="zh-TW" sz="2800" i="1" dirty="0"/>
              <a:t> </a:t>
            </a:r>
            <a:r>
              <a:rPr lang="en-US" altLang="zh-TW" sz="2800" dirty="0"/>
              <a:t>such </a:t>
            </a:r>
            <a:r>
              <a:rPr lang="en-US" altLang="zh-TW" sz="2800" dirty="0" smtClean="0"/>
              <a:t>that </a:t>
            </a:r>
            <a:r>
              <a:rPr lang="en-US" altLang="zh-TW" sz="2800" i="1" dirty="0"/>
              <a:t>x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i="1" dirty="0" smtClean="0"/>
              <a:t> x’ </a:t>
            </a:r>
            <a:r>
              <a:rPr lang="en-US" altLang="zh-TW" sz="2800" dirty="0"/>
              <a:t>= </a:t>
            </a:r>
            <a:r>
              <a:rPr lang="en-US" altLang="zh-TW" sz="2800" dirty="0" smtClean="0"/>
              <a:t>x’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2800" dirty="0" smtClean="0"/>
              <a:t> x = e</a:t>
            </a:r>
            <a:endParaRPr lang="en-US" altLang="zh-TW" sz="2800" dirty="0"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2337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Complement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16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6379" y="950755"/>
            <a:ext cx="112095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SzPct val="100000"/>
            </a:pPr>
            <a:r>
              <a:rPr lang="en-US" altLang="zh-TW" sz="2800" dirty="0"/>
              <a:t>There exist at least two elements </a:t>
            </a:r>
            <a:r>
              <a:rPr lang="en-US" altLang="zh-TW" sz="2800" i="1" dirty="0"/>
              <a:t>x, y </a:t>
            </a:r>
            <a:r>
              <a:rPr lang="en-US" altLang="zh-TW" sz="2800" dirty="0">
                <a:latin typeface="Symbol" panose="05050102010706020507" pitchFamily="18" charset="2"/>
              </a:rPr>
              <a:t>Î</a:t>
            </a:r>
            <a:r>
              <a:rPr lang="en-US" altLang="zh-TW" sz="2800" i="1" dirty="0"/>
              <a:t> </a:t>
            </a:r>
            <a:r>
              <a:rPr lang="en-US" altLang="zh-TW" sz="2800" i="1" dirty="0" smtClean="0"/>
              <a:t>S </a:t>
            </a:r>
            <a:r>
              <a:rPr lang="en-US" altLang="zh-TW" sz="2800" i="1" dirty="0"/>
              <a:t>such that x</a:t>
            </a:r>
            <a:r>
              <a:rPr lang="en-US" altLang="zh-TW" sz="2800" dirty="0"/>
              <a:t> ≠</a:t>
            </a:r>
            <a:r>
              <a:rPr lang="en-US" altLang="zh-TW" sz="2800" i="1" dirty="0"/>
              <a:t> y.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416379" y="272534"/>
            <a:ext cx="1574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|S| ≥ 2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24003"/>
            <a:ext cx="12192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001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680465"/>
              </p:ext>
            </p:extLst>
          </p:nvPr>
        </p:nvGraphicFramePr>
        <p:xfrm>
          <a:off x="595992" y="1012712"/>
          <a:ext cx="11038117" cy="487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194">
                  <a:extLst>
                    <a:ext uri="{9D8B030D-6E8A-4147-A177-3AD203B41FA5}">
                      <a16:colId xmlns:a16="http://schemas.microsoft.com/office/drawing/2014/main" val="1363532214"/>
                    </a:ext>
                  </a:extLst>
                </a:gridCol>
                <a:gridCol w="3339194">
                  <a:extLst>
                    <a:ext uri="{9D8B030D-6E8A-4147-A177-3AD203B41FA5}">
                      <a16:colId xmlns:a16="http://schemas.microsoft.com/office/drawing/2014/main" val="85794293"/>
                    </a:ext>
                  </a:extLst>
                </a:gridCol>
                <a:gridCol w="4359729">
                  <a:extLst>
                    <a:ext uri="{9D8B030D-6E8A-4147-A177-3AD203B41FA5}">
                      <a16:colId xmlns:a16="http://schemas.microsoft.com/office/drawing/2014/main" val="3397666097"/>
                    </a:ext>
                  </a:extLst>
                </a:gridCol>
              </a:tblGrid>
              <a:tr h="670902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Two-valued Boolean Algebra</a:t>
                      </a:r>
                      <a:endParaRPr lang="zh-TW" altLang="en-US" sz="3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435905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elements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operators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A set of 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94367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S = {0, 1}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 = {· , +}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91060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9600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507675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61832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361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endParaRPr lang="zh-TW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12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51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571B7F4-DB39-4260-9426-E606E0827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3529"/>
            <a:ext cx="12192000" cy="601663"/>
          </a:xfrm>
        </p:spPr>
        <p:txBody>
          <a:bodyPr/>
          <a:lstStyle/>
          <a:p>
            <a:pPr eaLnBrk="1" hangingPunct="1"/>
            <a:r>
              <a:rPr lang="en-US" altLang="zh-TW" sz="2800" b="1" dirty="0">
                <a:solidFill>
                  <a:srgbClr val="C00000"/>
                </a:solidFill>
              </a:rPr>
              <a:t>Two-valued Boolean Algebra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670787"/>
              </p:ext>
            </p:extLst>
          </p:nvPr>
        </p:nvGraphicFramePr>
        <p:xfrm>
          <a:off x="1950357" y="199450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80342"/>
              </p:ext>
            </p:extLst>
          </p:nvPr>
        </p:nvGraphicFramePr>
        <p:xfrm>
          <a:off x="6579508" y="199450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2143"/>
              </p:ext>
            </p:extLst>
          </p:nvPr>
        </p:nvGraphicFramePr>
        <p:xfrm>
          <a:off x="1950357" y="4720166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821009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95386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439243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418541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34942"/>
              </p:ext>
            </p:extLst>
          </p:nvPr>
        </p:nvGraphicFramePr>
        <p:xfrm>
          <a:off x="4669971" y="1005416"/>
          <a:ext cx="6678388" cy="1200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194">
                  <a:extLst>
                    <a:ext uri="{9D8B030D-6E8A-4147-A177-3AD203B41FA5}">
                      <a16:colId xmlns:a16="http://schemas.microsoft.com/office/drawing/2014/main" val="1414310577"/>
                    </a:ext>
                  </a:extLst>
                </a:gridCol>
                <a:gridCol w="3339194">
                  <a:extLst>
                    <a:ext uri="{9D8B030D-6E8A-4147-A177-3AD203B41FA5}">
                      <a16:colId xmlns:a16="http://schemas.microsoft.com/office/drawing/2014/main" val="1827762430"/>
                    </a:ext>
                  </a:extLst>
                </a:gridCol>
              </a:tblGrid>
              <a:tr h="6002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Set of elements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Set of operators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827057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S = {0, 1}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 = { +, · 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385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32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058338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i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034057"/>
              </p:ext>
            </p:extLst>
          </p:nvPr>
        </p:nvGraphicFramePr>
        <p:xfrm>
          <a:off x="4669971" y="1005416"/>
          <a:ext cx="6678388" cy="1200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194">
                  <a:extLst>
                    <a:ext uri="{9D8B030D-6E8A-4147-A177-3AD203B41FA5}">
                      <a16:colId xmlns:a16="http://schemas.microsoft.com/office/drawing/2014/main" val="1414310577"/>
                    </a:ext>
                  </a:extLst>
                </a:gridCol>
                <a:gridCol w="3339194">
                  <a:extLst>
                    <a:ext uri="{9D8B030D-6E8A-4147-A177-3AD203B41FA5}">
                      <a16:colId xmlns:a16="http://schemas.microsoft.com/office/drawing/2014/main" val="1827762430"/>
                    </a:ext>
                  </a:extLst>
                </a:gridCol>
              </a:tblGrid>
              <a:tr h="6002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Set of elements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Set of operators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827057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rgbClr val="C00000"/>
                          </a:solidFill>
                        </a:rPr>
                        <a:t>S = {0, 1}</a:t>
                      </a:r>
                      <a:endParaRPr lang="zh-TW" altLang="en-US" sz="28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 = { +, · }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385269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752380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85052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378131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682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593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669971" y="371385"/>
            <a:ext cx="73070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structure is closed with respect to the operator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+.</a:t>
            </a:r>
          </a:p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structure is closed with respect to the operator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.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46913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92273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600565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415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80742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69971" y="358733"/>
            <a:ext cx="73233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element 0 is an identity element with respect to +;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</a:rPr>
              <a:t>+ 0 </a:t>
            </a:r>
            <a:r>
              <a:rPr lang="en-US" altLang="zh-TW" sz="2800" b="1" i="1" dirty="0">
                <a:solidFill>
                  <a:srgbClr val="C00000"/>
                </a:solidFill>
              </a:rPr>
              <a:t>= </a:t>
            </a:r>
            <a:r>
              <a:rPr lang="en-US" altLang="zh-TW" sz="2800" b="1" dirty="0">
                <a:solidFill>
                  <a:srgbClr val="C00000"/>
                </a:solidFill>
              </a:rPr>
              <a:t>0 + </a:t>
            </a:r>
            <a:r>
              <a:rPr lang="en-US" altLang="zh-TW" sz="2800" b="1" i="1" dirty="0">
                <a:solidFill>
                  <a:srgbClr val="C00000"/>
                </a:solidFill>
              </a:rPr>
              <a:t>x = </a:t>
            </a:r>
            <a:r>
              <a:rPr lang="en-US" altLang="zh-TW" sz="2800" b="1" i="1" dirty="0" smtClean="0">
                <a:solidFill>
                  <a:srgbClr val="C00000"/>
                </a:solidFill>
              </a:rPr>
              <a:t>x.</a:t>
            </a:r>
          </a:p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element 1 is an identity element with respect to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</a:t>
            </a:r>
            <a:r>
              <a:rPr lang="en-US" altLang="zh-TW" sz="2800" b="1" dirty="0">
                <a:solidFill>
                  <a:srgbClr val="C00000"/>
                </a:solidFill>
              </a:rPr>
              <a:t>1 = 1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x = x.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01428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840158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784230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54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530905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69971" y="358733"/>
            <a:ext cx="73233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structure is commutative with respect to +;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+ y = y + </a:t>
            </a:r>
            <a:r>
              <a:rPr lang="en-US" altLang="zh-TW" sz="2800" b="1" i="1" dirty="0" smtClean="0">
                <a:solidFill>
                  <a:srgbClr val="C00000"/>
                </a:solidFill>
              </a:rPr>
              <a:t>x.</a:t>
            </a:r>
          </a:p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structure is commutative with respect to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 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y = y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x.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587337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332882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55106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116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53962"/>
              </p:ext>
            </p:extLst>
          </p:nvPr>
        </p:nvGraphicFramePr>
        <p:xfrm>
          <a:off x="644073" y="1461225"/>
          <a:ext cx="274410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02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914702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  <a:gridCol w="914702">
                  <a:extLst>
                    <a:ext uri="{9D8B030D-6E8A-4147-A177-3AD203B41FA5}">
                      <a16:colId xmlns:a16="http://schemas.microsoft.com/office/drawing/2014/main" val="3267268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181162"/>
              </p:ext>
            </p:extLst>
          </p:nvPr>
        </p:nvGraphicFramePr>
        <p:xfrm>
          <a:off x="3706586" y="1461225"/>
          <a:ext cx="338001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7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1690007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 + z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(y + z)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51481"/>
              </p:ext>
            </p:extLst>
          </p:nvPr>
        </p:nvGraphicFramePr>
        <p:xfrm>
          <a:off x="7405007" y="1461225"/>
          <a:ext cx="41973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673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1017673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  <a:gridCol w="2162004">
                  <a:extLst>
                    <a:ext uri="{9D8B030D-6E8A-4147-A177-3AD203B41FA5}">
                      <a16:colId xmlns:a16="http://schemas.microsoft.com/office/drawing/2014/main" val="3267268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 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z 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(x · y) + (x · z) 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461838"/>
            <a:ext cx="12192000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marL="514350" lvl="1" indent="-514350" algn="ctr">
              <a:buSzPct val="100000"/>
              <a:buFont typeface="+mj-lt"/>
              <a:buAutoNum type="alphaLcParenR"/>
            </a:pPr>
            <a:r>
              <a:rPr lang="en-US" altLang="zh-TW" sz="2800" b="1" dirty="0">
                <a:solidFill>
                  <a:schemeClr val="bg1"/>
                </a:solidFill>
              </a:rPr>
              <a:t>The operator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chemeClr val="bg1"/>
                </a:solidFill>
              </a:rPr>
              <a:t> is distributive over +; that is, </a:t>
            </a:r>
            <a:r>
              <a:rPr lang="en-US" altLang="zh-TW" sz="2800" b="1" i="1" dirty="0">
                <a:solidFill>
                  <a:schemeClr val="bg1"/>
                </a:solidFill>
              </a:rPr>
              <a:t>x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chemeClr val="bg1"/>
                </a:solidFill>
              </a:rPr>
              <a:t> </a:t>
            </a:r>
            <a:r>
              <a:rPr lang="en-US" altLang="zh-TW" sz="2800" b="1" dirty="0">
                <a:solidFill>
                  <a:schemeClr val="bg1"/>
                </a:solidFill>
              </a:rPr>
              <a:t>(</a:t>
            </a:r>
            <a:r>
              <a:rPr lang="en-US" altLang="zh-TW" sz="2800" b="1" i="1" dirty="0">
                <a:solidFill>
                  <a:schemeClr val="bg1"/>
                </a:solidFill>
              </a:rPr>
              <a:t>y + z</a:t>
            </a:r>
            <a:r>
              <a:rPr lang="en-US" altLang="zh-TW" sz="2800" b="1" dirty="0">
                <a:solidFill>
                  <a:schemeClr val="bg1"/>
                </a:solidFill>
              </a:rPr>
              <a:t>) = (</a:t>
            </a:r>
            <a:r>
              <a:rPr lang="en-US" altLang="zh-TW" sz="2800" b="1" i="1" dirty="0">
                <a:solidFill>
                  <a:schemeClr val="bg1"/>
                </a:solidFill>
              </a:rPr>
              <a:t>x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chemeClr val="bg1"/>
                </a:solidFill>
              </a:rPr>
              <a:t> y</a:t>
            </a:r>
            <a:r>
              <a:rPr lang="en-US" altLang="zh-TW" sz="2800" b="1" dirty="0">
                <a:solidFill>
                  <a:schemeClr val="bg1"/>
                </a:solidFill>
              </a:rPr>
              <a:t>) + (</a:t>
            </a:r>
            <a:r>
              <a:rPr lang="en-US" altLang="zh-TW" sz="2800" b="1" i="1" dirty="0">
                <a:solidFill>
                  <a:schemeClr val="bg1"/>
                </a:solidFill>
              </a:rPr>
              <a:t>x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chemeClr val="bg1"/>
                </a:solidFill>
              </a:rPr>
              <a:t> z</a:t>
            </a:r>
            <a:r>
              <a:rPr lang="en-US" altLang="zh-TW" sz="2800" b="1" dirty="0">
                <a:solidFill>
                  <a:schemeClr val="bg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8921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753962"/>
              </p:ext>
            </p:extLst>
          </p:nvPr>
        </p:nvGraphicFramePr>
        <p:xfrm>
          <a:off x="644073" y="1461225"/>
          <a:ext cx="274410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702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914702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  <a:gridCol w="914702">
                  <a:extLst>
                    <a:ext uri="{9D8B030D-6E8A-4147-A177-3AD203B41FA5}">
                      <a16:colId xmlns:a16="http://schemas.microsoft.com/office/drawing/2014/main" val="3267268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341860"/>
              </p:ext>
            </p:extLst>
          </p:nvPr>
        </p:nvGraphicFramePr>
        <p:xfrm>
          <a:off x="3706586" y="1461225"/>
          <a:ext cx="338001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7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1690007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 · z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(y · z)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51354"/>
              </p:ext>
            </p:extLst>
          </p:nvPr>
        </p:nvGraphicFramePr>
        <p:xfrm>
          <a:off x="7405007" y="1461225"/>
          <a:ext cx="41973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673">
                  <a:extLst>
                    <a:ext uri="{9D8B030D-6E8A-4147-A177-3AD203B41FA5}">
                      <a16:colId xmlns:a16="http://schemas.microsoft.com/office/drawing/2014/main" val="447232689"/>
                    </a:ext>
                  </a:extLst>
                </a:gridCol>
                <a:gridCol w="1017673">
                  <a:extLst>
                    <a:ext uri="{9D8B030D-6E8A-4147-A177-3AD203B41FA5}">
                      <a16:colId xmlns:a16="http://schemas.microsoft.com/office/drawing/2014/main" val="4255143404"/>
                    </a:ext>
                  </a:extLst>
                </a:gridCol>
                <a:gridCol w="2162004">
                  <a:extLst>
                    <a:ext uri="{9D8B030D-6E8A-4147-A177-3AD203B41FA5}">
                      <a16:colId xmlns:a16="http://schemas.microsoft.com/office/drawing/2014/main" val="3267268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 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z 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(x + y) · (x + z) </a:t>
                      </a:r>
                      <a:endParaRPr lang="zh-TW" altLang="en-US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7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4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17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94324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0" y="449036"/>
            <a:ext cx="12192000" cy="52322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marL="514350" lvl="1" indent="-514350" algn="ctr">
              <a:buSzPct val="100000"/>
              <a:buFont typeface="+mj-lt"/>
              <a:buAutoNum type="alphaLcParenR" startAt="2"/>
            </a:pPr>
            <a:r>
              <a:rPr lang="en-US" altLang="zh-TW" sz="2800" b="1" dirty="0">
                <a:solidFill>
                  <a:schemeClr val="bg1"/>
                </a:solidFill>
              </a:rPr>
              <a:t>The operator + is distributive over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chemeClr val="bg1"/>
                </a:solidFill>
              </a:rPr>
              <a:t>; that is, </a:t>
            </a:r>
            <a:r>
              <a:rPr lang="en-US" altLang="zh-TW" sz="2800" b="1" i="1" dirty="0">
                <a:solidFill>
                  <a:schemeClr val="bg1"/>
                </a:solidFill>
              </a:rPr>
              <a:t>x + </a:t>
            </a:r>
            <a:r>
              <a:rPr lang="en-US" altLang="zh-TW" sz="2800" b="1" dirty="0">
                <a:solidFill>
                  <a:schemeClr val="bg1"/>
                </a:solidFill>
              </a:rPr>
              <a:t>(</a:t>
            </a:r>
            <a:r>
              <a:rPr lang="en-US" altLang="zh-TW" sz="2800" b="1" i="1" dirty="0">
                <a:solidFill>
                  <a:schemeClr val="bg1"/>
                </a:solidFill>
              </a:rPr>
              <a:t>y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chemeClr val="bg1"/>
                </a:solidFill>
              </a:rPr>
              <a:t> z</a:t>
            </a:r>
            <a:r>
              <a:rPr lang="en-US" altLang="zh-TW" sz="2800" b="1" dirty="0">
                <a:solidFill>
                  <a:schemeClr val="bg1"/>
                </a:solidFill>
              </a:rPr>
              <a:t>) = (</a:t>
            </a:r>
            <a:r>
              <a:rPr lang="en-US" altLang="zh-TW" sz="2800" b="1" i="1" dirty="0">
                <a:solidFill>
                  <a:schemeClr val="bg1"/>
                </a:solidFill>
              </a:rPr>
              <a:t>x + y</a:t>
            </a:r>
            <a:r>
              <a:rPr lang="en-US" altLang="zh-TW" sz="2800" b="1" dirty="0">
                <a:solidFill>
                  <a:schemeClr val="bg1"/>
                </a:solidFill>
              </a:rPr>
              <a:t>) </a:t>
            </a:r>
            <a:r>
              <a:rPr lang="en-US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chemeClr val="bg1"/>
                </a:solidFill>
              </a:rPr>
              <a:t> (</a:t>
            </a:r>
            <a:r>
              <a:rPr lang="en-US" altLang="zh-TW" sz="2800" b="1" i="1" dirty="0">
                <a:solidFill>
                  <a:schemeClr val="bg1"/>
                </a:solidFill>
              </a:rPr>
              <a:t>x + z</a:t>
            </a:r>
            <a:r>
              <a:rPr lang="en-US" altLang="zh-TW" sz="2800" b="1" dirty="0">
                <a:solidFill>
                  <a:schemeClr val="bg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6874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81862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669971" y="358733"/>
            <a:ext cx="73233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operator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 is distributive over +;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</a:t>
            </a:r>
            <a:r>
              <a:rPr lang="en-US" altLang="zh-TW" sz="2800" b="1" dirty="0">
                <a:solidFill>
                  <a:srgbClr val="C00000"/>
                </a:solidFill>
              </a:rPr>
              <a:t>(</a:t>
            </a:r>
            <a:r>
              <a:rPr lang="en-US" altLang="zh-TW" sz="2800" b="1" i="1" dirty="0">
                <a:solidFill>
                  <a:srgbClr val="C00000"/>
                </a:solidFill>
              </a:rPr>
              <a:t>y + z</a:t>
            </a:r>
            <a:r>
              <a:rPr lang="en-US" altLang="zh-TW" sz="2800" b="1" dirty="0">
                <a:solidFill>
                  <a:srgbClr val="C00000"/>
                </a:solidFill>
              </a:rPr>
              <a:t>) = (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y</a:t>
            </a:r>
            <a:r>
              <a:rPr lang="en-US" altLang="zh-TW" sz="2800" b="1" dirty="0">
                <a:solidFill>
                  <a:srgbClr val="C00000"/>
                </a:solidFill>
              </a:rPr>
              <a:t>) + (</a:t>
            </a:r>
            <a:r>
              <a:rPr lang="en-US" altLang="zh-TW" sz="2800" b="1" i="1" dirty="0">
                <a:solidFill>
                  <a:srgbClr val="C00000"/>
                </a:solidFill>
              </a:rPr>
              <a:t>x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z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).</a:t>
            </a:r>
          </a:p>
          <a:p>
            <a:pPr marL="514350" lvl="1" indent="-514350">
              <a:buSzPct val="100000"/>
              <a:buFont typeface="+mj-lt"/>
              <a:buAutoNum type="alphaLcParenR"/>
            </a:pPr>
            <a:r>
              <a:rPr lang="en-US" altLang="zh-TW" sz="28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2800" b="1" dirty="0">
                <a:solidFill>
                  <a:srgbClr val="C00000"/>
                </a:solidFill>
              </a:rPr>
              <a:t>operator + is distributive over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; that is, </a:t>
            </a:r>
            <a:r>
              <a:rPr lang="en-US" altLang="zh-TW" sz="2800" b="1" i="1" dirty="0">
                <a:solidFill>
                  <a:srgbClr val="C00000"/>
                </a:solidFill>
              </a:rPr>
              <a:t>x + </a:t>
            </a:r>
            <a:r>
              <a:rPr lang="en-US" altLang="zh-TW" sz="2800" b="1" dirty="0">
                <a:solidFill>
                  <a:srgbClr val="C00000"/>
                </a:solidFill>
              </a:rPr>
              <a:t>(</a:t>
            </a:r>
            <a:r>
              <a:rPr lang="en-US" altLang="zh-TW" sz="2800" b="1" i="1" dirty="0">
                <a:solidFill>
                  <a:srgbClr val="C00000"/>
                </a:solidFill>
              </a:rPr>
              <a:t>y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i="1" dirty="0">
                <a:solidFill>
                  <a:srgbClr val="C00000"/>
                </a:solidFill>
              </a:rPr>
              <a:t> z</a:t>
            </a:r>
            <a:r>
              <a:rPr lang="en-US" altLang="zh-TW" sz="2800" b="1" dirty="0">
                <a:solidFill>
                  <a:srgbClr val="C00000"/>
                </a:solidFill>
              </a:rPr>
              <a:t>) = (</a:t>
            </a:r>
            <a:r>
              <a:rPr lang="en-US" altLang="zh-TW" sz="2800" b="1" i="1" dirty="0">
                <a:solidFill>
                  <a:srgbClr val="C00000"/>
                </a:solidFill>
              </a:rPr>
              <a:t>x + y</a:t>
            </a:r>
            <a:r>
              <a:rPr lang="en-US" altLang="zh-TW" sz="2800" b="1" dirty="0">
                <a:solidFill>
                  <a:srgbClr val="C00000"/>
                </a:solidFill>
              </a:rPr>
              <a:t>)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TW" sz="2800" b="1" dirty="0">
                <a:solidFill>
                  <a:srgbClr val="C00000"/>
                </a:solidFill>
              </a:rPr>
              <a:t> (</a:t>
            </a:r>
            <a:r>
              <a:rPr lang="en-US" altLang="zh-TW" sz="2800" b="1" i="1" dirty="0">
                <a:solidFill>
                  <a:srgbClr val="C00000"/>
                </a:solidFill>
              </a:rPr>
              <a:t>x + z</a:t>
            </a:r>
            <a:r>
              <a:rPr lang="en-US" altLang="zh-TW" sz="2800" b="1" dirty="0">
                <a:solidFill>
                  <a:srgbClr val="C00000"/>
                </a:solidFill>
              </a:rPr>
              <a:t>).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54281"/>
              </p:ext>
            </p:extLst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386059"/>
              </p:ext>
            </p:extLst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78141"/>
              </p:ext>
            </p:extLst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3313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53299" y="4965214"/>
            <a:ext cx="65287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2800" dirty="0" smtClean="0"/>
              <a:t>0 + 0‘ = 0 + 1 = 1; 1 + 1‘ = 1+ 0 = 1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678017"/>
              </p:ext>
            </p:extLst>
          </p:nvPr>
        </p:nvGraphicFramePr>
        <p:xfrm>
          <a:off x="6035221" y="2127643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225282" y="2016311"/>
            <a:ext cx="21483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i="1" dirty="0"/>
              <a:t>x + x‘ = </a:t>
            </a:r>
            <a:r>
              <a:rPr lang="en-US" altLang="zh-TW" sz="3600" dirty="0"/>
              <a:t>1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36468"/>
              </p:ext>
            </p:extLst>
          </p:nvPr>
        </p:nvGraphicFramePr>
        <p:xfrm>
          <a:off x="3225282" y="3042043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0" y="0"/>
            <a:ext cx="2063385" cy="523220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chemeClr val="bg1"/>
                </a:solidFill>
              </a:rPr>
              <a:t>Complement</a:t>
            </a:r>
          </a:p>
        </p:txBody>
      </p:sp>
    </p:spTree>
    <p:extLst>
      <p:ext uri="{BB962C8B-B14F-4D97-AF65-F5344CB8AC3E}">
        <p14:creationId xmlns:p14="http://schemas.microsoft.com/office/powerpoint/2010/main" val="1468988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670119"/>
              </p:ext>
            </p:extLst>
          </p:nvPr>
        </p:nvGraphicFramePr>
        <p:xfrm>
          <a:off x="6035221" y="2127643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225282" y="2016311"/>
            <a:ext cx="19415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i="1" dirty="0"/>
              <a:t>x </a:t>
            </a:r>
            <a:r>
              <a:rPr lang="en-US" altLang="zh-TW" sz="3600" dirty="0"/>
              <a:t>·</a:t>
            </a:r>
            <a:r>
              <a:rPr lang="en-US" altLang="zh-TW" sz="3600" i="1" dirty="0" smtClean="0"/>
              <a:t> </a:t>
            </a:r>
            <a:r>
              <a:rPr lang="en-US" altLang="zh-TW" sz="3600" i="1" dirty="0"/>
              <a:t>x‘ = </a:t>
            </a:r>
            <a:r>
              <a:rPr lang="en-US" altLang="zh-TW" sz="3600" dirty="0" smtClean="0"/>
              <a:t>0</a:t>
            </a:r>
            <a:endParaRPr lang="en-US" altLang="zh-TW" sz="3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36468"/>
              </p:ext>
            </p:extLst>
          </p:nvPr>
        </p:nvGraphicFramePr>
        <p:xfrm>
          <a:off x="3225282" y="3042043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0" y="0"/>
            <a:ext cx="2063385" cy="523220"/>
          </a:xfrm>
          <a:prstGeom prst="rect">
            <a:avLst/>
          </a:prstGeom>
          <a:solidFill>
            <a:srgbClr val="C00000"/>
          </a:solidFill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chemeClr val="bg1"/>
                </a:solidFill>
              </a:rPr>
              <a:t>Complement</a:t>
            </a:r>
          </a:p>
        </p:txBody>
      </p:sp>
      <p:sp>
        <p:nvSpPr>
          <p:cNvPr id="11" name="矩形 10"/>
          <p:cNvSpPr/>
          <p:nvPr/>
        </p:nvSpPr>
        <p:spPr>
          <a:xfrm>
            <a:off x="2561902" y="4965214"/>
            <a:ext cx="58673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2800" dirty="0" smtClean="0"/>
              <a:t>0 ‧ 0‘ = 0 ‧ 1 = 0; 1 ‧ 1‘ = 1 ‧ 0 = 0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237146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437122"/>
              </p:ext>
            </p:extLst>
          </p:nvPr>
        </p:nvGraphicFramePr>
        <p:xfrm>
          <a:off x="4669971" y="2461300"/>
          <a:ext cx="6678388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8419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  <a:gridCol w="1579969">
                  <a:extLst>
                    <a:ext uri="{9D8B030D-6E8A-4147-A177-3AD203B41FA5}">
                      <a16:colId xmlns:a16="http://schemas.microsoft.com/office/drawing/2014/main" val="1153770290"/>
                    </a:ext>
                  </a:extLst>
                </a:gridCol>
              </a:tblGrid>
              <a:tr h="60028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Commutative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Distributive law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1" i="0" dirty="0" smtClean="0">
                          <a:solidFill>
                            <a:srgbClr val="C00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2800" b="1" i="0" dirty="0" smtClean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91028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91028" y="296744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791028" y="5291667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869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23684"/>
              </p:ext>
            </p:extLst>
          </p:nvPr>
        </p:nvGraphicFramePr>
        <p:xfrm>
          <a:off x="1836965" y="1563229"/>
          <a:ext cx="8613320" cy="4201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320">
                  <a:extLst>
                    <a:ext uri="{9D8B030D-6E8A-4147-A177-3AD203B41FA5}">
                      <a16:colId xmlns:a16="http://schemas.microsoft.com/office/drawing/2014/main" val="726669674"/>
                    </a:ext>
                  </a:extLst>
                </a:gridCol>
              </a:tblGrid>
              <a:tr h="6002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Postulates</a:t>
                      </a:r>
                      <a:endParaRPr lang="zh-TW" alt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40876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1.  Closure 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91718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2.  Identity element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65551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3.  Commutative law</a:t>
                      </a:r>
                      <a:endParaRPr lang="zh-TW" altLang="en-US" sz="2800" b="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9706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4.  Distributive law</a:t>
                      </a:r>
                      <a:endParaRPr lang="zh-TW" altLang="en-US" sz="2800" b="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455959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b="0" i="0" dirty="0" smtClean="0">
                          <a:solidFill>
                            <a:schemeClr val="tx1"/>
                          </a:solidFill>
                        </a:rPr>
                        <a:t>5.  Complement</a:t>
                      </a:r>
                      <a:endParaRPr lang="zh-TW" alt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42602"/>
                  </a:ext>
                </a:extLst>
              </a:tr>
              <a:tr h="600281"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6.  |S|</a:t>
                      </a:r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 ≥ 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43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304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59379" y="1440907"/>
            <a:ext cx="100747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A </a:t>
            </a:r>
            <a:r>
              <a:rPr lang="en-US" altLang="zh-TW" sz="3200" dirty="0"/>
              <a:t>set of two elements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/>
              <a:t>+ : OR </a:t>
            </a:r>
            <a:r>
              <a:rPr lang="en-US" altLang="zh-TW" sz="3200" dirty="0" smtClean="0"/>
              <a:t>operation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‧ </a:t>
            </a:r>
            <a:r>
              <a:rPr lang="en-US" altLang="zh-TW" sz="3200" dirty="0"/>
              <a:t>: AND operation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dirty="0" smtClean="0"/>
              <a:t>A </a:t>
            </a:r>
            <a:r>
              <a:rPr lang="en-US" altLang="zh-TW" sz="3200" dirty="0"/>
              <a:t>complement operator: NOT operation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200" b="1" dirty="0">
                <a:solidFill>
                  <a:srgbClr val="C00000"/>
                </a:solidFill>
              </a:rPr>
              <a:t>Binary logic is a two-valued Boolean algebra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824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29904"/>
            <a:ext cx="12191999" cy="95410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1"/>
                </a:solidFill>
              </a:rPr>
              <a:t>If an algebraic expression is valid, when interchanging OR and </a:t>
            </a:r>
            <a:r>
              <a:rPr lang="en-US" altLang="zh-TW" sz="2800" b="1" dirty="0" err="1" smtClean="0">
                <a:solidFill>
                  <a:schemeClr val="bg1"/>
                </a:solidFill>
              </a:rPr>
              <a:t>AND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 operators and replacing 1’s by 0’s and 0’s by 1’s, the resulting expression is also valid.</a:t>
            </a:r>
            <a:endParaRPr lang="zh-TW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28587"/>
              </p:ext>
            </p:extLst>
          </p:nvPr>
        </p:nvGraphicFramePr>
        <p:xfrm>
          <a:off x="1" y="1330361"/>
          <a:ext cx="12191999" cy="15544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1559657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Duality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9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 binary operators are interchanged; AND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 </a:t>
                      </a:r>
                      <a:r>
                        <a:rPr lang="en-US" altLang="zh-TW" sz="2800" dirty="0" smtClean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67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 identity elements are interchanged; 1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</a:t>
                      </a:r>
                      <a:r>
                        <a:rPr lang="en-US" altLang="zh-TW" sz="2800" dirty="0" smtClean="0"/>
                        <a:t>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0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08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31155"/>
              </p:ext>
            </p:extLst>
          </p:nvPr>
        </p:nvGraphicFramePr>
        <p:xfrm>
          <a:off x="647245" y="1659798"/>
          <a:ext cx="10978697" cy="3688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365376">
                  <a:extLst>
                    <a:ext uri="{9D8B030D-6E8A-4147-A177-3AD203B41FA5}">
                      <a16:colId xmlns:a16="http://schemas.microsoft.com/office/drawing/2014/main" val="804644159"/>
                    </a:ext>
                  </a:extLst>
                </a:gridCol>
                <a:gridCol w="8613321">
                  <a:extLst>
                    <a:ext uri="{9D8B030D-6E8A-4147-A177-3AD203B41FA5}">
                      <a16:colId xmlns:a16="http://schemas.microsoft.com/office/drawing/2014/main" val="38898921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Duality</a:t>
                      </a:r>
                      <a:endParaRPr lang="zh-TW" altLang="en-US" sz="32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27321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144000"/>
                      <a:r>
                        <a:rPr lang="en-US" altLang="zh-TW" sz="2800" dirty="0" smtClean="0"/>
                        <a:t>Identity</a:t>
                      </a:r>
                      <a:endParaRPr lang="zh-TW" altLang="en-US" sz="280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(a)  x + 0 = 0 + x = x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248760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(b) x • 1 = 1 • x = x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6404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144000"/>
                      <a:r>
                        <a:rPr lang="en-US" altLang="zh-TW" sz="2800" dirty="0" smtClean="0"/>
                        <a:t>Commutative</a:t>
                      </a:r>
                      <a:endParaRPr lang="zh-TW" altLang="en-US" sz="280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(a) x + y = y + x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523870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(b) x • y = y • x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01423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144000"/>
                      <a:r>
                        <a:rPr lang="en-US" altLang="zh-TW" sz="2800" dirty="0" smtClean="0"/>
                        <a:t>Distributive</a:t>
                      </a:r>
                      <a:endParaRPr lang="zh-TW" altLang="en-US" sz="2800" dirty="0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(a) x • (y + z) = (x • y) + (x • z)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863903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n-US" altLang="zh-TW" sz="2800" dirty="0" smtClean="0"/>
                        <a:t>(b) x + (y • z) = (x + y) • (x + z)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06228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72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B9730221-DA47-4E44-9984-4D1C71A7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2" y="822325"/>
            <a:ext cx="11959744" cy="5366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21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5042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88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60636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50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623994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dirty="0" smtClean="0">
                          <a:ea typeface="+mn-ea"/>
                        </a:rPr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42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098251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dirty="0" smtClean="0">
                          <a:ea typeface="+mn-ea"/>
                        </a:rPr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61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144546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dirty="0" smtClean="0">
                          <a:ea typeface="+mn-ea"/>
                        </a:rPr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+ </a:t>
                      </a:r>
                      <a:r>
                        <a:rPr lang="en-US" altLang="zh-TW" sz="2800" dirty="0" smtClean="0">
                          <a:ea typeface="+mn-ea"/>
                        </a:rPr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60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300992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algn="l"/>
                      <a:r>
                        <a:rPr lang="en-US" altLang="zh-TW" sz="2800" dirty="0" smtClean="0"/>
                        <a:t>THEOREM 1(a): </a:t>
                      </a:r>
                      <a:r>
                        <a:rPr lang="en-US" altLang="zh-TW" sz="2800" i="0" dirty="0" smtClean="0"/>
                        <a:t>x + x = x</a:t>
                      </a:r>
                      <a:endParaRPr lang="zh-TW" altLang="en-US" sz="2800" i="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) · 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dirty="0" smtClean="0">
                          <a:ea typeface="+mn-ea"/>
                        </a:rPr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+ </a:t>
                      </a:r>
                      <a:r>
                        <a:rPr lang="en-US" altLang="zh-TW" sz="2800" dirty="0" smtClean="0">
                          <a:ea typeface="+mn-ea"/>
                        </a:rPr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86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21899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16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387722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+ 0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89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005304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+ 0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55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554275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+ 0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i="0" dirty="0" smtClean="0">
                          <a:ea typeface="+mn-ea"/>
                        </a:rPr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76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1745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+ 0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i="0" dirty="0" smtClean="0">
                          <a:ea typeface="+mn-ea"/>
                        </a:rPr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ea typeface="+mn-ea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9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38496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1(b):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· x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+ 0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>
                          <a:ea typeface="+mn-ea"/>
                        </a:rPr>
                        <a:t>(</a:t>
                      </a:r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ea typeface="+mn-ea"/>
                        </a:rPr>
                        <a:t>x’</a:t>
                      </a:r>
                      <a:r>
                        <a:rPr lang="en-US" altLang="zh-TW" sz="2800" i="0" dirty="0" smtClean="0">
                          <a:ea typeface="+mn-ea"/>
                        </a:rPr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ea typeface="+mn-ea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49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906832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05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3753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01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75820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</a:t>
                      </a:r>
                      <a:r>
                        <a:rPr lang="en-US" altLang="zh-TW" sz="2800" dirty="0" smtClean="0"/>
                        <a:t> 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07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4284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</a:t>
                      </a:r>
                      <a:r>
                        <a:rPr lang="en-US" altLang="zh-TW" sz="2800" dirty="0" smtClean="0"/>
                        <a:t> 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dirty="0" smtClean="0"/>
                        <a:t>1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52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39931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</a:t>
                      </a:r>
                      <a:r>
                        <a:rPr lang="en-US" altLang="zh-TW" sz="2800" dirty="0" smtClean="0"/>
                        <a:t> 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dirty="0" smtClean="0"/>
                        <a:t>1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+ 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39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931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2(a):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+ 1 = 1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+ </a:t>
                      </a:r>
                      <a:r>
                        <a:rPr lang="en-US" altLang="zh-TW" sz="2800" dirty="0" smtClean="0"/>
                        <a:t>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·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+</a:t>
                      </a:r>
                      <a:r>
                        <a:rPr lang="en-US" altLang="zh-TW" sz="2800" dirty="0" smtClean="0"/>
                        <a:t> 1)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+ 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dirty="0" smtClean="0"/>
                        <a:t>1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+ 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13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74882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08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60509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67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63057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+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01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10089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+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6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918812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+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69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84917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2(b): </a:t>
                      </a:r>
                      <a:r>
                        <a:rPr lang="en-US" altLang="zh-TW" sz="2800" i="0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0" dirty="0" smtClean="0">
                          <a:ea typeface="+mn-ea"/>
                        </a:rPr>
                        <a:t> 0 = 0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 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r>
                        <a:rPr lang="en-US" altLang="zh-TW" sz="2800" dirty="0" smtClean="0"/>
                        <a:t>)</a:t>
                      </a:r>
                      <a:r>
                        <a:rPr lang="en-US" altLang="zh-TW" sz="2800" dirty="0" smtClean="0">
                          <a:ea typeface="+mn-ea"/>
                        </a:rPr>
                        <a:t> + </a:t>
                      </a:r>
                      <a:r>
                        <a:rPr lang="en-US" altLang="zh-TW" sz="280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0)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x’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dirty="0" smtClean="0"/>
                        <a:t>0)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36101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5(b)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850282"/>
              </p:ext>
            </p:extLst>
          </p:nvPr>
        </p:nvGraphicFramePr>
        <p:xfrm>
          <a:off x="1461408" y="2056605"/>
          <a:ext cx="9478735" cy="258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8735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3: involution </a:t>
                      </a:r>
                      <a:r>
                        <a:rPr lang="en-US" altLang="zh-TW" sz="2800" i="0" dirty="0" smtClean="0">
                          <a:ea typeface="+mn-ea"/>
                        </a:rPr>
                        <a:t>(x’)’ = x</a:t>
                      </a:r>
                      <a:endParaRPr lang="zh-TW" altLang="en-US" sz="2800" i="0" dirty="0" smtClean="0"/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>
                          <a:cs typeface="Times New Roman" panose="02020603050405020304" pitchFamily="18" charset="0"/>
                        </a:rPr>
                        <a:t>Postulate 5 defines the complement of </a:t>
                      </a:r>
                      <a:r>
                        <a:rPr lang="en-US" altLang="zh-TW" sz="2800" i="1" dirty="0" smtClean="0"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800" i="0" dirty="0" smtClean="0"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altLang="zh-TW" sz="2800" i="1" dirty="0" smtClean="0"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TW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cs typeface="Times New Roman" panose="02020603050405020304" pitchFamily="18" charset="0"/>
                        </a:rPr>
                        <a:t>x + x’ = </a:t>
                      </a:r>
                      <a:r>
                        <a:rPr lang="en-US" altLang="zh-TW" sz="2800" dirty="0" smtClean="0">
                          <a:cs typeface="Times New Roman" panose="02020603050405020304" pitchFamily="18" charset="0"/>
                        </a:rPr>
                        <a:t>1 and </a:t>
                      </a:r>
                      <a:r>
                        <a:rPr lang="en-US" altLang="zh-TW" sz="2800" i="1" dirty="0" smtClean="0"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x’ = </a:t>
                      </a:r>
                      <a:r>
                        <a:rPr lang="en-US" altLang="zh-TW" sz="2800" dirty="0" smtClean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 complement of </a:t>
                      </a:r>
                      <a:r>
                        <a:rPr lang="en-US" altLang="zh-TW" sz="2800" i="1" dirty="0" smtClean="0"/>
                        <a:t>x’ </a:t>
                      </a:r>
                      <a:r>
                        <a:rPr lang="en-US" altLang="zh-TW" sz="2800" dirty="0" smtClean="0"/>
                        <a:t>is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/>
                        <a:t>is also (</a:t>
                      </a:r>
                      <a:r>
                        <a:rPr lang="en-US" altLang="zh-TW" sz="2800" i="1" dirty="0" smtClean="0"/>
                        <a:t>x’</a:t>
                      </a:r>
                      <a:r>
                        <a:rPr lang="en-US" altLang="zh-TW" sz="2800" dirty="0" smtClean="0"/>
                        <a:t>)’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4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08103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</a:t>
                      </a:r>
                      <a:r>
                        <a:rPr lang="zh-TW" altLang="en-US" sz="2800" i="1" dirty="0" smtClean="0"/>
                        <a:t> </a:t>
                      </a:r>
                      <a:r>
                        <a:rPr lang="en-US" altLang="zh-TW" sz="2800" i="1" dirty="0" smtClean="0"/>
                        <a:t>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89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66903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1 +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37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29793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1 +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(1 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08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013237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1 +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(1 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(y + </a:t>
                      </a:r>
                      <a:r>
                        <a:rPr lang="en-US" altLang="zh-TW" sz="2800" i="0" dirty="0" smtClean="0"/>
                        <a:t>1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17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376880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1 +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(1 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(y + </a:t>
                      </a:r>
                      <a:r>
                        <a:rPr lang="en-US" altLang="zh-TW" sz="2800" i="0" dirty="0" smtClean="0"/>
                        <a:t>1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>
                          <a:ea typeface="+mn-ea"/>
                        </a:rPr>
                        <a:t>1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93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948647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r>
                        <a:rPr lang="en-US" altLang="zh-TW" sz="2800" i="1" dirty="0" smtClean="0"/>
                        <a:t>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 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1 +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(1 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(y + </a:t>
                      </a:r>
                      <a:r>
                        <a:rPr lang="en-US" altLang="zh-TW" sz="2800" i="0" dirty="0" smtClean="0"/>
                        <a:t>1</a:t>
                      </a:r>
                      <a:r>
                        <a:rPr lang="en-US" altLang="zh-TW" sz="2800" dirty="0" smtClean="0"/>
                        <a:t>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>
                          <a:ea typeface="+mn-ea"/>
                        </a:rPr>
                        <a:t>1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31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155470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81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576195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12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43960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43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817039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y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935048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y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0" dirty="0" smtClean="0">
                          <a:ea typeface="+mn-ea"/>
                        </a:rPr>
                        <a:t>0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72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38037"/>
              </p:ext>
            </p:extLst>
          </p:nvPr>
        </p:nvGraphicFramePr>
        <p:xfrm>
          <a:off x="1330779" y="954426"/>
          <a:ext cx="9478735" cy="4531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747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  <a:gridCol w="529047">
                  <a:extLst>
                    <a:ext uri="{9D8B030D-6E8A-4147-A177-3AD203B41FA5}">
                      <a16:colId xmlns:a16="http://schemas.microsoft.com/office/drawing/2014/main" val="3677672690"/>
                    </a:ext>
                  </a:extLst>
                </a:gridCol>
                <a:gridCol w="3262447">
                  <a:extLst>
                    <a:ext uri="{9D8B030D-6E8A-4147-A177-3AD203B41FA5}">
                      <a16:colId xmlns:a16="http://schemas.microsoft.com/office/drawing/2014/main" val="1591123683"/>
                    </a:ext>
                  </a:extLst>
                </a:gridCol>
                <a:gridCol w="1048295">
                  <a:extLst>
                    <a:ext uri="{9D8B030D-6E8A-4147-A177-3AD203B41FA5}">
                      <a16:colId xmlns:a16="http://schemas.microsoft.com/office/drawing/2014/main" val="154563305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846125420"/>
                    </a:ext>
                  </a:extLst>
                </a:gridCol>
              </a:tblGrid>
              <a:tr h="647425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  <a:tr h="647425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Statement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Postulate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33363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ea typeface="+mn-ea"/>
                        </a:rPr>
                        <a:t>  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r>
                        <a:rPr lang="en-US" altLang="zh-TW" sz="2800" i="1" dirty="0" smtClean="0"/>
                        <a:t> 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=</a:t>
                      </a:r>
                      <a:endParaRPr lang="zh-TW" altLang="en-US" sz="28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</a:t>
                      </a:r>
                      <a:r>
                        <a:rPr lang="en-US" altLang="zh-TW" sz="28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0)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11312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0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1" dirty="0" smtClean="0"/>
                        <a:t>y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4(b)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3642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</a:t>
                      </a:r>
                      <a:r>
                        <a:rPr lang="en-US" altLang="zh-TW" sz="2800" i="1" dirty="0" smtClean="0"/>
                        <a:t> </a:t>
                      </a:r>
                      <a:r>
                        <a:rPr lang="en-US" altLang="zh-TW" sz="2800" dirty="0" smtClean="0"/>
                        <a:t>y </a:t>
                      </a:r>
                      <a:r>
                        <a:rPr lang="en-US" altLang="zh-TW" sz="2800" dirty="0" smtClean="0">
                          <a:ea typeface="+mn-ea"/>
                        </a:rPr>
                        <a:t>·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3(b)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274759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i="1" dirty="0" smtClean="0">
                          <a:ea typeface="+mn-ea"/>
                        </a:rPr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0" dirty="0" smtClean="0">
                          <a:ea typeface="+mn-ea"/>
                        </a:rPr>
                        <a:t>0</a:t>
                      </a:r>
                      <a:endParaRPr lang="zh-TW" altLang="en-US" sz="2800" i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2(b)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09327"/>
                  </a:ext>
                </a:extLst>
              </a:tr>
              <a:tr h="647425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>
                          <a:ea typeface="+mn-ea"/>
                        </a:rPr>
                        <a:t>2(a)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8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39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2460"/>
              </p:ext>
            </p:extLst>
          </p:nvPr>
        </p:nvGraphicFramePr>
        <p:xfrm>
          <a:off x="1330780" y="954426"/>
          <a:ext cx="7226300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300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03291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52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2460"/>
              </p:ext>
            </p:extLst>
          </p:nvPr>
        </p:nvGraphicFramePr>
        <p:xfrm>
          <a:off x="1330780" y="954426"/>
          <a:ext cx="7226300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300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97928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9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2460"/>
              </p:ext>
            </p:extLst>
          </p:nvPr>
        </p:nvGraphicFramePr>
        <p:xfrm>
          <a:off x="1330780" y="954426"/>
          <a:ext cx="7226300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300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6(a): absorption </a:t>
                      </a:r>
                      <a:r>
                        <a:rPr lang="en-US" altLang="zh-TW" sz="2800" i="1" dirty="0" smtClean="0"/>
                        <a:t>x + 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/>
                        <a:t>y 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45364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53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63296"/>
              </p:ext>
            </p:extLst>
          </p:nvPr>
        </p:nvGraphicFramePr>
        <p:xfrm>
          <a:off x="1330780" y="954426"/>
          <a:ext cx="7226299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299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</a:t>
                      </a:r>
                      <a:r>
                        <a:rPr lang="en-US" altLang="zh-TW" sz="2800" baseline="0" dirty="0" smtClean="0"/>
                        <a:t>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75030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04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63296"/>
              </p:ext>
            </p:extLst>
          </p:nvPr>
        </p:nvGraphicFramePr>
        <p:xfrm>
          <a:off x="1330780" y="954426"/>
          <a:ext cx="7226299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299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</a:t>
                      </a:r>
                      <a:r>
                        <a:rPr lang="en-US" altLang="zh-TW" sz="2800" baseline="0" dirty="0" smtClean="0"/>
                        <a:t>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193841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63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63296"/>
              </p:ext>
            </p:extLst>
          </p:nvPr>
        </p:nvGraphicFramePr>
        <p:xfrm>
          <a:off x="1330780" y="954426"/>
          <a:ext cx="7226299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299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6(b): absorption</a:t>
                      </a:r>
                      <a:r>
                        <a:rPr lang="en-US" altLang="zh-TW" sz="2800" baseline="0" dirty="0" smtClean="0"/>
                        <a:t> 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· </a:t>
                      </a:r>
                      <a:r>
                        <a:rPr lang="en-US" altLang="zh-TW" sz="2800" i="0" dirty="0" smtClean="0"/>
                        <a:t>(</a:t>
                      </a:r>
                      <a:r>
                        <a:rPr lang="en-US" altLang="zh-TW" sz="2800" i="1" dirty="0" smtClean="0"/>
                        <a:t>x </a:t>
                      </a:r>
                      <a:r>
                        <a:rPr lang="en-US" altLang="zh-TW" sz="2800" dirty="0" smtClean="0"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/>
                        <a:t>y</a:t>
                      </a:r>
                      <a:r>
                        <a:rPr lang="en-US" altLang="zh-TW" sz="2800" i="0" dirty="0" smtClean="0"/>
                        <a:t>) = x</a:t>
                      </a:r>
                      <a:endParaRPr lang="zh-TW" altLang="en-US" sz="2800" i="0" dirty="0" smtClean="0"/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189607"/>
              </p:ext>
            </p:extLst>
          </p:nvPr>
        </p:nvGraphicFramePr>
        <p:xfrm>
          <a:off x="1330779" y="2123923"/>
          <a:ext cx="72263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575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34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56497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68773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27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307879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12549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95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83862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780613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10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83862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976299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66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83862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3722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53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812450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83862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363948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23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342553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952432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20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30659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376516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23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1010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380864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59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1010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764059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4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1010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78820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55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39509"/>
              </p:ext>
            </p:extLst>
          </p:nvPr>
        </p:nvGraphicFramePr>
        <p:xfrm>
          <a:off x="979715" y="954426"/>
          <a:ext cx="10187328" cy="647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7328">
                  <a:extLst>
                    <a:ext uri="{9D8B030D-6E8A-4147-A177-3AD203B41FA5}">
                      <a16:colId xmlns:a16="http://schemas.microsoft.com/office/drawing/2014/main" val="3220371371"/>
                    </a:ext>
                  </a:extLst>
                </a:gridCol>
              </a:tblGrid>
              <a:tr h="6474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THEOREM 5(a): </a:t>
                      </a:r>
                      <a:r>
                        <a:rPr lang="en-US" altLang="zh-TW" sz="2800" dirty="0" err="1" smtClean="0"/>
                        <a:t>DeMorgan</a:t>
                      </a:r>
                      <a:r>
                        <a:rPr lang="en-US" altLang="zh-TW" sz="2800" dirty="0" smtClean="0"/>
                        <a:t> 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bg1"/>
                          </a:solidFill>
                        </a:rPr>
                        <a:t>)’</a:t>
                      </a:r>
                      <a:r>
                        <a:rPr lang="zh-TW" altLang="en-US" sz="2800" i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TW" sz="2800" i="0" baseline="0" dirty="0" smtClean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bg1"/>
                          </a:solidFill>
                        </a:rPr>
                        <a:t>y’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65807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10104"/>
              </p:ext>
            </p:extLst>
          </p:nvPr>
        </p:nvGraphicFramePr>
        <p:xfrm>
          <a:off x="979715" y="2368851"/>
          <a:ext cx="586195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566687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·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 y</a:t>
                      </a:r>
                      <a:r>
                        <a:rPr lang="en-US" altLang="zh-TW" sz="2800" i="0" dirty="0" smtClean="0">
                          <a:solidFill>
                            <a:schemeClr val="tx1"/>
                          </a:solidFill>
                        </a:rPr>
                        <a:t>)’</a:t>
                      </a:r>
                      <a:endParaRPr lang="zh-TW" altLang="en-US" sz="28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468473"/>
              </p:ext>
            </p:extLst>
          </p:nvPr>
        </p:nvGraphicFramePr>
        <p:xfrm>
          <a:off x="7176408" y="2368851"/>
          <a:ext cx="399063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656">
                  <a:extLst>
                    <a:ext uri="{9D8B030D-6E8A-4147-A177-3AD203B41FA5}">
                      <a16:colId xmlns:a16="http://schemas.microsoft.com/office/drawing/2014/main" val="414506866"/>
                    </a:ext>
                  </a:extLst>
                </a:gridCol>
                <a:gridCol w="1059656">
                  <a:extLst>
                    <a:ext uri="{9D8B030D-6E8A-4147-A177-3AD203B41FA5}">
                      <a16:colId xmlns:a16="http://schemas.microsoft.com/office/drawing/2014/main" val="1993249176"/>
                    </a:ext>
                  </a:extLst>
                </a:gridCol>
                <a:gridCol w="1871323">
                  <a:extLst>
                    <a:ext uri="{9D8B030D-6E8A-4147-A177-3AD203B41FA5}">
                      <a16:colId xmlns:a16="http://schemas.microsoft.com/office/drawing/2014/main" val="21217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x’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  <a:ea typeface="+mn-ea"/>
                        </a:rPr>
                        <a:t>+ </a:t>
                      </a:r>
                      <a:r>
                        <a:rPr lang="en-US" altLang="zh-TW" sz="2800" i="1" dirty="0" smtClean="0">
                          <a:solidFill>
                            <a:schemeClr val="tx1"/>
                          </a:solidFill>
                        </a:rPr>
                        <a:t>y’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74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0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5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6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69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840922"/>
            <a:ext cx="12192000" cy="5232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1"/>
                </a:solidFill>
              </a:rPr>
              <a:t>The operator precedence for evaluating Boolean expression is:</a:t>
            </a:r>
            <a:endParaRPr lang="zh-TW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400550" y="1633563"/>
            <a:ext cx="2759986" cy="26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arenR"/>
            </a:pPr>
            <a:r>
              <a:rPr lang="en-US" altLang="zh-TW" sz="2800" dirty="0" smtClean="0"/>
              <a:t> Parentheses</a:t>
            </a:r>
            <a:endParaRPr lang="en-US" altLang="zh-TW" sz="2800" dirty="0"/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arenR"/>
            </a:pPr>
            <a:r>
              <a:rPr lang="en-US" altLang="zh-TW" sz="2800" dirty="0"/>
              <a:t> NOT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arenR"/>
            </a:pPr>
            <a:r>
              <a:rPr lang="en-US" altLang="zh-TW" sz="2800" dirty="0"/>
              <a:t> AND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+mj-lt"/>
              <a:buAutoNum type="arabicParenR"/>
            </a:pPr>
            <a:r>
              <a:rPr lang="en-US" altLang="zh-TW" sz="2800" dirty="0"/>
              <a:t> </a:t>
            </a:r>
            <a:r>
              <a:rPr lang="en-US" altLang="zh-TW" sz="2800" dirty="0" smtClean="0"/>
              <a:t>OR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27571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	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251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	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7583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	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8616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yz</a:t>
            </a:r>
            <a:endParaRPr lang="en-US" altLang="zh-TW" sz="2800" dirty="0" smtClean="0"/>
          </a:p>
          <a:p>
            <a:r>
              <a:rPr lang="en-US" altLang="zh-TW" sz="2800" dirty="0" smtClean="0"/>
              <a:t>	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4139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(x’ + x)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3086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(x’ + x)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</a:t>
            </a:r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6043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(x’ + x)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(y’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smtClean="0"/>
              <a:t>y)z</a:t>
            </a:r>
          </a:p>
          <a:p>
            <a:r>
              <a:rPr lang="en-US" altLang="zh-TW" sz="2800" dirty="0"/>
              <a:t>	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8160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Using the basic theorems and postulates of Boolean algebra, simplify the following Boolean expression: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xyz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+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xy’z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9222" y="2182977"/>
            <a:ext cx="4676280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 smtClean="0"/>
              <a:t>F</a:t>
            </a:r>
            <a:r>
              <a:rPr lang="en-US" altLang="zh-TW" sz="2800" dirty="0" smtClean="0"/>
              <a:t>	=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xyz + </a:t>
            </a:r>
            <a:r>
              <a:rPr lang="en-US" altLang="zh-TW" sz="2800" dirty="0" err="1"/>
              <a:t>x’yz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x’y’z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(x </a:t>
            </a:r>
            <a:r>
              <a:rPr lang="en-US" altLang="zh-TW" sz="2800" dirty="0"/>
              <a:t>+ x</a:t>
            </a:r>
            <a:r>
              <a:rPr lang="en-US" altLang="zh-TW" sz="2800" dirty="0" smtClean="0"/>
              <a:t>’)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 smtClean="0"/>
              <a:t>xy’z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yz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err="1"/>
              <a:t>xy’z</a:t>
            </a:r>
            <a:endParaRPr lang="zh-TW" altLang="en-US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/>
              <a:t>x’y’z</a:t>
            </a:r>
            <a:r>
              <a:rPr lang="en-US" altLang="zh-TW" sz="2800" dirty="0"/>
              <a:t> + </a:t>
            </a:r>
            <a:r>
              <a:rPr lang="en-US" altLang="zh-TW" sz="2800" dirty="0" err="1" smtClean="0"/>
              <a:t>xy’z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yz</a:t>
            </a:r>
            <a:endParaRPr lang="en-US" altLang="zh-TW" sz="2800" dirty="0" smtClean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(x’ + x)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err="1" smtClean="0"/>
              <a:t>y’z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err="1"/>
              <a:t>yz</a:t>
            </a:r>
            <a:endParaRPr lang="en-US" altLang="zh-TW" sz="2800" dirty="0"/>
          </a:p>
          <a:p>
            <a:r>
              <a:rPr lang="en-US" altLang="zh-TW" sz="2800" dirty="0" smtClean="0"/>
              <a:t>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(y’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 smtClean="0"/>
              <a:t>y)z</a:t>
            </a:r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z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6816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302856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70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76647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 flipH="1">
            <a:off x="5984421" y="2588079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411927" y="232646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0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4519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625031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411926" y="284968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1 = 1 </a:t>
            </a:r>
            <a:endParaRPr lang="zh-TW" altLang="en-US" sz="2800" dirty="0"/>
          </a:p>
        </p:txBody>
      </p:sp>
      <p:cxnSp>
        <p:nvCxnSpPr>
          <p:cNvPr id="11" name="直線單箭頭接點 10"/>
          <p:cNvCxnSpPr/>
          <p:nvPr/>
        </p:nvCxnSpPr>
        <p:spPr>
          <a:xfrm flipH="1">
            <a:off x="5981700" y="3078642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2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38317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411925" y="337290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0 · 0 = 0 </a:t>
            </a:r>
            <a:endParaRPr lang="zh-TW" altLang="en-US" sz="2800" dirty="0"/>
          </a:p>
        </p:txBody>
      </p:sp>
      <p:cxnSp>
        <p:nvCxnSpPr>
          <p:cNvPr id="12" name="直線單箭頭接點 11"/>
          <p:cNvCxnSpPr/>
          <p:nvPr/>
        </p:nvCxnSpPr>
        <p:spPr>
          <a:xfrm flipH="1">
            <a:off x="5984421" y="361889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77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49872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 flipH="1">
            <a:off x="5984419" y="4157739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411925" y="389612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0’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0 · 1 = 0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4438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212250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6411924" y="441934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· 1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· 0 = 0 </a:t>
            </a:r>
            <a:endParaRPr lang="zh-TW" altLang="en-US" sz="2800" dirty="0"/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5981698" y="4648302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2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31233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6411923" y="494256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1’ · 0’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· 1 · 1 = 0 </a:t>
            </a:r>
            <a:endParaRPr lang="zh-TW" altLang="en-US" sz="2800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5984419" y="518855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54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123767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6411924" y="546578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0 = 0 · 0 · 0 = 0 </a:t>
            </a:r>
            <a:endParaRPr lang="zh-TW" altLang="en-US" sz="2800" dirty="0"/>
          </a:p>
        </p:txBody>
      </p:sp>
      <p:cxnSp>
        <p:nvCxnSpPr>
          <p:cNvPr id="21" name="直線單箭頭接點 20"/>
          <p:cNvCxnSpPr/>
          <p:nvPr/>
        </p:nvCxnSpPr>
        <p:spPr>
          <a:xfrm flipH="1" flipV="1">
            <a:off x="5981698" y="5694742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45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22954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6411923" y="598900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· 0 · 1 = 0 </a:t>
            </a:r>
            <a:endParaRPr lang="zh-TW" altLang="en-US" sz="2800" dirty="0"/>
          </a:p>
        </p:txBody>
      </p:sp>
      <p:cxnSp>
        <p:nvCxnSpPr>
          <p:cNvPr id="22" name="直線單箭頭接點 21"/>
          <p:cNvCxnSpPr/>
          <p:nvPr/>
        </p:nvCxnSpPr>
        <p:spPr>
          <a:xfrm flipH="1">
            <a:off x="5984419" y="623499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33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">
            <a:extLst>
              <a:ext uri="{FF2B5EF4-FFF2-40B4-BE49-F238E27FC236}">
                <a16:creationId xmlns:a16="http://schemas.microsoft.com/office/drawing/2014/main" id="{FFBC00E6-E23C-4584-A068-99E71656F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184" y="1108755"/>
            <a:ext cx="109471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Develop a truth table for the Boolean expression  </a:t>
            </a:r>
            <a:r>
              <a:rPr lang="en-US" altLang="zh-TW" i="1" dirty="0" smtClean="0">
                <a:latin typeface="+mn-lt"/>
                <a:ea typeface="新細明體" panose="02020500000000000000" pitchFamily="18" charset="-120"/>
              </a:rPr>
              <a:t>F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= </a:t>
            </a:r>
            <a:r>
              <a:rPr lang="en-US" altLang="zh-TW" dirty="0" err="1" smtClean="0">
                <a:latin typeface="+mn-lt"/>
                <a:ea typeface="新細明體" panose="02020500000000000000" pitchFamily="18" charset="-120"/>
              </a:rPr>
              <a:t>x’y’z</a:t>
            </a:r>
            <a:r>
              <a:rPr lang="en-US" altLang="zh-TW" dirty="0" smtClean="0">
                <a:latin typeface="+mn-lt"/>
                <a:ea typeface="新細明體" panose="02020500000000000000" pitchFamily="18" charset="-120"/>
              </a:rPr>
              <a:t> </a:t>
            </a:r>
            <a:endParaRPr lang="en-US" altLang="zh-TW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46307"/>
            <a:ext cx="12192000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1"/>
                </a:solidFill>
              </a:rPr>
              <a:t>Practice Exercise </a:t>
            </a:r>
            <a:r>
              <a:rPr lang="en-US" altLang="zh-TW" sz="3200" b="1" dirty="0" smtClean="0">
                <a:solidFill>
                  <a:schemeClr val="bg1"/>
                </a:solidFill>
              </a:rPr>
              <a:t>2.2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44928"/>
              </p:ext>
            </p:extLst>
          </p:nvPr>
        </p:nvGraphicFramePr>
        <p:xfrm>
          <a:off x="1571282" y="1809648"/>
          <a:ext cx="430348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872">
                  <a:extLst>
                    <a:ext uri="{9D8B030D-6E8A-4147-A177-3AD203B41FA5}">
                      <a16:colId xmlns:a16="http://schemas.microsoft.com/office/drawing/2014/main" val="697134103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516035971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3904536576"/>
                    </a:ext>
                  </a:extLst>
                </a:gridCol>
                <a:gridCol w="1075872">
                  <a:extLst>
                    <a:ext uri="{9D8B030D-6E8A-4147-A177-3AD203B41FA5}">
                      <a16:colId xmlns:a16="http://schemas.microsoft.com/office/drawing/2014/main" val="2167940030"/>
                    </a:ext>
                  </a:extLst>
                </a:gridCol>
              </a:tblGrid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920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55097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66114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442439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5392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03808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481490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727675"/>
                  </a:ext>
                </a:extLst>
              </a:tr>
              <a:tr h="4008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80206"/>
                  </a:ext>
                </a:extLst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6411923" y="5989009"/>
            <a:ext cx="4155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/>
              <a:t>= 1’ · 1’ </a:t>
            </a:r>
            <a:r>
              <a:rPr lang="en-US" altLang="zh-TW" sz="2800" dirty="0"/>
              <a:t>· </a:t>
            </a:r>
            <a:r>
              <a:rPr lang="en-US" altLang="zh-TW" sz="2800" dirty="0" smtClean="0"/>
              <a:t>1 = 0 · 0 · 1 = 0 </a:t>
            </a:r>
            <a:endParaRPr lang="zh-TW" altLang="en-US" sz="2800" dirty="0"/>
          </a:p>
        </p:txBody>
      </p:sp>
      <p:cxnSp>
        <p:nvCxnSpPr>
          <p:cNvPr id="22" name="直線單箭頭接點 21"/>
          <p:cNvCxnSpPr/>
          <p:nvPr/>
        </p:nvCxnSpPr>
        <p:spPr>
          <a:xfrm flipH="1">
            <a:off x="5984419" y="6234997"/>
            <a:ext cx="228600" cy="0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3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249C3A0-AD24-437A-8218-38F21A736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00" y="103370"/>
            <a:ext cx="220464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3200" dirty="0" smtClean="0">
                <a:solidFill>
                  <a:srgbClr val="C00000"/>
                </a:solidFill>
                <a:latin typeface="+mn-lt"/>
              </a:rPr>
              <a:t>Logic </a:t>
            </a:r>
            <a:r>
              <a:rPr lang="en-US" altLang="zh-TW" sz="3200" dirty="0">
                <a:solidFill>
                  <a:srgbClr val="C00000"/>
                </a:solidFill>
                <a:latin typeface="+mn-lt"/>
              </a:rPr>
              <a:t>gates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AA162B-4DF8-4EC6-BF1A-989560A9B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85" y="1077686"/>
            <a:ext cx="10849676" cy="1508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252092"/>
              </p:ext>
            </p:extLst>
          </p:nvPr>
        </p:nvGraphicFramePr>
        <p:xfrm>
          <a:off x="618785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·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040902"/>
              </p:ext>
            </p:extLst>
          </p:nvPr>
        </p:nvGraphicFramePr>
        <p:xfrm>
          <a:off x="4680913" y="2794205"/>
          <a:ext cx="3405414" cy="22860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4147989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 + y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6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56169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29566"/>
              </p:ext>
            </p:extLst>
          </p:nvPr>
        </p:nvGraphicFramePr>
        <p:xfrm>
          <a:off x="8743042" y="2794205"/>
          <a:ext cx="2270276" cy="13716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35138">
                  <a:extLst>
                    <a:ext uri="{9D8B030D-6E8A-4147-A177-3AD203B41FA5}">
                      <a16:colId xmlns:a16="http://schemas.microsoft.com/office/drawing/2014/main" val="72506868"/>
                    </a:ext>
                  </a:extLst>
                </a:gridCol>
                <a:gridCol w="1135138">
                  <a:extLst>
                    <a:ext uri="{9D8B030D-6E8A-4147-A177-3AD203B41FA5}">
                      <a16:colId xmlns:a16="http://schemas.microsoft.com/office/drawing/2014/main" val="3752766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x’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676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5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27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39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894</TotalTime>
  <Words>4948</Words>
  <Application>Microsoft Office PowerPoint</Application>
  <PresentationFormat>寬螢幕</PresentationFormat>
  <Paragraphs>1931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7" baseType="lpstr">
      <vt:lpstr>新細明體</vt:lpstr>
      <vt:lpstr>Arial</vt:lpstr>
      <vt:lpstr>Symbol</vt:lpstr>
      <vt:lpstr>Times New Roman</vt:lpstr>
      <vt:lpstr>Tw Cen MT</vt:lpstr>
      <vt:lpstr>Wingdings</vt:lpstr>
      <vt:lpstr>小水滴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Two-valued Boolean Algebra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55</cp:revision>
  <dcterms:created xsi:type="dcterms:W3CDTF">2021-10-12T01:05:25Z</dcterms:created>
  <dcterms:modified xsi:type="dcterms:W3CDTF">2021-10-15T02:05:55Z</dcterms:modified>
</cp:coreProperties>
</file>