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6" r:id="rId3"/>
    <p:sldId id="261" r:id="rId4"/>
    <p:sldId id="258" r:id="rId5"/>
    <p:sldId id="262" r:id="rId6"/>
    <p:sldId id="268" r:id="rId7"/>
    <p:sldId id="267" r:id="rId8"/>
    <p:sldId id="264" r:id="rId9"/>
    <p:sldId id="263" r:id="rId10"/>
    <p:sldId id="265" r:id="rId11"/>
    <p:sldId id="269" r:id="rId12"/>
    <p:sldId id="266" r:id="rId13"/>
    <p:sldId id="270" r:id="rId14"/>
    <p:sldId id="313" r:id="rId15"/>
    <p:sldId id="271" r:id="rId16"/>
    <p:sldId id="272" r:id="rId17"/>
    <p:sldId id="274" r:id="rId18"/>
    <p:sldId id="283" r:id="rId19"/>
    <p:sldId id="278" r:id="rId20"/>
    <p:sldId id="273" r:id="rId21"/>
    <p:sldId id="277" r:id="rId22"/>
    <p:sldId id="286" r:id="rId23"/>
    <p:sldId id="276" r:id="rId24"/>
    <p:sldId id="284" r:id="rId25"/>
    <p:sldId id="280" r:id="rId26"/>
    <p:sldId id="279" r:id="rId27"/>
    <p:sldId id="275" r:id="rId28"/>
    <p:sldId id="285" r:id="rId29"/>
    <p:sldId id="281" r:id="rId30"/>
    <p:sldId id="289" r:id="rId31"/>
    <p:sldId id="294" r:id="rId32"/>
    <p:sldId id="290" r:id="rId33"/>
    <p:sldId id="292" r:id="rId34"/>
    <p:sldId id="293" r:id="rId35"/>
    <p:sldId id="443" r:id="rId36"/>
    <p:sldId id="295" r:id="rId37"/>
    <p:sldId id="287" r:id="rId38"/>
    <p:sldId id="297" r:id="rId39"/>
    <p:sldId id="296" r:id="rId40"/>
    <p:sldId id="298" r:id="rId41"/>
    <p:sldId id="282" r:id="rId42"/>
    <p:sldId id="299" r:id="rId43"/>
    <p:sldId id="300" r:id="rId44"/>
    <p:sldId id="288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444" r:id="rId53"/>
    <p:sldId id="308" r:id="rId54"/>
    <p:sldId id="309" r:id="rId55"/>
    <p:sldId id="310" r:id="rId56"/>
    <p:sldId id="311" r:id="rId57"/>
    <p:sldId id="312" r:id="rId58"/>
    <p:sldId id="315" r:id="rId59"/>
    <p:sldId id="316" r:id="rId60"/>
    <p:sldId id="314" r:id="rId61"/>
    <p:sldId id="317" r:id="rId62"/>
    <p:sldId id="319" r:id="rId63"/>
    <p:sldId id="318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35" r:id="rId73"/>
    <p:sldId id="337" r:id="rId74"/>
    <p:sldId id="338" r:id="rId75"/>
    <p:sldId id="339" r:id="rId76"/>
    <p:sldId id="340" r:id="rId77"/>
    <p:sldId id="347" r:id="rId78"/>
    <p:sldId id="348" r:id="rId79"/>
    <p:sldId id="342" r:id="rId80"/>
    <p:sldId id="343" r:id="rId81"/>
    <p:sldId id="344" r:id="rId82"/>
    <p:sldId id="345" r:id="rId83"/>
    <p:sldId id="346" r:id="rId84"/>
    <p:sldId id="349" r:id="rId85"/>
    <p:sldId id="350" r:id="rId86"/>
    <p:sldId id="446" r:id="rId87"/>
    <p:sldId id="447" r:id="rId88"/>
    <p:sldId id="448" r:id="rId89"/>
    <p:sldId id="450" r:id="rId90"/>
    <p:sldId id="449" r:id="rId91"/>
    <p:sldId id="451" r:id="rId92"/>
    <p:sldId id="453" r:id="rId93"/>
    <p:sldId id="452" r:id="rId94"/>
    <p:sldId id="454" r:id="rId95"/>
    <p:sldId id="328" r:id="rId96"/>
    <p:sldId id="329" r:id="rId97"/>
    <p:sldId id="456" r:id="rId98"/>
    <p:sldId id="457" r:id="rId99"/>
    <p:sldId id="458" r:id="rId100"/>
    <p:sldId id="460" r:id="rId101"/>
    <p:sldId id="459" r:id="rId102"/>
    <p:sldId id="462" r:id="rId103"/>
    <p:sldId id="330" r:id="rId104"/>
    <p:sldId id="331" r:id="rId105"/>
    <p:sldId id="332" r:id="rId106"/>
    <p:sldId id="333" r:id="rId107"/>
    <p:sldId id="461" r:id="rId108"/>
    <p:sldId id="352" r:id="rId109"/>
    <p:sldId id="351" r:id="rId110"/>
    <p:sldId id="353" r:id="rId111"/>
    <p:sldId id="354" r:id="rId112"/>
    <p:sldId id="356" r:id="rId113"/>
    <p:sldId id="355" r:id="rId114"/>
    <p:sldId id="357" r:id="rId115"/>
    <p:sldId id="359" r:id="rId116"/>
    <p:sldId id="358" r:id="rId117"/>
    <p:sldId id="365" r:id="rId118"/>
    <p:sldId id="360" r:id="rId119"/>
    <p:sldId id="362" r:id="rId120"/>
    <p:sldId id="364" r:id="rId121"/>
    <p:sldId id="363" r:id="rId122"/>
    <p:sldId id="366" r:id="rId123"/>
    <p:sldId id="367" r:id="rId124"/>
    <p:sldId id="368" r:id="rId125"/>
    <p:sldId id="372" r:id="rId126"/>
    <p:sldId id="373" r:id="rId127"/>
    <p:sldId id="374" r:id="rId128"/>
    <p:sldId id="361" r:id="rId129"/>
    <p:sldId id="375" r:id="rId130"/>
    <p:sldId id="379" r:id="rId131"/>
    <p:sldId id="381" r:id="rId132"/>
    <p:sldId id="380" r:id="rId133"/>
    <p:sldId id="383" r:id="rId134"/>
    <p:sldId id="384" r:id="rId135"/>
    <p:sldId id="385" r:id="rId136"/>
    <p:sldId id="386" r:id="rId137"/>
    <p:sldId id="387" r:id="rId138"/>
    <p:sldId id="395" r:id="rId139"/>
    <p:sldId id="391" r:id="rId140"/>
    <p:sldId id="396" r:id="rId141"/>
    <p:sldId id="392" r:id="rId142"/>
    <p:sldId id="397" r:id="rId143"/>
    <p:sldId id="398" r:id="rId144"/>
    <p:sldId id="399" r:id="rId145"/>
    <p:sldId id="393" r:id="rId146"/>
    <p:sldId id="400" r:id="rId147"/>
    <p:sldId id="401" r:id="rId148"/>
    <p:sldId id="402" r:id="rId149"/>
    <p:sldId id="403" r:id="rId150"/>
    <p:sldId id="407" r:id="rId151"/>
    <p:sldId id="404" r:id="rId152"/>
    <p:sldId id="406" r:id="rId153"/>
    <p:sldId id="405" r:id="rId154"/>
    <p:sldId id="408" r:id="rId155"/>
    <p:sldId id="409" r:id="rId156"/>
    <p:sldId id="410" r:id="rId157"/>
    <p:sldId id="411" r:id="rId158"/>
    <p:sldId id="415" r:id="rId159"/>
    <p:sldId id="414" r:id="rId160"/>
    <p:sldId id="413" r:id="rId161"/>
    <p:sldId id="412" r:id="rId162"/>
    <p:sldId id="416" r:id="rId163"/>
    <p:sldId id="417" r:id="rId164"/>
    <p:sldId id="418" r:id="rId165"/>
    <p:sldId id="421" r:id="rId166"/>
    <p:sldId id="427" r:id="rId167"/>
    <p:sldId id="426" r:id="rId168"/>
    <p:sldId id="425" r:id="rId169"/>
    <p:sldId id="424" r:id="rId170"/>
    <p:sldId id="423" r:id="rId171"/>
    <p:sldId id="428" r:id="rId172"/>
    <p:sldId id="422" r:id="rId173"/>
    <p:sldId id="442" r:id="rId174"/>
    <p:sldId id="429" r:id="rId175"/>
    <p:sldId id="430" r:id="rId176"/>
    <p:sldId id="431" r:id="rId177"/>
    <p:sldId id="432" r:id="rId178"/>
    <p:sldId id="433" r:id="rId179"/>
    <p:sldId id="436" r:id="rId180"/>
    <p:sldId id="435" r:id="rId181"/>
    <p:sldId id="437" r:id="rId182"/>
    <p:sldId id="438" r:id="rId183"/>
    <p:sldId id="439" r:id="rId184"/>
    <p:sldId id="440" r:id="rId185"/>
    <p:sldId id="441" r:id="rId186"/>
    <p:sldId id="455" r:id="rId18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FF9900"/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中等深淺樣式 3 - 輔色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中等深淺樣式 3 - 輔色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tableStyles" Target="tableStyles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viewProps" Target="viewProp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0" Type="http://schemas.openxmlformats.org/officeDocument/2006/relationships/theme" Target="theme/theme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10/9/2021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10/9/2021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10/9/2021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10/9/2021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10/9/2021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10/9/2021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3"/>
          <p:cNvSpPr txBox="1">
            <a:spLocks/>
          </p:cNvSpPr>
          <p:nvPr/>
        </p:nvSpPr>
        <p:spPr>
          <a:xfrm>
            <a:off x="0" y="2116476"/>
            <a:ext cx="12192000" cy="1385297"/>
          </a:xfrm>
          <a:prstGeom prst="rect">
            <a:avLst/>
          </a:prstGeom>
          <a:solidFill>
            <a:srgbClr val="FF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4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Lecture 2</a:t>
            </a:r>
          </a:p>
          <a:p>
            <a:r>
              <a:rPr lang="en-US" altLang="zh-TW" sz="44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Binary Numbers</a:t>
            </a:r>
            <a:endParaRPr lang="en-US" altLang="zh-TW" sz="4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副標題 4"/>
          <p:cNvSpPr>
            <a:spLocks noGrp="1"/>
          </p:cNvSpPr>
          <p:nvPr>
            <p:ph type="subTitle" idx="1"/>
          </p:nvPr>
        </p:nvSpPr>
        <p:spPr>
          <a:xfrm>
            <a:off x="0" y="3598523"/>
            <a:ext cx="12191999" cy="726897"/>
          </a:xfrm>
          <a:solidFill>
            <a:schemeClr val="tx1">
              <a:lumMod val="75000"/>
              <a:lumOff val="25000"/>
            </a:schemeClr>
          </a:solidFill>
        </p:spPr>
        <p:txBody>
          <a:bodyPr anchor="ctr">
            <a:normAutofit fontScale="92500" lnSpcReduction="10000"/>
          </a:bodyPr>
          <a:lstStyle/>
          <a:p>
            <a:r>
              <a:rPr lang="en-US" altLang="zh-TW" sz="4000" b="1" dirty="0" smtClean="0">
                <a:solidFill>
                  <a:schemeClr val="bg1"/>
                </a:solidFill>
                <a:latin typeface="Tw Cen MT" panose="020B0602020104020603" pitchFamily="34" charset="0"/>
                <a:ea typeface="微軟正黑體" panose="020B0604030504040204" pitchFamily="34" charset="-120"/>
              </a:rPr>
              <a:t>Unsigned/Singed </a:t>
            </a:r>
            <a:r>
              <a:rPr lang="en-US" altLang="zh-TW" sz="4000" b="1" dirty="0" smtClean="0">
                <a:solidFill>
                  <a:schemeClr val="bg1"/>
                </a:solidFill>
                <a:latin typeface="Tw Cen MT" panose="020B0602020104020603" pitchFamily="34" charset="0"/>
                <a:ea typeface="微軟正黑體" panose="020B0604030504040204" pitchFamily="34" charset="-120"/>
              </a:rPr>
              <a:t>number</a:t>
            </a:r>
          </a:p>
        </p:txBody>
      </p:sp>
    </p:spTree>
    <p:extLst>
      <p:ext uri="{BB962C8B-B14F-4D97-AF65-F5344CB8AC3E}">
        <p14:creationId xmlns:p14="http://schemas.microsoft.com/office/powerpoint/2010/main" val="3600466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384394"/>
              </p:ext>
            </p:extLst>
          </p:nvPr>
        </p:nvGraphicFramePr>
        <p:xfrm>
          <a:off x="-1" y="844332"/>
          <a:ext cx="12192000" cy="1621283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98826822"/>
                    </a:ext>
                  </a:extLst>
                </a:gridCol>
              </a:tblGrid>
              <a:tr h="635109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Number in a Computer</a:t>
                      </a:r>
                      <a:endParaRPr lang="zh-TW" altLang="en-US" sz="3200" dirty="0" smtClean="0"/>
                    </a:p>
                  </a:txBody>
                  <a:tcPr anchor="ctr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  <a:tr h="4930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Unsigned integers</a:t>
                      </a:r>
                      <a:endParaRPr lang="zh-TW" altLang="en-US" sz="2400" b="1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Signed integers</a:t>
                      </a:r>
                      <a:endParaRPr lang="zh-TW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435198474"/>
                  </a:ext>
                </a:extLst>
              </a:tr>
              <a:tr h="4930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Integers have positive values</a:t>
                      </a:r>
                      <a:endParaRPr lang="zh-TW" altLang="en-US" sz="2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Integers can be positive or negative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0861978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8271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0367744"/>
              </p:ext>
            </p:extLst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Unsigned Integer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7951322"/>
              </p:ext>
            </p:extLst>
          </p:nvPr>
        </p:nvGraphicFramePr>
        <p:xfrm>
          <a:off x="1599001" y="2613780"/>
          <a:ext cx="8466365" cy="11662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0005">
                  <a:extLst>
                    <a:ext uri="{9D8B030D-6E8A-4147-A177-3AD203B41FA5}">
                      <a16:colId xmlns:a16="http://schemas.microsoft.com/office/drawing/2014/main" val="428218296"/>
                    </a:ext>
                  </a:extLst>
                </a:gridCol>
                <a:gridCol w="847045">
                  <a:extLst>
                    <a:ext uri="{9D8B030D-6E8A-4147-A177-3AD203B41FA5}">
                      <a16:colId xmlns:a16="http://schemas.microsoft.com/office/drawing/2014/main" val="1065413873"/>
                    </a:ext>
                  </a:extLst>
                </a:gridCol>
                <a:gridCol w="847045">
                  <a:extLst>
                    <a:ext uri="{9D8B030D-6E8A-4147-A177-3AD203B41FA5}">
                      <a16:colId xmlns:a16="http://schemas.microsoft.com/office/drawing/2014/main" val="1440377133"/>
                    </a:ext>
                  </a:extLst>
                </a:gridCol>
                <a:gridCol w="847045">
                  <a:extLst>
                    <a:ext uri="{9D8B030D-6E8A-4147-A177-3AD203B41FA5}">
                      <a16:colId xmlns:a16="http://schemas.microsoft.com/office/drawing/2014/main" val="222121505"/>
                    </a:ext>
                  </a:extLst>
                </a:gridCol>
                <a:gridCol w="847045">
                  <a:extLst>
                    <a:ext uri="{9D8B030D-6E8A-4147-A177-3AD203B41FA5}">
                      <a16:colId xmlns:a16="http://schemas.microsoft.com/office/drawing/2014/main" val="1722118222"/>
                    </a:ext>
                  </a:extLst>
                </a:gridCol>
                <a:gridCol w="847045">
                  <a:extLst>
                    <a:ext uri="{9D8B030D-6E8A-4147-A177-3AD203B41FA5}">
                      <a16:colId xmlns:a16="http://schemas.microsoft.com/office/drawing/2014/main" val="1336707926"/>
                    </a:ext>
                  </a:extLst>
                </a:gridCol>
                <a:gridCol w="847045">
                  <a:extLst>
                    <a:ext uri="{9D8B030D-6E8A-4147-A177-3AD203B41FA5}">
                      <a16:colId xmlns:a16="http://schemas.microsoft.com/office/drawing/2014/main" val="1269832277"/>
                    </a:ext>
                  </a:extLst>
                </a:gridCol>
                <a:gridCol w="847045">
                  <a:extLst>
                    <a:ext uri="{9D8B030D-6E8A-4147-A177-3AD203B41FA5}">
                      <a16:colId xmlns:a16="http://schemas.microsoft.com/office/drawing/2014/main" val="1836531013"/>
                    </a:ext>
                  </a:extLst>
                </a:gridCol>
                <a:gridCol w="847045">
                  <a:extLst>
                    <a:ext uri="{9D8B030D-6E8A-4147-A177-3AD203B41FA5}">
                      <a16:colId xmlns:a16="http://schemas.microsoft.com/office/drawing/2014/main" val="1927441466"/>
                    </a:ext>
                  </a:extLst>
                </a:gridCol>
              </a:tblGrid>
              <a:tr h="583142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b="1" dirty="0" smtClean="0">
                          <a:solidFill>
                            <a:srgbClr val="C00000"/>
                          </a:solidFill>
                        </a:rPr>
                        <a:t>Weight</a:t>
                      </a:r>
                      <a:endParaRPr lang="zh-TW" altLang="en-US" sz="24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4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7</a:t>
                      </a:r>
                      <a:endParaRPr kumimoji="0" lang="zh-TW" altLang="en-US" sz="24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4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6</a:t>
                      </a:r>
                      <a:endParaRPr kumimoji="0" lang="zh-TW" altLang="en-US" sz="24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4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5</a:t>
                      </a:r>
                      <a:endParaRPr kumimoji="0" lang="zh-TW" altLang="en-US" sz="24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4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4</a:t>
                      </a:r>
                      <a:endParaRPr kumimoji="0" lang="zh-TW" altLang="en-US" sz="24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4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3</a:t>
                      </a:r>
                      <a:endParaRPr kumimoji="0" lang="zh-TW" altLang="en-US" sz="24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4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endParaRPr kumimoji="0" lang="zh-TW" altLang="en-US" sz="24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4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24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r>
                        <a:rPr lang="en-US" altLang="zh-TW" sz="2400" baseline="30000" dirty="0" smtClean="0"/>
                        <a:t>0</a:t>
                      </a:r>
                      <a:endParaRPr lang="zh-TW" altLang="en-US" sz="2400" baseline="30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0793884"/>
                  </a:ext>
                </a:extLst>
              </a:tr>
              <a:tr h="583142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b="1" dirty="0" smtClean="0">
                          <a:solidFill>
                            <a:srgbClr val="C00000"/>
                          </a:solidFill>
                        </a:rPr>
                        <a:t>Coefficient</a:t>
                      </a:r>
                      <a:endParaRPr lang="zh-TW" altLang="en-US" sz="24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6224361"/>
                  </a:ext>
                </a:extLst>
              </a:tr>
            </a:tbl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3339194" y="1754223"/>
            <a:ext cx="24929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solidFill>
                  <a:schemeClr val="accent5">
                    <a:lumMod val="50000"/>
                  </a:schemeClr>
                </a:solidFill>
              </a:rPr>
              <a:t>8-bit Example</a:t>
            </a:r>
            <a:endParaRPr lang="zh-TW" altLang="en-US" sz="3200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8879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0367744"/>
              </p:ext>
            </p:extLst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Unsigned Integer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7951322"/>
              </p:ext>
            </p:extLst>
          </p:nvPr>
        </p:nvGraphicFramePr>
        <p:xfrm>
          <a:off x="1599001" y="2613780"/>
          <a:ext cx="8466365" cy="11662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0005">
                  <a:extLst>
                    <a:ext uri="{9D8B030D-6E8A-4147-A177-3AD203B41FA5}">
                      <a16:colId xmlns:a16="http://schemas.microsoft.com/office/drawing/2014/main" val="428218296"/>
                    </a:ext>
                  </a:extLst>
                </a:gridCol>
                <a:gridCol w="847045">
                  <a:extLst>
                    <a:ext uri="{9D8B030D-6E8A-4147-A177-3AD203B41FA5}">
                      <a16:colId xmlns:a16="http://schemas.microsoft.com/office/drawing/2014/main" val="1065413873"/>
                    </a:ext>
                  </a:extLst>
                </a:gridCol>
                <a:gridCol w="847045">
                  <a:extLst>
                    <a:ext uri="{9D8B030D-6E8A-4147-A177-3AD203B41FA5}">
                      <a16:colId xmlns:a16="http://schemas.microsoft.com/office/drawing/2014/main" val="1440377133"/>
                    </a:ext>
                  </a:extLst>
                </a:gridCol>
                <a:gridCol w="847045">
                  <a:extLst>
                    <a:ext uri="{9D8B030D-6E8A-4147-A177-3AD203B41FA5}">
                      <a16:colId xmlns:a16="http://schemas.microsoft.com/office/drawing/2014/main" val="222121505"/>
                    </a:ext>
                  </a:extLst>
                </a:gridCol>
                <a:gridCol w="847045">
                  <a:extLst>
                    <a:ext uri="{9D8B030D-6E8A-4147-A177-3AD203B41FA5}">
                      <a16:colId xmlns:a16="http://schemas.microsoft.com/office/drawing/2014/main" val="1722118222"/>
                    </a:ext>
                  </a:extLst>
                </a:gridCol>
                <a:gridCol w="847045">
                  <a:extLst>
                    <a:ext uri="{9D8B030D-6E8A-4147-A177-3AD203B41FA5}">
                      <a16:colId xmlns:a16="http://schemas.microsoft.com/office/drawing/2014/main" val="1336707926"/>
                    </a:ext>
                  </a:extLst>
                </a:gridCol>
                <a:gridCol w="847045">
                  <a:extLst>
                    <a:ext uri="{9D8B030D-6E8A-4147-A177-3AD203B41FA5}">
                      <a16:colId xmlns:a16="http://schemas.microsoft.com/office/drawing/2014/main" val="1269832277"/>
                    </a:ext>
                  </a:extLst>
                </a:gridCol>
                <a:gridCol w="847045">
                  <a:extLst>
                    <a:ext uri="{9D8B030D-6E8A-4147-A177-3AD203B41FA5}">
                      <a16:colId xmlns:a16="http://schemas.microsoft.com/office/drawing/2014/main" val="1836531013"/>
                    </a:ext>
                  </a:extLst>
                </a:gridCol>
                <a:gridCol w="847045">
                  <a:extLst>
                    <a:ext uri="{9D8B030D-6E8A-4147-A177-3AD203B41FA5}">
                      <a16:colId xmlns:a16="http://schemas.microsoft.com/office/drawing/2014/main" val="1927441466"/>
                    </a:ext>
                  </a:extLst>
                </a:gridCol>
              </a:tblGrid>
              <a:tr h="583142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b="1" dirty="0" smtClean="0">
                          <a:solidFill>
                            <a:srgbClr val="C00000"/>
                          </a:solidFill>
                        </a:rPr>
                        <a:t>Weight</a:t>
                      </a:r>
                      <a:endParaRPr lang="zh-TW" altLang="en-US" sz="24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4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7</a:t>
                      </a:r>
                      <a:endParaRPr kumimoji="0" lang="zh-TW" altLang="en-US" sz="24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4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6</a:t>
                      </a:r>
                      <a:endParaRPr kumimoji="0" lang="zh-TW" altLang="en-US" sz="24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4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5</a:t>
                      </a:r>
                      <a:endParaRPr kumimoji="0" lang="zh-TW" altLang="en-US" sz="24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4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4</a:t>
                      </a:r>
                      <a:endParaRPr kumimoji="0" lang="zh-TW" altLang="en-US" sz="24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4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3</a:t>
                      </a:r>
                      <a:endParaRPr kumimoji="0" lang="zh-TW" altLang="en-US" sz="24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4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endParaRPr kumimoji="0" lang="zh-TW" altLang="en-US" sz="24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4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24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r>
                        <a:rPr lang="en-US" altLang="zh-TW" sz="2400" baseline="30000" dirty="0" smtClean="0"/>
                        <a:t>0</a:t>
                      </a:r>
                      <a:endParaRPr lang="zh-TW" altLang="en-US" sz="2400" baseline="30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0793884"/>
                  </a:ext>
                </a:extLst>
              </a:tr>
              <a:tr h="583142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b="1" dirty="0" smtClean="0">
                          <a:solidFill>
                            <a:srgbClr val="C00000"/>
                          </a:solidFill>
                        </a:rPr>
                        <a:t>Coefficient</a:t>
                      </a:r>
                      <a:endParaRPr lang="zh-TW" altLang="en-US" sz="24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6224361"/>
                  </a:ext>
                </a:extLst>
              </a:tr>
            </a:tbl>
          </a:graphicData>
        </a:graphic>
      </p:graphicFrame>
      <p:sp>
        <p:nvSpPr>
          <p:cNvPr id="3" name="文字方塊 2"/>
          <p:cNvSpPr txBox="1"/>
          <p:nvPr/>
        </p:nvSpPr>
        <p:spPr>
          <a:xfrm>
            <a:off x="3280843" y="3933461"/>
            <a:ext cx="332655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800" dirty="0" smtClean="0"/>
              <a:t>= 2</a:t>
            </a:r>
            <a:r>
              <a:rPr lang="en-US" altLang="zh-TW" sz="2800" baseline="30000" dirty="0" smtClean="0"/>
              <a:t>7</a:t>
            </a:r>
            <a:r>
              <a:rPr lang="en-US" altLang="zh-TW" sz="2800" dirty="0" smtClean="0"/>
              <a:t> + 2</a:t>
            </a:r>
            <a:r>
              <a:rPr lang="en-US" altLang="zh-TW" sz="2800" baseline="30000" dirty="0" smtClean="0"/>
              <a:t>4</a:t>
            </a:r>
            <a:r>
              <a:rPr lang="en-US" altLang="zh-TW" sz="2800" dirty="0" smtClean="0"/>
              <a:t> + 2</a:t>
            </a:r>
            <a:r>
              <a:rPr lang="en-US" altLang="zh-TW" sz="2800" baseline="30000" dirty="0" smtClean="0"/>
              <a:t>3</a:t>
            </a:r>
            <a:r>
              <a:rPr lang="en-US" altLang="zh-TW" sz="2800" dirty="0" smtClean="0"/>
              <a:t> + 2</a:t>
            </a:r>
            <a:r>
              <a:rPr lang="en-US" altLang="zh-TW" sz="2800" baseline="30000" dirty="0" smtClean="0"/>
              <a:t>0</a:t>
            </a:r>
            <a:r>
              <a:rPr lang="en-US" altLang="zh-TW" sz="2800" dirty="0" smtClean="0"/>
              <a:t> </a:t>
            </a:r>
          </a:p>
          <a:p>
            <a:pPr>
              <a:lnSpc>
                <a:spcPct val="150000"/>
              </a:lnSpc>
            </a:pPr>
            <a:r>
              <a:rPr lang="en-US" altLang="zh-TW" sz="2800" dirty="0" smtClean="0"/>
              <a:t>= 128 + 16 + 8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+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1 </a:t>
            </a:r>
          </a:p>
          <a:p>
            <a:pPr>
              <a:lnSpc>
                <a:spcPct val="150000"/>
              </a:lnSpc>
            </a:pPr>
            <a:r>
              <a:rPr lang="en-US" altLang="zh-TW" sz="2800" dirty="0" smtClean="0"/>
              <a:t>= 153</a:t>
            </a:r>
            <a:endParaRPr lang="zh-TW" altLang="en-US" sz="28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3339194" y="1754223"/>
            <a:ext cx="24929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solidFill>
                  <a:schemeClr val="accent5">
                    <a:lumMod val="50000"/>
                  </a:schemeClr>
                </a:solidFill>
              </a:rPr>
              <a:t>8-bit Example</a:t>
            </a:r>
            <a:endParaRPr lang="zh-TW" altLang="en-US" sz="3200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6075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0367744"/>
              </p:ext>
            </p:extLst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Unsigned Integer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9794275"/>
              </p:ext>
            </p:extLst>
          </p:nvPr>
        </p:nvGraphicFramePr>
        <p:xfrm>
          <a:off x="1599001" y="2613780"/>
          <a:ext cx="8466365" cy="11662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0005">
                  <a:extLst>
                    <a:ext uri="{9D8B030D-6E8A-4147-A177-3AD203B41FA5}">
                      <a16:colId xmlns:a16="http://schemas.microsoft.com/office/drawing/2014/main" val="428218296"/>
                    </a:ext>
                  </a:extLst>
                </a:gridCol>
                <a:gridCol w="847045">
                  <a:extLst>
                    <a:ext uri="{9D8B030D-6E8A-4147-A177-3AD203B41FA5}">
                      <a16:colId xmlns:a16="http://schemas.microsoft.com/office/drawing/2014/main" val="1065413873"/>
                    </a:ext>
                  </a:extLst>
                </a:gridCol>
                <a:gridCol w="847045">
                  <a:extLst>
                    <a:ext uri="{9D8B030D-6E8A-4147-A177-3AD203B41FA5}">
                      <a16:colId xmlns:a16="http://schemas.microsoft.com/office/drawing/2014/main" val="1440377133"/>
                    </a:ext>
                  </a:extLst>
                </a:gridCol>
                <a:gridCol w="847045">
                  <a:extLst>
                    <a:ext uri="{9D8B030D-6E8A-4147-A177-3AD203B41FA5}">
                      <a16:colId xmlns:a16="http://schemas.microsoft.com/office/drawing/2014/main" val="222121505"/>
                    </a:ext>
                  </a:extLst>
                </a:gridCol>
                <a:gridCol w="847045">
                  <a:extLst>
                    <a:ext uri="{9D8B030D-6E8A-4147-A177-3AD203B41FA5}">
                      <a16:colId xmlns:a16="http://schemas.microsoft.com/office/drawing/2014/main" val="1722118222"/>
                    </a:ext>
                  </a:extLst>
                </a:gridCol>
                <a:gridCol w="847045">
                  <a:extLst>
                    <a:ext uri="{9D8B030D-6E8A-4147-A177-3AD203B41FA5}">
                      <a16:colId xmlns:a16="http://schemas.microsoft.com/office/drawing/2014/main" val="1336707926"/>
                    </a:ext>
                  </a:extLst>
                </a:gridCol>
                <a:gridCol w="847045">
                  <a:extLst>
                    <a:ext uri="{9D8B030D-6E8A-4147-A177-3AD203B41FA5}">
                      <a16:colId xmlns:a16="http://schemas.microsoft.com/office/drawing/2014/main" val="1269832277"/>
                    </a:ext>
                  </a:extLst>
                </a:gridCol>
                <a:gridCol w="847045">
                  <a:extLst>
                    <a:ext uri="{9D8B030D-6E8A-4147-A177-3AD203B41FA5}">
                      <a16:colId xmlns:a16="http://schemas.microsoft.com/office/drawing/2014/main" val="1836531013"/>
                    </a:ext>
                  </a:extLst>
                </a:gridCol>
                <a:gridCol w="847045">
                  <a:extLst>
                    <a:ext uri="{9D8B030D-6E8A-4147-A177-3AD203B41FA5}">
                      <a16:colId xmlns:a16="http://schemas.microsoft.com/office/drawing/2014/main" val="1927441466"/>
                    </a:ext>
                  </a:extLst>
                </a:gridCol>
              </a:tblGrid>
              <a:tr h="583142">
                <a:tc rowSpan="2">
                  <a:txBody>
                    <a:bodyPr/>
                    <a:lstStyle/>
                    <a:p>
                      <a:pPr algn="l"/>
                      <a:r>
                        <a:rPr lang="en-US" altLang="zh-TW" sz="2800" b="1" dirty="0" smtClean="0">
                          <a:solidFill>
                            <a:srgbClr val="C00000"/>
                          </a:solidFill>
                        </a:rPr>
                        <a:t>Minimum</a:t>
                      </a:r>
                      <a:endParaRPr lang="zh-TW" altLang="en-US" sz="28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4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7</a:t>
                      </a:r>
                      <a:endParaRPr kumimoji="0" lang="zh-TW" altLang="en-US" sz="24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4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6</a:t>
                      </a:r>
                      <a:endParaRPr kumimoji="0" lang="zh-TW" altLang="en-US" sz="24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4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5</a:t>
                      </a:r>
                      <a:endParaRPr kumimoji="0" lang="zh-TW" altLang="en-US" sz="24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4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4</a:t>
                      </a:r>
                      <a:endParaRPr kumimoji="0" lang="zh-TW" altLang="en-US" sz="24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4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3</a:t>
                      </a:r>
                      <a:endParaRPr kumimoji="0" lang="zh-TW" altLang="en-US" sz="24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4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endParaRPr kumimoji="0" lang="zh-TW" altLang="en-US" sz="24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4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24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r>
                        <a:rPr lang="en-US" altLang="zh-TW" sz="2400" baseline="30000" dirty="0" smtClean="0"/>
                        <a:t>0</a:t>
                      </a:r>
                      <a:endParaRPr lang="zh-TW" altLang="en-US" sz="2400" baseline="30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0793884"/>
                  </a:ext>
                </a:extLst>
              </a:tr>
              <a:tr h="583142">
                <a:tc vMerge="1">
                  <a:txBody>
                    <a:bodyPr/>
                    <a:lstStyle/>
                    <a:p>
                      <a:pPr algn="l"/>
                      <a:endParaRPr lang="zh-TW" altLang="en-US" sz="24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6224361"/>
                  </a:ext>
                </a:extLst>
              </a:tr>
            </a:tbl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3339194" y="1754223"/>
            <a:ext cx="24929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solidFill>
                  <a:schemeClr val="accent5">
                    <a:lumMod val="50000"/>
                  </a:schemeClr>
                </a:solidFill>
              </a:rPr>
              <a:t>8-bit Example</a:t>
            </a:r>
            <a:endParaRPr lang="zh-TW" altLang="en-US" sz="3200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6443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0367744"/>
              </p:ext>
            </p:extLst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Unsigned Integer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5136967"/>
              </p:ext>
            </p:extLst>
          </p:nvPr>
        </p:nvGraphicFramePr>
        <p:xfrm>
          <a:off x="1599001" y="2613780"/>
          <a:ext cx="8466365" cy="11662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0005">
                  <a:extLst>
                    <a:ext uri="{9D8B030D-6E8A-4147-A177-3AD203B41FA5}">
                      <a16:colId xmlns:a16="http://schemas.microsoft.com/office/drawing/2014/main" val="428218296"/>
                    </a:ext>
                  </a:extLst>
                </a:gridCol>
                <a:gridCol w="847045">
                  <a:extLst>
                    <a:ext uri="{9D8B030D-6E8A-4147-A177-3AD203B41FA5}">
                      <a16:colId xmlns:a16="http://schemas.microsoft.com/office/drawing/2014/main" val="1065413873"/>
                    </a:ext>
                  </a:extLst>
                </a:gridCol>
                <a:gridCol w="847045">
                  <a:extLst>
                    <a:ext uri="{9D8B030D-6E8A-4147-A177-3AD203B41FA5}">
                      <a16:colId xmlns:a16="http://schemas.microsoft.com/office/drawing/2014/main" val="1440377133"/>
                    </a:ext>
                  </a:extLst>
                </a:gridCol>
                <a:gridCol w="847045">
                  <a:extLst>
                    <a:ext uri="{9D8B030D-6E8A-4147-A177-3AD203B41FA5}">
                      <a16:colId xmlns:a16="http://schemas.microsoft.com/office/drawing/2014/main" val="222121505"/>
                    </a:ext>
                  </a:extLst>
                </a:gridCol>
                <a:gridCol w="847045">
                  <a:extLst>
                    <a:ext uri="{9D8B030D-6E8A-4147-A177-3AD203B41FA5}">
                      <a16:colId xmlns:a16="http://schemas.microsoft.com/office/drawing/2014/main" val="1722118222"/>
                    </a:ext>
                  </a:extLst>
                </a:gridCol>
                <a:gridCol w="847045">
                  <a:extLst>
                    <a:ext uri="{9D8B030D-6E8A-4147-A177-3AD203B41FA5}">
                      <a16:colId xmlns:a16="http://schemas.microsoft.com/office/drawing/2014/main" val="1336707926"/>
                    </a:ext>
                  </a:extLst>
                </a:gridCol>
                <a:gridCol w="847045">
                  <a:extLst>
                    <a:ext uri="{9D8B030D-6E8A-4147-A177-3AD203B41FA5}">
                      <a16:colId xmlns:a16="http://schemas.microsoft.com/office/drawing/2014/main" val="1269832277"/>
                    </a:ext>
                  </a:extLst>
                </a:gridCol>
                <a:gridCol w="847045">
                  <a:extLst>
                    <a:ext uri="{9D8B030D-6E8A-4147-A177-3AD203B41FA5}">
                      <a16:colId xmlns:a16="http://schemas.microsoft.com/office/drawing/2014/main" val="1836531013"/>
                    </a:ext>
                  </a:extLst>
                </a:gridCol>
                <a:gridCol w="847045">
                  <a:extLst>
                    <a:ext uri="{9D8B030D-6E8A-4147-A177-3AD203B41FA5}">
                      <a16:colId xmlns:a16="http://schemas.microsoft.com/office/drawing/2014/main" val="1927441466"/>
                    </a:ext>
                  </a:extLst>
                </a:gridCol>
              </a:tblGrid>
              <a:tr h="583142">
                <a:tc rowSpan="2">
                  <a:txBody>
                    <a:bodyPr/>
                    <a:lstStyle/>
                    <a:p>
                      <a:pPr algn="l"/>
                      <a:r>
                        <a:rPr lang="en-US" altLang="zh-TW" sz="2800" b="1" dirty="0" smtClean="0">
                          <a:solidFill>
                            <a:srgbClr val="C00000"/>
                          </a:solidFill>
                        </a:rPr>
                        <a:t>Minimum</a:t>
                      </a:r>
                      <a:endParaRPr lang="zh-TW" altLang="en-US" sz="28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4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7</a:t>
                      </a:r>
                      <a:endParaRPr kumimoji="0" lang="zh-TW" altLang="en-US" sz="24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4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6</a:t>
                      </a:r>
                      <a:endParaRPr kumimoji="0" lang="zh-TW" altLang="en-US" sz="24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4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5</a:t>
                      </a:r>
                      <a:endParaRPr kumimoji="0" lang="zh-TW" altLang="en-US" sz="24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4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4</a:t>
                      </a:r>
                      <a:endParaRPr kumimoji="0" lang="zh-TW" altLang="en-US" sz="24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4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3</a:t>
                      </a:r>
                      <a:endParaRPr kumimoji="0" lang="zh-TW" altLang="en-US" sz="24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4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endParaRPr kumimoji="0" lang="zh-TW" altLang="en-US" sz="24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4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24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r>
                        <a:rPr lang="en-US" altLang="zh-TW" sz="2400" baseline="30000" dirty="0" smtClean="0"/>
                        <a:t>0</a:t>
                      </a:r>
                      <a:endParaRPr lang="zh-TW" altLang="en-US" sz="2400" baseline="30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0793884"/>
                  </a:ext>
                </a:extLst>
              </a:tr>
              <a:tr h="583142">
                <a:tc vMerge="1">
                  <a:txBody>
                    <a:bodyPr/>
                    <a:lstStyle/>
                    <a:p>
                      <a:pPr algn="l"/>
                      <a:endParaRPr lang="zh-TW" altLang="en-US" sz="24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6224361"/>
                  </a:ext>
                </a:extLst>
              </a:tr>
            </a:tbl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3339194" y="1754223"/>
            <a:ext cx="24929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solidFill>
                  <a:schemeClr val="accent5">
                    <a:lumMod val="50000"/>
                  </a:schemeClr>
                </a:solidFill>
              </a:rPr>
              <a:t>8-bit Example</a:t>
            </a:r>
            <a:endParaRPr lang="zh-TW" altLang="en-US" sz="32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3216729" y="3948710"/>
            <a:ext cx="7216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= 0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700689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0367744"/>
              </p:ext>
            </p:extLst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Unsigned Integer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3962324"/>
              </p:ext>
            </p:extLst>
          </p:nvPr>
        </p:nvGraphicFramePr>
        <p:xfrm>
          <a:off x="1599001" y="2613780"/>
          <a:ext cx="8466365" cy="11662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0005">
                  <a:extLst>
                    <a:ext uri="{9D8B030D-6E8A-4147-A177-3AD203B41FA5}">
                      <a16:colId xmlns:a16="http://schemas.microsoft.com/office/drawing/2014/main" val="428218296"/>
                    </a:ext>
                  </a:extLst>
                </a:gridCol>
                <a:gridCol w="847045">
                  <a:extLst>
                    <a:ext uri="{9D8B030D-6E8A-4147-A177-3AD203B41FA5}">
                      <a16:colId xmlns:a16="http://schemas.microsoft.com/office/drawing/2014/main" val="1065413873"/>
                    </a:ext>
                  </a:extLst>
                </a:gridCol>
                <a:gridCol w="847045">
                  <a:extLst>
                    <a:ext uri="{9D8B030D-6E8A-4147-A177-3AD203B41FA5}">
                      <a16:colId xmlns:a16="http://schemas.microsoft.com/office/drawing/2014/main" val="1440377133"/>
                    </a:ext>
                  </a:extLst>
                </a:gridCol>
                <a:gridCol w="847045">
                  <a:extLst>
                    <a:ext uri="{9D8B030D-6E8A-4147-A177-3AD203B41FA5}">
                      <a16:colId xmlns:a16="http://schemas.microsoft.com/office/drawing/2014/main" val="222121505"/>
                    </a:ext>
                  </a:extLst>
                </a:gridCol>
                <a:gridCol w="847045">
                  <a:extLst>
                    <a:ext uri="{9D8B030D-6E8A-4147-A177-3AD203B41FA5}">
                      <a16:colId xmlns:a16="http://schemas.microsoft.com/office/drawing/2014/main" val="1722118222"/>
                    </a:ext>
                  </a:extLst>
                </a:gridCol>
                <a:gridCol w="847045">
                  <a:extLst>
                    <a:ext uri="{9D8B030D-6E8A-4147-A177-3AD203B41FA5}">
                      <a16:colId xmlns:a16="http://schemas.microsoft.com/office/drawing/2014/main" val="1336707926"/>
                    </a:ext>
                  </a:extLst>
                </a:gridCol>
                <a:gridCol w="847045">
                  <a:extLst>
                    <a:ext uri="{9D8B030D-6E8A-4147-A177-3AD203B41FA5}">
                      <a16:colId xmlns:a16="http://schemas.microsoft.com/office/drawing/2014/main" val="1269832277"/>
                    </a:ext>
                  </a:extLst>
                </a:gridCol>
                <a:gridCol w="847045">
                  <a:extLst>
                    <a:ext uri="{9D8B030D-6E8A-4147-A177-3AD203B41FA5}">
                      <a16:colId xmlns:a16="http://schemas.microsoft.com/office/drawing/2014/main" val="1836531013"/>
                    </a:ext>
                  </a:extLst>
                </a:gridCol>
                <a:gridCol w="847045">
                  <a:extLst>
                    <a:ext uri="{9D8B030D-6E8A-4147-A177-3AD203B41FA5}">
                      <a16:colId xmlns:a16="http://schemas.microsoft.com/office/drawing/2014/main" val="1927441466"/>
                    </a:ext>
                  </a:extLst>
                </a:gridCol>
              </a:tblGrid>
              <a:tr h="583142">
                <a:tc rowSpan="2">
                  <a:txBody>
                    <a:bodyPr/>
                    <a:lstStyle/>
                    <a:p>
                      <a:pPr algn="l"/>
                      <a:r>
                        <a:rPr lang="en-US" altLang="zh-TW" sz="2800" b="1" dirty="0" smtClean="0">
                          <a:solidFill>
                            <a:srgbClr val="C00000"/>
                          </a:solidFill>
                        </a:rPr>
                        <a:t>Maximum</a:t>
                      </a:r>
                      <a:endParaRPr lang="zh-TW" altLang="en-US" sz="28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4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7</a:t>
                      </a:r>
                      <a:endParaRPr kumimoji="0" lang="zh-TW" altLang="en-US" sz="24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4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6</a:t>
                      </a:r>
                      <a:endParaRPr kumimoji="0" lang="zh-TW" altLang="en-US" sz="24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4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5</a:t>
                      </a:r>
                      <a:endParaRPr kumimoji="0" lang="zh-TW" altLang="en-US" sz="24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4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4</a:t>
                      </a:r>
                      <a:endParaRPr kumimoji="0" lang="zh-TW" altLang="en-US" sz="24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4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3</a:t>
                      </a:r>
                      <a:endParaRPr kumimoji="0" lang="zh-TW" altLang="en-US" sz="24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4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endParaRPr kumimoji="0" lang="zh-TW" altLang="en-US" sz="24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4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24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r>
                        <a:rPr lang="en-US" altLang="zh-TW" sz="2400" baseline="30000" dirty="0" smtClean="0"/>
                        <a:t>0</a:t>
                      </a:r>
                      <a:endParaRPr lang="zh-TW" altLang="en-US" sz="2400" baseline="30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0793884"/>
                  </a:ext>
                </a:extLst>
              </a:tr>
              <a:tr h="583142">
                <a:tc vMerge="1">
                  <a:txBody>
                    <a:bodyPr/>
                    <a:lstStyle/>
                    <a:p>
                      <a:pPr algn="l"/>
                      <a:endParaRPr lang="zh-TW" altLang="en-US" sz="24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6224361"/>
                  </a:ext>
                </a:extLst>
              </a:tr>
            </a:tbl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3339194" y="1754223"/>
            <a:ext cx="24929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solidFill>
                  <a:schemeClr val="accent5">
                    <a:lumMod val="50000"/>
                  </a:schemeClr>
                </a:solidFill>
              </a:rPr>
              <a:t>8-bit Example</a:t>
            </a:r>
            <a:endParaRPr lang="zh-TW" altLang="en-US" sz="3200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7830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0367744"/>
              </p:ext>
            </p:extLst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Unsigned Integer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1000865"/>
              </p:ext>
            </p:extLst>
          </p:nvPr>
        </p:nvGraphicFramePr>
        <p:xfrm>
          <a:off x="1599001" y="2613780"/>
          <a:ext cx="8466365" cy="11662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0005">
                  <a:extLst>
                    <a:ext uri="{9D8B030D-6E8A-4147-A177-3AD203B41FA5}">
                      <a16:colId xmlns:a16="http://schemas.microsoft.com/office/drawing/2014/main" val="428218296"/>
                    </a:ext>
                  </a:extLst>
                </a:gridCol>
                <a:gridCol w="847045">
                  <a:extLst>
                    <a:ext uri="{9D8B030D-6E8A-4147-A177-3AD203B41FA5}">
                      <a16:colId xmlns:a16="http://schemas.microsoft.com/office/drawing/2014/main" val="1065413873"/>
                    </a:ext>
                  </a:extLst>
                </a:gridCol>
                <a:gridCol w="847045">
                  <a:extLst>
                    <a:ext uri="{9D8B030D-6E8A-4147-A177-3AD203B41FA5}">
                      <a16:colId xmlns:a16="http://schemas.microsoft.com/office/drawing/2014/main" val="1440377133"/>
                    </a:ext>
                  </a:extLst>
                </a:gridCol>
                <a:gridCol w="847045">
                  <a:extLst>
                    <a:ext uri="{9D8B030D-6E8A-4147-A177-3AD203B41FA5}">
                      <a16:colId xmlns:a16="http://schemas.microsoft.com/office/drawing/2014/main" val="222121505"/>
                    </a:ext>
                  </a:extLst>
                </a:gridCol>
                <a:gridCol w="847045">
                  <a:extLst>
                    <a:ext uri="{9D8B030D-6E8A-4147-A177-3AD203B41FA5}">
                      <a16:colId xmlns:a16="http://schemas.microsoft.com/office/drawing/2014/main" val="1722118222"/>
                    </a:ext>
                  </a:extLst>
                </a:gridCol>
                <a:gridCol w="847045">
                  <a:extLst>
                    <a:ext uri="{9D8B030D-6E8A-4147-A177-3AD203B41FA5}">
                      <a16:colId xmlns:a16="http://schemas.microsoft.com/office/drawing/2014/main" val="1336707926"/>
                    </a:ext>
                  </a:extLst>
                </a:gridCol>
                <a:gridCol w="847045">
                  <a:extLst>
                    <a:ext uri="{9D8B030D-6E8A-4147-A177-3AD203B41FA5}">
                      <a16:colId xmlns:a16="http://schemas.microsoft.com/office/drawing/2014/main" val="1269832277"/>
                    </a:ext>
                  </a:extLst>
                </a:gridCol>
                <a:gridCol w="847045">
                  <a:extLst>
                    <a:ext uri="{9D8B030D-6E8A-4147-A177-3AD203B41FA5}">
                      <a16:colId xmlns:a16="http://schemas.microsoft.com/office/drawing/2014/main" val="1836531013"/>
                    </a:ext>
                  </a:extLst>
                </a:gridCol>
                <a:gridCol w="847045">
                  <a:extLst>
                    <a:ext uri="{9D8B030D-6E8A-4147-A177-3AD203B41FA5}">
                      <a16:colId xmlns:a16="http://schemas.microsoft.com/office/drawing/2014/main" val="1927441466"/>
                    </a:ext>
                  </a:extLst>
                </a:gridCol>
              </a:tblGrid>
              <a:tr h="583142">
                <a:tc rowSpan="2">
                  <a:txBody>
                    <a:bodyPr/>
                    <a:lstStyle/>
                    <a:p>
                      <a:pPr algn="l"/>
                      <a:r>
                        <a:rPr lang="en-US" altLang="zh-TW" sz="2800" b="1" dirty="0" smtClean="0">
                          <a:solidFill>
                            <a:srgbClr val="C00000"/>
                          </a:solidFill>
                        </a:rPr>
                        <a:t>Maximum</a:t>
                      </a:r>
                      <a:endParaRPr lang="zh-TW" altLang="en-US" sz="28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4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7</a:t>
                      </a:r>
                      <a:endParaRPr kumimoji="0" lang="zh-TW" altLang="en-US" sz="24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4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6</a:t>
                      </a:r>
                      <a:endParaRPr kumimoji="0" lang="zh-TW" altLang="en-US" sz="24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4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5</a:t>
                      </a:r>
                      <a:endParaRPr kumimoji="0" lang="zh-TW" altLang="en-US" sz="24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4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4</a:t>
                      </a:r>
                      <a:endParaRPr kumimoji="0" lang="zh-TW" altLang="en-US" sz="24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4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3</a:t>
                      </a:r>
                      <a:endParaRPr kumimoji="0" lang="zh-TW" altLang="en-US" sz="24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4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endParaRPr kumimoji="0" lang="zh-TW" altLang="en-US" sz="24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4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24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r>
                        <a:rPr lang="en-US" altLang="zh-TW" sz="2400" baseline="30000" dirty="0" smtClean="0"/>
                        <a:t>0</a:t>
                      </a:r>
                      <a:endParaRPr lang="zh-TW" altLang="en-US" sz="2400" baseline="30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0793884"/>
                  </a:ext>
                </a:extLst>
              </a:tr>
              <a:tr h="583142">
                <a:tc vMerge="1">
                  <a:txBody>
                    <a:bodyPr/>
                    <a:lstStyle/>
                    <a:p>
                      <a:pPr algn="l"/>
                      <a:endParaRPr lang="zh-TW" altLang="en-US" sz="24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6224361"/>
                  </a:ext>
                </a:extLst>
              </a:tr>
            </a:tbl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3339194" y="1754223"/>
            <a:ext cx="24929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solidFill>
                  <a:schemeClr val="accent5">
                    <a:lumMod val="50000"/>
                  </a:schemeClr>
                </a:solidFill>
              </a:rPr>
              <a:t>8-bit Example</a:t>
            </a:r>
            <a:endParaRPr lang="zh-TW" altLang="en-US" sz="32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3265716" y="3870488"/>
            <a:ext cx="649729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800" dirty="0" smtClean="0"/>
              <a:t>= 2</a:t>
            </a:r>
            <a:r>
              <a:rPr lang="en-US" altLang="zh-TW" sz="2800" baseline="30000" dirty="0" smtClean="0"/>
              <a:t>7</a:t>
            </a:r>
            <a:r>
              <a:rPr lang="en-US" altLang="zh-TW" sz="2800" dirty="0" smtClean="0"/>
              <a:t> + 2</a:t>
            </a:r>
            <a:r>
              <a:rPr lang="en-US" altLang="zh-TW" sz="2800" baseline="30000" dirty="0" smtClean="0"/>
              <a:t>6</a:t>
            </a:r>
            <a:r>
              <a:rPr lang="en-US" altLang="zh-TW" sz="2800" dirty="0" smtClean="0"/>
              <a:t> + 2</a:t>
            </a:r>
            <a:r>
              <a:rPr lang="en-US" altLang="zh-TW" sz="2800" baseline="30000" dirty="0" smtClean="0"/>
              <a:t>5</a:t>
            </a:r>
            <a:r>
              <a:rPr lang="en-US" altLang="zh-TW" sz="2800" dirty="0" smtClean="0"/>
              <a:t> + 2</a:t>
            </a:r>
            <a:r>
              <a:rPr lang="en-US" altLang="zh-TW" sz="2800" baseline="30000" dirty="0" smtClean="0"/>
              <a:t>4</a:t>
            </a:r>
            <a:r>
              <a:rPr lang="en-US" altLang="zh-TW" sz="2800" dirty="0" smtClean="0"/>
              <a:t> + 2</a:t>
            </a:r>
            <a:r>
              <a:rPr lang="en-US" altLang="zh-TW" sz="2800" baseline="30000" dirty="0" smtClean="0"/>
              <a:t>3</a:t>
            </a:r>
            <a:r>
              <a:rPr lang="en-US" altLang="zh-TW" sz="2800" dirty="0" smtClean="0"/>
              <a:t> + 2</a:t>
            </a:r>
            <a:r>
              <a:rPr lang="en-US" altLang="zh-TW" sz="2800" baseline="30000" dirty="0" smtClean="0"/>
              <a:t>2</a:t>
            </a:r>
            <a:r>
              <a:rPr lang="en-US" altLang="zh-TW" sz="2800" dirty="0" smtClean="0"/>
              <a:t> + 2</a:t>
            </a:r>
            <a:r>
              <a:rPr lang="en-US" altLang="zh-TW" sz="2800" baseline="30000" dirty="0" smtClean="0"/>
              <a:t>1</a:t>
            </a:r>
            <a:r>
              <a:rPr lang="en-US" altLang="zh-TW" sz="2800" dirty="0" smtClean="0"/>
              <a:t> + 2</a:t>
            </a:r>
            <a:r>
              <a:rPr lang="en-US" altLang="zh-TW" sz="2800" baseline="30000" dirty="0" smtClean="0"/>
              <a:t>0</a:t>
            </a:r>
          </a:p>
          <a:p>
            <a:pPr>
              <a:lnSpc>
                <a:spcPct val="150000"/>
              </a:lnSpc>
            </a:pPr>
            <a:r>
              <a:rPr lang="en-US" altLang="zh-TW" sz="2800" dirty="0" smtClean="0"/>
              <a:t>= 128 + 64 + 32 + 16 + 8 + 4 + 2 + 1 </a:t>
            </a:r>
          </a:p>
          <a:p>
            <a:pPr>
              <a:lnSpc>
                <a:spcPct val="150000"/>
              </a:lnSpc>
            </a:pPr>
            <a:r>
              <a:rPr lang="en-US" altLang="zh-TW" sz="2800" dirty="0" smtClean="0"/>
              <a:t>= 255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243195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0367744"/>
              </p:ext>
            </p:extLst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Unsigned Integer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2119695"/>
              </p:ext>
            </p:extLst>
          </p:nvPr>
        </p:nvGraphicFramePr>
        <p:xfrm>
          <a:off x="783775" y="2613780"/>
          <a:ext cx="9281591" cy="11662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4232">
                  <a:extLst>
                    <a:ext uri="{9D8B030D-6E8A-4147-A177-3AD203B41FA5}">
                      <a16:colId xmlns:a16="http://schemas.microsoft.com/office/drawing/2014/main" val="428218296"/>
                    </a:ext>
                  </a:extLst>
                </a:gridCol>
                <a:gridCol w="844151">
                  <a:extLst>
                    <a:ext uri="{9D8B030D-6E8A-4147-A177-3AD203B41FA5}">
                      <a16:colId xmlns:a16="http://schemas.microsoft.com/office/drawing/2014/main" val="2057206069"/>
                    </a:ext>
                  </a:extLst>
                </a:gridCol>
                <a:gridCol w="844151">
                  <a:extLst>
                    <a:ext uri="{9D8B030D-6E8A-4147-A177-3AD203B41FA5}">
                      <a16:colId xmlns:a16="http://schemas.microsoft.com/office/drawing/2014/main" val="1065413873"/>
                    </a:ext>
                  </a:extLst>
                </a:gridCol>
                <a:gridCol w="844151">
                  <a:extLst>
                    <a:ext uri="{9D8B030D-6E8A-4147-A177-3AD203B41FA5}">
                      <a16:colId xmlns:a16="http://schemas.microsoft.com/office/drawing/2014/main" val="1440377133"/>
                    </a:ext>
                  </a:extLst>
                </a:gridCol>
                <a:gridCol w="844151">
                  <a:extLst>
                    <a:ext uri="{9D8B030D-6E8A-4147-A177-3AD203B41FA5}">
                      <a16:colId xmlns:a16="http://schemas.microsoft.com/office/drawing/2014/main" val="222121505"/>
                    </a:ext>
                  </a:extLst>
                </a:gridCol>
                <a:gridCol w="844151">
                  <a:extLst>
                    <a:ext uri="{9D8B030D-6E8A-4147-A177-3AD203B41FA5}">
                      <a16:colId xmlns:a16="http://schemas.microsoft.com/office/drawing/2014/main" val="1722118222"/>
                    </a:ext>
                  </a:extLst>
                </a:gridCol>
                <a:gridCol w="844151">
                  <a:extLst>
                    <a:ext uri="{9D8B030D-6E8A-4147-A177-3AD203B41FA5}">
                      <a16:colId xmlns:a16="http://schemas.microsoft.com/office/drawing/2014/main" val="1336707926"/>
                    </a:ext>
                  </a:extLst>
                </a:gridCol>
                <a:gridCol w="844151">
                  <a:extLst>
                    <a:ext uri="{9D8B030D-6E8A-4147-A177-3AD203B41FA5}">
                      <a16:colId xmlns:a16="http://schemas.microsoft.com/office/drawing/2014/main" val="1269832277"/>
                    </a:ext>
                  </a:extLst>
                </a:gridCol>
                <a:gridCol w="844151">
                  <a:extLst>
                    <a:ext uri="{9D8B030D-6E8A-4147-A177-3AD203B41FA5}">
                      <a16:colId xmlns:a16="http://schemas.microsoft.com/office/drawing/2014/main" val="1836531013"/>
                    </a:ext>
                  </a:extLst>
                </a:gridCol>
                <a:gridCol w="844151">
                  <a:extLst>
                    <a:ext uri="{9D8B030D-6E8A-4147-A177-3AD203B41FA5}">
                      <a16:colId xmlns:a16="http://schemas.microsoft.com/office/drawing/2014/main" val="1927441466"/>
                    </a:ext>
                  </a:extLst>
                </a:gridCol>
              </a:tblGrid>
              <a:tr h="583142">
                <a:tc rowSpan="2">
                  <a:txBody>
                    <a:bodyPr/>
                    <a:lstStyle/>
                    <a:p>
                      <a:pPr algn="l"/>
                      <a:r>
                        <a:rPr lang="en-US" altLang="zh-TW" sz="2800" b="1" dirty="0" smtClean="0">
                          <a:solidFill>
                            <a:srgbClr val="C00000"/>
                          </a:solidFill>
                        </a:rPr>
                        <a:t>Maximum</a:t>
                      </a:r>
                      <a:endParaRPr lang="zh-TW" altLang="en-US" sz="28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-US" altLang="zh-TW" sz="24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kumimoji="0" lang="zh-TW" altLang="en-US" sz="2400" b="1" i="0" u="none" strike="noStrike" kern="1200" cap="none" spc="0" normalizeH="0" baseline="30000" noProof="0" dirty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4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7</a:t>
                      </a:r>
                      <a:endParaRPr kumimoji="0" lang="zh-TW" altLang="en-US" sz="24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4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6</a:t>
                      </a:r>
                      <a:endParaRPr kumimoji="0" lang="zh-TW" altLang="en-US" sz="24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4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5</a:t>
                      </a:r>
                      <a:endParaRPr kumimoji="0" lang="zh-TW" altLang="en-US" sz="24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4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4</a:t>
                      </a:r>
                      <a:endParaRPr kumimoji="0" lang="zh-TW" altLang="en-US" sz="24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4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3</a:t>
                      </a:r>
                      <a:endParaRPr kumimoji="0" lang="zh-TW" altLang="en-US" sz="24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4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endParaRPr kumimoji="0" lang="zh-TW" altLang="en-US" sz="24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4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24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r>
                        <a:rPr lang="en-US" altLang="zh-TW" sz="2400" baseline="30000" dirty="0" smtClean="0"/>
                        <a:t>0</a:t>
                      </a:r>
                      <a:endParaRPr lang="zh-TW" altLang="en-US" sz="2400" baseline="30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0793884"/>
                  </a:ext>
                </a:extLst>
              </a:tr>
              <a:tr h="583142">
                <a:tc vMerge="1">
                  <a:txBody>
                    <a:bodyPr/>
                    <a:lstStyle/>
                    <a:p>
                      <a:pPr algn="l"/>
                      <a:endParaRPr lang="zh-TW" altLang="en-US" sz="24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6224361"/>
                  </a:ext>
                </a:extLst>
              </a:tr>
            </a:tbl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3339194" y="1754223"/>
            <a:ext cx="24929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solidFill>
                  <a:schemeClr val="accent5">
                    <a:lumMod val="50000"/>
                  </a:schemeClr>
                </a:solidFill>
              </a:rPr>
              <a:t>8-bit Example</a:t>
            </a:r>
            <a:endParaRPr lang="zh-TW" altLang="en-US" sz="32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1730829" y="4054846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+</a:t>
            </a:r>
            <a:endParaRPr lang="zh-TW" altLang="en-US" sz="28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9503229" y="4054846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1</a:t>
            </a:r>
            <a:endParaRPr lang="zh-TW" altLang="en-US" sz="2400" dirty="0"/>
          </a:p>
        </p:txBody>
      </p:sp>
      <p:sp>
        <p:nvSpPr>
          <p:cNvPr id="10" name="矩形 9"/>
          <p:cNvSpPr/>
          <p:nvPr/>
        </p:nvSpPr>
        <p:spPr>
          <a:xfrm>
            <a:off x="1730829" y="4637316"/>
            <a:ext cx="8334537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2914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0367744"/>
              </p:ext>
            </p:extLst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Unsigned Integer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5322370"/>
              </p:ext>
            </p:extLst>
          </p:nvPr>
        </p:nvGraphicFramePr>
        <p:xfrm>
          <a:off x="759278" y="2613780"/>
          <a:ext cx="9306088" cy="11662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677">
                  <a:extLst>
                    <a:ext uri="{9D8B030D-6E8A-4147-A177-3AD203B41FA5}">
                      <a16:colId xmlns:a16="http://schemas.microsoft.com/office/drawing/2014/main" val="428218296"/>
                    </a:ext>
                  </a:extLst>
                </a:gridCol>
                <a:gridCol w="846379">
                  <a:extLst>
                    <a:ext uri="{9D8B030D-6E8A-4147-A177-3AD203B41FA5}">
                      <a16:colId xmlns:a16="http://schemas.microsoft.com/office/drawing/2014/main" val="2057206069"/>
                    </a:ext>
                  </a:extLst>
                </a:gridCol>
                <a:gridCol w="846379">
                  <a:extLst>
                    <a:ext uri="{9D8B030D-6E8A-4147-A177-3AD203B41FA5}">
                      <a16:colId xmlns:a16="http://schemas.microsoft.com/office/drawing/2014/main" val="1065413873"/>
                    </a:ext>
                  </a:extLst>
                </a:gridCol>
                <a:gridCol w="846379">
                  <a:extLst>
                    <a:ext uri="{9D8B030D-6E8A-4147-A177-3AD203B41FA5}">
                      <a16:colId xmlns:a16="http://schemas.microsoft.com/office/drawing/2014/main" val="1440377133"/>
                    </a:ext>
                  </a:extLst>
                </a:gridCol>
                <a:gridCol w="846379">
                  <a:extLst>
                    <a:ext uri="{9D8B030D-6E8A-4147-A177-3AD203B41FA5}">
                      <a16:colId xmlns:a16="http://schemas.microsoft.com/office/drawing/2014/main" val="222121505"/>
                    </a:ext>
                  </a:extLst>
                </a:gridCol>
                <a:gridCol w="846379">
                  <a:extLst>
                    <a:ext uri="{9D8B030D-6E8A-4147-A177-3AD203B41FA5}">
                      <a16:colId xmlns:a16="http://schemas.microsoft.com/office/drawing/2014/main" val="1722118222"/>
                    </a:ext>
                  </a:extLst>
                </a:gridCol>
                <a:gridCol w="846379">
                  <a:extLst>
                    <a:ext uri="{9D8B030D-6E8A-4147-A177-3AD203B41FA5}">
                      <a16:colId xmlns:a16="http://schemas.microsoft.com/office/drawing/2014/main" val="1336707926"/>
                    </a:ext>
                  </a:extLst>
                </a:gridCol>
                <a:gridCol w="846379">
                  <a:extLst>
                    <a:ext uri="{9D8B030D-6E8A-4147-A177-3AD203B41FA5}">
                      <a16:colId xmlns:a16="http://schemas.microsoft.com/office/drawing/2014/main" val="1269832277"/>
                    </a:ext>
                  </a:extLst>
                </a:gridCol>
                <a:gridCol w="846379">
                  <a:extLst>
                    <a:ext uri="{9D8B030D-6E8A-4147-A177-3AD203B41FA5}">
                      <a16:colId xmlns:a16="http://schemas.microsoft.com/office/drawing/2014/main" val="1836531013"/>
                    </a:ext>
                  </a:extLst>
                </a:gridCol>
                <a:gridCol w="846379">
                  <a:extLst>
                    <a:ext uri="{9D8B030D-6E8A-4147-A177-3AD203B41FA5}">
                      <a16:colId xmlns:a16="http://schemas.microsoft.com/office/drawing/2014/main" val="1927441466"/>
                    </a:ext>
                  </a:extLst>
                </a:gridCol>
              </a:tblGrid>
              <a:tr h="583142">
                <a:tc rowSpan="2">
                  <a:txBody>
                    <a:bodyPr/>
                    <a:lstStyle/>
                    <a:p>
                      <a:pPr algn="l"/>
                      <a:r>
                        <a:rPr lang="en-US" altLang="zh-TW" sz="2800" b="1" dirty="0" smtClean="0">
                          <a:solidFill>
                            <a:srgbClr val="C00000"/>
                          </a:solidFill>
                        </a:rPr>
                        <a:t>Maximum</a:t>
                      </a:r>
                      <a:endParaRPr lang="zh-TW" altLang="en-US" sz="28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-US" altLang="zh-TW" sz="24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kumimoji="0" lang="zh-TW" altLang="en-US" sz="2400" b="1" i="0" u="none" strike="noStrike" kern="1200" cap="none" spc="0" normalizeH="0" baseline="30000" noProof="0" dirty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4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7</a:t>
                      </a:r>
                      <a:endParaRPr kumimoji="0" lang="zh-TW" altLang="en-US" sz="24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4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6</a:t>
                      </a:r>
                      <a:endParaRPr kumimoji="0" lang="zh-TW" altLang="en-US" sz="24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4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5</a:t>
                      </a:r>
                      <a:endParaRPr kumimoji="0" lang="zh-TW" altLang="en-US" sz="24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4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4</a:t>
                      </a:r>
                      <a:endParaRPr kumimoji="0" lang="zh-TW" altLang="en-US" sz="24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4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3</a:t>
                      </a:r>
                      <a:endParaRPr kumimoji="0" lang="zh-TW" altLang="en-US" sz="24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4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endParaRPr kumimoji="0" lang="zh-TW" altLang="en-US" sz="24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4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24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r>
                        <a:rPr lang="en-US" altLang="zh-TW" sz="2400" baseline="30000" dirty="0" smtClean="0"/>
                        <a:t>0</a:t>
                      </a:r>
                      <a:endParaRPr lang="zh-TW" altLang="en-US" sz="2400" baseline="30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0793884"/>
                  </a:ext>
                </a:extLst>
              </a:tr>
              <a:tr h="583142">
                <a:tc vMerge="1">
                  <a:txBody>
                    <a:bodyPr/>
                    <a:lstStyle/>
                    <a:p>
                      <a:pPr algn="l"/>
                      <a:endParaRPr lang="zh-TW" altLang="en-US" sz="24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6224361"/>
                  </a:ext>
                </a:extLst>
              </a:tr>
            </a:tbl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3339194" y="1754223"/>
            <a:ext cx="24929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solidFill>
                  <a:schemeClr val="accent5">
                    <a:lumMod val="50000"/>
                  </a:schemeClr>
                </a:solidFill>
              </a:rPr>
              <a:t>8-bit Example</a:t>
            </a:r>
            <a:endParaRPr lang="zh-TW" altLang="en-US" sz="32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1730829" y="4054846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+</a:t>
            </a:r>
            <a:endParaRPr lang="zh-TW" altLang="en-US" sz="28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9503229" y="4054846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1</a:t>
            </a:r>
            <a:endParaRPr lang="zh-TW" altLang="en-US" sz="2400" dirty="0"/>
          </a:p>
        </p:txBody>
      </p:sp>
      <p:sp>
        <p:nvSpPr>
          <p:cNvPr id="10" name="矩形 9"/>
          <p:cNvSpPr/>
          <p:nvPr/>
        </p:nvSpPr>
        <p:spPr>
          <a:xfrm>
            <a:off x="1730829" y="4637316"/>
            <a:ext cx="8334537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9744103"/>
              </p:ext>
            </p:extLst>
          </p:nvPr>
        </p:nvGraphicFramePr>
        <p:xfrm>
          <a:off x="2424791" y="4957145"/>
          <a:ext cx="7640577" cy="5831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953">
                  <a:extLst>
                    <a:ext uri="{9D8B030D-6E8A-4147-A177-3AD203B41FA5}">
                      <a16:colId xmlns:a16="http://schemas.microsoft.com/office/drawing/2014/main" val="2143789551"/>
                    </a:ext>
                  </a:extLst>
                </a:gridCol>
                <a:gridCol w="848953">
                  <a:extLst>
                    <a:ext uri="{9D8B030D-6E8A-4147-A177-3AD203B41FA5}">
                      <a16:colId xmlns:a16="http://schemas.microsoft.com/office/drawing/2014/main" val="2456375258"/>
                    </a:ext>
                  </a:extLst>
                </a:gridCol>
                <a:gridCol w="848953">
                  <a:extLst>
                    <a:ext uri="{9D8B030D-6E8A-4147-A177-3AD203B41FA5}">
                      <a16:colId xmlns:a16="http://schemas.microsoft.com/office/drawing/2014/main" val="3781180349"/>
                    </a:ext>
                  </a:extLst>
                </a:gridCol>
                <a:gridCol w="848953">
                  <a:extLst>
                    <a:ext uri="{9D8B030D-6E8A-4147-A177-3AD203B41FA5}">
                      <a16:colId xmlns:a16="http://schemas.microsoft.com/office/drawing/2014/main" val="4214147523"/>
                    </a:ext>
                  </a:extLst>
                </a:gridCol>
                <a:gridCol w="848953">
                  <a:extLst>
                    <a:ext uri="{9D8B030D-6E8A-4147-A177-3AD203B41FA5}">
                      <a16:colId xmlns:a16="http://schemas.microsoft.com/office/drawing/2014/main" val="3735271332"/>
                    </a:ext>
                  </a:extLst>
                </a:gridCol>
                <a:gridCol w="848953">
                  <a:extLst>
                    <a:ext uri="{9D8B030D-6E8A-4147-A177-3AD203B41FA5}">
                      <a16:colId xmlns:a16="http://schemas.microsoft.com/office/drawing/2014/main" val="949791615"/>
                    </a:ext>
                  </a:extLst>
                </a:gridCol>
                <a:gridCol w="848953">
                  <a:extLst>
                    <a:ext uri="{9D8B030D-6E8A-4147-A177-3AD203B41FA5}">
                      <a16:colId xmlns:a16="http://schemas.microsoft.com/office/drawing/2014/main" val="1309859924"/>
                    </a:ext>
                  </a:extLst>
                </a:gridCol>
                <a:gridCol w="846352">
                  <a:extLst>
                    <a:ext uri="{9D8B030D-6E8A-4147-A177-3AD203B41FA5}">
                      <a16:colId xmlns:a16="http://schemas.microsoft.com/office/drawing/2014/main" val="1228631982"/>
                    </a:ext>
                  </a:extLst>
                </a:gridCol>
                <a:gridCol w="851554">
                  <a:extLst>
                    <a:ext uri="{9D8B030D-6E8A-4147-A177-3AD203B41FA5}">
                      <a16:colId xmlns:a16="http://schemas.microsoft.com/office/drawing/2014/main" val="1706050987"/>
                    </a:ext>
                  </a:extLst>
                </a:gridCol>
              </a:tblGrid>
              <a:tr h="58314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60421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9277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0367744"/>
              </p:ext>
            </p:extLst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Unsigned Integer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5322370"/>
              </p:ext>
            </p:extLst>
          </p:nvPr>
        </p:nvGraphicFramePr>
        <p:xfrm>
          <a:off x="759278" y="2613780"/>
          <a:ext cx="9306088" cy="11662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677">
                  <a:extLst>
                    <a:ext uri="{9D8B030D-6E8A-4147-A177-3AD203B41FA5}">
                      <a16:colId xmlns:a16="http://schemas.microsoft.com/office/drawing/2014/main" val="428218296"/>
                    </a:ext>
                  </a:extLst>
                </a:gridCol>
                <a:gridCol w="846379">
                  <a:extLst>
                    <a:ext uri="{9D8B030D-6E8A-4147-A177-3AD203B41FA5}">
                      <a16:colId xmlns:a16="http://schemas.microsoft.com/office/drawing/2014/main" val="2057206069"/>
                    </a:ext>
                  </a:extLst>
                </a:gridCol>
                <a:gridCol w="846379">
                  <a:extLst>
                    <a:ext uri="{9D8B030D-6E8A-4147-A177-3AD203B41FA5}">
                      <a16:colId xmlns:a16="http://schemas.microsoft.com/office/drawing/2014/main" val="1065413873"/>
                    </a:ext>
                  </a:extLst>
                </a:gridCol>
                <a:gridCol w="846379">
                  <a:extLst>
                    <a:ext uri="{9D8B030D-6E8A-4147-A177-3AD203B41FA5}">
                      <a16:colId xmlns:a16="http://schemas.microsoft.com/office/drawing/2014/main" val="1440377133"/>
                    </a:ext>
                  </a:extLst>
                </a:gridCol>
                <a:gridCol w="846379">
                  <a:extLst>
                    <a:ext uri="{9D8B030D-6E8A-4147-A177-3AD203B41FA5}">
                      <a16:colId xmlns:a16="http://schemas.microsoft.com/office/drawing/2014/main" val="222121505"/>
                    </a:ext>
                  </a:extLst>
                </a:gridCol>
                <a:gridCol w="846379">
                  <a:extLst>
                    <a:ext uri="{9D8B030D-6E8A-4147-A177-3AD203B41FA5}">
                      <a16:colId xmlns:a16="http://schemas.microsoft.com/office/drawing/2014/main" val="1722118222"/>
                    </a:ext>
                  </a:extLst>
                </a:gridCol>
                <a:gridCol w="846379">
                  <a:extLst>
                    <a:ext uri="{9D8B030D-6E8A-4147-A177-3AD203B41FA5}">
                      <a16:colId xmlns:a16="http://schemas.microsoft.com/office/drawing/2014/main" val="1336707926"/>
                    </a:ext>
                  </a:extLst>
                </a:gridCol>
                <a:gridCol w="846379">
                  <a:extLst>
                    <a:ext uri="{9D8B030D-6E8A-4147-A177-3AD203B41FA5}">
                      <a16:colId xmlns:a16="http://schemas.microsoft.com/office/drawing/2014/main" val="1269832277"/>
                    </a:ext>
                  </a:extLst>
                </a:gridCol>
                <a:gridCol w="846379">
                  <a:extLst>
                    <a:ext uri="{9D8B030D-6E8A-4147-A177-3AD203B41FA5}">
                      <a16:colId xmlns:a16="http://schemas.microsoft.com/office/drawing/2014/main" val="1836531013"/>
                    </a:ext>
                  </a:extLst>
                </a:gridCol>
                <a:gridCol w="846379">
                  <a:extLst>
                    <a:ext uri="{9D8B030D-6E8A-4147-A177-3AD203B41FA5}">
                      <a16:colId xmlns:a16="http://schemas.microsoft.com/office/drawing/2014/main" val="1927441466"/>
                    </a:ext>
                  </a:extLst>
                </a:gridCol>
              </a:tblGrid>
              <a:tr h="583142">
                <a:tc rowSpan="2">
                  <a:txBody>
                    <a:bodyPr/>
                    <a:lstStyle/>
                    <a:p>
                      <a:pPr algn="l"/>
                      <a:r>
                        <a:rPr lang="en-US" altLang="zh-TW" sz="2800" b="1" dirty="0" smtClean="0">
                          <a:solidFill>
                            <a:srgbClr val="C00000"/>
                          </a:solidFill>
                        </a:rPr>
                        <a:t>Maximum</a:t>
                      </a:r>
                      <a:endParaRPr lang="zh-TW" altLang="en-US" sz="28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-US" altLang="zh-TW" sz="24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kumimoji="0" lang="zh-TW" altLang="en-US" sz="2400" b="1" i="0" u="none" strike="noStrike" kern="1200" cap="none" spc="0" normalizeH="0" baseline="30000" noProof="0" dirty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4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7</a:t>
                      </a:r>
                      <a:endParaRPr kumimoji="0" lang="zh-TW" altLang="en-US" sz="24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4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6</a:t>
                      </a:r>
                      <a:endParaRPr kumimoji="0" lang="zh-TW" altLang="en-US" sz="24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4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5</a:t>
                      </a:r>
                      <a:endParaRPr kumimoji="0" lang="zh-TW" altLang="en-US" sz="24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4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4</a:t>
                      </a:r>
                      <a:endParaRPr kumimoji="0" lang="zh-TW" altLang="en-US" sz="24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4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3</a:t>
                      </a:r>
                      <a:endParaRPr kumimoji="0" lang="zh-TW" altLang="en-US" sz="24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4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endParaRPr kumimoji="0" lang="zh-TW" altLang="en-US" sz="24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4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24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r>
                        <a:rPr lang="en-US" altLang="zh-TW" sz="2400" baseline="30000" dirty="0" smtClean="0"/>
                        <a:t>0</a:t>
                      </a:r>
                      <a:endParaRPr lang="zh-TW" altLang="en-US" sz="2400" baseline="30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0793884"/>
                  </a:ext>
                </a:extLst>
              </a:tr>
              <a:tr h="583142">
                <a:tc vMerge="1">
                  <a:txBody>
                    <a:bodyPr/>
                    <a:lstStyle/>
                    <a:p>
                      <a:pPr algn="l"/>
                      <a:endParaRPr lang="zh-TW" altLang="en-US" sz="24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6224361"/>
                  </a:ext>
                </a:extLst>
              </a:tr>
            </a:tbl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3339194" y="1754223"/>
            <a:ext cx="24929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solidFill>
                  <a:schemeClr val="accent5">
                    <a:lumMod val="50000"/>
                  </a:schemeClr>
                </a:solidFill>
              </a:rPr>
              <a:t>8-bit Example</a:t>
            </a:r>
            <a:endParaRPr lang="zh-TW" altLang="en-US" sz="32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1730829" y="4054846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+</a:t>
            </a:r>
            <a:endParaRPr lang="zh-TW" altLang="en-US" sz="28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9503229" y="4054846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1</a:t>
            </a:r>
            <a:endParaRPr lang="zh-TW" altLang="en-US" sz="2400" dirty="0"/>
          </a:p>
        </p:txBody>
      </p:sp>
      <p:sp>
        <p:nvSpPr>
          <p:cNvPr id="10" name="矩形 9"/>
          <p:cNvSpPr/>
          <p:nvPr/>
        </p:nvSpPr>
        <p:spPr>
          <a:xfrm>
            <a:off x="1730829" y="4637316"/>
            <a:ext cx="8334537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9744103"/>
              </p:ext>
            </p:extLst>
          </p:nvPr>
        </p:nvGraphicFramePr>
        <p:xfrm>
          <a:off x="2424791" y="4957145"/>
          <a:ext cx="7640577" cy="5831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953">
                  <a:extLst>
                    <a:ext uri="{9D8B030D-6E8A-4147-A177-3AD203B41FA5}">
                      <a16:colId xmlns:a16="http://schemas.microsoft.com/office/drawing/2014/main" val="2143789551"/>
                    </a:ext>
                  </a:extLst>
                </a:gridCol>
                <a:gridCol w="848953">
                  <a:extLst>
                    <a:ext uri="{9D8B030D-6E8A-4147-A177-3AD203B41FA5}">
                      <a16:colId xmlns:a16="http://schemas.microsoft.com/office/drawing/2014/main" val="2456375258"/>
                    </a:ext>
                  </a:extLst>
                </a:gridCol>
                <a:gridCol w="848953">
                  <a:extLst>
                    <a:ext uri="{9D8B030D-6E8A-4147-A177-3AD203B41FA5}">
                      <a16:colId xmlns:a16="http://schemas.microsoft.com/office/drawing/2014/main" val="3781180349"/>
                    </a:ext>
                  </a:extLst>
                </a:gridCol>
                <a:gridCol w="848953">
                  <a:extLst>
                    <a:ext uri="{9D8B030D-6E8A-4147-A177-3AD203B41FA5}">
                      <a16:colId xmlns:a16="http://schemas.microsoft.com/office/drawing/2014/main" val="4214147523"/>
                    </a:ext>
                  </a:extLst>
                </a:gridCol>
                <a:gridCol w="848953">
                  <a:extLst>
                    <a:ext uri="{9D8B030D-6E8A-4147-A177-3AD203B41FA5}">
                      <a16:colId xmlns:a16="http://schemas.microsoft.com/office/drawing/2014/main" val="3735271332"/>
                    </a:ext>
                  </a:extLst>
                </a:gridCol>
                <a:gridCol w="848953">
                  <a:extLst>
                    <a:ext uri="{9D8B030D-6E8A-4147-A177-3AD203B41FA5}">
                      <a16:colId xmlns:a16="http://schemas.microsoft.com/office/drawing/2014/main" val="949791615"/>
                    </a:ext>
                  </a:extLst>
                </a:gridCol>
                <a:gridCol w="848953">
                  <a:extLst>
                    <a:ext uri="{9D8B030D-6E8A-4147-A177-3AD203B41FA5}">
                      <a16:colId xmlns:a16="http://schemas.microsoft.com/office/drawing/2014/main" val="1309859924"/>
                    </a:ext>
                  </a:extLst>
                </a:gridCol>
                <a:gridCol w="846352">
                  <a:extLst>
                    <a:ext uri="{9D8B030D-6E8A-4147-A177-3AD203B41FA5}">
                      <a16:colId xmlns:a16="http://schemas.microsoft.com/office/drawing/2014/main" val="1228631982"/>
                    </a:ext>
                  </a:extLst>
                </a:gridCol>
                <a:gridCol w="851554">
                  <a:extLst>
                    <a:ext uri="{9D8B030D-6E8A-4147-A177-3AD203B41FA5}">
                      <a16:colId xmlns:a16="http://schemas.microsoft.com/office/drawing/2014/main" val="1706050987"/>
                    </a:ext>
                  </a:extLst>
                </a:gridCol>
              </a:tblGrid>
              <a:tr h="58314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6042122"/>
                  </a:ext>
                </a:extLst>
              </a:tr>
            </a:tbl>
          </a:graphicData>
        </a:graphic>
      </p:graphicFrame>
      <p:sp>
        <p:nvSpPr>
          <p:cNvPr id="12" name="文字方塊 11"/>
          <p:cNvSpPr txBox="1"/>
          <p:nvPr/>
        </p:nvSpPr>
        <p:spPr>
          <a:xfrm>
            <a:off x="2343150" y="5814397"/>
            <a:ext cx="19543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= 2</a:t>
            </a:r>
            <a:r>
              <a:rPr lang="en-US" altLang="zh-TW" sz="2800" baseline="30000" dirty="0" smtClean="0"/>
              <a:t>8</a:t>
            </a:r>
            <a:r>
              <a:rPr lang="en-US" altLang="zh-TW" sz="2800" dirty="0" smtClean="0"/>
              <a:t> = 256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33189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0367744"/>
              </p:ext>
            </p:extLst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Unsigned Integer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4164768"/>
              </p:ext>
            </p:extLst>
          </p:nvPr>
        </p:nvGraphicFramePr>
        <p:xfrm>
          <a:off x="889912" y="2613780"/>
          <a:ext cx="9175454" cy="11662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470">
                  <a:extLst>
                    <a:ext uri="{9D8B030D-6E8A-4147-A177-3AD203B41FA5}">
                      <a16:colId xmlns:a16="http://schemas.microsoft.com/office/drawing/2014/main" val="428218296"/>
                    </a:ext>
                  </a:extLst>
                </a:gridCol>
                <a:gridCol w="834498">
                  <a:extLst>
                    <a:ext uri="{9D8B030D-6E8A-4147-A177-3AD203B41FA5}">
                      <a16:colId xmlns:a16="http://schemas.microsoft.com/office/drawing/2014/main" val="1065413873"/>
                    </a:ext>
                  </a:extLst>
                </a:gridCol>
                <a:gridCol w="834498">
                  <a:extLst>
                    <a:ext uri="{9D8B030D-6E8A-4147-A177-3AD203B41FA5}">
                      <a16:colId xmlns:a16="http://schemas.microsoft.com/office/drawing/2014/main" val="1440377133"/>
                    </a:ext>
                  </a:extLst>
                </a:gridCol>
                <a:gridCol w="834498">
                  <a:extLst>
                    <a:ext uri="{9D8B030D-6E8A-4147-A177-3AD203B41FA5}">
                      <a16:colId xmlns:a16="http://schemas.microsoft.com/office/drawing/2014/main" val="222121505"/>
                    </a:ext>
                  </a:extLst>
                </a:gridCol>
                <a:gridCol w="834498">
                  <a:extLst>
                    <a:ext uri="{9D8B030D-6E8A-4147-A177-3AD203B41FA5}">
                      <a16:colId xmlns:a16="http://schemas.microsoft.com/office/drawing/2014/main" val="1722118222"/>
                    </a:ext>
                  </a:extLst>
                </a:gridCol>
                <a:gridCol w="834498">
                  <a:extLst>
                    <a:ext uri="{9D8B030D-6E8A-4147-A177-3AD203B41FA5}">
                      <a16:colId xmlns:a16="http://schemas.microsoft.com/office/drawing/2014/main" val="1336707926"/>
                    </a:ext>
                  </a:extLst>
                </a:gridCol>
                <a:gridCol w="834498">
                  <a:extLst>
                    <a:ext uri="{9D8B030D-6E8A-4147-A177-3AD203B41FA5}">
                      <a16:colId xmlns:a16="http://schemas.microsoft.com/office/drawing/2014/main" val="1269832277"/>
                    </a:ext>
                  </a:extLst>
                </a:gridCol>
                <a:gridCol w="834498">
                  <a:extLst>
                    <a:ext uri="{9D8B030D-6E8A-4147-A177-3AD203B41FA5}">
                      <a16:colId xmlns:a16="http://schemas.microsoft.com/office/drawing/2014/main" val="1836531013"/>
                    </a:ext>
                  </a:extLst>
                </a:gridCol>
                <a:gridCol w="834498">
                  <a:extLst>
                    <a:ext uri="{9D8B030D-6E8A-4147-A177-3AD203B41FA5}">
                      <a16:colId xmlns:a16="http://schemas.microsoft.com/office/drawing/2014/main" val="1927441466"/>
                    </a:ext>
                  </a:extLst>
                </a:gridCol>
              </a:tblGrid>
              <a:tr h="583142">
                <a:tc rowSpan="2">
                  <a:txBody>
                    <a:bodyPr/>
                    <a:lstStyle/>
                    <a:p>
                      <a:pPr algn="l"/>
                      <a:r>
                        <a:rPr lang="en-US" altLang="zh-TW" sz="2800" b="1" dirty="0" smtClean="0">
                          <a:solidFill>
                            <a:srgbClr val="C00000"/>
                          </a:solidFill>
                        </a:rPr>
                        <a:t>Maximum</a:t>
                      </a:r>
                      <a:endParaRPr lang="zh-TW" altLang="en-US" sz="28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4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7</a:t>
                      </a:r>
                      <a:endParaRPr kumimoji="0" lang="zh-TW" altLang="en-US" sz="24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4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6</a:t>
                      </a:r>
                      <a:endParaRPr kumimoji="0" lang="zh-TW" altLang="en-US" sz="24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4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5</a:t>
                      </a:r>
                      <a:endParaRPr kumimoji="0" lang="zh-TW" altLang="en-US" sz="24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4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4</a:t>
                      </a:r>
                      <a:endParaRPr kumimoji="0" lang="zh-TW" altLang="en-US" sz="24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4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3</a:t>
                      </a:r>
                      <a:endParaRPr kumimoji="0" lang="zh-TW" altLang="en-US" sz="24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4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endParaRPr kumimoji="0" lang="zh-TW" altLang="en-US" sz="24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4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24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r>
                        <a:rPr lang="en-US" altLang="zh-TW" sz="2400" baseline="30000" dirty="0" smtClean="0"/>
                        <a:t>0</a:t>
                      </a:r>
                      <a:endParaRPr lang="zh-TW" altLang="en-US" sz="2400" baseline="30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0793884"/>
                  </a:ext>
                </a:extLst>
              </a:tr>
              <a:tr h="583142">
                <a:tc vMerge="1">
                  <a:txBody>
                    <a:bodyPr/>
                    <a:lstStyle/>
                    <a:p>
                      <a:pPr algn="l"/>
                      <a:endParaRPr lang="zh-TW" altLang="en-US" sz="24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6224361"/>
                  </a:ext>
                </a:extLst>
              </a:tr>
            </a:tbl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3339194" y="1754223"/>
            <a:ext cx="24929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solidFill>
                  <a:schemeClr val="accent5">
                    <a:lumMod val="50000"/>
                  </a:schemeClr>
                </a:solidFill>
              </a:rPr>
              <a:t>8-bit Example</a:t>
            </a:r>
            <a:endParaRPr lang="zh-TW" altLang="en-US" sz="32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3339194" y="4054846"/>
            <a:ext cx="27302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= 256 – 1 = 255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94376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0367744"/>
              </p:ext>
            </p:extLst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Unsigned Integer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3339194" y="1754223"/>
            <a:ext cx="53658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solidFill>
                  <a:schemeClr val="accent5">
                    <a:lumMod val="50000"/>
                  </a:schemeClr>
                </a:solidFill>
              </a:rPr>
              <a:t>Range of 8-bit unsigned integer</a:t>
            </a:r>
            <a:endParaRPr lang="zh-TW" altLang="en-US" sz="32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3339194" y="2613780"/>
            <a:ext cx="16658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0 ~ 2</a:t>
            </a:r>
            <a:r>
              <a:rPr lang="en-US" altLang="zh-TW" sz="2800" baseline="30000" dirty="0" smtClean="0"/>
              <a:t>8</a:t>
            </a:r>
            <a:r>
              <a:rPr lang="en-US" altLang="zh-TW" sz="2800" dirty="0" smtClean="0"/>
              <a:t> - 1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785388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0367744"/>
              </p:ext>
            </p:extLst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Unsigned Integer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3339194" y="1754223"/>
            <a:ext cx="53658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solidFill>
                  <a:schemeClr val="accent5">
                    <a:lumMod val="50000"/>
                  </a:schemeClr>
                </a:solidFill>
              </a:rPr>
              <a:t>Range of 8-bit unsigned integer</a:t>
            </a:r>
            <a:endParaRPr lang="zh-TW" altLang="en-US" sz="32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3339194" y="2613780"/>
            <a:ext cx="16658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0 ~ 2</a:t>
            </a:r>
            <a:r>
              <a:rPr lang="en-US" altLang="zh-TW" sz="2800" baseline="30000" dirty="0" smtClean="0"/>
              <a:t>8</a:t>
            </a:r>
            <a:r>
              <a:rPr lang="en-US" altLang="zh-TW" sz="2800" dirty="0" smtClean="0"/>
              <a:t> - 1</a:t>
            </a:r>
            <a:endParaRPr lang="zh-TW" altLang="en-US" sz="28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3339194" y="3534037"/>
            <a:ext cx="53658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solidFill>
                  <a:schemeClr val="accent5">
                    <a:lumMod val="50000"/>
                  </a:schemeClr>
                </a:solidFill>
              </a:rPr>
              <a:t>Range of n-bit unsigned integer</a:t>
            </a:r>
            <a:endParaRPr lang="zh-TW" altLang="en-US" sz="3200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0238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0367744"/>
              </p:ext>
            </p:extLst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Unsigned Integer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3339194" y="1754223"/>
            <a:ext cx="53658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solidFill>
                  <a:schemeClr val="accent5">
                    <a:lumMod val="50000"/>
                  </a:schemeClr>
                </a:solidFill>
              </a:rPr>
              <a:t>Range of 8-bit unsigned integer</a:t>
            </a:r>
            <a:endParaRPr lang="zh-TW" altLang="en-US" sz="32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3339194" y="2613780"/>
            <a:ext cx="16658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0 ~ 2</a:t>
            </a:r>
            <a:r>
              <a:rPr lang="en-US" altLang="zh-TW" sz="2800" baseline="30000" dirty="0" smtClean="0"/>
              <a:t>8</a:t>
            </a:r>
            <a:r>
              <a:rPr lang="en-US" altLang="zh-TW" sz="2800" dirty="0" smtClean="0"/>
              <a:t> - 1</a:t>
            </a:r>
            <a:endParaRPr lang="zh-TW" altLang="en-US" sz="28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3339194" y="3534037"/>
            <a:ext cx="53658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solidFill>
                  <a:schemeClr val="accent5">
                    <a:lumMod val="50000"/>
                  </a:schemeClr>
                </a:solidFill>
              </a:rPr>
              <a:t>Range of n-bit unsigned integer</a:t>
            </a:r>
            <a:endParaRPr lang="zh-TW" altLang="en-US" sz="32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3339194" y="4525928"/>
            <a:ext cx="16658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0 ~ 2</a:t>
            </a:r>
            <a:r>
              <a:rPr lang="en-US" altLang="zh-TW" sz="2800" baseline="30000" dirty="0" smtClean="0"/>
              <a:t>n</a:t>
            </a:r>
            <a:r>
              <a:rPr lang="en-US" altLang="zh-TW" sz="2800" dirty="0" smtClean="0"/>
              <a:t> - 1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723655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2783110"/>
              </p:ext>
            </p:extLst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sp>
        <p:nvSpPr>
          <p:cNvPr id="2" name="文字方塊 1"/>
          <p:cNvSpPr txBox="1"/>
          <p:nvPr/>
        </p:nvSpPr>
        <p:spPr>
          <a:xfrm>
            <a:off x="4367893" y="2351313"/>
            <a:ext cx="433523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zh-TW" sz="3200" dirty="0" smtClean="0"/>
              <a:t>Sign &amp; Magnitude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zh-TW" sz="3200" dirty="0" smtClean="0"/>
              <a:t>1’s Complement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zh-TW" sz="3200" dirty="0" smtClean="0"/>
              <a:t>2’s Complement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411801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374793"/>
              </p:ext>
            </p:extLst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Magnitude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sp>
        <p:nvSpPr>
          <p:cNvPr id="3" name="文字方塊 2"/>
          <p:cNvSpPr txBox="1"/>
          <p:nvPr/>
        </p:nvSpPr>
        <p:spPr>
          <a:xfrm>
            <a:off x="120531" y="1519998"/>
            <a:ext cx="51968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How to express 4-bit S&amp;M -5</a:t>
            </a:r>
            <a:r>
              <a:rPr lang="en-US" altLang="zh-TW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9976329" y="1458442"/>
            <a:ext cx="22156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Example 1</a:t>
            </a:r>
            <a:endParaRPr lang="zh-TW" alt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5565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374793"/>
              </p:ext>
            </p:extLst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Magnitude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sp>
        <p:nvSpPr>
          <p:cNvPr id="3" name="文字方塊 2"/>
          <p:cNvSpPr txBox="1"/>
          <p:nvPr/>
        </p:nvSpPr>
        <p:spPr>
          <a:xfrm>
            <a:off x="120531" y="1519998"/>
            <a:ext cx="51968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How to express 4-bit S&amp;M -5</a:t>
            </a:r>
            <a:r>
              <a:rPr lang="en-US" altLang="zh-TW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2352055"/>
              </p:ext>
            </p:extLst>
          </p:nvPr>
        </p:nvGraphicFramePr>
        <p:xfrm>
          <a:off x="4590769" y="3354481"/>
          <a:ext cx="1782816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4089167596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1152340453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94449"/>
                  </a:ext>
                </a:extLst>
              </a:tr>
            </a:tbl>
          </a:graphicData>
        </a:graphic>
      </p:graphicFrame>
      <p:sp>
        <p:nvSpPr>
          <p:cNvPr id="12" name="右大括弧 11"/>
          <p:cNvSpPr/>
          <p:nvPr/>
        </p:nvSpPr>
        <p:spPr>
          <a:xfrm rot="16200000">
            <a:off x="4882353" y="2748649"/>
            <a:ext cx="242476" cy="825641"/>
          </a:xfrm>
          <a:prstGeom prst="rightBrace">
            <a:avLst>
              <a:gd name="adj1" fmla="val 25419"/>
              <a:gd name="adj2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右大括弧 12"/>
          <p:cNvSpPr/>
          <p:nvPr/>
        </p:nvSpPr>
        <p:spPr>
          <a:xfrm rot="16200000">
            <a:off x="5818990" y="2748649"/>
            <a:ext cx="242476" cy="825641"/>
          </a:xfrm>
          <a:prstGeom prst="rightBrace">
            <a:avLst>
              <a:gd name="adj1" fmla="val 25419"/>
              <a:gd name="adj2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/>
          <p:cNvSpPr txBox="1"/>
          <p:nvPr/>
        </p:nvSpPr>
        <p:spPr>
          <a:xfrm>
            <a:off x="4560500" y="2361821"/>
            <a:ext cx="8851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solidFill>
                  <a:srgbClr val="C00000"/>
                </a:solidFill>
              </a:rPr>
              <a:t>Sign</a:t>
            </a:r>
            <a:endParaRPr lang="zh-TW" altLang="en-US" sz="3200" dirty="0">
              <a:solidFill>
                <a:srgbClr val="C0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5527407" y="2361820"/>
            <a:ext cx="19431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solidFill>
                  <a:srgbClr val="C00000"/>
                </a:solidFill>
              </a:rPr>
              <a:t>Magnitude</a:t>
            </a:r>
            <a:endParaRPr lang="zh-TW" altLang="en-US" sz="3200" dirty="0">
              <a:solidFill>
                <a:srgbClr val="C00000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9976329" y="1458442"/>
            <a:ext cx="22156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Example 1</a:t>
            </a:r>
            <a:endParaRPr lang="zh-TW" alt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1978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374793"/>
              </p:ext>
            </p:extLst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Magnitude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sp>
        <p:nvSpPr>
          <p:cNvPr id="3" name="文字方塊 2"/>
          <p:cNvSpPr txBox="1"/>
          <p:nvPr/>
        </p:nvSpPr>
        <p:spPr>
          <a:xfrm>
            <a:off x="120531" y="1519998"/>
            <a:ext cx="51968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How to express 4-bit S&amp;M -5</a:t>
            </a:r>
            <a:r>
              <a:rPr lang="en-US" altLang="zh-TW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2352055"/>
              </p:ext>
            </p:extLst>
          </p:nvPr>
        </p:nvGraphicFramePr>
        <p:xfrm>
          <a:off x="4590769" y="3354481"/>
          <a:ext cx="1782816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4089167596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1152340453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94449"/>
                  </a:ext>
                </a:extLst>
              </a:tr>
            </a:tbl>
          </a:graphicData>
        </a:graphic>
      </p:graphicFrame>
      <p:sp>
        <p:nvSpPr>
          <p:cNvPr id="12" name="右大括弧 11"/>
          <p:cNvSpPr/>
          <p:nvPr/>
        </p:nvSpPr>
        <p:spPr>
          <a:xfrm rot="16200000">
            <a:off x="4882353" y="2748649"/>
            <a:ext cx="242476" cy="825641"/>
          </a:xfrm>
          <a:prstGeom prst="rightBrace">
            <a:avLst>
              <a:gd name="adj1" fmla="val 25419"/>
              <a:gd name="adj2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右大括弧 12"/>
          <p:cNvSpPr/>
          <p:nvPr/>
        </p:nvSpPr>
        <p:spPr>
          <a:xfrm rot="16200000">
            <a:off x="5818990" y="2748649"/>
            <a:ext cx="242476" cy="825641"/>
          </a:xfrm>
          <a:prstGeom prst="rightBrace">
            <a:avLst>
              <a:gd name="adj1" fmla="val 25419"/>
              <a:gd name="adj2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/>
          <p:cNvSpPr txBox="1"/>
          <p:nvPr/>
        </p:nvSpPr>
        <p:spPr>
          <a:xfrm>
            <a:off x="4560500" y="2361821"/>
            <a:ext cx="8851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solidFill>
                  <a:srgbClr val="C00000"/>
                </a:solidFill>
              </a:rPr>
              <a:t>Sign</a:t>
            </a:r>
            <a:endParaRPr lang="zh-TW" altLang="en-US" sz="3200" dirty="0">
              <a:solidFill>
                <a:srgbClr val="C0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5527407" y="2361820"/>
            <a:ext cx="19431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solidFill>
                  <a:srgbClr val="C00000"/>
                </a:solidFill>
              </a:rPr>
              <a:t>Magnitude</a:t>
            </a:r>
            <a:endParaRPr lang="zh-TW" altLang="en-US" sz="3200" dirty="0">
              <a:solidFill>
                <a:srgbClr val="C00000"/>
              </a:solidFill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9934558"/>
              </p:ext>
            </p:extLst>
          </p:nvPr>
        </p:nvGraphicFramePr>
        <p:xfrm>
          <a:off x="4590769" y="4893813"/>
          <a:ext cx="3565632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sp>
        <p:nvSpPr>
          <p:cNvPr id="11" name="文字方塊 10"/>
          <p:cNvSpPr txBox="1"/>
          <p:nvPr/>
        </p:nvSpPr>
        <p:spPr>
          <a:xfrm>
            <a:off x="4611774" y="5797995"/>
            <a:ext cx="8851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solidFill>
                  <a:srgbClr val="C00000"/>
                </a:solidFill>
              </a:rPr>
              <a:t>Sign</a:t>
            </a:r>
            <a:endParaRPr lang="zh-TW" altLang="en-US" sz="3200" dirty="0">
              <a:solidFill>
                <a:srgbClr val="C00000"/>
              </a:solidFill>
            </a:endParaRPr>
          </a:p>
        </p:txBody>
      </p:sp>
      <p:sp>
        <p:nvSpPr>
          <p:cNvPr id="16" name="左大括弧 15"/>
          <p:cNvSpPr/>
          <p:nvPr/>
        </p:nvSpPr>
        <p:spPr>
          <a:xfrm rot="16200000">
            <a:off x="6707531" y="4270112"/>
            <a:ext cx="238292" cy="2659448"/>
          </a:xfrm>
          <a:prstGeom prst="leftBrace">
            <a:avLst>
              <a:gd name="adj1" fmla="val 49447"/>
              <a:gd name="adj2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/>
          <p:cNvSpPr txBox="1"/>
          <p:nvPr/>
        </p:nvSpPr>
        <p:spPr>
          <a:xfrm>
            <a:off x="5961232" y="5797995"/>
            <a:ext cx="19431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solidFill>
                  <a:srgbClr val="C00000"/>
                </a:solidFill>
              </a:rPr>
              <a:t>Magnitude</a:t>
            </a:r>
            <a:endParaRPr lang="zh-TW" altLang="en-US" sz="3200" dirty="0">
              <a:solidFill>
                <a:srgbClr val="C00000"/>
              </a:solidFill>
            </a:endParaRPr>
          </a:p>
        </p:txBody>
      </p:sp>
      <p:sp>
        <p:nvSpPr>
          <p:cNvPr id="18" name="右大括弧 17"/>
          <p:cNvSpPr/>
          <p:nvPr/>
        </p:nvSpPr>
        <p:spPr>
          <a:xfrm rot="5400000">
            <a:off x="4903356" y="5189108"/>
            <a:ext cx="242476" cy="825641"/>
          </a:xfrm>
          <a:prstGeom prst="rightBrace">
            <a:avLst>
              <a:gd name="adj1" fmla="val 25419"/>
              <a:gd name="adj2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/>
          <p:cNvSpPr txBox="1"/>
          <p:nvPr/>
        </p:nvSpPr>
        <p:spPr>
          <a:xfrm>
            <a:off x="9976329" y="1458442"/>
            <a:ext cx="22156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Example 1</a:t>
            </a:r>
            <a:endParaRPr lang="zh-TW" alt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5422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374793"/>
              </p:ext>
            </p:extLst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Magnitude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sp>
        <p:nvSpPr>
          <p:cNvPr id="3" name="文字方塊 2"/>
          <p:cNvSpPr txBox="1"/>
          <p:nvPr/>
        </p:nvSpPr>
        <p:spPr>
          <a:xfrm>
            <a:off x="120531" y="1519998"/>
            <a:ext cx="51968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How to express 4-bit S&amp;M -5</a:t>
            </a:r>
            <a:r>
              <a:rPr lang="en-US" altLang="zh-TW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2606794"/>
              </p:ext>
            </p:extLst>
          </p:nvPr>
        </p:nvGraphicFramePr>
        <p:xfrm>
          <a:off x="4590769" y="4893813"/>
          <a:ext cx="3565632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4611774" y="5797995"/>
            <a:ext cx="8851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solidFill>
                  <a:srgbClr val="C00000"/>
                </a:solidFill>
              </a:rPr>
              <a:t>Sign</a:t>
            </a:r>
            <a:endParaRPr lang="zh-TW" altLang="en-US" sz="3200" dirty="0">
              <a:solidFill>
                <a:srgbClr val="C00000"/>
              </a:solidFill>
            </a:endParaRPr>
          </a:p>
        </p:txBody>
      </p:sp>
      <p:sp>
        <p:nvSpPr>
          <p:cNvPr id="7" name="左大括弧 6"/>
          <p:cNvSpPr/>
          <p:nvPr/>
        </p:nvSpPr>
        <p:spPr>
          <a:xfrm rot="16200000">
            <a:off x="6707531" y="4270112"/>
            <a:ext cx="238292" cy="2659448"/>
          </a:xfrm>
          <a:prstGeom prst="leftBrace">
            <a:avLst>
              <a:gd name="adj1" fmla="val 49447"/>
              <a:gd name="adj2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5961232" y="5797995"/>
            <a:ext cx="19431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solidFill>
                  <a:srgbClr val="C00000"/>
                </a:solidFill>
              </a:rPr>
              <a:t>Magnitude</a:t>
            </a:r>
            <a:endParaRPr lang="zh-TW" altLang="en-US" sz="3200" dirty="0">
              <a:solidFill>
                <a:srgbClr val="C00000"/>
              </a:solidFill>
            </a:endParaRPr>
          </a:p>
        </p:txBody>
      </p:sp>
      <p:sp>
        <p:nvSpPr>
          <p:cNvPr id="9" name="右大括弧 8"/>
          <p:cNvSpPr/>
          <p:nvPr/>
        </p:nvSpPr>
        <p:spPr>
          <a:xfrm rot="5400000">
            <a:off x="4903356" y="5189108"/>
            <a:ext cx="242476" cy="825641"/>
          </a:xfrm>
          <a:prstGeom prst="rightBrace">
            <a:avLst>
              <a:gd name="adj1" fmla="val 25419"/>
              <a:gd name="adj2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4079017"/>
              </p:ext>
            </p:extLst>
          </p:nvPr>
        </p:nvGraphicFramePr>
        <p:xfrm>
          <a:off x="4590769" y="3354481"/>
          <a:ext cx="1782816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4089167596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1152340453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594449"/>
                  </a:ext>
                </a:extLst>
              </a:tr>
            </a:tbl>
          </a:graphicData>
        </a:graphic>
      </p:graphicFrame>
      <p:sp>
        <p:nvSpPr>
          <p:cNvPr id="12" name="右大括弧 11"/>
          <p:cNvSpPr/>
          <p:nvPr/>
        </p:nvSpPr>
        <p:spPr>
          <a:xfrm rot="16200000">
            <a:off x="4882353" y="2748649"/>
            <a:ext cx="242476" cy="825641"/>
          </a:xfrm>
          <a:prstGeom prst="rightBrace">
            <a:avLst>
              <a:gd name="adj1" fmla="val 25419"/>
              <a:gd name="adj2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右大括弧 12"/>
          <p:cNvSpPr/>
          <p:nvPr/>
        </p:nvSpPr>
        <p:spPr>
          <a:xfrm rot="16200000">
            <a:off x="5818990" y="2748649"/>
            <a:ext cx="242476" cy="825641"/>
          </a:xfrm>
          <a:prstGeom prst="rightBrace">
            <a:avLst>
              <a:gd name="adj1" fmla="val 25419"/>
              <a:gd name="adj2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/>
          <p:cNvSpPr txBox="1"/>
          <p:nvPr/>
        </p:nvSpPr>
        <p:spPr>
          <a:xfrm>
            <a:off x="4560500" y="2361821"/>
            <a:ext cx="8851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solidFill>
                  <a:srgbClr val="C00000"/>
                </a:solidFill>
              </a:rPr>
              <a:t>Sign</a:t>
            </a:r>
            <a:endParaRPr lang="zh-TW" altLang="en-US" sz="3200" dirty="0">
              <a:solidFill>
                <a:srgbClr val="C0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5527407" y="2361820"/>
            <a:ext cx="19431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solidFill>
                  <a:srgbClr val="C00000"/>
                </a:solidFill>
              </a:rPr>
              <a:t>Magnitude</a:t>
            </a:r>
            <a:endParaRPr lang="zh-TW" altLang="en-US" sz="3200" dirty="0">
              <a:solidFill>
                <a:srgbClr val="C00000"/>
              </a:solidFill>
            </a:endParaRPr>
          </a:p>
        </p:txBody>
      </p:sp>
      <p:sp>
        <p:nvSpPr>
          <p:cNvPr id="16" name="手繪多邊形 15"/>
          <p:cNvSpPr/>
          <p:nvPr/>
        </p:nvSpPr>
        <p:spPr>
          <a:xfrm>
            <a:off x="6376307" y="3861707"/>
            <a:ext cx="1779815" cy="1036864"/>
          </a:xfrm>
          <a:custGeom>
            <a:avLst/>
            <a:gdLst>
              <a:gd name="connsiteX0" fmla="*/ 0 w 1779815"/>
              <a:gd name="connsiteY0" fmla="*/ 0 h 1036864"/>
              <a:gd name="connsiteX1" fmla="*/ 424543 w 1779815"/>
              <a:gd name="connsiteY1" fmla="*/ 473529 h 1036864"/>
              <a:gd name="connsiteX2" fmla="*/ 1779815 w 1779815"/>
              <a:gd name="connsiteY2" fmla="*/ 1036864 h 103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79815" h="1036864">
                <a:moveTo>
                  <a:pt x="0" y="0"/>
                </a:moveTo>
                <a:cubicBezTo>
                  <a:pt x="63953" y="150359"/>
                  <a:pt x="127907" y="300718"/>
                  <a:pt x="424543" y="473529"/>
                </a:cubicBezTo>
                <a:cubicBezTo>
                  <a:pt x="721179" y="646340"/>
                  <a:pt x="1250497" y="841602"/>
                  <a:pt x="1779815" y="1036864"/>
                </a:cubicBezTo>
              </a:path>
            </a:pathLst>
          </a:cu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手繪多邊形 16"/>
          <p:cNvSpPr/>
          <p:nvPr/>
        </p:nvSpPr>
        <p:spPr>
          <a:xfrm>
            <a:off x="5412922" y="3869871"/>
            <a:ext cx="73478" cy="1020536"/>
          </a:xfrm>
          <a:custGeom>
            <a:avLst/>
            <a:gdLst>
              <a:gd name="connsiteX0" fmla="*/ 73478 w 73478"/>
              <a:gd name="connsiteY0" fmla="*/ 0 h 1020536"/>
              <a:gd name="connsiteX1" fmla="*/ 0 w 73478"/>
              <a:gd name="connsiteY1" fmla="*/ 465365 h 1020536"/>
              <a:gd name="connsiteX2" fmla="*/ 73478 w 73478"/>
              <a:gd name="connsiteY2" fmla="*/ 1020536 h 1020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478" h="1020536">
                <a:moveTo>
                  <a:pt x="73478" y="0"/>
                </a:moveTo>
                <a:cubicBezTo>
                  <a:pt x="36739" y="147638"/>
                  <a:pt x="0" y="295276"/>
                  <a:pt x="0" y="465365"/>
                </a:cubicBezTo>
                <a:cubicBezTo>
                  <a:pt x="0" y="635454"/>
                  <a:pt x="36739" y="827995"/>
                  <a:pt x="73478" y="1020536"/>
                </a:cubicBezTo>
              </a:path>
            </a:pathLst>
          </a:cu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9976329" y="1458442"/>
            <a:ext cx="22156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Example 1</a:t>
            </a:r>
            <a:endParaRPr lang="zh-TW" alt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771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374793"/>
              </p:ext>
            </p:extLst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Magnitude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sp>
        <p:nvSpPr>
          <p:cNvPr id="3" name="文字方塊 2"/>
          <p:cNvSpPr txBox="1"/>
          <p:nvPr/>
        </p:nvSpPr>
        <p:spPr>
          <a:xfrm>
            <a:off x="120531" y="1519998"/>
            <a:ext cx="51968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How to express 4-bit S&amp;M -5</a:t>
            </a:r>
            <a:r>
              <a:rPr lang="en-US" altLang="zh-TW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8940966"/>
              </p:ext>
            </p:extLst>
          </p:nvPr>
        </p:nvGraphicFramePr>
        <p:xfrm>
          <a:off x="4590769" y="4893813"/>
          <a:ext cx="3565632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4611774" y="5797995"/>
            <a:ext cx="8851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solidFill>
                  <a:srgbClr val="C00000"/>
                </a:solidFill>
              </a:rPr>
              <a:t>Sign</a:t>
            </a:r>
            <a:endParaRPr lang="zh-TW" altLang="en-US" sz="3200" dirty="0">
              <a:solidFill>
                <a:srgbClr val="C00000"/>
              </a:solidFill>
            </a:endParaRPr>
          </a:p>
        </p:txBody>
      </p:sp>
      <p:sp>
        <p:nvSpPr>
          <p:cNvPr id="7" name="左大括弧 6"/>
          <p:cNvSpPr/>
          <p:nvPr/>
        </p:nvSpPr>
        <p:spPr>
          <a:xfrm rot="16200000">
            <a:off x="6707531" y="4270112"/>
            <a:ext cx="238292" cy="2659448"/>
          </a:xfrm>
          <a:prstGeom prst="leftBrace">
            <a:avLst>
              <a:gd name="adj1" fmla="val 49447"/>
              <a:gd name="adj2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5961232" y="5797995"/>
            <a:ext cx="19431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solidFill>
                  <a:srgbClr val="C00000"/>
                </a:solidFill>
              </a:rPr>
              <a:t>Magnitude</a:t>
            </a:r>
            <a:endParaRPr lang="zh-TW" altLang="en-US" sz="3200" dirty="0">
              <a:solidFill>
                <a:srgbClr val="C00000"/>
              </a:solidFill>
            </a:endParaRPr>
          </a:p>
        </p:txBody>
      </p:sp>
      <p:sp>
        <p:nvSpPr>
          <p:cNvPr id="9" name="右大括弧 8"/>
          <p:cNvSpPr/>
          <p:nvPr/>
        </p:nvSpPr>
        <p:spPr>
          <a:xfrm rot="5400000">
            <a:off x="4903356" y="5189108"/>
            <a:ext cx="242476" cy="825641"/>
          </a:xfrm>
          <a:prstGeom prst="rightBrace">
            <a:avLst>
              <a:gd name="adj1" fmla="val 25419"/>
              <a:gd name="adj2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704958"/>
              </p:ext>
            </p:extLst>
          </p:nvPr>
        </p:nvGraphicFramePr>
        <p:xfrm>
          <a:off x="4590769" y="3354481"/>
          <a:ext cx="1782816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4089167596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1152340453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94449"/>
                  </a:ext>
                </a:extLst>
              </a:tr>
            </a:tbl>
          </a:graphicData>
        </a:graphic>
      </p:graphicFrame>
      <p:sp>
        <p:nvSpPr>
          <p:cNvPr id="12" name="右大括弧 11"/>
          <p:cNvSpPr/>
          <p:nvPr/>
        </p:nvSpPr>
        <p:spPr>
          <a:xfrm rot="16200000">
            <a:off x="4882353" y="2748649"/>
            <a:ext cx="242476" cy="825641"/>
          </a:xfrm>
          <a:prstGeom prst="rightBrace">
            <a:avLst>
              <a:gd name="adj1" fmla="val 25419"/>
              <a:gd name="adj2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右大括弧 12"/>
          <p:cNvSpPr/>
          <p:nvPr/>
        </p:nvSpPr>
        <p:spPr>
          <a:xfrm rot="16200000">
            <a:off x="5818990" y="2748649"/>
            <a:ext cx="242476" cy="825641"/>
          </a:xfrm>
          <a:prstGeom prst="rightBrace">
            <a:avLst>
              <a:gd name="adj1" fmla="val 25419"/>
              <a:gd name="adj2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/>
          <p:cNvSpPr txBox="1"/>
          <p:nvPr/>
        </p:nvSpPr>
        <p:spPr>
          <a:xfrm>
            <a:off x="4560500" y="2361821"/>
            <a:ext cx="8851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solidFill>
                  <a:srgbClr val="C00000"/>
                </a:solidFill>
              </a:rPr>
              <a:t>Sign</a:t>
            </a:r>
            <a:endParaRPr lang="zh-TW" altLang="en-US" sz="3200" dirty="0">
              <a:solidFill>
                <a:srgbClr val="C0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5527407" y="2361820"/>
            <a:ext cx="19431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solidFill>
                  <a:srgbClr val="C00000"/>
                </a:solidFill>
              </a:rPr>
              <a:t>Magnitude</a:t>
            </a:r>
            <a:endParaRPr lang="zh-TW" altLang="en-US" sz="3200" dirty="0">
              <a:solidFill>
                <a:srgbClr val="C00000"/>
              </a:solidFill>
            </a:endParaRPr>
          </a:p>
        </p:txBody>
      </p:sp>
      <p:sp>
        <p:nvSpPr>
          <p:cNvPr id="17" name="手繪多邊形 16"/>
          <p:cNvSpPr/>
          <p:nvPr/>
        </p:nvSpPr>
        <p:spPr>
          <a:xfrm>
            <a:off x="5413023" y="3869871"/>
            <a:ext cx="73478" cy="1020536"/>
          </a:xfrm>
          <a:custGeom>
            <a:avLst/>
            <a:gdLst>
              <a:gd name="connsiteX0" fmla="*/ 73478 w 73478"/>
              <a:gd name="connsiteY0" fmla="*/ 0 h 1020536"/>
              <a:gd name="connsiteX1" fmla="*/ 0 w 73478"/>
              <a:gd name="connsiteY1" fmla="*/ 465365 h 1020536"/>
              <a:gd name="connsiteX2" fmla="*/ 73478 w 73478"/>
              <a:gd name="connsiteY2" fmla="*/ 1020536 h 1020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478" h="1020536">
                <a:moveTo>
                  <a:pt x="73478" y="0"/>
                </a:moveTo>
                <a:cubicBezTo>
                  <a:pt x="36739" y="147638"/>
                  <a:pt x="0" y="295276"/>
                  <a:pt x="0" y="465365"/>
                </a:cubicBezTo>
                <a:cubicBezTo>
                  <a:pt x="0" y="635454"/>
                  <a:pt x="36739" y="827995"/>
                  <a:pt x="73478" y="1020536"/>
                </a:cubicBezTo>
              </a:path>
            </a:pathLst>
          </a:cu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手繪多邊形 17"/>
          <p:cNvSpPr/>
          <p:nvPr/>
        </p:nvSpPr>
        <p:spPr>
          <a:xfrm>
            <a:off x="4523761" y="3869871"/>
            <a:ext cx="73478" cy="1020536"/>
          </a:xfrm>
          <a:custGeom>
            <a:avLst/>
            <a:gdLst>
              <a:gd name="connsiteX0" fmla="*/ 73478 w 73478"/>
              <a:gd name="connsiteY0" fmla="*/ 0 h 1020536"/>
              <a:gd name="connsiteX1" fmla="*/ 0 w 73478"/>
              <a:gd name="connsiteY1" fmla="*/ 465365 h 1020536"/>
              <a:gd name="connsiteX2" fmla="*/ 73478 w 73478"/>
              <a:gd name="connsiteY2" fmla="*/ 1020536 h 1020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478" h="1020536">
                <a:moveTo>
                  <a:pt x="73478" y="0"/>
                </a:moveTo>
                <a:cubicBezTo>
                  <a:pt x="36739" y="147638"/>
                  <a:pt x="0" y="295276"/>
                  <a:pt x="0" y="465365"/>
                </a:cubicBezTo>
                <a:cubicBezTo>
                  <a:pt x="0" y="635454"/>
                  <a:pt x="36739" y="827995"/>
                  <a:pt x="73478" y="1020536"/>
                </a:cubicBezTo>
              </a:path>
            </a:pathLst>
          </a:cu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/>
          <p:cNvSpPr txBox="1"/>
          <p:nvPr/>
        </p:nvSpPr>
        <p:spPr>
          <a:xfrm>
            <a:off x="9976329" y="1458442"/>
            <a:ext cx="22156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Example 1</a:t>
            </a:r>
            <a:endParaRPr lang="zh-TW" alt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5863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374793"/>
              </p:ext>
            </p:extLst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Magnitude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sp>
        <p:nvSpPr>
          <p:cNvPr id="3" name="文字方塊 2"/>
          <p:cNvSpPr txBox="1"/>
          <p:nvPr/>
        </p:nvSpPr>
        <p:spPr>
          <a:xfrm>
            <a:off x="120531" y="1519998"/>
            <a:ext cx="51968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How to express 4-bit S&amp;M -5</a:t>
            </a:r>
            <a:r>
              <a:rPr lang="en-US" altLang="zh-TW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5395809"/>
              </p:ext>
            </p:extLst>
          </p:nvPr>
        </p:nvGraphicFramePr>
        <p:xfrm>
          <a:off x="4590769" y="4893813"/>
          <a:ext cx="3565632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9976329" y="1458442"/>
            <a:ext cx="22156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Example 1</a:t>
            </a:r>
            <a:endParaRPr lang="zh-TW" alt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0736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374793"/>
              </p:ext>
            </p:extLst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Magnitude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sp>
        <p:nvSpPr>
          <p:cNvPr id="3" name="文字方塊 2"/>
          <p:cNvSpPr txBox="1"/>
          <p:nvPr/>
        </p:nvSpPr>
        <p:spPr>
          <a:xfrm>
            <a:off x="120531" y="1519998"/>
            <a:ext cx="53346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How to express 4-bit S&amp;M +3</a:t>
            </a:r>
            <a:r>
              <a:rPr lang="en-US" altLang="zh-TW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9976329" y="1458442"/>
            <a:ext cx="22156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Example 2</a:t>
            </a:r>
            <a:endParaRPr lang="zh-TW" alt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8216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374793"/>
              </p:ext>
            </p:extLst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Magnitude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sp>
        <p:nvSpPr>
          <p:cNvPr id="3" name="文字方塊 2"/>
          <p:cNvSpPr txBox="1"/>
          <p:nvPr/>
        </p:nvSpPr>
        <p:spPr>
          <a:xfrm>
            <a:off x="120531" y="1519998"/>
            <a:ext cx="53346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How to express 4-bit S&amp;M +3</a:t>
            </a:r>
            <a:r>
              <a:rPr lang="en-US" altLang="zh-TW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5028338"/>
              </p:ext>
            </p:extLst>
          </p:nvPr>
        </p:nvGraphicFramePr>
        <p:xfrm>
          <a:off x="4590769" y="3354481"/>
          <a:ext cx="1782816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4089167596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1152340453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+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94449"/>
                  </a:ext>
                </a:extLst>
              </a:tr>
            </a:tbl>
          </a:graphicData>
        </a:graphic>
      </p:graphicFrame>
      <p:sp>
        <p:nvSpPr>
          <p:cNvPr id="12" name="右大括弧 11"/>
          <p:cNvSpPr/>
          <p:nvPr/>
        </p:nvSpPr>
        <p:spPr>
          <a:xfrm rot="16200000">
            <a:off x="4882353" y="2748649"/>
            <a:ext cx="242476" cy="825641"/>
          </a:xfrm>
          <a:prstGeom prst="rightBrace">
            <a:avLst>
              <a:gd name="adj1" fmla="val 25419"/>
              <a:gd name="adj2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右大括弧 12"/>
          <p:cNvSpPr/>
          <p:nvPr/>
        </p:nvSpPr>
        <p:spPr>
          <a:xfrm rot="16200000">
            <a:off x="5818990" y="2748649"/>
            <a:ext cx="242476" cy="825641"/>
          </a:xfrm>
          <a:prstGeom prst="rightBrace">
            <a:avLst>
              <a:gd name="adj1" fmla="val 25419"/>
              <a:gd name="adj2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/>
          <p:cNvSpPr txBox="1"/>
          <p:nvPr/>
        </p:nvSpPr>
        <p:spPr>
          <a:xfrm>
            <a:off x="4560500" y="2361821"/>
            <a:ext cx="8851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solidFill>
                  <a:srgbClr val="C00000"/>
                </a:solidFill>
              </a:rPr>
              <a:t>Sign</a:t>
            </a:r>
            <a:endParaRPr lang="zh-TW" altLang="en-US" sz="3200" dirty="0">
              <a:solidFill>
                <a:srgbClr val="C0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5527407" y="2361820"/>
            <a:ext cx="19431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solidFill>
                  <a:srgbClr val="C00000"/>
                </a:solidFill>
              </a:rPr>
              <a:t>Magnitude</a:t>
            </a:r>
            <a:endParaRPr lang="zh-TW" altLang="en-US" sz="3200" dirty="0">
              <a:solidFill>
                <a:srgbClr val="C00000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9976329" y="1458442"/>
            <a:ext cx="22156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Example 2</a:t>
            </a:r>
            <a:endParaRPr lang="zh-TW" alt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1224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374793"/>
              </p:ext>
            </p:extLst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Magnitude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sp>
        <p:nvSpPr>
          <p:cNvPr id="3" name="文字方塊 2"/>
          <p:cNvSpPr txBox="1"/>
          <p:nvPr/>
        </p:nvSpPr>
        <p:spPr>
          <a:xfrm>
            <a:off x="120531" y="1519998"/>
            <a:ext cx="53346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How to express 4-bit S&amp;M +3</a:t>
            </a:r>
            <a:r>
              <a:rPr lang="en-US" altLang="zh-TW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5028338"/>
              </p:ext>
            </p:extLst>
          </p:nvPr>
        </p:nvGraphicFramePr>
        <p:xfrm>
          <a:off x="4590769" y="3354481"/>
          <a:ext cx="1782816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4089167596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1152340453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+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94449"/>
                  </a:ext>
                </a:extLst>
              </a:tr>
            </a:tbl>
          </a:graphicData>
        </a:graphic>
      </p:graphicFrame>
      <p:sp>
        <p:nvSpPr>
          <p:cNvPr id="12" name="右大括弧 11"/>
          <p:cNvSpPr/>
          <p:nvPr/>
        </p:nvSpPr>
        <p:spPr>
          <a:xfrm rot="16200000">
            <a:off x="4882353" y="2748649"/>
            <a:ext cx="242476" cy="825641"/>
          </a:xfrm>
          <a:prstGeom prst="rightBrace">
            <a:avLst>
              <a:gd name="adj1" fmla="val 25419"/>
              <a:gd name="adj2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右大括弧 12"/>
          <p:cNvSpPr/>
          <p:nvPr/>
        </p:nvSpPr>
        <p:spPr>
          <a:xfrm rot="16200000">
            <a:off x="5818990" y="2748649"/>
            <a:ext cx="242476" cy="825641"/>
          </a:xfrm>
          <a:prstGeom prst="rightBrace">
            <a:avLst>
              <a:gd name="adj1" fmla="val 25419"/>
              <a:gd name="adj2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/>
          <p:cNvSpPr txBox="1"/>
          <p:nvPr/>
        </p:nvSpPr>
        <p:spPr>
          <a:xfrm>
            <a:off x="4560500" y="2361821"/>
            <a:ext cx="8851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solidFill>
                  <a:srgbClr val="C00000"/>
                </a:solidFill>
              </a:rPr>
              <a:t>Sign</a:t>
            </a:r>
            <a:endParaRPr lang="zh-TW" altLang="en-US" sz="3200" dirty="0">
              <a:solidFill>
                <a:srgbClr val="C0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5527407" y="2361820"/>
            <a:ext cx="19431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solidFill>
                  <a:srgbClr val="C00000"/>
                </a:solidFill>
              </a:rPr>
              <a:t>Magnitude</a:t>
            </a:r>
            <a:endParaRPr lang="zh-TW" altLang="en-US" sz="3200" dirty="0">
              <a:solidFill>
                <a:srgbClr val="C00000"/>
              </a:solidFill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3059571"/>
              </p:ext>
            </p:extLst>
          </p:nvPr>
        </p:nvGraphicFramePr>
        <p:xfrm>
          <a:off x="4590769" y="4893813"/>
          <a:ext cx="3565632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sp>
        <p:nvSpPr>
          <p:cNvPr id="11" name="文字方塊 10"/>
          <p:cNvSpPr txBox="1"/>
          <p:nvPr/>
        </p:nvSpPr>
        <p:spPr>
          <a:xfrm>
            <a:off x="4611774" y="5797995"/>
            <a:ext cx="8851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solidFill>
                  <a:srgbClr val="C00000"/>
                </a:solidFill>
              </a:rPr>
              <a:t>Sign</a:t>
            </a:r>
            <a:endParaRPr lang="zh-TW" altLang="en-US" sz="3200" dirty="0">
              <a:solidFill>
                <a:srgbClr val="C00000"/>
              </a:solidFill>
            </a:endParaRPr>
          </a:p>
        </p:txBody>
      </p:sp>
      <p:sp>
        <p:nvSpPr>
          <p:cNvPr id="16" name="左大括弧 15"/>
          <p:cNvSpPr/>
          <p:nvPr/>
        </p:nvSpPr>
        <p:spPr>
          <a:xfrm rot="16200000">
            <a:off x="6707531" y="4270112"/>
            <a:ext cx="238292" cy="2659448"/>
          </a:xfrm>
          <a:prstGeom prst="leftBrace">
            <a:avLst>
              <a:gd name="adj1" fmla="val 49447"/>
              <a:gd name="adj2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/>
          <p:cNvSpPr txBox="1"/>
          <p:nvPr/>
        </p:nvSpPr>
        <p:spPr>
          <a:xfrm>
            <a:off x="5961232" y="5797995"/>
            <a:ext cx="19431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solidFill>
                  <a:srgbClr val="C00000"/>
                </a:solidFill>
              </a:rPr>
              <a:t>Magnitude</a:t>
            </a:r>
            <a:endParaRPr lang="zh-TW" altLang="en-US" sz="3200" dirty="0">
              <a:solidFill>
                <a:srgbClr val="C00000"/>
              </a:solidFill>
            </a:endParaRPr>
          </a:p>
        </p:txBody>
      </p:sp>
      <p:sp>
        <p:nvSpPr>
          <p:cNvPr id="18" name="右大括弧 17"/>
          <p:cNvSpPr/>
          <p:nvPr/>
        </p:nvSpPr>
        <p:spPr>
          <a:xfrm rot="5400000">
            <a:off x="4903356" y="5189108"/>
            <a:ext cx="242476" cy="825641"/>
          </a:xfrm>
          <a:prstGeom prst="rightBrace">
            <a:avLst>
              <a:gd name="adj1" fmla="val 25419"/>
              <a:gd name="adj2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/>
          <p:cNvSpPr txBox="1"/>
          <p:nvPr/>
        </p:nvSpPr>
        <p:spPr>
          <a:xfrm>
            <a:off x="9976329" y="1458442"/>
            <a:ext cx="22156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Example 2</a:t>
            </a:r>
            <a:endParaRPr lang="zh-TW" alt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0186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374793"/>
              </p:ext>
            </p:extLst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Magnitude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sp>
        <p:nvSpPr>
          <p:cNvPr id="3" name="文字方塊 2"/>
          <p:cNvSpPr txBox="1"/>
          <p:nvPr/>
        </p:nvSpPr>
        <p:spPr>
          <a:xfrm>
            <a:off x="120531" y="1519998"/>
            <a:ext cx="53346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How to express 4-bit S&amp;M +3</a:t>
            </a:r>
            <a:r>
              <a:rPr lang="en-US" altLang="zh-TW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424787"/>
              </p:ext>
            </p:extLst>
          </p:nvPr>
        </p:nvGraphicFramePr>
        <p:xfrm>
          <a:off x="4590769" y="4893813"/>
          <a:ext cx="3565632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4611774" y="5797995"/>
            <a:ext cx="8851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solidFill>
                  <a:srgbClr val="C00000"/>
                </a:solidFill>
              </a:rPr>
              <a:t>Sign</a:t>
            </a:r>
            <a:endParaRPr lang="zh-TW" altLang="en-US" sz="3200" dirty="0">
              <a:solidFill>
                <a:srgbClr val="C00000"/>
              </a:solidFill>
            </a:endParaRPr>
          </a:p>
        </p:txBody>
      </p:sp>
      <p:sp>
        <p:nvSpPr>
          <p:cNvPr id="7" name="左大括弧 6"/>
          <p:cNvSpPr/>
          <p:nvPr/>
        </p:nvSpPr>
        <p:spPr>
          <a:xfrm rot="16200000">
            <a:off x="6707531" y="4270112"/>
            <a:ext cx="238292" cy="2659448"/>
          </a:xfrm>
          <a:prstGeom prst="leftBrace">
            <a:avLst>
              <a:gd name="adj1" fmla="val 49447"/>
              <a:gd name="adj2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5961232" y="5797995"/>
            <a:ext cx="19431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solidFill>
                  <a:srgbClr val="C00000"/>
                </a:solidFill>
              </a:rPr>
              <a:t>Magnitude</a:t>
            </a:r>
            <a:endParaRPr lang="zh-TW" altLang="en-US" sz="3200" dirty="0">
              <a:solidFill>
                <a:srgbClr val="C00000"/>
              </a:solidFill>
            </a:endParaRPr>
          </a:p>
        </p:txBody>
      </p:sp>
      <p:sp>
        <p:nvSpPr>
          <p:cNvPr id="9" name="右大括弧 8"/>
          <p:cNvSpPr/>
          <p:nvPr/>
        </p:nvSpPr>
        <p:spPr>
          <a:xfrm rot="5400000">
            <a:off x="4903356" y="5189108"/>
            <a:ext cx="242476" cy="825641"/>
          </a:xfrm>
          <a:prstGeom prst="rightBrace">
            <a:avLst>
              <a:gd name="adj1" fmla="val 25419"/>
              <a:gd name="adj2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5794766"/>
              </p:ext>
            </p:extLst>
          </p:nvPr>
        </p:nvGraphicFramePr>
        <p:xfrm>
          <a:off x="4590769" y="3354481"/>
          <a:ext cx="1782816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4089167596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1152340453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+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594449"/>
                  </a:ext>
                </a:extLst>
              </a:tr>
            </a:tbl>
          </a:graphicData>
        </a:graphic>
      </p:graphicFrame>
      <p:sp>
        <p:nvSpPr>
          <p:cNvPr id="12" name="右大括弧 11"/>
          <p:cNvSpPr/>
          <p:nvPr/>
        </p:nvSpPr>
        <p:spPr>
          <a:xfrm rot="16200000">
            <a:off x="4882353" y="2748649"/>
            <a:ext cx="242476" cy="825641"/>
          </a:xfrm>
          <a:prstGeom prst="rightBrace">
            <a:avLst>
              <a:gd name="adj1" fmla="val 25419"/>
              <a:gd name="adj2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右大括弧 12"/>
          <p:cNvSpPr/>
          <p:nvPr/>
        </p:nvSpPr>
        <p:spPr>
          <a:xfrm rot="16200000">
            <a:off x="5818990" y="2748649"/>
            <a:ext cx="242476" cy="825641"/>
          </a:xfrm>
          <a:prstGeom prst="rightBrace">
            <a:avLst>
              <a:gd name="adj1" fmla="val 25419"/>
              <a:gd name="adj2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/>
          <p:cNvSpPr txBox="1"/>
          <p:nvPr/>
        </p:nvSpPr>
        <p:spPr>
          <a:xfrm>
            <a:off x="4560500" y="2361821"/>
            <a:ext cx="8851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solidFill>
                  <a:srgbClr val="C00000"/>
                </a:solidFill>
              </a:rPr>
              <a:t>Sign</a:t>
            </a:r>
            <a:endParaRPr lang="zh-TW" altLang="en-US" sz="3200" dirty="0">
              <a:solidFill>
                <a:srgbClr val="C0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5527407" y="2361820"/>
            <a:ext cx="19431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solidFill>
                  <a:srgbClr val="C00000"/>
                </a:solidFill>
              </a:rPr>
              <a:t>Magnitude</a:t>
            </a:r>
            <a:endParaRPr lang="zh-TW" altLang="en-US" sz="3200" dirty="0">
              <a:solidFill>
                <a:srgbClr val="C00000"/>
              </a:solidFill>
            </a:endParaRPr>
          </a:p>
        </p:txBody>
      </p:sp>
      <p:sp>
        <p:nvSpPr>
          <p:cNvPr id="16" name="手繪多邊形 15"/>
          <p:cNvSpPr/>
          <p:nvPr/>
        </p:nvSpPr>
        <p:spPr>
          <a:xfrm>
            <a:off x="6376307" y="3861707"/>
            <a:ext cx="1779815" cy="1036864"/>
          </a:xfrm>
          <a:custGeom>
            <a:avLst/>
            <a:gdLst>
              <a:gd name="connsiteX0" fmla="*/ 0 w 1779815"/>
              <a:gd name="connsiteY0" fmla="*/ 0 h 1036864"/>
              <a:gd name="connsiteX1" fmla="*/ 424543 w 1779815"/>
              <a:gd name="connsiteY1" fmla="*/ 473529 h 1036864"/>
              <a:gd name="connsiteX2" fmla="*/ 1779815 w 1779815"/>
              <a:gd name="connsiteY2" fmla="*/ 1036864 h 103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79815" h="1036864">
                <a:moveTo>
                  <a:pt x="0" y="0"/>
                </a:moveTo>
                <a:cubicBezTo>
                  <a:pt x="63953" y="150359"/>
                  <a:pt x="127907" y="300718"/>
                  <a:pt x="424543" y="473529"/>
                </a:cubicBezTo>
                <a:cubicBezTo>
                  <a:pt x="721179" y="646340"/>
                  <a:pt x="1250497" y="841602"/>
                  <a:pt x="1779815" y="1036864"/>
                </a:cubicBezTo>
              </a:path>
            </a:pathLst>
          </a:cu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手繪多邊形 16"/>
          <p:cNvSpPr/>
          <p:nvPr/>
        </p:nvSpPr>
        <p:spPr>
          <a:xfrm>
            <a:off x="5412922" y="3869871"/>
            <a:ext cx="73478" cy="1020536"/>
          </a:xfrm>
          <a:custGeom>
            <a:avLst/>
            <a:gdLst>
              <a:gd name="connsiteX0" fmla="*/ 73478 w 73478"/>
              <a:gd name="connsiteY0" fmla="*/ 0 h 1020536"/>
              <a:gd name="connsiteX1" fmla="*/ 0 w 73478"/>
              <a:gd name="connsiteY1" fmla="*/ 465365 h 1020536"/>
              <a:gd name="connsiteX2" fmla="*/ 73478 w 73478"/>
              <a:gd name="connsiteY2" fmla="*/ 1020536 h 1020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478" h="1020536">
                <a:moveTo>
                  <a:pt x="73478" y="0"/>
                </a:moveTo>
                <a:cubicBezTo>
                  <a:pt x="36739" y="147638"/>
                  <a:pt x="0" y="295276"/>
                  <a:pt x="0" y="465365"/>
                </a:cubicBezTo>
                <a:cubicBezTo>
                  <a:pt x="0" y="635454"/>
                  <a:pt x="36739" y="827995"/>
                  <a:pt x="73478" y="1020536"/>
                </a:cubicBezTo>
              </a:path>
            </a:pathLst>
          </a:cu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9976329" y="1458442"/>
            <a:ext cx="22156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Example 2</a:t>
            </a:r>
            <a:endParaRPr lang="zh-TW" alt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5957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374793"/>
              </p:ext>
            </p:extLst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Magnitude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sp>
        <p:nvSpPr>
          <p:cNvPr id="3" name="文字方塊 2"/>
          <p:cNvSpPr txBox="1"/>
          <p:nvPr/>
        </p:nvSpPr>
        <p:spPr>
          <a:xfrm>
            <a:off x="120531" y="1519998"/>
            <a:ext cx="53346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How to express 4-bit S&amp;M +3</a:t>
            </a:r>
            <a:r>
              <a:rPr lang="en-US" altLang="zh-TW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959822"/>
              </p:ext>
            </p:extLst>
          </p:nvPr>
        </p:nvGraphicFramePr>
        <p:xfrm>
          <a:off x="4590769" y="4893813"/>
          <a:ext cx="3565632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4611774" y="5797995"/>
            <a:ext cx="8851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solidFill>
                  <a:srgbClr val="C00000"/>
                </a:solidFill>
              </a:rPr>
              <a:t>Sign</a:t>
            </a:r>
            <a:endParaRPr lang="zh-TW" altLang="en-US" sz="3200" dirty="0">
              <a:solidFill>
                <a:srgbClr val="C00000"/>
              </a:solidFill>
            </a:endParaRPr>
          </a:p>
        </p:txBody>
      </p:sp>
      <p:sp>
        <p:nvSpPr>
          <p:cNvPr id="7" name="左大括弧 6"/>
          <p:cNvSpPr/>
          <p:nvPr/>
        </p:nvSpPr>
        <p:spPr>
          <a:xfrm rot="16200000">
            <a:off x="6707531" y="4270112"/>
            <a:ext cx="238292" cy="2659448"/>
          </a:xfrm>
          <a:prstGeom prst="leftBrace">
            <a:avLst>
              <a:gd name="adj1" fmla="val 49447"/>
              <a:gd name="adj2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5961232" y="5797995"/>
            <a:ext cx="19431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solidFill>
                  <a:srgbClr val="C00000"/>
                </a:solidFill>
              </a:rPr>
              <a:t>Magnitude</a:t>
            </a:r>
            <a:endParaRPr lang="zh-TW" altLang="en-US" sz="3200" dirty="0">
              <a:solidFill>
                <a:srgbClr val="C00000"/>
              </a:solidFill>
            </a:endParaRPr>
          </a:p>
        </p:txBody>
      </p:sp>
      <p:sp>
        <p:nvSpPr>
          <p:cNvPr id="9" name="右大括弧 8"/>
          <p:cNvSpPr/>
          <p:nvPr/>
        </p:nvSpPr>
        <p:spPr>
          <a:xfrm rot="5400000">
            <a:off x="4903356" y="5189108"/>
            <a:ext cx="242476" cy="825641"/>
          </a:xfrm>
          <a:prstGeom prst="rightBrace">
            <a:avLst>
              <a:gd name="adj1" fmla="val 25419"/>
              <a:gd name="adj2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334539"/>
              </p:ext>
            </p:extLst>
          </p:nvPr>
        </p:nvGraphicFramePr>
        <p:xfrm>
          <a:off x="4590769" y="3354481"/>
          <a:ext cx="1782816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4089167596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1152340453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+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94449"/>
                  </a:ext>
                </a:extLst>
              </a:tr>
            </a:tbl>
          </a:graphicData>
        </a:graphic>
      </p:graphicFrame>
      <p:sp>
        <p:nvSpPr>
          <p:cNvPr id="12" name="右大括弧 11"/>
          <p:cNvSpPr/>
          <p:nvPr/>
        </p:nvSpPr>
        <p:spPr>
          <a:xfrm rot="16200000">
            <a:off x="4882353" y="2748649"/>
            <a:ext cx="242476" cy="825641"/>
          </a:xfrm>
          <a:prstGeom prst="rightBrace">
            <a:avLst>
              <a:gd name="adj1" fmla="val 25419"/>
              <a:gd name="adj2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右大括弧 12"/>
          <p:cNvSpPr/>
          <p:nvPr/>
        </p:nvSpPr>
        <p:spPr>
          <a:xfrm rot="16200000">
            <a:off x="5818990" y="2748649"/>
            <a:ext cx="242476" cy="825641"/>
          </a:xfrm>
          <a:prstGeom prst="rightBrace">
            <a:avLst>
              <a:gd name="adj1" fmla="val 25419"/>
              <a:gd name="adj2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/>
          <p:cNvSpPr txBox="1"/>
          <p:nvPr/>
        </p:nvSpPr>
        <p:spPr>
          <a:xfrm>
            <a:off x="4560500" y="2361821"/>
            <a:ext cx="8851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solidFill>
                  <a:srgbClr val="C00000"/>
                </a:solidFill>
              </a:rPr>
              <a:t>Sign</a:t>
            </a:r>
            <a:endParaRPr lang="zh-TW" altLang="en-US" sz="3200" dirty="0">
              <a:solidFill>
                <a:srgbClr val="C0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5527407" y="2361820"/>
            <a:ext cx="19431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solidFill>
                  <a:srgbClr val="C00000"/>
                </a:solidFill>
              </a:rPr>
              <a:t>Magnitude</a:t>
            </a:r>
            <a:endParaRPr lang="zh-TW" altLang="en-US" sz="3200" dirty="0">
              <a:solidFill>
                <a:srgbClr val="C00000"/>
              </a:solidFill>
            </a:endParaRPr>
          </a:p>
        </p:txBody>
      </p:sp>
      <p:sp>
        <p:nvSpPr>
          <p:cNvPr id="17" name="手繪多邊形 16"/>
          <p:cNvSpPr/>
          <p:nvPr/>
        </p:nvSpPr>
        <p:spPr>
          <a:xfrm>
            <a:off x="5412922" y="3869871"/>
            <a:ext cx="73478" cy="1020536"/>
          </a:xfrm>
          <a:custGeom>
            <a:avLst/>
            <a:gdLst>
              <a:gd name="connsiteX0" fmla="*/ 73478 w 73478"/>
              <a:gd name="connsiteY0" fmla="*/ 0 h 1020536"/>
              <a:gd name="connsiteX1" fmla="*/ 0 w 73478"/>
              <a:gd name="connsiteY1" fmla="*/ 465365 h 1020536"/>
              <a:gd name="connsiteX2" fmla="*/ 73478 w 73478"/>
              <a:gd name="connsiteY2" fmla="*/ 1020536 h 1020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478" h="1020536">
                <a:moveTo>
                  <a:pt x="73478" y="0"/>
                </a:moveTo>
                <a:cubicBezTo>
                  <a:pt x="36739" y="147638"/>
                  <a:pt x="0" y="295276"/>
                  <a:pt x="0" y="465365"/>
                </a:cubicBezTo>
                <a:cubicBezTo>
                  <a:pt x="0" y="635454"/>
                  <a:pt x="36739" y="827995"/>
                  <a:pt x="73478" y="1020536"/>
                </a:cubicBezTo>
              </a:path>
            </a:pathLst>
          </a:cu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手繪多邊形 17"/>
          <p:cNvSpPr/>
          <p:nvPr/>
        </p:nvSpPr>
        <p:spPr>
          <a:xfrm>
            <a:off x="4517291" y="3867494"/>
            <a:ext cx="73478" cy="1020536"/>
          </a:xfrm>
          <a:custGeom>
            <a:avLst/>
            <a:gdLst>
              <a:gd name="connsiteX0" fmla="*/ 73478 w 73478"/>
              <a:gd name="connsiteY0" fmla="*/ 0 h 1020536"/>
              <a:gd name="connsiteX1" fmla="*/ 0 w 73478"/>
              <a:gd name="connsiteY1" fmla="*/ 465365 h 1020536"/>
              <a:gd name="connsiteX2" fmla="*/ 73478 w 73478"/>
              <a:gd name="connsiteY2" fmla="*/ 1020536 h 1020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478" h="1020536">
                <a:moveTo>
                  <a:pt x="73478" y="0"/>
                </a:moveTo>
                <a:cubicBezTo>
                  <a:pt x="36739" y="147638"/>
                  <a:pt x="0" y="295276"/>
                  <a:pt x="0" y="465365"/>
                </a:cubicBezTo>
                <a:cubicBezTo>
                  <a:pt x="0" y="635454"/>
                  <a:pt x="36739" y="827995"/>
                  <a:pt x="73478" y="1020536"/>
                </a:cubicBezTo>
              </a:path>
            </a:pathLst>
          </a:cu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/>
          <p:cNvSpPr txBox="1"/>
          <p:nvPr/>
        </p:nvSpPr>
        <p:spPr>
          <a:xfrm>
            <a:off x="9976329" y="1458442"/>
            <a:ext cx="22156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Example 2</a:t>
            </a:r>
            <a:endParaRPr lang="zh-TW" alt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5265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374793"/>
              </p:ext>
            </p:extLst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Magnitude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sp>
        <p:nvSpPr>
          <p:cNvPr id="3" name="文字方塊 2"/>
          <p:cNvSpPr txBox="1"/>
          <p:nvPr/>
        </p:nvSpPr>
        <p:spPr>
          <a:xfrm>
            <a:off x="120531" y="1519998"/>
            <a:ext cx="53346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How to express 4-bit S&amp;M +3</a:t>
            </a:r>
            <a:r>
              <a:rPr lang="en-US" altLang="zh-TW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9657631"/>
              </p:ext>
            </p:extLst>
          </p:nvPr>
        </p:nvGraphicFramePr>
        <p:xfrm>
          <a:off x="4590769" y="4893813"/>
          <a:ext cx="3565632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9976329" y="1458442"/>
            <a:ext cx="22156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Example 2</a:t>
            </a:r>
            <a:endParaRPr lang="zh-TW" alt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6529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374793"/>
              </p:ext>
            </p:extLst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Magnitude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sp>
        <p:nvSpPr>
          <p:cNvPr id="3" name="文字方塊 2"/>
          <p:cNvSpPr txBox="1"/>
          <p:nvPr/>
        </p:nvSpPr>
        <p:spPr>
          <a:xfrm>
            <a:off x="138314" y="1479441"/>
            <a:ext cx="40479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4-bit Sign &amp; Magnitude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6056254"/>
              </p:ext>
            </p:extLst>
          </p:nvPr>
        </p:nvGraphicFramePr>
        <p:xfrm>
          <a:off x="1850571" y="2325209"/>
          <a:ext cx="3985080" cy="414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4147">
                  <a:extLst>
                    <a:ext uri="{9D8B030D-6E8A-4147-A177-3AD203B41FA5}">
                      <a16:colId xmlns:a16="http://schemas.microsoft.com/office/drawing/2014/main" val="1997242345"/>
                    </a:ext>
                  </a:extLst>
                </a:gridCol>
                <a:gridCol w="595993">
                  <a:extLst>
                    <a:ext uri="{9D8B030D-6E8A-4147-A177-3AD203B41FA5}">
                      <a16:colId xmlns:a16="http://schemas.microsoft.com/office/drawing/2014/main" val="3767292179"/>
                    </a:ext>
                  </a:extLst>
                </a:gridCol>
                <a:gridCol w="1764940">
                  <a:extLst>
                    <a:ext uri="{9D8B030D-6E8A-4147-A177-3AD203B41FA5}">
                      <a16:colId xmlns:a16="http://schemas.microsoft.com/office/drawing/2014/main" val="22893218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0 000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=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+ 0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448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0 001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=</a:t>
                      </a:r>
                      <a:endParaRPr kumimoji="0" lang="zh-TW" alt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+ 1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015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0 010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=</a:t>
                      </a:r>
                      <a:endParaRPr kumimoji="0" lang="zh-TW" alt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+ 2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3907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0 011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=</a:t>
                      </a:r>
                      <a:endParaRPr kumimoji="0" lang="zh-TW" alt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+ 3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3161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0 100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=</a:t>
                      </a:r>
                      <a:endParaRPr kumimoji="0" lang="zh-TW" alt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+ 4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341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0 101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=</a:t>
                      </a:r>
                      <a:endParaRPr kumimoji="0" lang="zh-TW" alt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+ 5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7588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0 110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=</a:t>
                      </a:r>
                      <a:endParaRPr kumimoji="0" lang="zh-TW" alt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+ 6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8602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0 111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=</a:t>
                      </a:r>
                      <a:endParaRPr kumimoji="0" lang="zh-TW" alt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+ 7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3606505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2750138"/>
              </p:ext>
            </p:extLst>
          </p:nvPr>
        </p:nvGraphicFramePr>
        <p:xfrm>
          <a:off x="6120492" y="2325209"/>
          <a:ext cx="3985080" cy="414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4147">
                  <a:extLst>
                    <a:ext uri="{9D8B030D-6E8A-4147-A177-3AD203B41FA5}">
                      <a16:colId xmlns:a16="http://schemas.microsoft.com/office/drawing/2014/main" val="1997242345"/>
                    </a:ext>
                  </a:extLst>
                </a:gridCol>
                <a:gridCol w="595993">
                  <a:extLst>
                    <a:ext uri="{9D8B030D-6E8A-4147-A177-3AD203B41FA5}">
                      <a16:colId xmlns:a16="http://schemas.microsoft.com/office/drawing/2014/main" val="3767292179"/>
                    </a:ext>
                  </a:extLst>
                </a:gridCol>
                <a:gridCol w="1764940">
                  <a:extLst>
                    <a:ext uri="{9D8B030D-6E8A-4147-A177-3AD203B41FA5}">
                      <a16:colId xmlns:a16="http://schemas.microsoft.com/office/drawing/2014/main" val="22893218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1 000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=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- 0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448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1 001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=</a:t>
                      </a:r>
                      <a:endParaRPr kumimoji="0" lang="zh-TW" alt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- 1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015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1 010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=</a:t>
                      </a:r>
                      <a:endParaRPr kumimoji="0" lang="zh-TW" alt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- 2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3907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1 011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=</a:t>
                      </a:r>
                      <a:endParaRPr kumimoji="0" lang="zh-TW" alt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- 3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3161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1 100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=</a:t>
                      </a:r>
                      <a:endParaRPr kumimoji="0" lang="zh-TW" alt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- 4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341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1 101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=</a:t>
                      </a:r>
                      <a:endParaRPr kumimoji="0" lang="zh-TW" alt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- 5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7588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1 110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=</a:t>
                      </a:r>
                      <a:endParaRPr kumimoji="0" lang="zh-TW" alt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- 6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8602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1 111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=</a:t>
                      </a:r>
                      <a:endParaRPr kumimoji="0" lang="zh-TW" alt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- 7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3606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5883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374793"/>
              </p:ext>
            </p:extLst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Magnitude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427263" y="2249465"/>
            <a:ext cx="1159873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800" b="1" dirty="0">
                <a:solidFill>
                  <a:srgbClr val="000000"/>
                </a:solidFill>
              </a:rPr>
              <a:t>ADVANTAGE of signed magnitude:</a:t>
            </a:r>
            <a:r>
              <a:rPr lang="en-US" altLang="zh-TW" sz="2800" dirty="0">
                <a:solidFill>
                  <a:srgbClr val="000000"/>
                </a:solidFill>
              </a:rPr>
              <a:t> </a:t>
            </a:r>
            <a:endParaRPr lang="en-US" altLang="zh-TW" sz="2800" dirty="0" smtClean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TW" sz="2800" dirty="0" smtClean="0">
                <a:solidFill>
                  <a:srgbClr val="000000"/>
                </a:solidFill>
              </a:rPr>
              <a:t>You </a:t>
            </a:r>
            <a:r>
              <a:rPr lang="en-US" altLang="zh-TW" sz="2800" dirty="0">
                <a:solidFill>
                  <a:srgbClr val="000000"/>
                </a:solidFill>
              </a:rPr>
              <a:t>can determine whether a number is negative or non negative simply by testing the most significant bit</a:t>
            </a:r>
            <a:r>
              <a:rPr lang="en-US" altLang="zh-TW" sz="2800" dirty="0" smtClean="0">
                <a:solidFill>
                  <a:srgbClr val="00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09714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374793"/>
              </p:ext>
            </p:extLst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Magnitude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427263" y="2298451"/>
            <a:ext cx="1159873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800" b="1" dirty="0" smtClean="0">
                <a:solidFill>
                  <a:srgbClr val="000000"/>
                </a:solidFill>
              </a:rPr>
              <a:t>DISADVANTAGES </a:t>
            </a:r>
            <a:r>
              <a:rPr lang="en-US" altLang="zh-TW" sz="2800" b="1" dirty="0">
                <a:solidFill>
                  <a:srgbClr val="000000"/>
                </a:solidFill>
              </a:rPr>
              <a:t>of signed magnitude:</a:t>
            </a:r>
            <a:r>
              <a:rPr lang="en-US" altLang="zh-TW" sz="2800" dirty="0">
                <a:solidFill>
                  <a:srgbClr val="000000"/>
                </a:solidFill>
              </a:rPr>
              <a:t> </a:t>
            </a:r>
            <a:endParaRPr lang="en-US" altLang="zh-TW" sz="2800" dirty="0" smtClean="0">
              <a:solidFill>
                <a:srgbClr val="000000"/>
              </a:solidFill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2800" dirty="0">
                <a:solidFill>
                  <a:srgbClr val="000000"/>
                </a:solidFill>
              </a:rPr>
              <a:t>There are two notations for 0 (0000 and 1111), which is very inconvenient when the computer wants to test for a 0 result.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2800" dirty="0" smtClean="0">
                <a:solidFill>
                  <a:srgbClr val="000000"/>
                </a:solidFill>
              </a:rPr>
              <a:t>Addition </a:t>
            </a:r>
            <a:r>
              <a:rPr lang="en-US" altLang="zh-TW" sz="2800" dirty="0">
                <a:solidFill>
                  <a:srgbClr val="000000"/>
                </a:solidFill>
              </a:rPr>
              <a:t>doesn't work the way we want it to</a:t>
            </a:r>
            <a:r>
              <a:rPr lang="en-US" altLang="zh-TW" sz="2800" dirty="0" smtClean="0">
                <a:solidFill>
                  <a:srgbClr val="00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53362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374793"/>
              </p:ext>
            </p:extLst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Magnitude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2029999"/>
              </p:ext>
            </p:extLst>
          </p:nvPr>
        </p:nvGraphicFramePr>
        <p:xfrm>
          <a:off x="4098470" y="2638274"/>
          <a:ext cx="3641272" cy="13458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318">
                  <a:extLst>
                    <a:ext uri="{9D8B030D-6E8A-4147-A177-3AD203B41FA5}">
                      <a16:colId xmlns:a16="http://schemas.microsoft.com/office/drawing/2014/main" val="2211459008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1749433242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488143073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550030227"/>
                    </a:ext>
                  </a:extLst>
                </a:gridCol>
              </a:tblGrid>
              <a:tr h="6729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7506386"/>
                  </a:ext>
                </a:extLst>
              </a:tr>
              <a:tr h="6729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039944"/>
                  </a:ext>
                </a:extLst>
              </a:tr>
            </a:tbl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8303078" y="2638274"/>
            <a:ext cx="6222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+3</a:t>
            </a:r>
            <a:endParaRPr lang="zh-TW" altLang="en-US" sz="2800" dirty="0"/>
          </a:p>
        </p:txBody>
      </p:sp>
      <p:sp>
        <p:nvSpPr>
          <p:cNvPr id="9" name="矩形 8"/>
          <p:cNvSpPr/>
          <p:nvPr/>
        </p:nvSpPr>
        <p:spPr>
          <a:xfrm flipV="1">
            <a:off x="3502479" y="4096841"/>
            <a:ext cx="5306786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3502479" y="3337841"/>
            <a:ext cx="492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/>
              <a:t>+</a:t>
            </a:r>
            <a:endParaRPr lang="zh-TW" altLang="en-US" sz="3600" b="1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8319792" y="3367557"/>
            <a:ext cx="6030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- 2</a:t>
            </a:r>
            <a:endParaRPr lang="zh-TW" altLang="en-US" sz="28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138314" y="1479441"/>
            <a:ext cx="40479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4-bit Sign &amp; Magnitude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4064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374793"/>
              </p:ext>
            </p:extLst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Magnitude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2029999"/>
              </p:ext>
            </p:extLst>
          </p:nvPr>
        </p:nvGraphicFramePr>
        <p:xfrm>
          <a:off x="4098470" y="2638274"/>
          <a:ext cx="3641272" cy="13458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318">
                  <a:extLst>
                    <a:ext uri="{9D8B030D-6E8A-4147-A177-3AD203B41FA5}">
                      <a16:colId xmlns:a16="http://schemas.microsoft.com/office/drawing/2014/main" val="2211459008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1749433242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488143073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550030227"/>
                    </a:ext>
                  </a:extLst>
                </a:gridCol>
              </a:tblGrid>
              <a:tr h="6729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7506386"/>
                  </a:ext>
                </a:extLst>
              </a:tr>
              <a:tr h="6729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039944"/>
                  </a:ext>
                </a:extLst>
              </a:tr>
            </a:tbl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8303078" y="2638274"/>
            <a:ext cx="6222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+3</a:t>
            </a:r>
            <a:endParaRPr lang="zh-TW" altLang="en-US" sz="2800" dirty="0"/>
          </a:p>
        </p:txBody>
      </p:sp>
      <p:sp>
        <p:nvSpPr>
          <p:cNvPr id="9" name="矩形 8"/>
          <p:cNvSpPr/>
          <p:nvPr/>
        </p:nvSpPr>
        <p:spPr>
          <a:xfrm flipV="1">
            <a:off x="3502479" y="4096841"/>
            <a:ext cx="5306786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3502479" y="3337841"/>
            <a:ext cx="492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/>
              <a:t>+</a:t>
            </a:r>
            <a:endParaRPr lang="zh-TW" altLang="en-US" sz="3600" b="1" dirty="0"/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407964"/>
              </p:ext>
            </p:extLst>
          </p:nvPr>
        </p:nvGraphicFramePr>
        <p:xfrm>
          <a:off x="4116092" y="4326793"/>
          <a:ext cx="3641272" cy="6729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318">
                  <a:extLst>
                    <a:ext uri="{9D8B030D-6E8A-4147-A177-3AD203B41FA5}">
                      <a16:colId xmlns:a16="http://schemas.microsoft.com/office/drawing/2014/main" val="2081950547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3574860071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643042555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2772487256"/>
                    </a:ext>
                  </a:extLst>
                </a:gridCol>
              </a:tblGrid>
              <a:tr h="6729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0964660"/>
                  </a:ext>
                </a:extLst>
              </a:tr>
            </a:tbl>
          </a:graphicData>
        </a:graphic>
      </p:graphicFrame>
      <p:sp>
        <p:nvSpPr>
          <p:cNvPr id="13" name="文字方塊 12"/>
          <p:cNvSpPr txBox="1"/>
          <p:nvPr/>
        </p:nvSpPr>
        <p:spPr>
          <a:xfrm>
            <a:off x="8319792" y="3367557"/>
            <a:ext cx="6030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- 2</a:t>
            </a:r>
            <a:endParaRPr lang="zh-TW" altLang="en-US" sz="28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138314" y="1479441"/>
            <a:ext cx="40479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4-bit Sign &amp; Magnitude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981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374793"/>
              </p:ext>
            </p:extLst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Magnitude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2029999"/>
              </p:ext>
            </p:extLst>
          </p:nvPr>
        </p:nvGraphicFramePr>
        <p:xfrm>
          <a:off x="4098470" y="2638274"/>
          <a:ext cx="3641272" cy="13458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318">
                  <a:extLst>
                    <a:ext uri="{9D8B030D-6E8A-4147-A177-3AD203B41FA5}">
                      <a16:colId xmlns:a16="http://schemas.microsoft.com/office/drawing/2014/main" val="2211459008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1749433242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488143073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550030227"/>
                    </a:ext>
                  </a:extLst>
                </a:gridCol>
              </a:tblGrid>
              <a:tr h="6729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7506386"/>
                  </a:ext>
                </a:extLst>
              </a:tr>
              <a:tr h="6729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039944"/>
                  </a:ext>
                </a:extLst>
              </a:tr>
            </a:tbl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8303078" y="2638274"/>
            <a:ext cx="6222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+3</a:t>
            </a:r>
            <a:endParaRPr lang="zh-TW" altLang="en-US" sz="28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8319792" y="3367557"/>
            <a:ext cx="6030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- 2</a:t>
            </a:r>
            <a:endParaRPr lang="zh-TW" altLang="en-US" sz="2800" dirty="0"/>
          </a:p>
        </p:txBody>
      </p:sp>
      <p:sp>
        <p:nvSpPr>
          <p:cNvPr id="9" name="矩形 8"/>
          <p:cNvSpPr/>
          <p:nvPr/>
        </p:nvSpPr>
        <p:spPr>
          <a:xfrm flipV="1">
            <a:off x="3502479" y="4096841"/>
            <a:ext cx="5306786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3502479" y="3337841"/>
            <a:ext cx="492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/>
              <a:t>+</a:t>
            </a:r>
            <a:endParaRPr lang="zh-TW" altLang="en-US" sz="3600" b="1" dirty="0"/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407964"/>
              </p:ext>
            </p:extLst>
          </p:nvPr>
        </p:nvGraphicFramePr>
        <p:xfrm>
          <a:off x="4116092" y="4326793"/>
          <a:ext cx="3641272" cy="6729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318">
                  <a:extLst>
                    <a:ext uri="{9D8B030D-6E8A-4147-A177-3AD203B41FA5}">
                      <a16:colId xmlns:a16="http://schemas.microsoft.com/office/drawing/2014/main" val="2081950547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3574860071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643042555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2772487256"/>
                    </a:ext>
                  </a:extLst>
                </a:gridCol>
              </a:tblGrid>
              <a:tr h="6729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0964660"/>
                  </a:ext>
                </a:extLst>
              </a:tr>
            </a:tbl>
          </a:graphicData>
        </a:graphic>
      </p:graphicFrame>
      <p:sp>
        <p:nvSpPr>
          <p:cNvPr id="12" name="文字方塊 11"/>
          <p:cNvSpPr txBox="1"/>
          <p:nvPr/>
        </p:nvSpPr>
        <p:spPr>
          <a:xfrm>
            <a:off x="8319792" y="4348624"/>
            <a:ext cx="6030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- 5</a:t>
            </a:r>
            <a:endParaRPr lang="zh-TW" altLang="en-US" sz="28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138314" y="1479441"/>
            <a:ext cx="40479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4-bit Sign &amp; Magnitude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0913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374793"/>
              </p:ext>
            </p:extLst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Magnitude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2029999"/>
              </p:ext>
            </p:extLst>
          </p:nvPr>
        </p:nvGraphicFramePr>
        <p:xfrm>
          <a:off x="4098470" y="2638274"/>
          <a:ext cx="3641272" cy="13458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318">
                  <a:extLst>
                    <a:ext uri="{9D8B030D-6E8A-4147-A177-3AD203B41FA5}">
                      <a16:colId xmlns:a16="http://schemas.microsoft.com/office/drawing/2014/main" val="2211459008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1749433242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488143073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550030227"/>
                    </a:ext>
                  </a:extLst>
                </a:gridCol>
              </a:tblGrid>
              <a:tr h="6729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7506386"/>
                  </a:ext>
                </a:extLst>
              </a:tr>
              <a:tr h="6729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039944"/>
                  </a:ext>
                </a:extLst>
              </a:tr>
            </a:tbl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8303078" y="2638274"/>
            <a:ext cx="6222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+3</a:t>
            </a:r>
            <a:endParaRPr lang="zh-TW" altLang="en-US" sz="28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8319792" y="3367557"/>
            <a:ext cx="6030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- 2</a:t>
            </a:r>
            <a:endParaRPr lang="zh-TW" altLang="en-US" sz="2800" dirty="0"/>
          </a:p>
        </p:txBody>
      </p:sp>
      <p:sp>
        <p:nvSpPr>
          <p:cNvPr id="9" name="矩形 8"/>
          <p:cNvSpPr/>
          <p:nvPr/>
        </p:nvSpPr>
        <p:spPr>
          <a:xfrm flipV="1">
            <a:off x="3502479" y="4096841"/>
            <a:ext cx="5306786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3502479" y="3337841"/>
            <a:ext cx="492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/>
              <a:t>+</a:t>
            </a:r>
            <a:endParaRPr lang="zh-TW" altLang="en-US" sz="3600" b="1" dirty="0"/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407964"/>
              </p:ext>
            </p:extLst>
          </p:nvPr>
        </p:nvGraphicFramePr>
        <p:xfrm>
          <a:off x="4116092" y="4326793"/>
          <a:ext cx="3641272" cy="6729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318">
                  <a:extLst>
                    <a:ext uri="{9D8B030D-6E8A-4147-A177-3AD203B41FA5}">
                      <a16:colId xmlns:a16="http://schemas.microsoft.com/office/drawing/2014/main" val="2081950547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3574860071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643042555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2772487256"/>
                    </a:ext>
                  </a:extLst>
                </a:gridCol>
              </a:tblGrid>
              <a:tr h="6729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0964660"/>
                  </a:ext>
                </a:extLst>
              </a:tr>
            </a:tbl>
          </a:graphicData>
        </a:graphic>
      </p:graphicFrame>
      <p:sp>
        <p:nvSpPr>
          <p:cNvPr id="12" name="文字方塊 11"/>
          <p:cNvSpPr txBox="1"/>
          <p:nvPr/>
        </p:nvSpPr>
        <p:spPr>
          <a:xfrm>
            <a:off x="8319792" y="4348624"/>
            <a:ext cx="6030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- 5</a:t>
            </a:r>
            <a:endParaRPr lang="zh-TW" altLang="en-US" sz="28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138314" y="1479441"/>
            <a:ext cx="40479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4-bit Sign &amp; Magnitude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乘號 1"/>
          <p:cNvSpPr/>
          <p:nvPr/>
        </p:nvSpPr>
        <p:spPr>
          <a:xfrm>
            <a:off x="8997042" y="4303720"/>
            <a:ext cx="669472" cy="661307"/>
          </a:xfrm>
          <a:prstGeom prst="mathMultiply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5481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5348984"/>
              </p:ext>
            </p:extLst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1’s complement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120531" y="1519998"/>
            <a:ext cx="68877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How to express 4-bit 1’s complement -5</a:t>
            </a:r>
            <a:r>
              <a:rPr lang="en-US" altLang="zh-TW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0988771"/>
              </p:ext>
            </p:extLst>
          </p:nvPr>
        </p:nvGraphicFramePr>
        <p:xfrm>
          <a:off x="5766426" y="2689455"/>
          <a:ext cx="3565632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sp>
        <p:nvSpPr>
          <p:cNvPr id="2" name="文字方塊 1"/>
          <p:cNvSpPr txBox="1"/>
          <p:nvPr/>
        </p:nvSpPr>
        <p:spPr>
          <a:xfrm>
            <a:off x="3420835" y="2684395"/>
            <a:ext cx="17892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solidFill>
                  <a:srgbClr val="C00000"/>
                </a:solidFill>
              </a:rPr>
              <a:t>Unsigned 5</a:t>
            </a:r>
            <a:endParaRPr lang="zh-TW" altLang="en-US" sz="2800" dirty="0">
              <a:solidFill>
                <a:srgbClr val="C0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9976329" y="1458442"/>
            <a:ext cx="22156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Example 1</a:t>
            </a:r>
            <a:endParaRPr lang="zh-TW" alt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8400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5348984"/>
              </p:ext>
            </p:extLst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1’s complement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120531" y="1519998"/>
            <a:ext cx="68877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How to express 4-bit 1’s complement -5</a:t>
            </a:r>
            <a:r>
              <a:rPr lang="en-US" altLang="zh-TW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0988771"/>
              </p:ext>
            </p:extLst>
          </p:nvPr>
        </p:nvGraphicFramePr>
        <p:xfrm>
          <a:off x="5766426" y="2689455"/>
          <a:ext cx="3565632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sp>
        <p:nvSpPr>
          <p:cNvPr id="2" name="文字方塊 1"/>
          <p:cNvSpPr txBox="1"/>
          <p:nvPr/>
        </p:nvSpPr>
        <p:spPr>
          <a:xfrm>
            <a:off x="3420835" y="2684395"/>
            <a:ext cx="17892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solidFill>
                  <a:srgbClr val="C00000"/>
                </a:solidFill>
              </a:rPr>
              <a:t>Unsigned 5</a:t>
            </a:r>
            <a:endParaRPr lang="zh-TW" altLang="en-US" sz="2800" dirty="0">
              <a:solidFill>
                <a:srgbClr val="C00000"/>
              </a:solidFill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7512739"/>
              </p:ext>
            </p:extLst>
          </p:nvPr>
        </p:nvGraphicFramePr>
        <p:xfrm>
          <a:off x="5766426" y="3791634"/>
          <a:ext cx="3565632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sp>
        <p:nvSpPr>
          <p:cNvPr id="10" name="文字方塊 9"/>
          <p:cNvSpPr txBox="1"/>
          <p:nvPr/>
        </p:nvSpPr>
        <p:spPr>
          <a:xfrm>
            <a:off x="2212940" y="3791634"/>
            <a:ext cx="29971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solidFill>
                  <a:srgbClr val="C00000"/>
                </a:solidFill>
              </a:rPr>
              <a:t>1’s complement + 5</a:t>
            </a:r>
            <a:endParaRPr lang="zh-TW" altLang="en-US" sz="2800" dirty="0">
              <a:solidFill>
                <a:srgbClr val="C0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9976329" y="1458442"/>
            <a:ext cx="22156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Example 1</a:t>
            </a:r>
            <a:endParaRPr lang="zh-TW" alt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7879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5348984"/>
              </p:ext>
            </p:extLst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1’s complement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120531" y="1519998"/>
            <a:ext cx="68877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How to express 4-bit 1’s complement -5</a:t>
            </a:r>
            <a:r>
              <a:rPr lang="en-US" altLang="zh-TW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0988771"/>
              </p:ext>
            </p:extLst>
          </p:nvPr>
        </p:nvGraphicFramePr>
        <p:xfrm>
          <a:off x="5766426" y="2689455"/>
          <a:ext cx="3565632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sp>
        <p:nvSpPr>
          <p:cNvPr id="2" name="文字方塊 1"/>
          <p:cNvSpPr txBox="1"/>
          <p:nvPr/>
        </p:nvSpPr>
        <p:spPr>
          <a:xfrm>
            <a:off x="3420835" y="2684395"/>
            <a:ext cx="17892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solidFill>
                  <a:srgbClr val="C00000"/>
                </a:solidFill>
              </a:rPr>
              <a:t>Unsigned 5</a:t>
            </a:r>
            <a:endParaRPr lang="zh-TW" altLang="en-US" sz="2800" dirty="0">
              <a:solidFill>
                <a:srgbClr val="C00000"/>
              </a:solidFill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7512739"/>
              </p:ext>
            </p:extLst>
          </p:nvPr>
        </p:nvGraphicFramePr>
        <p:xfrm>
          <a:off x="5766426" y="3791634"/>
          <a:ext cx="3565632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sp>
        <p:nvSpPr>
          <p:cNvPr id="10" name="文字方塊 9"/>
          <p:cNvSpPr txBox="1"/>
          <p:nvPr/>
        </p:nvSpPr>
        <p:spPr>
          <a:xfrm>
            <a:off x="2212940" y="3791634"/>
            <a:ext cx="29971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solidFill>
                  <a:srgbClr val="C00000"/>
                </a:solidFill>
              </a:rPr>
              <a:t>1’s complement + 5</a:t>
            </a:r>
            <a:endParaRPr lang="zh-TW" altLang="en-US" sz="2800" dirty="0">
              <a:solidFill>
                <a:srgbClr val="C0000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2331562" y="4893813"/>
            <a:ext cx="28785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solidFill>
                  <a:srgbClr val="C00000"/>
                </a:solidFill>
              </a:rPr>
              <a:t>1’s complement - 5</a:t>
            </a:r>
            <a:endParaRPr lang="zh-TW" altLang="en-US" sz="2800" dirty="0">
              <a:solidFill>
                <a:srgbClr val="C0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9976329" y="1458442"/>
            <a:ext cx="22156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Example 1</a:t>
            </a:r>
            <a:endParaRPr lang="zh-TW" alt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9576822"/>
              </p:ext>
            </p:extLst>
          </p:nvPr>
        </p:nvGraphicFramePr>
        <p:xfrm>
          <a:off x="5766426" y="4893813"/>
          <a:ext cx="3565632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5595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5348984"/>
              </p:ext>
            </p:extLst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1’s complement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120531" y="1519998"/>
            <a:ext cx="68877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How to express 4-bit 1’s complement -5</a:t>
            </a:r>
            <a:r>
              <a:rPr lang="en-US" altLang="zh-TW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0988771"/>
              </p:ext>
            </p:extLst>
          </p:nvPr>
        </p:nvGraphicFramePr>
        <p:xfrm>
          <a:off x="5766426" y="2689455"/>
          <a:ext cx="3565632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sp>
        <p:nvSpPr>
          <p:cNvPr id="2" name="文字方塊 1"/>
          <p:cNvSpPr txBox="1"/>
          <p:nvPr/>
        </p:nvSpPr>
        <p:spPr>
          <a:xfrm>
            <a:off x="3420835" y="2684395"/>
            <a:ext cx="17892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solidFill>
                  <a:srgbClr val="C00000"/>
                </a:solidFill>
              </a:rPr>
              <a:t>Unsigned 5</a:t>
            </a:r>
            <a:endParaRPr lang="zh-TW" altLang="en-US" sz="2800" dirty="0">
              <a:solidFill>
                <a:srgbClr val="C00000"/>
              </a:solidFill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7512739"/>
              </p:ext>
            </p:extLst>
          </p:nvPr>
        </p:nvGraphicFramePr>
        <p:xfrm>
          <a:off x="5766426" y="3791634"/>
          <a:ext cx="3565632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sp>
        <p:nvSpPr>
          <p:cNvPr id="10" name="文字方塊 9"/>
          <p:cNvSpPr txBox="1"/>
          <p:nvPr/>
        </p:nvSpPr>
        <p:spPr>
          <a:xfrm>
            <a:off x="2212940" y="3791634"/>
            <a:ext cx="29971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solidFill>
                  <a:srgbClr val="C00000"/>
                </a:solidFill>
              </a:rPr>
              <a:t>1’s complement + 5</a:t>
            </a:r>
            <a:endParaRPr lang="zh-TW" altLang="en-US" sz="2800" dirty="0">
              <a:solidFill>
                <a:srgbClr val="C00000"/>
              </a:solidFill>
            </a:endParaRPr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6515928"/>
              </p:ext>
            </p:extLst>
          </p:nvPr>
        </p:nvGraphicFramePr>
        <p:xfrm>
          <a:off x="5766426" y="4893813"/>
          <a:ext cx="3565632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sp>
        <p:nvSpPr>
          <p:cNvPr id="13" name="文字方塊 12"/>
          <p:cNvSpPr txBox="1"/>
          <p:nvPr/>
        </p:nvSpPr>
        <p:spPr>
          <a:xfrm>
            <a:off x="2212940" y="4888753"/>
            <a:ext cx="29945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1’s complement - 5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9976329" y="1458442"/>
            <a:ext cx="22156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Example 1</a:t>
            </a:r>
            <a:endParaRPr lang="zh-TW" alt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1012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5348984"/>
              </p:ext>
            </p:extLst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1’s complement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120531" y="1519998"/>
            <a:ext cx="68877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How to express 4-bit 1’s complement -7</a:t>
            </a:r>
            <a:r>
              <a:rPr lang="en-US" altLang="zh-TW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4097342"/>
              </p:ext>
            </p:extLst>
          </p:nvPr>
        </p:nvGraphicFramePr>
        <p:xfrm>
          <a:off x="5766426" y="2689455"/>
          <a:ext cx="3565632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sp>
        <p:nvSpPr>
          <p:cNvPr id="2" name="文字方塊 1"/>
          <p:cNvSpPr txBox="1"/>
          <p:nvPr/>
        </p:nvSpPr>
        <p:spPr>
          <a:xfrm>
            <a:off x="3420835" y="2684395"/>
            <a:ext cx="17892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solidFill>
                  <a:srgbClr val="C00000"/>
                </a:solidFill>
              </a:rPr>
              <a:t>Unsigned 7</a:t>
            </a:r>
            <a:endParaRPr lang="zh-TW" altLang="en-US" sz="2800" dirty="0">
              <a:solidFill>
                <a:srgbClr val="C0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9976329" y="1458442"/>
            <a:ext cx="22156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Example 2</a:t>
            </a:r>
            <a:endParaRPr lang="zh-TW" alt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104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5348984"/>
              </p:ext>
            </p:extLst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1’s complement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120531" y="1519998"/>
            <a:ext cx="68877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How to express 4-bit 1’s complement -7</a:t>
            </a:r>
            <a:r>
              <a:rPr lang="en-US" altLang="zh-TW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4097342"/>
              </p:ext>
            </p:extLst>
          </p:nvPr>
        </p:nvGraphicFramePr>
        <p:xfrm>
          <a:off x="5766426" y="2689455"/>
          <a:ext cx="3565632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sp>
        <p:nvSpPr>
          <p:cNvPr id="2" name="文字方塊 1"/>
          <p:cNvSpPr txBox="1"/>
          <p:nvPr/>
        </p:nvSpPr>
        <p:spPr>
          <a:xfrm>
            <a:off x="3420835" y="2684395"/>
            <a:ext cx="17892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solidFill>
                  <a:srgbClr val="C00000"/>
                </a:solidFill>
              </a:rPr>
              <a:t>Unsigned 7</a:t>
            </a:r>
            <a:endParaRPr lang="zh-TW" altLang="en-US" sz="2800" dirty="0">
              <a:solidFill>
                <a:srgbClr val="C00000"/>
              </a:solidFill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7124031"/>
              </p:ext>
            </p:extLst>
          </p:nvPr>
        </p:nvGraphicFramePr>
        <p:xfrm>
          <a:off x="5766426" y="3791634"/>
          <a:ext cx="3565632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sp>
        <p:nvSpPr>
          <p:cNvPr id="10" name="文字方塊 9"/>
          <p:cNvSpPr txBox="1"/>
          <p:nvPr/>
        </p:nvSpPr>
        <p:spPr>
          <a:xfrm>
            <a:off x="2212940" y="3791634"/>
            <a:ext cx="29971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solidFill>
                  <a:srgbClr val="C00000"/>
                </a:solidFill>
              </a:rPr>
              <a:t>1’s complement + 7</a:t>
            </a:r>
            <a:endParaRPr lang="zh-TW" altLang="en-US" sz="2800" dirty="0">
              <a:solidFill>
                <a:srgbClr val="C0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9976329" y="1458442"/>
            <a:ext cx="22156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Example 2</a:t>
            </a:r>
            <a:endParaRPr lang="zh-TW" alt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217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5348984"/>
              </p:ext>
            </p:extLst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1’s complement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120531" y="1519998"/>
            <a:ext cx="68877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How to express 4-bit 1’s complement -7</a:t>
            </a:r>
            <a:r>
              <a:rPr lang="en-US" altLang="zh-TW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4097342"/>
              </p:ext>
            </p:extLst>
          </p:nvPr>
        </p:nvGraphicFramePr>
        <p:xfrm>
          <a:off x="5766426" y="2689455"/>
          <a:ext cx="3565632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sp>
        <p:nvSpPr>
          <p:cNvPr id="2" name="文字方塊 1"/>
          <p:cNvSpPr txBox="1"/>
          <p:nvPr/>
        </p:nvSpPr>
        <p:spPr>
          <a:xfrm>
            <a:off x="3420835" y="2684395"/>
            <a:ext cx="17892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solidFill>
                  <a:srgbClr val="C00000"/>
                </a:solidFill>
              </a:rPr>
              <a:t>Unsigned 7</a:t>
            </a:r>
            <a:endParaRPr lang="zh-TW" altLang="en-US" sz="2800" dirty="0">
              <a:solidFill>
                <a:srgbClr val="C00000"/>
              </a:solidFill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7124031"/>
              </p:ext>
            </p:extLst>
          </p:nvPr>
        </p:nvGraphicFramePr>
        <p:xfrm>
          <a:off x="5766426" y="3791634"/>
          <a:ext cx="3565632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sp>
        <p:nvSpPr>
          <p:cNvPr id="10" name="文字方塊 9"/>
          <p:cNvSpPr txBox="1"/>
          <p:nvPr/>
        </p:nvSpPr>
        <p:spPr>
          <a:xfrm>
            <a:off x="2212940" y="3791634"/>
            <a:ext cx="29971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solidFill>
                  <a:srgbClr val="C00000"/>
                </a:solidFill>
              </a:rPr>
              <a:t>1’s complement + 7</a:t>
            </a:r>
            <a:endParaRPr lang="zh-TW" altLang="en-US" sz="2800" dirty="0">
              <a:solidFill>
                <a:srgbClr val="C0000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2331562" y="4893813"/>
            <a:ext cx="28785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solidFill>
                  <a:srgbClr val="C00000"/>
                </a:solidFill>
              </a:rPr>
              <a:t>1’s complement - 7</a:t>
            </a:r>
            <a:endParaRPr lang="zh-TW" altLang="en-US" sz="2800" dirty="0">
              <a:solidFill>
                <a:srgbClr val="C0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9976329" y="1458442"/>
            <a:ext cx="22156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Example 2</a:t>
            </a:r>
            <a:endParaRPr lang="zh-TW" alt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8646855"/>
              </p:ext>
            </p:extLst>
          </p:nvPr>
        </p:nvGraphicFramePr>
        <p:xfrm>
          <a:off x="5766426" y="4893813"/>
          <a:ext cx="3565632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2863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5348984"/>
              </p:ext>
            </p:extLst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1’s complement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120531" y="1519998"/>
            <a:ext cx="68877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How to express 4-bit 1’s complement -7</a:t>
            </a:r>
            <a:r>
              <a:rPr lang="en-US" altLang="zh-TW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4097342"/>
              </p:ext>
            </p:extLst>
          </p:nvPr>
        </p:nvGraphicFramePr>
        <p:xfrm>
          <a:off x="5766426" y="2689455"/>
          <a:ext cx="3565632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sp>
        <p:nvSpPr>
          <p:cNvPr id="2" name="文字方塊 1"/>
          <p:cNvSpPr txBox="1"/>
          <p:nvPr/>
        </p:nvSpPr>
        <p:spPr>
          <a:xfrm>
            <a:off x="3420835" y="2684395"/>
            <a:ext cx="17892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solidFill>
                  <a:srgbClr val="C00000"/>
                </a:solidFill>
              </a:rPr>
              <a:t>Unsigned 7</a:t>
            </a:r>
            <a:endParaRPr lang="zh-TW" altLang="en-US" sz="2800" dirty="0">
              <a:solidFill>
                <a:srgbClr val="C00000"/>
              </a:solidFill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7124031"/>
              </p:ext>
            </p:extLst>
          </p:nvPr>
        </p:nvGraphicFramePr>
        <p:xfrm>
          <a:off x="5766426" y="3791634"/>
          <a:ext cx="3565632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sp>
        <p:nvSpPr>
          <p:cNvPr id="10" name="文字方塊 9"/>
          <p:cNvSpPr txBox="1"/>
          <p:nvPr/>
        </p:nvSpPr>
        <p:spPr>
          <a:xfrm>
            <a:off x="2212940" y="3791634"/>
            <a:ext cx="29971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solidFill>
                  <a:srgbClr val="C00000"/>
                </a:solidFill>
              </a:rPr>
              <a:t>1’s complement + 7</a:t>
            </a:r>
            <a:endParaRPr lang="zh-TW" altLang="en-US" sz="2800" dirty="0">
              <a:solidFill>
                <a:srgbClr val="C00000"/>
              </a:solidFill>
            </a:endParaRPr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8937307"/>
              </p:ext>
            </p:extLst>
          </p:nvPr>
        </p:nvGraphicFramePr>
        <p:xfrm>
          <a:off x="5766426" y="4893813"/>
          <a:ext cx="3565632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sp>
        <p:nvSpPr>
          <p:cNvPr id="13" name="文字方塊 12"/>
          <p:cNvSpPr txBox="1"/>
          <p:nvPr/>
        </p:nvSpPr>
        <p:spPr>
          <a:xfrm>
            <a:off x="2215569" y="4893813"/>
            <a:ext cx="29945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1’s complement - 7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9976329" y="1458442"/>
            <a:ext cx="22156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Example 2</a:t>
            </a:r>
            <a:endParaRPr lang="zh-TW" alt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021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/>
          <p:cNvSpPr txBox="1"/>
          <p:nvPr/>
        </p:nvSpPr>
        <p:spPr>
          <a:xfrm>
            <a:off x="138314" y="1479441"/>
            <a:ext cx="35732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4-bit 1’s complement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303355"/>
              </p:ext>
            </p:extLst>
          </p:nvPr>
        </p:nvGraphicFramePr>
        <p:xfrm>
          <a:off x="1850571" y="2325209"/>
          <a:ext cx="3985080" cy="414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4147">
                  <a:extLst>
                    <a:ext uri="{9D8B030D-6E8A-4147-A177-3AD203B41FA5}">
                      <a16:colId xmlns:a16="http://schemas.microsoft.com/office/drawing/2014/main" val="1997242345"/>
                    </a:ext>
                  </a:extLst>
                </a:gridCol>
                <a:gridCol w="595993">
                  <a:extLst>
                    <a:ext uri="{9D8B030D-6E8A-4147-A177-3AD203B41FA5}">
                      <a16:colId xmlns:a16="http://schemas.microsoft.com/office/drawing/2014/main" val="3767292179"/>
                    </a:ext>
                  </a:extLst>
                </a:gridCol>
                <a:gridCol w="1764940">
                  <a:extLst>
                    <a:ext uri="{9D8B030D-6E8A-4147-A177-3AD203B41FA5}">
                      <a16:colId xmlns:a16="http://schemas.microsoft.com/office/drawing/2014/main" val="22893218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=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+ 0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448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=</a:t>
                      </a:r>
                      <a:endParaRPr kumimoji="0" lang="zh-TW" alt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+ 1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015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=</a:t>
                      </a:r>
                      <a:endParaRPr kumimoji="0" lang="zh-TW" alt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+ 2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3907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=</a:t>
                      </a:r>
                      <a:endParaRPr kumimoji="0" lang="zh-TW" alt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+ 3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3161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=</a:t>
                      </a:r>
                      <a:endParaRPr kumimoji="0" lang="zh-TW" alt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+ 4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341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=</a:t>
                      </a:r>
                      <a:endParaRPr kumimoji="0" lang="zh-TW" alt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+ 5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7588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=</a:t>
                      </a:r>
                      <a:endParaRPr kumimoji="0" lang="zh-TW" alt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+ 6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8602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=</a:t>
                      </a:r>
                      <a:endParaRPr kumimoji="0" lang="zh-TW" alt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+ 7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3606505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0278057"/>
              </p:ext>
            </p:extLst>
          </p:nvPr>
        </p:nvGraphicFramePr>
        <p:xfrm>
          <a:off x="6120492" y="2325209"/>
          <a:ext cx="3985080" cy="414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4147">
                  <a:extLst>
                    <a:ext uri="{9D8B030D-6E8A-4147-A177-3AD203B41FA5}">
                      <a16:colId xmlns:a16="http://schemas.microsoft.com/office/drawing/2014/main" val="1997242345"/>
                    </a:ext>
                  </a:extLst>
                </a:gridCol>
                <a:gridCol w="595993">
                  <a:extLst>
                    <a:ext uri="{9D8B030D-6E8A-4147-A177-3AD203B41FA5}">
                      <a16:colId xmlns:a16="http://schemas.microsoft.com/office/drawing/2014/main" val="3767292179"/>
                    </a:ext>
                  </a:extLst>
                </a:gridCol>
                <a:gridCol w="1764940">
                  <a:extLst>
                    <a:ext uri="{9D8B030D-6E8A-4147-A177-3AD203B41FA5}">
                      <a16:colId xmlns:a16="http://schemas.microsoft.com/office/drawing/2014/main" val="22893218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=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- 7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448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=</a:t>
                      </a:r>
                      <a:endParaRPr kumimoji="0" lang="zh-TW" alt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- 6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015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=</a:t>
                      </a:r>
                      <a:endParaRPr kumimoji="0" lang="zh-TW" alt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- 5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3907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=</a:t>
                      </a:r>
                      <a:endParaRPr kumimoji="0" lang="zh-TW" alt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- 4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3161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=</a:t>
                      </a:r>
                      <a:endParaRPr kumimoji="0" lang="zh-TW" alt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- 3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341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=</a:t>
                      </a:r>
                      <a:endParaRPr kumimoji="0" lang="zh-TW" alt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- 2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7588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=</a:t>
                      </a:r>
                      <a:endParaRPr kumimoji="0" lang="zh-TW" alt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- 1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8602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=</a:t>
                      </a:r>
                      <a:endParaRPr kumimoji="0" lang="zh-TW" alt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- 0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3606505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1364500"/>
              </p:ext>
            </p:extLst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1’s complement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6020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1364500"/>
              </p:ext>
            </p:extLst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1’s complement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278945" y="2471661"/>
            <a:ext cx="11634108" cy="15388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altLang="zh-TW" sz="2800" b="1" dirty="0" smtClean="0"/>
              <a:t>Advantages</a:t>
            </a:r>
            <a:endParaRPr lang="en-US" altLang="zh-TW" sz="2800" b="1" dirty="0"/>
          </a:p>
          <a:p>
            <a:pPr algn="just"/>
            <a:r>
              <a:rPr lang="en-US" altLang="zh-TW" sz="2800" dirty="0" smtClean="0">
                <a:solidFill>
                  <a:srgbClr val="000000"/>
                </a:solidFill>
              </a:rPr>
              <a:t>It is easy to convert a positive number to its corresponding negative number, vice versa.</a:t>
            </a:r>
            <a:endParaRPr lang="en-US" altLang="zh-TW" sz="2800" b="0" i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32783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1364500"/>
              </p:ext>
            </p:extLst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1’s complement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278945" y="2471661"/>
            <a:ext cx="11634108" cy="29084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altLang="zh-TW" sz="2800" b="1" dirty="0" smtClean="0"/>
              <a:t>Disadvantage</a:t>
            </a:r>
            <a:endParaRPr lang="en-US" altLang="zh-TW" sz="2800" b="1" dirty="0"/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US" altLang="zh-TW" sz="2800" dirty="0">
                <a:solidFill>
                  <a:srgbClr val="000000"/>
                </a:solidFill>
              </a:rPr>
              <a:t>There are two notations for 0 (0000 and 1000), which is very inconvenient when the computer wants to test for a 0 result.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sz="2800" dirty="0" smtClean="0">
                <a:solidFill>
                  <a:srgbClr val="000000"/>
                </a:solidFill>
              </a:rPr>
              <a:t>To </a:t>
            </a:r>
            <a:r>
              <a:rPr lang="en-US" altLang="zh-TW" sz="2800" dirty="0">
                <a:solidFill>
                  <a:srgbClr val="000000"/>
                </a:solidFill>
              </a:rPr>
              <a:t>get the correct answer after addition, the result of addition and final carry has to be added up</a:t>
            </a:r>
            <a:r>
              <a:rPr lang="en-US" altLang="zh-TW" sz="2800" dirty="0" smtClean="0">
                <a:solidFill>
                  <a:srgbClr val="000000"/>
                </a:solidFill>
              </a:rPr>
              <a:t>.</a:t>
            </a:r>
          </a:p>
          <a:p>
            <a:pPr marL="514350" indent="-514350">
              <a:buFont typeface="+mj-lt"/>
              <a:buAutoNum type="arabicPeriod"/>
            </a:pPr>
            <a:endParaRPr lang="en-US" altLang="zh-TW" sz="2800" b="0" i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33411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1364500"/>
              </p:ext>
            </p:extLst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1’s complement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8514538"/>
              </p:ext>
            </p:extLst>
          </p:nvPr>
        </p:nvGraphicFramePr>
        <p:xfrm>
          <a:off x="4098470" y="2638274"/>
          <a:ext cx="3641272" cy="13458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318">
                  <a:extLst>
                    <a:ext uri="{9D8B030D-6E8A-4147-A177-3AD203B41FA5}">
                      <a16:colId xmlns:a16="http://schemas.microsoft.com/office/drawing/2014/main" val="2211459008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1749433242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488143073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550030227"/>
                    </a:ext>
                  </a:extLst>
                </a:gridCol>
              </a:tblGrid>
              <a:tr h="6729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7506386"/>
                  </a:ext>
                </a:extLst>
              </a:tr>
              <a:tr h="6729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03994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8303078" y="2638274"/>
            <a:ext cx="6030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- 3</a:t>
            </a:r>
            <a:endParaRPr lang="zh-TW" altLang="en-US" sz="2800" dirty="0"/>
          </a:p>
        </p:txBody>
      </p:sp>
      <p:sp>
        <p:nvSpPr>
          <p:cNvPr id="6" name="矩形 5"/>
          <p:cNvSpPr/>
          <p:nvPr/>
        </p:nvSpPr>
        <p:spPr>
          <a:xfrm flipV="1">
            <a:off x="3502479" y="4096841"/>
            <a:ext cx="5306786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3502479" y="3337841"/>
            <a:ext cx="492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/>
              <a:t>+</a:t>
            </a:r>
            <a:endParaRPr lang="zh-TW" altLang="en-US" sz="3600" b="1" dirty="0"/>
          </a:p>
        </p:txBody>
      </p:sp>
      <p:sp>
        <p:nvSpPr>
          <p:cNvPr id="9" name="文字方塊 8"/>
          <p:cNvSpPr txBox="1"/>
          <p:nvPr/>
        </p:nvSpPr>
        <p:spPr>
          <a:xfrm>
            <a:off x="8319792" y="3367557"/>
            <a:ext cx="6030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- 2</a:t>
            </a:r>
            <a:endParaRPr lang="zh-TW" altLang="en-US" sz="28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138314" y="1479441"/>
            <a:ext cx="35732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4-bit 1’s complement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3210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1364500"/>
              </p:ext>
            </p:extLst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1’s complement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8514538"/>
              </p:ext>
            </p:extLst>
          </p:nvPr>
        </p:nvGraphicFramePr>
        <p:xfrm>
          <a:off x="4098470" y="2638274"/>
          <a:ext cx="3641272" cy="13458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318">
                  <a:extLst>
                    <a:ext uri="{9D8B030D-6E8A-4147-A177-3AD203B41FA5}">
                      <a16:colId xmlns:a16="http://schemas.microsoft.com/office/drawing/2014/main" val="2211459008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1749433242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488143073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550030227"/>
                    </a:ext>
                  </a:extLst>
                </a:gridCol>
              </a:tblGrid>
              <a:tr h="6729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7506386"/>
                  </a:ext>
                </a:extLst>
              </a:tr>
              <a:tr h="6729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03994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8303078" y="2638274"/>
            <a:ext cx="6030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- 3</a:t>
            </a:r>
            <a:endParaRPr lang="zh-TW" altLang="en-US" sz="2800" dirty="0"/>
          </a:p>
        </p:txBody>
      </p:sp>
      <p:sp>
        <p:nvSpPr>
          <p:cNvPr id="6" name="矩形 5"/>
          <p:cNvSpPr/>
          <p:nvPr/>
        </p:nvSpPr>
        <p:spPr>
          <a:xfrm flipV="1">
            <a:off x="3502479" y="4096841"/>
            <a:ext cx="5306786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3502479" y="3337841"/>
            <a:ext cx="492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/>
              <a:t>+</a:t>
            </a:r>
            <a:endParaRPr lang="zh-TW" altLang="en-US" sz="3600" b="1" dirty="0"/>
          </a:p>
        </p:txBody>
      </p:sp>
      <p:sp>
        <p:nvSpPr>
          <p:cNvPr id="9" name="文字方塊 8"/>
          <p:cNvSpPr txBox="1"/>
          <p:nvPr/>
        </p:nvSpPr>
        <p:spPr>
          <a:xfrm>
            <a:off x="8319792" y="3367557"/>
            <a:ext cx="6030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- 2</a:t>
            </a:r>
            <a:endParaRPr lang="zh-TW" altLang="en-US" sz="28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138314" y="1479441"/>
            <a:ext cx="35732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4-bit 1’s complement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7269076"/>
              </p:ext>
            </p:extLst>
          </p:nvPr>
        </p:nvGraphicFramePr>
        <p:xfrm>
          <a:off x="4098470" y="4303936"/>
          <a:ext cx="3641272" cy="6729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318">
                  <a:extLst>
                    <a:ext uri="{9D8B030D-6E8A-4147-A177-3AD203B41FA5}">
                      <a16:colId xmlns:a16="http://schemas.microsoft.com/office/drawing/2014/main" val="2265565257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2123587098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3983080094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3500171827"/>
                    </a:ext>
                  </a:extLst>
                </a:gridCol>
              </a:tblGrid>
              <a:tr h="6729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8789714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5108566"/>
              </p:ext>
            </p:extLst>
          </p:nvPr>
        </p:nvGraphicFramePr>
        <p:xfrm>
          <a:off x="3256377" y="4303936"/>
          <a:ext cx="910318" cy="6729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318">
                  <a:extLst>
                    <a:ext uri="{9D8B030D-6E8A-4147-A177-3AD203B41FA5}">
                      <a16:colId xmlns:a16="http://schemas.microsoft.com/office/drawing/2014/main" val="2146274922"/>
                    </a:ext>
                  </a:extLst>
                </a:gridCol>
              </a:tblGrid>
              <a:tr h="6729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48119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5784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1364500"/>
              </p:ext>
            </p:extLst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1’s complement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8514538"/>
              </p:ext>
            </p:extLst>
          </p:nvPr>
        </p:nvGraphicFramePr>
        <p:xfrm>
          <a:off x="4098470" y="2638274"/>
          <a:ext cx="3641272" cy="13458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318">
                  <a:extLst>
                    <a:ext uri="{9D8B030D-6E8A-4147-A177-3AD203B41FA5}">
                      <a16:colId xmlns:a16="http://schemas.microsoft.com/office/drawing/2014/main" val="2211459008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1749433242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488143073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550030227"/>
                    </a:ext>
                  </a:extLst>
                </a:gridCol>
              </a:tblGrid>
              <a:tr h="6729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7506386"/>
                  </a:ext>
                </a:extLst>
              </a:tr>
              <a:tr h="6729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03994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8303078" y="2638274"/>
            <a:ext cx="6030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- 3</a:t>
            </a:r>
            <a:endParaRPr lang="zh-TW" altLang="en-US" sz="2800" dirty="0"/>
          </a:p>
        </p:txBody>
      </p:sp>
      <p:sp>
        <p:nvSpPr>
          <p:cNvPr id="6" name="矩形 5"/>
          <p:cNvSpPr/>
          <p:nvPr/>
        </p:nvSpPr>
        <p:spPr>
          <a:xfrm flipV="1">
            <a:off x="3502479" y="4096841"/>
            <a:ext cx="5306786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3502479" y="3337841"/>
            <a:ext cx="492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/>
              <a:t>+</a:t>
            </a:r>
            <a:endParaRPr lang="zh-TW" altLang="en-US" sz="3600" b="1" dirty="0"/>
          </a:p>
        </p:txBody>
      </p:sp>
      <p:sp>
        <p:nvSpPr>
          <p:cNvPr id="9" name="文字方塊 8"/>
          <p:cNvSpPr txBox="1"/>
          <p:nvPr/>
        </p:nvSpPr>
        <p:spPr>
          <a:xfrm>
            <a:off x="8319792" y="3367557"/>
            <a:ext cx="6030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- 2</a:t>
            </a:r>
            <a:endParaRPr lang="zh-TW" altLang="en-US" sz="28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138314" y="1479441"/>
            <a:ext cx="35732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4-bit 1’s complement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7269076"/>
              </p:ext>
            </p:extLst>
          </p:nvPr>
        </p:nvGraphicFramePr>
        <p:xfrm>
          <a:off x="4098470" y="4303936"/>
          <a:ext cx="3641272" cy="6729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318">
                  <a:extLst>
                    <a:ext uri="{9D8B030D-6E8A-4147-A177-3AD203B41FA5}">
                      <a16:colId xmlns:a16="http://schemas.microsoft.com/office/drawing/2014/main" val="2265565257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2123587098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3983080094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3500171827"/>
                    </a:ext>
                  </a:extLst>
                </a:gridCol>
              </a:tblGrid>
              <a:tr h="6729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8789714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5108566"/>
              </p:ext>
            </p:extLst>
          </p:nvPr>
        </p:nvGraphicFramePr>
        <p:xfrm>
          <a:off x="3256377" y="4303936"/>
          <a:ext cx="910318" cy="6729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318">
                  <a:extLst>
                    <a:ext uri="{9D8B030D-6E8A-4147-A177-3AD203B41FA5}">
                      <a16:colId xmlns:a16="http://schemas.microsoft.com/office/drawing/2014/main" val="2146274922"/>
                    </a:ext>
                  </a:extLst>
                </a:gridCol>
              </a:tblGrid>
              <a:tr h="6729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4811966"/>
                  </a:ext>
                </a:extLst>
              </a:tr>
            </a:tbl>
          </a:graphicData>
        </a:graphic>
      </p:graphicFrame>
      <p:cxnSp>
        <p:nvCxnSpPr>
          <p:cNvPr id="13" name="直線接點 12"/>
          <p:cNvCxnSpPr/>
          <p:nvPr/>
        </p:nvCxnSpPr>
        <p:spPr>
          <a:xfrm flipV="1">
            <a:off x="3559629" y="4604657"/>
            <a:ext cx="293914" cy="97972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827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1364500"/>
              </p:ext>
            </p:extLst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1’s complement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8514538"/>
              </p:ext>
            </p:extLst>
          </p:nvPr>
        </p:nvGraphicFramePr>
        <p:xfrm>
          <a:off x="4098470" y="2638274"/>
          <a:ext cx="3641272" cy="13458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318">
                  <a:extLst>
                    <a:ext uri="{9D8B030D-6E8A-4147-A177-3AD203B41FA5}">
                      <a16:colId xmlns:a16="http://schemas.microsoft.com/office/drawing/2014/main" val="2211459008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1749433242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488143073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550030227"/>
                    </a:ext>
                  </a:extLst>
                </a:gridCol>
              </a:tblGrid>
              <a:tr h="6729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7506386"/>
                  </a:ext>
                </a:extLst>
              </a:tr>
              <a:tr h="6729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03994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8303078" y="2638274"/>
            <a:ext cx="6030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- 3</a:t>
            </a:r>
            <a:endParaRPr lang="zh-TW" altLang="en-US" sz="2800" dirty="0"/>
          </a:p>
        </p:txBody>
      </p:sp>
      <p:sp>
        <p:nvSpPr>
          <p:cNvPr id="6" name="矩形 5"/>
          <p:cNvSpPr/>
          <p:nvPr/>
        </p:nvSpPr>
        <p:spPr>
          <a:xfrm flipV="1">
            <a:off x="3502479" y="4096841"/>
            <a:ext cx="5306786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3502479" y="3337841"/>
            <a:ext cx="492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/>
              <a:t>+</a:t>
            </a:r>
            <a:endParaRPr lang="zh-TW" altLang="en-US" sz="3600" b="1" dirty="0"/>
          </a:p>
        </p:txBody>
      </p:sp>
      <p:sp>
        <p:nvSpPr>
          <p:cNvPr id="9" name="文字方塊 8"/>
          <p:cNvSpPr txBox="1"/>
          <p:nvPr/>
        </p:nvSpPr>
        <p:spPr>
          <a:xfrm>
            <a:off x="8319792" y="3367557"/>
            <a:ext cx="6030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- 2</a:t>
            </a:r>
            <a:endParaRPr lang="zh-TW" altLang="en-US" sz="28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138314" y="1479441"/>
            <a:ext cx="35732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4-bit 1’s complement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7269076"/>
              </p:ext>
            </p:extLst>
          </p:nvPr>
        </p:nvGraphicFramePr>
        <p:xfrm>
          <a:off x="4098470" y="4303936"/>
          <a:ext cx="3641272" cy="6729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318">
                  <a:extLst>
                    <a:ext uri="{9D8B030D-6E8A-4147-A177-3AD203B41FA5}">
                      <a16:colId xmlns:a16="http://schemas.microsoft.com/office/drawing/2014/main" val="2265565257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2123587098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3983080094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3500171827"/>
                    </a:ext>
                  </a:extLst>
                </a:gridCol>
              </a:tblGrid>
              <a:tr h="6729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8789714"/>
                  </a:ext>
                </a:extLst>
              </a:tr>
            </a:tbl>
          </a:graphicData>
        </a:graphic>
      </p:graphicFrame>
      <p:sp>
        <p:nvSpPr>
          <p:cNvPr id="13" name="文字方塊 12"/>
          <p:cNvSpPr txBox="1"/>
          <p:nvPr/>
        </p:nvSpPr>
        <p:spPr>
          <a:xfrm>
            <a:off x="8319792" y="4378800"/>
            <a:ext cx="6030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- 6</a:t>
            </a:r>
            <a:endParaRPr lang="zh-TW" altLang="en-US" sz="2800" dirty="0"/>
          </a:p>
        </p:txBody>
      </p:sp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4614716"/>
              </p:ext>
            </p:extLst>
          </p:nvPr>
        </p:nvGraphicFramePr>
        <p:xfrm>
          <a:off x="3256377" y="4303936"/>
          <a:ext cx="910318" cy="6729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318">
                  <a:extLst>
                    <a:ext uri="{9D8B030D-6E8A-4147-A177-3AD203B41FA5}">
                      <a16:colId xmlns:a16="http://schemas.microsoft.com/office/drawing/2014/main" val="2146274922"/>
                    </a:ext>
                  </a:extLst>
                </a:gridCol>
              </a:tblGrid>
              <a:tr h="6729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4811966"/>
                  </a:ext>
                </a:extLst>
              </a:tr>
            </a:tbl>
          </a:graphicData>
        </a:graphic>
      </p:graphicFrame>
      <p:cxnSp>
        <p:nvCxnSpPr>
          <p:cNvPr id="17" name="直線接點 16"/>
          <p:cNvCxnSpPr/>
          <p:nvPr/>
        </p:nvCxnSpPr>
        <p:spPr>
          <a:xfrm flipV="1">
            <a:off x="3559629" y="4604657"/>
            <a:ext cx="293914" cy="97972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1348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1364500"/>
              </p:ext>
            </p:extLst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1’s complement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8514538"/>
              </p:ext>
            </p:extLst>
          </p:nvPr>
        </p:nvGraphicFramePr>
        <p:xfrm>
          <a:off x="4098470" y="2638274"/>
          <a:ext cx="3641272" cy="13458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318">
                  <a:extLst>
                    <a:ext uri="{9D8B030D-6E8A-4147-A177-3AD203B41FA5}">
                      <a16:colId xmlns:a16="http://schemas.microsoft.com/office/drawing/2014/main" val="2211459008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1749433242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488143073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550030227"/>
                    </a:ext>
                  </a:extLst>
                </a:gridCol>
              </a:tblGrid>
              <a:tr h="6729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7506386"/>
                  </a:ext>
                </a:extLst>
              </a:tr>
              <a:tr h="6729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03994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8303078" y="2638274"/>
            <a:ext cx="6030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- 3</a:t>
            </a:r>
            <a:endParaRPr lang="zh-TW" altLang="en-US" sz="2800" dirty="0"/>
          </a:p>
        </p:txBody>
      </p:sp>
      <p:sp>
        <p:nvSpPr>
          <p:cNvPr id="6" name="矩形 5"/>
          <p:cNvSpPr/>
          <p:nvPr/>
        </p:nvSpPr>
        <p:spPr>
          <a:xfrm flipV="1">
            <a:off x="3502479" y="4096841"/>
            <a:ext cx="5306786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3502479" y="3337841"/>
            <a:ext cx="492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/>
              <a:t>+</a:t>
            </a:r>
            <a:endParaRPr lang="zh-TW" altLang="en-US" sz="3600" b="1" dirty="0"/>
          </a:p>
        </p:txBody>
      </p:sp>
      <p:sp>
        <p:nvSpPr>
          <p:cNvPr id="9" name="文字方塊 8"/>
          <p:cNvSpPr txBox="1"/>
          <p:nvPr/>
        </p:nvSpPr>
        <p:spPr>
          <a:xfrm>
            <a:off x="8319792" y="3367557"/>
            <a:ext cx="6030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- 2</a:t>
            </a:r>
            <a:endParaRPr lang="zh-TW" altLang="en-US" sz="28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138314" y="1479441"/>
            <a:ext cx="35732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4-bit 1’s complement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7269076"/>
              </p:ext>
            </p:extLst>
          </p:nvPr>
        </p:nvGraphicFramePr>
        <p:xfrm>
          <a:off x="4098470" y="4303936"/>
          <a:ext cx="3641272" cy="6729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318">
                  <a:extLst>
                    <a:ext uri="{9D8B030D-6E8A-4147-A177-3AD203B41FA5}">
                      <a16:colId xmlns:a16="http://schemas.microsoft.com/office/drawing/2014/main" val="2265565257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2123587098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3983080094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3500171827"/>
                    </a:ext>
                  </a:extLst>
                </a:gridCol>
              </a:tblGrid>
              <a:tr h="6729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8789714"/>
                  </a:ext>
                </a:extLst>
              </a:tr>
            </a:tbl>
          </a:graphicData>
        </a:graphic>
      </p:graphicFrame>
      <p:sp>
        <p:nvSpPr>
          <p:cNvPr id="13" name="文字方塊 12"/>
          <p:cNvSpPr txBox="1"/>
          <p:nvPr/>
        </p:nvSpPr>
        <p:spPr>
          <a:xfrm>
            <a:off x="8319792" y="4378800"/>
            <a:ext cx="6030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- 6</a:t>
            </a:r>
            <a:endParaRPr lang="zh-TW" altLang="en-US" sz="2800" dirty="0"/>
          </a:p>
        </p:txBody>
      </p:sp>
      <p:sp>
        <p:nvSpPr>
          <p:cNvPr id="14" name="乘號 13"/>
          <p:cNvSpPr/>
          <p:nvPr/>
        </p:nvSpPr>
        <p:spPr>
          <a:xfrm>
            <a:off x="8997042" y="4303720"/>
            <a:ext cx="669472" cy="661307"/>
          </a:xfrm>
          <a:prstGeom prst="mathMultiply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4614716"/>
              </p:ext>
            </p:extLst>
          </p:nvPr>
        </p:nvGraphicFramePr>
        <p:xfrm>
          <a:off x="3256377" y="4303936"/>
          <a:ext cx="910318" cy="6729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318">
                  <a:extLst>
                    <a:ext uri="{9D8B030D-6E8A-4147-A177-3AD203B41FA5}">
                      <a16:colId xmlns:a16="http://schemas.microsoft.com/office/drawing/2014/main" val="2146274922"/>
                    </a:ext>
                  </a:extLst>
                </a:gridCol>
              </a:tblGrid>
              <a:tr h="6729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4811966"/>
                  </a:ext>
                </a:extLst>
              </a:tr>
            </a:tbl>
          </a:graphicData>
        </a:graphic>
      </p:graphicFrame>
      <p:cxnSp>
        <p:nvCxnSpPr>
          <p:cNvPr id="15" name="直線接點 14"/>
          <p:cNvCxnSpPr/>
          <p:nvPr/>
        </p:nvCxnSpPr>
        <p:spPr>
          <a:xfrm flipV="1">
            <a:off x="3559629" y="4604657"/>
            <a:ext cx="293914" cy="97972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5581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1364500"/>
              </p:ext>
            </p:extLst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1’s complement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8514538"/>
              </p:ext>
            </p:extLst>
          </p:nvPr>
        </p:nvGraphicFramePr>
        <p:xfrm>
          <a:off x="4098470" y="2638274"/>
          <a:ext cx="3641272" cy="13458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318">
                  <a:extLst>
                    <a:ext uri="{9D8B030D-6E8A-4147-A177-3AD203B41FA5}">
                      <a16:colId xmlns:a16="http://schemas.microsoft.com/office/drawing/2014/main" val="2211459008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1749433242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488143073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550030227"/>
                    </a:ext>
                  </a:extLst>
                </a:gridCol>
              </a:tblGrid>
              <a:tr h="6729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7506386"/>
                  </a:ext>
                </a:extLst>
              </a:tr>
              <a:tr h="6729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03994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8303078" y="2638274"/>
            <a:ext cx="6030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- 3</a:t>
            </a:r>
            <a:endParaRPr lang="zh-TW" altLang="en-US" sz="2800" dirty="0"/>
          </a:p>
        </p:txBody>
      </p:sp>
      <p:sp>
        <p:nvSpPr>
          <p:cNvPr id="6" name="矩形 5"/>
          <p:cNvSpPr/>
          <p:nvPr/>
        </p:nvSpPr>
        <p:spPr>
          <a:xfrm flipV="1">
            <a:off x="3502479" y="4096841"/>
            <a:ext cx="5306786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3502479" y="3337841"/>
            <a:ext cx="492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/>
              <a:t>+</a:t>
            </a:r>
            <a:endParaRPr lang="zh-TW" altLang="en-US" sz="3600" b="1" dirty="0"/>
          </a:p>
        </p:txBody>
      </p:sp>
      <p:sp>
        <p:nvSpPr>
          <p:cNvPr id="9" name="文字方塊 8"/>
          <p:cNvSpPr txBox="1"/>
          <p:nvPr/>
        </p:nvSpPr>
        <p:spPr>
          <a:xfrm>
            <a:off x="8319792" y="3367557"/>
            <a:ext cx="6030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- 2</a:t>
            </a:r>
            <a:endParaRPr lang="zh-TW" altLang="en-US" sz="28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138314" y="1479441"/>
            <a:ext cx="35732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4-bit 1’s complement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7269076"/>
              </p:ext>
            </p:extLst>
          </p:nvPr>
        </p:nvGraphicFramePr>
        <p:xfrm>
          <a:off x="4098470" y="4303936"/>
          <a:ext cx="3641272" cy="6729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318">
                  <a:extLst>
                    <a:ext uri="{9D8B030D-6E8A-4147-A177-3AD203B41FA5}">
                      <a16:colId xmlns:a16="http://schemas.microsoft.com/office/drawing/2014/main" val="2265565257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2123587098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3983080094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3500171827"/>
                    </a:ext>
                  </a:extLst>
                </a:gridCol>
              </a:tblGrid>
              <a:tr h="6729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8789714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4614716"/>
              </p:ext>
            </p:extLst>
          </p:nvPr>
        </p:nvGraphicFramePr>
        <p:xfrm>
          <a:off x="3256377" y="4303936"/>
          <a:ext cx="910318" cy="6729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318">
                  <a:extLst>
                    <a:ext uri="{9D8B030D-6E8A-4147-A177-3AD203B41FA5}">
                      <a16:colId xmlns:a16="http://schemas.microsoft.com/office/drawing/2014/main" val="2146274922"/>
                    </a:ext>
                  </a:extLst>
                </a:gridCol>
              </a:tblGrid>
              <a:tr h="6729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4811966"/>
                  </a:ext>
                </a:extLst>
              </a:tr>
            </a:tbl>
          </a:graphicData>
        </a:graphic>
      </p:graphicFrame>
      <p:cxnSp>
        <p:nvCxnSpPr>
          <p:cNvPr id="15" name="直線接點 14"/>
          <p:cNvCxnSpPr/>
          <p:nvPr/>
        </p:nvCxnSpPr>
        <p:spPr>
          <a:xfrm flipV="1">
            <a:off x="3559629" y="4604657"/>
            <a:ext cx="293914" cy="97972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手繪多邊形 10"/>
          <p:cNvSpPr/>
          <p:nvPr/>
        </p:nvSpPr>
        <p:spPr>
          <a:xfrm>
            <a:off x="3706586" y="4898571"/>
            <a:ext cx="3567793" cy="595230"/>
          </a:xfrm>
          <a:custGeom>
            <a:avLst/>
            <a:gdLst>
              <a:gd name="connsiteX0" fmla="*/ 0 w 3567793"/>
              <a:gd name="connsiteY0" fmla="*/ 57150 h 595230"/>
              <a:gd name="connsiteX1" fmla="*/ 326571 w 3567793"/>
              <a:gd name="connsiteY1" fmla="*/ 489858 h 595230"/>
              <a:gd name="connsiteX2" fmla="*/ 816428 w 3567793"/>
              <a:gd name="connsiteY2" fmla="*/ 579665 h 595230"/>
              <a:gd name="connsiteX3" fmla="*/ 2841171 w 3567793"/>
              <a:gd name="connsiteY3" fmla="*/ 571500 h 595230"/>
              <a:gd name="connsiteX4" fmla="*/ 3388178 w 3567793"/>
              <a:gd name="connsiteY4" fmla="*/ 547008 h 595230"/>
              <a:gd name="connsiteX5" fmla="*/ 3567793 w 3567793"/>
              <a:gd name="connsiteY5" fmla="*/ 0 h 595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67793" h="595230">
                <a:moveTo>
                  <a:pt x="0" y="57150"/>
                </a:moveTo>
                <a:cubicBezTo>
                  <a:pt x="95250" y="229961"/>
                  <a:pt x="190500" y="402772"/>
                  <a:pt x="326571" y="489858"/>
                </a:cubicBezTo>
                <a:cubicBezTo>
                  <a:pt x="462642" y="576944"/>
                  <a:pt x="397328" y="566058"/>
                  <a:pt x="816428" y="579665"/>
                </a:cubicBezTo>
                <a:cubicBezTo>
                  <a:pt x="1235528" y="593272"/>
                  <a:pt x="2412546" y="576943"/>
                  <a:pt x="2841171" y="571500"/>
                </a:cubicBezTo>
                <a:cubicBezTo>
                  <a:pt x="3269796" y="566057"/>
                  <a:pt x="3267074" y="642258"/>
                  <a:pt x="3388178" y="547008"/>
                </a:cubicBezTo>
                <a:cubicBezTo>
                  <a:pt x="3509282" y="451758"/>
                  <a:pt x="3538537" y="225879"/>
                  <a:pt x="3567793" y="0"/>
                </a:cubicBezTo>
              </a:path>
            </a:pathLst>
          </a:custGeom>
          <a:noFill/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/>
          <p:cNvSpPr txBox="1"/>
          <p:nvPr/>
        </p:nvSpPr>
        <p:spPr>
          <a:xfrm>
            <a:off x="6601088" y="4919519"/>
            <a:ext cx="4587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+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3222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1364500"/>
              </p:ext>
            </p:extLst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1’s complement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8514538"/>
              </p:ext>
            </p:extLst>
          </p:nvPr>
        </p:nvGraphicFramePr>
        <p:xfrm>
          <a:off x="4098470" y="2638274"/>
          <a:ext cx="3641272" cy="13458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318">
                  <a:extLst>
                    <a:ext uri="{9D8B030D-6E8A-4147-A177-3AD203B41FA5}">
                      <a16:colId xmlns:a16="http://schemas.microsoft.com/office/drawing/2014/main" val="2211459008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1749433242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488143073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550030227"/>
                    </a:ext>
                  </a:extLst>
                </a:gridCol>
              </a:tblGrid>
              <a:tr h="6729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7506386"/>
                  </a:ext>
                </a:extLst>
              </a:tr>
              <a:tr h="6729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03994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8303078" y="2638274"/>
            <a:ext cx="6030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- 3</a:t>
            </a:r>
            <a:endParaRPr lang="zh-TW" altLang="en-US" sz="2800" dirty="0"/>
          </a:p>
        </p:txBody>
      </p:sp>
      <p:sp>
        <p:nvSpPr>
          <p:cNvPr id="6" name="矩形 5"/>
          <p:cNvSpPr/>
          <p:nvPr/>
        </p:nvSpPr>
        <p:spPr>
          <a:xfrm flipV="1">
            <a:off x="3502479" y="4096841"/>
            <a:ext cx="5306786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3502479" y="3337841"/>
            <a:ext cx="492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/>
              <a:t>+</a:t>
            </a:r>
            <a:endParaRPr lang="zh-TW" altLang="en-US" sz="3600" b="1" dirty="0"/>
          </a:p>
        </p:txBody>
      </p:sp>
      <p:sp>
        <p:nvSpPr>
          <p:cNvPr id="9" name="文字方塊 8"/>
          <p:cNvSpPr txBox="1"/>
          <p:nvPr/>
        </p:nvSpPr>
        <p:spPr>
          <a:xfrm>
            <a:off x="8319792" y="3367557"/>
            <a:ext cx="6030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- 2</a:t>
            </a:r>
            <a:endParaRPr lang="zh-TW" altLang="en-US" sz="28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138314" y="1479441"/>
            <a:ext cx="35732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4-bit 1’s complement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7269076"/>
              </p:ext>
            </p:extLst>
          </p:nvPr>
        </p:nvGraphicFramePr>
        <p:xfrm>
          <a:off x="4098470" y="4303936"/>
          <a:ext cx="3641272" cy="6729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318">
                  <a:extLst>
                    <a:ext uri="{9D8B030D-6E8A-4147-A177-3AD203B41FA5}">
                      <a16:colId xmlns:a16="http://schemas.microsoft.com/office/drawing/2014/main" val="2265565257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2123587098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3983080094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3500171827"/>
                    </a:ext>
                  </a:extLst>
                </a:gridCol>
              </a:tblGrid>
              <a:tr h="6729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8789714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3307427"/>
              </p:ext>
            </p:extLst>
          </p:nvPr>
        </p:nvGraphicFramePr>
        <p:xfrm>
          <a:off x="6829424" y="4899492"/>
          <a:ext cx="910318" cy="6729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318">
                  <a:extLst>
                    <a:ext uri="{9D8B030D-6E8A-4147-A177-3AD203B41FA5}">
                      <a16:colId xmlns:a16="http://schemas.microsoft.com/office/drawing/2014/main" val="2146274922"/>
                    </a:ext>
                  </a:extLst>
                </a:gridCol>
              </a:tblGrid>
              <a:tr h="6729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4811966"/>
                  </a:ext>
                </a:extLst>
              </a:tr>
            </a:tbl>
          </a:graphicData>
        </a:graphic>
      </p:graphicFrame>
      <p:cxnSp>
        <p:nvCxnSpPr>
          <p:cNvPr id="15" name="直線接點 14"/>
          <p:cNvCxnSpPr/>
          <p:nvPr/>
        </p:nvCxnSpPr>
        <p:spPr>
          <a:xfrm flipV="1">
            <a:off x="7132676" y="5200213"/>
            <a:ext cx="293914" cy="97972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 flipV="1">
            <a:off x="3502479" y="5627663"/>
            <a:ext cx="5306786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/>
          <p:cNvSpPr txBox="1"/>
          <p:nvPr/>
        </p:nvSpPr>
        <p:spPr>
          <a:xfrm>
            <a:off x="3502479" y="4953721"/>
            <a:ext cx="492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/>
              <a:t>+</a:t>
            </a:r>
            <a:endParaRPr lang="zh-TW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763327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1364500"/>
              </p:ext>
            </p:extLst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1’s complement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8514538"/>
              </p:ext>
            </p:extLst>
          </p:nvPr>
        </p:nvGraphicFramePr>
        <p:xfrm>
          <a:off x="4098470" y="2638274"/>
          <a:ext cx="3641272" cy="13458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318">
                  <a:extLst>
                    <a:ext uri="{9D8B030D-6E8A-4147-A177-3AD203B41FA5}">
                      <a16:colId xmlns:a16="http://schemas.microsoft.com/office/drawing/2014/main" val="2211459008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1749433242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488143073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550030227"/>
                    </a:ext>
                  </a:extLst>
                </a:gridCol>
              </a:tblGrid>
              <a:tr h="6729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7506386"/>
                  </a:ext>
                </a:extLst>
              </a:tr>
              <a:tr h="6729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03994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8303078" y="2638274"/>
            <a:ext cx="6030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- 3</a:t>
            </a:r>
            <a:endParaRPr lang="zh-TW" altLang="en-US" sz="2800" dirty="0"/>
          </a:p>
        </p:txBody>
      </p:sp>
      <p:sp>
        <p:nvSpPr>
          <p:cNvPr id="6" name="矩形 5"/>
          <p:cNvSpPr/>
          <p:nvPr/>
        </p:nvSpPr>
        <p:spPr>
          <a:xfrm flipV="1">
            <a:off x="3502479" y="4096841"/>
            <a:ext cx="5306786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3502479" y="3337841"/>
            <a:ext cx="492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/>
              <a:t>+</a:t>
            </a:r>
            <a:endParaRPr lang="zh-TW" altLang="en-US" sz="3600" b="1" dirty="0"/>
          </a:p>
        </p:txBody>
      </p:sp>
      <p:sp>
        <p:nvSpPr>
          <p:cNvPr id="9" name="文字方塊 8"/>
          <p:cNvSpPr txBox="1"/>
          <p:nvPr/>
        </p:nvSpPr>
        <p:spPr>
          <a:xfrm>
            <a:off x="8319792" y="3367557"/>
            <a:ext cx="6030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- 2</a:t>
            </a:r>
            <a:endParaRPr lang="zh-TW" altLang="en-US" sz="28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138314" y="1479441"/>
            <a:ext cx="35732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4-bit 1’s complement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7269076"/>
              </p:ext>
            </p:extLst>
          </p:nvPr>
        </p:nvGraphicFramePr>
        <p:xfrm>
          <a:off x="4098470" y="4303936"/>
          <a:ext cx="3641272" cy="6729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318">
                  <a:extLst>
                    <a:ext uri="{9D8B030D-6E8A-4147-A177-3AD203B41FA5}">
                      <a16:colId xmlns:a16="http://schemas.microsoft.com/office/drawing/2014/main" val="2265565257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2123587098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3983080094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3500171827"/>
                    </a:ext>
                  </a:extLst>
                </a:gridCol>
              </a:tblGrid>
              <a:tr h="6729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8789714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3307427"/>
              </p:ext>
            </p:extLst>
          </p:nvPr>
        </p:nvGraphicFramePr>
        <p:xfrm>
          <a:off x="6829424" y="4899492"/>
          <a:ext cx="910318" cy="6729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318">
                  <a:extLst>
                    <a:ext uri="{9D8B030D-6E8A-4147-A177-3AD203B41FA5}">
                      <a16:colId xmlns:a16="http://schemas.microsoft.com/office/drawing/2014/main" val="2146274922"/>
                    </a:ext>
                  </a:extLst>
                </a:gridCol>
              </a:tblGrid>
              <a:tr h="6729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4811966"/>
                  </a:ext>
                </a:extLst>
              </a:tr>
            </a:tbl>
          </a:graphicData>
        </a:graphic>
      </p:graphicFrame>
      <p:cxnSp>
        <p:nvCxnSpPr>
          <p:cNvPr id="15" name="直線接點 14"/>
          <p:cNvCxnSpPr/>
          <p:nvPr/>
        </p:nvCxnSpPr>
        <p:spPr>
          <a:xfrm flipV="1">
            <a:off x="7132676" y="5200213"/>
            <a:ext cx="293914" cy="97972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 flipV="1">
            <a:off x="3502479" y="5627663"/>
            <a:ext cx="5306786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/>
          <p:cNvSpPr txBox="1"/>
          <p:nvPr/>
        </p:nvSpPr>
        <p:spPr>
          <a:xfrm>
            <a:off x="3502479" y="4953721"/>
            <a:ext cx="492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/>
              <a:t>+</a:t>
            </a:r>
            <a:endParaRPr lang="zh-TW" altLang="en-US" sz="3600" b="1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254708"/>
              </p:ext>
            </p:extLst>
          </p:nvPr>
        </p:nvGraphicFramePr>
        <p:xfrm>
          <a:off x="4098470" y="5831522"/>
          <a:ext cx="3641272" cy="6729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318">
                  <a:extLst>
                    <a:ext uri="{9D8B030D-6E8A-4147-A177-3AD203B41FA5}">
                      <a16:colId xmlns:a16="http://schemas.microsoft.com/office/drawing/2014/main" val="1184384489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1002881698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2857064687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1012042023"/>
                    </a:ext>
                  </a:extLst>
                </a:gridCol>
              </a:tblGrid>
              <a:tr h="6729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18387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2532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1364500"/>
              </p:ext>
            </p:extLst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1’s complement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8514538"/>
              </p:ext>
            </p:extLst>
          </p:nvPr>
        </p:nvGraphicFramePr>
        <p:xfrm>
          <a:off x="4098470" y="2638274"/>
          <a:ext cx="3641272" cy="13458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318">
                  <a:extLst>
                    <a:ext uri="{9D8B030D-6E8A-4147-A177-3AD203B41FA5}">
                      <a16:colId xmlns:a16="http://schemas.microsoft.com/office/drawing/2014/main" val="2211459008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1749433242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488143073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550030227"/>
                    </a:ext>
                  </a:extLst>
                </a:gridCol>
              </a:tblGrid>
              <a:tr h="6729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7506386"/>
                  </a:ext>
                </a:extLst>
              </a:tr>
              <a:tr h="6729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03994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8303078" y="2638274"/>
            <a:ext cx="6030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- 3</a:t>
            </a:r>
            <a:endParaRPr lang="zh-TW" altLang="en-US" sz="2800" dirty="0"/>
          </a:p>
        </p:txBody>
      </p:sp>
      <p:sp>
        <p:nvSpPr>
          <p:cNvPr id="6" name="矩形 5"/>
          <p:cNvSpPr/>
          <p:nvPr/>
        </p:nvSpPr>
        <p:spPr>
          <a:xfrm flipV="1">
            <a:off x="3502479" y="4096841"/>
            <a:ext cx="5306786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3502479" y="3337841"/>
            <a:ext cx="492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/>
              <a:t>+</a:t>
            </a:r>
            <a:endParaRPr lang="zh-TW" altLang="en-US" sz="3600" b="1" dirty="0"/>
          </a:p>
        </p:txBody>
      </p:sp>
      <p:sp>
        <p:nvSpPr>
          <p:cNvPr id="9" name="文字方塊 8"/>
          <p:cNvSpPr txBox="1"/>
          <p:nvPr/>
        </p:nvSpPr>
        <p:spPr>
          <a:xfrm>
            <a:off x="8319792" y="3367557"/>
            <a:ext cx="6030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- 2</a:t>
            </a:r>
            <a:endParaRPr lang="zh-TW" altLang="en-US" sz="28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138314" y="1479441"/>
            <a:ext cx="35732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4-bit 1’s complement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7269076"/>
              </p:ext>
            </p:extLst>
          </p:nvPr>
        </p:nvGraphicFramePr>
        <p:xfrm>
          <a:off x="4098470" y="4303936"/>
          <a:ext cx="3641272" cy="6729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318">
                  <a:extLst>
                    <a:ext uri="{9D8B030D-6E8A-4147-A177-3AD203B41FA5}">
                      <a16:colId xmlns:a16="http://schemas.microsoft.com/office/drawing/2014/main" val="2265565257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2123587098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3983080094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3500171827"/>
                    </a:ext>
                  </a:extLst>
                </a:gridCol>
              </a:tblGrid>
              <a:tr h="6729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8789714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3307427"/>
              </p:ext>
            </p:extLst>
          </p:nvPr>
        </p:nvGraphicFramePr>
        <p:xfrm>
          <a:off x="6829424" y="4899492"/>
          <a:ext cx="910318" cy="6729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318">
                  <a:extLst>
                    <a:ext uri="{9D8B030D-6E8A-4147-A177-3AD203B41FA5}">
                      <a16:colId xmlns:a16="http://schemas.microsoft.com/office/drawing/2014/main" val="2146274922"/>
                    </a:ext>
                  </a:extLst>
                </a:gridCol>
              </a:tblGrid>
              <a:tr h="6729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4811966"/>
                  </a:ext>
                </a:extLst>
              </a:tr>
            </a:tbl>
          </a:graphicData>
        </a:graphic>
      </p:graphicFrame>
      <p:cxnSp>
        <p:nvCxnSpPr>
          <p:cNvPr id="15" name="直線接點 14"/>
          <p:cNvCxnSpPr/>
          <p:nvPr/>
        </p:nvCxnSpPr>
        <p:spPr>
          <a:xfrm flipV="1">
            <a:off x="7132676" y="5200213"/>
            <a:ext cx="293914" cy="97972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 flipV="1">
            <a:off x="3502479" y="5627663"/>
            <a:ext cx="5306786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/>
          <p:cNvSpPr txBox="1"/>
          <p:nvPr/>
        </p:nvSpPr>
        <p:spPr>
          <a:xfrm>
            <a:off x="3502479" y="4953721"/>
            <a:ext cx="492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/>
              <a:t>+</a:t>
            </a:r>
            <a:endParaRPr lang="zh-TW" altLang="en-US" sz="3600" b="1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254708"/>
              </p:ext>
            </p:extLst>
          </p:nvPr>
        </p:nvGraphicFramePr>
        <p:xfrm>
          <a:off x="4098470" y="5831522"/>
          <a:ext cx="3641272" cy="6729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318">
                  <a:extLst>
                    <a:ext uri="{9D8B030D-6E8A-4147-A177-3AD203B41FA5}">
                      <a16:colId xmlns:a16="http://schemas.microsoft.com/office/drawing/2014/main" val="1184384489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1002881698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2857064687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1012042023"/>
                    </a:ext>
                  </a:extLst>
                </a:gridCol>
              </a:tblGrid>
              <a:tr h="6729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1838718"/>
                  </a:ext>
                </a:extLst>
              </a:tr>
            </a:tbl>
          </a:graphicData>
        </a:graphic>
      </p:graphicFrame>
      <p:sp>
        <p:nvSpPr>
          <p:cNvPr id="18" name="文字方塊 17"/>
          <p:cNvSpPr txBox="1"/>
          <p:nvPr/>
        </p:nvSpPr>
        <p:spPr>
          <a:xfrm>
            <a:off x="8303078" y="5906386"/>
            <a:ext cx="6030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- 5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647239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1364500"/>
              </p:ext>
            </p:extLst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1’s complement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8514538"/>
              </p:ext>
            </p:extLst>
          </p:nvPr>
        </p:nvGraphicFramePr>
        <p:xfrm>
          <a:off x="4098470" y="2638274"/>
          <a:ext cx="3641272" cy="13458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318">
                  <a:extLst>
                    <a:ext uri="{9D8B030D-6E8A-4147-A177-3AD203B41FA5}">
                      <a16:colId xmlns:a16="http://schemas.microsoft.com/office/drawing/2014/main" val="2211459008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1749433242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488143073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550030227"/>
                    </a:ext>
                  </a:extLst>
                </a:gridCol>
              </a:tblGrid>
              <a:tr h="6729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7506386"/>
                  </a:ext>
                </a:extLst>
              </a:tr>
              <a:tr h="6729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03994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8303078" y="2638274"/>
            <a:ext cx="6030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- 3</a:t>
            </a:r>
            <a:endParaRPr lang="zh-TW" altLang="en-US" sz="2800" dirty="0"/>
          </a:p>
        </p:txBody>
      </p:sp>
      <p:sp>
        <p:nvSpPr>
          <p:cNvPr id="6" name="矩形 5"/>
          <p:cNvSpPr/>
          <p:nvPr/>
        </p:nvSpPr>
        <p:spPr>
          <a:xfrm flipV="1">
            <a:off x="3502479" y="4096841"/>
            <a:ext cx="5306786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3502479" y="3337841"/>
            <a:ext cx="492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/>
              <a:t>+</a:t>
            </a:r>
            <a:endParaRPr lang="zh-TW" altLang="en-US" sz="3600" b="1" dirty="0"/>
          </a:p>
        </p:txBody>
      </p:sp>
      <p:sp>
        <p:nvSpPr>
          <p:cNvPr id="9" name="文字方塊 8"/>
          <p:cNvSpPr txBox="1"/>
          <p:nvPr/>
        </p:nvSpPr>
        <p:spPr>
          <a:xfrm>
            <a:off x="8319792" y="3367557"/>
            <a:ext cx="6030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- 2</a:t>
            </a:r>
            <a:endParaRPr lang="zh-TW" altLang="en-US" sz="28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138314" y="1479441"/>
            <a:ext cx="35732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4-bit 1’s complement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7269076"/>
              </p:ext>
            </p:extLst>
          </p:nvPr>
        </p:nvGraphicFramePr>
        <p:xfrm>
          <a:off x="4098470" y="4303936"/>
          <a:ext cx="3641272" cy="6729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318">
                  <a:extLst>
                    <a:ext uri="{9D8B030D-6E8A-4147-A177-3AD203B41FA5}">
                      <a16:colId xmlns:a16="http://schemas.microsoft.com/office/drawing/2014/main" val="2265565257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2123587098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3983080094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3500171827"/>
                    </a:ext>
                  </a:extLst>
                </a:gridCol>
              </a:tblGrid>
              <a:tr h="6729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8789714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3307427"/>
              </p:ext>
            </p:extLst>
          </p:nvPr>
        </p:nvGraphicFramePr>
        <p:xfrm>
          <a:off x="6829424" y="4899492"/>
          <a:ext cx="910318" cy="6729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318">
                  <a:extLst>
                    <a:ext uri="{9D8B030D-6E8A-4147-A177-3AD203B41FA5}">
                      <a16:colId xmlns:a16="http://schemas.microsoft.com/office/drawing/2014/main" val="2146274922"/>
                    </a:ext>
                  </a:extLst>
                </a:gridCol>
              </a:tblGrid>
              <a:tr h="6729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4811966"/>
                  </a:ext>
                </a:extLst>
              </a:tr>
            </a:tbl>
          </a:graphicData>
        </a:graphic>
      </p:graphicFrame>
      <p:cxnSp>
        <p:nvCxnSpPr>
          <p:cNvPr id="15" name="直線接點 14"/>
          <p:cNvCxnSpPr/>
          <p:nvPr/>
        </p:nvCxnSpPr>
        <p:spPr>
          <a:xfrm flipV="1">
            <a:off x="7132676" y="5200213"/>
            <a:ext cx="293914" cy="97972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 flipV="1">
            <a:off x="3502479" y="5627663"/>
            <a:ext cx="5306786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/>
          <p:cNvSpPr txBox="1"/>
          <p:nvPr/>
        </p:nvSpPr>
        <p:spPr>
          <a:xfrm>
            <a:off x="3502479" y="4953721"/>
            <a:ext cx="492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/>
              <a:t>+</a:t>
            </a:r>
            <a:endParaRPr lang="zh-TW" altLang="en-US" sz="3600" b="1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254708"/>
              </p:ext>
            </p:extLst>
          </p:nvPr>
        </p:nvGraphicFramePr>
        <p:xfrm>
          <a:off x="4098470" y="5831522"/>
          <a:ext cx="3641272" cy="6729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318">
                  <a:extLst>
                    <a:ext uri="{9D8B030D-6E8A-4147-A177-3AD203B41FA5}">
                      <a16:colId xmlns:a16="http://schemas.microsoft.com/office/drawing/2014/main" val="1184384489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1002881698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2857064687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1012042023"/>
                    </a:ext>
                  </a:extLst>
                </a:gridCol>
              </a:tblGrid>
              <a:tr h="6729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1838718"/>
                  </a:ext>
                </a:extLst>
              </a:tr>
            </a:tbl>
          </a:graphicData>
        </a:graphic>
      </p:graphicFrame>
      <p:sp>
        <p:nvSpPr>
          <p:cNvPr id="18" name="文字方塊 17"/>
          <p:cNvSpPr txBox="1"/>
          <p:nvPr/>
        </p:nvSpPr>
        <p:spPr>
          <a:xfrm>
            <a:off x="8303078" y="5906386"/>
            <a:ext cx="6030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- 5</a:t>
            </a:r>
            <a:endParaRPr lang="zh-TW" altLang="en-US" sz="2800" dirty="0"/>
          </a:p>
        </p:txBody>
      </p:sp>
      <p:sp>
        <p:nvSpPr>
          <p:cNvPr id="11" name="矩形 10"/>
          <p:cNvSpPr/>
          <p:nvPr/>
        </p:nvSpPr>
        <p:spPr>
          <a:xfrm rot="1066724">
            <a:off x="8809106" y="5744310"/>
            <a:ext cx="46679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  <a:latin typeface="Arial Black" panose="020B0A04020102020204" pitchFamily="34" charset="0"/>
                <a:sym typeface="Symbol" panose="05050102010706020507" pitchFamily="18" charset="2"/>
              </a:rPr>
              <a:t></a:t>
            </a:r>
            <a:endParaRPr lang="zh-TW" altLang="en-US" sz="4000" b="1" dirty="0">
              <a:solidFill>
                <a:srgbClr val="C00000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1826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1364500"/>
              </p:ext>
            </p:extLst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1’s complement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8514538"/>
              </p:ext>
            </p:extLst>
          </p:nvPr>
        </p:nvGraphicFramePr>
        <p:xfrm>
          <a:off x="4098470" y="2638274"/>
          <a:ext cx="3641272" cy="13458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318">
                  <a:extLst>
                    <a:ext uri="{9D8B030D-6E8A-4147-A177-3AD203B41FA5}">
                      <a16:colId xmlns:a16="http://schemas.microsoft.com/office/drawing/2014/main" val="2211459008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1749433242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488143073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550030227"/>
                    </a:ext>
                  </a:extLst>
                </a:gridCol>
              </a:tblGrid>
              <a:tr h="6729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7506386"/>
                  </a:ext>
                </a:extLst>
              </a:tr>
              <a:tr h="6729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03994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8303078" y="2638274"/>
            <a:ext cx="6030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- 3</a:t>
            </a:r>
            <a:endParaRPr lang="zh-TW" altLang="en-US" sz="2800" dirty="0"/>
          </a:p>
        </p:txBody>
      </p:sp>
      <p:sp>
        <p:nvSpPr>
          <p:cNvPr id="6" name="矩形 5"/>
          <p:cNvSpPr/>
          <p:nvPr/>
        </p:nvSpPr>
        <p:spPr>
          <a:xfrm flipV="1">
            <a:off x="3502479" y="4096841"/>
            <a:ext cx="5306786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3502479" y="3337841"/>
            <a:ext cx="492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/>
              <a:t>+</a:t>
            </a:r>
            <a:endParaRPr lang="zh-TW" altLang="en-US" sz="3600" b="1" dirty="0"/>
          </a:p>
        </p:txBody>
      </p:sp>
      <p:sp>
        <p:nvSpPr>
          <p:cNvPr id="9" name="文字方塊 8"/>
          <p:cNvSpPr txBox="1"/>
          <p:nvPr/>
        </p:nvSpPr>
        <p:spPr>
          <a:xfrm>
            <a:off x="8319792" y="3367557"/>
            <a:ext cx="6030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- 2</a:t>
            </a:r>
            <a:endParaRPr lang="zh-TW" altLang="en-US" sz="28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138314" y="1479441"/>
            <a:ext cx="35732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4-bit 1’s complement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7269076"/>
              </p:ext>
            </p:extLst>
          </p:nvPr>
        </p:nvGraphicFramePr>
        <p:xfrm>
          <a:off x="4098470" y="4303936"/>
          <a:ext cx="3641272" cy="6729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318">
                  <a:extLst>
                    <a:ext uri="{9D8B030D-6E8A-4147-A177-3AD203B41FA5}">
                      <a16:colId xmlns:a16="http://schemas.microsoft.com/office/drawing/2014/main" val="2265565257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2123587098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3983080094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3500171827"/>
                    </a:ext>
                  </a:extLst>
                </a:gridCol>
              </a:tblGrid>
              <a:tr h="6729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8789714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3307427"/>
              </p:ext>
            </p:extLst>
          </p:nvPr>
        </p:nvGraphicFramePr>
        <p:xfrm>
          <a:off x="6829424" y="4899492"/>
          <a:ext cx="910318" cy="6729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318">
                  <a:extLst>
                    <a:ext uri="{9D8B030D-6E8A-4147-A177-3AD203B41FA5}">
                      <a16:colId xmlns:a16="http://schemas.microsoft.com/office/drawing/2014/main" val="2146274922"/>
                    </a:ext>
                  </a:extLst>
                </a:gridCol>
              </a:tblGrid>
              <a:tr h="6729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4811966"/>
                  </a:ext>
                </a:extLst>
              </a:tr>
            </a:tbl>
          </a:graphicData>
        </a:graphic>
      </p:graphicFrame>
      <p:cxnSp>
        <p:nvCxnSpPr>
          <p:cNvPr id="15" name="直線接點 14"/>
          <p:cNvCxnSpPr/>
          <p:nvPr/>
        </p:nvCxnSpPr>
        <p:spPr>
          <a:xfrm flipV="1">
            <a:off x="7132676" y="5200213"/>
            <a:ext cx="293914" cy="97972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 flipV="1">
            <a:off x="3502479" y="5627663"/>
            <a:ext cx="5306786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/>
          <p:cNvSpPr txBox="1"/>
          <p:nvPr/>
        </p:nvSpPr>
        <p:spPr>
          <a:xfrm>
            <a:off x="3502479" y="4953721"/>
            <a:ext cx="492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/>
              <a:t>+</a:t>
            </a:r>
            <a:endParaRPr lang="zh-TW" altLang="en-US" sz="3600" b="1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254708"/>
              </p:ext>
            </p:extLst>
          </p:nvPr>
        </p:nvGraphicFramePr>
        <p:xfrm>
          <a:off x="4098470" y="5831522"/>
          <a:ext cx="3641272" cy="6729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318">
                  <a:extLst>
                    <a:ext uri="{9D8B030D-6E8A-4147-A177-3AD203B41FA5}">
                      <a16:colId xmlns:a16="http://schemas.microsoft.com/office/drawing/2014/main" val="1184384489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1002881698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2857064687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1012042023"/>
                    </a:ext>
                  </a:extLst>
                </a:gridCol>
              </a:tblGrid>
              <a:tr h="6729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1838718"/>
                  </a:ext>
                </a:extLst>
              </a:tr>
            </a:tbl>
          </a:graphicData>
        </a:graphic>
      </p:graphicFrame>
      <p:sp>
        <p:nvSpPr>
          <p:cNvPr id="18" name="文字方塊 17"/>
          <p:cNvSpPr txBox="1"/>
          <p:nvPr/>
        </p:nvSpPr>
        <p:spPr>
          <a:xfrm>
            <a:off x="8303078" y="5903955"/>
            <a:ext cx="6030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- 5</a:t>
            </a:r>
            <a:endParaRPr lang="zh-TW" altLang="en-US" sz="2800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7426590" y="1507052"/>
            <a:ext cx="46866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End round carry correction</a:t>
            </a:r>
            <a:endParaRPr lang="zh-TW" altLang="en-US" sz="32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 rot="1066724">
            <a:off x="8809106" y="5744310"/>
            <a:ext cx="46679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  <a:latin typeface="Arial Black" panose="020B0A04020102020204" pitchFamily="34" charset="0"/>
                <a:sym typeface="Symbol" panose="05050102010706020507" pitchFamily="18" charset="2"/>
              </a:rPr>
              <a:t></a:t>
            </a:r>
            <a:endParaRPr lang="zh-TW" altLang="en-US" sz="4000" b="1" dirty="0">
              <a:solidFill>
                <a:srgbClr val="C00000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0495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8576648"/>
              </p:ext>
            </p:extLst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2’s complement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sp>
        <p:nvSpPr>
          <p:cNvPr id="20" name="文字方塊 19"/>
          <p:cNvSpPr txBox="1"/>
          <p:nvPr/>
        </p:nvSpPr>
        <p:spPr>
          <a:xfrm>
            <a:off x="120531" y="1519998"/>
            <a:ext cx="68877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How to express 4-bit 2’s complement -5</a:t>
            </a:r>
            <a:r>
              <a:rPr lang="en-US" altLang="zh-TW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9976329" y="1458442"/>
            <a:ext cx="22156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Example 1</a:t>
            </a:r>
            <a:endParaRPr lang="zh-TW" alt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4235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8576648"/>
              </p:ext>
            </p:extLst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2’s complement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sp>
        <p:nvSpPr>
          <p:cNvPr id="20" name="文字方塊 19"/>
          <p:cNvSpPr txBox="1"/>
          <p:nvPr/>
        </p:nvSpPr>
        <p:spPr>
          <a:xfrm>
            <a:off x="120531" y="1519998"/>
            <a:ext cx="68877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How to express 4-bit 2’s complement -5</a:t>
            </a:r>
            <a:r>
              <a:rPr lang="en-US" altLang="zh-TW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5624997"/>
              </p:ext>
            </p:extLst>
          </p:nvPr>
        </p:nvGraphicFramePr>
        <p:xfrm>
          <a:off x="5741933" y="2297569"/>
          <a:ext cx="3565632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3396342" y="2292509"/>
            <a:ext cx="17892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solidFill>
                  <a:srgbClr val="C00000"/>
                </a:solidFill>
              </a:rPr>
              <a:t>Unsigned 5</a:t>
            </a:r>
            <a:endParaRPr lang="zh-TW" altLang="en-US" sz="2800" dirty="0">
              <a:solidFill>
                <a:srgbClr val="C00000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9976329" y="1458442"/>
            <a:ext cx="22156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Example 1</a:t>
            </a:r>
            <a:endParaRPr lang="zh-TW" alt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9237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8576648"/>
              </p:ext>
            </p:extLst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2’s complement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sp>
        <p:nvSpPr>
          <p:cNvPr id="20" name="文字方塊 19"/>
          <p:cNvSpPr txBox="1"/>
          <p:nvPr/>
        </p:nvSpPr>
        <p:spPr>
          <a:xfrm>
            <a:off x="120531" y="1519998"/>
            <a:ext cx="68877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How to express 4-bit 2’s complement -5</a:t>
            </a:r>
            <a:r>
              <a:rPr lang="en-US" altLang="zh-TW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1" name="表格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9065618"/>
              </p:ext>
            </p:extLst>
          </p:nvPr>
        </p:nvGraphicFramePr>
        <p:xfrm>
          <a:off x="5741933" y="2297569"/>
          <a:ext cx="3565632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sp>
        <p:nvSpPr>
          <p:cNvPr id="22" name="文字方塊 21"/>
          <p:cNvSpPr txBox="1"/>
          <p:nvPr/>
        </p:nvSpPr>
        <p:spPr>
          <a:xfrm>
            <a:off x="3396342" y="2292509"/>
            <a:ext cx="17892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solidFill>
                  <a:srgbClr val="C00000"/>
                </a:solidFill>
              </a:rPr>
              <a:t>Unsigned 5</a:t>
            </a:r>
            <a:endParaRPr lang="zh-TW" altLang="en-US" sz="2800" dirty="0">
              <a:solidFill>
                <a:srgbClr val="C00000"/>
              </a:solidFill>
            </a:endParaRPr>
          </a:p>
        </p:txBody>
      </p:sp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4828644"/>
              </p:ext>
            </p:extLst>
          </p:nvPr>
        </p:nvGraphicFramePr>
        <p:xfrm>
          <a:off x="5741933" y="3130326"/>
          <a:ext cx="3565632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sp>
        <p:nvSpPr>
          <p:cNvPr id="24" name="文字方塊 23"/>
          <p:cNvSpPr txBox="1"/>
          <p:nvPr/>
        </p:nvSpPr>
        <p:spPr>
          <a:xfrm>
            <a:off x="2188447" y="3130326"/>
            <a:ext cx="29971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solidFill>
                  <a:srgbClr val="C00000"/>
                </a:solidFill>
              </a:rPr>
              <a:t>2’s complement + 5</a:t>
            </a:r>
            <a:endParaRPr lang="zh-TW" altLang="en-US" sz="2800" dirty="0">
              <a:solidFill>
                <a:srgbClr val="C00000"/>
              </a:solidFill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9976329" y="1458442"/>
            <a:ext cx="22156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Example 1</a:t>
            </a:r>
            <a:endParaRPr lang="zh-TW" alt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7009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8576648"/>
              </p:ext>
            </p:extLst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2’s complement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sp>
        <p:nvSpPr>
          <p:cNvPr id="20" name="文字方塊 19"/>
          <p:cNvSpPr txBox="1"/>
          <p:nvPr/>
        </p:nvSpPr>
        <p:spPr>
          <a:xfrm>
            <a:off x="120531" y="1519998"/>
            <a:ext cx="68877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How to express 4-bit 2’s complement -5</a:t>
            </a:r>
            <a:r>
              <a:rPr lang="en-US" altLang="zh-TW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1" name="表格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9065618"/>
              </p:ext>
            </p:extLst>
          </p:nvPr>
        </p:nvGraphicFramePr>
        <p:xfrm>
          <a:off x="5741933" y="2297569"/>
          <a:ext cx="3565632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sp>
        <p:nvSpPr>
          <p:cNvPr id="22" name="文字方塊 21"/>
          <p:cNvSpPr txBox="1"/>
          <p:nvPr/>
        </p:nvSpPr>
        <p:spPr>
          <a:xfrm>
            <a:off x="3396342" y="2292509"/>
            <a:ext cx="17892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solidFill>
                  <a:srgbClr val="C00000"/>
                </a:solidFill>
              </a:rPr>
              <a:t>Unsigned 5</a:t>
            </a:r>
            <a:endParaRPr lang="zh-TW" altLang="en-US" sz="2800" dirty="0">
              <a:solidFill>
                <a:srgbClr val="C00000"/>
              </a:solidFill>
            </a:endParaRPr>
          </a:p>
        </p:txBody>
      </p:sp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4828644"/>
              </p:ext>
            </p:extLst>
          </p:nvPr>
        </p:nvGraphicFramePr>
        <p:xfrm>
          <a:off x="5741933" y="3130326"/>
          <a:ext cx="3565632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sp>
        <p:nvSpPr>
          <p:cNvPr id="24" name="文字方塊 23"/>
          <p:cNvSpPr txBox="1"/>
          <p:nvPr/>
        </p:nvSpPr>
        <p:spPr>
          <a:xfrm>
            <a:off x="2188447" y="3130326"/>
            <a:ext cx="29971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solidFill>
                  <a:srgbClr val="C00000"/>
                </a:solidFill>
              </a:rPr>
              <a:t>2’s complement + 5</a:t>
            </a:r>
            <a:endParaRPr lang="zh-TW" altLang="en-US" sz="2800" dirty="0">
              <a:solidFill>
                <a:srgbClr val="C00000"/>
              </a:solidFill>
            </a:endParaRPr>
          </a:p>
        </p:txBody>
      </p:sp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0644566"/>
              </p:ext>
            </p:extLst>
          </p:nvPr>
        </p:nvGraphicFramePr>
        <p:xfrm>
          <a:off x="5741933" y="3973425"/>
          <a:ext cx="3565632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sp>
        <p:nvSpPr>
          <p:cNvPr id="14" name="文字方塊 13"/>
          <p:cNvSpPr txBox="1"/>
          <p:nvPr/>
        </p:nvSpPr>
        <p:spPr>
          <a:xfrm>
            <a:off x="9976329" y="1458442"/>
            <a:ext cx="22156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Example 1</a:t>
            </a:r>
            <a:endParaRPr lang="zh-TW" alt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9653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8576648"/>
              </p:ext>
            </p:extLst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2’s complement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sp>
        <p:nvSpPr>
          <p:cNvPr id="20" name="文字方塊 19"/>
          <p:cNvSpPr txBox="1"/>
          <p:nvPr/>
        </p:nvSpPr>
        <p:spPr>
          <a:xfrm>
            <a:off x="120531" y="1519998"/>
            <a:ext cx="68877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How to express 4-bit 2’s complement -5</a:t>
            </a:r>
            <a:r>
              <a:rPr lang="en-US" altLang="zh-TW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1" name="表格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9065618"/>
              </p:ext>
            </p:extLst>
          </p:nvPr>
        </p:nvGraphicFramePr>
        <p:xfrm>
          <a:off x="5741933" y="2297569"/>
          <a:ext cx="3565632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sp>
        <p:nvSpPr>
          <p:cNvPr id="22" name="文字方塊 21"/>
          <p:cNvSpPr txBox="1"/>
          <p:nvPr/>
        </p:nvSpPr>
        <p:spPr>
          <a:xfrm>
            <a:off x="3396342" y="2292509"/>
            <a:ext cx="17892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solidFill>
                  <a:srgbClr val="C00000"/>
                </a:solidFill>
              </a:rPr>
              <a:t>Unsigned 5</a:t>
            </a:r>
            <a:endParaRPr lang="zh-TW" altLang="en-US" sz="2800" dirty="0">
              <a:solidFill>
                <a:srgbClr val="C00000"/>
              </a:solidFill>
            </a:endParaRPr>
          </a:p>
        </p:txBody>
      </p:sp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4828644"/>
              </p:ext>
            </p:extLst>
          </p:nvPr>
        </p:nvGraphicFramePr>
        <p:xfrm>
          <a:off x="5741933" y="3130326"/>
          <a:ext cx="3565632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sp>
        <p:nvSpPr>
          <p:cNvPr id="24" name="文字方塊 23"/>
          <p:cNvSpPr txBox="1"/>
          <p:nvPr/>
        </p:nvSpPr>
        <p:spPr>
          <a:xfrm>
            <a:off x="2188447" y="3130326"/>
            <a:ext cx="29971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solidFill>
                  <a:srgbClr val="C00000"/>
                </a:solidFill>
              </a:rPr>
              <a:t>2’s complement + 5</a:t>
            </a:r>
            <a:endParaRPr lang="zh-TW" altLang="en-US" sz="2800" dirty="0">
              <a:solidFill>
                <a:srgbClr val="C00000"/>
              </a:solidFill>
            </a:endParaRPr>
          </a:p>
        </p:txBody>
      </p:sp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0644566"/>
              </p:ext>
            </p:extLst>
          </p:nvPr>
        </p:nvGraphicFramePr>
        <p:xfrm>
          <a:off x="5741933" y="3973425"/>
          <a:ext cx="3565632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0286945"/>
              </p:ext>
            </p:extLst>
          </p:nvPr>
        </p:nvGraphicFramePr>
        <p:xfrm>
          <a:off x="8416157" y="4652964"/>
          <a:ext cx="89140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2058570643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962271"/>
                  </a:ext>
                </a:extLst>
              </a:tr>
            </a:tbl>
          </a:graphicData>
        </a:graphic>
      </p:graphicFrame>
      <p:sp>
        <p:nvSpPr>
          <p:cNvPr id="28" name="矩形 27"/>
          <p:cNvSpPr/>
          <p:nvPr/>
        </p:nvSpPr>
        <p:spPr>
          <a:xfrm>
            <a:off x="5265964" y="5363936"/>
            <a:ext cx="4041601" cy="646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文字方塊 28"/>
          <p:cNvSpPr txBox="1"/>
          <p:nvPr/>
        </p:nvSpPr>
        <p:spPr>
          <a:xfrm>
            <a:off x="5185614" y="4717605"/>
            <a:ext cx="492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/>
              <a:t>+</a:t>
            </a:r>
            <a:endParaRPr lang="zh-TW" altLang="en-US" sz="3600" b="1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9976329" y="1458442"/>
            <a:ext cx="22156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Example 1</a:t>
            </a:r>
            <a:endParaRPr lang="zh-TW" alt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1370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8576648"/>
              </p:ext>
            </p:extLst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2’s complement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sp>
        <p:nvSpPr>
          <p:cNvPr id="20" name="文字方塊 19"/>
          <p:cNvSpPr txBox="1"/>
          <p:nvPr/>
        </p:nvSpPr>
        <p:spPr>
          <a:xfrm>
            <a:off x="120531" y="1519998"/>
            <a:ext cx="68877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How to express 4-bit 2’s complement -5</a:t>
            </a:r>
            <a:r>
              <a:rPr lang="en-US" altLang="zh-TW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1" name="表格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9065618"/>
              </p:ext>
            </p:extLst>
          </p:nvPr>
        </p:nvGraphicFramePr>
        <p:xfrm>
          <a:off x="5741933" y="2297569"/>
          <a:ext cx="3565632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sp>
        <p:nvSpPr>
          <p:cNvPr id="22" name="文字方塊 21"/>
          <p:cNvSpPr txBox="1"/>
          <p:nvPr/>
        </p:nvSpPr>
        <p:spPr>
          <a:xfrm>
            <a:off x="3396342" y="2292509"/>
            <a:ext cx="17892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solidFill>
                  <a:srgbClr val="C00000"/>
                </a:solidFill>
              </a:rPr>
              <a:t>Unsigned 5</a:t>
            </a:r>
            <a:endParaRPr lang="zh-TW" altLang="en-US" sz="2800" dirty="0">
              <a:solidFill>
                <a:srgbClr val="C00000"/>
              </a:solidFill>
            </a:endParaRPr>
          </a:p>
        </p:txBody>
      </p:sp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4828644"/>
              </p:ext>
            </p:extLst>
          </p:nvPr>
        </p:nvGraphicFramePr>
        <p:xfrm>
          <a:off x="5741933" y="3130326"/>
          <a:ext cx="3565632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sp>
        <p:nvSpPr>
          <p:cNvPr id="24" name="文字方塊 23"/>
          <p:cNvSpPr txBox="1"/>
          <p:nvPr/>
        </p:nvSpPr>
        <p:spPr>
          <a:xfrm>
            <a:off x="2188447" y="3130326"/>
            <a:ext cx="29971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solidFill>
                  <a:srgbClr val="C00000"/>
                </a:solidFill>
              </a:rPr>
              <a:t>2’s complement + 5</a:t>
            </a:r>
            <a:endParaRPr lang="zh-TW" altLang="en-US" sz="2800" dirty="0">
              <a:solidFill>
                <a:srgbClr val="C00000"/>
              </a:solidFill>
            </a:endParaRPr>
          </a:p>
        </p:txBody>
      </p:sp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0644566"/>
              </p:ext>
            </p:extLst>
          </p:nvPr>
        </p:nvGraphicFramePr>
        <p:xfrm>
          <a:off x="5741933" y="3973425"/>
          <a:ext cx="3565632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0286945"/>
              </p:ext>
            </p:extLst>
          </p:nvPr>
        </p:nvGraphicFramePr>
        <p:xfrm>
          <a:off x="8416157" y="4652964"/>
          <a:ext cx="89140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2058570643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962271"/>
                  </a:ext>
                </a:extLst>
              </a:tr>
            </a:tbl>
          </a:graphicData>
        </a:graphic>
      </p:graphicFrame>
      <p:sp>
        <p:nvSpPr>
          <p:cNvPr id="28" name="矩形 27"/>
          <p:cNvSpPr/>
          <p:nvPr/>
        </p:nvSpPr>
        <p:spPr>
          <a:xfrm>
            <a:off x="5265964" y="5363936"/>
            <a:ext cx="4041601" cy="646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文字方塊 28"/>
          <p:cNvSpPr txBox="1"/>
          <p:nvPr/>
        </p:nvSpPr>
        <p:spPr>
          <a:xfrm>
            <a:off x="5185614" y="4717605"/>
            <a:ext cx="492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/>
              <a:t>+</a:t>
            </a:r>
            <a:endParaRPr lang="zh-TW" altLang="en-US" sz="3600" b="1" dirty="0"/>
          </a:p>
        </p:txBody>
      </p:sp>
      <p:graphicFrame>
        <p:nvGraphicFramePr>
          <p:cNvPr id="30" name="表格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897122"/>
              </p:ext>
            </p:extLst>
          </p:nvPr>
        </p:nvGraphicFramePr>
        <p:xfrm>
          <a:off x="5741933" y="5694862"/>
          <a:ext cx="3565632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sp>
        <p:nvSpPr>
          <p:cNvPr id="14" name="文字方塊 13"/>
          <p:cNvSpPr txBox="1"/>
          <p:nvPr/>
        </p:nvSpPr>
        <p:spPr>
          <a:xfrm>
            <a:off x="9976329" y="1458442"/>
            <a:ext cx="22156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Example 1</a:t>
            </a:r>
            <a:endParaRPr lang="zh-TW" alt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209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8576648"/>
              </p:ext>
            </p:extLst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2’s complement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sp>
        <p:nvSpPr>
          <p:cNvPr id="20" name="文字方塊 19"/>
          <p:cNvSpPr txBox="1"/>
          <p:nvPr/>
        </p:nvSpPr>
        <p:spPr>
          <a:xfrm>
            <a:off x="120531" y="1519998"/>
            <a:ext cx="68877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How to express 4-bit 2’s complement -5</a:t>
            </a:r>
            <a:r>
              <a:rPr lang="en-US" altLang="zh-TW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1" name="表格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9065618"/>
              </p:ext>
            </p:extLst>
          </p:nvPr>
        </p:nvGraphicFramePr>
        <p:xfrm>
          <a:off x="5741933" y="2297569"/>
          <a:ext cx="3565632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sp>
        <p:nvSpPr>
          <p:cNvPr id="22" name="文字方塊 21"/>
          <p:cNvSpPr txBox="1"/>
          <p:nvPr/>
        </p:nvSpPr>
        <p:spPr>
          <a:xfrm>
            <a:off x="3396342" y="2292509"/>
            <a:ext cx="17892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solidFill>
                  <a:srgbClr val="C00000"/>
                </a:solidFill>
              </a:rPr>
              <a:t>Unsigned 5</a:t>
            </a:r>
            <a:endParaRPr lang="zh-TW" altLang="en-US" sz="2800" dirty="0">
              <a:solidFill>
                <a:srgbClr val="C00000"/>
              </a:solidFill>
            </a:endParaRPr>
          </a:p>
        </p:txBody>
      </p:sp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4828644"/>
              </p:ext>
            </p:extLst>
          </p:nvPr>
        </p:nvGraphicFramePr>
        <p:xfrm>
          <a:off x="5741933" y="3130326"/>
          <a:ext cx="3565632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sp>
        <p:nvSpPr>
          <p:cNvPr id="24" name="文字方塊 23"/>
          <p:cNvSpPr txBox="1"/>
          <p:nvPr/>
        </p:nvSpPr>
        <p:spPr>
          <a:xfrm>
            <a:off x="2188447" y="3130326"/>
            <a:ext cx="29971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solidFill>
                  <a:srgbClr val="C00000"/>
                </a:solidFill>
              </a:rPr>
              <a:t>2’s complement + 5</a:t>
            </a:r>
            <a:endParaRPr lang="zh-TW" altLang="en-US" sz="2800" dirty="0">
              <a:solidFill>
                <a:srgbClr val="C00000"/>
              </a:solidFill>
            </a:endParaRPr>
          </a:p>
        </p:txBody>
      </p:sp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0644566"/>
              </p:ext>
            </p:extLst>
          </p:nvPr>
        </p:nvGraphicFramePr>
        <p:xfrm>
          <a:off x="5741933" y="3973425"/>
          <a:ext cx="3565632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sp>
        <p:nvSpPr>
          <p:cNvPr id="26" name="文字方塊 25"/>
          <p:cNvSpPr txBox="1"/>
          <p:nvPr/>
        </p:nvSpPr>
        <p:spPr>
          <a:xfrm>
            <a:off x="2191076" y="5743158"/>
            <a:ext cx="29945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2’s complement - 5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0286945"/>
              </p:ext>
            </p:extLst>
          </p:nvPr>
        </p:nvGraphicFramePr>
        <p:xfrm>
          <a:off x="8416157" y="4652964"/>
          <a:ext cx="89140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2058570643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962271"/>
                  </a:ext>
                </a:extLst>
              </a:tr>
            </a:tbl>
          </a:graphicData>
        </a:graphic>
      </p:graphicFrame>
      <p:sp>
        <p:nvSpPr>
          <p:cNvPr id="28" name="矩形 27"/>
          <p:cNvSpPr/>
          <p:nvPr/>
        </p:nvSpPr>
        <p:spPr>
          <a:xfrm>
            <a:off x="5265964" y="5363936"/>
            <a:ext cx="4041601" cy="646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文字方塊 28"/>
          <p:cNvSpPr txBox="1"/>
          <p:nvPr/>
        </p:nvSpPr>
        <p:spPr>
          <a:xfrm>
            <a:off x="5185614" y="4717605"/>
            <a:ext cx="492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/>
              <a:t>+</a:t>
            </a:r>
            <a:endParaRPr lang="zh-TW" altLang="en-US" sz="3600" b="1" dirty="0"/>
          </a:p>
        </p:txBody>
      </p:sp>
      <p:graphicFrame>
        <p:nvGraphicFramePr>
          <p:cNvPr id="30" name="表格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897122"/>
              </p:ext>
            </p:extLst>
          </p:nvPr>
        </p:nvGraphicFramePr>
        <p:xfrm>
          <a:off x="5741933" y="5694862"/>
          <a:ext cx="3565632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sp>
        <p:nvSpPr>
          <p:cNvPr id="14" name="文字方塊 13"/>
          <p:cNvSpPr txBox="1"/>
          <p:nvPr/>
        </p:nvSpPr>
        <p:spPr>
          <a:xfrm>
            <a:off x="9976329" y="1458442"/>
            <a:ext cx="22156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Example 1</a:t>
            </a:r>
            <a:endParaRPr lang="zh-TW" alt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6088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2’s complement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sp>
        <p:nvSpPr>
          <p:cNvPr id="20" name="文字方塊 19"/>
          <p:cNvSpPr txBox="1"/>
          <p:nvPr/>
        </p:nvSpPr>
        <p:spPr>
          <a:xfrm>
            <a:off x="120531" y="1519998"/>
            <a:ext cx="68877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How to express 4-bit 2’s complement -7</a:t>
            </a:r>
            <a:r>
              <a:rPr lang="en-US" altLang="zh-TW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9976329" y="1458442"/>
            <a:ext cx="22156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Example 2</a:t>
            </a:r>
            <a:endParaRPr lang="zh-TW" alt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498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2’s complement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sp>
        <p:nvSpPr>
          <p:cNvPr id="20" name="文字方塊 19"/>
          <p:cNvSpPr txBox="1"/>
          <p:nvPr/>
        </p:nvSpPr>
        <p:spPr>
          <a:xfrm>
            <a:off x="120531" y="1519998"/>
            <a:ext cx="68877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How to express 4-bit 2’s complement -7</a:t>
            </a:r>
            <a:r>
              <a:rPr lang="en-US" altLang="zh-TW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9203614"/>
              </p:ext>
            </p:extLst>
          </p:nvPr>
        </p:nvGraphicFramePr>
        <p:xfrm>
          <a:off x="5741933" y="2297569"/>
          <a:ext cx="3565632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3396342" y="2292509"/>
            <a:ext cx="17892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solidFill>
                  <a:srgbClr val="C00000"/>
                </a:solidFill>
              </a:rPr>
              <a:t>Unsigned 7</a:t>
            </a:r>
            <a:endParaRPr lang="zh-TW" altLang="en-US" sz="2800" dirty="0">
              <a:solidFill>
                <a:srgbClr val="C00000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9976329" y="1458442"/>
            <a:ext cx="22156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Example 2</a:t>
            </a:r>
            <a:endParaRPr lang="zh-TW" alt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7829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2’s complement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sp>
        <p:nvSpPr>
          <p:cNvPr id="20" name="文字方塊 19"/>
          <p:cNvSpPr txBox="1"/>
          <p:nvPr/>
        </p:nvSpPr>
        <p:spPr>
          <a:xfrm>
            <a:off x="120531" y="1519998"/>
            <a:ext cx="68877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How to express 4-bit 2’s complement -7</a:t>
            </a:r>
            <a:r>
              <a:rPr lang="en-US" altLang="zh-TW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1" name="表格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8713173"/>
              </p:ext>
            </p:extLst>
          </p:nvPr>
        </p:nvGraphicFramePr>
        <p:xfrm>
          <a:off x="5741933" y="2297569"/>
          <a:ext cx="3565632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sp>
        <p:nvSpPr>
          <p:cNvPr id="22" name="文字方塊 21"/>
          <p:cNvSpPr txBox="1"/>
          <p:nvPr/>
        </p:nvSpPr>
        <p:spPr>
          <a:xfrm>
            <a:off x="3396342" y="2292509"/>
            <a:ext cx="17892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solidFill>
                  <a:srgbClr val="C00000"/>
                </a:solidFill>
              </a:rPr>
              <a:t>Unsigned 7</a:t>
            </a:r>
            <a:endParaRPr lang="zh-TW" altLang="en-US" sz="2800" dirty="0">
              <a:solidFill>
                <a:srgbClr val="C00000"/>
              </a:solidFill>
            </a:endParaRPr>
          </a:p>
        </p:txBody>
      </p:sp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8758387"/>
              </p:ext>
            </p:extLst>
          </p:nvPr>
        </p:nvGraphicFramePr>
        <p:xfrm>
          <a:off x="5741933" y="3130326"/>
          <a:ext cx="3565632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sp>
        <p:nvSpPr>
          <p:cNvPr id="24" name="文字方塊 23"/>
          <p:cNvSpPr txBox="1"/>
          <p:nvPr/>
        </p:nvSpPr>
        <p:spPr>
          <a:xfrm>
            <a:off x="2188447" y="3130326"/>
            <a:ext cx="29971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solidFill>
                  <a:srgbClr val="C00000"/>
                </a:solidFill>
              </a:rPr>
              <a:t>2’s complement + 7</a:t>
            </a:r>
            <a:endParaRPr lang="zh-TW" altLang="en-US" sz="2800" dirty="0">
              <a:solidFill>
                <a:srgbClr val="C00000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9976329" y="1458442"/>
            <a:ext cx="22156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Example 2</a:t>
            </a:r>
            <a:endParaRPr lang="zh-TW" alt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2256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2’s complement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sp>
        <p:nvSpPr>
          <p:cNvPr id="20" name="文字方塊 19"/>
          <p:cNvSpPr txBox="1"/>
          <p:nvPr/>
        </p:nvSpPr>
        <p:spPr>
          <a:xfrm>
            <a:off x="120531" y="1519998"/>
            <a:ext cx="68877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How to express 4-bit 2’s complement -7</a:t>
            </a:r>
            <a:r>
              <a:rPr lang="en-US" altLang="zh-TW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1" name="表格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583187"/>
              </p:ext>
            </p:extLst>
          </p:nvPr>
        </p:nvGraphicFramePr>
        <p:xfrm>
          <a:off x="5741933" y="2297569"/>
          <a:ext cx="3565632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sp>
        <p:nvSpPr>
          <p:cNvPr id="22" name="文字方塊 21"/>
          <p:cNvSpPr txBox="1"/>
          <p:nvPr/>
        </p:nvSpPr>
        <p:spPr>
          <a:xfrm>
            <a:off x="3396342" y="2292509"/>
            <a:ext cx="17892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solidFill>
                  <a:srgbClr val="C00000"/>
                </a:solidFill>
              </a:rPr>
              <a:t>Unsigned 7</a:t>
            </a:r>
            <a:endParaRPr lang="zh-TW" altLang="en-US" sz="2800" dirty="0">
              <a:solidFill>
                <a:srgbClr val="C00000"/>
              </a:solidFill>
            </a:endParaRPr>
          </a:p>
        </p:txBody>
      </p:sp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5387621"/>
              </p:ext>
            </p:extLst>
          </p:nvPr>
        </p:nvGraphicFramePr>
        <p:xfrm>
          <a:off x="5741933" y="3130326"/>
          <a:ext cx="3565632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sp>
        <p:nvSpPr>
          <p:cNvPr id="24" name="文字方塊 23"/>
          <p:cNvSpPr txBox="1"/>
          <p:nvPr/>
        </p:nvSpPr>
        <p:spPr>
          <a:xfrm>
            <a:off x="2188447" y="3130326"/>
            <a:ext cx="29971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solidFill>
                  <a:srgbClr val="C00000"/>
                </a:solidFill>
              </a:rPr>
              <a:t>2’s complement + 7</a:t>
            </a:r>
            <a:endParaRPr lang="zh-TW" altLang="en-US" sz="2800" dirty="0">
              <a:solidFill>
                <a:srgbClr val="C00000"/>
              </a:solidFill>
            </a:endParaRPr>
          </a:p>
        </p:txBody>
      </p:sp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1645602"/>
              </p:ext>
            </p:extLst>
          </p:nvPr>
        </p:nvGraphicFramePr>
        <p:xfrm>
          <a:off x="5741933" y="3973425"/>
          <a:ext cx="3565632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9976329" y="1458442"/>
            <a:ext cx="22156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Example 2</a:t>
            </a:r>
            <a:endParaRPr lang="zh-TW" alt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5592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2’s complement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sp>
        <p:nvSpPr>
          <p:cNvPr id="20" name="文字方塊 19"/>
          <p:cNvSpPr txBox="1"/>
          <p:nvPr/>
        </p:nvSpPr>
        <p:spPr>
          <a:xfrm>
            <a:off x="120531" y="1519998"/>
            <a:ext cx="68877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How to express 4-bit 2’s complement -7</a:t>
            </a:r>
            <a:r>
              <a:rPr lang="en-US" altLang="zh-TW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1" name="表格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8237761"/>
              </p:ext>
            </p:extLst>
          </p:nvPr>
        </p:nvGraphicFramePr>
        <p:xfrm>
          <a:off x="5741933" y="2297569"/>
          <a:ext cx="3565632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sp>
        <p:nvSpPr>
          <p:cNvPr id="22" name="文字方塊 21"/>
          <p:cNvSpPr txBox="1"/>
          <p:nvPr/>
        </p:nvSpPr>
        <p:spPr>
          <a:xfrm>
            <a:off x="3396342" y="2292509"/>
            <a:ext cx="17892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solidFill>
                  <a:srgbClr val="C00000"/>
                </a:solidFill>
              </a:rPr>
              <a:t>Unsigned 7</a:t>
            </a:r>
            <a:endParaRPr lang="zh-TW" altLang="en-US" sz="2800" dirty="0">
              <a:solidFill>
                <a:srgbClr val="C00000"/>
              </a:solidFill>
            </a:endParaRPr>
          </a:p>
        </p:txBody>
      </p:sp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6204450"/>
              </p:ext>
            </p:extLst>
          </p:nvPr>
        </p:nvGraphicFramePr>
        <p:xfrm>
          <a:off x="5741933" y="3130326"/>
          <a:ext cx="3565632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sp>
        <p:nvSpPr>
          <p:cNvPr id="24" name="文字方塊 23"/>
          <p:cNvSpPr txBox="1"/>
          <p:nvPr/>
        </p:nvSpPr>
        <p:spPr>
          <a:xfrm>
            <a:off x="2188447" y="3130326"/>
            <a:ext cx="29971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solidFill>
                  <a:srgbClr val="C00000"/>
                </a:solidFill>
              </a:rPr>
              <a:t>2’s complement + 7</a:t>
            </a:r>
            <a:endParaRPr lang="zh-TW" altLang="en-US" sz="2800" dirty="0">
              <a:solidFill>
                <a:srgbClr val="C00000"/>
              </a:solidFill>
            </a:endParaRPr>
          </a:p>
        </p:txBody>
      </p:sp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8766766"/>
              </p:ext>
            </p:extLst>
          </p:nvPr>
        </p:nvGraphicFramePr>
        <p:xfrm>
          <a:off x="5741933" y="3973425"/>
          <a:ext cx="3565632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8416157" y="4652964"/>
          <a:ext cx="89140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2058570643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962271"/>
                  </a:ext>
                </a:extLst>
              </a:tr>
            </a:tbl>
          </a:graphicData>
        </a:graphic>
      </p:graphicFrame>
      <p:sp>
        <p:nvSpPr>
          <p:cNvPr id="28" name="矩形 27"/>
          <p:cNvSpPr/>
          <p:nvPr/>
        </p:nvSpPr>
        <p:spPr>
          <a:xfrm>
            <a:off x="5265964" y="5363936"/>
            <a:ext cx="4041601" cy="646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文字方塊 28"/>
          <p:cNvSpPr txBox="1"/>
          <p:nvPr/>
        </p:nvSpPr>
        <p:spPr>
          <a:xfrm>
            <a:off x="5185614" y="4717605"/>
            <a:ext cx="492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/>
              <a:t>+</a:t>
            </a:r>
            <a:endParaRPr lang="zh-TW" altLang="en-US" sz="3600" b="1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9976329" y="1458442"/>
            <a:ext cx="22156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Example 2</a:t>
            </a:r>
            <a:endParaRPr lang="zh-TW" alt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841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2’s complement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sp>
        <p:nvSpPr>
          <p:cNvPr id="20" name="文字方塊 19"/>
          <p:cNvSpPr txBox="1"/>
          <p:nvPr/>
        </p:nvSpPr>
        <p:spPr>
          <a:xfrm>
            <a:off x="120531" y="1519998"/>
            <a:ext cx="68877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How to express 4-bit 2’s complement -7</a:t>
            </a:r>
            <a:r>
              <a:rPr lang="en-US" altLang="zh-TW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1" name="表格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859796"/>
              </p:ext>
            </p:extLst>
          </p:nvPr>
        </p:nvGraphicFramePr>
        <p:xfrm>
          <a:off x="5741933" y="2297569"/>
          <a:ext cx="3565632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sp>
        <p:nvSpPr>
          <p:cNvPr id="22" name="文字方塊 21"/>
          <p:cNvSpPr txBox="1"/>
          <p:nvPr/>
        </p:nvSpPr>
        <p:spPr>
          <a:xfrm>
            <a:off x="3396342" y="2292509"/>
            <a:ext cx="17892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solidFill>
                  <a:srgbClr val="C00000"/>
                </a:solidFill>
              </a:rPr>
              <a:t>Unsigned 7</a:t>
            </a:r>
            <a:endParaRPr lang="zh-TW" altLang="en-US" sz="2800" dirty="0">
              <a:solidFill>
                <a:srgbClr val="C00000"/>
              </a:solidFill>
            </a:endParaRPr>
          </a:p>
        </p:txBody>
      </p:sp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403637"/>
              </p:ext>
            </p:extLst>
          </p:nvPr>
        </p:nvGraphicFramePr>
        <p:xfrm>
          <a:off x="5741933" y="3130326"/>
          <a:ext cx="3565632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sp>
        <p:nvSpPr>
          <p:cNvPr id="24" name="文字方塊 23"/>
          <p:cNvSpPr txBox="1"/>
          <p:nvPr/>
        </p:nvSpPr>
        <p:spPr>
          <a:xfrm>
            <a:off x="2188447" y="3130326"/>
            <a:ext cx="29971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solidFill>
                  <a:srgbClr val="C00000"/>
                </a:solidFill>
              </a:rPr>
              <a:t>2’s complement + 7</a:t>
            </a:r>
            <a:endParaRPr lang="zh-TW" altLang="en-US" sz="2800" dirty="0">
              <a:solidFill>
                <a:srgbClr val="C00000"/>
              </a:solidFill>
            </a:endParaRPr>
          </a:p>
        </p:txBody>
      </p:sp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1613495"/>
              </p:ext>
            </p:extLst>
          </p:nvPr>
        </p:nvGraphicFramePr>
        <p:xfrm>
          <a:off x="5741933" y="3973425"/>
          <a:ext cx="3565632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8416157" y="4652964"/>
          <a:ext cx="89140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2058570643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962271"/>
                  </a:ext>
                </a:extLst>
              </a:tr>
            </a:tbl>
          </a:graphicData>
        </a:graphic>
      </p:graphicFrame>
      <p:sp>
        <p:nvSpPr>
          <p:cNvPr id="28" name="矩形 27"/>
          <p:cNvSpPr/>
          <p:nvPr/>
        </p:nvSpPr>
        <p:spPr>
          <a:xfrm>
            <a:off x="5265964" y="5363936"/>
            <a:ext cx="4041601" cy="646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文字方塊 28"/>
          <p:cNvSpPr txBox="1"/>
          <p:nvPr/>
        </p:nvSpPr>
        <p:spPr>
          <a:xfrm>
            <a:off x="5185614" y="4717605"/>
            <a:ext cx="492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/>
              <a:t>+</a:t>
            </a:r>
            <a:endParaRPr lang="zh-TW" altLang="en-US" sz="3600" b="1" dirty="0"/>
          </a:p>
        </p:txBody>
      </p:sp>
      <p:graphicFrame>
        <p:nvGraphicFramePr>
          <p:cNvPr id="30" name="表格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1855705"/>
              </p:ext>
            </p:extLst>
          </p:nvPr>
        </p:nvGraphicFramePr>
        <p:xfrm>
          <a:off x="5741933" y="5694862"/>
          <a:ext cx="3565632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sp>
        <p:nvSpPr>
          <p:cNvPr id="14" name="文字方塊 13"/>
          <p:cNvSpPr txBox="1"/>
          <p:nvPr/>
        </p:nvSpPr>
        <p:spPr>
          <a:xfrm>
            <a:off x="9976329" y="1458442"/>
            <a:ext cx="22156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Example 2</a:t>
            </a:r>
            <a:endParaRPr lang="zh-TW" alt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6513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2’s complement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sp>
        <p:nvSpPr>
          <p:cNvPr id="20" name="文字方塊 19"/>
          <p:cNvSpPr txBox="1"/>
          <p:nvPr/>
        </p:nvSpPr>
        <p:spPr>
          <a:xfrm>
            <a:off x="120531" y="1519998"/>
            <a:ext cx="68877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How to express 4-bit 2’s complement -7</a:t>
            </a:r>
            <a:r>
              <a:rPr lang="en-US" altLang="zh-TW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1" name="表格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5643019"/>
              </p:ext>
            </p:extLst>
          </p:nvPr>
        </p:nvGraphicFramePr>
        <p:xfrm>
          <a:off x="5741933" y="2297569"/>
          <a:ext cx="3565632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sp>
        <p:nvSpPr>
          <p:cNvPr id="22" name="文字方塊 21"/>
          <p:cNvSpPr txBox="1"/>
          <p:nvPr/>
        </p:nvSpPr>
        <p:spPr>
          <a:xfrm>
            <a:off x="3396342" y="2292509"/>
            <a:ext cx="17892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solidFill>
                  <a:srgbClr val="C00000"/>
                </a:solidFill>
              </a:rPr>
              <a:t>Unsigned 7</a:t>
            </a:r>
            <a:endParaRPr lang="zh-TW" altLang="en-US" sz="2800" dirty="0">
              <a:solidFill>
                <a:srgbClr val="C00000"/>
              </a:solidFill>
            </a:endParaRPr>
          </a:p>
        </p:txBody>
      </p:sp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6121384"/>
              </p:ext>
            </p:extLst>
          </p:nvPr>
        </p:nvGraphicFramePr>
        <p:xfrm>
          <a:off x="5741933" y="3130326"/>
          <a:ext cx="3565632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sp>
        <p:nvSpPr>
          <p:cNvPr id="24" name="文字方塊 23"/>
          <p:cNvSpPr txBox="1"/>
          <p:nvPr/>
        </p:nvSpPr>
        <p:spPr>
          <a:xfrm>
            <a:off x="2188447" y="3130326"/>
            <a:ext cx="29971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solidFill>
                  <a:srgbClr val="C00000"/>
                </a:solidFill>
              </a:rPr>
              <a:t>2’s complement + 7</a:t>
            </a:r>
            <a:endParaRPr lang="zh-TW" altLang="en-US" sz="2800" dirty="0">
              <a:solidFill>
                <a:srgbClr val="C00000"/>
              </a:solidFill>
            </a:endParaRPr>
          </a:p>
        </p:txBody>
      </p:sp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169366"/>
              </p:ext>
            </p:extLst>
          </p:nvPr>
        </p:nvGraphicFramePr>
        <p:xfrm>
          <a:off x="5741933" y="3973425"/>
          <a:ext cx="3565632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sp>
        <p:nvSpPr>
          <p:cNvPr id="26" name="文字方塊 25"/>
          <p:cNvSpPr txBox="1"/>
          <p:nvPr/>
        </p:nvSpPr>
        <p:spPr>
          <a:xfrm>
            <a:off x="2191076" y="5743158"/>
            <a:ext cx="29945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2’s complement - 7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8416157" y="4652964"/>
          <a:ext cx="89140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2058570643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962271"/>
                  </a:ext>
                </a:extLst>
              </a:tr>
            </a:tbl>
          </a:graphicData>
        </a:graphic>
      </p:graphicFrame>
      <p:sp>
        <p:nvSpPr>
          <p:cNvPr id="28" name="矩形 27"/>
          <p:cNvSpPr/>
          <p:nvPr/>
        </p:nvSpPr>
        <p:spPr>
          <a:xfrm>
            <a:off x="5265964" y="5363936"/>
            <a:ext cx="4041601" cy="646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文字方塊 28"/>
          <p:cNvSpPr txBox="1"/>
          <p:nvPr/>
        </p:nvSpPr>
        <p:spPr>
          <a:xfrm>
            <a:off x="5185614" y="4717605"/>
            <a:ext cx="492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/>
              <a:t>+</a:t>
            </a:r>
            <a:endParaRPr lang="zh-TW" altLang="en-US" sz="3600" b="1" dirty="0"/>
          </a:p>
        </p:txBody>
      </p:sp>
      <p:graphicFrame>
        <p:nvGraphicFramePr>
          <p:cNvPr id="30" name="表格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027638"/>
              </p:ext>
            </p:extLst>
          </p:nvPr>
        </p:nvGraphicFramePr>
        <p:xfrm>
          <a:off x="5741933" y="5694862"/>
          <a:ext cx="3565632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sp>
        <p:nvSpPr>
          <p:cNvPr id="14" name="文字方塊 13"/>
          <p:cNvSpPr txBox="1"/>
          <p:nvPr/>
        </p:nvSpPr>
        <p:spPr>
          <a:xfrm>
            <a:off x="9976329" y="1458442"/>
            <a:ext cx="22156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Example 2</a:t>
            </a:r>
            <a:endParaRPr lang="zh-TW" alt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6527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2’s complement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sp>
        <p:nvSpPr>
          <p:cNvPr id="20" name="文字方塊 19"/>
          <p:cNvSpPr txBox="1"/>
          <p:nvPr/>
        </p:nvSpPr>
        <p:spPr>
          <a:xfrm>
            <a:off x="120531" y="1519998"/>
            <a:ext cx="61043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Shortcut for taking 2’s complement. 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0820286"/>
              </p:ext>
            </p:extLst>
          </p:nvPr>
        </p:nvGraphicFramePr>
        <p:xfrm>
          <a:off x="5415362" y="2778288"/>
          <a:ext cx="3565632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sp>
        <p:nvSpPr>
          <p:cNvPr id="24" name="文字方塊 23"/>
          <p:cNvSpPr txBox="1"/>
          <p:nvPr/>
        </p:nvSpPr>
        <p:spPr>
          <a:xfrm>
            <a:off x="2114968" y="2778288"/>
            <a:ext cx="3121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chemeClr val="accent6">
                    <a:lumMod val="50000"/>
                  </a:schemeClr>
                </a:solidFill>
              </a:rPr>
              <a:t>2’s complement + 6</a:t>
            </a:r>
            <a:endParaRPr lang="zh-TW" altLang="en-US" sz="28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9976329" y="1458442"/>
            <a:ext cx="22156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Example 1</a:t>
            </a:r>
            <a:endParaRPr lang="zh-TW" alt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8324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2’s complement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sp>
        <p:nvSpPr>
          <p:cNvPr id="20" name="文字方塊 19"/>
          <p:cNvSpPr txBox="1"/>
          <p:nvPr/>
        </p:nvSpPr>
        <p:spPr>
          <a:xfrm>
            <a:off x="120531" y="1519998"/>
            <a:ext cx="61043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Shortcut for taking 2’s complement. 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0820286"/>
              </p:ext>
            </p:extLst>
          </p:nvPr>
        </p:nvGraphicFramePr>
        <p:xfrm>
          <a:off x="5415362" y="2778288"/>
          <a:ext cx="3565632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cxnSp>
        <p:nvCxnSpPr>
          <p:cNvPr id="3" name="直線單箭頭接點 2"/>
          <p:cNvCxnSpPr/>
          <p:nvPr/>
        </p:nvCxnSpPr>
        <p:spPr>
          <a:xfrm flipH="1" flipV="1">
            <a:off x="8596992" y="2484376"/>
            <a:ext cx="384002" cy="816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/>
          <p:cNvSpPr txBox="1"/>
          <p:nvPr/>
        </p:nvSpPr>
        <p:spPr>
          <a:xfrm>
            <a:off x="9976329" y="1458442"/>
            <a:ext cx="22156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Example 1</a:t>
            </a:r>
            <a:endParaRPr lang="zh-TW" alt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1768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2’s complement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sp>
        <p:nvSpPr>
          <p:cNvPr id="20" name="文字方塊 19"/>
          <p:cNvSpPr txBox="1"/>
          <p:nvPr/>
        </p:nvSpPr>
        <p:spPr>
          <a:xfrm>
            <a:off x="120531" y="1519998"/>
            <a:ext cx="61043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Shortcut for taking 2’s complement. 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0820286"/>
              </p:ext>
            </p:extLst>
          </p:nvPr>
        </p:nvGraphicFramePr>
        <p:xfrm>
          <a:off x="5415362" y="2778288"/>
          <a:ext cx="3565632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cxnSp>
        <p:nvCxnSpPr>
          <p:cNvPr id="3" name="直線單箭頭接點 2"/>
          <p:cNvCxnSpPr/>
          <p:nvPr/>
        </p:nvCxnSpPr>
        <p:spPr>
          <a:xfrm flipH="1" flipV="1">
            <a:off x="7198178" y="2482450"/>
            <a:ext cx="384002" cy="816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線接點 3"/>
          <p:cNvCxnSpPr/>
          <p:nvPr/>
        </p:nvCxnSpPr>
        <p:spPr>
          <a:xfrm>
            <a:off x="7198178" y="2465868"/>
            <a:ext cx="0" cy="113458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/>
          <p:cNvSpPr txBox="1"/>
          <p:nvPr/>
        </p:nvSpPr>
        <p:spPr>
          <a:xfrm>
            <a:off x="9976329" y="1458442"/>
            <a:ext cx="22156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Example 1</a:t>
            </a:r>
            <a:endParaRPr lang="zh-TW" alt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0818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2’s complement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sp>
        <p:nvSpPr>
          <p:cNvPr id="20" name="文字方塊 19"/>
          <p:cNvSpPr txBox="1"/>
          <p:nvPr/>
        </p:nvSpPr>
        <p:spPr>
          <a:xfrm>
            <a:off x="120531" y="1519998"/>
            <a:ext cx="61043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Shortcut for taking 2’s complement. 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0820286"/>
              </p:ext>
            </p:extLst>
          </p:nvPr>
        </p:nvGraphicFramePr>
        <p:xfrm>
          <a:off x="5415362" y="2778288"/>
          <a:ext cx="3565632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cxnSp>
        <p:nvCxnSpPr>
          <p:cNvPr id="4" name="直線接點 3"/>
          <p:cNvCxnSpPr/>
          <p:nvPr/>
        </p:nvCxnSpPr>
        <p:spPr>
          <a:xfrm>
            <a:off x="7198178" y="2465868"/>
            <a:ext cx="0" cy="113458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單箭頭接點 7"/>
          <p:cNvCxnSpPr/>
          <p:nvPr/>
        </p:nvCxnSpPr>
        <p:spPr>
          <a:xfrm flipH="1" flipV="1">
            <a:off x="6814176" y="2493047"/>
            <a:ext cx="384002" cy="816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/>
          <p:cNvSpPr txBox="1"/>
          <p:nvPr/>
        </p:nvSpPr>
        <p:spPr>
          <a:xfrm>
            <a:off x="9976329" y="1458442"/>
            <a:ext cx="22156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Example 1</a:t>
            </a:r>
            <a:endParaRPr lang="zh-TW" alt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5420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2’s complement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sp>
        <p:nvSpPr>
          <p:cNvPr id="20" name="文字方塊 19"/>
          <p:cNvSpPr txBox="1"/>
          <p:nvPr/>
        </p:nvSpPr>
        <p:spPr>
          <a:xfrm>
            <a:off x="120531" y="1519998"/>
            <a:ext cx="61043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Shortcut for taking 2’s complement. 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0520744"/>
              </p:ext>
            </p:extLst>
          </p:nvPr>
        </p:nvGraphicFramePr>
        <p:xfrm>
          <a:off x="5415362" y="2778288"/>
          <a:ext cx="3565632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cxnSp>
        <p:nvCxnSpPr>
          <p:cNvPr id="4" name="直線接點 3"/>
          <p:cNvCxnSpPr/>
          <p:nvPr/>
        </p:nvCxnSpPr>
        <p:spPr>
          <a:xfrm>
            <a:off x="7198178" y="2465868"/>
            <a:ext cx="0" cy="113458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單箭頭接點 7"/>
          <p:cNvCxnSpPr/>
          <p:nvPr/>
        </p:nvCxnSpPr>
        <p:spPr>
          <a:xfrm flipH="1" flipV="1">
            <a:off x="5415362" y="2474286"/>
            <a:ext cx="384002" cy="816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/>
          <p:cNvSpPr txBox="1"/>
          <p:nvPr/>
        </p:nvSpPr>
        <p:spPr>
          <a:xfrm>
            <a:off x="9976329" y="1458442"/>
            <a:ext cx="22156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Example 1</a:t>
            </a:r>
            <a:endParaRPr lang="zh-TW" alt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6101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2’s complement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sp>
        <p:nvSpPr>
          <p:cNvPr id="20" name="文字方塊 19"/>
          <p:cNvSpPr txBox="1"/>
          <p:nvPr/>
        </p:nvSpPr>
        <p:spPr>
          <a:xfrm>
            <a:off x="120531" y="1519998"/>
            <a:ext cx="61043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Shortcut for taking 2’s complement. 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0520744"/>
              </p:ext>
            </p:extLst>
          </p:nvPr>
        </p:nvGraphicFramePr>
        <p:xfrm>
          <a:off x="5415362" y="2778288"/>
          <a:ext cx="3565632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9976329" y="1458442"/>
            <a:ext cx="22156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Example 1</a:t>
            </a:r>
            <a:endParaRPr lang="zh-TW" alt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0028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2’s complement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sp>
        <p:nvSpPr>
          <p:cNvPr id="20" name="文字方塊 19"/>
          <p:cNvSpPr txBox="1"/>
          <p:nvPr/>
        </p:nvSpPr>
        <p:spPr>
          <a:xfrm>
            <a:off x="120531" y="1519998"/>
            <a:ext cx="61043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Shortcut for taking 2’s complement. 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0520744"/>
              </p:ext>
            </p:extLst>
          </p:nvPr>
        </p:nvGraphicFramePr>
        <p:xfrm>
          <a:off x="5415362" y="2778288"/>
          <a:ext cx="3565632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408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891408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sp>
        <p:nvSpPr>
          <p:cNvPr id="24" name="文字方塊 23"/>
          <p:cNvSpPr txBox="1"/>
          <p:nvPr/>
        </p:nvSpPr>
        <p:spPr>
          <a:xfrm>
            <a:off x="2114968" y="2778288"/>
            <a:ext cx="29945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2’s complement - 6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9976329" y="1458442"/>
            <a:ext cx="22156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Example 1</a:t>
            </a:r>
            <a:endParaRPr lang="zh-TW" alt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3813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2’s complement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sp>
        <p:nvSpPr>
          <p:cNvPr id="20" name="文字方塊 19"/>
          <p:cNvSpPr txBox="1"/>
          <p:nvPr/>
        </p:nvSpPr>
        <p:spPr>
          <a:xfrm>
            <a:off x="120531" y="1519998"/>
            <a:ext cx="61043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Shortcut for taking 2’s complement. 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0083965"/>
              </p:ext>
            </p:extLst>
          </p:nvPr>
        </p:nvGraphicFramePr>
        <p:xfrm>
          <a:off x="3910693" y="3094770"/>
          <a:ext cx="626200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2751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1379109768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2690876130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1425584437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2411480656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sp>
        <p:nvSpPr>
          <p:cNvPr id="24" name="文字方塊 23"/>
          <p:cNvSpPr txBox="1"/>
          <p:nvPr/>
        </p:nvSpPr>
        <p:spPr>
          <a:xfrm>
            <a:off x="275374" y="3107963"/>
            <a:ext cx="32760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2’s complement -100</a:t>
            </a:r>
            <a:endParaRPr lang="zh-TW" altLang="en-US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9976329" y="1458442"/>
            <a:ext cx="22156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Example 2</a:t>
            </a:r>
            <a:endParaRPr lang="zh-TW" alt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6225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2’s complement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sp>
        <p:nvSpPr>
          <p:cNvPr id="20" name="文字方塊 19"/>
          <p:cNvSpPr txBox="1"/>
          <p:nvPr/>
        </p:nvSpPr>
        <p:spPr>
          <a:xfrm>
            <a:off x="120531" y="1519998"/>
            <a:ext cx="61043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Shortcut for taking 2’s complement. 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0083965"/>
              </p:ext>
            </p:extLst>
          </p:nvPr>
        </p:nvGraphicFramePr>
        <p:xfrm>
          <a:off x="3910693" y="3094770"/>
          <a:ext cx="626200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2751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1379109768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2690876130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1425584437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2411480656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cxnSp>
        <p:nvCxnSpPr>
          <p:cNvPr id="8" name="直線單箭頭接點 7"/>
          <p:cNvCxnSpPr/>
          <p:nvPr/>
        </p:nvCxnSpPr>
        <p:spPr>
          <a:xfrm flipH="1" flipV="1">
            <a:off x="9784328" y="2809276"/>
            <a:ext cx="384002" cy="816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/>
          <p:cNvSpPr txBox="1"/>
          <p:nvPr/>
        </p:nvSpPr>
        <p:spPr>
          <a:xfrm>
            <a:off x="9976329" y="1458442"/>
            <a:ext cx="22156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Example 2</a:t>
            </a:r>
            <a:endParaRPr lang="zh-TW" alt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5109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2’s complement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sp>
        <p:nvSpPr>
          <p:cNvPr id="20" name="文字方塊 19"/>
          <p:cNvSpPr txBox="1"/>
          <p:nvPr/>
        </p:nvSpPr>
        <p:spPr>
          <a:xfrm>
            <a:off x="120531" y="1519998"/>
            <a:ext cx="61043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Shortcut for taking 2’s complement. 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0083965"/>
              </p:ext>
            </p:extLst>
          </p:nvPr>
        </p:nvGraphicFramePr>
        <p:xfrm>
          <a:off x="3910693" y="3094770"/>
          <a:ext cx="626200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2751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1379109768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2690876130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1425584437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2411480656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cxnSp>
        <p:nvCxnSpPr>
          <p:cNvPr id="4" name="直線接點 3"/>
          <p:cNvCxnSpPr/>
          <p:nvPr/>
        </p:nvCxnSpPr>
        <p:spPr>
          <a:xfrm>
            <a:off x="7818450" y="2784029"/>
            <a:ext cx="0" cy="113458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單箭頭接點 7"/>
          <p:cNvCxnSpPr/>
          <p:nvPr/>
        </p:nvCxnSpPr>
        <p:spPr>
          <a:xfrm flipH="1" flipV="1">
            <a:off x="7818450" y="2784034"/>
            <a:ext cx="384002" cy="816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/>
          <p:cNvSpPr txBox="1"/>
          <p:nvPr/>
        </p:nvSpPr>
        <p:spPr>
          <a:xfrm>
            <a:off x="9976329" y="1458442"/>
            <a:ext cx="22156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Example 2</a:t>
            </a:r>
            <a:endParaRPr lang="zh-TW" alt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7599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2’s complement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sp>
        <p:nvSpPr>
          <p:cNvPr id="20" name="文字方塊 19"/>
          <p:cNvSpPr txBox="1"/>
          <p:nvPr/>
        </p:nvSpPr>
        <p:spPr>
          <a:xfrm>
            <a:off x="120531" y="1519998"/>
            <a:ext cx="61700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Shortcut for taking 2’s complement. 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0083965"/>
              </p:ext>
            </p:extLst>
          </p:nvPr>
        </p:nvGraphicFramePr>
        <p:xfrm>
          <a:off x="3910693" y="3094770"/>
          <a:ext cx="626200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2751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1379109768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2690876130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1425584437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2411480656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cxnSp>
        <p:nvCxnSpPr>
          <p:cNvPr id="4" name="直線接點 3"/>
          <p:cNvCxnSpPr/>
          <p:nvPr/>
        </p:nvCxnSpPr>
        <p:spPr>
          <a:xfrm>
            <a:off x="7818450" y="2784029"/>
            <a:ext cx="0" cy="113458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單箭頭接點 7"/>
          <p:cNvCxnSpPr/>
          <p:nvPr/>
        </p:nvCxnSpPr>
        <p:spPr>
          <a:xfrm flipH="1" flipV="1">
            <a:off x="7434448" y="2784790"/>
            <a:ext cx="384002" cy="816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/>
          <p:cNvSpPr txBox="1"/>
          <p:nvPr/>
        </p:nvSpPr>
        <p:spPr>
          <a:xfrm>
            <a:off x="9976329" y="1458442"/>
            <a:ext cx="22156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Example 2</a:t>
            </a:r>
            <a:endParaRPr lang="zh-TW" alt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2010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2’s complement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sp>
        <p:nvSpPr>
          <p:cNvPr id="20" name="文字方塊 19"/>
          <p:cNvSpPr txBox="1"/>
          <p:nvPr/>
        </p:nvSpPr>
        <p:spPr>
          <a:xfrm>
            <a:off x="120531" y="1519998"/>
            <a:ext cx="61043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Shortcut for taking 2’s complement. 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6662910"/>
              </p:ext>
            </p:extLst>
          </p:nvPr>
        </p:nvGraphicFramePr>
        <p:xfrm>
          <a:off x="3910693" y="3094770"/>
          <a:ext cx="626200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2751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1379109768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2690876130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1425584437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2411480656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cxnSp>
        <p:nvCxnSpPr>
          <p:cNvPr id="4" name="直線接點 3"/>
          <p:cNvCxnSpPr/>
          <p:nvPr/>
        </p:nvCxnSpPr>
        <p:spPr>
          <a:xfrm>
            <a:off x="7818450" y="2784029"/>
            <a:ext cx="0" cy="113458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單箭頭接點 7"/>
          <p:cNvCxnSpPr/>
          <p:nvPr/>
        </p:nvCxnSpPr>
        <p:spPr>
          <a:xfrm flipH="1" flipV="1">
            <a:off x="3910693" y="2784029"/>
            <a:ext cx="384002" cy="816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/>
          <p:cNvSpPr txBox="1"/>
          <p:nvPr/>
        </p:nvSpPr>
        <p:spPr>
          <a:xfrm>
            <a:off x="9976329" y="1458442"/>
            <a:ext cx="22156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Example 2</a:t>
            </a:r>
            <a:endParaRPr lang="zh-TW" alt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3266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2’s complement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sp>
        <p:nvSpPr>
          <p:cNvPr id="20" name="文字方塊 19"/>
          <p:cNvSpPr txBox="1"/>
          <p:nvPr/>
        </p:nvSpPr>
        <p:spPr>
          <a:xfrm>
            <a:off x="120531" y="1519998"/>
            <a:ext cx="59905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Shortcut for taking 2’s complement. 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6662910"/>
              </p:ext>
            </p:extLst>
          </p:nvPr>
        </p:nvGraphicFramePr>
        <p:xfrm>
          <a:off x="3910693" y="3094770"/>
          <a:ext cx="626200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2751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1379109768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2690876130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1425584437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2411480656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9976329" y="1458442"/>
            <a:ext cx="22156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Example 2</a:t>
            </a:r>
            <a:endParaRPr lang="zh-TW" alt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1799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2’s complement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sp>
        <p:nvSpPr>
          <p:cNvPr id="20" name="文字方塊 19"/>
          <p:cNvSpPr txBox="1"/>
          <p:nvPr/>
        </p:nvSpPr>
        <p:spPr>
          <a:xfrm>
            <a:off x="120531" y="1519998"/>
            <a:ext cx="59905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Shortcut for taking 2’s complement. 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6662910"/>
              </p:ext>
            </p:extLst>
          </p:nvPr>
        </p:nvGraphicFramePr>
        <p:xfrm>
          <a:off x="3910693" y="3094770"/>
          <a:ext cx="626200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2751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1379109768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2690876130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1425584437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2411480656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sp>
        <p:nvSpPr>
          <p:cNvPr id="24" name="文字方塊 23"/>
          <p:cNvSpPr txBox="1"/>
          <p:nvPr/>
        </p:nvSpPr>
        <p:spPr>
          <a:xfrm>
            <a:off x="275374" y="3107963"/>
            <a:ext cx="34065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2’s complement +100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9976329" y="1458442"/>
            <a:ext cx="22156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Example 2</a:t>
            </a:r>
            <a:endParaRPr lang="zh-TW" alt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8149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2’s complement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sp>
        <p:nvSpPr>
          <p:cNvPr id="20" name="文字方塊 19"/>
          <p:cNvSpPr txBox="1"/>
          <p:nvPr/>
        </p:nvSpPr>
        <p:spPr>
          <a:xfrm>
            <a:off x="120531" y="1519998"/>
            <a:ext cx="59905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Shortcut for taking 2’s complement. 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6662910"/>
              </p:ext>
            </p:extLst>
          </p:nvPr>
        </p:nvGraphicFramePr>
        <p:xfrm>
          <a:off x="3910693" y="3094770"/>
          <a:ext cx="626200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2751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1379109768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2690876130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1425584437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2411480656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sp>
        <p:nvSpPr>
          <p:cNvPr id="24" name="文字方塊 23"/>
          <p:cNvSpPr txBox="1"/>
          <p:nvPr/>
        </p:nvSpPr>
        <p:spPr>
          <a:xfrm>
            <a:off x="275374" y="3107963"/>
            <a:ext cx="34065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TW" sz="2800" b="1" dirty="0" smtClean="0">
                <a:solidFill>
                  <a:srgbClr val="C00000"/>
                </a:solidFill>
              </a:rPr>
              <a:t>2’s complement +100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9976329" y="1458442"/>
            <a:ext cx="22156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Example 2</a:t>
            </a:r>
            <a:endParaRPr lang="zh-TW" altLang="en-US" sz="3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5035340"/>
              </p:ext>
            </p:extLst>
          </p:nvPr>
        </p:nvGraphicFramePr>
        <p:xfrm>
          <a:off x="3910693" y="3965627"/>
          <a:ext cx="626200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2751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1379109768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2690876130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1425584437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2411480656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sp>
        <p:nvSpPr>
          <p:cNvPr id="10" name="文字方塊 9"/>
          <p:cNvSpPr txBox="1"/>
          <p:nvPr/>
        </p:nvSpPr>
        <p:spPr>
          <a:xfrm>
            <a:off x="275374" y="3965627"/>
            <a:ext cx="34065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TW" sz="2800" b="1" dirty="0" smtClean="0">
                <a:solidFill>
                  <a:srgbClr val="C00000"/>
                </a:solidFill>
              </a:rPr>
              <a:t>2’s complement -100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8126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2’s complement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579538"/>
              </p:ext>
            </p:extLst>
          </p:nvPr>
        </p:nvGraphicFramePr>
        <p:xfrm>
          <a:off x="3918857" y="3447467"/>
          <a:ext cx="6262008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2751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1379109768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2690876130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1425584437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2411480656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3479240"/>
                  </a:ext>
                </a:extLst>
              </a:tr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sp>
        <p:nvSpPr>
          <p:cNvPr id="10" name="文字方塊 9"/>
          <p:cNvSpPr txBox="1"/>
          <p:nvPr/>
        </p:nvSpPr>
        <p:spPr>
          <a:xfrm>
            <a:off x="505182" y="3965627"/>
            <a:ext cx="31767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TW" sz="2800" dirty="0" smtClean="0"/>
              <a:t>2’s complement -100</a:t>
            </a:r>
            <a:endParaRPr lang="zh-TW" altLang="en-US" sz="2800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120531" y="1519998"/>
            <a:ext cx="68062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chemeClr val="bg2">
                    <a:lumMod val="50000"/>
                  </a:schemeClr>
                </a:solidFill>
              </a:rPr>
              <a:t>Weights for a 2’s complement number. </a:t>
            </a:r>
            <a:endParaRPr lang="zh-TW" altLang="en-US" sz="3200" b="1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2649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2’s complement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81229"/>
              </p:ext>
            </p:extLst>
          </p:nvPr>
        </p:nvGraphicFramePr>
        <p:xfrm>
          <a:off x="3918857" y="3447467"/>
          <a:ext cx="6262008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2751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1379109768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2690876130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1425584437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2411480656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-2</a:t>
                      </a:r>
                      <a:r>
                        <a:rPr kumimoji="0" lang="en-US" altLang="zh-TW" sz="28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7</a:t>
                      </a:r>
                      <a:endParaRPr kumimoji="0" lang="zh-TW" altLang="en-US" sz="28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8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6</a:t>
                      </a:r>
                      <a:endParaRPr kumimoji="0" lang="zh-TW" altLang="en-US" sz="28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8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5</a:t>
                      </a:r>
                      <a:endParaRPr kumimoji="0" lang="zh-TW" altLang="en-US" sz="28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8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4</a:t>
                      </a:r>
                      <a:endParaRPr kumimoji="0" lang="zh-TW" altLang="en-US" sz="28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8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3</a:t>
                      </a:r>
                      <a:endParaRPr kumimoji="0" lang="zh-TW" altLang="en-US" sz="28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8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endParaRPr kumimoji="0" lang="zh-TW" altLang="en-US" sz="28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8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28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en-US" altLang="zh-TW" sz="2800" b="1" baseline="300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2800" b="1" baseline="30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3479240"/>
                  </a:ext>
                </a:extLst>
              </a:tr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sp>
        <p:nvSpPr>
          <p:cNvPr id="10" name="文字方塊 9"/>
          <p:cNvSpPr txBox="1"/>
          <p:nvPr/>
        </p:nvSpPr>
        <p:spPr>
          <a:xfrm>
            <a:off x="505182" y="3965627"/>
            <a:ext cx="31767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TW" sz="2800" dirty="0" smtClean="0"/>
              <a:t>2’s complement -100</a:t>
            </a:r>
            <a:endParaRPr lang="zh-TW" altLang="en-US" sz="2800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120531" y="1519998"/>
            <a:ext cx="68062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chemeClr val="bg2">
                    <a:lumMod val="50000"/>
                  </a:schemeClr>
                </a:solidFill>
              </a:rPr>
              <a:t>Weights for a 2’s complement number. </a:t>
            </a:r>
            <a:endParaRPr lang="zh-TW" altLang="en-US" sz="3200" b="1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10180865" y="3373989"/>
            <a:ext cx="12057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weight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cxnSp>
        <p:nvCxnSpPr>
          <p:cNvPr id="11" name="直線單箭頭接點 10"/>
          <p:cNvCxnSpPr/>
          <p:nvPr/>
        </p:nvCxnSpPr>
        <p:spPr>
          <a:xfrm>
            <a:off x="4261757" y="3094264"/>
            <a:ext cx="0" cy="21227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/>
          <p:cNvSpPr txBox="1"/>
          <p:nvPr/>
        </p:nvSpPr>
        <p:spPr>
          <a:xfrm>
            <a:off x="3586893" y="2573534"/>
            <a:ext cx="13497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Negative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230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2’s complement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81229"/>
              </p:ext>
            </p:extLst>
          </p:nvPr>
        </p:nvGraphicFramePr>
        <p:xfrm>
          <a:off x="3918857" y="3447467"/>
          <a:ext cx="6262008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2751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1379109768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2690876130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1425584437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2411480656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-2</a:t>
                      </a:r>
                      <a:r>
                        <a:rPr kumimoji="0" lang="en-US" altLang="zh-TW" sz="28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7</a:t>
                      </a:r>
                      <a:endParaRPr kumimoji="0" lang="zh-TW" altLang="en-US" sz="28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8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6</a:t>
                      </a:r>
                      <a:endParaRPr kumimoji="0" lang="zh-TW" altLang="en-US" sz="28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8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5</a:t>
                      </a:r>
                      <a:endParaRPr kumimoji="0" lang="zh-TW" altLang="en-US" sz="28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8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4</a:t>
                      </a:r>
                      <a:endParaRPr kumimoji="0" lang="zh-TW" altLang="en-US" sz="28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8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3</a:t>
                      </a:r>
                      <a:endParaRPr kumimoji="0" lang="zh-TW" altLang="en-US" sz="28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8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endParaRPr kumimoji="0" lang="zh-TW" altLang="en-US" sz="28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8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28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en-US" altLang="zh-TW" sz="2800" b="1" baseline="300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2800" b="1" baseline="30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3479240"/>
                  </a:ext>
                </a:extLst>
              </a:tr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sp>
        <p:nvSpPr>
          <p:cNvPr id="10" name="文字方塊 9"/>
          <p:cNvSpPr txBox="1"/>
          <p:nvPr/>
        </p:nvSpPr>
        <p:spPr>
          <a:xfrm>
            <a:off x="505182" y="3965627"/>
            <a:ext cx="31767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TW" sz="2800" dirty="0" smtClean="0"/>
              <a:t>2’s complement -100</a:t>
            </a:r>
            <a:endParaRPr lang="zh-TW" altLang="en-US" sz="2800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120531" y="1519998"/>
            <a:ext cx="68062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chemeClr val="bg2">
                    <a:lumMod val="50000"/>
                  </a:schemeClr>
                </a:solidFill>
              </a:rPr>
              <a:t>Weights for a 2’s complement number. </a:t>
            </a:r>
            <a:endParaRPr lang="zh-TW" altLang="en-US" sz="3200" b="1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10180865" y="3373989"/>
            <a:ext cx="12057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weight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3918857" y="4557265"/>
            <a:ext cx="458832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TW" sz="2800" dirty="0" smtClean="0"/>
              <a:t>= -2</a:t>
            </a:r>
            <a:r>
              <a:rPr lang="en-US" altLang="zh-TW" sz="2800" baseline="30000" dirty="0" smtClean="0"/>
              <a:t>7</a:t>
            </a:r>
            <a:r>
              <a:rPr lang="en-US" altLang="zh-TW" sz="2800" dirty="0" smtClean="0"/>
              <a:t> + 2</a:t>
            </a:r>
            <a:r>
              <a:rPr lang="en-US" altLang="zh-TW" sz="2800" baseline="30000" dirty="0" smtClean="0"/>
              <a:t>4</a:t>
            </a:r>
            <a:r>
              <a:rPr lang="en-US" altLang="zh-TW" sz="2800" dirty="0" smtClean="0"/>
              <a:t> + 2</a:t>
            </a:r>
            <a:r>
              <a:rPr lang="en-US" altLang="zh-TW" sz="2800" baseline="30000" dirty="0" smtClean="0"/>
              <a:t>3</a:t>
            </a:r>
            <a:r>
              <a:rPr lang="en-US" altLang="zh-TW" sz="2800" dirty="0" smtClean="0"/>
              <a:t> + 2</a:t>
            </a:r>
            <a:r>
              <a:rPr lang="en-US" altLang="zh-TW" sz="2800" baseline="30000" dirty="0" smtClean="0"/>
              <a:t>2</a:t>
            </a:r>
          </a:p>
          <a:p>
            <a:pPr>
              <a:lnSpc>
                <a:spcPct val="125000"/>
              </a:lnSpc>
            </a:pPr>
            <a:r>
              <a:rPr lang="en-US" altLang="zh-TW" sz="2800" dirty="0" smtClean="0"/>
              <a:t>= -128 + 16 + 8 + 4</a:t>
            </a:r>
          </a:p>
          <a:p>
            <a:pPr>
              <a:lnSpc>
                <a:spcPct val="125000"/>
              </a:lnSpc>
            </a:pPr>
            <a:r>
              <a:rPr lang="en-US" altLang="zh-TW" sz="2800" dirty="0" smtClean="0"/>
              <a:t>= -100</a:t>
            </a:r>
          </a:p>
          <a:p>
            <a:pPr>
              <a:lnSpc>
                <a:spcPct val="125000"/>
              </a:lnSpc>
            </a:pPr>
            <a:endParaRPr lang="zh-TW" altLang="en-US" sz="2800" dirty="0"/>
          </a:p>
        </p:txBody>
      </p:sp>
      <p:cxnSp>
        <p:nvCxnSpPr>
          <p:cNvPr id="11" name="直線單箭頭接點 10"/>
          <p:cNvCxnSpPr/>
          <p:nvPr/>
        </p:nvCxnSpPr>
        <p:spPr>
          <a:xfrm>
            <a:off x="4261757" y="3094264"/>
            <a:ext cx="0" cy="21227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3586893" y="2573534"/>
            <a:ext cx="13497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Negative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6493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2’s complement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416379" y="1743573"/>
            <a:ext cx="10931977" cy="21390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270510">
              <a:lnSpc>
                <a:spcPct val="125000"/>
              </a:lnSpc>
              <a:spcAft>
                <a:spcPts val="0"/>
              </a:spcAft>
            </a:pPr>
            <a:r>
              <a:rPr lang="en-US" altLang="zh-TW" sz="2800" kern="100" dirty="0" smtClean="0"/>
              <a:t>Given </a:t>
            </a:r>
            <a:r>
              <a:rPr lang="en-US" altLang="zh-TW" sz="2800" kern="100" dirty="0"/>
              <a:t>the bit pattern 10010011, what does it represent </a:t>
            </a:r>
            <a:r>
              <a:rPr lang="en-US" altLang="zh-TW" sz="2800" kern="100" dirty="0" smtClean="0"/>
              <a:t>assuming</a:t>
            </a:r>
          </a:p>
          <a:p>
            <a:pPr marL="243840" indent="-514350">
              <a:lnSpc>
                <a:spcPct val="125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altLang="zh-TW" sz="2800" kern="100" dirty="0" smtClean="0"/>
              <a:t>It’s </a:t>
            </a:r>
            <a:r>
              <a:rPr lang="en-US" altLang="zh-TW" sz="2800" kern="100" dirty="0"/>
              <a:t>a two’s complement </a:t>
            </a:r>
            <a:r>
              <a:rPr lang="en-US" altLang="zh-TW" sz="2800" kern="100" dirty="0" smtClean="0"/>
              <a:t>integer?</a:t>
            </a:r>
          </a:p>
          <a:p>
            <a:pPr marL="243840" indent="-514350">
              <a:lnSpc>
                <a:spcPct val="125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altLang="zh-TW" sz="2800" kern="100" dirty="0" smtClean="0"/>
              <a:t>It’s </a:t>
            </a:r>
            <a:r>
              <a:rPr lang="en-US" altLang="zh-TW" sz="2800" kern="100" dirty="0"/>
              <a:t>an unsigned integer?</a:t>
            </a:r>
            <a:endParaRPr lang="zh-TW" altLang="zh-TW" sz="2800" kern="100" dirty="0"/>
          </a:p>
          <a:p>
            <a:r>
              <a:rPr lang="en-US" altLang="zh-TW" sz="2800" dirty="0"/>
              <a:t>Write down your answer in decimal format. 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196850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2’s complement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416379" y="1743573"/>
            <a:ext cx="10931977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270510">
              <a:lnSpc>
                <a:spcPct val="125000"/>
              </a:lnSpc>
              <a:spcAft>
                <a:spcPts val="0"/>
              </a:spcAft>
            </a:pPr>
            <a:r>
              <a:rPr lang="en-US" altLang="zh-TW" sz="2800" kern="100" dirty="0" smtClean="0"/>
              <a:t>Given </a:t>
            </a:r>
            <a:r>
              <a:rPr lang="en-US" altLang="zh-TW" sz="2800" kern="100" dirty="0"/>
              <a:t>the bit pattern 10010011, what does it represent </a:t>
            </a:r>
            <a:r>
              <a:rPr lang="en-US" altLang="zh-TW" sz="2800" kern="100" dirty="0" smtClean="0"/>
              <a:t>assuming</a:t>
            </a:r>
          </a:p>
          <a:p>
            <a:pPr marL="243840" indent="-514350">
              <a:lnSpc>
                <a:spcPct val="125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altLang="zh-TW" sz="2800" kern="100" dirty="0" smtClean="0"/>
              <a:t>It’s </a:t>
            </a:r>
            <a:r>
              <a:rPr lang="en-US" altLang="zh-TW" sz="2800" kern="100" dirty="0"/>
              <a:t>a two’s complement </a:t>
            </a:r>
            <a:r>
              <a:rPr lang="en-US" altLang="zh-TW" sz="2800" kern="100" dirty="0" smtClean="0"/>
              <a:t>integer?</a:t>
            </a:r>
            <a:r>
              <a:rPr lang="en-US" altLang="zh-TW" sz="2800" dirty="0" smtClean="0"/>
              <a:t>. </a:t>
            </a:r>
            <a:endParaRPr lang="zh-TW" altLang="en-US" sz="2800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2335442"/>
              </p:ext>
            </p:extLst>
          </p:nvPr>
        </p:nvGraphicFramePr>
        <p:xfrm>
          <a:off x="2751363" y="3177256"/>
          <a:ext cx="6262008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2751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1379109768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2690876130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1425584437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2411480656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-2</a:t>
                      </a:r>
                      <a:r>
                        <a:rPr kumimoji="0" lang="en-US" altLang="zh-TW" sz="28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7</a:t>
                      </a:r>
                      <a:endParaRPr kumimoji="0" lang="zh-TW" altLang="en-US" sz="28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8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6</a:t>
                      </a:r>
                      <a:endParaRPr kumimoji="0" lang="zh-TW" altLang="en-US" sz="28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8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5</a:t>
                      </a:r>
                      <a:endParaRPr kumimoji="0" lang="zh-TW" altLang="en-US" sz="28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8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4</a:t>
                      </a:r>
                      <a:endParaRPr kumimoji="0" lang="zh-TW" altLang="en-US" sz="28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8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3</a:t>
                      </a:r>
                      <a:endParaRPr kumimoji="0" lang="zh-TW" altLang="en-US" sz="28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8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endParaRPr kumimoji="0" lang="zh-TW" altLang="en-US" sz="28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8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28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en-US" altLang="zh-TW" sz="2800" b="1" baseline="300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2800" b="1" baseline="30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3479240"/>
                  </a:ext>
                </a:extLst>
              </a:tr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362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2’s complement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416379" y="1743573"/>
            <a:ext cx="10931977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270510">
              <a:lnSpc>
                <a:spcPct val="125000"/>
              </a:lnSpc>
              <a:spcAft>
                <a:spcPts val="0"/>
              </a:spcAft>
            </a:pPr>
            <a:r>
              <a:rPr lang="en-US" altLang="zh-TW" sz="2800" kern="100" dirty="0" smtClean="0"/>
              <a:t>Given </a:t>
            </a:r>
            <a:r>
              <a:rPr lang="en-US" altLang="zh-TW" sz="2800" kern="100" dirty="0"/>
              <a:t>the bit pattern 10010011, what does it represent </a:t>
            </a:r>
            <a:r>
              <a:rPr lang="en-US" altLang="zh-TW" sz="2800" kern="100" dirty="0" smtClean="0"/>
              <a:t>assuming</a:t>
            </a:r>
          </a:p>
          <a:p>
            <a:pPr marL="243840" indent="-514350">
              <a:lnSpc>
                <a:spcPct val="125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altLang="zh-TW" sz="2800" kern="100" dirty="0" smtClean="0"/>
              <a:t>It’s </a:t>
            </a:r>
            <a:r>
              <a:rPr lang="en-US" altLang="zh-TW" sz="2800" kern="100" dirty="0"/>
              <a:t>a two’s complement </a:t>
            </a:r>
            <a:r>
              <a:rPr lang="en-US" altLang="zh-TW" sz="2800" kern="100" dirty="0" smtClean="0"/>
              <a:t>integer?</a:t>
            </a:r>
            <a:r>
              <a:rPr lang="en-US" altLang="zh-TW" sz="2800" dirty="0" smtClean="0"/>
              <a:t>. </a:t>
            </a:r>
            <a:endParaRPr lang="zh-TW" altLang="en-US" sz="2800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2335442"/>
              </p:ext>
            </p:extLst>
          </p:nvPr>
        </p:nvGraphicFramePr>
        <p:xfrm>
          <a:off x="2751363" y="3177256"/>
          <a:ext cx="6262008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2751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1379109768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2690876130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1425584437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2411480656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-2</a:t>
                      </a:r>
                      <a:r>
                        <a:rPr kumimoji="0" lang="en-US" altLang="zh-TW" sz="28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7</a:t>
                      </a:r>
                      <a:endParaRPr kumimoji="0" lang="zh-TW" altLang="en-US" sz="28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8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6</a:t>
                      </a:r>
                      <a:endParaRPr kumimoji="0" lang="zh-TW" altLang="en-US" sz="28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8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5</a:t>
                      </a:r>
                      <a:endParaRPr kumimoji="0" lang="zh-TW" altLang="en-US" sz="28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8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4</a:t>
                      </a:r>
                      <a:endParaRPr kumimoji="0" lang="zh-TW" altLang="en-US" sz="28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8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3</a:t>
                      </a:r>
                      <a:endParaRPr kumimoji="0" lang="zh-TW" altLang="en-US" sz="28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8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endParaRPr kumimoji="0" lang="zh-TW" altLang="en-US" sz="28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8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28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en-US" altLang="zh-TW" sz="2800" b="1" baseline="300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2800" b="1" baseline="30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3479240"/>
                  </a:ext>
                </a:extLst>
              </a:tr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2751363" y="4477708"/>
            <a:ext cx="458832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TW" sz="2800" dirty="0" smtClean="0"/>
              <a:t>= -2</a:t>
            </a:r>
            <a:r>
              <a:rPr lang="en-US" altLang="zh-TW" sz="2800" baseline="30000" dirty="0" smtClean="0"/>
              <a:t>7</a:t>
            </a:r>
            <a:r>
              <a:rPr lang="en-US" altLang="zh-TW" sz="2800" dirty="0" smtClean="0"/>
              <a:t> + 2</a:t>
            </a:r>
            <a:r>
              <a:rPr lang="en-US" altLang="zh-TW" sz="2800" baseline="30000" dirty="0" smtClean="0"/>
              <a:t>4</a:t>
            </a:r>
            <a:r>
              <a:rPr lang="en-US" altLang="zh-TW" sz="2800" dirty="0" smtClean="0"/>
              <a:t> + 2</a:t>
            </a:r>
            <a:r>
              <a:rPr lang="en-US" altLang="zh-TW" sz="2800" baseline="30000" dirty="0" smtClean="0"/>
              <a:t>1</a:t>
            </a:r>
            <a:r>
              <a:rPr lang="en-US" altLang="zh-TW" sz="2800" dirty="0" smtClean="0"/>
              <a:t> + 2</a:t>
            </a:r>
            <a:r>
              <a:rPr lang="en-US" altLang="zh-TW" sz="2800" baseline="30000" dirty="0" smtClean="0"/>
              <a:t>0</a:t>
            </a:r>
          </a:p>
          <a:p>
            <a:pPr>
              <a:lnSpc>
                <a:spcPct val="125000"/>
              </a:lnSpc>
            </a:pPr>
            <a:r>
              <a:rPr lang="en-US" altLang="zh-TW" sz="2800" dirty="0" smtClean="0"/>
              <a:t>= -128 + 16 + 2 + 1</a:t>
            </a:r>
          </a:p>
          <a:p>
            <a:pPr>
              <a:lnSpc>
                <a:spcPct val="125000"/>
              </a:lnSpc>
            </a:pPr>
            <a:r>
              <a:rPr lang="en-US" altLang="zh-TW" sz="2800" dirty="0" smtClean="0"/>
              <a:t>= -109</a:t>
            </a:r>
          </a:p>
          <a:p>
            <a:pPr>
              <a:lnSpc>
                <a:spcPct val="125000"/>
              </a:lnSpc>
            </a:pP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729813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2’s complement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416379" y="1743573"/>
            <a:ext cx="10931977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270510">
              <a:lnSpc>
                <a:spcPct val="125000"/>
              </a:lnSpc>
              <a:spcAft>
                <a:spcPts val="0"/>
              </a:spcAft>
            </a:pPr>
            <a:r>
              <a:rPr lang="en-US" altLang="zh-TW" sz="2800" kern="100" dirty="0" smtClean="0"/>
              <a:t>Given </a:t>
            </a:r>
            <a:r>
              <a:rPr lang="en-US" altLang="zh-TW" sz="2800" kern="100" dirty="0"/>
              <a:t>the bit pattern 10010011, what does it represent </a:t>
            </a:r>
            <a:r>
              <a:rPr lang="en-US" altLang="zh-TW" sz="2800" kern="100" dirty="0" smtClean="0"/>
              <a:t>assuming</a:t>
            </a:r>
          </a:p>
          <a:p>
            <a:pPr marL="243840" indent="-514350">
              <a:lnSpc>
                <a:spcPct val="125000"/>
              </a:lnSpc>
              <a:spcAft>
                <a:spcPts val="0"/>
              </a:spcAft>
              <a:buFont typeface="+mj-lt"/>
              <a:buAutoNum type="alphaLcParenR" startAt="2"/>
            </a:pPr>
            <a:r>
              <a:rPr lang="en-US" altLang="zh-TW" sz="2800" kern="100" dirty="0"/>
              <a:t>It’s an unsigned integer?</a:t>
            </a:r>
            <a:endParaRPr lang="zh-TW" altLang="zh-TW" sz="2800" kern="100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2097101"/>
              </p:ext>
            </p:extLst>
          </p:nvPr>
        </p:nvGraphicFramePr>
        <p:xfrm>
          <a:off x="2751363" y="3177256"/>
          <a:ext cx="6262008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2751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1379109768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2690876130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1425584437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2411480656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8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7</a:t>
                      </a:r>
                      <a:endParaRPr kumimoji="0" lang="zh-TW" altLang="en-US" sz="28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8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6</a:t>
                      </a:r>
                      <a:endParaRPr kumimoji="0" lang="zh-TW" altLang="en-US" sz="28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8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5</a:t>
                      </a:r>
                      <a:endParaRPr kumimoji="0" lang="zh-TW" altLang="en-US" sz="28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8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4</a:t>
                      </a:r>
                      <a:endParaRPr kumimoji="0" lang="zh-TW" altLang="en-US" sz="28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8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3</a:t>
                      </a:r>
                      <a:endParaRPr kumimoji="0" lang="zh-TW" altLang="en-US" sz="28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8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endParaRPr kumimoji="0" lang="zh-TW" altLang="en-US" sz="28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8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28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en-US" altLang="zh-TW" sz="2800" b="1" baseline="300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2800" b="1" baseline="30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3479240"/>
                  </a:ext>
                </a:extLst>
              </a:tr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2095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2’s complement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416379" y="1743573"/>
            <a:ext cx="10931977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270510">
              <a:lnSpc>
                <a:spcPct val="125000"/>
              </a:lnSpc>
              <a:spcAft>
                <a:spcPts val="0"/>
              </a:spcAft>
            </a:pPr>
            <a:r>
              <a:rPr lang="en-US" altLang="zh-TW" sz="2800" kern="100" dirty="0" smtClean="0"/>
              <a:t>Given </a:t>
            </a:r>
            <a:r>
              <a:rPr lang="en-US" altLang="zh-TW" sz="2800" kern="100" dirty="0"/>
              <a:t>the bit pattern 10010011, what does it represent </a:t>
            </a:r>
            <a:r>
              <a:rPr lang="en-US" altLang="zh-TW" sz="2800" kern="100" dirty="0" smtClean="0"/>
              <a:t>assuming</a:t>
            </a:r>
          </a:p>
          <a:p>
            <a:pPr marL="243840" indent="-514350">
              <a:lnSpc>
                <a:spcPct val="125000"/>
              </a:lnSpc>
              <a:spcAft>
                <a:spcPts val="0"/>
              </a:spcAft>
              <a:buFont typeface="+mj-lt"/>
              <a:buAutoNum type="alphaLcParenR" startAt="2"/>
            </a:pPr>
            <a:r>
              <a:rPr lang="en-US" altLang="zh-TW" sz="2800" kern="100" dirty="0"/>
              <a:t>It’s an unsigned integer?</a:t>
            </a:r>
            <a:endParaRPr lang="zh-TW" altLang="zh-TW" sz="2800" kern="100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2097101"/>
              </p:ext>
            </p:extLst>
          </p:nvPr>
        </p:nvGraphicFramePr>
        <p:xfrm>
          <a:off x="2751363" y="3177256"/>
          <a:ext cx="6262008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2751">
                  <a:extLst>
                    <a:ext uri="{9D8B030D-6E8A-4147-A177-3AD203B41FA5}">
                      <a16:colId xmlns:a16="http://schemas.microsoft.com/office/drawing/2014/main" val="2765818620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3774237482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2799007962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3755907161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1379109768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2690876130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1425584437"/>
                    </a:ext>
                  </a:extLst>
                </a:gridCol>
                <a:gridCol w="782751">
                  <a:extLst>
                    <a:ext uri="{9D8B030D-6E8A-4147-A177-3AD203B41FA5}">
                      <a16:colId xmlns:a16="http://schemas.microsoft.com/office/drawing/2014/main" val="2411480656"/>
                    </a:ext>
                  </a:extLst>
                </a:gridCol>
              </a:tblGrid>
              <a:tr h="4939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8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7</a:t>
                      </a:r>
                      <a:endParaRPr kumimoji="0" lang="zh-TW" altLang="en-US" sz="28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8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6</a:t>
                      </a:r>
                      <a:endParaRPr kumimoji="0" lang="zh-TW" altLang="en-US" sz="28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8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5</a:t>
                      </a:r>
                      <a:endParaRPr kumimoji="0" lang="zh-TW" altLang="en-US" sz="28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8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4</a:t>
                      </a:r>
                      <a:endParaRPr kumimoji="0" lang="zh-TW" altLang="en-US" sz="28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8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3</a:t>
                      </a:r>
                      <a:endParaRPr kumimoji="0" lang="zh-TW" altLang="en-US" sz="28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8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endParaRPr kumimoji="0" lang="zh-TW" altLang="en-US" sz="28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8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kumimoji="0" lang="zh-TW" altLang="en-US" sz="28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en-US" altLang="zh-TW" sz="2800" b="1" baseline="300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2800" b="1" baseline="30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3479240"/>
                  </a:ext>
                </a:extLst>
              </a:tr>
              <a:tr h="4939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961169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2751363" y="4477708"/>
            <a:ext cx="458832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TW" sz="2800" dirty="0" smtClean="0"/>
              <a:t>= 2</a:t>
            </a:r>
            <a:r>
              <a:rPr lang="en-US" altLang="zh-TW" sz="2800" baseline="30000" dirty="0" smtClean="0"/>
              <a:t>7</a:t>
            </a:r>
            <a:r>
              <a:rPr lang="en-US" altLang="zh-TW" sz="2800" dirty="0" smtClean="0"/>
              <a:t> + 2</a:t>
            </a:r>
            <a:r>
              <a:rPr lang="en-US" altLang="zh-TW" sz="2800" baseline="30000" dirty="0" smtClean="0"/>
              <a:t>4</a:t>
            </a:r>
            <a:r>
              <a:rPr lang="en-US" altLang="zh-TW" sz="2800" dirty="0" smtClean="0"/>
              <a:t> + 2</a:t>
            </a:r>
            <a:r>
              <a:rPr lang="en-US" altLang="zh-TW" sz="2800" baseline="30000" dirty="0" smtClean="0"/>
              <a:t>1</a:t>
            </a:r>
            <a:r>
              <a:rPr lang="en-US" altLang="zh-TW" sz="2800" dirty="0" smtClean="0"/>
              <a:t> + 2</a:t>
            </a:r>
            <a:r>
              <a:rPr lang="en-US" altLang="zh-TW" sz="2800" baseline="30000" dirty="0" smtClean="0"/>
              <a:t>0</a:t>
            </a:r>
          </a:p>
          <a:p>
            <a:pPr>
              <a:lnSpc>
                <a:spcPct val="125000"/>
              </a:lnSpc>
            </a:pPr>
            <a:r>
              <a:rPr lang="en-US" altLang="zh-TW" sz="2800" dirty="0" smtClean="0"/>
              <a:t>= 128 + 16 + 2 + 1</a:t>
            </a:r>
          </a:p>
          <a:p>
            <a:pPr>
              <a:lnSpc>
                <a:spcPct val="125000"/>
              </a:lnSpc>
            </a:pPr>
            <a:r>
              <a:rPr lang="en-US" altLang="zh-TW" sz="2800" dirty="0" smtClean="0"/>
              <a:t>= 147</a:t>
            </a:r>
          </a:p>
          <a:p>
            <a:pPr>
              <a:lnSpc>
                <a:spcPct val="125000"/>
              </a:lnSpc>
            </a:pP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819840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2’s complement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sp>
        <p:nvSpPr>
          <p:cNvPr id="14" name="文字方塊 13"/>
          <p:cNvSpPr txBox="1"/>
          <p:nvPr/>
        </p:nvSpPr>
        <p:spPr>
          <a:xfrm>
            <a:off x="138314" y="1479441"/>
            <a:ext cx="35732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4-bit 2’s complement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8969994"/>
              </p:ext>
            </p:extLst>
          </p:nvPr>
        </p:nvGraphicFramePr>
        <p:xfrm>
          <a:off x="1850571" y="2325209"/>
          <a:ext cx="3985080" cy="414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4147">
                  <a:extLst>
                    <a:ext uri="{9D8B030D-6E8A-4147-A177-3AD203B41FA5}">
                      <a16:colId xmlns:a16="http://schemas.microsoft.com/office/drawing/2014/main" val="1997242345"/>
                    </a:ext>
                  </a:extLst>
                </a:gridCol>
                <a:gridCol w="595993">
                  <a:extLst>
                    <a:ext uri="{9D8B030D-6E8A-4147-A177-3AD203B41FA5}">
                      <a16:colId xmlns:a16="http://schemas.microsoft.com/office/drawing/2014/main" val="3767292179"/>
                    </a:ext>
                  </a:extLst>
                </a:gridCol>
                <a:gridCol w="1764940">
                  <a:extLst>
                    <a:ext uri="{9D8B030D-6E8A-4147-A177-3AD203B41FA5}">
                      <a16:colId xmlns:a16="http://schemas.microsoft.com/office/drawing/2014/main" val="22893218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=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+ 0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448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=</a:t>
                      </a:r>
                      <a:endParaRPr kumimoji="0" lang="zh-TW" alt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+ 1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015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=</a:t>
                      </a:r>
                      <a:endParaRPr kumimoji="0" lang="zh-TW" alt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+ 2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3907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=</a:t>
                      </a:r>
                      <a:endParaRPr kumimoji="0" lang="zh-TW" alt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+ 3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3161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=</a:t>
                      </a:r>
                      <a:endParaRPr kumimoji="0" lang="zh-TW" alt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+ 4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341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=</a:t>
                      </a:r>
                      <a:endParaRPr kumimoji="0" lang="zh-TW" alt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+ 5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7588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=</a:t>
                      </a:r>
                      <a:endParaRPr kumimoji="0" lang="zh-TW" alt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+ 6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8602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=</a:t>
                      </a:r>
                      <a:endParaRPr kumimoji="0" lang="zh-TW" alt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+ 7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3606505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858024"/>
              </p:ext>
            </p:extLst>
          </p:nvPr>
        </p:nvGraphicFramePr>
        <p:xfrm>
          <a:off x="6120492" y="2325209"/>
          <a:ext cx="3985080" cy="414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4147">
                  <a:extLst>
                    <a:ext uri="{9D8B030D-6E8A-4147-A177-3AD203B41FA5}">
                      <a16:colId xmlns:a16="http://schemas.microsoft.com/office/drawing/2014/main" val="1997242345"/>
                    </a:ext>
                  </a:extLst>
                </a:gridCol>
                <a:gridCol w="595993">
                  <a:extLst>
                    <a:ext uri="{9D8B030D-6E8A-4147-A177-3AD203B41FA5}">
                      <a16:colId xmlns:a16="http://schemas.microsoft.com/office/drawing/2014/main" val="3767292179"/>
                    </a:ext>
                  </a:extLst>
                </a:gridCol>
                <a:gridCol w="1764940">
                  <a:extLst>
                    <a:ext uri="{9D8B030D-6E8A-4147-A177-3AD203B41FA5}">
                      <a16:colId xmlns:a16="http://schemas.microsoft.com/office/drawing/2014/main" val="22893218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=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- 8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448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=</a:t>
                      </a:r>
                      <a:endParaRPr kumimoji="0" lang="zh-TW" alt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- 7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015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=</a:t>
                      </a:r>
                      <a:endParaRPr kumimoji="0" lang="zh-TW" alt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- 6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3907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=</a:t>
                      </a:r>
                      <a:endParaRPr kumimoji="0" lang="zh-TW" alt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- 5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3161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=</a:t>
                      </a:r>
                      <a:endParaRPr kumimoji="0" lang="zh-TW" alt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- 4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341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=</a:t>
                      </a:r>
                      <a:endParaRPr kumimoji="0" lang="zh-TW" alt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- 3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7588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=</a:t>
                      </a:r>
                      <a:endParaRPr kumimoji="0" lang="zh-TW" alt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- 2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8602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=</a:t>
                      </a:r>
                      <a:endParaRPr kumimoji="0" lang="zh-TW" alt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- 1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3606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0781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2’s complement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506186" y="2184150"/>
            <a:ext cx="11389178" cy="24776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altLang="zh-TW" sz="2800" b="1" dirty="0" smtClean="0"/>
              <a:t>Advantage: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sz="2800" dirty="0" smtClean="0"/>
              <a:t>Two's </a:t>
            </a:r>
            <a:r>
              <a:rPr lang="en-US" altLang="zh-TW" sz="2800" dirty="0"/>
              <a:t>complement </a:t>
            </a:r>
            <a:r>
              <a:rPr lang="en-US" altLang="zh-TW" sz="2800" dirty="0" smtClean="0"/>
              <a:t>has only one 0.</a:t>
            </a:r>
          </a:p>
          <a:p>
            <a:pPr marL="514350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zh-TW" sz="2800" dirty="0" smtClean="0"/>
              <a:t>Compared </a:t>
            </a:r>
            <a:r>
              <a:rPr lang="en-US" altLang="zh-TW" sz="2800" dirty="0"/>
              <a:t>to other systems for representing signed </a:t>
            </a:r>
            <a:r>
              <a:rPr lang="en-US" altLang="zh-TW" sz="2800" dirty="0" smtClean="0"/>
              <a:t>numbers, two's </a:t>
            </a:r>
            <a:r>
              <a:rPr lang="en-US" altLang="zh-TW" sz="2800" dirty="0"/>
              <a:t>complement has </a:t>
            </a:r>
            <a:r>
              <a:rPr lang="en-US" altLang="zh-TW" sz="2800" dirty="0" smtClean="0"/>
              <a:t>the advantage that the fundamental </a:t>
            </a:r>
            <a:r>
              <a:rPr lang="en-US" altLang="zh-TW" sz="2800" dirty="0"/>
              <a:t>arithmetic operations </a:t>
            </a:r>
            <a:r>
              <a:rPr lang="en-US" altLang="zh-TW" sz="2800" dirty="0" smtClean="0"/>
              <a:t>are </a:t>
            </a:r>
            <a:r>
              <a:rPr lang="en-US" altLang="zh-TW" sz="2800" dirty="0"/>
              <a:t>identical to those for unsigned binary numbers 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911410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2’s complement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5603436" y="2525876"/>
            <a:ext cx="108876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dirty="0"/>
              <a:t>0000</a:t>
            </a:r>
            <a:endParaRPr lang="zh-TW" altLang="en-US" sz="32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7298872" y="2525876"/>
            <a:ext cx="30249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chemeClr val="bg2">
                    <a:lumMod val="50000"/>
                  </a:schemeClr>
                </a:solidFill>
              </a:rPr>
              <a:t>2’s complement +0</a:t>
            </a:r>
            <a:endParaRPr lang="zh-TW" altLang="en-US" sz="2800" b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5031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2’s complement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5603436" y="2525876"/>
            <a:ext cx="108876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dirty="0"/>
              <a:t>0000</a:t>
            </a:r>
            <a:endParaRPr lang="zh-TW" altLang="en-US" sz="3200" dirty="0"/>
          </a:p>
        </p:txBody>
      </p:sp>
      <p:sp>
        <p:nvSpPr>
          <p:cNvPr id="5" name="矩形 4"/>
          <p:cNvSpPr/>
          <p:nvPr/>
        </p:nvSpPr>
        <p:spPr>
          <a:xfrm>
            <a:off x="5603436" y="3252497"/>
            <a:ext cx="108876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dirty="0" smtClean="0"/>
              <a:t>1111</a:t>
            </a:r>
            <a:endParaRPr lang="zh-TW" altLang="en-US" sz="32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7298872" y="2525876"/>
            <a:ext cx="30249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chemeClr val="bg2">
                    <a:lumMod val="50000"/>
                  </a:schemeClr>
                </a:solidFill>
              </a:rPr>
              <a:t>2’s complement +0</a:t>
            </a:r>
            <a:endParaRPr lang="zh-TW" altLang="en-US" sz="2800" b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0625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2’s complement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5603436" y="2525876"/>
            <a:ext cx="108876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dirty="0"/>
              <a:t>0000</a:t>
            </a:r>
            <a:endParaRPr lang="zh-TW" altLang="en-US" sz="3200" dirty="0"/>
          </a:p>
        </p:txBody>
      </p:sp>
      <p:sp>
        <p:nvSpPr>
          <p:cNvPr id="5" name="矩形 4"/>
          <p:cNvSpPr/>
          <p:nvPr/>
        </p:nvSpPr>
        <p:spPr>
          <a:xfrm>
            <a:off x="5603436" y="3252497"/>
            <a:ext cx="108876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dirty="0" smtClean="0"/>
              <a:t>1111</a:t>
            </a:r>
            <a:endParaRPr lang="zh-TW" altLang="en-US" sz="3200" dirty="0"/>
          </a:p>
        </p:txBody>
      </p:sp>
      <p:sp>
        <p:nvSpPr>
          <p:cNvPr id="6" name="矩形 5"/>
          <p:cNvSpPr/>
          <p:nvPr/>
        </p:nvSpPr>
        <p:spPr>
          <a:xfrm>
            <a:off x="5603436" y="3714162"/>
            <a:ext cx="108876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dirty="0" smtClean="0">
                <a:solidFill>
                  <a:schemeClr val="bg1"/>
                </a:solidFill>
              </a:rPr>
              <a:t>111</a:t>
            </a:r>
            <a:r>
              <a:rPr lang="en-US" altLang="zh-TW" sz="3200" dirty="0" smtClean="0"/>
              <a:t>1</a:t>
            </a:r>
            <a:endParaRPr lang="zh-TW" altLang="en-US" sz="3200" dirty="0"/>
          </a:p>
        </p:txBody>
      </p:sp>
      <p:cxnSp>
        <p:nvCxnSpPr>
          <p:cNvPr id="8" name="直線接點 7"/>
          <p:cNvCxnSpPr/>
          <p:nvPr/>
        </p:nvCxnSpPr>
        <p:spPr>
          <a:xfrm>
            <a:off x="5026682" y="4298937"/>
            <a:ext cx="1665514" cy="0"/>
          </a:xfrm>
          <a:prstGeom prst="line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/>
          <p:cNvSpPr txBox="1"/>
          <p:nvPr/>
        </p:nvSpPr>
        <p:spPr>
          <a:xfrm>
            <a:off x="4955722" y="3683383"/>
            <a:ext cx="492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/>
              <a:t>+</a:t>
            </a:r>
            <a:endParaRPr lang="zh-TW" altLang="en-US" sz="3600" b="1" dirty="0"/>
          </a:p>
        </p:txBody>
      </p:sp>
      <p:sp>
        <p:nvSpPr>
          <p:cNvPr id="10" name="矩形 9"/>
          <p:cNvSpPr/>
          <p:nvPr/>
        </p:nvSpPr>
        <p:spPr>
          <a:xfrm>
            <a:off x="5263600" y="4452826"/>
            <a:ext cx="142859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dirty="0" smtClean="0"/>
              <a:t>1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0000</a:t>
            </a:r>
            <a:endParaRPr lang="zh-TW" altLang="en-US" sz="32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7298872" y="2525876"/>
            <a:ext cx="30249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chemeClr val="bg2">
                    <a:lumMod val="50000"/>
                  </a:schemeClr>
                </a:solidFill>
              </a:rPr>
              <a:t>2’s complement +0</a:t>
            </a:r>
            <a:endParaRPr lang="zh-TW" altLang="en-US" sz="2800" b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0372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2’s complement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5603436" y="2525876"/>
            <a:ext cx="108876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dirty="0"/>
              <a:t>0000</a:t>
            </a:r>
            <a:endParaRPr lang="zh-TW" altLang="en-US" sz="3200" dirty="0"/>
          </a:p>
        </p:txBody>
      </p:sp>
      <p:sp>
        <p:nvSpPr>
          <p:cNvPr id="5" name="矩形 4"/>
          <p:cNvSpPr/>
          <p:nvPr/>
        </p:nvSpPr>
        <p:spPr>
          <a:xfrm>
            <a:off x="5603436" y="3252497"/>
            <a:ext cx="108876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dirty="0" smtClean="0"/>
              <a:t>1111</a:t>
            </a:r>
            <a:endParaRPr lang="zh-TW" altLang="en-US" sz="3200" dirty="0"/>
          </a:p>
        </p:txBody>
      </p:sp>
      <p:sp>
        <p:nvSpPr>
          <p:cNvPr id="6" name="矩形 5"/>
          <p:cNvSpPr/>
          <p:nvPr/>
        </p:nvSpPr>
        <p:spPr>
          <a:xfrm>
            <a:off x="5603436" y="3714162"/>
            <a:ext cx="108876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dirty="0" smtClean="0">
                <a:solidFill>
                  <a:schemeClr val="bg1"/>
                </a:solidFill>
              </a:rPr>
              <a:t>111</a:t>
            </a:r>
            <a:r>
              <a:rPr lang="en-US" altLang="zh-TW" sz="3200" dirty="0" smtClean="0"/>
              <a:t>1</a:t>
            </a:r>
            <a:endParaRPr lang="zh-TW" altLang="en-US" sz="3200" dirty="0"/>
          </a:p>
        </p:txBody>
      </p:sp>
      <p:cxnSp>
        <p:nvCxnSpPr>
          <p:cNvPr id="8" name="直線接點 7"/>
          <p:cNvCxnSpPr/>
          <p:nvPr/>
        </p:nvCxnSpPr>
        <p:spPr>
          <a:xfrm>
            <a:off x="5026682" y="4298937"/>
            <a:ext cx="1665514" cy="0"/>
          </a:xfrm>
          <a:prstGeom prst="line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/>
          <p:cNvSpPr txBox="1"/>
          <p:nvPr/>
        </p:nvSpPr>
        <p:spPr>
          <a:xfrm>
            <a:off x="4955722" y="3683383"/>
            <a:ext cx="492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/>
              <a:t>+</a:t>
            </a:r>
            <a:endParaRPr lang="zh-TW" altLang="en-US" sz="3600" b="1" dirty="0"/>
          </a:p>
        </p:txBody>
      </p:sp>
      <p:sp>
        <p:nvSpPr>
          <p:cNvPr id="10" name="矩形 9"/>
          <p:cNvSpPr/>
          <p:nvPr/>
        </p:nvSpPr>
        <p:spPr>
          <a:xfrm>
            <a:off x="5263600" y="4452826"/>
            <a:ext cx="142859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dirty="0" smtClean="0"/>
              <a:t>1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0000</a:t>
            </a:r>
            <a:endParaRPr lang="zh-TW" altLang="en-US" sz="32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7298872" y="2525876"/>
            <a:ext cx="30249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chemeClr val="bg2">
                    <a:lumMod val="50000"/>
                  </a:schemeClr>
                </a:solidFill>
              </a:rPr>
              <a:t>2’s complement +0</a:t>
            </a:r>
            <a:endParaRPr lang="zh-TW" altLang="en-US" sz="2800" b="1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14" name="直線接點 13"/>
          <p:cNvCxnSpPr/>
          <p:nvPr/>
        </p:nvCxnSpPr>
        <p:spPr>
          <a:xfrm>
            <a:off x="5366673" y="4684715"/>
            <a:ext cx="195943" cy="151773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599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2’s complement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5603436" y="2525876"/>
            <a:ext cx="108876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dirty="0"/>
              <a:t>0000</a:t>
            </a:r>
            <a:endParaRPr lang="zh-TW" altLang="en-US" sz="3200" dirty="0"/>
          </a:p>
        </p:txBody>
      </p:sp>
      <p:sp>
        <p:nvSpPr>
          <p:cNvPr id="5" name="矩形 4"/>
          <p:cNvSpPr/>
          <p:nvPr/>
        </p:nvSpPr>
        <p:spPr>
          <a:xfrm>
            <a:off x="5603436" y="3252497"/>
            <a:ext cx="108876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dirty="0" smtClean="0"/>
              <a:t>1111</a:t>
            </a:r>
            <a:endParaRPr lang="zh-TW" altLang="en-US" sz="3200" dirty="0"/>
          </a:p>
        </p:txBody>
      </p:sp>
      <p:sp>
        <p:nvSpPr>
          <p:cNvPr id="6" name="矩形 5"/>
          <p:cNvSpPr/>
          <p:nvPr/>
        </p:nvSpPr>
        <p:spPr>
          <a:xfrm>
            <a:off x="5603436" y="3714162"/>
            <a:ext cx="108876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dirty="0" smtClean="0">
                <a:solidFill>
                  <a:schemeClr val="bg1"/>
                </a:solidFill>
              </a:rPr>
              <a:t>111</a:t>
            </a:r>
            <a:r>
              <a:rPr lang="en-US" altLang="zh-TW" sz="3200" dirty="0" smtClean="0"/>
              <a:t>1</a:t>
            </a:r>
            <a:endParaRPr lang="zh-TW" altLang="en-US" sz="3200" dirty="0"/>
          </a:p>
        </p:txBody>
      </p:sp>
      <p:cxnSp>
        <p:nvCxnSpPr>
          <p:cNvPr id="8" name="直線接點 7"/>
          <p:cNvCxnSpPr/>
          <p:nvPr/>
        </p:nvCxnSpPr>
        <p:spPr>
          <a:xfrm>
            <a:off x="5026682" y="4298937"/>
            <a:ext cx="1665514" cy="0"/>
          </a:xfrm>
          <a:prstGeom prst="line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/>
          <p:cNvSpPr txBox="1"/>
          <p:nvPr/>
        </p:nvSpPr>
        <p:spPr>
          <a:xfrm>
            <a:off x="4955722" y="3683383"/>
            <a:ext cx="492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/>
              <a:t>+</a:t>
            </a:r>
            <a:endParaRPr lang="zh-TW" altLang="en-US" sz="3600" b="1" dirty="0"/>
          </a:p>
        </p:txBody>
      </p:sp>
      <p:sp>
        <p:nvSpPr>
          <p:cNvPr id="10" name="矩形 9"/>
          <p:cNvSpPr/>
          <p:nvPr/>
        </p:nvSpPr>
        <p:spPr>
          <a:xfrm>
            <a:off x="5263600" y="4452826"/>
            <a:ext cx="142859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dirty="0" smtClean="0"/>
              <a:t>1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0000</a:t>
            </a:r>
            <a:endParaRPr lang="zh-TW" altLang="en-US" sz="32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7298872" y="2525876"/>
            <a:ext cx="30249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chemeClr val="bg2">
                    <a:lumMod val="50000"/>
                  </a:schemeClr>
                </a:solidFill>
              </a:rPr>
              <a:t>2’s complement +0</a:t>
            </a:r>
            <a:endParaRPr lang="zh-TW" altLang="en-US" sz="28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7298872" y="4501870"/>
            <a:ext cx="28983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2’s complement -0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cxnSp>
        <p:nvCxnSpPr>
          <p:cNvPr id="14" name="直線接點 13"/>
          <p:cNvCxnSpPr/>
          <p:nvPr/>
        </p:nvCxnSpPr>
        <p:spPr>
          <a:xfrm>
            <a:off x="5366673" y="4684715"/>
            <a:ext cx="195943" cy="151773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0415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2’s complement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5603436" y="2525876"/>
            <a:ext cx="108876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dirty="0"/>
              <a:t>0000</a:t>
            </a:r>
            <a:endParaRPr lang="zh-TW" altLang="en-US" sz="3200" dirty="0"/>
          </a:p>
        </p:txBody>
      </p:sp>
      <p:sp>
        <p:nvSpPr>
          <p:cNvPr id="5" name="矩形 4"/>
          <p:cNvSpPr/>
          <p:nvPr/>
        </p:nvSpPr>
        <p:spPr>
          <a:xfrm>
            <a:off x="5603436" y="3252497"/>
            <a:ext cx="108876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dirty="0" smtClean="0"/>
              <a:t>1111</a:t>
            </a:r>
            <a:endParaRPr lang="zh-TW" altLang="en-US" sz="3200" dirty="0"/>
          </a:p>
        </p:txBody>
      </p:sp>
      <p:sp>
        <p:nvSpPr>
          <p:cNvPr id="6" name="矩形 5"/>
          <p:cNvSpPr/>
          <p:nvPr/>
        </p:nvSpPr>
        <p:spPr>
          <a:xfrm>
            <a:off x="5603436" y="3714162"/>
            <a:ext cx="108876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dirty="0" smtClean="0">
                <a:solidFill>
                  <a:schemeClr val="bg1"/>
                </a:solidFill>
              </a:rPr>
              <a:t>111</a:t>
            </a:r>
            <a:r>
              <a:rPr lang="en-US" altLang="zh-TW" sz="3200" dirty="0" smtClean="0"/>
              <a:t>1</a:t>
            </a:r>
            <a:endParaRPr lang="zh-TW" altLang="en-US" sz="3200" dirty="0"/>
          </a:p>
        </p:txBody>
      </p:sp>
      <p:cxnSp>
        <p:nvCxnSpPr>
          <p:cNvPr id="8" name="直線接點 7"/>
          <p:cNvCxnSpPr/>
          <p:nvPr/>
        </p:nvCxnSpPr>
        <p:spPr>
          <a:xfrm>
            <a:off x="5026682" y="4298937"/>
            <a:ext cx="1665514" cy="0"/>
          </a:xfrm>
          <a:prstGeom prst="line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/>
          <p:cNvSpPr txBox="1"/>
          <p:nvPr/>
        </p:nvSpPr>
        <p:spPr>
          <a:xfrm>
            <a:off x="4955722" y="3683383"/>
            <a:ext cx="492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/>
              <a:t>+</a:t>
            </a:r>
            <a:endParaRPr lang="zh-TW" altLang="en-US" sz="3600" b="1" dirty="0"/>
          </a:p>
        </p:txBody>
      </p:sp>
      <p:sp>
        <p:nvSpPr>
          <p:cNvPr id="10" name="矩形 9"/>
          <p:cNvSpPr/>
          <p:nvPr/>
        </p:nvSpPr>
        <p:spPr>
          <a:xfrm>
            <a:off x="5263600" y="4452826"/>
            <a:ext cx="142859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dirty="0" smtClean="0"/>
              <a:t>1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0000</a:t>
            </a:r>
            <a:endParaRPr lang="zh-TW" altLang="en-US" sz="32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7298872" y="2525876"/>
            <a:ext cx="30249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chemeClr val="bg2">
                    <a:lumMod val="50000"/>
                  </a:schemeClr>
                </a:solidFill>
              </a:rPr>
              <a:t>2’s complement +0</a:t>
            </a:r>
            <a:endParaRPr lang="zh-TW" altLang="en-US" sz="28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7298872" y="4501870"/>
            <a:ext cx="28983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chemeClr val="bg2">
                    <a:lumMod val="50000"/>
                  </a:schemeClr>
                </a:solidFill>
              </a:rPr>
              <a:t>2’s complement -0</a:t>
            </a:r>
            <a:endParaRPr lang="zh-TW" altLang="en-US" sz="2800" b="1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14" name="直線接點 13"/>
          <p:cNvCxnSpPr/>
          <p:nvPr/>
        </p:nvCxnSpPr>
        <p:spPr>
          <a:xfrm>
            <a:off x="5366673" y="4684715"/>
            <a:ext cx="195943" cy="151773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637723" y="5758934"/>
            <a:ext cx="603139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Two's complement has only one 0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6361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2’s complement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1399189"/>
              </p:ext>
            </p:extLst>
          </p:nvPr>
        </p:nvGraphicFramePr>
        <p:xfrm>
          <a:off x="4098470" y="2638274"/>
          <a:ext cx="3641272" cy="13458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318">
                  <a:extLst>
                    <a:ext uri="{9D8B030D-6E8A-4147-A177-3AD203B41FA5}">
                      <a16:colId xmlns:a16="http://schemas.microsoft.com/office/drawing/2014/main" val="2211459008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1749433242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488143073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550030227"/>
                    </a:ext>
                  </a:extLst>
                </a:gridCol>
              </a:tblGrid>
              <a:tr h="6729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7506386"/>
                  </a:ext>
                </a:extLst>
              </a:tr>
              <a:tr h="6729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03994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8303078" y="2638274"/>
            <a:ext cx="6030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- 3</a:t>
            </a:r>
            <a:endParaRPr lang="zh-TW" altLang="en-US" sz="2800" dirty="0"/>
          </a:p>
        </p:txBody>
      </p:sp>
      <p:sp>
        <p:nvSpPr>
          <p:cNvPr id="6" name="矩形 5"/>
          <p:cNvSpPr/>
          <p:nvPr/>
        </p:nvSpPr>
        <p:spPr>
          <a:xfrm flipV="1">
            <a:off x="3502479" y="4096841"/>
            <a:ext cx="5306786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3502479" y="3337841"/>
            <a:ext cx="492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/>
              <a:t>+</a:t>
            </a:r>
            <a:endParaRPr lang="zh-TW" altLang="en-US" sz="3600" b="1" dirty="0"/>
          </a:p>
        </p:txBody>
      </p:sp>
      <p:sp>
        <p:nvSpPr>
          <p:cNvPr id="9" name="文字方塊 8"/>
          <p:cNvSpPr txBox="1"/>
          <p:nvPr/>
        </p:nvSpPr>
        <p:spPr>
          <a:xfrm>
            <a:off x="8319792" y="3367557"/>
            <a:ext cx="6030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- 2</a:t>
            </a:r>
            <a:endParaRPr lang="zh-TW" altLang="en-US" sz="28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138314" y="1479441"/>
            <a:ext cx="35732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4-bit 2’s complement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0959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2’s complement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9175403"/>
              </p:ext>
            </p:extLst>
          </p:nvPr>
        </p:nvGraphicFramePr>
        <p:xfrm>
          <a:off x="4098470" y="2638274"/>
          <a:ext cx="3641272" cy="13458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318">
                  <a:extLst>
                    <a:ext uri="{9D8B030D-6E8A-4147-A177-3AD203B41FA5}">
                      <a16:colId xmlns:a16="http://schemas.microsoft.com/office/drawing/2014/main" val="2211459008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1749433242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488143073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550030227"/>
                    </a:ext>
                  </a:extLst>
                </a:gridCol>
              </a:tblGrid>
              <a:tr h="6729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7506386"/>
                  </a:ext>
                </a:extLst>
              </a:tr>
              <a:tr h="6729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03994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8303078" y="2638274"/>
            <a:ext cx="6030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- 3</a:t>
            </a:r>
            <a:endParaRPr lang="zh-TW" altLang="en-US" sz="2800" dirty="0"/>
          </a:p>
        </p:txBody>
      </p:sp>
      <p:sp>
        <p:nvSpPr>
          <p:cNvPr id="6" name="矩形 5"/>
          <p:cNvSpPr/>
          <p:nvPr/>
        </p:nvSpPr>
        <p:spPr>
          <a:xfrm flipV="1">
            <a:off x="3502479" y="4096841"/>
            <a:ext cx="5306786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3502479" y="3337841"/>
            <a:ext cx="492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/>
              <a:t>+</a:t>
            </a:r>
            <a:endParaRPr lang="zh-TW" altLang="en-US" sz="3600" b="1" dirty="0"/>
          </a:p>
        </p:txBody>
      </p:sp>
      <p:sp>
        <p:nvSpPr>
          <p:cNvPr id="9" name="文字方塊 8"/>
          <p:cNvSpPr txBox="1"/>
          <p:nvPr/>
        </p:nvSpPr>
        <p:spPr>
          <a:xfrm>
            <a:off x="8319792" y="3367557"/>
            <a:ext cx="6030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- 2</a:t>
            </a:r>
            <a:endParaRPr lang="zh-TW" altLang="en-US" sz="28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138314" y="1479441"/>
            <a:ext cx="35732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4-bit 2’s complement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8501212"/>
              </p:ext>
            </p:extLst>
          </p:nvPr>
        </p:nvGraphicFramePr>
        <p:xfrm>
          <a:off x="4098470" y="4255229"/>
          <a:ext cx="3641272" cy="6729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318">
                  <a:extLst>
                    <a:ext uri="{9D8B030D-6E8A-4147-A177-3AD203B41FA5}">
                      <a16:colId xmlns:a16="http://schemas.microsoft.com/office/drawing/2014/main" val="1222978042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1373503224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779331861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3713152309"/>
                    </a:ext>
                  </a:extLst>
                </a:gridCol>
              </a:tblGrid>
              <a:tr h="6729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5531474"/>
                  </a:ext>
                </a:extLst>
              </a:tr>
            </a:tbl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5942338"/>
              </p:ext>
            </p:extLst>
          </p:nvPr>
        </p:nvGraphicFramePr>
        <p:xfrm>
          <a:off x="3293541" y="4260343"/>
          <a:ext cx="910318" cy="6729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318">
                  <a:extLst>
                    <a:ext uri="{9D8B030D-6E8A-4147-A177-3AD203B41FA5}">
                      <a16:colId xmlns:a16="http://schemas.microsoft.com/office/drawing/2014/main" val="3901727076"/>
                    </a:ext>
                  </a:extLst>
                </a:gridCol>
              </a:tblGrid>
              <a:tr h="6729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1392111"/>
                  </a:ext>
                </a:extLst>
              </a:tr>
            </a:tbl>
          </a:graphicData>
        </a:graphic>
      </p:graphicFrame>
      <p:cxnSp>
        <p:nvCxnSpPr>
          <p:cNvPr id="11" name="直線接點 10"/>
          <p:cNvCxnSpPr/>
          <p:nvPr/>
        </p:nvCxnSpPr>
        <p:spPr>
          <a:xfrm flipV="1">
            <a:off x="3594821" y="4542717"/>
            <a:ext cx="293914" cy="97972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685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2’s complement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8750154"/>
              </p:ext>
            </p:extLst>
          </p:nvPr>
        </p:nvGraphicFramePr>
        <p:xfrm>
          <a:off x="4098470" y="2638274"/>
          <a:ext cx="3641272" cy="13458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318">
                  <a:extLst>
                    <a:ext uri="{9D8B030D-6E8A-4147-A177-3AD203B41FA5}">
                      <a16:colId xmlns:a16="http://schemas.microsoft.com/office/drawing/2014/main" val="2211459008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1749433242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488143073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550030227"/>
                    </a:ext>
                  </a:extLst>
                </a:gridCol>
              </a:tblGrid>
              <a:tr h="6729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7506386"/>
                  </a:ext>
                </a:extLst>
              </a:tr>
              <a:tr h="6729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03994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8303078" y="2638274"/>
            <a:ext cx="6030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- 3</a:t>
            </a:r>
            <a:endParaRPr lang="zh-TW" altLang="en-US" sz="2800" dirty="0"/>
          </a:p>
        </p:txBody>
      </p:sp>
      <p:sp>
        <p:nvSpPr>
          <p:cNvPr id="6" name="矩形 5"/>
          <p:cNvSpPr/>
          <p:nvPr/>
        </p:nvSpPr>
        <p:spPr>
          <a:xfrm flipV="1">
            <a:off x="3502479" y="4096841"/>
            <a:ext cx="5306786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3502479" y="3337841"/>
            <a:ext cx="492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/>
              <a:t>+</a:t>
            </a:r>
            <a:endParaRPr lang="zh-TW" altLang="en-US" sz="3600" b="1" dirty="0"/>
          </a:p>
        </p:txBody>
      </p:sp>
      <p:sp>
        <p:nvSpPr>
          <p:cNvPr id="9" name="文字方塊 8"/>
          <p:cNvSpPr txBox="1"/>
          <p:nvPr/>
        </p:nvSpPr>
        <p:spPr>
          <a:xfrm>
            <a:off x="8319792" y="3367557"/>
            <a:ext cx="6030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- 2</a:t>
            </a:r>
            <a:endParaRPr lang="zh-TW" altLang="en-US" sz="28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138314" y="1479441"/>
            <a:ext cx="35732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4-bit 2’s complement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241696"/>
              </p:ext>
            </p:extLst>
          </p:nvPr>
        </p:nvGraphicFramePr>
        <p:xfrm>
          <a:off x="4098470" y="4255229"/>
          <a:ext cx="3641272" cy="6729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318">
                  <a:extLst>
                    <a:ext uri="{9D8B030D-6E8A-4147-A177-3AD203B41FA5}">
                      <a16:colId xmlns:a16="http://schemas.microsoft.com/office/drawing/2014/main" val="1222978042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1373503224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779331861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3713152309"/>
                    </a:ext>
                  </a:extLst>
                </a:gridCol>
              </a:tblGrid>
              <a:tr h="6729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5531474"/>
                  </a:ext>
                </a:extLst>
              </a:tr>
            </a:tbl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5942338"/>
              </p:ext>
            </p:extLst>
          </p:nvPr>
        </p:nvGraphicFramePr>
        <p:xfrm>
          <a:off x="3293541" y="4260343"/>
          <a:ext cx="910318" cy="6729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318">
                  <a:extLst>
                    <a:ext uri="{9D8B030D-6E8A-4147-A177-3AD203B41FA5}">
                      <a16:colId xmlns:a16="http://schemas.microsoft.com/office/drawing/2014/main" val="3901727076"/>
                    </a:ext>
                  </a:extLst>
                </a:gridCol>
              </a:tblGrid>
              <a:tr h="6729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1392111"/>
                  </a:ext>
                </a:extLst>
              </a:tr>
            </a:tbl>
          </a:graphicData>
        </a:graphic>
      </p:graphicFrame>
      <p:cxnSp>
        <p:nvCxnSpPr>
          <p:cNvPr id="11" name="直線接點 10"/>
          <p:cNvCxnSpPr/>
          <p:nvPr/>
        </p:nvCxnSpPr>
        <p:spPr>
          <a:xfrm flipV="1">
            <a:off x="3594821" y="4542717"/>
            <a:ext cx="293914" cy="97972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/>
          <p:cNvSpPr txBox="1"/>
          <p:nvPr/>
        </p:nvSpPr>
        <p:spPr>
          <a:xfrm>
            <a:off x="8319792" y="4255229"/>
            <a:ext cx="6030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- 5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835416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2’s complement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8750154"/>
              </p:ext>
            </p:extLst>
          </p:nvPr>
        </p:nvGraphicFramePr>
        <p:xfrm>
          <a:off x="4098470" y="2638274"/>
          <a:ext cx="3641272" cy="13458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318">
                  <a:extLst>
                    <a:ext uri="{9D8B030D-6E8A-4147-A177-3AD203B41FA5}">
                      <a16:colId xmlns:a16="http://schemas.microsoft.com/office/drawing/2014/main" val="2211459008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1749433242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488143073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550030227"/>
                    </a:ext>
                  </a:extLst>
                </a:gridCol>
              </a:tblGrid>
              <a:tr h="6729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7506386"/>
                  </a:ext>
                </a:extLst>
              </a:tr>
              <a:tr h="6729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03994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8303078" y="2638274"/>
            <a:ext cx="6030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- 3</a:t>
            </a:r>
            <a:endParaRPr lang="zh-TW" altLang="en-US" sz="2800" dirty="0"/>
          </a:p>
        </p:txBody>
      </p:sp>
      <p:sp>
        <p:nvSpPr>
          <p:cNvPr id="6" name="矩形 5"/>
          <p:cNvSpPr/>
          <p:nvPr/>
        </p:nvSpPr>
        <p:spPr>
          <a:xfrm flipV="1">
            <a:off x="3502479" y="4096841"/>
            <a:ext cx="5306786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3502479" y="3337841"/>
            <a:ext cx="492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/>
              <a:t>+</a:t>
            </a:r>
            <a:endParaRPr lang="zh-TW" altLang="en-US" sz="3600" b="1" dirty="0"/>
          </a:p>
        </p:txBody>
      </p:sp>
      <p:sp>
        <p:nvSpPr>
          <p:cNvPr id="9" name="文字方塊 8"/>
          <p:cNvSpPr txBox="1"/>
          <p:nvPr/>
        </p:nvSpPr>
        <p:spPr>
          <a:xfrm>
            <a:off x="8319792" y="3367557"/>
            <a:ext cx="6030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- 2</a:t>
            </a:r>
            <a:endParaRPr lang="zh-TW" altLang="en-US" sz="28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138314" y="1479441"/>
            <a:ext cx="35732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4-bit 2’s complement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241696"/>
              </p:ext>
            </p:extLst>
          </p:nvPr>
        </p:nvGraphicFramePr>
        <p:xfrm>
          <a:off x="4098470" y="4255229"/>
          <a:ext cx="3641272" cy="6729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318">
                  <a:extLst>
                    <a:ext uri="{9D8B030D-6E8A-4147-A177-3AD203B41FA5}">
                      <a16:colId xmlns:a16="http://schemas.microsoft.com/office/drawing/2014/main" val="1222978042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1373503224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779331861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3713152309"/>
                    </a:ext>
                  </a:extLst>
                </a:gridCol>
              </a:tblGrid>
              <a:tr h="6729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5531474"/>
                  </a:ext>
                </a:extLst>
              </a:tr>
            </a:tbl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5942338"/>
              </p:ext>
            </p:extLst>
          </p:nvPr>
        </p:nvGraphicFramePr>
        <p:xfrm>
          <a:off x="3293541" y="4260343"/>
          <a:ext cx="910318" cy="6729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318">
                  <a:extLst>
                    <a:ext uri="{9D8B030D-6E8A-4147-A177-3AD203B41FA5}">
                      <a16:colId xmlns:a16="http://schemas.microsoft.com/office/drawing/2014/main" val="3901727076"/>
                    </a:ext>
                  </a:extLst>
                </a:gridCol>
              </a:tblGrid>
              <a:tr h="6729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1392111"/>
                  </a:ext>
                </a:extLst>
              </a:tr>
            </a:tbl>
          </a:graphicData>
        </a:graphic>
      </p:graphicFrame>
      <p:cxnSp>
        <p:nvCxnSpPr>
          <p:cNvPr id="11" name="直線接點 10"/>
          <p:cNvCxnSpPr/>
          <p:nvPr/>
        </p:nvCxnSpPr>
        <p:spPr>
          <a:xfrm flipV="1">
            <a:off x="3594821" y="4542717"/>
            <a:ext cx="293914" cy="97972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/>
          <p:cNvSpPr txBox="1"/>
          <p:nvPr/>
        </p:nvSpPr>
        <p:spPr>
          <a:xfrm>
            <a:off x="8319792" y="4255229"/>
            <a:ext cx="6030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- 5</a:t>
            </a:r>
            <a:endParaRPr lang="zh-TW" altLang="en-US" sz="2800" dirty="0"/>
          </a:p>
        </p:txBody>
      </p:sp>
      <p:sp>
        <p:nvSpPr>
          <p:cNvPr id="13" name="矩形 12"/>
          <p:cNvSpPr/>
          <p:nvPr/>
        </p:nvSpPr>
        <p:spPr>
          <a:xfrm rot="1066724">
            <a:off x="8922132" y="3954924"/>
            <a:ext cx="564578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5400" b="1" dirty="0">
                <a:solidFill>
                  <a:srgbClr val="C00000"/>
                </a:solidFill>
                <a:latin typeface="Arial Black" panose="020B0A04020102020204" pitchFamily="34" charset="0"/>
                <a:sym typeface="Symbol" panose="05050102010706020507" pitchFamily="18" charset="2"/>
              </a:rPr>
              <a:t></a:t>
            </a:r>
            <a:endParaRPr lang="zh-TW" altLang="en-US" sz="5400" b="1" dirty="0">
              <a:solidFill>
                <a:srgbClr val="C00000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6945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-1" y="844332"/>
          <a:ext cx="12192000" cy="635109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4107290499"/>
                    </a:ext>
                  </a:extLst>
                </a:gridCol>
              </a:tblGrid>
              <a:tr h="63510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 smtClean="0"/>
                        <a:t>Signed Integer-Sign</a:t>
                      </a:r>
                      <a:r>
                        <a:rPr lang="en-US" altLang="zh-TW" sz="3200" baseline="0" dirty="0" smtClean="0"/>
                        <a:t> &amp; 2’s complement</a:t>
                      </a:r>
                      <a:endParaRPr lang="zh-TW" altLang="en-US" sz="3200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045305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8750154"/>
              </p:ext>
            </p:extLst>
          </p:nvPr>
        </p:nvGraphicFramePr>
        <p:xfrm>
          <a:off x="4098470" y="2638274"/>
          <a:ext cx="3641272" cy="13458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318">
                  <a:extLst>
                    <a:ext uri="{9D8B030D-6E8A-4147-A177-3AD203B41FA5}">
                      <a16:colId xmlns:a16="http://schemas.microsoft.com/office/drawing/2014/main" val="2211459008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1749433242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488143073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550030227"/>
                    </a:ext>
                  </a:extLst>
                </a:gridCol>
              </a:tblGrid>
              <a:tr h="6729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7506386"/>
                  </a:ext>
                </a:extLst>
              </a:tr>
              <a:tr h="6729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03994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8303078" y="2638274"/>
            <a:ext cx="6030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- 3</a:t>
            </a:r>
            <a:endParaRPr lang="zh-TW" altLang="en-US" sz="2800" dirty="0"/>
          </a:p>
        </p:txBody>
      </p:sp>
      <p:sp>
        <p:nvSpPr>
          <p:cNvPr id="6" name="矩形 5"/>
          <p:cNvSpPr/>
          <p:nvPr/>
        </p:nvSpPr>
        <p:spPr>
          <a:xfrm flipV="1">
            <a:off x="3502479" y="4096841"/>
            <a:ext cx="5306786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3502479" y="3337841"/>
            <a:ext cx="492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/>
              <a:t>+</a:t>
            </a:r>
            <a:endParaRPr lang="zh-TW" altLang="en-US" sz="3600" b="1" dirty="0"/>
          </a:p>
        </p:txBody>
      </p:sp>
      <p:sp>
        <p:nvSpPr>
          <p:cNvPr id="9" name="文字方塊 8"/>
          <p:cNvSpPr txBox="1"/>
          <p:nvPr/>
        </p:nvSpPr>
        <p:spPr>
          <a:xfrm>
            <a:off x="8319792" y="3367557"/>
            <a:ext cx="6030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- 2</a:t>
            </a:r>
            <a:endParaRPr lang="zh-TW" altLang="en-US" sz="28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138314" y="1479441"/>
            <a:ext cx="35732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4-bit 2’s complement</a:t>
            </a:r>
            <a:endParaRPr lang="zh-TW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241696"/>
              </p:ext>
            </p:extLst>
          </p:nvPr>
        </p:nvGraphicFramePr>
        <p:xfrm>
          <a:off x="4098470" y="4255229"/>
          <a:ext cx="3641272" cy="6729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318">
                  <a:extLst>
                    <a:ext uri="{9D8B030D-6E8A-4147-A177-3AD203B41FA5}">
                      <a16:colId xmlns:a16="http://schemas.microsoft.com/office/drawing/2014/main" val="1222978042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1373503224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779331861"/>
                    </a:ext>
                  </a:extLst>
                </a:gridCol>
                <a:gridCol w="910318">
                  <a:extLst>
                    <a:ext uri="{9D8B030D-6E8A-4147-A177-3AD203B41FA5}">
                      <a16:colId xmlns:a16="http://schemas.microsoft.com/office/drawing/2014/main" val="3713152309"/>
                    </a:ext>
                  </a:extLst>
                </a:gridCol>
              </a:tblGrid>
              <a:tr h="6729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5531474"/>
                  </a:ext>
                </a:extLst>
              </a:tr>
            </a:tbl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5942338"/>
              </p:ext>
            </p:extLst>
          </p:nvPr>
        </p:nvGraphicFramePr>
        <p:xfrm>
          <a:off x="3293541" y="4260343"/>
          <a:ext cx="910318" cy="6729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318">
                  <a:extLst>
                    <a:ext uri="{9D8B030D-6E8A-4147-A177-3AD203B41FA5}">
                      <a16:colId xmlns:a16="http://schemas.microsoft.com/office/drawing/2014/main" val="3901727076"/>
                    </a:ext>
                  </a:extLst>
                </a:gridCol>
              </a:tblGrid>
              <a:tr h="67294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1392111"/>
                  </a:ext>
                </a:extLst>
              </a:tr>
            </a:tbl>
          </a:graphicData>
        </a:graphic>
      </p:graphicFrame>
      <p:cxnSp>
        <p:nvCxnSpPr>
          <p:cNvPr id="11" name="直線接點 10"/>
          <p:cNvCxnSpPr/>
          <p:nvPr/>
        </p:nvCxnSpPr>
        <p:spPr>
          <a:xfrm flipV="1">
            <a:off x="3594821" y="4542717"/>
            <a:ext cx="293914" cy="97972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/>
          <p:cNvSpPr txBox="1"/>
          <p:nvPr/>
        </p:nvSpPr>
        <p:spPr>
          <a:xfrm>
            <a:off x="8319792" y="4255229"/>
            <a:ext cx="6030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- 5</a:t>
            </a:r>
            <a:endParaRPr lang="zh-TW" altLang="en-US" sz="2800" dirty="0"/>
          </a:p>
        </p:txBody>
      </p:sp>
      <p:sp>
        <p:nvSpPr>
          <p:cNvPr id="13" name="矩形 12"/>
          <p:cNvSpPr/>
          <p:nvPr/>
        </p:nvSpPr>
        <p:spPr>
          <a:xfrm rot="1066724">
            <a:off x="8922132" y="3954924"/>
            <a:ext cx="564578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5400" b="1" dirty="0">
                <a:solidFill>
                  <a:srgbClr val="C00000"/>
                </a:solidFill>
                <a:latin typeface="Arial Black" panose="020B0A04020102020204" pitchFamily="34" charset="0"/>
                <a:sym typeface="Symbol" panose="05050102010706020507" pitchFamily="18" charset="2"/>
              </a:rPr>
              <a:t></a:t>
            </a:r>
            <a:endParaRPr lang="zh-TW" altLang="en-US" sz="5400" b="1" dirty="0">
              <a:solidFill>
                <a:srgbClr val="C00000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83029" y="5572830"/>
            <a:ext cx="107061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The </a:t>
            </a:r>
            <a:r>
              <a:rPr lang="en-US" altLang="zh-TW" sz="3200" b="1" dirty="0">
                <a:solidFill>
                  <a:srgbClr val="C00000"/>
                </a:solidFill>
              </a:rPr>
              <a:t>fundamental arithmetic operations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are </a:t>
            </a:r>
            <a:r>
              <a:rPr lang="en-US" altLang="zh-TW" sz="3200" b="1" dirty="0">
                <a:solidFill>
                  <a:srgbClr val="C00000"/>
                </a:solidFill>
              </a:rPr>
              <a:t>identical to those for unsigned binary numbers 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8609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3685935"/>
              </p:ext>
            </p:extLst>
          </p:nvPr>
        </p:nvGraphicFramePr>
        <p:xfrm>
          <a:off x="604158" y="60960"/>
          <a:ext cx="11021784" cy="6797040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2755446">
                  <a:extLst>
                    <a:ext uri="{9D8B030D-6E8A-4147-A177-3AD203B41FA5}">
                      <a16:colId xmlns:a16="http://schemas.microsoft.com/office/drawing/2014/main" val="2166581186"/>
                    </a:ext>
                  </a:extLst>
                </a:gridCol>
                <a:gridCol w="2755446">
                  <a:extLst>
                    <a:ext uri="{9D8B030D-6E8A-4147-A177-3AD203B41FA5}">
                      <a16:colId xmlns:a16="http://schemas.microsoft.com/office/drawing/2014/main" val="2245466469"/>
                    </a:ext>
                  </a:extLst>
                </a:gridCol>
                <a:gridCol w="2755446">
                  <a:extLst>
                    <a:ext uri="{9D8B030D-6E8A-4147-A177-3AD203B41FA5}">
                      <a16:colId xmlns:a16="http://schemas.microsoft.com/office/drawing/2014/main" val="1032822747"/>
                    </a:ext>
                  </a:extLst>
                </a:gridCol>
                <a:gridCol w="2755446">
                  <a:extLst>
                    <a:ext uri="{9D8B030D-6E8A-4147-A177-3AD203B41FA5}">
                      <a16:colId xmlns:a16="http://schemas.microsoft.com/office/drawing/2014/main" val="503865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Binary</a:t>
                      </a:r>
                      <a:endParaRPr lang="zh-TW" altLang="en-US" sz="2400" dirty="0"/>
                    </a:p>
                  </a:txBody>
                  <a:tcPr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Sign</a:t>
                      </a:r>
                      <a:r>
                        <a:rPr lang="en-US" altLang="zh-TW" sz="2400" baseline="0" dirty="0" smtClean="0"/>
                        <a:t> &amp;</a:t>
                      </a:r>
                      <a:r>
                        <a:rPr lang="zh-TW" altLang="en-US" sz="2400" baseline="0" dirty="0" smtClean="0"/>
                        <a:t> </a:t>
                      </a:r>
                      <a:r>
                        <a:rPr lang="en-US" altLang="zh-TW" sz="2400" baseline="0" dirty="0" smtClean="0"/>
                        <a:t>Magnitude</a:t>
                      </a:r>
                      <a:endParaRPr lang="zh-TW" altLang="en-US" sz="2400" dirty="0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1’s complement</a:t>
                      </a:r>
                      <a:endParaRPr lang="zh-TW" altLang="en-US" sz="2400" dirty="0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 smtClean="0"/>
                        <a:t>2’s complement</a:t>
                      </a:r>
                      <a:endParaRPr lang="zh-TW" altLang="en-US" sz="2400" dirty="0" smtClean="0"/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11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</a:rPr>
                        <a:t>0000</a:t>
                      </a:r>
                      <a:endParaRPr lang="zh-TW" altLang="en-US" sz="2000" b="0" dirty="0">
                        <a:latin typeface="+mn-lt"/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</a:rPr>
                        <a:t>+</a:t>
                      </a:r>
                      <a:r>
                        <a:rPr lang="en-US" altLang="zh-TW" sz="2000" b="0" baseline="0" dirty="0" smtClean="0">
                          <a:latin typeface="+mn-lt"/>
                        </a:rPr>
                        <a:t> 0</a:t>
                      </a:r>
                      <a:endParaRPr lang="zh-TW" altLang="en-US" sz="2000" b="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</a:rPr>
                        <a:t>+</a:t>
                      </a:r>
                      <a:r>
                        <a:rPr lang="en-US" altLang="zh-TW" sz="2000" b="0" baseline="0" dirty="0" smtClean="0">
                          <a:latin typeface="+mn-lt"/>
                        </a:rPr>
                        <a:t> 0</a:t>
                      </a:r>
                      <a:endParaRPr lang="zh-TW" altLang="en-US" sz="2000" b="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</a:rPr>
                        <a:t>+</a:t>
                      </a:r>
                      <a:r>
                        <a:rPr lang="en-US" altLang="zh-TW" sz="2000" b="0" baseline="0" dirty="0" smtClean="0">
                          <a:latin typeface="+mn-lt"/>
                        </a:rPr>
                        <a:t> 0</a:t>
                      </a:r>
                      <a:endParaRPr lang="zh-TW" altLang="en-US" sz="2000" b="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23227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</a:rPr>
                        <a:t>0001</a:t>
                      </a:r>
                      <a:endParaRPr lang="zh-TW" altLang="en-US" sz="2000" b="0" dirty="0">
                        <a:latin typeface="+mn-lt"/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</a:rPr>
                        <a:t>+ 1</a:t>
                      </a:r>
                      <a:endParaRPr lang="zh-TW" altLang="en-US" sz="2000" b="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</a:rPr>
                        <a:t>+ 1</a:t>
                      </a:r>
                      <a:endParaRPr lang="zh-TW" altLang="en-US" sz="2000" b="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</a:rPr>
                        <a:t>+ 1</a:t>
                      </a:r>
                      <a:endParaRPr lang="zh-TW" altLang="en-US" sz="2000" b="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551250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</a:rPr>
                        <a:t>0010</a:t>
                      </a:r>
                      <a:endParaRPr lang="zh-TW" altLang="en-US" sz="2000" b="0" dirty="0">
                        <a:latin typeface="+mn-lt"/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</a:rPr>
                        <a:t>+</a:t>
                      </a:r>
                      <a:r>
                        <a:rPr lang="zh-TW" altLang="en-US" sz="2000" b="0" dirty="0" smtClean="0">
                          <a:latin typeface="+mn-lt"/>
                        </a:rPr>
                        <a:t> </a:t>
                      </a:r>
                      <a:r>
                        <a:rPr lang="en-US" altLang="zh-TW" sz="2000" b="0" dirty="0" smtClean="0">
                          <a:latin typeface="+mn-lt"/>
                        </a:rPr>
                        <a:t>2</a:t>
                      </a:r>
                      <a:endParaRPr lang="zh-TW" altLang="en-US" sz="2000" b="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</a:rPr>
                        <a:t>+</a:t>
                      </a:r>
                      <a:r>
                        <a:rPr lang="zh-TW" altLang="en-US" sz="2000" b="0" dirty="0" smtClean="0">
                          <a:latin typeface="+mn-lt"/>
                        </a:rPr>
                        <a:t> </a:t>
                      </a:r>
                      <a:r>
                        <a:rPr lang="en-US" altLang="zh-TW" sz="2000" b="0" dirty="0" smtClean="0">
                          <a:latin typeface="+mn-lt"/>
                        </a:rPr>
                        <a:t>2</a:t>
                      </a:r>
                      <a:endParaRPr lang="zh-TW" altLang="en-US" sz="2000" b="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</a:rPr>
                        <a:t>+</a:t>
                      </a:r>
                      <a:r>
                        <a:rPr lang="zh-TW" altLang="en-US" sz="2000" b="0" dirty="0" smtClean="0">
                          <a:latin typeface="+mn-lt"/>
                        </a:rPr>
                        <a:t> </a:t>
                      </a:r>
                      <a:r>
                        <a:rPr lang="en-US" altLang="zh-TW" sz="2000" b="0" dirty="0" smtClean="0">
                          <a:latin typeface="+mn-lt"/>
                        </a:rPr>
                        <a:t>2</a:t>
                      </a:r>
                      <a:endParaRPr lang="zh-TW" altLang="en-US" sz="2000" b="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000224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</a:rPr>
                        <a:t>0011</a:t>
                      </a:r>
                      <a:endParaRPr lang="zh-TW" altLang="en-US" sz="2000" b="0" dirty="0">
                        <a:latin typeface="+mn-lt"/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</a:rPr>
                        <a:t>+</a:t>
                      </a:r>
                      <a:r>
                        <a:rPr lang="en-US" altLang="zh-TW" sz="2000" b="0" baseline="0" dirty="0" smtClean="0">
                          <a:latin typeface="+mn-lt"/>
                        </a:rPr>
                        <a:t> 3</a:t>
                      </a:r>
                      <a:endParaRPr lang="zh-TW" altLang="en-US" sz="2000" b="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</a:rPr>
                        <a:t>+</a:t>
                      </a:r>
                      <a:r>
                        <a:rPr lang="en-US" altLang="zh-TW" sz="2000" b="0" baseline="0" dirty="0" smtClean="0">
                          <a:latin typeface="+mn-lt"/>
                        </a:rPr>
                        <a:t> 3</a:t>
                      </a:r>
                      <a:endParaRPr lang="zh-TW" altLang="en-US" sz="2000" b="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</a:rPr>
                        <a:t>+</a:t>
                      </a:r>
                      <a:r>
                        <a:rPr lang="en-US" altLang="zh-TW" sz="2000" b="0" baseline="0" dirty="0" smtClean="0">
                          <a:latin typeface="+mn-lt"/>
                        </a:rPr>
                        <a:t> 3</a:t>
                      </a:r>
                      <a:endParaRPr lang="zh-TW" altLang="en-US" sz="2000" b="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252426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</a:rPr>
                        <a:t>0100</a:t>
                      </a:r>
                      <a:endParaRPr lang="zh-TW" altLang="en-US" sz="2000" b="0" dirty="0">
                        <a:latin typeface="+mn-lt"/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</a:rPr>
                        <a:t>+ 4</a:t>
                      </a:r>
                      <a:endParaRPr lang="zh-TW" altLang="en-US" sz="2000" b="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</a:rPr>
                        <a:t>+ 4</a:t>
                      </a:r>
                      <a:endParaRPr lang="zh-TW" altLang="en-US" sz="2000" b="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</a:rPr>
                        <a:t>+ 4</a:t>
                      </a:r>
                      <a:endParaRPr lang="zh-TW" altLang="en-US" sz="2000" b="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50705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</a:rPr>
                        <a:t>0101</a:t>
                      </a:r>
                      <a:endParaRPr lang="zh-TW" altLang="en-US" sz="2000" b="0" dirty="0">
                        <a:latin typeface="+mn-lt"/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</a:rPr>
                        <a:t>+</a:t>
                      </a:r>
                      <a:r>
                        <a:rPr lang="zh-TW" altLang="en-US" sz="2000" b="0" dirty="0" smtClean="0">
                          <a:latin typeface="+mn-lt"/>
                        </a:rPr>
                        <a:t> </a:t>
                      </a:r>
                      <a:r>
                        <a:rPr lang="en-US" altLang="zh-TW" sz="2000" b="0" dirty="0" smtClean="0">
                          <a:latin typeface="+mn-lt"/>
                        </a:rPr>
                        <a:t>5</a:t>
                      </a:r>
                      <a:endParaRPr lang="zh-TW" altLang="en-US" sz="2000" b="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</a:rPr>
                        <a:t>+</a:t>
                      </a:r>
                      <a:r>
                        <a:rPr lang="zh-TW" altLang="en-US" sz="2000" b="0" dirty="0" smtClean="0">
                          <a:latin typeface="+mn-lt"/>
                        </a:rPr>
                        <a:t> </a:t>
                      </a:r>
                      <a:r>
                        <a:rPr lang="en-US" altLang="zh-TW" sz="2000" b="0" dirty="0" smtClean="0">
                          <a:latin typeface="+mn-lt"/>
                        </a:rPr>
                        <a:t>5</a:t>
                      </a:r>
                      <a:endParaRPr lang="zh-TW" altLang="en-US" sz="2000" b="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</a:rPr>
                        <a:t>+</a:t>
                      </a:r>
                      <a:r>
                        <a:rPr lang="zh-TW" altLang="en-US" sz="2000" b="0" dirty="0" smtClean="0">
                          <a:latin typeface="+mn-lt"/>
                        </a:rPr>
                        <a:t> </a:t>
                      </a:r>
                      <a:r>
                        <a:rPr lang="en-US" altLang="zh-TW" sz="2000" b="0" dirty="0" smtClean="0">
                          <a:latin typeface="+mn-lt"/>
                        </a:rPr>
                        <a:t>5</a:t>
                      </a:r>
                      <a:endParaRPr lang="zh-TW" altLang="en-US" sz="2000" b="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551420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</a:rPr>
                        <a:t>0110</a:t>
                      </a:r>
                      <a:endParaRPr lang="zh-TW" altLang="en-US" sz="2000" b="0" dirty="0">
                        <a:latin typeface="+mn-lt"/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</a:rPr>
                        <a:t>+</a:t>
                      </a:r>
                      <a:r>
                        <a:rPr lang="en-US" altLang="zh-TW" sz="2000" b="0" baseline="0" dirty="0" smtClean="0">
                          <a:latin typeface="+mn-lt"/>
                        </a:rPr>
                        <a:t> 6</a:t>
                      </a:r>
                      <a:endParaRPr lang="zh-TW" altLang="en-US" sz="2000" b="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</a:rPr>
                        <a:t>+</a:t>
                      </a:r>
                      <a:r>
                        <a:rPr lang="en-US" altLang="zh-TW" sz="2000" b="0" baseline="0" dirty="0" smtClean="0">
                          <a:latin typeface="+mn-lt"/>
                        </a:rPr>
                        <a:t> 6</a:t>
                      </a:r>
                      <a:endParaRPr lang="zh-TW" altLang="en-US" sz="2000" b="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</a:rPr>
                        <a:t>+</a:t>
                      </a:r>
                      <a:r>
                        <a:rPr lang="en-US" altLang="zh-TW" sz="2000" b="0" baseline="0" dirty="0" smtClean="0">
                          <a:latin typeface="+mn-lt"/>
                        </a:rPr>
                        <a:t> 6</a:t>
                      </a:r>
                      <a:endParaRPr lang="zh-TW" altLang="en-US" sz="2000" b="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503239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</a:rPr>
                        <a:t>0111</a:t>
                      </a:r>
                      <a:endParaRPr lang="zh-TW" altLang="en-US" sz="2000" b="0" dirty="0">
                        <a:latin typeface="+mn-lt"/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</a:rPr>
                        <a:t>+ 7</a:t>
                      </a:r>
                      <a:endParaRPr lang="zh-TW" altLang="en-US" sz="2000" b="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</a:rPr>
                        <a:t>+ 7</a:t>
                      </a:r>
                      <a:endParaRPr lang="zh-TW" altLang="en-US" sz="2000" b="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</a:rPr>
                        <a:t>+ 7</a:t>
                      </a:r>
                      <a:endParaRPr lang="zh-TW" altLang="en-US" sz="2000" b="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15922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</a:rPr>
                        <a:t>1000</a:t>
                      </a:r>
                      <a:endParaRPr lang="zh-TW" altLang="en-US" sz="2000" b="0" dirty="0">
                        <a:latin typeface="+mn-lt"/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baseline="0" dirty="0" smtClean="0">
                          <a:latin typeface="+mn-lt"/>
                        </a:rPr>
                        <a:t>- 0</a:t>
                      </a:r>
                      <a:endParaRPr lang="zh-TW" altLang="en-US" sz="2000" b="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altLang="zh-TW" sz="2000" b="0" dirty="0" smtClean="0">
                          <a:latin typeface="+mn-lt"/>
                        </a:rPr>
                        <a:t>- 7</a:t>
                      </a:r>
                      <a:endParaRPr lang="zh-TW" altLang="en-US" sz="2000" b="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</a:rPr>
                        <a:t>- 8</a:t>
                      </a:r>
                      <a:endParaRPr lang="zh-TW" altLang="en-US" sz="2000" b="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488055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</a:rPr>
                        <a:t>1001</a:t>
                      </a:r>
                      <a:endParaRPr lang="zh-TW" altLang="en-US" sz="2000" b="0" dirty="0">
                        <a:latin typeface="+mn-lt"/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</a:rPr>
                        <a:t>- 1</a:t>
                      </a:r>
                      <a:endParaRPr lang="zh-TW" altLang="en-US" sz="2000" b="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</a:rPr>
                        <a:t>- 6</a:t>
                      </a:r>
                      <a:endParaRPr lang="zh-TW" altLang="en-US" sz="2000" b="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altLang="zh-TW" sz="2000" b="0" dirty="0" smtClean="0">
                          <a:latin typeface="+mn-lt"/>
                        </a:rPr>
                        <a:t>- 7</a:t>
                      </a:r>
                      <a:endParaRPr lang="zh-TW" altLang="en-US" sz="2000" b="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443782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</a:rPr>
                        <a:t>1010</a:t>
                      </a:r>
                      <a:endParaRPr lang="zh-TW" altLang="en-US" sz="2000" b="0" dirty="0">
                        <a:latin typeface="+mn-lt"/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</a:rPr>
                        <a:t>-</a:t>
                      </a:r>
                      <a:r>
                        <a:rPr lang="zh-TW" altLang="en-US" sz="2000" b="0" dirty="0" smtClean="0">
                          <a:latin typeface="+mn-lt"/>
                        </a:rPr>
                        <a:t> </a:t>
                      </a:r>
                      <a:r>
                        <a:rPr lang="en-US" altLang="zh-TW" sz="2000" b="0" dirty="0" smtClean="0">
                          <a:latin typeface="+mn-lt"/>
                        </a:rPr>
                        <a:t>2</a:t>
                      </a:r>
                      <a:endParaRPr lang="zh-TW" altLang="en-US" sz="2000" b="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</a:rPr>
                        <a:t>-</a:t>
                      </a:r>
                      <a:r>
                        <a:rPr lang="zh-TW" altLang="en-US" sz="2000" b="0" dirty="0" smtClean="0">
                          <a:latin typeface="+mn-lt"/>
                        </a:rPr>
                        <a:t> </a:t>
                      </a:r>
                      <a:r>
                        <a:rPr lang="en-US" altLang="zh-TW" sz="2000" b="0" dirty="0" smtClean="0">
                          <a:latin typeface="+mn-lt"/>
                        </a:rPr>
                        <a:t>5</a:t>
                      </a:r>
                      <a:endParaRPr lang="zh-TW" altLang="en-US" sz="2000" b="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</a:rPr>
                        <a:t>- 6</a:t>
                      </a:r>
                      <a:endParaRPr lang="zh-TW" altLang="en-US" sz="2000" b="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090649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</a:rPr>
                        <a:t>1011</a:t>
                      </a:r>
                      <a:endParaRPr lang="zh-TW" altLang="en-US" sz="2000" b="0" dirty="0">
                        <a:latin typeface="+mn-lt"/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</a:rPr>
                        <a:t>-</a:t>
                      </a:r>
                      <a:r>
                        <a:rPr lang="en-US" altLang="zh-TW" sz="2000" b="0" baseline="0" dirty="0" smtClean="0">
                          <a:latin typeface="+mn-lt"/>
                        </a:rPr>
                        <a:t> 3</a:t>
                      </a:r>
                      <a:endParaRPr lang="zh-TW" altLang="en-US" sz="2000" b="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</a:rPr>
                        <a:t>-</a:t>
                      </a:r>
                      <a:r>
                        <a:rPr lang="en-US" altLang="zh-TW" sz="2000" b="0" baseline="0" dirty="0" smtClean="0">
                          <a:latin typeface="+mn-lt"/>
                        </a:rPr>
                        <a:t> 4</a:t>
                      </a:r>
                      <a:endParaRPr lang="zh-TW" altLang="en-US" sz="2000" b="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</a:rPr>
                        <a:t>-</a:t>
                      </a:r>
                      <a:r>
                        <a:rPr lang="zh-TW" altLang="en-US" sz="2000" b="0" dirty="0" smtClean="0">
                          <a:latin typeface="+mn-lt"/>
                        </a:rPr>
                        <a:t> </a:t>
                      </a:r>
                      <a:r>
                        <a:rPr lang="en-US" altLang="zh-TW" sz="2000" b="0" dirty="0" smtClean="0">
                          <a:latin typeface="+mn-lt"/>
                        </a:rPr>
                        <a:t>5</a:t>
                      </a:r>
                      <a:endParaRPr lang="zh-TW" altLang="en-US" sz="2000" b="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88389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</a:rPr>
                        <a:t>1100</a:t>
                      </a:r>
                      <a:endParaRPr lang="zh-TW" altLang="en-US" sz="2000" b="0" dirty="0">
                        <a:latin typeface="+mn-lt"/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</a:rPr>
                        <a:t>- 4</a:t>
                      </a:r>
                      <a:endParaRPr lang="zh-TW" altLang="en-US" sz="2000" b="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</a:rPr>
                        <a:t>- 3</a:t>
                      </a:r>
                      <a:endParaRPr lang="zh-TW" altLang="en-US" sz="2000" b="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</a:rPr>
                        <a:t>-</a:t>
                      </a:r>
                      <a:r>
                        <a:rPr lang="en-US" altLang="zh-TW" sz="2000" b="0" baseline="0" dirty="0" smtClean="0">
                          <a:latin typeface="+mn-lt"/>
                        </a:rPr>
                        <a:t> 4</a:t>
                      </a:r>
                      <a:endParaRPr lang="zh-TW" altLang="en-US" sz="2000" b="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609385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</a:rPr>
                        <a:t>1101</a:t>
                      </a:r>
                      <a:endParaRPr lang="zh-TW" altLang="en-US" sz="2000" b="0" dirty="0">
                        <a:latin typeface="+mn-lt"/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</a:rPr>
                        <a:t>-</a:t>
                      </a:r>
                      <a:r>
                        <a:rPr lang="zh-TW" altLang="en-US" sz="2000" b="0" dirty="0" smtClean="0">
                          <a:latin typeface="+mn-lt"/>
                        </a:rPr>
                        <a:t> </a:t>
                      </a:r>
                      <a:r>
                        <a:rPr lang="en-US" altLang="zh-TW" sz="2000" b="0" dirty="0" smtClean="0">
                          <a:latin typeface="+mn-lt"/>
                        </a:rPr>
                        <a:t>5</a:t>
                      </a:r>
                      <a:endParaRPr lang="zh-TW" altLang="en-US" sz="2000" b="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</a:rPr>
                        <a:t>-</a:t>
                      </a:r>
                      <a:r>
                        <a:rPr lang="zh-TW" altLang="en-US" sz="2000" b="0" dirty="0" smtClean="0">
                          <a:latin typeface="+mn-lt"/>
                        </a:rPr>
                        <a:t> </a:t>
                      </a:r>
                      <a:r>
                        <a:rPr lang="en-US" altLang="zh-TW" sz="2000" b="0" dirty="0" smtClean="0">
                          <a:latin typeface="+mn-lt"/>
                        </a:rPr>
                        <a:t>2</a:t>
                      </a:r>
                      <a:endParaRPr lang="zh-TW" altLang="en-US" sz="2000" b="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</a:rPr>
                        <a:t>- 3</a:t>
                      </a:r>
                      <a:endParaRPr lang="zh-TW" altLang="en-US" sz="2000" b="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80296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</a:rPr>
                        <a:t>1110</a:t>
                      </a:r>
                      <a:endParaRPr lang="zh-TW" altLang="en-US" sz="2000" b="0" dirty="0">
                        <a:latin typeface="+mn-lt"/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</a:rPr>
                        <a:t>-</a:t>
                      </a:r>
                      <a:r>
                        <a:rPr lang="en-US" altLang="zh-TW" sz="2000" b="0" baseline="0" dirty="0" smtClean="0">
                          <a:latin typeface="+mn-lt"/>
                        </a:rPr>
                        <a:t> 6</a:t>
                      </a:r>
                      <a:endParaRPr lang="zh-TW" altLang="en-US" sz="2000" b="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</a:rPr>
                        <a:t>-</a:t>
                      </a:r>
                      <a:r>
                        <a:rPr lang="en-US" altLang="zh-TW" sz="2000" b="0" baseline="0" dirty="0" smtClean="0">
                          <a:latin typeface="+mn-lt"/>
                        </a:rPr>
                        <a:t> 1</a:t>
                      </a:r>
                      <a:endParaRPr lang="zh-TW" altLang="en-US" sz="2000" b="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</a:rPr>
                        <a:t>-</a:t>
                      </a:r>
                      <a:r>
                        <a:rPr lang="zh-TW" altLang="en-US" sz="2000" b="0" dirty="0" smtClean="0">
                          <a:latin typeface="+mn-lt"/>
                        </a:rPr>
                        <a:t> </a:t>
                      </a:r>
                      <a:r>
                        <a:rPr lang="en-US" altLang="zh-TW" sz="2000" b="0" dirty="0" smtClean="0">
                          <a:latin typeface="+mn-lt"/>
                        </a:rPr>
                        <a:t>2</a:t>
                      </a:r>
                      <a:endParaRPr lang="zh-TW" altLang="en-US" sz="2000" b="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757595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</a:rPr>
                        <a:t>1111</a:t>
                      </a:r>
                      <a:endParaRPr lang="zh-TW" altLang="en-US" sz="2000" b="0" dirty="0">
                        <a:latin typeface="+mn-lt"/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</a:rPr>
                        <a:t>- 7</a:t>
                      </a:r>
                      <a:endParaRPr lang="zh-TW" altLang="en-US" sz="2000" b="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</a:rPr>
                        <a:t>- 0</a:t>
                      </a:r>
                      <a:endParaRPr lang="zh-TW" altLang="en-US" sz="2000" b="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latin typeface="+mn-lt"/>
                        </a:rPr>
                        <a:t>-</a:t>
                      </a:r>
                      <a:r>
                        <a:rPr lang="en-US" altLang="zh-TW" sz="2000" b="0" baseline="0" dirty="0" smtClean="0">
                          <a:latin typeface="+mn-lt"/>
                        </a:rPr>
                        <a:t> 1</a:t>
                      </a:r>
                      <a:endParaRPr lang="zh-TW" altLang="en-US" sz="2000" b="0" dirty="0"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9229166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8376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字方塊 14"/>
          <p:cNvSpPr txBox="1"/>
          <p:nvPr/>
        </p:nvSpPr>
        <p:spPr>
          <a:xfrm>
            <a:off x="0" y="2993590"/>
            <a:ext cx="12192000" cy="584775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bg1"/>
                </a:solidFill>
              </a:rPr>
              <a:t>Modern computer use 2’s complement to represent signed integer</a:t>
            </a:r>
            <a:r>
              <a:rPr lang="zh-TW" altLang="en-US" sz="3200" b="1" dirty="0" smtClean="0">
                <a:solidFill>
                  <a:schemeClr val="bg1"/>
                </a:solidFill>
              </a:rPr>
              <a:t> 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8680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330330"/>
            <a:ext cx="12192000" cy="64633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chemeClr val="bg1"/>
                </a:solidFill>
              </a:rPr>
              <a:t>Exercise-1</a:t>
            </a:r>
            <a:endParaRPr lang="zh-TW" altLang="en-US" sz="3600" b="1" dirty="0">
              <a:solidFill>
                <a:schemeClr val="bg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790575" y="1672127"/>
            <a:ext cx="1061085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TW" sz="2800" dirty="0"/>
              <a:t>What unsigned binary number is represented by the string of bits 11001?</a:t>
            </a:r>
          </a:p>
        </p:txBody>
      </p:sp>
    </p:spTree>
    <p:extLst>
      <p:ext uri="{BB962C8B-B14F-4D97-AF65-F5344CB8AC3E}">
        <p14:creationId xmlns:p14="http://schemas.microsoft.com/office/powerpoint/2010/main" val="3837794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330330"/>
            <a:ext cx="12192000" cy="64633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chemeClr val="bg1"/>
                </a:solidFill>
              </a:rPr>
              <a:t>Exercise-1</a:t>
            </a:r>
            <a:endParaRPr lang="zh-TW" altLang="en-US" sz="3600" b="1" dirty="0">
              <a:solidFill>
                <a:schemeClr val="bg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790575" y="1672127"/>
            <a:ext cx="1061085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TW" sz="2800" dirty="0"/>
              <a:t>What unsigned binary number is represented by the string of bits 11001?</a:t>
            </a:r>
          </a:p>
        </p:txBody>
      </p:sp>
      <p:sp>
        <p:nvSpPr>
          <p:cNvPr id="2" name="矩形 1"/>
          <p:cNvSpPr/>
          <p:nvPr/>
        </p:nvSpPr>
        <p:spPr>
          <a:xfrm>
            <a:off x="2975392" y="4064484"/>
            <a:ext cx="3291286" cy="4801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TW" sz="2800" dirty="0" smtClean="0"/>
              <a:t>= 16 + 8 + 1 = 25</a:t>
            </a:r>
            <a:r>
              <a:rPr lang="en-US" altLang="zh-TW" sz="2800" baseline="-25000" dirty="0" smtClean="0"/>
              <a:t>10</a:t>
            </a:r>
            <a:endParaRPr lang="zh-TW" altLang="en-US" sz="2800" baseline="-25000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0730399"/>
              </p:ext>
            </p:extLst>
          </p:nvPr>
        </p:nvGraphicFramePr>
        <p:xfrm>
          <a:off x="2975392" y="2767693"/>
          <a:ext cx="5601570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0314">
                  <a:extLst>
                    <a:ext uri="{9D8B030D-6E8A-4147-A177-3AD203B41FA5}">
                      <a16:colId xmlns:a16="http://schemas.microsoft.com/office/drawing/2014/main" val="1996584680"/>
                    </a:ext>
                  </a:extLst>
                </a:gridCol>
                <a:gridCol w="1120314">
                  <a:extLst>
                    <a:ext uri="{9D8B030D-6E8A-4147-A177-3AD203B41FA5}">
                      <a16:colId xmlns:a16="http://schemas.microsoft.com/office/drawing/2014/main" val="3573336874"/>
                    </a:ext>
                  </a:extLst>
                </a:gridCol>
                <a:gridCol w="1120314">
                  <a:extLst>
                    <a:ext uri="{9D8B030D-6E8A-4147-A177-3AD203B41FA5}">
                      <a16:colId xmlns:a16="http://schemas.microsoft.com/office/drawing/2014/main" val="1366693460"/>
                    </a:ext>
                  </a:extLst>
                </a:gridCol>
                <a:gridCol w="1120314">
                  <a:extLst>
                    <a:ext uri="{9D8B030D-6E8A-4147-A177-3AD203B41FA5}">
                      <a16:colId xmlns:a16="http://schemas.microsoft.com/office/drawing/2014/main" val="364232813"/>
                    </a:ext>
                  </a:extLst>
                </a:gridCol>
                <a:gridCol w="1120314">
                  <a:extLst>
                    <a:ext uri="{9D8B030D-6E8A-4147-A177-3AD203B41FA5}">
                      <a16:colId xmlns:a16="http://schemas.microsoft.com/office/drawing/2014/main" val="11239548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zh-TW" alt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zh-TW" alt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8787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1176971"/>
                  </a:ext>
                </a:extLst>
              </a:tr>
            </a:tbl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8678635" y="2762633"/>
            <a:ext cx="12057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weight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1725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330330"/>
            <a:ext cx="12192000" cy="64633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chemeClr val="bg1"/>
                </a:solidFill>
              </a:rPr>
              <a:t>Exercise-2</a:t>
            </a:r>
            <a:endParaRPr lang="zh-TW" altLang="en-US" sz="3600" b="1" dirty="0">
              <a:solidFill>
                <a:schemeClr val="bg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94014" y="1574155"/>
            <a:ext cx="978081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800" dirty="0"/>
              <a:t>What decimal number does the signed-magnitude binary </a:t>
            </a:r>
            <a:r>
              <a:rPr lang="en-US" altLang="zh-TW" sz="2800" dirty="0" smtClean="0"/>
              <a:t>number </a:t>
            </a:r>
          </a:p>
          <a:p>
            <a:pPr>
              <a:lnSpc>
                <a:spcPct val="150000"/>
              </a:lnSpc>
            </a:pPr>
            <a:r>
              <a:rPr lang="en-US" altLang="zh-TW" sz="2800" dirty="0" smtClean="0"/>
              <a:t>N </a:t>
            </a:r>
            <a:r>
              <a:rPr lang="en-US" altLang="zh-TW" sz="2800" dirty="0"/>
              <a:t>= 10011 represent?</a:t>
            </a:r>
          </a:p>
        </p:txBody>
      </p:sp>
    </p:spTree>
    <p:extLst>
      <p:ext uri="{BB962C8B-B14F-4D97-AF65-F5344CB8AC3E}">
        <p14:creationId xmlns:p14="http://schemas.microsoft.com/office/powerpoint/2010/main" val="691962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330330"/>
            <a:ext cx="12192000" cy="64633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chemeClr val="bg1"/>
                </a:solidFill>
              </a:rPr>
              <a:t>Exercise-2</a:t>
            </a:r>
            <a:endParaRPr lang="zh-TW" altLang="en-US" sz="3600" b="1" dirty="0">
              <a:solidFill>
                <a:schemeClr val="bg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94014" y="1574155"/>
            <a:ext cx="978081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800" dirty="0"/>
              <a:t>What decimal number does the signed-magnitude binary </a:t>
            </a:r>
            <a:r>
              <a:rPr lang="en-US" altLang="zh-TW" sz="2800" dirty="0" smtClean="0"/>
              <a:t>number </a:t>
            </a:r>
          </a:p>
          <a:p>
            <a:pPr>
              <a:lnSpc>
                <a:spcPct val="150000"/>
              </a:lnSpc>
            </a:pPr>
            <a:r>
              <a:rPr lang="en-US" altLang="zh-TW" sz="2800" dirty="0" smtClean="0"/>
              <a:t>N </a:t>
            </a:r>
            <a:r>
              <a:rPr lang="en-US" altLang="zh-TW" sz="2800" dirty="0"/>
              <a:t>= 10011 represent?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3976721"/>
              </p:ext>
            </p:extLst>
          </p:nvPr>
        </p:nvGraphicFramePr>
        <p:xfrm>
          <a:off x="2491921" y="3201610"/>
          <a:ext cx="675005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0010">
                  <a:extLst>
                    <a:ext uri="{9D8B030D-6E8A-4147-A177-3AD203B41FA5}">
                      <a16:colId xmlns:a16="http://schemas.microsoft.com/office/drawing/2014/main" val="3778276687"/>
                    </a:ext>
                  </a:extLst>
                </a:gridCol>
                <a:gridCol w="1350010">
                  <a:extLst>
                    <a:ext uri="{9D8B030D-6E8A-4147-A177-3AD203B41FA5}">
                      <a16:colId xmlns:a16="http://schemas.microsoft.com/office/drawing/2014/main" val="4219742866"/>
                    </a:ext>
                  </a:extLst>
                </a:gridCol>
                <a:gridCol w="1350010">
                  <a:extLst>
                    <a:ext uri="{9D8B030D-6E8A-4147-A177-3AD203B41FA5}">
                      <a16:colId xmlns:a16="http://schemas.microsoft.com/office/drawing/2014/main" val="3505332574"/>
                    </a:ext>
                  </a:extLst>
                </a:gridCol>
                <a:gridCol w="1350010">
                  <a:extLst>
                    <a:ext uri="{9D8B030D-6E8A-4147-A177-3AD203B41FA5}">
                      <a16:colId xmlns:a16="http://schemas.microsoft.com/office/drawing/2014/main" val="2931766156"/>
                    </a:ext>
                  </a:extLst>
                </a:gridCol>
                <a:gridCol w="1350010">
                  <a:extLst>
                    <a:ext uri="{9D8B030D-6E8A-4147-A177-3AD203B41FA5}">
                      <a16:colId xmlns:a16="http://schemas.microsoft.com/office/drawing/2014/main" val="36952993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 smtClean="0">
                          <a:solidFill>
                            <a:schemeClr val="tx1"/>
                          </a:solidFill>
                        </a:rPr>
                        <a:t>Sign</a:t>
                      </a:r>
                      <a:endParaRPr lang="zh-TW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sz="2800" b="1" dirty="0" smtClean="0">
                          <a:solidFill>
                            <a:schemeClr val="tx1"/>
                          </a:solidFill>
                        </a:rPr>
                        <a:t>Magnitude</a:t>
                      </a:r>
                      <a:endParaRPr lang="zh-TW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0473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800" b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8</a:t>
                      </a:r>
                      <a:endParaRPr lang="zh-TW" altLang="en-US" sz="2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239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0</a:t>
                      </a:r>
                      <a:endParaRPr lang="zh-TW" altLang="en-US" sz="2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5977282"/>
                  </a:ext>
                </a:extLst>
              </a:tr>
            </a:tbl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9313635" y="3660090"/>
            <a:ext cx="12057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weight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2491921" y="4998550"/>
            <a:ext cx="26292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= ­­- (2 + 1)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=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- 3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328760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330330"/>
            <a:ext cx="12192000" cy="64633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chemeClr val="bg1"/>
                </a:solidFill>
              </a:rPr>
              <a:t>Exercise-3</a:t>
            </a:r>
            <a:endParaRPr lang="zh-TW" altLang="en-US" sz="36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933450" y="1324857"/>
            <a:ext cx="1045572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800" dirty="0"/>
              <a:t>Represent </a:t>
            </a:r>
            <a:r>
              <a:rPr lang="en-US" altLang="zh-TW" sz="2800" dirty="0" smtClean="0"/>
              <a:t>−105</a:t>
            </a:r>
            <a:r>
              <a:rPr lang="en-US" altLang="zh-TW" sz="2800" baseline="-25000" dirty="0" smtClean="0"/>
              <a:t>10</a:t>
            </a:r>
            <a:r>
              <a:rPr lang="en-US" altLang="zh-TW" sz="2800" dirty="0" smtClean="0"/>
              <a:t> </a:t>
            </a:r>
            <a:r>
              <a:rPr lang="en-US" altLang="zh-TW" sz="2800" dirty="0"/>
              <a:t>three ways with 8 bits: </a:t>
            </a:r>
            <a:endParaRPr lang="en-US" altLang="zh-TW" sz="2800" dirty="0" smtClean="0"/>
          </a:p>
          <a:p>
            <a:pPr marL="514350" indent="-514350">
              <a:lnSpc>
                <a:spcPct val="150000"/>
              </a:lnSpc>
              <a:buAutoNum type="alphaLcParenBoth"/>
            </a:pPr>
            <a:r>
              <a:rPr lang="en-US" altLang="zh-TW" sz="2800" dirty="0" smtClean="0"/>
              <a:t>signed-magnitude </a:t>
            </a:r>
          </a:p>
          <a:p>
            <a:pPr marL="514350" indent="-514350">
              <a:lnSpc>
                <a:spcPct val="150000"/>
              </a:lnSpc>
              <a:buAutoNum type="alphaLcParenBoth"/>
            </a:pPr>
            <a:r>
              <a:rPr lang="en-US" altLang="zh-TW" sz="2800" dirty="0" smtClean="0"/>
              <a:t>signed </a:t>
            </a:r>
            <a:r>
              <a:rPr lang="en-US" altLang="zh-TW" sz="2800" dirty="0"/>
              <a:t>1’s complement, and </a:t>
            </a:r>
            <a:endParaRPr lang="en-US" altLang="zh-TW" sz="2800" dirty="0" smtClean="0"/>
          </a:p>
          <a:p>
            <a:pPr marL="514350" indent="-514350">
              <a:lnSpc>
                <a:spcPct val="150000"/>
              </a:lnSpc>
              <a:buAutoNum type="alphaLcParenBoth"/>
            </a:pPr>
            <a:r>
              <a:rPr lang="en-US" altLang="zh-TW" sz="2800" dirty="0" smtClean="0"/>
              <a:t>signed </a:t>
            </a:r>
            <a:r>
              <a:rPr lang="en-US" altLang="zh-TW" sz="2800" dirty="0"/>
              <a:t>2’s complement</a:t>
            </a:r>
            <a:r>
              <a:rPr lang="en-US" altLang="zh-TW" sz="2800" dirty="0" smtClean="0"/>
              <a:t>.</a:t>
            </a:r>
            <a:endParaRPr lang="en-US" altLang="zh-TW" sz="2800" dirty="0"/>
          </a:p>
        </p:txBody>
      </p:sp>
    </p:spTree>
    <p:extLst>
      <p:ext uri="{BB962C8B-B14F-4D97-AF65-F5344CB8AC3E}">
        <p14:creationId xmlns:p14="http://schemas.microsoft.com/office/powerpoint/2010/main" val="3785211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330330"/>
            <a:ext cx="12192000" cy="64633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chemeClr val="bg1"/>
                </a:solidFill>
              </a:rPr>
              <a:t>Exercise-3</a:t>
            </a:r>
            <a:endParaRPr lang="zh-TW" altLang="en-US" sz="3600" b="1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401774" y="1200150"/>
            <a:ext cx="69509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solidFill>
                  <a:srgbClr val="C00000"/>
                </a:solidFill>
              </a:rPr>
              <a:t>Convert 105</a:t>
            </a:r>
            <a:r>
              <a:rPr lang="en-US" altLang="zh-TW" sz="2800" baseline="-25000" dirty="0" smtClean="0">
                <a:solidFill>
                  <a:srgbClr val="C00000"/>
                </a:solidFill>
              </a:rPr>
              <a:t>10</a:t>
            </a:r>
            <a:r>
              <a:rPr lang="en-US" altLang="zh-TW" sz="2800" dirty="0" smtClean="0">
                <a:solidFill>
                  <a:srgbClr val="C00000"/>
                </a:solidFill>
              </a:rPr>
              <a:t> to 8-bit unsigned binary number</a:t>
            </a:r>
            <a:endParaRPr lang="zh-TW" altLang="en-US" sz="2800" dirty="0">
              <a:solidFill>
                <a:srgbClr val="C00000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4806958"/>
              </p:ext>
            </p:extLst>
          </p:nvPr>
        </p:nvGraphicFramePr>
        <p:xfrm>
          <a:off x="2089151" y="1946859"/>
          <a:ext cx="4744358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2179">
                  <a:extLst>
                    <a:ext uri="{9D8B030D-6E8A-4147-A177-3AD203B41FA5}">
                      <a16:colId xmlns:a16="http://schemas.microsoft.com/office/drawing/2014/main" val="3415059840"/>
                    </a:ext>
                  </a:extLst>
                </a:gridCol>
                <a:gridCol w="2372179">
                  <a:extLst>
                    <a:ext uri="{9D8B030D-6E8A-4147-A177-3AD203B41FA5}">
                      <a16:colId xmlns:a16="http://schemas.microsoft.com/office/drawing/2014/main" val="42079569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Integer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Remainder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2749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105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9413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52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129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26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9190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5195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2685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0595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6822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9272433"/>
                  </a:ext>
                </a:extLst>
              </a:tr>
            </a:tbl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7307036" y="2612571"/>
            <a:ext cx="32031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105</a:t>
            </a:r>
            <a:r>
              <a:rPr lang="en-US" altLang="zh-TW" sz="2800" baseline="-25000" dirty="0" smtClean="0"/>
              <a:t>10</a:t>
            </a:r>
            <a:r>
              <a:rPr lang="en-US" altLang="zh-TW" sz="2800" dirty="0" smtClean="0"/>
              <a:t> = 01101001</a:t>
            </a:r>
            <a:r>
              <a:rPr lang="en-US" altLang="zh-TW" sz="2800" baseline="-25000" dirty="0" smtClean="0"/>
              <a:t>2</a:t>
            </a:r>
            <a:endParaRPr lang="zh-TW" altLang="en-US" sz="2800" baseline="-25000" dirty="0"/>
          </a:p>
        </p:txBody>
      </p:sp>
    </p:spTree>
    <p:extLst>
      <p:ext uri="{BB962C8B-B14F-4D97-AF65-F5344CB8AC3E}">
        <p14:creationId xmlns:p14="http://schemas.microsoft.com/office/powerpoint/2010/main" val="3536996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330330"/>
            <a:ext cx="12192000" cy="64633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chemeClr val="bg1"/>
                </a:solidFill>
              </a:rPr>
              <a:t>Exercise-3</a:t>
            </a:r>
            <a:endParaRPr lang="zh-TW" altLang="en-US" sz="3600" b="1" dirty="0">
              <a:solidFill>
                <a:schemeClr val="bg1"/>
              </a:solidFill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0081438"/>
              </p:ext>
            </p:extLst>
          </p:nvPr>
        </p:nvGraphicFramePr>
        <p:xfrm>
          <a:off x="4735286" y="1503437"/>
          <a:ext cx="6486072" cy="5213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759">
                  <a:extLst>
                    <a:ext uri="{9D8B030D-6E8A-4147-A177-3AD203B41FA5}">
                      <a16:colId xmlns:a16="http://schemas.microsoft.com/office/drawing/2014/main" val="1683219853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4141276022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17023227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113527454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82961093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200551687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677041019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209627546"/>
                    </a:ext>
                  </a:extLst>
                </a:gridCol>
              </a:tblGrid>
              <a:tr h="5213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2158765"/>
                  </a:ext>
                </a:extLst>
              </a:tr>
            </a:tbl>
          </a:graphicData>
        </a:graphic>
      </p:graphicFrame>
      <p:sp>
        <p:nvSpPr>
          <p:cNvPr id="15" name="文字方塊 14"/>
          <p:cNvSpPr txBox="1"/>
          <p:nvPr/>
        </p:nvSpPr>
        <p:spPr>
          <a:xfrm>
            <a:off x="2310494" y="1503437"/>
            <a:ext cx="22605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Unsigned 105</a:t>
            </a:r>
            <a:endParaRPr lang="zh-TW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683301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330330"/>
            <a:ext cx="12192000" cy="64633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chemeClr val="bg1"/>
                </a:solidFill>
              </a:rPr>
              <a:t>Exercise-3</a:t>
            </a:r>
            <a:endParaRPr lang="zh-TW" altLang="en-US" sz="3600" b="1" dirty="0">
              <a:solidFill>
                <a:schemeClr val="bg1"/>
              </a:solidFill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6755733"/>
              </p:ext>
            </p:extLst>
          </p:nvPr>
        </p:nvGraphicFramePr>
        <p:xfrm>
          <a:off x="4735286" y="1503437"/>
          <a:ext cx="6486072" cy="5213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759">
                  <a:extLst>
                    <a:ext uri="{9D8B030D-6E8A-4147-A177-3AD203B41FA5}">
                      <a16:colId xmlns:a16="http://schemas.microsoft.com/office/drawing/2014/main" val="1683219853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4141276022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17023227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113527454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82961093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200551687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677041019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209627546"/>
                    </a:ext>
                  </a:extLst>
                </a:gridCol>
              </a:tblGrid>
              <a:tr h="5213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2158765"/>
                  </a:ext>
                </a:extLst>
              </a:tr>
            </a:tbl>
          </a:graphicData>
        </a:graphic>
      </p:graphicFrame>
      <p:sp>
        <p:nvSpPr>
          <p:cNvPr id="18" name="文字方塊 17"/>
          <p:cNvSpPr txBox="1"/>
          <p:nvPr/>
        </p:nvSpPr>
        <p:spPr>
          <a:xfrm>
            <a:off x="2310494" y="1503437"/>
            <a:ext cx="22605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Unsigned 105</a:t>
            </a:r>
            <a:endParaRPr lang="zh-TW" altLang="en-US" sz="2800" b="1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383941" y="2813129"/>
            <a:ext cx="42346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(a) Sign &amp; Magnitude - 105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3437059"/>
              </p:ext>
            </p:extLst>
          </p:nvPr>
        </p:nvGraphicFramePr>
        <p:xfrm>
          <a:off x="4735286" y="2815043"/>
          <a:ext cx="6486072" cy="5213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759">
                  <a:extLst>
                    <a:ext uri="{9D8B030D-6E8A-4147-A177-3AD203B41FA5}">
                      <a16:colId xmlns:a16="http://schemas.microsoft.com/office/drawing/2014/main" val="1683219853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4141276022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17023227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113527454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82961093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200551687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677041019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209627546"/>
                    </a:ext>
                  </a:extLst>
                </a:gridCol>
              </a:tblGrid>
              <a:tr h="521306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21587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3907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330330"/>
            <a:ext cx="12192000" cy="64633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chemeClr val="bg1"/>
                </a:solidFill>
              </a:rPr>
              <a:t>Exercise-3</a:t>
            </a:r>
            <a:endParaRPr lang="zh-TW" altLang="en-US" sz="3600" b="1" dirty="0">
              <a:solidFill>
                <a:schemeClr val="bg1"/>
              </a:solidFill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4419571"/>
              </p:ext>
            </p:extLst>
          </p:nvPr>
        </p:nvGraphicFramePr>
        <p:xfrm>
          <a:off x="4735286" y="1503437"/>
          <a:ext cx="6486072" cy="5213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759">
                  <a:extLst>
                    <a:ext uri="{9D8B030D-6E8A-4147-A177-3AD203B41FA5}">
                      <a16:colId xmlns:a16="http://schemas.microsoft.com/office/drawing/2014/main" val="1683219853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4141276022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17023227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113527454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82961093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200551687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677041019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209627546"/>
                    </a:ext>
                  </a:extLst>
                </a:gridCol>
              </a:tblGrid>
              <a:tr h="5213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2158765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1960683"/>
              </p:ext>
            </p:extLst>
          </p:nvPr>
        </p:nvGraphicFramePr>
        <p:xfrm>
          <a:off x="4735286" y="2815043"/>
          <a:ext cx="6486072" cy="5213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759">
                  <a:extLst>
                    <a:ext uri="{9D8B030D-6E8A-4147-A177-3AD203B41FA5}">
                      <a16:colId xmlns:a16="http://schemas.microsoft.com/office/drawing/2014/main" val="1683219853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4141276022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17023227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113527454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82961093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200551687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677041019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209627546"/>
                    </a:ext>
                  </a:extLst>
                </a:gridCol>
              </a:tblGrid>
              <a:tr h="521306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2158765"/>
                  </a:ext>
                </a:extLst>
              </a:tr>
            </a:tbl>
          </a:graphicData>
        </a:graphic>
      </p:graphicFrame>
      <p:sp>
        <p:nvSpPr>
          <p:cNvPr id="2" name="右大括弧 1"/>
          <p:cNvSpPr/>
          <p:nvPr/>
        </p:nvSpPr>
        <p:spPr>
          <a:xfrm rot="5400000">
            <a:off x="8284482" y="712562"/>
            <a:ext cx="212269" cy="5661480"/>
          </a:xfrm>
          <a:prstGeom prst="rightBrace">
            <a:avLst>
              <a:gd name="adj1" fmla="val 43815"/>
              <a:gd name="adj2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7785418" y="3750255"/>
            <a:ext cx="15581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b="1" dirty="0">
                <a:solidFill>
                  <a:srgbClr val="C00000"/>
                </a:solidFill>
              </a:rPr>
              <a:t>Magnitude</a:t>
            </a:r>
            <a:endParaRPr lang="zh-TW" altLang="en-US" sz="2400" b="1" dirty="0"/>
          </a:p>
        </p:txBody>
      </p:sp>
      <p:sp>
        <p:nvSpPr>
          <p:cNvPr id="16" name="手繪多邊形 15"/>
          <p:cNvSpPr/>
          <p:nvPr/>
        </p:nvSpPr>
        <p:spPr>
          <a:xfrm>
            <a:off x="11221357" y="2016579"/>
            <a:ext cx="122562" cy="800100"/>
          </a:xfrm>
          <a:custGeom>
            <a:avLst/>
            <a:gdLst>
              <a:gd name="connsiteX0" fmla="*/ 0 w 122562"/>
              <a:gd name="connsiteY0" fmla="*/ 0 h 800100"/>
              <a:gd name="connsiteX1" fmla="*/ 122464 w 122562"/>
              <a:gd name="connsiteY1" fmla="*/ 195942 h 800100"/>
              <a:gd name="connsiteX2" fmla="*/ 16329 w 122562"/>
              <a:gd name="connsiteY2" fmla="*/ 80010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2562" h="800100">
                <a:moveTo>
                  <a:pt x="0" y="0"/>
                </a:moveTo>
                <a:cubicBezTo>
                  <a:pt x="59871" y="31296"/>
                  <a:pt x="119743" y="62592"/>
                  <a:pt x="122464" y="195942"/>
                </a:cubicBezTo>
                <a:cubicBezTo>
                  <a:pt x="125186" y="329292"/>
                  <a:pt x="70757" y="564696"/>
                  <a:pt x="16329" y="800100"/>
                </a:cubicBezTo>
              </a:path>
            </a:pathLst>
          </a:cu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手繪多邊形 5"/>
          <p:cNvSpPr/>
          <p:nvPr/>
        </p:nvSpPr>
        <p:spPr>
          <a:xfrm>
            <a:off x="4735286" y="2016579"/>
            <a:ext cx="843494" cy="800100"/>
          </a:xfrm>
          <a:custGeom>
            <a:avLst/>
            <a:gdLst>
              <a:gd name="connsiteX0" fmla="*/ 0 w 843494"/>
              <a:gd name="connsiteY0" fmla="*/ 0 h 800100"/>
              <a:gd name="connsiteX1" fmla="*/ 742950 w 843494"/>
              <a:gd name="connsiteY1" fmla="*/ 261257 h 800100"/>
              <a:gd name="connsiteX2" fmla="*/ 816428 w 843494"/>
              <a:gd name="connsiteY2" fmla="*/ 80010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43494" h="800100">
                <a:moveTo>
                  <a:pt x="0" y="0"/>
                </a:moveTo>
                <a:cubicBezTo>
                  <a:pt x="303439" y="63953"/>
                  <a:pt x="606879" y="127907"/>
                  <a:pt x="742950" y="261257"/>
                </a:cubicBezTo>
                <a:cubicBezTo>
                  <a:pt x="879021" y="394607"/>
                  <a:pt x="847724" y="597353"/>
                  <a:pt x="816428" y="800100"/>
                </a:cubicBezTo>
              </a:path>
            </a:pathLst>
          </a:cu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2310494" y="1503437"/>
            <a:ext cx="22605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Unsigned 105</a:t>
            </a:r>
            <a:endParaRPr lang="zh-TW" altLang="en-US" sz="2800" b="1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383941" y="2813129"/>
            <a:ext cx="42346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(a) Sign &amp; Magnitude - 105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9926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330330"/>
            <a:ext cx="12192000" cy="64633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chemeClr val="bg1"/>
                </a:solidFill>
              </a:rPr>
              <a:t>Exercise-3</a:t>
            </a:r>
            <a:endParaRPr lang="zh-TW" altLang="en-US" sz="3600" b="1" dirty="0">
              <a:solidFill>
                <a:schemeClr val="bg1"/>
              </a:solidFill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4419571"/>
              </p:ext>
            </p:extLst>
          </p:nvPr>
        </p:nvGraphicFramePr>
        <p:xfrm>
          <a:off x="4735286" y="1503437"/>
          <a:ext cx="6486072" cy="5213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759">
                  <a:extLst>
                    <a:ext uri="{9D8B030D-6E8A-4147-A177-3AD203B41FA5}">
                      <a16:colId xmlns:a16="http://schemas.microsoft.com/office/drawing/2014/main" val="1683219853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4141276022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17023227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113527454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82961093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200551687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677041019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209627546"/>
                    </a:ext>
                  </a:extLst>
                </a:gridCol>
              </a:tblGrid>
              <a:tr h="5213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2158765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2310494" y="1503437"/>
            <a:ext cx="22605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Unsigned 105</a:t>
            </a:r>
            <a:endParaRPr lang="zh-TW" altLang="en-US" sz="2800" b="1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3007713"/>
              </p:ext>
            </p:extLst>
          </p:nvPr>
        </p:nvGraphicFramePr>
        <p:xfrm>
          <a:off x="4735286" y="2815043"/>
          <a:ext cx="6486072" cy="5213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759">
                  <a:extLst>
                    <a:ext uri="{9D8B030D-6E8A-4147-A177-3AD203B41FA5}">
                      <a16:colId xmlns:a16="http://schemas.microsoft.com/office/drawing/2014/main" val="1683219853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4141276022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17023227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113527454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82961093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200551687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677041019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209627546"/>
                    </a:ext>
                  </a:extLst>
                </a:gridCol>
              </a:tblGrid>
              <a:tr h="5213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2158765"/>
                  </a:ext>
                </a:extLst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4790276" y="3664984"/>
            <a:ext cx="7377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Sign</a:t>
            </a:r>
            <a:endParaRPr lang="zh-TW" altLang="en-US" sz="2400" b="1" dirty="0"/>
          </a:p>
        </p:txBody>
      </p:sp>
      <p:sp>
        <p:nvSpPr>
          <p:cNvPr id="11" name="右大括弧 10"/>
          <p:cNvSpPr/>
          <p:nvPr/>
        </p:nvSpPr>
        <p:spPr>
          <a:xfrm rot="5400000">
            <a:off x="5061820" y="3137168"/>
            <a:ext cx="167365" cy="820434"/>
          </a:xfrm>
          <a:prstGeom prst="rightBrace">
            <a:avLst>
              <a:gd name="adj1" fmla="val 43815"/>
              <a:gd name="adj2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383941" y="2813129"/>
            <a:ext cx="42346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(a) Sign &amp; Magnitude - 105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7963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330330"/>
            <a:ext cx="12192000" cy="64633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chemeClr val="bg1"/>
                </a:solidFill>
              </a:rPr>
              <a:t>Exercise-3</a:t>
            </a:r>
            <a:endParaRPr lang="zh-TW" altLang="en-US" sz="3600" b="1" dirty="0">
              <a:solidFill>
                <a:schemeClr val="bg1"/>
              </a:solidFill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1871762"/>
              </p:ext>
            </p:extLst>
          </p:nvPr>
        </p:nvGraphicFramePr>
        <p:xfrm>
          <a:off x="4735286" y="2815043"/>
          <a:ext cx="6486072" cy="5213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759">
                  <a:extLst>
                    <a:ext uri="{9D8B030D-6E8A-4147-A177-3AD203B41FA5}">
                      <a16:colId xmlns:a16="http://schemas.microsoft.com/office/drawing/2014/main" val="1683219853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4141276022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17023227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113527454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82961093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200551687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677041019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209627546"/>
                    </a:ext>
                  </a:extLst>
                </a:gridCol>
              </a:tblGrid>
              <a:tr h="5213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2158765"/>
                  </a:ext>
                </a:extLst>
              </a:tr>
            </a:tbl>
          </a:graphicData>
        </a:graphic>
      </p:graphicFrame>
      <p:sp>
        <p:nvSpPr>
          <p:cNvPr id="12" name="文字方塊 11"/>
          <p:cNvSpPr txBox="1"/>
          <p:nvPr/>
        </p:nvSpPr>
        <p:spPr>
          <a:xfrm>
            <a:off x="383941" y="2813129"/>
            <a:ext cx="42346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(a) Sign &amp; Magnitude - 105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924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330330"/>
            <a:ext cx="12192000" cy="64633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chemeClr val="bg1"/>
                </a:solidFill>
              </a:rPr>
              <a:t>Exercise-3</a:t>
            </a:r>
            <a:endParaRPr lang="zh-TW" altLang="en-US" sz="3600" b="1" dirty="0">
              <a:solidFill>
                <a:schemeClr val="bg1"/>
              </a:solidFill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5077642"/>
              </p:ext>
            </p:extLst>
          </p:nvPr>
        </p:nvGraphicFramePr>
        <p:xfrm>
          <a:off x="4735286" y="1503437"/>
          <a:ext cx="6486072" cy="5213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759">
                  <a:extLst>
                    <a:ext uri="{9D8B030D-6E8A-4147-A177-3AD203B41FA5}">
                      <a16:colId xmlns:a16="http://schemas.microsoft.com/office/drawing/2014/main" val="1683219853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4141276022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17023227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113527454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82961093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200551687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677041019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209627546"/>
                    </a:ext>
                  </a:extLst>
                </a:gridCol>
              </a:tblGrid>
              <a:tr h="5213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2158765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2300857" y="1503437"/>
            <a:ext cx="22605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Unsigned 105</a:t>
            </a:r>
            <a:endParaRPr lang="zh-TW" altLang="en-US" sz="2800" b="1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2931261"/>
              </p:ext>
            </p:extLst>
          </p:nvPr>
        </p:nvGraphicFramePr>
        <p:xfrm>
          <a:off x="4735286" y="2823208"/>
          <a:ext cx="6486072" cy="5213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759">
                  <a:extLst>
                    <a:ext uri="{9D8B030D-6E8A-4147-A177-3AD203B41FA5}">
                      <a16:colId xmlns:a16="http://schemas.microsoft.com/office/drawing/2014/main" val="1683219853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4141276022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17023227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113527454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82961093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200551687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677041019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209627546"/>
                    </a:ext>
                  </a:extLst>
                </a:gridCol>
              </a:tblGrid>
              <a:tr h="521306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2158765"/>
                  </a:ext>
                </a:extLst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674001" y="2821294"/>
            <a:ext cx="38874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(b) 1’s complement - 105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5821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330330"/>
            <a:ext cx="12192000" cy="64633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chemeClr val="bg1"/>
                </a:solidFill>
              </a:rPr>
              <a:t>Exercise-3</a:t>
            </a:r>
            <a:endParaRPr lang="zh-TW" altLang="en-US" sz="3600" b="1" dirty="0">
              <a:solidFill>
                <a:schemeClr val="bg1"/>
              </a:solidFill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5077642"/>
              </p:ext>
            </p:extLst>
          </p:nvPr>
        </p:nvGraphicFramePr>
        <p:xfrm>
          <a:off x="4735286" y="1503437"/>
          <a:ext cx="6486072" cy="5213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759">
                  <a:extLst>
                    <a:ext uri="{9D8B030D-6E8A-4147-A177-3AD203B41FA5}">
                      <a16:colId xmlns:a16="http://schemas.microsoft.com/office/drawing/2014/main" val="1683219853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4141276022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17023227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113527454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82961093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200551687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677041019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209627546"/>
                    </a:ext>
                  </a:extLst>
                </a:gridCol>
              </a:tblGrid>
              <a:tr h="5213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2158765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2300857" y="1503437"/>
            <a:ext cx="22605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Unsigned 105</a:t>
            </a:r>
            <a:endParaRPr lang="zh-TW" altLang="en-US" sz="2800" b="1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5924495"/>
              </p:ext>
            </p:extLst>
          </p:nvPr>
        </p:nvGraphicFramePr>
        <p:xfrm>
          <a:off x="4735286" y="2823208"/>
          <a:ext cx="6486072" cy="5213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759">
                  <a:extLst>
                    <a:ext uri="{9D8B030D-6E8A-4147-A177-3AD203B41FA5}">
                      <a16:colId xmlns:a16="http://schemas.microsoft.com/office/drawing/2014/main" val="1683219853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4141276022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17023227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113527454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82961093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200551687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677041019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209627546"/>
                    </a:ext>
                  </a:extLst>
                </a:gridCol>
              </a:tblGrid>
              <a:tr h="5213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2158765"/>
                  </a:ext>
                </a:extLst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674001" y="2821294"/>
            <a:ext cx="38874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(b) 1’s complement - 105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9195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330330"/>
            <a:ext cx="12192000" cy="64633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chemeClr val="bg1"/>
                </a:solidFill>
              </a:rPr>
              <a:t>Exercise-3</a:t>
            </a:r>
            <a:endParaRPr lang="zh-TW" altLang="en-US" sz="3600" b="1" dirty="0">
              <a:solidFill>
                <a:schemeClr val="bg1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4194978"/>
              </p:ext>
            </p:extLst>
          </p:nvPr>
        </p:nvGraphicFramePr>
        <p:xfrm>
          <a:off x="4735286" y="2823208"/>
          <a:ext cx="6486072" cy="5213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759">
                  <a:extLst>
                    <a:ext uri="{9D8B030D-6E8A-4147-A177-3AD203B41FA5}">
                      <a16:colId xmlns:a16="http://schemas.microsoft.com/office/drawing/2014/main" val="1683219853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4141276022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17023227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113527454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82961093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200551687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677041019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209627546"/>
                    </a:ext>
                  </a:extLst>
                </a:gridCol>
              </a:tblGrid>
              <a:tr h="5213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2158765"/>
                  </a:ext>
                </a:extLst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674001" y="2821294"/>
            <a:ext cx="38874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(b) 1’s complement - 105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3741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330330"/>
            <a:ext cx="12192000" cy="64633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chemeClr val="bg1"/>
                </a:solidFill>
              </a:rPr>
              <a:t>Exercise-3</a:t>
            </a:r>
            <a:endParaRPr lang="zh-TW" altLang="en-US" sz="3600" b="1" dirty="0">
              <a:solidFill>
                <a:schemeClr val="bg1"/>
              </a:solidFill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5077642"/>
              </p:ext>
            </p:extLst>
          </p:nvPr>
        </p:nvGraphicFramePr>
        <p:xfrm>
          <a:off x="4735286" y="1503437"/>
          <a:ext cx="6486072" cy="5213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759">
                  <a:extLst>
                    <a:ext uri="{9D8B030D-6E8A-4147-A177-3AD203B41FA5}">
                      <a16:colId xmlns:a16="http://schemas.microsoft.com/office/drawing/2014/main" val="1683219853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4141276022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17023227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113527454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82961093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200551687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677041019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209627546"/>
                    </a:ext>
                  </a:extLst>
                </a:gridCol>
              </a:tblGrid>
              <a:tr h="5213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2158765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2300857" y="1503437"/>
            <a:ext cx="22605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Unsigned 105</a:t>
            </a:r>
            <a:endParaRPr lang="zh-TW" altLang="en-US" sz="2800" b="1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2931261"/>
              </p:ext>
            </p:extLst>
          </p:nvPr>
        </p:nvGraphicFramePr>
        <p:xfrm>
          <a:off x="4735286" y="2823208"/>
          <a:ext cx="6486072" cy="5213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759">
                  <a:extLst>
                    <a:ext uri="{9D8B030D-6E8A-4147-A177-3AD203B41FA5}">
                      <a16:colId xmlns:a16="http://schemas.microsoft.com/office/drawing/2014/main" val="1683219853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4141276022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17023227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113527454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82961093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200551687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677041019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209627546"/>
                    </a:ext>
                  </a:extLst>
                </a:gridCol>
              </a:tblGrid>
              <a:tr h="521306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2158765"/>
                  </a:ext>
                </a:extLst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674001" y="2828529"/>
            <a:ext cx="38874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(c) 2’s complement - 105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5507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330330"/>
            <a:ext cx="12192000" cy="64633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chemeClr val="bg1"/>
                </a:solidFill>
              </a:rPr>
              <a:t>Exercise-3</a:t>
            </a:r>
            <a:endParaRPr lang="zh-TW" altLang="en-US" sz="3600" b="1" dirty="0">
              <a:solidFill>
                <a:schemeClr val="bg1"/>
              </a:solidFill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5077642"/>
              </p:ext>
            </p:extLst>
          </p:nvPr>
        </p:nvGraphicFramePr>
        <p:xfrm>
          <a:off x="4735286" y="1503437"/>
          <a:ext cx="6486072" cy="5213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759">
                  <a:extLst>
                    <a:ext uri="{9D8B030D-6E8A-4147-A177-3AD203B41FA5}">
                      <a16:colId xmlns:a16="http://schemas.microsoft.com/office/drawing/2014/main" val="1683219853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4141276022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17023227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113527454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82961093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200551687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677041019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209627546"/>
                    </a:ext>
                  </a:extLst>
                </a:gridCol>
              </a:tblGrid>
              <a:tr h="5213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2158765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2300857" y="1503437"/>
            <a:ext cx="22605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Unsigned 105</a:t>
            </a:r>
            <a:endParaRPr lang="zh-TW" altLang="en-US" sz="2800" b="1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9787804"/>
              </p:ext>
            </p:extLst>
          </p:nvPr>
        </p:nvGraphicFramePr>
        <p:xfrm>
          <a:off x="4735286" y="2823208"/>
          <a:ext cx="6486072" cy="5213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759">
                  <a:extLst>
                    <a:ext uri="{9D8B030D-6E8A-4147-A177-3AD203B41FA5}">
                      <a16:colId xmlns:a16="http://schemas.microsoft.com/office/drawing/2014/main" val="1683219853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4141276022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17023227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113527454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82961093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200551687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677041019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209627546"/>
                    </a:ext>
                  </a:extLst>
                </a:gridCol>
              </a:tblGrid>
              <a:tr h="5213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2158765"/>
                  </a:ext>
                </a:extLst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674001" y="2828529"/>
            <a:ext cx="38874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(c) 2’s complement - 105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5905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330330"/>
            <a:ext cx="12192000" cy="64633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chemeClr val="bg1"/>
                </a:solidFill>
              </a:rPr>
              <a:t>Exercise-3</a:t>
            </a:r>
            <a:endParaRPr lang="zh-TW" altLang="en-US" sz="3600" b="1" dirty="0">
              <a:solidFill>
                <a:schemeClr val="bg1"/>
              </a:solidFill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5077642"/>
              </p:ext>
            </p:extLst>
          </p:nvPr>
        </p:nvGraphicFramePr>
        <p:xfrm>
          <a:off x="4735286" y="1503437"/>
          <a:ext cx="6486072" cy="5213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759">
                  <a:extLst>
                    <a:ext uri="{9D8B030D-6E8A-4147-A177-3AD203B41FA5}">
                      <a16:colId xmlns:a16="http://schemas.microsoft.com/office/drawing/2014/main" val="1683219853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4141276022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17023227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113527454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82961093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200551687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677041019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209627546"/>
                    </a:ext>
                  </a:extLst>
                </a:gridCol>
              </a:tblGrid>
              <a:tr h="5213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2158765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2300857" y="1503437"/>
            <a:ext cx="22605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Unsigned 105</a:t>
            </a:r>
            <a:endParaRPr lang="zh-TW" altLang="en-US" sz="2800" b="1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7482925"/>
              </p:ext>
            </p:extLst>
          </p:nvPr>
        </p:nvGraphicFramePr>
        <p:xfrm>
          <a:off x="4735286" y="2823208"/>
          <a:ext cx="6486072" cy="5213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759">
                  <a:extLst>
                    <a:ext uri="{9D8B030D-6E8A-4147-A177-3AD203B41FA5}">
                      <a16:colId xmlns:a16="http://schemas.microsoft.com/office/drawing/2014/main" val="1683219853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4141276022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17023227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113527454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82961093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200551687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677041019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209627546"/>
                    </a:ext>
                  </a:extLst>
                </a:gridCol>
              </a:tblGrid>
              <a:tr h="5213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2158765"/>
                  </a:ext>
                </a:extLst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674001" y="2828529"/>
            <a:ext cx="38874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(c) 2’s complement - 105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8362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330330"/>
            <a:ext cx="12192000" cy="64633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chemeClr val="bg1"/>
                </a:solidFill>
              </a:rPr>
              <a:t>Exercise-3</a:t>
            </a:r>
            <a:endParaRPr lang="zh-TW" altLang="en-US" sz="3600" b="1" dirty="0">
              <a:solidFill>
                <a:schemeClr val="bg1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1207617"/>
              </p:ext>
            </p:extLst>
          </p:nvPr>
        </p:nvGraphicFramePr>
        <p:xfrm>
          <a:off x="4735286" y="2823208"/>
          <a:ext cx="6486072" cy="5213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759">
                  <a:extLst>
                    <a:ext uri="{9D8B030D-6E8A-4147-A177-3AD203B41FA5}">
                      <a16:colId xmlns:a16="http://schemas.microsoft.com/office/drawing/2014/main" val="1683219853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4141276022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17023227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113527454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82961093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200551687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677041019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209627546"/>
                    </a:ext>
                  </a:extLst>
                </a:gridCol>
              </a:tblGrid>
              <a:tr h="5213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2158765"/>
                  </a:ext>
                </a:extLst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674001" y="2828529"/>
            <a:ext cx="38874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(c) 2’s complement - 105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0478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0" y="330330"/>
            <a:ext cx="12192000" cy="64633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chemeClr val="bg1"/>
                </a:solidFill>
              </a:rPr>
              <a:t>Exercise-3</a:t>
            </a:r>
            <a:endParaRPr lang="zh-TW" altLang="en-US" sz="3600" b="1" dirty="0">
              <a:solidFill>
                <a:schemeClr val="bg1"/>
              </a:solidFill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2688607"/>
              </p:ext>
            </p:extLst>
          </p:nvPr>
        </p:nvGraphicFramePr>
        <p:xfrm>
          <a:off x="4661807" y="2462316"/>
          <a:ext cx="6486072" cy="5213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759">
                  <a:extLst>
                    <a:ext uri="{9D8B030D-6E8A-4147-A177-3AD203B41FA5}">
                      <a16:colId xmlns:a16="http://schemas.microsoft.com/office/drawing/2014/main" val="1683219853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4141276022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17023227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113527454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82961093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200551687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677041019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209627546"/>
                    </a:ext>
                  </a:extLst>
                </a:gridCol>
              </a:tblGrid>
              <a:tr h="5213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2158765"/>
                  </a:ext>
                </a:extLst>
              </a:tr>
            </a:tbl>
          </a:graphicData>
        </a:graphic>
      </p:graphicFrame>
      <p:sp>
        <p:nvSpPr>
          <p:cNvPr id="10" name="文字方塊 9"/>
          <p:cNvSpPr txBox="1"/>
          <p:nvPr/>
        </p:nvSpPr>
        <p:spPr>
          <a:xfrm>
            <a:off x="772705" y="2462316"/>
            <a:ext cx="37248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Sign &amp; Magnitude - 105</a:t>
            </a:r>
            <a:endParaRPr lang="zh-TW" altLang="en-US" sz="2800" b="1" dirty="0"/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0643188"/>
              </p:ext>
            </p:extLst>
          </p:nvPr>
        </p:nvGraphicFramePr>
        <p:xfrm>
          <a:off x="4661807" y="3443773"/>
          <a:ext cx="6486072" cy="5213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759">
                  <a:extLst>
                    <a:ext uri="{9D8B030D-6E8A-4147-A177-3AD203B41FA5}">
                      <a16:colId xmlns:a16="http://schemas.microsoft.com/office/drawing/2014/main" val="1683219853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4141276022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17023227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113527454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82961093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200551687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677041019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209627546"/>
                    </a:ext>
                  </a:extLst>
                </a:gridCol>
              </a:tblGrid>
              <a:tr h="5213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2158765"/>
                  </a:ext>
                </a:extLst>
              </a:tr>
            </a:tbl>
          </a:graphicData>
        </a:graphic>
      </p:graphicFrame>
      <p:sp>
        <p:nvSpPr>
          <p:cNvPr id="12" name="文字方塊 11"/>
          <p:cNvSpPr txBox="1"/>
          <p:nvPr/>
        </p:nvSpPr>
        <p:spPr>
          <a:xfrm>
            <a:off x="1121518" y="3460101"/>
            <a:ext cx="33760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1’s complement - 105</a:t>
            </a:r>
            <a:endParaRPr lang="zh-TW" altLang="en-US" sz="2800" b="1" dirty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6972893"/>
              </p:ext>
            </p:extLst>
          </p:nvPr>
        </p:nvGraphicFramePr>
        <p:xfrm>
          <a:off x="4661807" y="4459802"/>
          <a:ext cx="6486072" cy="5213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759">
                  <a:extLst>
                    <a:ext uri="{9D8B030D-6E8A-4147-A177-3AD203B41FA5}">
                      <a16:colId xmlns:a16="http://schemas.microsoft.com/office/drawing/2014/main" val="1683219853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4141276022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17023227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113527454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82961093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200551687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677041019"/>
                    </a:ext>
                  </a:extLst>
                </a:gridCol>
                <a:gridCol w="810759">
                  <a:extLst>
                    <a:ext uri="{9D8B030D-6E8A-4147-A177-3AD203B41FA5}">
                      <a16:colId xmlns:a16="http://schemas.microsoft.com/office/drawing/2014/main" val="2209627546"/>
                    </a:ext>
                  </a:extLst>
                </a:gridCol>
              </a:tblGrid>
              <a:tr h="52130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2158765"/>
                  </a:ext>
                </a:extLst>
              </a:tr>
            </a:tbl>
          </a:graphicData>
        </a:graphic>
      </p:graphicFrame>
      <p:sp>
        <p:nvSpPr>
          <p:cNvPr id="14" name="文字方塊 13"/>
          <p:cNvSpPr txBox="1"/>
          <p:nvPr/>
        </p:nvSpPr>
        <p:spPr>
          <a:xfrm>
            <a:off x="1121518" y="4476130"/>
            <a:ext cx="33760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2’s complement - 105</a:t>
            </a:r>
            <a:endParaRPr lang="zh-TW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758062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3"/>
          <p:cNvSpPr txBox="1">
            <a:spLocks/>
          </p:cNvSpPr>
          <p:nvPr/>
        </p:nvSpPr>
        <p:spPr>
          <a:xfrm>
            <a:off x="0" y="2116476"/>
            <a:ext cx="12192000" cy="1385297"/>
          </a:xfrm>
          <a:prstGeom prst="rect">
            <a:avLst/>
          </a:prstGeom>
          <a:solidFill>
            <a:srgbClr val="FF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4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Lecture 2</a:t>
            </a:r>
          </a:p>
          <a:p>
            <a:r>
              <a:rPr lang="en-US" altLang="zh-TW" sz="44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Binary Numbers</a:t>
            </a:r>
            <a:endParaRPr lang="en-US" altLang="zh-TW" sz="4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副標題 4"/>
          <p:cNvSpPr>
            <a:spLocks noGrp="1"/>
          </p:cNvSpPr>
          <p:nvPr>
            <p:ph type="subTitle" idx="1"/>
          </p:nvPr>
        </p:nvSpPr>
        <p:spPr>
          <a:xfrm>
            <a:off x="0" y="3598523"/>
            <a:ext cx="12191999" cy="726897"/>
          </a:xfrm>
          <a:solidFill>
            <a:schemeClr val="tx1">
              <a:lumMod val="75000"/>
              <a:lumOff val="25000"/>
            </a:schemeClr>
          </a:solidFill>
        </p:spPr>
        <p:txBody>
          <a:bodyPr anchor="ctr">
            <a:normAutofit fontScale="92500" lnSpcReduction="10000"/>
          </a:bodyPr>
          <a:lstStyle/>
          <a:p>
            <a:r>
              <a:rPr lang="en-US" altLang="zh-TW" sz="4000" b="1" dirty="0" smtClean="0">
                <a:solidFill>
                  <a:schemeClr val="bg1"/>
                </a:solidFill>
                <a:latin typeface="Tw Cen MT" panose="020B0602020104020603" pitchFamily="34" charset="0"/>
                <a:ea typeface="微軟正黑體" panose="020B0604030504040204" pitchFamily="34" charset="-120"/>
              </a:rPr>
              <a:t>Decimal fraction to non-decimal fraction</a:t>
            </a:r>
          </a:p>
        </p:txBody>
      </p:sp>
    </p:spTree>
    <p:extLst>
      <p:ext uri="{BB962C8B-B14F-4D97-AF65-F5344CB8AC3E}">
        <p14:creationId xmlns:p14="http://schemas.microsoft.com/office/powerpoint/2010/main" val="2388453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Fraction to non-Decimal fraction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310566"/>
              </p:ext>
            </p:extLst>
          </p:nvPr>
        </p:nvGraphicFramePr>
        <p:xfrm>
          <a:off x="5142588" y="1551214"/>
          <a:ext cx="5903688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3050371001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435187969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1064515611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751047414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237878856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671459792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063890325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889604387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8608722"/>
                  </a:ext>
                </a:extLst>
              </a:tr>
            </a:tbl>
          </a:graphicData>
        </a:graphic>
      </p:graphicFrame>
      <p:sp>
        <p:nvSpPr>
          <p:cNvPr id="17" name="文字方塊 16"/>
          <p:cNvSpPr txBox="1"/>
          <p:nvPr/>
        </p:nvSpPr>
        <p:spPr>
          <a:xfrm>
            <a:off x="5142588" y="947058"/>
            <a:ext cx="45720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Corresponding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binary number </a:t>
            </a:r>
            <a:endParaRPr lang="zh-TW" altLang="en-US" sz="2800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750203" y="943539"/>
            <a:ext cx="24641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Decimal number</a:t>
            </a:r>
            <a:endParaRPr lang="zh-TW" altLang="en-US" sz="2800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7659160"/>
              </p:ext>
            </p:extLst>
          </p:nvPr>
        </p:nvGraphicFramePr>
        <p:xfrm>
          <a:off x="875329" y="1547695"/>
          <a:ext cx="2213883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296065546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190084816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1864883564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7482970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5575961"/>
              </p:ext>
            </p:extLst>
          </p:nvPr>
        </p:nvGraphicFramePr>
        <p:xfrm>
          <a:off x="3089212" y="1550134"/>
          <a:ext cx="737961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490329387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659499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4142848"/>
              </p:ext>
            </p:extLst>
          </p:nvPr>
        </p:nvGraphicFramePr>
        <p:xfrm>
          <a:off x="11046276" y="1547695"/>
          <a:ext cx="737961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490329387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6594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380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Fraction to non-Decimal fraction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6241665"/>
              </p:ext>
            </p:extLst>
          </p:nvPr>
        </p:nvGraphicFramePr>
        <p:xfrm>
          <a:off x="5142588" y="1551214"/>
          <a:ext cx="5903688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3050371001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435187969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1064515611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751047414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237878856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671459792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063890325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889604387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8608722"/>
                  </a:ext>
                </a:extLst>
              </a:tr>
            </a:tbl>
          </a:graphicData>
        </a:graphic>
      </p:graphicFrame>
      <p:sp>
        <p:nvSpPr>
          <p:cNvPr id="17" name="文字方塊 16"/>
          <p:cNvSpPr txBox="1"/>
          <p:nvPr/>
        </p:nvSpPr>
        <p:spPr>
          <a:xfrm>
            <a:off x="5142588" y="947058"/>
            <a:ext cx="45720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Corresponding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binary number </a:t>
            </a:r>
            <a:endParaRPr lang="zh-TW" altLang="en-US" sz="2800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750203" y="943539"/>
            <a:ext cx="24641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Decimal number</a:t>
            </a:r>
            <a:endParaRPr lang="zh-TW" altLang="en-US" sz="2800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344356"/>
              </p:ext>
            </p:extLst>
          </p:nvPr>
        </p:nvGraphicFramePr>
        <p:xfrm>
          <a:off x="875329" y="1547695"/>
          <a:ext cx="2213883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296065546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190084816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1864883564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7482970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6682778"/>
              </p:ext>
            </p:extLst>
          </p:nvPr>
        </p:nvGraphicFramePr>
        <p:xfrm>
          <a:off x="3089212" y="1550134"/>
          <a:ext cx="737961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490329387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659499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4716121"/>
              </p:ext>
            </p:extLst>
          </p:nvPr>
        </p:nvGraphicFramePr>
        <p:xfrm>
          <a:off x="11046276" y="1547695"/>
          <a:ext cx="737961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490329387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6594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8841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Fraction to non-Decimal fraction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905169"/>
              </p:ext>
            </p:extLst>
          </p:nvPr>
        </p:nvGraphicFramePr>
        <p:xfrm>
          <a:off x="5142588" y="1551214"/>
          <a:ext cx="5903688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3050371001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435187969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1064515611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751047414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237878856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671459792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063890325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889604387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8608722"/>
                  </a:ext>
                </a:extLst>
              </a:tr>
            </a:tbl>
          </a:graphicData>
        </a:graphic>
      </p:graphicFrame>
      <p:sp>
        <p:nvSpPr>
          <p:cNvPr id="17" name="文字方塊 16"/>
          <p:cNvSpPr txBox="1"/>
          <p:nvPr/>
        </p:nvSpPr>
        <p:spPr>
          <a:xfrm>
            <a:off x="5142588" y="947058"/>
            <a:ext cx="45720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Corresponding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binary number </a:t>
            </a:r>
            <a:endParaRPr lang="zh-TW" altLang="en-US" sz="2800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750203" y="943539"/>
            <a:ext cx="24641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Decimal number</a:t>
            </a:r>
            <a:endParaRPr lang="zh-TW" altLang="en-US" sz="2800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344356"/>
              </p:ext>
            </p:extLst>
          </p:nvPr>
        </p:nvGraphicFramePr>
        <p:xfrm>
          <a:off x="875329" y="1547695"/>
          <a:ext cx="2213883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296065546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190084816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1864883564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7482970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104124"/>
              </p:ext>
            </p:extLst>
          </p:nvPr>
        </p:nvGraphicFramePr>
        <p:xfrm>
          <a:off x="3089212" y="1550134"/>
          <a:ext cx="737961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490329387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=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659499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5028113"/>
              </p:ext>
            </p:extLst>
          </p:nvPr>
        </p:nvGraphicFramePr>
        <p:xfrm>
          <a:off x="11046276" y="1547695"/>
          <a:ext cx="737961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490329387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=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659499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7870576"/>
              </p:ext>
            </p:extLst>
          </p:nvPr>
        </p:nvGraphicFramePr>
        <p:xfrm>
          <a:off x="5142588" y="2792186"/>
          <a:ext cx="5903688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3050371001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435187969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1064515611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751047414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237878856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671459792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063890325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889604387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8608722"/>
                  </a:ext>
                </a:extLst>
              </a:tr>
            </a:tbl>
          </a:graphicData>
        </a:graphic>
      </p:graphicFrame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9206073"/>
              </p:ext>
            </p:extLst>
          </p:nvPr>
        </p:nvGraphicFramePr>
        <p:xfrm>
          <a:off x="875329" y="2788667"/>
          <a:ext cx="2213883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296065546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190084816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1864883564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7482970"/>
                  </a:ext>
                </a:extLst>
              </a:tr>
            </a:tbl>
          </a:graphicData>
        </a:graphic>
      </p:graphicFrame>
      <p:graphicFrame>
        <p:nvGraphicFramePr>
          <p:cNvPr id="21" name="表格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7371108"/>
              </p:ext>
            </p:extLst>
          </p:nvPr>
        </p:nvGraphicFramePr>
        <p:xfrm>
          <a:off x="3089212" y="2791106"/>
          <a:ext cx="737961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490329387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659499"/>
                  </a:ext>
                </a:extLst>
              </a:tr>
            </a:tbl>
          </a:graphicData>
        </a:graphic>
      </p:graphicFrame>
      <p:graphicFrame>
        <p:nvGraphicFramePr>
          <p:cNvPr id="22" name="表格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7484591"/>
              </p:ext>
            </p:extLst>
          </p:nvPr>
        </p:nvGraphicFramePr>
        <p:xfrm>
          <a:off x="11046276" y="2788667"/>
          <a:ext cx="737961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490329387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6594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8508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Fraction to non-Decimal fraction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905169"/>
              </p:ext>
            </p:extLst>
          </p:nvPr>
        </p:nvGraphicFramePr>
        <p:xfrm>
          <a:off x="5142588" y="1551214"/>
          <a:ext cx="5903688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3050371001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435187969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1064515611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751047414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237878856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671459792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063890325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889604387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8608722"/>
                  </a:ext>
                </a:extLst>
              </a:tr>
            </a:tbl>
          </a:graphicData>
        </a:graphic>
      </p:graphicFrame>
      <p:sp>
        <p:nvSpPr>
          <p:cNvPr id="17" name="文字方塊 16"/>
          <p:cNvSpPr txBox="1"/>
          <p:nvPr/>
        </p:nvSpPr>
        <p:spPr>
          <a:xfrm>
            <a:off x="5142588" y="947058"/>
            <a:ext cx="45720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Corresponding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binary number </a:t>
            </a:r>
            <a:endParaRPr lang="zh-TW" altLang="en-US" sz="2800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750203" y="943539"/>
            <a:ext cx="24641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Decimal number</a:t>
            </a:r>
            <a:endParaRPr lang="zh-TW" altLang="en-US" sz="2800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344356"/>
              </p:ext>
            </p:extLst>
          </p:nvPr>
        </p:nvGraphicFramePr>
        <p:xfrm>
          <a:off x="875329" y="1547695"/>
          <a:ext cx="2213883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296065546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190084816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1864883564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7482970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104124"/>
              </p:ext>
            </p:extLst>
          </p:nvPr>
        </p:nvGraphicFramePr>
        <p:xfrm>
          <a:off x="3089212" y="1550134"/>
          <a:ext cx="737961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490329387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=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659499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5028113"/>
              </p:ext>
            </p:extLst>
          </p:nvPr>
        </p:nvGraphicFramePr>
        <p:xfrm>
          <a:off x="11046276" y="1547695"/>
          <a:ext cx="737961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490329387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=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659499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819938"/>
              </p:ext>
            </p:extLst>
          </p:nvPr>
        </p:nvGraphicFramePr>
        <p:xfrm>
          <a:off x="5142588" y="2792186"/>
          <a:ext cx="5903688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3050371001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435187969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1064515611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751047414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237878856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671459792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063890325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889604387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8608722"/>
                  </a:ext>
                </a:extLst>
              </a:tr>
            </a:tbl>
          </a:graphicData>
        </a:graphic>
      </p:graphicFrame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0589853"/>
              </p:ext>
            </p:extLst>
          </p:nvPr>
        </p:nvGraphicFramePr>
        <p:xfrm>
          <a:off x="875329" y="2788667"/>
          <a:ext cx="2213883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296065546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190084816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1864883564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7482970"/>
                  </a:ext>
                </a:extLst>
              </a:tr>
            </a:tbl>
          </a:graphicData>
        </a:graphic>
      </p:graphicFrame>
      <p:graphicFrame>
        <p:nvGraphicFramePr>
          <p:cNvPr id="21" name="表格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9556487"/>
              </p:ext>
            </p:extLst>
          </p:nvPr>
        </p:nvGraphicFramePr>
        <p:xfrm>
          <a:off x="3089212" y="2791106"/>
          <a:ext cx="737961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490329387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=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659499"/>
                  </a:ext>
                </a:extLst>
              </a:tr>
            </a:tbl>
          </a:graphicData>
        </a:graphic>
      </p:graphicFrame>
      <p:graphicFrame>
        <p:nvGraphicFramePr>
          <p:cNvPr id="22" name="表格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4891952"/>
              </p:ext>
            </p:extLst>
          </p:nvPr>
        </p:nvGraphicFramePr>
        <p:xfrm>
          <a:off x="11046276" y="2788667"/>
          <a:ext cx="737961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490329387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=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6594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2448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Fraction to non-Decimal fraction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905169"/>
              </p:ext>
            </p:extLst>
          </p:nvPr>
        </p:nvGraphicFramePr>
        <p:xfrm>
          <a:off x="5142588" y="1551214"/>
          <a:ext cx="5903688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3050371001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435187969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1064515611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751047414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237878856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671459792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063890325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889604387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8608722"/>
                  </a:ext>
                </a:extLst>
              </a:tr>
            </a:tbl>
          </a:graphicData>
        </a:graphic>
      </p:graphicFrame>
      <p:sp>
        <p:nvSpPr>
          <p:cNvPr id="17" name="文字方塊 16"/>
          <p:cNvSpPr txBox="1"/>
          <p:nvPr/>
        </p:nvSpPr>
        <p:spPr>
          <a:xfrm>
            <a:off x="5142588" y="947058"/>
            <a:ext cx="45720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Corresponding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binary number </a:t>
            </a:r>
            <a:endParaRPr lang="zh-TW" altLang="en-US" sz="2800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750203" y="943539"/>
            <a:ext cx="24641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Decimal number</a:t>
            </a:r>
            <a:endParaRPr lang="zh-TW" altLang="en-US" sz="2800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344356"/>
              </p:ext>
            </p:extLst>
          </p:nvPr>
        </p:nvGraphicFramePr>
        <p:xfrm>
          <a:off x="875329" y="1547695"/>
          <a:ext cx="2213883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296065546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190084816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1864883564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7482970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104124"/>
              </p:ext>
            </p:extLst>
          </p:nvPr>
        </p:nvGraphicFramePr>
        <p:xfrm>
          <a:off x="3089212" y="1550134"/>
          <a:ext cx="737961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490329387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=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659499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5028113"/>
              </p:ext>
            </p:extLst>
          </p:nvPr>
        </p:nvGraphicFramePr>
        <p:xfrm>
          <a:off x="11046276" y="1547695"/>
          <a:ext cx="737961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490329387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=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659499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2152057"/>
              </p:ext>
            </p:extLst>
          </p:nvPr>
        </p:nvGraphicFramePr>
        <p:xfrm>
          <a:off x="5142588" y="2792186"/>
          <a:ext cx="5903688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3050371001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435187969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1064515611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751047414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237878856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671459792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063890325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889604387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8608722"/>
                  </a:ext>
                </a:extLst>
              </a:tr>
            </a:tbl>
          </a:graphicData>
        </a:graphic>
      </p:graphicFrame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1883727"/>
              </p:ext>
            </p:extLst>
          </p:nvPr>
        </p:nvGraphicFramePr>
        <p:xfrm>
          <a:off x="875329" y="2788667"/>
          <a:ext cx="2213883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296065546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190084816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1864883564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7482970"/>
                  </a:ext>
                </a:extLst>
              </a:tr>
            </a:tbl>
          </a:graphicData>
        </a:graphic>
      </p:graphicFrame>
      <p:graphicFrame>
        <p:nvGraphicFramePr>
          <p:cNvPr id="21" name="表格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5608463"/>
              </p:ext>
            </p:extLst>
          </p:nvPr>
        </p:nvGraphicFramePr>
        <p:xfrm>
          <a:off x="3089212" y="2791106"/>
          <a:ext cx="737961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490329387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=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659499"/>
                  </a:ext>
                </a:extLst>
              </a:tr>
            </a:tbl>
          </a:graphicData>
        </a:graphic>
      </p:graphicFrame>
      <p:graphicFrame>
        <p:nvGraphicFramePr>
          <p:cNvPr id="22" name="表格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0046938"/>
              </p:ext>
            </p:extLst>
          </p:nvPr>
        </p:nvGraphicFramePr>
        <p:xfrm>
          <a:off x="11046276" y="2788667"/>
          <a:ext cx="737961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490329387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=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659499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7642089"/>
              </p:ext>
            </p:extLst>
          </p:nvPr>
        </p:nvGraphicFramePr>
        <p:xfrm>
          <a:off x="5142588" y="4026120"/>
          <a:ext cx="5903688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3050371001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435187969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1064515611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751047414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237878856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671459792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063890325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889604387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8608722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8050343"/>
              </p:ext>
            </p:extLst>
          </p:nvPr>
        </p:nvGraphicFramePr>
        <p:xfrm>
          <a:off x="875329" y="4022601"/>
          <a:ext cx="2213883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296065546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190084816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1864883564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8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7482970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2918042"/>
              </p:ext>
            </p:extLst>
          </p:nvPr>
        </p:nvGraphicFramePr>
        <p:xfrm>
          <a:off x="3089212" y="4025040"/>
          <a:ext cx="737961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490329387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659499"/>
                  </a:ext>
                </a:extLst>
              </a:tr>
            </a:tbl>
          </a:graphicData>
        </a:graphic>
      </p:graphicFrame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5687619"/>
              </p:ext>
            </p:extLst>
          </p:nvPr>
        </p:nvGraphicFramePr>
        <p:xfrm>
          <a:off x="11046276" y="4022601"/>
          <a:ext cx="737961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490329387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6594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0114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Fraction to non-Decimal fraction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905169"/>
              </p:ext>
            </p:extLst>
          </p:nvPr>
        </p:nvGraphicFramePr>
        <p:xfrm>
          <a:off x="5142588" y="1551214"/>
          <a:ext cx="5903688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3050371001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435187969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1064515611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751047414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237878856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671459792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063890325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889604387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8608722"/>
                  </a:ext>
                </a:extLst>
              </a:tr>
            </a:tbl>
          </a:graphicData>
        </a:graphic>
      </p:graphicFrame>
      <p:sp>
        <p:nvSpPr>
          <p:cNvPr id="17" name="文字方塊 16"/>
          <p:cNvSpPr txBox="1"/>
          <p:nvPr/>
        </p:nvSpPr>
        <p:spPr>
          <a:xfrm>
            <a:off x="5142588" y="947058"/>
            <a:ext cx="45720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Corresponding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binary number </a:t>
            </a:r>
            <a:endParaRPr lang="zh-TW" altLang="en-US" sz="2800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750203" y="943539"/>
            <a:ext cx="24641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Decimal number</a:t>
            </a:r>
            <a:endParaRPr lang="zh-TW" altLang="en-US" sz="2800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344356"/>
              </p:ext>
            </p:extLst>
          </p:nvPr>
        </p:nvGraphicFramePr>
        <p:xfrm>
          <a:off x="875329" y="1547695"/>
          <a:ext cx="2213883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296065546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190084816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1864883564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7482970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104124"/>
              </p:ext>
            </p:extLst>
          </p:nvPr>
        </p:nvGraphicFramePr>
        <p:xfrm>
          <a:off x="3089212" y="1550134"/>
          <a:ext cx="737961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490329387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=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659499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5028113"/>
              </p:ext>
            </p:extLst>
          </p:nvPr>
        </p:nvGraphicFramePr>
        <p:xfrm>
          <a:off x="11046276" y="1547695"/>
          <a:ext cx="737961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490329387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=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659499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2152057"/>
              </p:ext>
            </p:extLst>
          </p:nvPr>
        </p:nvGraphicFramePr>
        <p:xfrm>
          <a:off x="5142588" y="2792186"/>
          <a:ext cx="5903688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3050371001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435187969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1064515611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751047414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237878856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671459792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063890325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889604387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8608722"/>
                  </a:ext>
                </a:extLst>
              </a:tr>
            </a:tbl>
          </a:graphicData>
        </a:graphic>
      </p:graphicFrame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1883727"/>
              </p:ext>
            </p:extLst>
          </p:nvPr>
        </p:nvGraphicFramePr>
        <p:xfrm>
          <a:off x="875329" y="2788667"/>
          <a:ext cx="2213883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296065546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190084816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1864883564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7482970"/>
                  </a:ext>
                </a:extLst>
              </a:tr>
            </a:tbl>
          </a:graphicData>
        </a:graphic>
      </p:graphicFrame>
      <p:graphicFrame>
        <p:nvGraphicFramePr>
          <p:cNvPr id="21" name="表格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5608463"/>
              </p:ext>
            </p:extLst>
          </p:nvPr>
        </p:nvGraphicFramePr>
        <p:xfrm>
          <a:off x="3089212" y="2791106"/>
          <a:ext cx="737961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490329387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=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659499"/>
                  </a:ext>
                </a:extLst>
              </a:tr>
            </a:tbl>
          </a:graphicData>
        </a:graphic>
      </p:graphicFrame>
      <p:graphicFrame>
        <p:nvGraphicFramePr>
          <p:cNvPr id="22" name="表格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0046938"/>
              </p:ext>
            </p:extLst>
          </p:nvPr>
        </p:nvGraphicFramePr>
        <p:xfrm>
          <a:off x="11046276" y="2788667"/>
          <a:ext cx="737961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490329387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=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659499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7041609"/>
              </p:ext>
            </p:extLst>
          </p:nvPr>
        </p:nvGraphicFramePr>
        <p:xfrm>
          <a:off x="5142588" y="4026120"/>
          <a:ext cx="5903688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3050371001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435187969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1064515611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751047414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237878856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671459792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063890325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889604387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8608722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8430545"/>
              </p:ext>
            </p:extLst>
          </p:nvPr>
        </p:nvGraphicFramePr>
        <p:xfrm>
          <a:off x="875329" y="4022601"/>
          <a:ext cx="2213883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296065546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190084816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1864883564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8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7482970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8583252"/>
              </p:ext>
            </p:extLst>
          </p:nvPr>
        </p:nvGraphicFramePr>
        <p:xfrm>
          <a:off x="3089212" y="4025040"/>
          <a:ext cx="737961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490329387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=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659499"/>
                  </a:ext>
                </a:extLst>
              </a:tr>
            </a:tbl>
          </a:graphicData>
        </a:graphic>
      </p:graphicFrame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399181"/>
              </p:ext>
            </p:extLst>
          </p:nvPr>
        </p:nvGraphicFramePr>
        <p:xfrm>
          <a:off x="11046276" y="4022601"/>
          <a:ext cx="737961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490329387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=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6594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7715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Fraction to non-Decimal fraction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905169"/>
              </p:ext>
            </p:extLst>
          </p:nvPr>
        </p:nvGraphicFramePr>
        <p:xfrm>
          <a:off x="5142588" y="1551214"/>
          <a:ext cx="5903688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3050371001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435187969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1064515611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751047414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237878856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671459792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063890325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889604387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8608722"/>
                  </a:ext>
                </a:extLst>
              </a:tr>
            </a:tbl>
          </a:graphicData>
        </a:graphic>
      </p:graphicFrame>
      <p:sp>
        <p:nvSpPr>
          <p:cNvPr id="17" name="文字方塊 16"/>
          <p:cNvSpPr txBox="1"/>
          <p:nvPr/>
        </p:nvSpPr>
        <p:spPr>
          <a:xfrm>
            <a:off x="5142588" y="947058"/>
            <a:ext cx="45720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Corresponding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binary number </a:t>
            </a:r>
            <a:endParaRPr lang="zh-TW" altLang="en-US" sz="2800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750203" y="943539"/>
            <a:ext cx="24641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Decimal number</a:t>
            </a:r>
            <a:endParaRPr lang="zh-TW" altLang="en-US" sz="2800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344356"/>
              </p:ext>
            </p:extLst>
          </p:nvPr>
        </p:nvGraphicFramePr>
        <p:xfrm>
          <a:off x="875329" y="1547695"/>
          <a:ext cx="2213883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296065546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190084816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1864883564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7482970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104124"/>
              </p:ext>
            </p:extLst>
          </p:nvPr>
        </p:nvGraphicFramePr>
        <p:xfrm>
          <a:off x="3089212" y="1550134"/>
          <a:ext cx="737961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490329387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=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659499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5028113"/>
              </p:ext>
            </p:extLst>
          </p:nvPr>
        </p:nvGraphicFramePr>
        <p:xfrm>
          <a:off x="11046276" y="1547695"/>
          <a:ext cx="737961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490329387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=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659499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2152057"/>
              </p:ext>
            </p:extLst>
          </p:nvPr>
        </p:nvGraphicFramePr>
        <p:xfrm>
          <a:off x="5142588" y="2792186"/>
          <a:ext cx="5903688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3050371001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435187969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1064515611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751047414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237878856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671459792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063890325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889604387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8608722"/>
                  </a:ext>
                </a:extLst>
              </a:tr>
            </a:tbl>
          </a:graphicData>
        </a:graphic>
      </p:graphicFrame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1883727"/>
              </p:ext>
            </p:extLst>
          </p:nvPr>
        </p:nvGraphicFramePr>
        <p:xfrm>
          <a:off x="875329" y="2788667"/>
          <a:ext cx="2213883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296065546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190084816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1864883564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7482970"/>
                  </a:ext>
                </a:extLst>
              </a:tr>
            </a:tbl>
          </a:graphicData>
        </a:graphic>
      </p:graphicFrame>
      <p:graphicFrame>
        <p:nvGraphicFramePr>
          <p:cNvPr id="21" name="表格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5608463"/>
              </p:ext>
            </p:extLst>
          </p:nvPr>
        </p:nvGraphicFramePr>
        <p:xfrm>
          <a:off x="3089212" y="2791106"/>
          <a:ext cx="737961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490329387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=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659499"/>
                  </a:ext>
                </a:extLst>
              </a:tr>
            </a:tbl>
          </a:graphicData>
        </a:graphic>
      </p:graphicFrame>
      <p:graphicFrame>
        <p:nvGraphicFramePr>
          <p:cNvPr id="22" name="表格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0046938"/>
              </p:ext>
            </p:extLst>
          </p:nvPr>
        </p:nvGraphicFramePr>
        <p:xfrm>
          <a:off x="11046276" y="2788667"/>
          <a:ext cx="737961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490329387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=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659499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0262231"/>
              </p:ext>
            </p:extLst>
          </p:nvPr>
        </p:nvGraphicFramePr>
        <p:xfrm>
          <a:off x="5142588" y="4026120"/>
          <a:ext cx="5903688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3050371001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435187969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1064515611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751047414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237878856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671459792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063890325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889604387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8608722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5447686"/>
              </p:ext>
            </p:extLst>
          </p:nvPr>
        </p:nvGraphicFramePr>
        <p:xfrm>
          <a:off x="875329" y="4022601"/>
          <a:ext cx="2213883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296065546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190084816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1864883564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8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7482970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0558124"/>
              </p:ext>
            </p:extLst>
          </p:nvPr>
        </p:nvGraphicFramePr>
        <p:xfrm>
          <a:off x="3089212" y="4025040"/>
          <a:ext cx="737961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490329387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=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659499"/>
                  </a:ext>
                </a:extLst>
              </a:tr>
            </a:tbl>
          </a:graphicData>
        </a:graphic>
      </p:graphicFrame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1405765"/>
              </p:ext>
            </p:extLst>
          </p:nvPr>
        </p:nvGraphicFramePr>
        <p:xfrm>
          <a:off x="11046276" y="4022601"/>
          <a:ext cx="737961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490329387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=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659499"/>
                  </a:ext>
                </a:extLst>
              </a:tr>
            </a:tbl>
          </a:graphicData>
        </a:graphic>
      </p:graphicFrame>
      <p:graphicFrame>
        <p:nvGraphicFramePr>
          <p:cNvPr id="24" name="表格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6108652"/>
              </p:ext>
            </p:extLst>
          </p:nvPr>
        </p:nvGraphicFramePr>
        <p:xfrm>
          <a:off x="5142588" y="5253016"/>
          <a:ext cx="5903688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3050371001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435187969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1064515611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751047414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237878856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671459792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063890325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889604387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8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8608722"/>
                  </a:ext>
                </a:extLst>
              </a:tr>
            </a:tbl>
          </a:graphicData>
        </a:graphic>
      </p:graphicFrame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4973022"/>
              </p:ext>
            </p:extLst>
          </p:nvPr>
        </p:nvGraphicFramePr>
        <p:xfrm>
          <a:off x="875329" y="5249497"/>
          <a:ext cx="2213883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296065546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190084816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1864883564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16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8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7482970"/>
                  </a:ext>
                </a:extLst>
              </a:tr>
            </a:tbl>
          </a:graphicData>
        </a:graphic>
      </p:graphicFrame>
      <p:graphicFrame>
        <p:nvGraphicFramePr>
          <p:cNvPr id="26" name="表格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6065206"/>
              </p:ext>
            </p:extLst>
          </p:nvPr>
        </p:nvGraphicFramePr>
        <p:xfrm>
          <a:off x="3089212" y="5251936"/>
          <a:ext cx="737961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490329387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659499"/>
                  </a:ext>
                </a:extLst>
              </a:tr>
            </a:tbl>
          </a:graphicData>
        </a:graphic>
      </p:graphicFrame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9524497"/>
              </p:ext>
            </p:extLst>
          </p:nvPr>
        </p:nvGraphicFramePr>
        <p:xfrm>
          <a:off x="11046276" y="5249497"/>
          <a:ext cx="737961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490329387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659499"/>
                  </a:ext>
                </a:extLst>
              </a:tr>
            </a:tbl>
          </a:graphicData>
        </a:graphic>
      </p:graphicFrame>
      <p:cxnSp>
        <p:nvCxnSpPr>
          <p:cNvPr id="4" name="直線接點 3"/>
          <p:cNvCxnSpPr/>
          <p:nvPr/>
        </p:nvCxnSpPr>
        <p:spPr>
          <a:xfrm flipV="1">
            <a:off x="2470477" y="5655528"/>
            <a:ext cx="618735" cy="424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/>
          <p:cNvCxnSpPr/>
          <p:nvPr/>
        </p:nvCxnSpPr>
        <p:spPr>
          <a:xfrm flipV="1">
            <a:off x="10308315" y="5655528"/>
            <a:ext cx="618735" cy="424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7992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Fraction to non-Decimal fraction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587075"/>
              </p:ext>
            </p:extLst>
          </p:nvPr>
        </p:nvGraphicFramePr>
        <p:xfrm>
          <a:off x="562424" y="1485900"/>
          <a:ext cx="5903688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3050371001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435187969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1064515611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751047414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237878856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671459792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063890325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889604387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8608722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597595"/>
              </p:ext>
            </p:extLst>
          </p:nvPr>
        </p:nvGraphicFramePr>
        <p:xfrm>
          <a:off x="6466112" y="1482381"/>
          <a:ext cx="737961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490329387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=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659499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2127804"/>
              </p:ext>
            </p:extLst>
          </p:nvPr>
        </p:nvGraphicFramePr>
        <p:xfrm>
          <a:off x="562424" y="2726872"/>
          <a:ext cx="5903688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3050371001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435187969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1064515611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751047414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237878856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671459792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063890325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889604387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8608722"/>
                  </a:ext>
                </a:extLst>
              </a:tr>
            </a:tbl>
          </a:graphicData>
        </a:graphic>
      </p:graphicFrame>
      <p:graphicFrame>
        <p:nvGraphicFramePr>
          <p:cNvPr id="22" name="表格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5656578"/>
              </p:ext>
            </p:extLst>
          </p:nvPr>
        </p:nvGraphicFramePr>
        <p:xfrm>
          <a:off x="6466112" y="2723353"/>
          <a:ext cx="737961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490329387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=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659499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9397876"/>
              </p:ext>
            </p:extLst>
          </p:nvPr>
        </p:nvGraphicFramePr>
        <p:xfrm>
          <a:off x="562424" y="3960806"/>
          <a:ext cx="5903688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3050371001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435187969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1064515611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751047414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237878856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671459792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063890325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889604387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8608722"/>
                  </a:ext>
                </a:extLst>
              </a:tr>
            </a:tbl>
          </a:graphicData>
        </a:graphic>
      </p:graphicFrame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6360215"/>
              </p:ext>
            </p:extLst>
          </p:nvPr>
        </p:nvGraphicFramePr>
        <p:xfrm>
          <a:off x="6466112" y="3957287"/>
          <a:ext cx="737961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490329387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=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659499"/>
                  </a:ext>
                </a:extLst>
              </a:tr>
            </a:tbl>
          </a:graphicData>
        </a:graphic>
      </p:graphicFrame>
      <p:graphicFrame>
        <p:nvGraphicFramePr>
          <p:cNvPr id="24" name="表格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3745941"/>
              </p:ext>
            </p:extLst>
          </p:nvPr>
        </p:nvGraphicFramePr>
        <p:xfrm>
          <a:off x="562424" y="5187702"/>
          <a:ext cx="5903688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3050371001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435187969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1064515611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751047414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237878856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671459792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063890325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889604387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8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8608722"/>
                  </a:ext>
                </a:extLst>
              </a:tr>
            </a:tbl>
          </a:graphicData>
        </a:graphic>
      </p:graphicFrame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7128696"/>
              </p:ext>
            </p:extLst>
          </p:nvPr>
        </p:nvGraphicFramePr>
        <p:xfrm>
          <a:off x="6466112" y="5184183"/>
          <a:ext cx="737961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490329387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659499"/>
                  </a:ext>
                </a:extLst>
              </a:tr>
            </a:tbl>
          </a:graphicData>
        </a:graphic>
      </p:graphicFrame>
      <p:sp>
        <p:nvSpPr>
          <p:cNvPr id="2" name="文字方塊 1"/>
          <p:cNvSpPr txBox="1"/>
          <p:nvPr/>
        </p:nvSpPr>
        <p:spPr>
          <a:xfrm>
            <a:off x="7625443" y="4574975"/>
            <a:ext cx="449035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800" b="1" dirty="0" smtClean="0">
                <a:solidFill>
                  <a:srgbClr val="C00000"/>
                </a:solidFill>
              </a:rPr>
              <a:t>Shift a binary number left is equal to </a:t>
            </a:r>
            <a:r>
              <a:rPr lang="en-US" altLang="zh-TW" sz="2800" b="1" dirty="0" smtClean="0">
                <a:solidFill>
                  <a:srgbClr val="C00000"/>
                </a:solidFill>
                <a:sym typeface="Symbol" panose="05050102010706020507" pitchFamily="18" charset="2"/>
              </a:rPr>
              <a:t>multiply the number by power of 2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8834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Fraction to non-Decimal fraction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60065" y="898243"/>
            <a:ext cx="14766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Decimal</a:t>
            </a:r>
            <a:endParaRPr lang="zh-TW" altLang="en-US" sz="3200" dirty="0"/>
          </a:p>
        </p:txBody>
      </p:sp>
      <p:cxnSp>
        <p:nvCxnSpPr>
          <p:cNvPr id="12" name="直線單箭頭接點 11"/>
          <p:cNvCxnSpPr/>
          <p:nvPr/>
        </p:nvCxnSpPr>
        <p:spPr>
          <a:xfrm>
            <a:off x="4297707" y="1209842"/>
            <a:ext cx="318407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/>
          <p:cNvSpPr txBox="1"/>
          <p:nvPr/>
        </p:nvSpPr>
        <p:spPr>
          <a:xfrm>
            <a:off x="7471373" y="898243"/>
            <a:ext cx="12266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Binary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343336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Fraction to non-Decimal fraction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60065" y="898243"/>
            <a:ext cx="14766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Decimal</a:t>
            </a:r>
            <a:endParaRPr lang="zh-TW" altLang="en-US" sz="3200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7866382"/>
              </p:ext>
            </p:extLst>
          </p:nvPr>
        </p:nvGraphicFramePr>
        <p:xfrm>
          <a:off x="540657" y="1553620"/>
          <a:ext cx="1396094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094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0.6875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6141559"/>
              </p:ext>
            </p:extLst>
          </p:nvPr>
        </p:nvGraphicFramePr>
        <p:xfrm>
          <a:off x="5418366" y="1567544"/>
          <a:ext cx="4623024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zh-TW" altLang="en-US" sz="3200" b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sp>
        <p:nvSpPr>
          <p:cNvPr id="11" name="文字方塊 10"/>
          <p:cNvSpPr txBox="1"/>
          <p:nvPr/>
        </p:nvSpPr>
        <p:spPr>
          <a:xfrm>
            <a:off x="4112552" y="1572831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cxnSp>
        <p:nvCxnSpPr>
          <p:cNvPr id="12" name="直線單箭頭接點 11"/>
          <p:cNvCxnSpPr/>
          <p:nvPr/>
        </p:nvCxnSpPr>
        <p:spPr>
          <a:xfrm>
            <a:off x="4297707" y="1209842"/>
            <a:ext cx="318407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7471373" y="898243"/>
            <a:ext cx="12266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Binary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812947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Fraction to non-Decimal fraction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60065" y="898243"/>
            <a:ext cx="14766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Decimal</a:t>
            </a:r>
            <a:endParaRPr lang="zh-TW" altLang="en-US" sz="3200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7866382"/>
              </p:ext>
            </p:extLst>
          </p:nvPr>
        </p:nvGraphicFramePr>
        <p:xfrm>
          <a:off x="540657" y="1553620"/>
          <a:ext cx="1396094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094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0.6875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6141559"/>
              </p:ext>
            </p:extLst>
          </p:nvPr>
        </p:nvGraphicFramePr>
        <p:xfrm>
          <a:off x="5418366" y="1567544"/>
          <a:ext cx="4623024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zh-TW" altLang="en-US" sz="3200" b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sp>
        <p:nvSpPr>
          <p:cNvPr id="11" name="文字方塊 10"/>
          <p:cNvSpPr txBox="1"/>
          <p:nvPr/>
        </p:nvSpPr>
        <p:spPr>
          <a:xfrm>
            <a:off x="4112552" y="1572831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cxnSp>
        <p:nvCxnSpPr>
          <p:cNvPr id="12" name="直線單箭頭接點 11"/>
          <p:cNvCxnSpPr/>
          <p:nvPr/>
        </p:nvCxnSpPr>
        <p:spPr>
          <a:xfrm>
            <a:off x="4297707" y="1209842"/>
            <a:ext cx="318407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0" y="5118138"/>
            <a:ext cx="12192000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5939707"/>
              </p:ext>
            </p:extLst>
          </p:nvPr>
        </p:nvGraphicFramePr>
        <p:xfrm>
          <a:off x="6188870" y="5360469"/>
          <a:ext cx="3852520" cy="1254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268585571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3340620516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6867973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3594051021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193759290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6210119"/>
                  </a:ext>
                </a:extLst>
              </a:tr>
              <a:tr h="627446"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9333735"/>
                  </a:ext>
                </a:extLst>
              </a:tr>
            </a:tbl>
          </a:graphicData>
        </a:graphic>
      </p:graphicFrame>
      <p:sp>
        <p:nvSpPr>
          <p:cNvPr id="15" name="文字方塊 14"/>
          <p:cNvSpPr txBox="1"/>
          <p:nvPr/>
        </p:nvSpPr>
        <p:spPr>
          <a:xfrm>
            <a:off x="223300" y="5893411"/>
            <a:ext cx="1606145" cy="584775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chemeClr val="bg1"/>
                </a:solidFill>
              </a:rPr>
              <a:t>Round 1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7471373" y="898243"/>
            <a:ext cx="12266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Binary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569600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Fraction to non-Decimal fraction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60065" y="898243"/>
            <a:ext cx="14766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Decimal</a:t>
            </a:r>
            <a:endParaRPr lang="zh-TW" altLang="en-US" sz="3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7471373" y="898243"/>
            <a:ext cx="12266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Binary</a:t>
            </a:r>
            <a:endParaRPr lang="zh-TW" altLang="en-US" sz="3200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7866382"/>
              </p:ext>
            </p:extLst>
          </p:nvPr>
        </p:nvGraphicFramePr>
        <p:xfrm>
          <a:off x="540657" y="1553620"/>
          <a:ext cx="1396094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094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0.6875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6141559"/>
              </p:ext>
            </p:extLst>
          </p:nvPr>
        </p:nvGraphicFramePr>
        <p:xfrm>
          <a:off x="5418366" y="1567544"/>
          <a:ext cx="4623024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zh-TW" altLang="en-US" sz="3200" b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sp>
        <p:nvSpPr>
          <p:cNvPr id="11" name="文字方塊 10"/>
          <p:cNvSpPr txBox="1"/>
          <p:nvPr/>
        </p:nvSpPr>
        <p:spPr>
          <a:xfrm>
            <a:off x="4112552" y="1572831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cxnSp>
        <p:nvCxnSpPr>
          <p:cNvPr id="12" name="直線單箭頭接點 11"/>
          <p:cNvCxnSpPr/>
          <p:nvPr/>
        </p:nvCxnSpPr>
        <p:spPr>
          <a:xfrm>
            <a:off x="4297707" y="1209842"/>
            <a:ext cx="318407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1328370"/>
              </p:ext>
            </p:extLst>
          </p:nvPr>
        </p:nvGraphicFramePr>
        <p:xfrm>
          <a:off x="1936751" y="1552420"/>
          <a:ext cx="1475922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685188257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055317"/>
              </p:ext>
            </p:extLst>
          </p:nvPr>
        </p:nvGraphicFramePr>
        <p:xfrm>
          <a:off x="10041390" y="1559982"/>
          <a:ext cx="1475922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685188257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sp>
        <p:nvSpPr>
          <p:cNvPr id="27" name="矩形 26"/>
          <p:cNvSpPr/>
          <p:nvPr/>
        </p:nvSpPr>
        <p:spPr>
          <a:xfrm>
            <a:off x="0" y="5118138"/>
            <a:ext cx="12192000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28" name="表格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5694011"/>
              </p:ext>
            </p:extLst>
          </p:nvPr>
        </p:nvGraphicFramePr>
        <p:xfrm>
          <a:off x="6188870" y="5360469"/>
          <a:ext cx="3852520" cy="1254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268585571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3340620516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6867973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3594051021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193759290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6210119"/>
                  </a:ext>
                </a:extLst>
              </a:tr>
              <a:tr h="627446"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9333735"/>
                  </a:ext>
                </a:extLst>
              </a:tr>
            </a:tbl>
          </a:graphicData>
        </a:graphic>
      </p:graphicFrame>
      <p:sp>
        <p:nvSpPr>
          <p:cNvPr id="29" name="文字方塊 28"/>
          <p:cNvSpPr txBox="1"/>
          <p:nvPr/>
        </p:nvSpPr>
        <p:spPr>
          <a:xfrm>
            <a:off x="223300" y="5893411"/>
            <a:ext cx="1606145" cy="584775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chemeClr val="bg1"/>
                </a:solidFill>
              </a:rPr>
              <a:t>Round 1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445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Fraction to non-Decimal fraction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60065" y="898243"/>
            <a:ext cx="14766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Decimal</a:t>
            </a:r>
            <a:endParaRPr lang="zh-TW" altLang="en-US" sz="3200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7866382"/>
              </p:ext>
            </p:extLst>
          </p:nvPr>
        </p:nvGraphicFramePr>
        <p:xfrm>
          <a:off x="540657" y="1553620"/>
          <a:ext cx="1396094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094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0.6875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6141559"/>
              </p:ext>
            </p:extLst>
          </p:nvPr>
        </p:nvGraphicFramePr>
        <p:xfrm>
          <a:off x="5418366" y="1567544"/>
          <a:ext cx="4623024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zh-TW" altLang="en-US" sz="3200" b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sp>
        <p:nvSpPr>
          <p:cNvPr id="11" name="文字方塊 10"/>
          <p:cNvSpPr txBox="1"/>
          <p:nvPr/>
        </p:nvSpPr>
        <p:spPr>
          <a:xfrm>
            <a:off x="4112552" y="1572831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cxnSp>
        <p:nvCxnSpPr>
          <p:cNvPr id="12" name="直線單箭頭接點 11"/>
          <p:cNvCxnSpPr/>
          <p:nvPr/>
        </p:nvCxnSpPr>
        <p:spPr>
          <a:xfrm>
            <a:off x="4297707" y="1209842"/>
            <a:ext cx="318407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1328370"/>
              </p:ext>
            </p:extLst>
          </p:nvPr>
        </p:nvGraphicFramePr>
        <p:xfrm>
          <a:off x="1936751" y="1552420"/>
          <a:ext cx="1475922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685188257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055317"/>
              </p:ext>
            </p:extLst>
          </p:nvPr>
        </p:nvGraphicFramePr>
        <p:xfrm>
          <a:off x="10041390" y="1559982"/>
          <a:ext cx="1475922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685188257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sp>
        <p:nvSpPr>
          <p:cNvPr id="27" name="矩形 26"/>
          <p:cNvSpPr/>
          <p:nvPr/>
        </p:nvSpPr>
        <p:spPr>
          <a:xfrm>
            <a:off x="0" y="5118138"/>
            <a:ext cx="12192000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28" name="表格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1031744"/>
              </p:ext>
            </p:extLst>
          </p:nvPr>
        </p:nvGraphicFramePr>
        <p:xfrm>
          <a:off x="6188870" y="5360469"/>
          <a:ext cx="3852520" cy="1254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268585571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3340620516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6867973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3594051021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193759290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6210119"/>
                  </a:ext>
                </a:extLst>
              </a:tr>
              <a:tr h="627446"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9333735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1520433"/>
              </p:ext>
            </p:extLst>
          </p:nvPr>
        </p:nvGraphicFramePr>
        <p:xfrm>
          <a:off x="540657" y="2537413"/>
          <a:ext cx="1396094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094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1.375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2926565"/>
              </p:ext>
            </p:extLst>
          </p:nvPr>
        </p:nvGraphicFramePr>
        <p:xfrm>
          <a:off x="5418366" y="2537413"/>
          <a:ext cx="4623024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zh-TW" altLang="en-US" sz="3200" b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4899311"/>
              </p:ext>
            </p:extLst>
          </p:nvPr>
        </p:nvGraphicFramePr>
        <p:xfrm>
          <a:off x="5175367" y="2542094"/>
          <a:ext cx="737961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sp>
        <p:nvSpPr>
          <p:cNvPr id="17" name="文字方塊 16"/>
          <p:cNvSpPr txBox="1"/>
          <p:nvPr/>
        </p:nvSpPr>
        <p:spPr>
          <a:xfrm>
            <a:off x="4112552" y="2537413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223300" y="5893411"/>
            <a:ext cx="1606145" cy="584775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chemeClr val="bg1"/>
                </a:solidFill>
              </a:rPr>
              <a:t>Round 1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7471373" y="898243"/>
            <a:ext cx="12266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Binary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827527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Fraction to non-Decimal fraction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60065" y="898243"/>
            <a:ext cx="14766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Decimal</a:t>
            </a:r>
            <a:endParaRPr lang="zh-TW" altLang="en-US" sz="3200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7866382"/>
              </p:ext>
            </p:extLst>
          </p:nvPr>
        </p:nvGraphicFramePr>
        <p:xfrm>
          <a:off x="540657" y="1553620"/>
          <a:ext cx="1396094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094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0.6875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6141559"/>
              </p:ext>
            </p:extLst>
          </p:nvPr>
        </p:nvGraphicFramePr>
        <p:xfrm>
          <a:off x="5418366" y="1567544"/>
          <a:ext cx="4623024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zh-TW" altLang="en-US" sz="3200" b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sp>
        <p:nvSpPr>
          <p:cNvPr id="11" name="文字方塊 10"/>
          <p:cNvSpPr txBox="1"/>
          <p:nvPr/>
        </p:nvSpPr>
        <p:spPr>
          <a:xfrm>
            <a:off x="4112552" y="1572831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cxnSp>
        <p:nvCxnSpPr>
          <p:cNvPr id="12" name="直線單箭頭接點 11"/>
          <p:cNvCxnSpPr/>
          <p:nvPr/>
        </p:nvCxnSpPr>
        <p:spPr>
          <a:xfrm>
            <a:off x="4297707" y="1209842"/>
            <a:ext cx="318407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1328370"/>
              </p:ext>
            </p:extLst>
          </p:nvPr>
        </p:nvGraphicFramePr>
        <p:xfrm>
          <a:off x="1936751" y="1552420"/>
          <a:ext cx="1475922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685188257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055317"/>
              </p:ext>
            </p:extLst>
          </p:nvPr>
        </p:nvGraphicFramePr>
        <p:xfrm>
          <a:off x="10041390" y="1559982"/>
          <a:ext cx="1475922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685188257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sp>
        <p:nvSpPr>
          <p:cNvPr id="27" name="矩形 26"/>
          <p:cNvSpPr/>
          <p:nvPr/>
        </p:nvSpPr>
        <p:spPr>
          <a:xfrm>
            <a:off x="0" y="5118138"/>
            <a:ext cx="12192000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28" name="表格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3084799"/>
              </p:ext>
            </p:extLst>
          </p:nvPr>
        </p:nvGraphicFramePr>
        <p:xfrm>
          <a:off x="6188870" y="5360469"/>
          <a:ext cx="3852520" cy="1254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268585571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3340620516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6867973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3594051021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193759290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6210119"/>
                  </a:ext>
                </a:extLst>
              </a:tr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9333735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1520433"/>
              </p:ext>
            </p:extLst>
          </p:nvPr>
        </p:nvGraphicFramePr>
        <p:xfrm>
          <a:off x="540657" y="2537413"/>
          <a:ext cx="1396094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094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1.375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2926565"/>
              </p:ext>
            </p:extLst>
          </p:nvPr>
        </p:nvGraphicFramePr>
        <p:xfrm>
          <a:off x="5418366" y="2537413"/>
          <a:ext cx="4623024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zh-TW" altLang="en-US" sz="3200" b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4899311"/>
              </p:ext>
            </p:extLst>
          </p:nvPr>
        </p:nvGraphicFramePr>
        <p:xfrm>
          <a:off x="5175367" y="2542094"/>
          <a:ext cx="737961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sp>
        <p:nvSpPr>
          <p:cNvPr id="17" name="文字方塊 16"/>
          <p:cNvSpPr txBox="1"/>
          <p:nvPr/>
        </p:nvSpPr>
        <p:spPr>
          <a:xfrm>
            <a:off x="4112552" y="2537413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1262137"/>
              </p:ext>
            </p:extLst>
          </p:nvPr>
        </p:nvGraphicFramePr>
        <p:xfrm>
          <a:off x="540657" y="3434994"/>
          <a:ext cx="1396094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094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1.</a:t>
                      </a:r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375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4758475"/>
              </p:ext>
            </p:extLst>
          </p:nvPr>
        </p:nvGraphicFramePr>
        <p:xfrm>
          <a:off x="5418366" y="3434994"/>
          <a:ext cx="4623024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zh-TW" altLang="en-US" sz="3200" b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bg1"/>
                          </a:solidFill>
                        </a:rPr>
                        <a:t>-2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bg1"/>
                          </a:solidFill>
                        </a:rPr>
                        <a:t>-3</a:t>
                      </a:r>
                      <a:endParaRPr lang="zh-TW" altLang="en-US" sz="3200" b="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bg1"/>
                          </a:solidFill>
                        </a:rPr>
                        <a:t>-4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bg1"/>
                          </a:solidFill>
                        </a:rPr>
                        <a:t>-5</a:t>
                      </a:r>
                      <a:endParaRPr lang="zh-TW" altLang="en-US" sz="3200" b="0" baseline="-2500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bg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2879989"/>
              </p:ext>
            </p:extLst>
          </p:nvPr>
        </p:nvGraphicFramePr>
        <p:xfrm>
          <a:off x="5175367" y="3439675"/>
          <a:ext cx="737961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sp>
        <p:nvSpPr>
          <p:cNvPr id="21" name="文字方塊 20"/>
          <p:cNvSpPr txBox="1"/>
          <p:nvPr/>
        </p:nvSpPr>
        <p:spPr>
          <a:xfrm>
            <a:off x="4112552" y="3434994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223300" y="5893411"/>
            <a:ext cx="1606145" cy="584775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chemeClr val="bg1"/>
                </a:solidFill>
              </a:rPr>
              <a:t>Round 1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7471373" y="898243"/>
            <a:ext cx="12266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Binary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750808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Fraction to non-Decimal fraction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60065" y="898243"/>
            <a:ext cx="14766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Decimal</a:t>
            </a:r>
            <a:endParaRPr lang="zh-TW" altLang="en-US" sz="3200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7866382"/>
              </p:ext>
            </p:extLst>
          </p:nvPr>
        </p:nvGraphicFramePr>
        <p:xfrm>
          <a:off x="540657" y="1553620"/>
          <a:ext cx="1396094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094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0.6875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6141559"/>
              </p:ext>
            </p:extLst>
          </p:nvPr>
        </p:nvGraphicFramePr>
        <p:xfrm>
          <a:off x="5418366" y="1567544"/>
          <a:ext cx="4623024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zh-TW" altLang="en-US" sz="3200" b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sp>
        <p:nvSpPr>
          <p:cNvPr id="11" name="文字方塊 10"/>
          <p:cNvSpPr txBox="1"/>
          <p:nvPr/>
        </p:nvSpPr>
        <p:spPr>
          <a:xfrm>
            <a:off x="4112552" y="1572831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cxnSp>
        <p:nvCxnSpPr>
          <p:cNvPr id="12" name="直線單箭頭接點 11"/>
          <p:cNvCxnSpPr/>
          <p:nvPr/>
        </p:nvCxnSpPr>
        <p:spPr>
          <a:xfrm>
            <a:off x="4297707" y="1209842"/>
            <a:ext cx="318407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1328370"/>
              </p:ext>
            </p:extLst>
          </p:nvPr>
        </p:nvGraphicFramePr>
        <p:xfrm>
          <a:off x="1936751" y="1552420"/>
          <a:ext cx="1475922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685188257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055317"/>
              </p:ext>
            </p:extLst>
          </p:nvPr>
        </p:nvGraphicFramePr>
        <p:xfrm>
          <a:off x="10041390" y="1559982"/>
          <a:ext cx="1475922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685188257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sp>
        <p:nvSpPr>
          <p:cNvPr id="27" name="矩形 26"/>
          <p:cNvSpPr/>
          <p:nvPr/>
        </p:nvSpPr>
        <p:spPr>
          <a:xfrm>
            <a:off x="0" y="5118138"/>
            <a:ext cx="12192000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28" name="表格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8890472"/>
              </p:ext>
            </p:extLst>
          </p:nvPr>
        </p:nvGraphicFramePr>
        <p:xfrm>
          <a:off x="6188870" y="5360469"/>
          <a:ext cx="3852520" cy="1254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268585571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3340620516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6867973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3594051021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193759290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6210119"/>
                  </a:ext>
                </a:extLst>
              </a:tr>
              <a:tr h="627446"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9333735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1520433"/>
              </p:ext>
            </p:extLst>
          </p:nvPr>
        </p:nvGraphicFramePr>
        <p:xfrm>
          <a:off x="540657" y="2537413"/>
          <a:ext cx="1396094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094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1.375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2926565"/>
              </p:ext>
            </p:extLst>
          </p:nvPr>
        </p:nvGraphicFramePr>
        <p:xfrm>
          <a:off x="5418366" y="2537413"/>
          <a:ext cx="4623024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zh-TW" altLang="en-US" sz="3200" b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4899311"/>
              </p:ext>
            </p:extLst>
          </p:nvPr>
        </p:nvGraphicFramePr>
        <p:xfrm>
          <a:off x="5175367" y="2542094"/>
          <a:ext cx="737961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sp>
        <p:nvSpPr>
          <p:cNvPr id="17" name="文字方塊 16"/>
          <p:cNvSpPr txBox="1"/>
          <p:nvPr/>
        </p:nvSpPr>
        <p:spPr>
          <a:xfrm>
            <a:off x="4112552" y="2537413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1262137"/>
              </p:ext>
            </p:extLst>
          </p:nvPr>
        </p:nvGraphicFramePr>
        <p:xfrm>
          <a:off x="540657" y="3434994"/>
          <a:ext cx="1396094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094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1.</a:t>
                      </a:r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375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4758475"/>
              </p:ext>
            </p:extLst>
          </p:nvPr>
        </p:nvGraphicFramePr>
        <p:xfrm>
          <a:off x="5418366" y="3434994"/>
          <a:ext cx="4623024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zh-TW" altLang="en-US" sz="3200" b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bg1"/>
                          </a:solidFill>
                        </a:rPr>
                        <a:t>-2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bg1"/>
                          </a:solidFill>
                        </a:rPr>
                        <a:t>-3</a:t>
                      </a:r>
                      <a:endParaRPr lang="zh-TW" altLang="en-US" sz="3200" b="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bg1"/>
                          </a:solidFill>
                        </a:rPr>
                        <a:t>-4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bg1"/>
                          </a:solidFill>
                        </a:rPr>
                        <a:t>-5</a:t>
                      </a:r>
                      <a:endParaRPr lang="zh-TW" altLang="en-US" sz="3200" b="0" baseline="-2500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bg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2879989"/>
              </p:ext>
            </p:extLst>
          </p:nvPr>
        </p:nvGraphicFramePr>
        <p:xfrm>
          <a:off x="5175367" y="3439675"/>
          <a:ext cx="737961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sp>
        <p:nvSpPr>
          <p:cNvPr id="21" name="文字方塊 20"/>
          <p:cNvSpPr txBox="1"/>
          <p:nvPr/>
        </p:nvSpPr>
        <p:spPr>
          <a:xfrm>
            <a:off x="4112552" y="3434994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graphicFrame>
        <p:nvGraphicFramePr>
          <p:cNvPr id="29" name="表格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3992327"/>
              </p:ext>
            </p:extLst>
          </p:nvPr>
        </p:nvGraphicFramePr>
        <p:xfrm>
          <a:off x="540657" y="4243966"/>
          <a:ext cx="1396094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094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.375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30" name="表格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7025888"/>
              </p:ext>
            </p:extLst>
          </p:nvPr>
        </p:nvGraphicFramePr>
        <p:xfrm>
          <a:off x="5418366" y="4243966"/>
          <a:ext cx="4623024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zh-TW" altLang="en-US" sz="3200" b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graphicFrame>
        <p:nvGraphicFramePr>
          <p:cNvPr id="31" name="表格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3159545"/>
              </p:ext>
            </p:extLst>
          </p:nvPr>
        </p:nvGraphicFramePr>
        <p:xfrm>
          <a:off x="5175367" y="4248647"/>
          <a:ext cx="737961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2800" b="0" baseline="-25000" dirty="0" smtClean="0">
                          <a:solidFill>
                            <a:schemeClr val="bg1"/>
                          </a:solidFill>
                        </a:rPr>
                        <a:t>-1</a:t>
                      </a:r>
                      <a:endParaRPr lang="zh-TW" altLang="en-US" sz="28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sp>
        <p:nvSpPr>
          <p:cNvPr id="32" name="文字方塊 31"/>
          <p:cNvSpPr txBox="1"/>
          <p:nvPr/>
        </p:nvSpPr>
        <p:spPr>
          <a:xfrm>
            <a:off x="4112552" y="4243966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sp>
        <p:nvSpPr>
          <p:cNvPr id="33" name="文字方塊 32"/>
          <p:cNvSpPr txBox="1"/>
          <p:nvPr/>
        </p:nvSpPr>
        <p:spPr>
          <a:xfrm>
            <a:off x="223300" y="5893411"/>
            <a:ext cx="1606145" cy="584775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chemeClr val="bg1"/>
                </a:solidFill>
              </a:rPr>
              <a:t>Round 1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471373" y="898243"/>
            <a:ext cx="12266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Binary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4267262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Fraction to non-Decimal fraction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60065" y="898243"/>
            <a:ext cx="14766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Decimal</a:t>
            </a:r>
            <a:endParaRPr lang="zh-TW" altLang="en-US" sz="3200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7866382"/>
              </p:ext>
            </p:extLst>
          </p:nvPr>
        </p:nvGraphicFramePr>
        <p:xfrm>
          <a:off x="540657" y="1553620"/>
          <a:ext cx="1396094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094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0.6875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6141559"/>
              </p:ext>
            </p:extLst>
          </p:nvPr>
        </p:nvGraphicFramePr>
        <p:xfrm>
          <a:off x="5418366" y="1567544"/>
          <a:ext cx="4623024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zh-TW" altLang="en-US" sz="3200" b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sp>
        <p:nvSpPr>
          <p:cNvPr id="11" name="文字方塊 10"/>
          <p:cNvSpPr txBox="1"/>
          <p:nvPr/>
        </p:nvSpPr>
        <p:spPr>
          <a:xfrm>
            <a:off x="4112552" y="1572831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cxnSp>
        <p:nvCxnSpPr>
          <p:cNvPr id="12" name="直線單箭頭接點 11"/>
          <p:cNvCxnSpPr/>
          <p:nvPr/>
        </p:nvCxnSpPr>
        <p:spPr>
          <a:xfrm>
            <a:off x="4297707" y="1209842"/>
            <a:ext cx="318407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1328370"/>
              </p:ext>
            </p:extLst>
          </p:nvPr>
        </p:nvGraphicFramePr>
        <p:xfrm>
          <a:off x="1936751" y="1552420"/>
          <a:ext cx="1475922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685188257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055317"/>
              </p:ext>
            </p:extLst>
          </p:nvPr>
        </p:nvGraphicFramePr>
        <p:xfrm>
          <a:off x="10041390" y="1559982"/>
          <a:ext cx="1475922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685188257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5929203"/>
              </p:ext>
            </p:extLst>
          </p:nvPr>
        </p:nvGraphicFramePr>
        <p:xfrm>
          <a:off x="540657" y="2537413"/>
          <a:ext cx="1396094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094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1.375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2961228"/>
              </p:ext>
            </p:extLst>
          </p:nvPr>
        </p:nvGraphicFramePr>
        <p:xfrm>
          <a:off x="5418366" y="2537413"/>
          <a:ext cx="4623024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zh-TW" altLang="en-US" sz="3200" b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933370"/>
              </p:ext>
            </p:extLst>
          </p:nvPr>
        </p:nvGraphicFramePr>
        <p:xfrm>
          <a:off x="5175367" y="2542094"/>
          <a:ext cx="737961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sp>
        <p:nvSpPr>
          <p:cNvPr id="17" name="文字方塊 16"/>
          <p:cNvSpPr txBox="1"/>
          <p:nvPr/>
        </p:nvSpPr>
        <p:spPr>
          <a:xfrm>
            <a:off x="4112552" y="2537413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105936"/>
              </p:ext>
            </p:extLst>
          </p:nvPr>
        </p:nvGraphicFramePr>
        <p:xfrm>
          <a:off x="540657" y="3434994"/>
          <a:ext cx="1396094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094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1.</a:t>
                      </a:r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375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1500314"/>
              </p:ext>
            </p:extLst>
          </p:nvPr>
        </p:nvGraphicFramePr>
        <p:xfrm>
          <a:off x="5418366" y="3434994"/>
          <a:ext cx="4623024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zh-TW" altLang="en-US" sz="3200" b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bg1"/>
                          </a:solidFill>
                        </a:rPr>
                        <a:t>-2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bg1"/>
                          </a:solidFill>
                        </a:rPr>
                        <a:t>-3</a:t>
                      </a:r>
                      <a:endParaRPr lang="zh-TW" altLang="en-US" sz="3200" b="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bg1"/>
                          </a:solidFill>
                        </a:rPr>
                        <a:t>-4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bg1"/>
                          </a:solidFill>
                        </a:rPr>
                        <a:t>-5</a:t>
                      </a:r>
                      <a:endParaRPr lang="zh-TW" altLang="en-US" sz="3200" b="0" baseline="-2500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bg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9067243"/>
              </p:ext>
            </p:extLst>
          </p:nvPr>
        </p:nvGraphicFramePr>
        <p:xfrm>
          <a:off x="5175367" y="3439675"/>
          <a:ext cx="737961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sp>
        <p:nvSpPr>
          <p:cNvPr id="21" name="文字方塊 20"/>
          <p:cNvSpPr txBox="1"/>
          <p:nvPr/>
        </p:nvSpPr>
        <p:spPr>
          <a:xfrm>
            <a:off x="4112552" y="3434994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graphicFrame>
        <p:nvGraphicFramePr>
          <p:cNvPr id="22" name="表格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8594332"/>
              </p:ext>
            </p:extLst>
          </p:nvPr>
        </p:nvGraphicFramePr>
        <p:xfrm>
          <a:off x="540657" y="4243966"/>
          <a:ext cx="1396094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094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.375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2784655"/>
              </p:ext>
            </p:extLst>
          </p:nvPr>
        </p:nvGraphicFramePr>
        <p:xfrm>
          <a:off x="5418366" y="4243966"/>
          <a:ext cx="4623024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zh-TW" altLang="en-US" sz="3200" b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graphicFrame>
        <p:nvGraphicFramePr>
          <p:cNvPr id="24" name="表格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14720"/>
              </p:ext>
            </p:extLst>
          </p:nvPr>
        </p:nvGraphicFramePr>
        <p:xfrm>
          <a:off x="5175367" y="4248647"/>
          <a:ext cx="737961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2800" b="0" baseline="-25000" dirty="0" smtClean="0">
                          <a:solidFill>
                            <a:schemeClr val="bg1"/>
                          </a:solidFill>
                        </a:rPr>
                        <a:t>-1</a:t>
                      </a:r>
                      <a:endParaRPr lang="zh-TW" altLang="en-US" sz="28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sp>
        <p:nvSpPr>
          <p:cNvPr id="25" name="文字方塊 24"/>
          <p:cNvSpPr txBox="1"/>
          <p:nvPr/>
        </p:nvSpPr>
        <p:spPr>
          <a:xfrm>
            <a:off x="4112552" y="4243966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sp>
        <p:nvSpPr>
          <p:cNvPr id="26" name="矩形 25"/>
          <p:cNvSpPr/>
          <p:nvPr/>
        </p:nvSpPr>
        <p:spPr>
          <a:xfrm>
            <a:off x="0" y="5118138"/>
            <a:ext cx="12192000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487314"/>
              </p:ext>
            </p:extLst>
          </p:nvPr>
        </p:nvGraphicFramePr>
        <p:xfrm>
          <a:off x="6188870" y="5360469"/>
          <a:ext cx="3852520" cy="1254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268585571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3340620516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6867973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3594051021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193759290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1" baseline="-25000" dirty="0" smtClean="0">
                          <a:solidFill>
                            <a:schemeClr val="bg1"/>
                          </a:solidFill>
                        </a:rPr>
                        <a:t>-1</a:t>
                      </a:r>
                      <a:endParaRPr lang="zh-TW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6210119"/>
                  </a:ext>
                </a:extLst>
              </a:tr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9333735"/>
                  </a:ext>
                </a:extLst>
              </a:tr>
            </a:tbl>
          </a:graphicData>
        </a:graphic>
      </p:graphicFrame>
      <p:sp>
        <p:nvSpPr>
          <p:cNvPr id="27" name="文字方塊 26"/>
          <p:cNvSpPr txBox="1"/>
          <p:nvPr/>
        </p:nvSpPr>
        <p:spPr>
          <a:xfrm>
            <a:off x="223300" y="5893411"/>
            <a:ext cx="1606145" cy="584775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chemeClr val="bg1"/>
                </a:solidFill>
              </a:rPr>
              <a:t>Round 1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7471373" y="898243"/>
            <a:ext cx="12266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Binary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436638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Fraction to non-Decimal fraction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60065" y="898243"/>
            <a:ext cx="14766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Decimal</a:t>
            </a:r>
            <a:endParaRPr lang="zh-TW" altLang="en-US" sz="3200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2151974"/>
              </p:ext>
            </p:extLst>
          </p:nvPr>
        </p:nvGraphicFramePr>
        <p:xfrm>
          <a:off x="540657" y="1553620"/>
          <a:ext cx="1396094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094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0.375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6609146"/>
              </p:ext>
            </p:extLst>
          </p:nvPr>
        </p:nvGraphicFramePr>
        <p:xfrm>
          <a:off x="5418366" y="1567544"/>
          <a:ext cx="4623024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zh-TW" altLang="en-US" sz="3200" b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sp>
        <p:nvSpPr>
          <p:cNvPr id="11" name="文字方塊 10"/>
          <p:cNvSpPr txBox="1"/>
          <p:nvPr/>
        </p:nvSpPr>
        <p:spPr>
          <a:xfrm>
            <a:off x="4112552" y="1572831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cxnSp>
        <p:nvCxnSpPr>
          <p:cNvPr id="12" name="直線單箭頭接點 11"/>
          <p:cNvCxnSpPr/>
          <p:nvPr/>
        </p:nvCxnSpPr>
        <p:spPr>
          <a:xfrm>
            <a:off x="4297707" y="1209842"/>
            <a:ext cx="318407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0" y="5118138"/>
            <a:ext cx="12192000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/>
          <p:cNvSpPr txBox="1"/>
          <p:nvPr/>
        </p:nvSpPr>
        <p:spPr>
          <a:xfrm>
            <a:off x="223300" y="5893411"/>
            <a:ext cx="1606145" cy="584775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chemeClr val="bg1"/>
                </a:solidFill>
              </a:rPr>
              <a:t>Round 2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3430814"/>
              </p:ext>
            </p:extLst>
          </p:nvPr>
        </p:nvGraphicFramePr>
        <p:xfrm>
          <a:off x="6188870" y="5360469"/>
          <a:ext cx="3852520" cy="1254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268585571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3340620516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6867973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3594051021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193759290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1" baseline="-25000" dirty="0" smtClean="0">
                          <a:solidFill>
                            <a:schemeClr val="bg1"/>
                          </a:solidFill>
                        </a:rPr>
                        <a:t>-1</a:t>
                      </a:r>
                      <a:endParaRPr lang="zh-TW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6210119"/>
                  </a:ext>
                </a:extLst>
              </a:tr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9333735"/>
                  </a:ext>
                </a:extLst>
              </a:tr>
            </a:tbl>
          </a:graphicData>
        </a:graphic>
      </p:graphicFrame>
      <p:sp>
        <p:nvSpPr>
          <p:cNvPr id="14" name="文字方塊 13"/>
          <p:cNvSpPr txBox="1"/>
          <p:nvPr/>
        </p:nvSpPr>
        <p:spPr>
          <a:xfrm>
            <a:off x="7471373" y="898243"/>
            <a:ext cx="12266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Binary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76244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Fraction to non-Decimal fraction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60065" y="898243"/>
            <a:ext cx="14766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Decimal</a:t>
            </a:r>
            <a:endParaRPr lang="zh-TW" altLang="en-US" sz="3200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085872"/>
              </p:ext>
            </p:extLst>
          </p:nvPr>
        </p:nvGraphicFramePr>
        <p:xfrm>
          <a:off x="540657" y="1553620"/>
          <a:ext cx="1396094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094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0.375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597962"/>
              </p:ext>
            </p:extLst>
          </p:nvPr>
        </p:nvGraphicFramePr>
        <p:xfrm>
          <a:off x="5418366" y="1567544"/>
          <a:ext cx="4623024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zh-TW" altLang="en-US" sz="3200" b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sp>
        <p:nvSpPr>
          <p:cNvPr id="11" name="文字方塊 10"/>
          <p:cNvSpPr txBox="1"/>
          <p:nvPr/>
        </p:nvSpPr>
        <p:spPr>
          <a:xfrm>
            <a:off x="4112552" y="1572831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cxnSp>
        <p:nvCxnSpPr>
          <p:cNvPr id="12" name="直線單箭頭接點 11"/>
          <p:cNvCxnSpPr/>
          <p:nvPr/>
        </p:nvCxnSpPr>
        <p:spPr>
          <a:xfrm>
            <a:off x="4297707" y="1209842"/>
            <a:ext cx="318407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936751" y="1552420"/>
          <a:ext cx="1475922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685188257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10041390" y="1559982"/>
          <a:ext cx="1475922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685188257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sp>
        <p:nvSpPr>
          <p:cNvPr id="27" name="矩形 26"/>
          <p:cNvSpPr/>
          <p:nvPr/>
        </p:nvSpPr>
        <p:spPr>
          <a:xfrm>
            <a:off x="0" y="5118138"/>
            <a:ext cx="12192000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文字方塊 28"/>
          <p:cNvSpPr txBox="1"/>
          <p:nvPr/>
        </p:nvSpPr>
        <p:spPr>
          <a:xfrm>
            <a:off x="223300" y="5893411"/>
            <a:ext cx="1606145" cy="584775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chemeClr val="bg1"/>
                </a:solidFill>
              </a:rPr>
              <a:t>Round 2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3430814"/>
              </p:ext>
            </p:extLst>
          </p:nvPr>
        </p:nvGraphicFramePr>
        <p:xfrm>
          <a:off x="6188870" y="5360469"/>
          <a:ext cx="3852520" cy="1254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268585571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3340620516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6867973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3594051021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193759290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1" baseline="-25000" dirty="0" smtClean="0">
                          <a:solidFill>
                            <a:schemeClr val="bg1"/>
                          </a:solidFill>
                        </a:rPr>
                        <a:t>-1</a:t>
                      </a:r>
                      <a:endParaRPr lang="zh-TW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6210119"/>
                  </a:ext>
                </a:extLst>
              </a:tr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9333735"/>
                  </a:ext>
                </a:extLst>
              </a:tr>
            </a:tbl>
          </a:graphicData>
        </a:graphic>
      </p:graphicFrame>
      <p:sp>
        <p:nvSpPr>
          <p:cNvPr id="15" name="文字方塊 14"/>
          <p:cNvSpPr txBox="1"/>
          <p:nvPr/>
        </p:nvSpPr>
        <p:spPr>
          <a:xfrm>
            <a:off x="7471373" y="898243"/>
            <a:ext cx="12266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Binary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236368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Fraction to non-Decimal fraction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60065" y="898243"/>
            <a:ext cx="14766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Decimal</a:t>
            </a:r>
            <a:endParaRPr lang="zh-TW" altLang="en-US" sz="3200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928007"/>
              </p:ext>
            </p:extLst>
          </p:nvPr>
        </p:nvGraphicFramePr>
        <p:xfrm>
          <a:off x="540657" y="1553620"/>
          <a:ext cx="1396094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094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0.375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/>
          </p:nvPr>
        </p:nvGraphicFramePr>
        <p:xfrm>
          <a:off x="5418366" y="1567544"/>
          <a:ext cx="4623024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zh-TW" altLang="en-US" sz="3200" b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sp>
        <p:nvSpPr>
          <p:cNvPr id="11" name="文字方塊 10"/>
          <p:cNvSpPr txBox="1"/>
          <p:nvPr/>
        </p:nvSpPr>
        <p:spPr>
          <a:xfrm>
            <a:off x="4112552" y="1572831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cxnSp>
        <p:nvCxnSpPr>
          <p:cNvPr id="12" name="直線單箭頭接點 11"/>
          <p:cNvCxnSpPr/>
          <p:nvPr/>
        </p:nvCxnSpPr>
        <p:spPr>
          <a:xfrm>
            <a:off x="4297707" y="1209842"/>
            <a:ext cx="318407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936751" y="1552420"/>
          <a:ext cx="1475922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685188257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10041390" y="1559982"/>
          <a:ext cx="1475922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685188257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sp>
        <p:nvSpPr>
          <p:cNvPr id="27" name="矩形 26"/>
          <p:cNvSpPr/>
          <p:nvPr/>
        </p:nvSpPr>
        <p:spPr>
          <a:xfrm>
            <a:off x="0" y="5118138"/>
            <a:ext cx="12192000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2000380"/>
              </p:ext>
            </p:extLst>
          </p:nvPr>
        </p:nvGraphicFramePr>
        <p:xfrm>
          <a:off x="540657" y="2537413"/>
          <a:ext cx="1396094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094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0.75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2284798"/>
              </p:ext>
            </p:extLst>
          </p:nvPr>
        </p:nvGraphicFramePr>
        <p:xfrm>
          <a:off x="5418366" y="2537413"/>
          <a:ext cx="4623024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zh-TW" altLang="en-US" sz="3200" b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-6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5567847"/>
              </p:ext>
            </p:extLst>
          </p:nvPr>
        </p:nvGraphicFramePr>
        <p:xfrm>
          <a:off x="5175367" y="2542094"/>
          <a:ext cx="737961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sp>
        <p:nvSpPr>
          <p:cNvPr id="17" name="文字方塊 16"/>
          <p:cNvSpPr txBox="1"/>
          <p:nvPr/>
        </p:nvSpPr>
        <p:spPr>
          <a:xfrm>
            <a:off x="4112552" y="2537413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223300" y="5893411"/>
            <a:ext cx="1606145" cy="584775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chemeClr val="bg1"/>
                </a:solidFill>
              </a:rPr>
              <a:t>Round 2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3430814"/>
              </p:ext>
            </p:extLst>
          </p:nvPr>
        </p:nvGraphicFramePr>
        <p:xfrm>
          <a:off x="6188870" y="5360469"/>
          <a:ext cx="3852520" cy="1254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268585571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3340620516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6867973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3594051021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193759290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1" baseline="-25000" dirty="0" smtClean="0">
                          <a:solidFill>
                            <a:schemeClr val="bg1"/>
                          </a:solidFill>
                        </a:rPr>
                        <a:t>-1</a:t>
                      </a:r>
                      <a:endParaRPr lang="zh-TW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6210119"/>
                  </a:ext>
                </a:extLst>
              </a:tr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9333735"/>
                  </a:ext>
                </a:extLst>
              </a:tr>
            </a:tbl>
          </a:graphicData>
        </a:graphic>
      </p:graphicFrame>
      <p:sp>
        <p:nvSpPr>
          <p:cNvPr id="20" name="文字方塊 19"/>
          <p:cNvSpPr txBox="1"/>
          <p:nvPr/>
        </p:nvSpPr>
        <p:spPr>
          <a:xfrm>
            <a:off x="7471373" y="898243"/>
            <a:ext cx="12266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Binary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800396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Fraction to non-Decimal fraction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60065" y="898243"/>
            <a:ext cx="14766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Decimal</a:t>
            </a:r>
            <a:endParaRPr lang="zh-TW" altLang="en-US" sz="3200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5047250"/>
              </p:ext>
            </p:extLst>
          </p:nvPr>
        </p:nvGraphicFramePr>
        <p:xfrm>
          <a:off x="540657" y="1553620"/>
          <a:ext cx="1396094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094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0.375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2323650"/>
              </p:ext>
            </p:extLst>
          </p:nvPr>
        </p:nvGraphicFramePr>
        <p:xfrm>
          <a:off x="5418366" y="1567544"/>
          <a:ext cx="4623024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zh-TW" altLang="en-US" sz="3200" b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sp>
        <p:nvSpPr>
          <p:cNvPr id="11" name="文字方塊 10"/>
          <p:cNvSpPr txBox="1"/>
          <p:nvPr/>
        </p:nvSpPr>
        <p:spPr>
          <a:xfrm>
            <a:off x="4112552" y="1572831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cxnSp>
        <p:nvCxnSpPr>
          <p:cNvPr id="12" name="直線單箭頭接點 11"/>
          <p:cNvCxnSpPr/>
          <p:nvPr/>
        </p:nvCxnSpPr>
        <p:spPr>
          <a:xfrm>
            <a:off x="4297707" y="1209842"/>
            <a:ext cx="318407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936751" y="1552420"/>
          <a:ext cx="1475922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685188257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10041390" y="1559982"/>
          <a:ext cx="1475922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685188257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sp>
        <p:nvSpPr>
          <p:cNvPr id="27" name="矩形 26"/>
          <p:cNvSpPr/>
          <p:nvPr/>
        </p:nvSpPr>
        <p:spPr>
          <a:xfrm>
            <a:off x="0" y="5118138"/>
            <a:ext cx="12192000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609799"/>
              </p:ext>
            </p:extLst>
          </p:nvPr>
        </p:nvGraphicFramePr>
        <p:xfrm>
          <a:off x="540657" y="2537413"/>
          <a:ext cx="1396094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094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0.75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955352"/>
              </p:ext>
            </p:extLst>
          </p:nvPr>
        </p:nvGraphicFramePr>
        <p:xfrm>
          <a:off x="5418366" y="2537413"/>
          <a:ext cx="4623024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zh-TW" altLang="en-US" sz="3200" b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-6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4675907"/>
              </p:ext>
            </p:extLst>
          </p:nvPr>
        </p:nvGraphicFramePr>
        <p:xfrm>
          <a:off x="5175367" y="2542094"/>
          <a:ext cx="737961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sp>
        <p:nvSpPr>
          <p:cNvPr id="17" name="文字方塊 16"/>
          <p:cNvSpPr txBox="1"/>
          <p:nvPr/>
        </p:nvSpPr>
        <p:spPr>
          <a:xfrm>
            <a:off x="4112552" y="2537413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9169212"/>
              </p:ext>
            </p:extLst>
          </p:nvPr>
        </p:nvGraphicFramePr>
        <p:xfrm>
          <a:off x="540657" y="3434994"/>
          <a:ext cx="1396094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094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0.</a:t>
                      </a:r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75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2688026"/>
              </p:ext>
            </p:extLst>
          </p:nvPr>
        </p:nvGraphicFramePr>
        <p:xfrm>
          <a:off x="5418366" y="3434994"/>
          <a:ext cx="4623024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zh-TW" altLang="en-US" sz="3200" b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bg1"/>
                          </a:solidFill>
                        </a:rPr>
                        <a:t>-3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bg1"/>
                          </a:solidFill>
                        </a:rPr>
                        <a:t>-4</a:t>
                      </a:r>
                      <a:endParaRPr lang="zh-TW" altLang="en-US" sz="3200" b="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bg1"/>
                          </a:solidFill>
                        </a:rPr>
                        <a:t>-5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bg1"/>
                          </a:solidFill>
                        </a:rPr>
                        <a:t>-6</a:t>
                      </a:r>
                      <a:endParaRPr lang="zh-TW" altLang="en-US" sz="3200" b="0" baseline="-2500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bg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648196"/>
              </p:ext>
            </p:extLst>
          </p:nvPr>
        </p:nvGraphicFramePr>
        <p:xfrm>
          <a:off x="5175367" y="3439675"/>
          <a:ext cx="737961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sp>
        <p:nvSpPr>
          <p:cNvPr id="21" name="文字方塊 20"/>
          <p:cNvSpPr txBox="1"/>
          <p:nvPr/>
        </p:nvSpPr>
        <p:spPr>
          <a:xfrm>
            <a:off x="4112552" y="3434994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223300" y="5893411"/>
            <a:ext cx="1606145" cy="584775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chemeClr val="bg1"/>
                </a:solidFill>
              </a:rPr>
              <a:t>Round 2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3430814"/>
              </p:ext>
            </p:extLst>
          </p:nvPr>
        </p:nvGraphicFramePr>
        <p:xfrm>
          <a:off x="6188870" y="5360469"/>
          <a:ext cx="3852520" cy="1254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268585571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3340620516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6867973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3594051021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193759290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1" baseline="-25000" dirty="0" smtClean="0">
                          <a:solidFill>
                            <a:schemeClr val="bg1"/>
                          </a:solidFill>
                        </a:rPr>
                        <a:t>-1</a:t>
                      </a:r>
                      <a:endParaRPr lang="zh-TW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6210119"/>
                  </a:ext>
                </a:extLst>
              </a:tr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9333735"/>
                  </a:ext>
                </a:extLst>
              </a:tr>
            </a:tbl>
          </a:graphicData>
        </a:graphic>
      </p:graphicFrame>
      <p:sp>
        <p:nvSpPr>
          <p:cNvPr id="24" name="文字方塊 23"/>
          <p:cNvSpPr txBox="1"/>
          <p:nvPr/>
        </p:nvSpPr>
        <p:spPr>
          <a:xfrm>
            <a:off x="7471373" y="898243"/>
            <a:ext cx="12266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Binary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418341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Fraction to non-Decimal fraction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60065" y="898243"/>
            <a:ext cx="14766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Decimal</a:t>
            </a:r>
            <a:endParaRPr lang="zh-TW" altLang="en-US" sz="3200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5047250"/>
              </p:ext>
            </p:extLst>
          </p:nvPr>
        </p:nvGraphicFramePr>
        <p:xfrm>
          <a:off x="540657" y="1553620"/>
          <a:ext cx="1396094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094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0.375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2323650"/>
              </p:ext>
            </p:extLst>
          </p:nvPr>
        </p:nvGraphicFramePr>
        <p:xfrm>
          <a:off x="5418366" y="1567544"/>
          <a:ext cx="4623024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zh-TW" altLang="en-US" sz="3200" b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sp>
        <p:nvSpPr>
          <p:cNvPr id="11" name="文字方塊 10"/>
          <p:cNvSpPr txBox="1"/>
          <p:nvPr/>
        </p:nvSpPr>
        <p:spPr>
          <a:xfrm>
            <a:off x="4112552" y="1572831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cxnSp>
        <p:nvCxnSpPr>
          <p:cNvPr id="12" name="直線單箭頭接點 11"/>
          <p:cNvCxnSpPr/>
          <p:nvPr/>
        </p:nvCxnSpPr>
        <p:spPr>
          <a:xfrm>
            <a:off x="4297707" y="1209842"/>
            <a:ext cx="318407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936751" y="1552420"/>
          <a:ext cx="1475922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685188257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10041390" y="1559982"/>
          <a:ext cx="1475922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685188257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sp>
        <p:nvSpPr>
          <p:cNvPr id="27" name="矩形 26"/>
          <p:cNvSpPr/>
          <p:nvPr/>
        </p:nvSpPr>
        <p:spPr>
          <a:xfrm>
            <a:off x="0" y="5118138"/>
            <a:ext cx="12192000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609799"/>
              </p:ext>
            </p:extLst>
          </p:nvPr>
        </p:nvGraphicFramePr>
        <p:xfrm>
          <a:off x="540657" y="2537413"/>
          <a:ext cx="1396094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094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0.75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955352"/>
              </p:ext>
            </p:extLst>
          </p:nvPr>
        </p:nvGraphicFramePr>
        <p:xfrm>
          <a:off x="5418366" y="2537413"/>
          <a:ext cx="4623024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zh-TW" altLang="en-US" sz="3200" b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-6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4675907"/>
              </p:ext>
            </p:extLst>
          </p:nvPr>
        </p:nvGraphicFramePr>
        <p:xfrm>
          <a:off x="5175367" y="2542094"/>
          <a:ext cx="737961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sp>
        <p:nvSpPr>
          <p:cNvPr id="17" name="文字方塊 16"/>
          <p:cNvSpPr txBox="1"/>
          <p:nvPr/>
        </p:nvSpPr>
        <p:spPr>
          <a:xfrm>
            <a:off x="4112552" y="2537413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9169212"/>
              </p:ext>
            </p:extLst>
          </p:nvPr>
        </p:nvGraphicFramePr>
        <p:xfrm>
          <a:off x="540657" y="3434994"/>
          <a:ext cx="1396094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094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0.</a:t>
                      </a:r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75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2688026"/>
              </p:ext>
            </p:extLst>
          </p:nvPr>
        </p:nvGraphicFramePr>
        <p:xfrm>
          <a:off x="5418366" y="3434994"/>
          <a:ext cx="4623024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zh-TW" altLang="en-US" sz="3200" b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bg1"/>
                          </a:solidFill>
                        </a:rPr>
                        <a:t>-3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bg1"/>
                          </a:solidFill>
                        </a:rPr>
                        <a:t>-4</a:t>
                      </a:r>
                      <a:endParaRPr lang="zh-TW" altLang="en-US" sz="3200" b="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bg1"/>
                          </a:solidFill>
                        </a:rPr>
                        <a:t>-5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bg1"/>
                          </a:solidFill>
                        </a:rPr>
                        <a:t>-6</a:t>
                      </a:r>
                      <a:endParaRPr lang="zh-TW" altLang="en-US" sz="3200" b="0" baseline="-2500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bg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648196"/>
              </p:ext>
            </p:extLst>
          </p:nvPr>
        </p:nvGraphicFramePr>
        <p:xfrm>
          <a:off x="5175367" y="3439675"/>
          <a:ext cx="737961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sp>
        <p:nvSpPr>
          <p:cNvPr id="21" name="文字方塊 20"/>
          <p:cNvSpPr txBox="1"/>
          <p:nvPr/>
        </p:nvSpPr>
        <p:spPr>
          <a:xfrm>
            <a:off x="4112552" y="3434994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223300" y="5893411"/>
            <a:ext cx="1606145" cy="584775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chemeClr val="bg1"/>
                </a:solidFill>
              </a:rPr>
              <a:t>Round 2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3430814"/>
              </p:ext>
            </p:extLst>
          </p:nvPr>
        </p:nvGraphicFramePr>
        <p:xfrm>
          <a:off x="6188870" y="5360469"/>
          <a:ext cx="3852520" cy="1254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268585571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3340620516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6867973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3594051021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193759290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1" baseline="-25000" dirty="0" smtClean="0">
                          <a:solidFill>
                            <a:schemeClr val="bg1"/>
                          </a:solidFill>
                        </a:rPr>
                        <a:t>-1</a:t>
                      </a:r>
                      <a:endParaRPr lang="zh-TW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6210119"/>
                  </a:ext>
                </a:extLst>
              </a:tr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9333735"/>
                  </a:ext>
                </a:extLst>
              </a:tr>
            </a:tbl>
          </a:graphicData>
        </a:graphic>
      </p:graphicFrame>
      <p:sp>
        <p:nvSpPr>
          <p:cNvPr id="24" name="矩形 23"/>
          <p:cNvSpPr/>
          <p:nvPr/>
        </p:nvSpPr>
        <p:spPr>
          <a:xfrm>
            <a:off x="0" y="5118138"/>
            <a:ext cx="12192000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4908878"/>
              </p:ext>
            </p:extLst>
          </p:nvPr>
        </p:nvGraphicFramePr>
        <p:xfrm>
          <a:off x="540657" y="4309166"/>
          <a:ext cx="1396094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094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.75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26" name="表格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5973243"/>
              </p:ext>
            </p:extLst>
          </p:nvPr>
        </p:nvGraphicFramePr>
        <p:xfrm>
          <a:off x="5418366" y="4309166"/>
          <a:ext cx="4623024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zh-TW" altLang="en-US" sz="3200" b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-6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graphicFrame>
        <p:nvGraphicFramePr>
          <p:cNvPr id="28" name="表格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3142986"/>
              </p:ext>
            </p:extLst>
          </p:nvPr>
        </p:nvGraphicFramePr>
        <p:xfrm>
          <a:off x="5175367" y="4313847"/>
          <a:ext cx="737961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2800" b="0" baseline="-25000" dirty="0" smtClean="0">
                          <a:solidFill>
                            <a:schemeClr val="bg1"/>
                          </a:solidFill>
                        </a:rPr>
                        <a:t>-2</a:t>
                      </a:r>
                      <a:endParaRPr lang="zh-TW" altLang="en-US" sz="28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sp>
        <p:nvSpPr>
          <p:cNvPr id="29" name="文字方塊 28"/>
          <p:cNvSpPr txBox="1"/>
          <p:nvPr/>
        </p:nvSpPr>
        <p:spPr>
          <a:xfrm>
            <a:off x="4112552" y="4309166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sp>
        <p:nvSpPr>
          <p:cNvPr id="30" name="文字方塊 29"/>
          <p:cNvSpPr txBox="1"/>
          <p:nvPr/>
        </p:nvSpPr>
        <p:spPr>
          <a:xfrm>
            <a:off x="7471373" y="898243"/>
            <a:ext cx="12266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Binary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751564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Fraction to non-Decimal fraction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60065" y="898243"/>
            <a:ext cx="14766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Decimal</a:t>
            </a:r>
            <a:endParaRPr lang="zh-TW" altLang="en-US" sz="3200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5047250"/>
              </p:ext>
            </p:extLst>
          </p:nvPr>
        </p:nvGraphicFramePr>
        <p:xfrm>
          <a:off x="540657" y="1553620"/>
          <a:ext cx="1396094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094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0.375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2013917"/>
              </p:ext>
            </p:extLst>
          </p:nvPr>
        </p:nvGraphicFramePr>
        <p:xfrm>
          <a:off x="5418366" y="1567544"/>
          <a:ext cx="4623024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zh-TW" altLang="en-US" sz="3200" b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sp>
        <p:nvSpPr>
          <p:cNvPr id="11" name="文字方塊 10"/>
          <p:cNvSpPr txBox="1"/>
          <p:nvPr/>
        </p:nvSpPr>
        <p:spPr>
          <a:xfrm>
            <a:off x="4112552" y="1572831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cxnSp>
        <p:nvCxnSpPr>
          <p:cNvPr id="12" name="直線單箭頭接點 11"/>
          <p:cNvCxnSpPr/>
          <p:nvPr/>
        </p:nvCxnSpPr>
        <p:spPr>
          <a:xfrm>
            <a:off x="4297707" y="1209842"/>
            <a:ext cx="318407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936751" y="1552420"/>
          <a:ext cx="1475922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685188257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10041390" y="1559982"/>
          <a:ext cx="1475922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685188257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sp>
        <p:nvSpPr>
          <p:cNvPr id="27" name="矩形 26"/>
          <p:cNvSpPr/>
          <p:nvPr/>
        </p:nvSpPr>
        <p:spPr>
          <a:xfrm>
            <a:off x="0" y="5118138"/>
            <a:ext cx="12192000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9916232"/>
              </p:ext>
            </p:extLst>
          </p:nvPr>
        </p:nvGraphicFramePr>
        <p:xfrm>
          <a:off x="540657" y="2537413"/>
          <a:ext cx="1396094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094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0.75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955352"/>
              </p:ext>
            </p:extLst>
          </p:nvPr>
        </p:nvGraphicFramePr>
        <p:xfrm>
          <a:off x="5418366" y="2537413"/>
          <a:ext cx="4623024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zh-TW" altLang="en-US" sz="3200" b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-6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4675907"/>
              </p:ext>
            </p:extLst>
          </p:nvPr>
        </p:nvGraphicFramePr>
        <p:xfrm>
          <a:off x="5175367" y="2542094"/>
          <a:ext cx="737961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sp>
        <p:nvSpPr>
          <p:cNvPr id="17" name="文字方塊 16"/>
          <p:cNvSpPr txBox="1"/>
          <p:nvPr/>
        </p:nvSpPr>
        <p:spPr>
          <a:xfrm>
            <a:off x="4112552" y="2537413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0050167"/>
              </p:ext>
            </p:extLst>
          </p:nvPr>
        </p:nvGraphicFramePr>
        <p:xfrm>
          <a:off x="540657" y="3434994"/>
          <a:ext cx="1396094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094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0.</a:t>
                      </a:r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75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2688026"/>
              </p:ext>
            </p:extLst>
          </p:nvPr>
        </p:nvGraphicFramePr>
        <p:xfrm>
          <a:off x="5418366" y="3434994"/>
          <a:ext cx="4623024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zh-TW" altLang="en-US" sz="3200" b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bg1"/>
                          </a:solidFill>
                        </a:rPr>
                        <a:t>-3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bg1"/>
                          </a:solidFill>
                        </a:rPr>
                        <a:t>-4</a:t>
                      </a:r>
                      <a:endParaRPr lang="zh-TW" altLang="en-US" sz="3200" b="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bg1"/>
                          </a:solidFill>
                        </a:rPr>
                        <a:t>-5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bg1"/>
                          </a:solidFill>
                        </a:rPr>
                        <a:t>-6</a:t>
                      </a:r>
                      <a:endParaRPr lang="zh-TW" altLang="en-US" sz="3200" b="0" baseline="-2500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bg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648196"/>
              </p:ext>
            </p:extLst>
          </p:nvPr>
        </p:nvGraphicFramePr>
        <p:xfrm>
          <a:off x="5175367" y="3439675"/>
          <a:ext cx="737961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sp>
        <p:nvSpPr>
          <p:cNvPr id="21" name="文字方塊 20"/>
          <p:cNvSpPr txBox="1"/>
          <p:nvPr/>
        </p:nvSpPr>
        <p:spPr>
          <a:xfrm>
            <a:off x="4112552" y="3434994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223300" y="5893411"/>
            <a:ext cx="1606145" cy="584775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chemeClr val="bg1"/>
                </a:solidFill>
              </a:rPr>
              <a:t>Round 2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5259770"/>
              </p:ext>
            </p:extLst>
          </p:nvPr>
        </p:nvGraphicFramePr>
        <p:xfrm>
          <a:off x="6188870" y="5360469"/>
          <a:ext cx="3852520" cy="1254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268585571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3340620516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6867973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3594051021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193759290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1" baseline="-25000" dirty="0" smtClean="0">
                          <a:solidFill>
                            <a:schemeClr val="bg1"/>
                          </a:solidFill>
                        </a:rPr>
                        <a:t>-1</a:t>
                      </a:r>
                      <a:endParaRPr lang="zh-TW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1" baseline="-2500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TW" altLang="en-US" sz="32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6210119"/>
                  </a:ext>
                </a:extLst>
              </a:tr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9333735"/>
                  </a:ext>
                </a:extLst>
              </a:tr>
            </a:tbl>
          </a:graphicData>
        </a:graphic>
      </p:graphicFrame>
      <p:graphicFrame>
        <p:nvGraphicFramePr>
          <p:cNvPr id="24" name="表格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2062497"/>
              </p:ext>
            </p:extLst>
          </p:nvPr>
        </p:nvGraphicFramePr>
        <p:xfrm>
          <a:off x="540657" y="4309166"/>
          <a:ext cx="1396094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094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.75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5949438"/>
              </p:ext>
            </p:extLst>
          </p:nvPr>
        </p:nvGraphicFramePr>
        <p:xfrm>
          <a:off x="5418366" y="4309166"/>
          <a:ext cx="4623024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zh-TW" altLang="en-US" sz="3200" b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-6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graphicFrame>
        <p:nvGraphicFramePr>
          <p:cNvPr id="26" name="表格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5291967"/>
              </p:ext>
            </p:extLst>
          </p:nvPr>
        </p:nvGraphicFramePr>
        <p:xfrm>
          <a:off x="5175367" y="4313847"/>
          <a:ext cx="737961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2800" b="0" baseline="-25000" dirty="0" smtClean="0">
                          <a:solidFill>
                            <a:schemeClr val="bg1"/>
                          </a:solidFill>
                        </a:rPr>
                        <a:t>-2</a:t>
                      </a:r>
                      <a:endParaRPr lang="zh-TW" altLang="en-US" sz="28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sp>
        <p:nvSpPr>
          <p:cNvPr id="28" name="文字方塊 27"/>
          <p:cNvSpPr txBox="1"/>
          <p:nvPr/>
        </p:nvSpPr>
        <p:spPr>
          <a:xfrm>
            <a:off x="4112552" y="4309166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471373" y="898243"/>
            <a:ext cx="12266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Binary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562788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Fraction to non-Decimal fraction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60065" y="898243"/>
            <a:ext cx="14766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Decimal</a:t>
            </a:r>
            <a:endParaRPr lang="zh-TW" altLang="en-US" sz="3200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2956981"/>
              </p:ext>
            </p:extLst>
          </p:nvPr>
        </p:nvGraphicFramePr>
        <p:xfrm>
          <a:off x="540657" y="1553620"/>
          <a:ext cx="1396094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094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0.75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4297493"/>
              </p:ext>
            </p:extLst>
          </p:nvPr>
        </p:nvGraphicFramePr>
        <p:xfrm>
          <a:off x="5418366" y="1567544"/>
          <a:ext cx="4623024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zh-TW" altLang="en-US" sz="3200" b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-6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sp>
        <p:nvSpPr>
          <p:cNvPr id="11" name="文字方塊 10"/>
          <p:cNvSpPr txBox="1"/>
          <p:nvPr/>
        </p:nvSpPr>
        <p:spPr>
          <a:xfrm>
            <a:off x="4112552" y="1572831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cxnSp>
        <p:nvCxnSpPr>
          <p:cNvPr id="12" name="直線單箭頭接點 11"/>
          <p:cNvCxnSpPr/>
          <p:nvPr/>
        </p:nvCxnSpPr>
        <p:spPr>
          <a:xfrm>
            <a:off x="4297707" y="1209842"/>
            <a:ext cx="318407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0" y="5118138"/>
            <a:ext cx="12192000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文字方塊 21"/>
          <p:cNvSpPr txBox="1"/>
          <p:nvPr/>
        </p:nvSpPr>
        <p:spPr>
          <a:xfrm>
            <a:off x="223300" y="5893411"/>
            <a:ext cx="1606145" cy="584775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chemeClr val="bg1"/>
                </a:solidFill>
              </a:rPr>
              <a:t>Round 3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5259770"/>
              </p:ext>
            </p:extLst>
          </p:nvPr>
        </p:nvGraphicFramePr>
        <p:xfrm>
          <a:off x="6188870" y="5360469"/>
          <a:ext cx="3852520" cy="1254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268585571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3340620516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6867973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3594051021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193759290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1" baseline="-25000" dirty="0" smtClean="0">
                          <a:solidFill>
                            <a:schemeClr val="bg1"/>
                          </a:solidFill>
                        </a:rPr>
                        <a:t>-1</a:t>
                      </a:r>
                      <a:endParaRPr lang="zh-TW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1" baseline="-2500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TW" altLang="en-US" sz="32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6210119"/>
                  </a:ext>
                </a:extLst>
              </a:tr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9333735"/>
                  </a:ext>
                </a:extLst>
              </a:tr>
            </a:tbl>
          </a:graphicData>
        </a:graphic>
      </p:graphicFrame>
      <p:sp>
        <p:nvSpPr>
          <p:cNvPr id="13" name="文字方塊 12"/>
          <p:cNvSpPr txBox="1"/>
          <p:nvPr/>
        </p:nvSpPr>
        <p:spPr>
          <a:xfrm>
            <a:off x="7471373" y="898243"/>
            <a:ext cx="12266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Binary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448073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Fraction to non-Decimal fraction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60065" y="898243"/>
            <a:ext cx="14766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Decimal</a:t>
            </a:r>
            <a:endParaRPr lang="zh-TW" altLang="en-US" sz="3200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2956981"/>
              </p:ext>
            </p:extLst>
          </p:nvPr>
        </p:nvGraphicFramePr>
        <p:xfrm>
          <a:off x="540657" y="1553620"/>
          <a:ext cx="1396094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094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0.75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4297493"/>
              </p:ext>
            </p:extLst>
          </p:nvPr>
        </p:nvGraphicFramePr>
        <p:xfrm>
          <a:off x="5418366" y="1567544"/>
          <a:ext cx="4623024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zh-TW" altLang="en-US" sz="3200" b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-6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sp>
        <p:nvSpPr>
          <p:cNvPr id="11" name="文字方塊 10"/>
          <p:cNvSpPr txBox="1"/>
          <p:nvPr/>
        </p:nvSpPr>
        <p:spPr>
          <a:xfrm>
            <a:off x="4112552" y="1572831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cxnSp>
        <p:nvCxnSpPr>
          <p:cNvPr id="12" name="直線單箭頭接點 11"/>
          <p:cNvCxnSpPr/>
          <p:nvPr/>
        </p:nvCxnSpPr>
        <p:spPr>
          <a:xfrm>
            <a:off x="4297707" y="1209842"/>
            <a:ext cx="318407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936751" y="1552420"/>
          <a:ext cx="1475922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685188257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10041390" y="1559982"/>
          <a:ext cx="1475922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685188257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sp>
        <p:nvSpPr>
          <p:cNvPr id="27" name="矩形 26"/>
          <p:cNvSpPr/>
          <p:nvPr/>
        </p:nvSpPr>
        <p:spPr>
          <a:xfrm>
            <a:off x="0" y="5118138"/>
            <a:ext cx="12192000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文字方塊 21"/>
          <p:cNvSpPr txBox="1"/>
          <p:nvPr/>
        </p:nvSpPr>
        <p:spPr>
          <a:xfrm>
            <a:off x="223300" y="5893411"/>
            <a:ext cx="1606145" cy="584775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chemeClr val="bg1"/>
                </a:solidFill>
              </a:rPr>
              <a:t>Round 3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5259770"/>
              </p:ext>
            </p:extLst>
          </p:nvPr>
        </p:nvGraphicFramePr>
        <p:xfrm>
          <a:off x="6188870" y="5360469"/>
          <a:ext cx="3852520" cy="1254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268585571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3340620516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6867973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3594051021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193759290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1" baseline="-25000" dirty="0" smtClean="0">
                          <a:solidFill>
                            <a:schemeClr val="bg1"/>
                          </a:solidFill>
                        </a:rPr>
                        <a:t>-1</a:t>
                      </a:r>
                      <a:endParaRPr lang="zh-TW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1" baseline="-2500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TW" altLang="en-US" sz="32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6210119"/>
                  </a:ext>
                </a:extLst>
              </a:tr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9333735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0234572"/>
              </p:ext>
            </p:extLst>
          </p:nvPr>
        </p:nvGraphicFramePr>
        <p:xfrm>
          <a:off x="540657" y="2455773"/>
          <a:ext cx="1396094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094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1.5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6134875"/>
              </p:ext>
            </p:extLst>
          </p:nvPr>
        </p:nvGraphicFramePr>
        <p:xfrm>
          <a:off x="5418366" y="2455773"/>
          <a:ext cx="4623024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zh-TW" altLang="en-US" sz="3200" b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-6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-7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5678531"/>
              </p:ext>
            </p:extLst>
          </p:nvPr>
        </p:nvGraphicFramePr>
        <p:xfrm>
          <a:off x="5175367" y="2460454"/>
          <a:ext cx="737961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sp>
        <p:nvSpPr>
          <p:cNvPr id="17" name="文字方塊 16"/>
          <p:cNvSpPr txBox="1"/>
          <p:nvPr/>
        </p:nvSpPr>
        <p:spPr>
          <a:xfrm>
            <a:off x="4112552" y="2455773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7471373" y="898243"/>
            <a:ext cx="12266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Binary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429408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Fraction to non-Decimal fraction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60065" y="898243"/>
            <a:ext cx="14766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Decimal</a:t>
            </a:r>
            <a:endParaRPr lang="zh-TW" altLang="en-US" sz="3200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2956981"/>
              </p:ext>
            </p:extLst>
          </p:nvPr>
        </p:nvGraphicFramePr>
        <p:xfrm>
          <a:off x="540657" y="1553620"/>
          <a:ext cx="1396094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094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0.75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4297493"/>
              </p:ext>
            </p:extLst>
          </p:nvPr>
        </p:nvGraphicFramePr>
        <p:xfrm>
          <a:off x="5418366" y="1567544"/>
          <a:ext cx="4623024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zh-TW" altLang="en-US" sz="3200" b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-6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sp>
        <p:nvSpPr>
          <p:cNvPr id="11" name="文字方塊 10"/>
          <p:cNvSpPr txBox="1"/>
          <p:nvPr/>
        </p:nvSpPr>
        <p:spPr>
          <a:xfrm>
            <a:off x="4112552" y="1572831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cxnSp>
        <p:nvCxnSpPr>
          <p:cNvPr id="12" name="直線單箭頭接點 11"/>
          <p:cNvCxnSpPr/>
          <p:nvPr/>
        </p:nvCxnSpPr>
        <p:spPr>
          <a:xfrm>
            <a:off x="4297707" y="1209842"/>
            <a:ext cx="318407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936751" y="1552420"/>
          <a:ext cx="1475922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685188257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10041390" y="1559982"/>
          <a:ext cx="1475922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685188257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sp>
        <p:nvSpPr>
          <p:cNvPr id="27" name="矩形 26"/>
          <p:cNvSpPr/>
          <p:nvPr/>
        </p:nvSpPr>
        <p:spPr>
          <a:xfrm>
            <a:off x="0" y="5118138"/>
            <a:ext cx="12192000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文字方塊 21"/>
          <p:cNvSpPr txBox="1"/>
          <p:nvPr/>
        </p:nvSpPr>
        <p:spPr>
          <a:xfrm>
            <a:off x="223300" y="5893411"/>
            <a:ext cx="1606145" cy="584775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chemeClr val="bg1"/>
                </a:solidFill>
              </a:rPr>
              <a:t>Round 3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5259770"/>
              </p:ext>
            </p:extLst>
          </p:nvPr>
        </p:nvGraphicFramePr>
        <p:xfrm>
          <a:off x="6188870" y="5360469"/>
          <a:ext cx="3852520" cy="1254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268585571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3340620516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6867973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3594051021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193759290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1" baseline="-25000" dirty="0" smtClean="0">
                          <a:solidFill>
                            <a:schemeClr val="bg1"/>
                          </a:solidFill>
                        </a:rPr>
                        <a:t>-1</a:t>
                      </a:r>
                      <a:endParaRPr lang="zh-TW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1" baseline="-2500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TW" altLang="en-US" sz="32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6210119"/>
                  </a:ext>
                </a:extLst>
              </a:tr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9333735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0044452"/>
              </p:ext>
            </p:extLst>
          </p:nvPr>
        </p:nvGraphicFramePr>
        <p:xfrm>
          <a:off x="540657" y="2455773"/>
          <a:ext cx="1396094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094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1.5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4812788"/>
              </p:ext>
            </p:extLst>
          </p:nvPr>
        </p:nvGraphicFramePr>
        <p:xfrm>
          <a:off x="5418366" y="2455773"/>
          <a:ext cx="4623024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zh-TW" altLang="en-US" sz="3200" b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-6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-7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1527263"/>
              </p:ext>
            </p:extLst>
          </p:nvPr>
        </p:nvGraphicFramePr>
        <p:xfrm>
          <a:off x="5175367" y="2460454"/>
          <a:ext cx="737961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sp>
        <p:nvSpPr>
          <p:cNvPr id="17" name="文字方塊 16"/>
          <p:cNvSpPr txBox="1"/>
          <p:nvPr/>
        </p:nvSpPr>
        <p:spPr>
          <a:xfrm>
            <a:off x="4112552" y="2455773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3992469"/>
              </p:ext>
            </p:extLst>
          </p:nvPr>
        </p:nvGraphicFramePr>
        <p:xfrm>
          <a:off x="540657" y="3350772"/>
          <a:ext cx="1396094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094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1.</a:t>
                      </a:r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3042874"/>
              </p:ext>
            </p:extLst>
          </p:nvPr>
        </p:nvGraphicFramePr>
        <p:xfrm>
          <a:off x="5418366" y="3350772"/>
          <a:ext cx="4623024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zh-TW" altLang="en-US" sz="3200" b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bg1"/>
                          </a:solidFill>
                        </a:rPr>
                        <a:t>-4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bg1"/>
                          </a:solidFill>
                        </a:rPr>
                        <a:t>-5</a:t>
                      </a:r>
                      <a:endParaRPr lang="zh-TW" altLang="en-US" sz="3200" b="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bg1"/>
                          </a:solidFill>
                        </a:rPr>
                        <a:t>-6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bg1"/>
                          </a:solidFill>
                        </a:rPr>
                        <a:t>-7</a:t>
                      </a:r>
                      <a:endParaRPr lang="zh-TW" altLang="en-US" sz="3200" b="0" baseline="-2500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bg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620352"/>
              </p:ext>
            </p:extLst>
          </p:nvPr>
        </p:nvGraphicFramePr>
        <p:xfrm>
          <a:off x="5175367" y="3355453"/>
          <a:ext cx="737961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sp>
        <p:nvSpPr>
          <p:cNvPr id="21" name="文字方塊 20"/>
          <p:cNvSpPr txBox="1"/>
          <p:nvPr/>
        </p:nvSpPr>
        <p:spPr>
          <a:xfrm>
            <a:off x="4112552" y="3350772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7471373" y="898243"/>
            <a:ext cx="12266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Binary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505357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Fraction to non-Decimal fraction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60065" y="898243"/>
            <a:ext cx="14766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Decimal</a:t>
            </a:r>
            <a:endParaRPr lang="zh-TW" altLang="en-US" sz="3200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2956981"/>
              </p:ext>
            </p:extLst>
          </p:nvPr>
        </p:nvGraphicFramePr>
        <p:xfrm>
          <a:off x="540657" y="1553620"/>
          <a:ext cx="1396094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094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0.75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4297493"/>
              </p:ext>
            </p:extLst>
          </p:nvPr>
        </p:nvGraphicFramePr>
        <p:xfrm>
          <a:off x="5418366" y="1567544"/>
          <a:ext cx="4623024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zh-TW" altLang="en-US" sz="3200" b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-6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sp>
        <p:nvSpPr>
          <p:cNvPr id="11" name="文字方塊 10"/>
          <p:cNvSpPr txBox="1"/>
          <p:nvPr/>
        </p:nvSpPr>
        <p:spPr>
          <a:xfrm>
            <a:off x="4112552" y="1572831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cxnSp>
        <p:nvCxnSpPr>
          <p:cNvPr id="12" name="直線單箭頭接點 11"/>
          <p:cNvCxnSpPr/>
          <p:nvPr/>
        </p:nvCxnSpPr>
        <p:spPr>
          <a:xfrm>
            <a:off x="4297707" y="1209842"/>
            <a:ext cx="318407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936751" y="1552420"/>
          <a:ext cx="1475922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685188257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10041390" y="1559982"/>
          <a:ext cx="1475922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685188257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sp>
        <p:nvSpPr>
          <p:cNvPr id="27" name="矩形 26"/>
          <p:cNvSpPr/>
          <p:nvPr/>
        </p:nvSpPr>
        <p:spPr>
          <a:xfrm>
            <a:off x="0" y="5118138"/>
            <a:ext cx="12192000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文字方塊 21"/>
          <p:cNvSpPr txBox="1"/>
          <p:nvPr/>
        </p:nvSpPr>
        <p:spPr>
          <a:xfrm>
            <a:off x="223300" y="5893411"/>
            <a:ext cx="1606145" cy="584775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chemeClr val="bg1"/>
                </a:solidFill>
              </a:rPr>
              <a:t>Round 3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5259770"/>
              </p:ext>
            </p:extLst>
          </p:nvPr>
        </p:nvGraphicFramePr>
        <p:xfrm>
          <a:off x="6188870" y="5360469"/>
          <a:ext cx="3852520" cy="1254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268585571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3340620516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6867973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3594051021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193759290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1" baseline="-25000" dirty="0" smtClean="0">
                          <a:solidFill>
                            <a:schemeClr val="bg1"/>
                          </a:solidFill>
                        </a:rPr>
                        <a:t>-1</a:t>
                      </a:r>
                      <a:endParaRPr lang="zh-TW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1" baseline="-2500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TW" altLang="en-US" sz="32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6210119"/>
                  </a:ext>
                </a:extLst>
              </a:tr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9333735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0044452"/>
              </p:ext>
            </p:extLst>
          </p:nvPr>
        </p:nvGraphicFramePr>
        <p:xfrm>
          <a:off x="540657" y="2455773"/>
          <a:ext cx="1396094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094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1.5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4812788"/>
              </p:ext>
            </p:extLst>
          </p:nvPr>
        </p:nvGraphicFramePr>
        <p:xfrm>
          <a:off x="5418366" y="2455773"/>
          <a:ext cx="4623024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zh-TW" altLang="en-US" sz="3200" b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-6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-7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1527263"/>
              </p:ext>
            </p:extLst>
          </p:nvPr>
        </p:nvGraphicFramePr>
        <p:xfrm>
          <a:off x="5175367" y="2460454"/>
          <a:ext cx="737961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sp>
        <p:nvSpPr>
          <p:cNvPr id="17" name="文字方塊 16"/>
          <p:cNvSpPr txBox="1"/>
          <p:nvPr/>
        </p:nvSpPr>
        <p:spPr>
          <a:xfrm>
            <a:off x="4112552" y="2455773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3992469"/>
              </p:ext>
            </p:extLst>
          </p:nvPr>
        </p:nvGraphicFramePr>
        <p:xfrm>
          <a:off x="540657" y="3350772"/>
          <a:ext cx="1396094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094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1.</a:t>
                      </a:r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3042874"/>
              </p:ext>
            </p:extLst>
          </p:nvPr>
        </p:nvGraphicFramePr>
        <p:xfrm>
          <a:off x="5418366" y="3350772"/>
          <a:ext cx="4623024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zh-TW" altLang="en-US" sz="3200" b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bg1"/>
                          </a:solidFill>
                        </a:rPr>
                        <a:t>-4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bg1"/>
                          </a:solidFill>
                        </a:rPr>
                        <a:t>-5</a:t>
                      </a:r>
                      <a:endParaRPr lang="zh-TW" altLang="en-US" sz="3200" b="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bg1"/>
                          </a:solidFill>
                        </a:rPr>
                        <a:t>-6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bg1"/>
                          </a:solidFill>
                        </a:rPr>
                        <a:t>-7</a:t>
                      </a:r>
                      <a:endParaRPr lang="zh-TW" altLang="en-US" sz="3200" b="0" baseline="-2500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bg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620352"/>
              </p:ext>
            </p:extLst>
          </p:nvPr>
        </p:nvGraphicFramePr>
        <p:xfrm>
          <a:off x="5175367" y="3355453"/>
          <a:ext cx="737961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sp>
        <p:nvSpPr>
          <p:cNvPr id="21" name="文字方塊 20"/>
          <p:cNvSpPr txBox="1"/>
          <p:nvPr/>
        </p:nvSpPr>
        <p:spPr>
          <a:xfrm>
            <a:off x="4112552" y="3350772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graphicFrame>
        <p:nvGraphicFramePr>
          <p:cNvPr id="24" name="表格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4643295"/>
              </p:ext>
            </p:extLst>
          </p:nvPr>
        </p:nvGraphicFramePr>
        <p:xfrm>
          <a:off x="540657" y="4240142"/>
          <a:ext cx="1396094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094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.5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131976"/>
              </p:ext>
            </p:extLst>
          </p:nvPr>
        </p:nvGraphicFramePr>
        <p:xfrm>
          <a:off x="5418366" y="4240142"/>
          <a:ext cx="4623024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zh-TW" altLang="en-US" sz="3200" b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-6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-7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graphicFrame>
        <p:nvGraphicFramePr>
          <p:cNvPr id="26" name="表格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1786701"/>
              </p:ext>
            </p:extLst>
          </p:nvPr>
        </p:nvGraphicFramePr>
        <p:xfrm>
          <a:off x="5175367" y="4244823"/>
          <a:ext cx="737961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2800" b="0" baseline="-25000" dirty="0" smtClean="0">
                          <a:solidFill>
                            <a:schemeClr val="bg1"/>
                          </a:solidFill>
                        </a:rPr>
                        <a:t>-3</a:t>
                      </a:r>
                      <a:endParaRPr lang="zh-TW" altLang="en-US" sz="28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sp>
        <p:nvSpPr>
          <p:cNvPr id="28" name="文字方塊 27"/>
          <p:cNvSpPr txBox="1"/>
          <p:nvPr/>
        </p:nvSpPr>
        <p:spPr>
          <a:xfrm>
            <a:off x="4112552" y="4240142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471373" y="898243"/>
            <a:ext cx="12266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Binary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485558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Fraction to non-Decimal fraction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60065" y="898243"/>
            <a:ext cx="14766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Decimal</a:t>
            </a:r>
            <a:endParaRPr lang="zh-TW" altLang="en-US" sz="3200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2956981"/>
              </p:ext>
            </p:extLst>
          </p:nvPr>
        </p:nvGraphicFramePr>
        <p:xfrm>
          <a:off x="540657" y="1553620"/>
          <a:ext cx="1396094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094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0.75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4297493"/>
              </p:ext>
            </p:extLst>
          </p:nvPr>
        </p:nvGraphicFramePr>
        <p:xfrm>
          <a:off x="5418366" y="1567544"/>
          <a:ext cx="4623024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zh-TW" altLang="en-US" sz="3200" b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-6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sp>
        <p:nvSpPr>
          <p:cNvPr id="11" name="文字方塊 10"/>
          <p:cNvSpPr txBox="1"/>
          <p:nvPr/>
        </p:nvSpPr>
        <p:spPr>
          <a:xfrm>
            <a:off x="4112552" y="1572831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cxnSp>
        <p:nvCxnSpPr>
          <p:cNvPr id="12" name="直線單箭頭接點 11"/>
          <p:cNvCxnSpPr/>
          <p:nvPr/>
        </p:nvCxnSpPr>
        <p:spPr>
          <a:xfrm>
            <a:off x="4297707" y="1209842"/>
            <a:ext cx="318407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936751" y="1552420"/>
          <a:ext cx="1475922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685188257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10041390" y="1559982"/>
          <a:ext cx="1475922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685188257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sp>
        <p:nvSpPr>
          <p:cNvPr id="27" name="矩形 26"/>
          <p:cNvSpPr/>
          <p:nvPr/>
        </p:nvSpPr>
        <p:spPr>
          <a:xfrm>
            <a:off x="0" y="5118138"/>
            <a:ext cx="12192000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文字方塊 21"/>
          <p:cNvSpPr txBox="1"/>
          <p:nvPr/>
        </p:nvSpPr>
        <p:spPr>
          <a:xfrm>
            <a:off x="223300" y="5893411"/>
            <a:ext cx="1606145" cy="584775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chemeClr val="bg1"/>
                </a:solidFill>
              </a:rPr>
              <a:t>Round 3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101108"/>
              </p:ext>
            </p:extLst>
          </p:nvPr>
        </p:nvGraphicFramePr>
        <p:xfrm>
          <a:off x="6188870" y="5360469"/>
          <a:ext cx="3852520" cy="1254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268585571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3340620516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6867973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3594051021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193759290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1" baseline="-25000" dirty="0" smtClean="0">
                          <a:solidFill>
                            <a:schemeClr val="bg1"/>
                          </a:solidFill>
                        </a:rPr>
                        <a:t>-1</a:t>
                      </a:r>
                      <a:endParaRPr lang="zh-TW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1" baseline="-2500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TW" altLang="en-US" sz="32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1" baseline="-25000" dirty="0" smtClean="0">
                          <a:solidFill>
                            <a:schemeClr val="bg1"/>
                          </a:solidFill>
                        </a:rPr>
                        <a:t>-3</a:t>
                      </a:r>
                      <a:endParaRPr lang="zh-TW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6210119"/>
                  </a:ext>
                </a:extLst>
              </a:tr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9333735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0044452"/>
              </p:ext>
            </p:extLst>
          </p:nvPr>
        </p:nvGraphicFramePr>
        <p:xfrm>
          <a:off x="540657" y="2455773"/>
          <a:ext cx="1396094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094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1.5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4812788"/>
              </p:ext>
            </p:extLst>
          </p:nvPr>
        </p:nvGraphicFramePr>
        <p:xfrm>
          <a:off x="5418366" y="2455773"/>
          <a:ext cx="4623024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zh-TW" altLang="en-US" sz="3200" b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-6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-7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1527263"/>
              </p:ext>
            </p:extLst>
          </p:nvPr>
        </p:nvGraphicFramePr>
        <p:xfrm>
          <a:off x="5175367" y="2460454"/>
          <a:ext cx="737961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sp>
        <p:nvSpPr>
          <p:cNvPr id="17" name="文字方塊 16"/>
          <p:cNvSpPr txBox="1"/>
          <p:nvPr/>
        </p:nvSpPr>
        <p:spPr>
          <a:xfrm>
            <a:off x="4112552" y="2455773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3992469"/>
              </p:ext>
            </p:extLst>
          </p:nvPr>
        </p:nvGraphicFramePr>
        <p:xfrm>
          <a:off x="540657" y="3350772"/>
          <a:ext cx="1396094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094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1.</a:t>
                      </a:r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3042874"/>
              </p:ext>
            </p:extLst>
          </p:nvPr>
        </p:nvGraphicFramePr>
        <p:xfrm>
          <a:off x="5418366" y="3350772"/>
          <a:ext cx="4623024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zh-TW" altLang="en-US" sz="3200" b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bg1"/>
                          </a:solidFill>
                        </a:rPr>
                        <a:t>-4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bg1"/>
                          </a:solidFill>
                        </a:rPr>
                        <a:t>-5</a:t>
                      </a:r>
                      <a:endParaRPr lang="zh-TW" altLang="en-US" sz="3200" b="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bg1"/>
                          </a:solidFill>
                        </a:rPr>
                        <a:t>-6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bg1"/>
                          </a:solidFill>
                        </a:rPr>
                        <a:t>-7</a:t>
                      </a:r>
                      <a:endParaRPr lang="zh-TW" altLang="en-US" sz="3200" b="0" baseline="-2500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bg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620352"/>
              </p:ext>
            </p:extLst>
          </p:nvPr>
        </p:nvGraphicFramePr>
        <p:xfrm>
          <a:off x="5175367" y="3355453"/>
          <a:ext cx="737961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sp>
        <p:nvSpPr>
          <p:cNvPr id="21" name="文字方塊 20"/>
          <p:cNvSpPr txBox="1"/>
          <p:nvPr/>
        </p:nvSpPr>
        <p:spPr>
          <a:xfrm>
            <a:off x="4112552" y="3350772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graphicFrame>
        <p:nvGraphicFramePr>
          <p:cNvPr id="24" name="表格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4643295"/>
              </p:ext>
            </p:extLst>
          </p:nvPr>
        </p:nvGraphicFramePr>
        <p:xfrm>
          <a:off x="540657" y="4240142"/>
          <a:ext cx="1396094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094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.5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131976"/>
              </p:ext>
            </p:extLst>
          </p:nvPr>
        </p:nvGraphicFramePr>
        <p:xfrm>
          <a:off x="5418366" y="4240142"/>
          <a:ext cx="4623024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zh-TW" altLang="en-US" sz="3200" b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-6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-7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graphicFrame>
        <p:nvGraphicFramePr>
          <p:cNvPr id="26" name="表格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1786701"/>
              </p:ext>
            </p:extLst>
          </p:nvPr>
        </p:nvGraphicFramePr>
        <p:xfrm>
          <a:off x="5175367" y="4244823"/>
          <a:ext cx="737961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2800" b="0" baseline="-25000" dirty="0" smtClean="0">
                          <a:solidFill>
                            <a:schemeClr val="bg1"/>
                          </a:solidFill>
                        </a:rPr>
                        <a:t>-3</a:t>
                      </a:r>
                      <a:endParaRPr lang="zh-TW" altLang="en-US" sz="28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sp>
        <p:nvSpPr>
          <p:cNvPr id="28" name="文字方塊 27"/>
          <p:cNvSpPr txBox="1"/>
          <p:nvPr/>
        </p:nvSpPr>
        <p:spPr>
          <a:xfrm>
            <a:off x="4112552" y="4240142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471373" y="898243"/>
            <a:ext cx="12266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Binary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958088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Fraction to non-Decimal fraction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60065" y="898243"/>
            <a:ext cx="14766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Decimal</a:t>
            </a:r>
            <a:endParaRPr lang="zh-TW" altLang="en-US" sz="3200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0219037"/>
              </p:ext>
            </p:extLst>
          </p:nvPr>
        </p:nvGraphicFramePr>
        <p:xfrm>
          <a:off x="540657" y="1553620"/>
          <a:ext cx="1396094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094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8181714"/>
              </p:ext>
            </p:extLst>
          </p:nvPr>
        </p:nvGraphicFramePr>
        <p:xfrm>
          <a:off x="5418366" y="1567544"/>
          <a:ext cx="4623024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zh-TW" altLang="en-US" sz="3200" b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-6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-7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sp>
        <p:nvSpPr>
          <p:cNvPr id="11" name="文字方塊 10"/>
          <p:cNvSpPr txBox="1"/>
          <p:nvPr/>
        </p:nvSpPr>
        <p:spPr>
          <a:xfrm>
            <a:off x="4112552" y="1572831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cxnSp>
        <p:nvCxnSpPr>
          <p:cNvPr id="12" name="直線單箭頭接點 11"/>
          <p:cNvCxnSpPr/>
          <p:nvPr/>
        </p:nvCxnSpPr>
        <p:spPr>
          <a:xfrm>
            <a:off x="4297707" y="1209842"/>
            <a:ext cx="318407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0" y="5118138"/>
            <a:ext cx="12192000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文字方塊 21"/>
          <p:cNvSpPr txBox="1"/>
          <p:nvPr/>
        </p:nvSpPr>
        <p:spPr>
          <a:xfrm>
            <a:off x="223300" y="5893411"/>
            <a:ext cx="1606145" cy="584775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chemeClr val="bg1"/>
                </a:solidFill>
              </a:rPr>
              <a:t>Round 4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101108"/>
              </p:ext>
            </p:extLst>
          </p:nvPr>
        </p:nvGraphicFramePr>
        <p:xfrm>
          <a:off x="6188870" y="5360469"/>
          <a:ext cx="3852520" cy="1254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268585571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3340620516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6867973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3594051021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193759290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1" baseline="-25000" dirty="0" smtClean="0">
                          <a:solidFill>
                            <a:schemeClr val="bg1"/>
                          </a:solidFill>
                        </a:rPr>
                        <a:t>-1</a:t>
                      </a:r>
                      <a:endParaRPr lang="zh-TW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1" baseline="-2500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TW" altLang="en-US" sz="32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1" baseline="-25000" dirty="0" smtClean="0">
                          <a:solidFill>
                            <a:schemeClr val="bg1"/>
                          </a:solidFill>
                        </a:rPr>
                        <a:t>-3</a:t>
                      </a:r>
                      <a:endParaRPr lang="zh-TW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6210119"/>
                  </a:ext>
                </a:extLst>
              </a:tr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9333735"/>
                  </a:ext>
                </a:extLst>
              </a:tr>
            </a:tbl>
          </a:graphicData>
        </a:graphic>
      </p:graphicFrame>
      <p:sp>
        <p:nvSpPr>
          <p:cNvPr id="13" name="文字方塊 12"/>
          <p:cNvSpPr txBox="1"/>
          <p:nvPr/>
        </p:nvSpPr>
        <p:spPr>
          <a:xfrm>
            <a:off x="7471373" y="898243"/>
            <a:ext cx="12266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Binary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756128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Fraction to non-Decimal fraction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60065" y="898243"/>
            <a:ext cx="14766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Decimal</a:t>
            </a:r>
            <a:endParaRPr lang="zh-TW" altLang="en-US" sz="3200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0219037"/>
              </p:ext>
            </p:extLst>
          </p:nvPr>
        </p:nvGraphicFramePr>
        <p:xfrm>
          <a:off x="540657" y="1553620"/>
          <a:ext cx="1396094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094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8181714"/>
              </p:ext>
            </p:extLst>
          </p:nvPr>
        </p:nvGraphicFramePr>
        <p:xfrm>
          <a:off x="5418366" y="1567544"/>
          <a:ext cx="4623024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zh-TW" altLang="en-US" sz="3200" b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-6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-7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sp>
        <p:nvSpPr>
          <p:cNvPr id="11" name="文字方塊 10"/>
          <p:cNvSpPr txBox="1"/>
          <p:nvPr/>
        </p:nvSpPr>
        <p:spPr>
          <a:xfrm>
            <a:off x="4112552" y="1572831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cxnSp>
        <p:nvCxnSpPr>
          <p:cNvPr id="12" name="直線單箭頭接點 11"/>
          <p:cNvCxnSpPr/>
          <p:nvPr/>
        </p:nvCxnSpPr>
        <p:spPr>
          <a:xfrm>
            <a:off x="4297707" y="1209842"/>
            <a:ext cx="318407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936751" y="1552420"/>
          <a:ext cx="1475922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685188257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10041390" y="1559982"/>
          <a:ext cx="1475922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685188257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sp>
        <p:nvSpPr>
          <p:cNvPr id="27" name="矩形 26"/>
          <p:cNvSpPr/>
          <p:nvPr/>
        </p:nvSpPr>
        <p:spPr>
          <a:xfrm>
            <a:off x="0" y="5118138"/>
            <a:ext cx="12192000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文字方塊 21"/>
          <p:cNvSpPr txBox="1"/>
          <p:nvPr/>
        </p:nvSpPr>
        <p:spPr>
          <a:xfrm>
            <a:off x="223300" y="5893411"/>
            <a:ext cx="1606145" cy="584775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chemeClr val="bg1"/>
                </a:solidFill>
              </a:rPr>
              <a:t>Round 4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101108"/>
              </p:ext>
            </p:extLst>
          </p:nvPr>
        </p:nvGraphicFramePr>
        <p:xfrm>
          <a:off x="6188870" y="5360469"/>
          <a:ext cx="3852520" cy="1254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268585571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3340620516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6867973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3594051021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193759290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1" baseline="-25000" dirty="0" smtClean="0">
                          <a:solidFill>
                            <a:schemeClr val="bg1"/>
                          </a:solidFill>
                        </a:rPr>
                        <a:t>-1</a:t>
                      </a:r>
                      <a:endParaRPr lang="zh-TW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1" baseline="-2500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TW" altLang="en-US" sz="32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1" baseline="-25000" dirty="0" smtClean="0">
                          <a:solidFill>
                            <a:schemeClr val="bg1"/>
                          </a:solidFill>
                        </a:rPr>
                        <a:t>-3</a:t>
                      </a:r>
                      <a:endParaRPr lang="zh-TW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6210119"/>
                  </a:ext>
                </a:extLst>
              </a:tr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9333735"/>
                  </a:ext>
                </a:extLst>
              </a:tr>
            </a:tbl>
          </a:graphicData>
        </a:graphic>
      </p:graphicFrame>
      <p:sp>
        <p:nvSpPr>
          <p:cNvPr id="14" name="文字方塊 13"/>
          <p:cNvSpPr txBox="1"/>
          <p:nvPr/>
        </p:nvSpPr>
        <p:spPr>
          <a:xfrm>
            <a:off x="7471373" y="898243"/>
            <a:ext cx="12266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Binary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679892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Fraction to non-Decimal fraction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60065" y="898243"/>
            <a:ext cx="14766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Decimal</a:t>
            </a:r>
            <a:endParaRPr lang="zh-TW" altLang="en-US" sz="3200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0219037"/>
              </p:ext>
            </p:extLst>
          </p:nvPr>
        </p:nvGraphicFramePr>
        <p:xfrm>
          <a:off x="540657" y="1553620"/>
          <a:ext cx="1396094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094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8181714"/>
              </p:ext>
            </p:extLst>
          </p:nvPr>
        </p:nvGraphicFramePr>
        <p:xfrm>
          <a:off x="5418366" y="1567544"/>
          <a:ext cx="4623024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zh-TW" altLang="en-US" sz="3200" b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-6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-7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sp>
        <p:nvSpPr>
          <p:cNvPr id="11" name="文字方塊 10"/>
          <p:cNvSpPr txBox="1"/>
          <p:nvPr/>
        </p:nvSpPr>
        <p:spPr>
          <a:xfrm>
            <a:off x="4112552" y="1572831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cxnSp>
        <p:nvCxnSpPr>
          <p:cNvPr id="12" name="直線單箭頭接點 11"/>
          <p:cNvCxnSpPr/>
          <p:nvPr/>
        </p:nvCxnSpPr>
        <p:spPr>
          <a:xfrm>
            <a:off x="4297707" y="1209842"/>
            <a:ext cx="318407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936751" y="1552420"/>
          <a:ext cx="1475922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685188257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10041390" y="1559982"/>
          <a:ext cx="1475922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685188257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sp>
        <p:nvSpPr>
          <p:cNvPr id="27" name="矩形 26"/>
          <p:cNvSpPr/>
          <p:nvPr/>
        </p:nvSpPr>
        <p:spPr>
          <a:xfrm>
            <a:off x="0" y="5118138"/>
            <a:ext cx="12192000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文字方塊 21"/>
          <p:cNvSpPr txBox="1"/>
          <p:nvPr/>
        </p:nvSpPr>
        <p:spPr>
          <a:xfrm>
            <a:off x="223300" y="5893411"/>
            <a:ext cx="1606145" cy="584775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chemeClr val="bg1"/>
                </a:solidFill>
              </a:rPr>
              <a:t>Round 4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101108"/>
              </p:ext>
            </p:extLst>
          </p:nvPr>
        </p:nvGraphicFramePr>
        <p:xfrm>
          <a:off x="6188870" y="5360469"/>
          <a:ext cx="3852520" cy="1254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268585571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3340620516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6867973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3594051021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193759290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1" baseline="-25000" dirty="0" smtClean="0">
                          <a:solidFill>
                            <a:schemeClr val="bg1"/>
                          </a:solidFill>
                        </a:rPr>
                        <a:t>-1</a:t>
                      </a:r>
                      <a:endParaRPr lang="zh-TW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1" baseline="-2500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TW" altLang="en-US" sz="32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1" baseline="-25000" dirty="0" smtClean="0">
                          <a:solidFill>
                            <a:schemeClr val="bg1"/>
                          </a:solidFill>
                        </a:rPr>
                        <a:t>-3</a:t>
                      </a:r>
                      <a:endParaRPr lang="zh-TW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6210119"/>
                  </a:ext>
                </a:extLst>
              </a:tr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9333735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8587612"/>
              </p:ext>
            </p:extLst>
          </p:nvPr>
        </p:nvGraphicFramePr>
        <p:xfrm>
          <a:off x="540657" y="2455773"/>
          <a:ext cx="1396094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094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1.0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0495711"/>
              </p:ext>
            </p:extLst>
          </p:nvPr>
        </p:nvGraphicFramePr>
        <p:xfrm>
          <a:off x="5418366" y="2455773"/>
          <a:ext cx="4623024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zh-TW" altLang="en-US" sz="3200" b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-6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-7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-8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458139"/>
              </p:ext>
            </p:extLst>
          </p:nvPr>
        </p:nvGraphicFramePr>
        <p:xfrm>
          <a:off x="5175367" y="2460454"/>
          <a:ext cx="737961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sp>
        <p:nvSpPr>
          <p:cNvPr id="17" name="文字方塊 16"/>
          <p:cNvSpPr txBox="1"/>
          <p:nvPr/>
        </p:nvSpPr>
        <p:spPr>
          <a:xfrm>
            <a:off x="4112552" y="2455773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7471373" y="898243"/>
            <a:ext cx="12266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Binary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2335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Fraction to non-Decimal fraction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60065" y="898243"/>
            <a:ext cx="14766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Decimal</a:t>
            </a:r>
            <a:endParaRPr lang="zh-TW" altLang="en-US" sz="3200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0219037"/>
              </p:ext>
            </p:extLst>
          </p:nvPr>
        </p:nvGraphicFramePr>
        <p:xfrm>
          <a:off x="540657" y="1553620"/>
          <a:ext cx="1396094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094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8181714"/>
              </p:ext>
            </p:extLst>
          </p:nvPr>
        </p:nvGraphicFramePr>
        <p:xfrm>
          <a:off x="5418366" y="1567544"/>
          <a:ext cx="4623024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zh-TW" altLang="en-US" sz="3200" b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-6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-7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sp>
        <p:nvSpPr>
          <p:cNvPr id="11" name="文字方塊 10"/>
          <p:cNvSpPr txBox="1"/>
          <p:nvPr/>
        </p:nvSpPr>
        <p:spPr>
          <a:xfrm>
            <a:off x="4112552" y="1572831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cxnSp>
        <p:nvCxnSpPr>
          <p:cNvPr id="12" name="直線單箭頭接點 11"/>
          <p:cNvCxnSpPr/>
          <p:nvPr/>
        </p:nvCxnSpPr>
        <p:spPr>
          <a:xfrm>
            <a:off x="4297707" y="1209842"/>
            <a:ext cx="318407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936751" y="1552420"/>
          <a:ext cx="1475922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685188257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10041390" y="1559982"/>
          <a:ext cx="1475922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685188257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sp>
        <p:nvSpPr>
          <p:cNvPr id="27" name="矩形 26"/>
          <p:cNvSpPr/>
          <p:nvPr/>
        </p:nvSpPr>
        <p:spPr>
          <a:xfrm>
            <a:off x="0" y="5118138"/>
            <a:ext cx="12192000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文字方塊 21"/>
          <p:cNvSpPr txBox="1"/>
          <p:nvPr/>
        </p:nvSpPr>
        <p:spPr>
          <a:xfrm>
            <a:off x="223300" y="5893411"/>
            <a:ext cx="1606145" cy="584775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chemeClr val="bg1"/>
                </a:solidFill>
              </a:rPr>
              <a:t>Round 4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101108"/>
              </p:ext>
            </p:extLst>
          </p:nvPr>
        </p:nvGraphicFramePr>
        <p:xfrm>
          <a:off x="6188870" y="5360469"/>
          <a:ext cx="3852520" cy="1254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268585571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3340620516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6867973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3594051021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193759290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1" baseline="-25000" dirty="0" smtClean="0">
                          <a:solidFill>
                            <a:schemeClr val="bg1"/>
                          </a:solidFill>
                        </a:rPr>
                        <a:t>-1</a:t>
                      </a:r>
                      <a:endParaRPr lang="zh-TW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1" baseline="-2500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TW" altLang="en-US" sz="32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1" baseline="-25000" dirty="0" smtClean="0">
                          <a:solidFill>
                            <a:schemeClr val="bg1"/>
                          </a:solidFill>
                        </a:rPr>
                        <a:t>-3</a:t>
                      </a:r>
                      <a:endParaRPr lang="zh-TW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6210119"/>
                  </a:ext>
                </a:extLst>
              </a:tr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9333735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8587612"/>
              </p:ext>
            </p:extLst>
          </p:nvPr>
        </p:nvGraphicFramePr>
        <p:xfrm>
          <a:off x="540657" y="2455773"/>
          <a:ext cx="1396094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094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1.0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0495711"/>
              </p:ext>
            </p:extLst>
          </p:nvPr>
        </p:nvGraphicFramePr>
        <p:xfrm>
          <a:off x="5418366" y="2455773"/>
          <a:ext cx="4623024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zh-TW" altLang="en-US" sz="3200" b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-6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-7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-8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458139"/>
              </p:ext>
            </p:extLst>
          </p:nvPr>
        </p:nvGraphicFramePr>
        <p:xfrm>
          <a:off x="5175367" y="2460454"/>
          <a:ext cx="737961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sp>
        <p:nvSpPr>
          <p:cNvPr id="17" name="文字方塊 16"/>
          <p:cNvSpPr txBox="1"/>
          <p:nvPr/>
        </p:nvSpPr>
        <p:spPr>
          <a:xfrm>
            <a:off x="4112552" y="2455773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8787998"/>
              </p:ext>
            </p:extLst>
          </p:nvPr>
        </p:nvGraphicFramePr>
        <p:xfrm>
          <a:off x="540657" y="3350772"/>
          <a:ext cx="1396094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094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1.</a:t>
                      </a:r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3042874"/>
              </p:ext>
            </p:extLst>
          </p:nvPr>
        </p:nvGraphicFramePr>
        <p:xfrm>
          <a:off x="5418366" y="3350772"/>
          <a:ext cx="4623024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zh-TW" altLang="en-US" sz="3200" b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bg1"/>
                          </a:solidFill>
                        </a:rPr>
                        <a:t>-4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bg1"/>
                          </a:solidFill>
                        </a:rPr>
                        <a:t>-5</a:t>
                      </a:r>
                      <a:endParaRPr lang="zh-TW" altLang="en-US" sz="3200" b="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bg1"/>
                          </a:solidFill>
                        </a:rPr>
                        <a:t>-6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bg1"/>
                          </a:solidFill>
                        </a:rPr>
                        <a:t>-7</a:t>
                      </a:r>
                      <a:endParaRPr lang="zh-TW" altLang="en-US" sz="3200" b="0" baseline="-2500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bg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2409850"/>
              </p:ext>
            </p:extLst>
          </p:nvPr>
        </p:nvGraphicFramePr>
        <p:xfrm>
          <a:off x="5175367" y="3355453"/>
          <a:ext cx="737961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sp>
        <p:nvSpPr>
          <p:cNvPr id="21" name="文字方塊 20"/>
          <p:cNvSpPr txBox="1"/>
          <p:nvPr/>
        </p:nvSpPr>
        <p:spPr>
          <a:xfrm>
            <a:off x="4112552" y="3350772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7471373" y="898243"/>
            <a:ext cx="12266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Binary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379048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Fraction to non-Decimal fraction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60065" y="898243"/>
            <a:ext cx="14766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Decimal</a:t>
            </a:r>
            <a:endParaRPr lang="zh-TW" altLang="en-US" sz="3200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0219037"/>
              </p:ext>
            </p:extLst>
          </p:nvPr>
        </p:nvGraphicFramePr>
        <p:xfrm>
          <a:off x="540657" y="1553620"/>
          <a:ext cx="1396094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094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8181714"/>
              </p:ext>
            </p:extLst>
          </p:nvPr>
        </p:nvGraphicFramePr>
        <p:xfrm>
          <a:off x="5418366" y="1567544"/>
          <a:ext cx="4623024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zh-TW" altLang="en-US" sz="3200" b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-6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-7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sp>
        <p:nvSpPr>
          <p:cNvPr id="11" name="文字方塊 10"/>
          <p:cNvSpPr txBox="1"/>
          <p:nvPr/>
        </p:nvSpPr>
        <p:spPr>
          <a:xfrm>
            <a:off x="4112552" y="1572831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cxnSp>
        <p:nvCxnSpPr>
          <p:cNvPr id="12" name="直線單箭頭接點 11"/>
          <p:cNvCxnSpPr/>
          <p:nvPr/>
        </p:nvCxnSpPr>
        <p:spPr>
          <a:xfrm>
            <a:off x="4297707" y="1209842"/>
            <a:ext cx="318407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936751" y="1552420"/>
          <a:ext cx="1475922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685188257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10041390" y="1559982"/>
          <a:ext cx="1475922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685188257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sp>
        <p:nvSpPr>
          <p:cNvPr id="27" name="矩形 26"/>
          <p:cNvSpPr/>
          <p:nvPr/>
        </p:nvSpPr>
        <p:spPr>
          <a:xfrm>
            <a:off x="0" y="5118138"/>
            <a:ext cx="12192000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文字方塊 21"/>
          <p:cNvSpPr txBox="1"/>
          <p:nvPr/>
        </p:nvSpPr>
        <p:spPr>
          <a:xfrm>
            <a:off x="223300" y="5893411"/>
            <a:ext cx="1606145" cy="584775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chemeClr val="bg1"/>
                </a:solidFill>
              </a:rPr>
              <a:t>Round 4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101108"/>
              </p:ext>
            </p:extLst>
          </p:nvPr>
        </p:nvGraphicFramePr>
        <p:xfrm>
          <a:off x="6188870" y="5360469"/>
          <a:ext cx="3852520" cy="1254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268585571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3340620516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6867973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3594051021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193759290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1" baseline="-25000" dirty="0" smtClean="0">
                          <a:solidFill>
                            <a:schemeClr val="bg1"/>
                          </a:solidFill>
                        </a:rPr>
                        <a:t>-1</a:t>
                      </a:r>
                      <a:endParaRPr lang="zh-TW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1" baseline="-2500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TW" altLang="en-US" sz="32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1" baseline="-25000" dirty="0" smtClean="0">
                          <a:solidFill>
                            <a:schemeClr val="bg1"/>
                          </a:solidFill>
                        </a:rPr>
                        <a:t>-3</a:t>
                      </a:r>
                      <a:endParaRPr lang="zh-TW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6210119"/>
                  </a:ext>
                </a:extLst>
              </a:tr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9333735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8587612"/>
              </p:ext>
            </p:extLst>
          </p:nvPr>
        </p:nvGraphicFramePr>
        <p:xfrm>
          <a:off x="540657" y="2455773"/>
          <a:ext cx="1396094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094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1.0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0495711"/>
              </p:ext>
            </p:extLst>
          </p:nvPr>
        </p:nvGraphicFramePr>
        <p:xfrm>
          <a:off x="5418366" y="2455773"/>
          <a:ext cx="4623024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zh-TW" altLang="en-US" sz="3200" b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-6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-7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-8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458139"/>
              </p:ext>
            </p:extLst>
          </p:nvPr>
        </p:nvGraphicFramePr>
        <p:xfrm>
          <a:off x="5175367" y="2460454"/>
          <a:ext cx="737961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sp>
        <p:nvSpPr>
          <p:cNvPr id="17" name="文字方塊 16"/>
          <p:cNvSpPr txBox="1"/>
          <p:nvPr/>
        </p:nvSpPr>
        <p:spPr>
          <a:xfrm>
            <a:off x="4112552" y="2455773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8787998"/>
              </p:ext>
            </p:extLst>
          </p:nvPr>
        </p:nvGraphicFramePr>
        <p:xfrm>
          <a:off x="540657" y="3350772"/>
          <a:ext cx="1396094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094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1.</a:t>
                      </a:r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3042874"/>
              </p:ext>
            </p:extLst>
          </p:nvPr>
        </p:nvGraphicFramePr>
        <p:xfrm>
          <a:off x="5418366" y="3350772"/>
          <a:ext cx="4623024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zh-TW" altLang="en-US" sz="3200" b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bg1"/>
                          </a:solidFill>
                        </a:rPr>
                        <a:t>-4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bg1"/>
                          </a:solidFill>
                        </a:rPr>
                        <a:t>-5</a:t>
                      </a:r>
                      <a:endParaRPr lang="zh-TW" altLang="en-US" sz="3200" b="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bg1"/>
                          </a:solidFill>
                        </a:rPr>
                        <a:t>-6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bg1"/>
                          </a:solidFill>
                        </a:rPr>
                        <a:t>-7</a:t>
                      </a:r>
                      <a:endParaRPr lang="zh-TW" altLang="en-US" sz="3200" b="0" baseline="-2500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bg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2409850"/>
              </p:ext>
            </p:extLst>
          </p:nvPr>
        </p:nvGraphicFramePr>
        <p:xfrm>
          <a:off x="5175367" y="3355453"/>
          <a:ext cx="737961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sp>
        <p:nvSpPr>
          <p:cNvPr id="21" name="文字方塊 20"/>
          <p:cNvSpPr txBox="1"/>
          <p:nvPr/>
        </p:nvSpPr>
        <p:spPr>
          <a:xfrm>
            <a:off x="4112552" y="3350772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graphicFrame>
        <p:nvGraphicFramePr>
          <p:cNvPr id="24" name="表格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619234"/>
              </p:ext>
            </p:extLst>
          </p:nvPr>
        </p:nvGraphicFramePr>
        <p:xfrm>
          <a:off x="540657" y="4240142"/>
          <a:ext cx="1396094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094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.0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131976"/>
              </p:ext>
            </p:extLst>
          </p:nvPr>
        </p:nvGraphicFramePr>
        <p:xfrm>
          <a:off x="5418366" y="4240142"/>
          <a:ext cx="4623024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zh-TW" altLang="en-US" sz="3200" b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-6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-7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-8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graphicFrame>
        <p:nvGraphicFramePr>
          <p:cNvPr id="26" name="表格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0680623"/>
              </p:ext>
            </p:extLst>
          </p:nvPr>
        </p:nvGraphicFramePr>
        <p:xfrm>
          <a:off x="5175367" y="4244823"/>
          <a:ext cx="737961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2800" b="0" baseline="-25000" dirty="0" smtClean="0">
                          <a:solidFill>
                            <a:schemeClr val="bg1"/>
                          </a:solidFill>
                        </a:rPr>
                        <a:t>-4</a:t>
                      </a:r>
                      <a:endParaRPr lang="zh-TW" altLang="en-US" sz="28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sp>
        <p:nvSpPr>
          <p:cNvPr id="28" name="文字方塊 27"/>
          <p:cNvSpPr txBox="1"/>
          <p:nvPr/>
        </p:nvSpPr>
        <p:spPr>
          <a:xfrm>
            <a:off x="4112552" y="4240142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471373" y="898243"/>
            <a:ext cx="12266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Binary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874334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Fraction to non-Decimal fraction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60065" y="898243"/>
            <a:ext cx="14766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Decimal</a:t>
            </a:r>
            <a:endParaRPr lang="zh-TW" altLang="en-US" sz="3200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0219037"/>
              </p:ext>
            </p:extLst>
          </p:nvPr>
        </p:nvGraphicFramePr>
        <p:xfrm>
          <a:off x="540657" y="1553620"/>
          <a:ext cx="1396094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094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8181714"/>
              </p:ext>
            </p:extLst>
          </p:nvPr>
        </p:nvGraphicFramePr>
        <p:xfrm>
          <a:off x="5418366" y="1567544"/>
          <a:ext cx="4623024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zh-TW" altLang="en-US" sz="3200" b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-6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-7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sp>
        <p:nvSpPr>
          <p:cNvPr id="11" name="文字方塊 10"/>
          <p:cNvSpPr txBox="1"/>
          <p:nvPr/>
        </p:nvSpPr>
        <p:spPr>
          <a:xfrm>
            <a:off x="4112552" y="1572831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cxnSp>
        <p:nvCxnSpPr>
          <p:cNvPr id="12" name="直線單箭頭接點 11"/>
          <p:cNvCxnSpPr/>
          <p:nvPr/>
        </p:nvCxnSpPr>
        <p:spPr>
          <a:xfrm>
            <a:off x="4297707" y="1209842"/>
            <a:ext cx="318407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936751" y="1552420"/>
          <a:ext cx="1475922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685188257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10041390" y="1559982"/>
          <a:ext cx="1475922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685188257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sp>
        <p:nvSpPr>
          <p:cNvPr id="27" name="矩形 26"/>
          <p:cNvSpPr/>
          <p:nvPr/>
        </p:nvSpPr>
        <p:spPr>
          <a:xfrm>
            <a:off x="0" y="5118138"/>
            <a:ext cx="12192000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文字方塊 21"/>
          <p:cNvSpPr txBox="1"/>
          <p:nvPr/>
        </p:nvSpPr>
        <p:spPr>
          <a:xfrm>
            <a:off x="223300" y="5893411"/>
            <a:ext cx="1606145" cy="584775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chemeClr val="bg1"/>
                </a:solidFill>
              </a:rPr>
              <a:t>Round 4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3010473"/>
              </p:ext>
            </p:extLst>
          </p:nvPr>
        </p:nvGraphicFramePr>
        <p:xfrm>
          <a:off x="6188870" y="5360469"/>
          <a:ext cx="3852520" cy="1254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268585571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3340620516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6867973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3594051021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193759290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1" baseline="-25000" dirty="0" smtClean="0">
                          <a:solidFill>
                            <a:schemeClr val="bg1"/>
                          </a:solidFill>
                        </a:rPr>
                        <a:t>-1</a:t>
                      </a:r>
                      <a:endParaRPr lang="zh-TW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1" baseline="-2500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TW" altLang="en-US" sz="32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1" baseline="-25000" dirty="0" smtClean="0">
                          <a:solidFill>
                            <a:schemeClr val="bg1"/>
                          </a:solidFill>
                        </a:rPr>
                        <a:t>-3</a:t>
                      </a:r>
                      <a:endParaRPr lang="zh-TW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1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3200" b="1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6210119"/>
                  </a:ext>
                </a:extLst>
              </a:tr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baseline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1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9333735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8587612"/>
              </p:ext>
            </p:extLst>
          </p:nvPr>
        </p:nvGraphicFramePr>
        <p:xfrm>
          <a:off x="540657" y="2455773"/>
          <a:ext cx="1396094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094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1.0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0495711"/>
              </p:ext>
            </p:extLst>
          </p:nvPr>
        </p:nvGraphicFramePr>
        <p:xfrm>
          <a:off x="5418366" y="2455773"/>
          <a:ext cx="4623024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zh-TW" altLang="en-US" sz="3200" b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-6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-7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-8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458139"/>
              </p:ext>
            </p:extLst>
          </p:nvPr>
        </p:nvGraphicFramePr>
        <p:xfrm>
          <a:off x="5175367" y="2460454"/>
          <a:ext cx="737961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sp>
        <p:nvSpPr>
          <p:cNvPr id="17" name="文字方塊 16"/>
          <p:cNvSpPr txBox="1"/>
          <p:nvPr/>
        </p:nvSpPr>
        <p:spPr>
          <a:xfrm>
            <a:off x="4112552" y="2455773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8787998"/>
              </p:ext>
            </p:extLst>
          </p:nvPr>
        </p:nvGraphicFramePr>
        <p:xfrm>
          <a:off x="540657" y="3350772"/>
          <a:ext cx="1396094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094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1.</a:t>
                      </a:r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3042874"/>
              </p:ext>
            </p:extLst>
          </p:nvPr>
        </p:nvGraphicFramePr>
        <p:xfrm>
          <a:off x="5418366" y="3350772"/>
          <a:ext cx="4623024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zh-TW" altLang="en-US" sz="3200" b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bg1"/>
                          </a:solidFill>
                        </a:rPr>
                        <a:t>-4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bg1"/>
                          </a:solidFill>
                        </a:rPr>
                        <a:t>-5</a:t>
                      </a:r>
                      <a:endParaRPr lang="zh-TW" altLang="en-US" sz="3200" b="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bg1"/>
                          </a:solidFill>
                        </a:rPr>
                        <a:t>-6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bg1"/>
                          </a:solidFill>
                        </a:rPr>
                        <a:t>-7</a:t>
                      </a:r>
                      <a:endParaRPr lang="zh-TW" altLang="en-US" sz="3200" b="0" baseline="-2500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bg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2409850"/>
              </p:ext>
            </p:extLst>
          </p:nvPr>
        </p:nvGraphicFramePr>
        <p:xfrm>
          <a:off x="5175367" y="3355453"/>
          <a:ext cx="737961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sp>
        <p:nvSpPr>
          <p:cNvPr id="21" name="文字方塊 20"/>
          <p:cNvSpPr txBox="1"/>
          <p:nvPr/>
        </p:nvSpPr>
        <p:spPr>
          <a:xfrm>
            <a:off x="4112552" y="3350772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graphicFrame>
        <p:nvGraphicFramePr>
          <p:cNvPr id="24" name="表格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619234"/>
              </p:ext>
            </p:extLst>
          </p:nvPr>
        </p:nvGraphicFramePr>
        <p:xfrm>
          <a:off x="540657" y="4240142"/>
          <a:ext cx="1396094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094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.0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131976"/>
              </p:ext>
            </p:extLst>
          </p:nvPr>
        </p:nvGraphicFramePr>
        <p:xfrm>
          <a:off x="5418366" y="4240142"/>
          <a:ext cx="4623024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zh-TW" altLang="en-US" sz="3200" b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-6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-7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-8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graphicFrame>
        <p:nvGraphicFramePr>
          <p:cNvPr id="26" name="表格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0680623"/>
              </p:ext>
            </p:extLst>
          </p:nvPr>
        </p:nvGraphicFramePr>
        <p:xfrm>
          <a:off x="5175367" y="4244823"/>
          <a:ext cx="737961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2800" b="0" baseline="-25000" dirty="0" smtClean="0">
                          <a:solidFill>
                            <a:schemeClr val="bg1"/>
                          </a:solidFill>
                        </a:rPr>
                        <a:t>-4</a:t>
                      </a:r>
                      <a:endParaRPr lang="zh-TW" altLang="en-US" sz="28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sp>
        <p:nvSpPr>
          <p:cNvPr id="28" name="文字方塊 27"/>
          <p:cNvSpPr txBox="1"/>
          <p:nvPr/>
        </p:nvSpPr>
        <p:spPr>
          <a:xfrm>
            <a:off x="4112552" y="4240142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471373" y="898243"/>
            <a:ext cx="12266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Binary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701473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Fraction to non-Decimal fraction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60065" y="898243"/>
            <a:ext cx="14766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Decimal</a:t>
            </a:r>
            <a:endParaRPr lang="zh-TW" altLang="en-US" sz="3200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0219037"/>
              </p:ext>
            </p:extLst>
          </p:nvPr>
        </p:nvGraphicFramePr>
        <p:xfrm>
          <a:off x="540657" y="1553620"/>
          <a:ext cx="1396094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094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8181714"/>
              </p:ext>
            </p:extLst>
          </p:nvPr>
        </p:nvGraphicFramePr>
        <p:xfrm>
          <a:off x="5418366" y="1567544"/>
          <a:ext cx="4623024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zh-TW" altLang="en-US" sz="3200" b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-6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-7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sp>
        <p:nvSpPr>
          <p:cNvPr id="11" name="文字方塊 10"/>
          <p:cNvSpPr txBox="1"/>
          <p:nvPr/>
        </p:nvSpPr>
        <p:spPr>
          <a:xfrm>
            <a:off x="4112552" y="1572831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cxnSp>
        <p:nvCxnSpPr>
          <p:cNvPr id="12" name="直線單箭頭接點 11"/>
          <p:cNvCxnSpPr/>
          <p:nvPr/>
        </p:nvCxnSpPr>
        <p:spPr>
          <a:xfrm>
            <a:off x="4297707" y="1209842"/>
            <a:ext cx="318407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936751" y="1552420"/>
          <a:ext cx="1475922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685188257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10041390" y="1559982"/>
          <a:ext cx="1475922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1685188257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sp>
        <p:nvSpPr>
          <p:cNvPr id="27" name="矩形 26"/>
          <p:cNvSpPr/>
          <p:nvPr/>
        </p:nvSpPr>
        <p:spPr>
          <a:xfrm>
            <a:off x="0" y="5118138"/>
            <a:ext cx="12192000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文字方塊 21"/>
          <p:cNvSpPr txBox="1"/>
          <p:nvPr/>
        </p:nvSpPr>
        <p:spPr>
          <a:xfrm>
            <a:off x="223300" y="5893411"/>
            <a:ext cx="1606145" cy="584775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chemeClr val="bg1"/>
                </a:solidFill>
              </a:rPr>
              <a:t>Round 4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3773352"/>
              </p:ext>
            </p:extLst>
          </p:nvPr>
        </p:nvGraphicFramePr>
        <p:xfrm>
          <a:off x="6188870" y="5360469"/>
          <a:ext cx="3852520" cy="1254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268585571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3340620516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6867973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3594051021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193759290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1" baseline="-25000" dirty="0" smtClean="0">
                          <a:solidFill>
                            <a:schemeClr val="bg1"/>
                          </a:solidFill>
                        </a:rPr>
                        <a:t>-1</a:t>
                      </a:r>
                      <a:endParaRPr lang="zh-TW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1" baseline="-2500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TW" altLang="en-US" sz="32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1" baseline="-25000" dirty="0" smtClean="0">
                          <a:solidFill>
                            <a:schemeClr val="bg1"/>
                          </a:solidFill>
                        </a:rPr>
                        <a:t>-3</a:t>
                      </a:r>
                      <a:endParaRPr lang="zh-TW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1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3200" b="1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6210119"/>
                  </a:ext>
                </a:extLst>
              </a:tr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baseline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1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9333735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8587612"/>
              </p:ext>
            </p:extLst>
          </p:nvPr>
        </p:nvGraphicFramePr>
        <p:xfrm>
          <a:off x="540657" y="2455773"/>
          <a:ext cx="1396094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094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1.0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0495711"/>
              </p:ext>
            </p:extLst>
          </p:nvPr>
        </p:nvGraphicFramePr>
        <p:xfrm>
          <a:off x="5418366" y="2455773"/>
          <a:ext cx="4623024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zh-TW" altLang="en-US" sz="3200" b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-6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-7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-8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458139"/>
              </p:ext>
            </p:extLst>
          </p:nvPr>
        </p:nvGraphicFramePr>
        <p:xfrm>
          <a:off x="5175367" y="2460454"/>
          <a:ext cx="737961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sp>
        <p:nvSpPr>
          <p:cNvPr id="17" name="文字方塊 16"/>
          <p:cNvSpPr txBox="1"/>
          <p:nvPr/>
        </p:nvSpPr>
        <p:spPr>
          <a:xfrm>
            <a:off x="4112552" y="2455773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8787998"/>
              </p:ext>
            </p:extLst>
          </p:nvPr>
        </p:nvGraphicFramePr>
        <p:xfrm>
          <a:off x="540657" y="3350772"/>
          <a:ext cx="1396094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094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1.</a:t>
                      </a:r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3042874"/>
              </p:ext>
            </p:extLst>
          </p:nvPr>
        </p:nvGraphicFramePr>
        <p:xfrm>
          <a:off x="5418366" y="3350772"/>
          <a:ext cx="4623024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zh-TW" altLang="en-US" sz="3200" b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bg1"/>
                          </a:solidFill>
                        </a:rPr>
                        <a:t>-4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bg1"/>
                          </a:solidFill>
                        </a:rPr>
                        <a:t>-5</a:t>
                      </a:r>
                      <a:endParaRPr lang="zh-TW" altLang="en-US" sz="3200" b="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bg1"/>
                          </a:solidFill>
                        </a:rPr>
                        <a:t>-6</a:t>
                      </a:r>
                      <a:endParaRPr lang="zh-TW" altLang="en-US" sz="32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bg1"/>
                          </a:solidFill>
                        </a:rPr>
                        <a:t>-7</a:t>
                      </a:r>
                      <a:endParaRPr lang="zh-TW" altLang="en-US" sz="3200" b="0" baseline="-2500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bg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2409850"/>
              </p:ext>
            </p:extLst>
          </p:nvPr>
        </p:nvGraphicFramePr>
        <p:xfrm>
          <a:off x="5175367" y="3355453"/>
          <a:ext cx="737961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2800" b="0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sp>
        <p:nvSpPr>
          <p:cNvPr id="21" name="文字方塊 20"/>
          <p:cNvSpPr txBox="1"/>
          <p:nvPr/>
        </p:nvSpPr>
        <p:spPr>
          <a:xfrm>
            <a:off x="4112552" y="3350772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graphicFrame>
        <p:nvGraphicFramePr>
          <p:cNvPr id="24" name="表格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619234"/>
              </p:ext>
            </p:extLst>
          </p:nvPr>
        </p:nvGraphicFramePr>
        <p:xfrm>
          <a:off x="540657" y="4240142"/>
          <a:ext cx="1396094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094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.0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131976"/>
              </p:ext>
            </p:extLst>
          </p:nvPr>
        </p:nvGraphicFramePr>
        <p:xfrm>
          <a:off x="5418366" y="4240142"/>
          <a:ext cx="4623024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zh-TW" altLang="en-US" sz="3200" b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-6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-7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-8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aseline="0" dirty="0" smtClean="0">
                          <a:solidFill>
                            <a:schemeClr val="tx1"/>
                          </a:solidFill>
                        </a:rPr>
                        <a:t>….</a:t>
                      </a:r>
                      <a:endParaRPr lang="zh-TW" altLang="en-US" sz="28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graphicFrame>
        <p:nvGraphicFramePr>
          <p:cNvPr id="26" name="表格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0680623"/>
              </p:ext>
            </p:extLst>
          </p:nvPr>
        </p:nvGraphicFramePr>
        <p:xfrm>
          <a:off x="5175367" y="4244823"/>
          <a:ext cx="737961" cy="642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3729273698"/>
                    </a:ext>
                  </a:extLst>
                </a:gridCol>
              </a:tblGrid>
              <a:tr h="6425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2800" b="0" baseline="-25000" dirty="0" smtClean="0">
                          <a:solidFill>
                            <a:schemeClr val="bg1"/>
                          </a:solidFill>
                        </a:rPr>
                        <a:t>-4</a:t>
                      </a:r>
                      <a:endParaRPr lang="zh-TW" altLang="en-US" sz="28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21667"/>
                  </a:ext>
                </a:extLst>
              </a:tr>
            </a:tbl>
          </a:graphicData>
        </a:graphic>
      </p:graphicFrame>
      <p:sp>
        <p:nvSpPr>
          <p:cNvPr id="28" name="文字方塊 27"/>
          <p:cNvSpPr txBox="1"/>
          <p:nvPr/>
        </p:nvSpPr>
        <p:spPr>
          <a:xfrm>
            <a:off x="4112552" y="4240142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471373" y="898243"/>
            <a:ext cx="12266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Binary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19594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Fraction to non-Decimal fraction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0" y="4383353"/>
            <a:ext cx="12192000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文字方塊 2"/>
          <p:cNvSpPr txBox="1"/>
          <p:nvPr/>
        </p:nvSpPr>
        <p:spPr>
          <a:xfrm>
            <a:off x="4092886" y="2449286"/>
            <a:ext cx="40062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 smtClean="0"/>
              <a:t>0.6875</a:t>
            </a:r>
            <a:r>
              <a:rPr lang="en-US" altLang="zh-TW" sz="3600" baseline="-25000" dirty="0" smtClean="0"/>
              <a:t>10</a:t>
            </a:r>
            <a:r>
              <a:rPr lang="en-US" altLang="zh-TW" sz="3600" dirty="0" smtClean="0"/>
              <a:t> = 0.1011</a:t>
            </a:r>
            <a:r>
              <a:rPr lang="en-US" altLang="zh-TW" sz="3600" baseline="-25000" dirty="0" smtClean="0"/>
              <a:t>2</a:t>
            </a:r>
            <a:endParaRPr lang="zh-TW" altLang="en-US" sz="3600" baseline="-25000" dirty="0"/>
          </a:p>
        </p:txBody>
      </p:sp>
      <p:graphicFrame>
        <p:nvGraphicFramePr>
          <p:cNvPr id="30" name="表格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5590787"/>
              </p:ext>
            </p:extLst>
          </p:nvPr>
        </p:nvGraphicFramePr>
        <p:xfrm>
          <a:off x="4554991" y="5039172"/>
          <a:ext cx="3082016" cy="1254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268585571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3340620516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6867973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3594051021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1" baseline="-25000" dirty="0" smtClean="0">
                          <a:solidFill>
                            <a:schemeClr val="bg1"/>
                          </a:solidFill>
                        </a:rPr>
                        <a:t>-1</a:t>
                      </a:r>
                      <a:endParaRPr lang="zh-TW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1" baseline="-2500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zh-TW" altLang="en-US" sz="32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1" baseline="-25000" dirty="0" smtClean="0">
                          <a:solidFill>
                            <a:schemeClr val="bg1"/>
                          </a:solidFill>
                        </a:rPr>
                        <a:t>-3</a:t>
                      </a:r>
                      <a:endParaRPr lang="zh-TW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1" baseline="-2500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3200" b="1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6210119"/>
                  </a:ext>
                </a:extLst>
              </a:tr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baseline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1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9333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3878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Fraction to non-Decimal fraction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0" y="5803939"/>
            <a:ext cx="12192000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4777231"/>
              </p:ext>
            </p:extLst>
          </p:nvPr>
        </p:nvGraphicFramePr>
        <p:xfrm>
          <a:off x="302082" y="2156580"/>
          <a:ext cx="11054440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0888">
                  <a:extLst>
                    <a:ext uri="{9D8B030D-6E8A-4147-A177-3AD203B41FA5}">
                      <a16:colId xmlns:a16="http://schemas.microsoft.com/office/drawing/2014/main" val="3891780644"/>
                    </a:ext>
                  </a:extLst>
                </a:gridCol>
                <a:gridCol w="1105444">
                  <a:extLst>
                    <a:ext uri="{9D8B030D-6E8A-4147-A177-3AD203B41FA5}">
                      <a16:colId xmlns:a16="http://schemas.microsoft.com/office/drawing/2014/main" val="1322514446"/>
                    </a:ext>
                  </a:extLst>
                </a:gridCol>
                <a:gridCol w="2210888">
                  <a:extLst>
                    <a:ext uri="{9D8B030D-6E8A-4147-A177-3AD203B41FA5}">
                      <a16:colId xmlns:a16="http://schemas.microsoft.com/office/drawing/2014/main" val="731403972"/>
                    </a:ext>
                  </a:extLst>
                </a:gridCol>
                <a:gridCol w="1105444">
                  <a:extLst>
                    <a:ext uri="{9D8B030D-6E8A-4147-A177-3AD203B41FA5}">
                      <a16:colId xmlns:a16="http://schemas.microsoft.com/office/drawing/2014/main" val="1177463154"/>
                    </a:ext>
                  </a:extLst>
                </a:gridCol>
                <a:gridCol w="2210888">
                  <a:extLst>
                    <a:ext uri="{9D8B030D-6E8A-4147-A177-3AD203B41FA5}">
                      <a16:colId xmlns:a16="http://schemas.microsoft.com/office/drawing/2014/main" val="444971719"/>
                    </a:ext>
                  </a:extLst>
                </a:gridCol>
                <a:gridCol w="2210888">
                  <a:extLst>
                    <a:ext uri="{9D8B030D-6E8A-4147-A177-3AD203B41FA5}">
                      <a16:colId xmlns:a16="http://schemas.microsoft.com/office/drawing/2014/main" val="22315825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800" dirty="0" smtClean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6761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0.6875 </a:t>
                      </a:r>
                      <a:r>
                        <a:rPr lang="en-US" altLang="zh-TW" sz="2800" dirty="0" smtClean="0">
                          <a:solidFill>
                            <a:schemeClr val="bg1"/>
                          </a:solidFill>
                          <a:sym typeface="Symbol" panose="05050102010706020507" pitchFamily="18" charset="2"/>
                        </a:rPr>
                        <a:t> 2</a:t>
                      </a:r>
                      <a:endParaRPr lang="zh-TW" altLang="en-US" sz="280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09196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6857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Fraction to non-Decimal fraction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0" y="5803939"/>
            <a:ext cx="12192000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0663994"/>
              </p:ext>
            </p:extLst>
          </p:nvPr>
        </p:nvGraphicFramePr>
        <p:xfrm>
          <a:off x="302082" y="2156580"/>
          <a:ext cx="11054440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0888">
                  <a:extLst>
                    <a:ext uri="{9D8B030D-6E8A-4147-A177-3AD203B41FA5}">
                      <a16:colId xmlns:a16="http://schemas.microsoft.com/office/drawing/2014/main" val="3891780644"/>
                    </a:ext>
                  </a:extLst>
                </a:gridCol>
                <a:gridCol w="1105444">
                  <a:extLst>
                    <a:ext uri="{9D8B030D-6E8A-4147-A177-3AD203B41FA5}">
                      <a16:colId xmlns:a16="http://schemas.microsoft.com/office/drawing/2014/main" val="1322514446"/>
                    </a:ext>
                  </a:extLst>
                </a:gridCol>
                <a:gridCol w="2210888">
                  <a:extLst>
                    <a:ext uri="{9D8B030D-6E8A-4147-A177-3AD203B41FA5}">
                      <a16:colId xmlns:a16="http://schemas.microsoft.com/office/drawing/2014/main" val="731403972"/>
                    </a:ext>
                  </a:extLst>
                </a:gridCol>
                <a:gridCol w="1105444">
                  <a:extLst>
                    <a:ext uri="{9D8B030D-6E8A-4147-A177-3AD203B41FA5}">
                      <a16:colId xmlns:a16="http://schemas.microsoft.com/office/drawing/2014/main" val="1177463154"/>
                    </a:ext>
                  </a:extLst>
                </a:gridCol>
                <a:gridCol w="2210888">
                  <a:extLst>
                    <a:ext uri="{9D8B030D-6E8A-4147-A177-3AD203B41FA5}">
                      <a16:colId xmlns:a16="http://schemas.microsoft.com/office/drawing/2014/main" val="444971719"/>
                    </a:ext>
                  </a:extLst>
                </a:gridCol>
                <a:gridCol w="2210888">
                  <a:extLst>
                    <a:ext uri="{9D8B030D-6E8A-4147-A177-3AD203B41FA5}">
                      <a16:colId xmlns:a16="http://schemas.microsoft.com/office/drawing/2014/main" val="22315825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800" dirty="0" smtClean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6761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0.6875 </a:t>
                      </a:r>
                      <a:r>
                        <a:rPr lang="en-US" altLang="zh-TW" sz="2800" dirty="0" smtClean="0">
                          <a:sym typeface="Symbol" panose="05050102010706020507" pitchFamily="18" charset="2"/>
                        </a:rPr>
                        <a:t> 2</a:t>
                      </a:r>
                      <a:endParaRPr lang="zh-TW" altLang="en-US" sz="2800" dirty="0" smtClean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09196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1481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Fraction to non-Decimal fraction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0" y="5803939"/>
            <a:ext cx="12192000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2338581"/>
              </p:ext>
            </p:extLst>
          </p:nvPr>
        </p:nvGraphicFramePr>
        <p:xfrm>
          <a:off x="302082" y="2156580"/>
          <a:ext cx="11054440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0888">
                  <a:extLst>
                    <a:ext uri="{9D8B030D-6E8A-4147-A177-3AD203B41FA5}">
                      <a16:colId xmlns:a16="http://schemas.microsoft.com/office/drawing/2014/main" val="3891780644"/>
                    </a:ext>
                  </a:extLst>
                </a:gridCol>
                <a:gridCol w="1105444">
                  <a:extLst>
                    <a:ext uri="{9D8B030D-6E8A-4147-A177-3AD203B41FA5}">
                      <a16:colId xmlns:a16="http://schemas.microsoft.com/office/drawing/2014/main" val="1322514446"/>
                    </a:ext>
                  </a:extLst>
                </a:gridCol>
                <a:gridCol w="2210888">
                  <a:extLst>
                    <a:ext uri="{9D8B030D-6E8A-4147-A177-3AD203B41FA5}">
                      <a16:colId xmlns:a16="http://schemas.microsoft.com/office/drawing/2014/main" val="731403972"/>
                    </a:ext>
                  </a:extLst>
                </a:gridCol>
                <a:gridCol w="1105444">
                  <a:extLst>
                    <a:ext uri="{9D8B030D-6E8A-4147-A177-3AD203B41FA5}">
                      <a16:colId xmlns:a16="http://schemas.microsoft.com/office/drawing/2014/main" val="1177463154"/>
                    </a:ext>
                  </a:extLst>
                </a:gridCol>
                <a:gridCol w="2210888">
                  <a:extLst>
                    <a:ext uri="{9D8B030D-6E8A-4147-A177-3AD203B41FA5}">
                      <a16:colId xmlns:a16="http://schemas.microsoft.com/office/drawing/2014/main" val="444971719"/>
                    </a:ext>
                  </a:extLst>
                </a:gridCol>
                <a:gridCol w="2210888">
                  <a:extLst>
                    <a:ext uri="{9D8B030D-6E8A-4147-A177-3AD203B41FA5}">
                      <a16:colId xmlns:a16="http://schemas.microsoft.com/office/drawing/2014/main" val="22315825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Integer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Fraction</a:t>
                      </a:r>
                      <a:endParaRPr lang="zh-TW" altLang="en-US" sz="2800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Coefficient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6761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0.6875 </a:t>
                      </a:r>
                      <a:r>
                        <a:rPr lang="en-US" altLang="zh-TW" sz="2800" dirty="0" smtClean="0">
                          <a:sym typeface="Symbol" panose="05050102010706020507" pitchFamily="18" charset="2"/>
                        </a:rPr>
                        <a:t> 2</a:t>
                      </a:r>
                      <a:endParaRPr lang="zh-TW" altLang="en-US" sz="2800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+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0.3750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baseline="-25000" dirty="0" smtClean="0"/>
                        <a:t>-1</a:t>
                      </a:r>
                      <a:r>
                        <a:rPr lang="en-US" altLang="zh-TW" sz="2800" dirty="0" smtClean="0"/>
                        <a:t> = 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9196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3398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Fraction to non-Decimal fraction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0" y="5803939"/>
            <a:ext cx="12192000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829278"/>
              </p:ext>
            </p:extLst>
          </p:nvPr>
        </p:nvGraphicFramePr>
        <p:xfrm>
          <a:off x="302082" y="2156580"/>
          <a:ext cx="110544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0888">
                  <a:extLst>
                    <a:ext uri="{9D8B030D-6E8A-4147-A177-3AD203B41FA5}">
                      <a16:colId xmlns:a16="http://schemas.microsoft.com/office/drawing/2014/main" val="3891780644"/>
                    </a:ext>
                  </a:extLst>
                </a:gridCol>
                <a:gridCol w="1105444">
                  <a:extLst>
                    <a:ext uri="{9D8B030D-6E8A-4147-A177-3AD203B41FA5}">
                      <a16:colId xmlns:a16="http://schemas.microsoft.com/office/drawing/2014/main" val="1322514446"/>
                    </a:ext>
                  </a:extLst>
                </a:gridCol>
                <a:gridCol w="2210888">
                  <a:extLst>
                    <a:ext uri="{9D8B030D-6E8A-4147-A177-3AD203B41FA5}">
                      <a16:colId xmlns:a16="http://schemas.microsoft.com/office/drawing/2014/main" val="731403972"/>
                    </a:ext>
                  </a:extLst>
                </a:gridCol>
                <a:gridCol w="1105444">
                  <a:extLst>
                    <a:ext uri="{9D8B030D-6E8A-4147-A177-3AD203B41FA5}">
                      <a16:colId xmlns:a16="http://schemas.microsoft.com/office/drawing/2014/main" val="1177463154"/>
                    </a:ext>
                  </a:extLst>
                </a:gridCol>
                <a:gridCol w="2210888">
                  <a:extLst>
                    <a:ext uri="{9D8B030D-6E8A-4147-A177-3AD203B41FA5}">
                      <a16:colId xmlns:a16="http://schemas.microsoft.com/office/drawing/2014/main" val="444971719"/>
                    </a:ext>
                  </a:extLst>
                </a:gridCol>
                <a:gridCol w="2210888">
                  <a:extLst>
                    <a:ext uri="{9D8B030D-6E8A-4147-A177-3AD203B41FA5}">
                      <a16:colId xmlns:a16="http://schemas.microsoft.com/office/drawing/2014/main" val="22315825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Integer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Fraction</a:t>
                      </a:r>
                      <a:endParaRPr lang="zh-TW" altLang="en-US" sz="2800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Coefficient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6761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0.6875 </a:t>
                      </a:r>
                      <a:r>
                        <a:rPr lang="en-US" altLang="zh-TW" sz="2800" dirty="0" smtClean="0">
                          <a:sym typeface="Symbol" panose="05050102010706020507" pitchFamily="18" charset="2"/>
                        </a:rPr>
                        <a:t> 2</a:t>
                      </a:r>
                      <a:endParaRPr lang="zh-TW" altLang="en-US" sz="2800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+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0.3750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baseline="-25000" dirty="0" smtClean="0"/>
                        <a:t>-1</a:t>
                      </a:r>
                      <a:r>
                        <a:rPr lang="en-US" altLang="zh-TW" sz="2800" dirty="0" smtClean="0"/>
                        <a:t> = 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919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0.3750 </a:t>
                      </a: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  <a:sym typeface="Symbol" panose="05050102010706020507" pitchFamily="18" charset="2"/>
                        </a:rPr>
                        <a:t> 2</a:t>
                      </a:r>
                      <a:endParaRPr kumimoji="0" lang="zh-TW" altLang="en-US" sz="2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+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0.7500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a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-2</a:t>
                      </a: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 = 0</a:t>
                      </a:r>
                      <a:endParaRPr kumimoji="0" lang="zh-TW" alt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44828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977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Fraction to non-Decimal fraction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0" y="5803939"/>
            <a:ext cx="12192000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7697555"/>
              </p:ext>
            </p:extLst>
          </p:nvPr>
        </p:nvGraphicFramePr>
        <p:xfrm>
          <a:off x="302082" y="2156580"/>
          <a:ext cx="11054440" cy="207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0888">
                  <a:extLst>
                    <a:ext uri="{9D8B030D-6E8A-4147-A177-3AD203B41FA5}">
                      <a16:colId xmlns:a16="http://schemas.microsoft.com/office/drawing/2014/main" val="3891780644"/>
                    </a:ext>
                  </a:extLst>
                </a:gridCol>
                <a:gridCol w="1105444">
                  <a:extLst>
                    <a:ext uri="{9D8B030D-6E8A-4147-A177-3AD203B41FA5}">
                      <a16:colId xmlns:a16="http://schemas.microsoft.com/office/drawing/2014/main" val="1322514446"/>
                    </a:ext>
                  </a:extLst>
                </a:gridCol>
                <a:gridCol w="2210888">
                  <a:extLst>
                    <a:ext uri="{9D8B030D-6E8A-4147-A177-3AD203B41FA5}">
                      <a16:colId xmlns:a16="http://schemas.microsoft.com/office/drawing/2014/main" val="731403972"/>
                    </a:ext>
                  </a:extLst>
                </a:gridCol>
                <a:gridCol w="1105444">
                  <a:extLst>
                    <a:ext uri="{9D8B030D-6E8A-4147-A177-3AD203B41FA5}">
                      <a16:colId xmlns:a16="http://schemas.microsoft.com/office/drawing/2014/main" val="1177463154"/>
                    </a:ext>
                  </a:extLst>
                </a:gridCol>
                <a:gridCol w="2210888">
                  <a:extLst>
                    <a:ext uri="{9D8B030D-6E8A-4147-A177-3AD203B41FA5}">
                      <a16:colId xmlns:a16="http://schemas.microsoft.com/office/drawing/2014/main" val="444971719"/>
                    </a:ext>
                  </a:extLst>
                </a:gridCol>
                <a:gridCol w="2210888">
                  <a:extLst>
                    <a:ext uri="{9D8B030D-6E8A-4147-A177-3AD203B41FA5}">
                      <a16:colId xmlns:a16="http://schemas.microsoft.com/office/drawing/2014/main" val="22315825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Integer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Fraction</a:t>
                      </a:r>
                      <a:endParaRPr lang="zh-TW" altLang="en-US" sz="2800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Coefficient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6761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0.6875 </a:t>
                      </a:r>
                      <a:r>
                        <a:rPr lang="en-US" altLang="zh-TW" sz="2800" dirty="0" smtClean="0">
                          <a:sym typeface="Symbol" panose="05050102010706020507" pitchFamily="18" charset="2"/>
                        </a:rPr>
                        <a:t> 2</a:t>
                      </a:r>
                      <a:endParaRPr lang="zh-TW" altLang="en-US" sz="2800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+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0.3750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baseline="-25000" dirty="0" smtClean="0"/>
                        <a:t>-1</a:t>
                      </a:r>
                      <a:r>
                        <a:rPr lang="en-US" altLang="zh-TW" sz="2800" dirty="0" smtClean="0"/>
                        <a:t> = 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919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0.3750 </a:t>
                      </a: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  <a:sym typeface="Symbol" panose="05050102010706020507" pitchFamily="18" charset="2"/>
                        </a:rPr>
                        <a:t> 2</a:t>
                      </a:r>
                      <a:endParaRPr kumimoji="0" lang="zh-TW" altLang="en-US" sz="2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+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0.7500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a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-2</a:t>
                      </a: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 = 0</a:t>
                      </a:r>
                      <a:endParaRPr kumimoji="0" lang="zh-TW" alt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4482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0.7500 </a:t>
                      </a: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  <a:sym typeface="Symbol" panose="05050102010706020507" pitchFamily="18" charset="2"/>
                        </a:rPr>
                        <a:t> 2</a:t>
                      </a:r>
                      <a:endParaRPr kumimoji="0" lang="zh-TW" altLang="en-US" sz="2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+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0.5000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a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-3</a:t>
                      </a: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 = 1</a:t>
                      </a:r>
                      <a:endParaRPr kumimoji="0" lang="zh-TW" alt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52943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9309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Fraction to non-Decimal fraction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0" y="5803939"/>
            <a:ext cx="12192000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1041168"/>
              </p:ext>
            </p:extLst>
          </p:nvPr>
        </p:nvGraphicFramePr>
        <p:xfrm>
          <a:off x="302082" y="2156580"/>
          <a:ext cx="110544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0888">
                  <a:extLst>
                    <a:ext uri="{9D8B030D-6E8A-4147-A177-3AD203B41FA5}">
                      <a16:colId xmlns:a16="http://schemas.microsoft.com/office/drawing/2014/main" val="3891780644"/>
                    </a:ext>
                  </a:extLst>
                </a:gridCol>
                <a:gridCol w="1105444">
                  <a:extLst>
                    <a:ext uri="{9D8B030D-6E8A-4147-A177-3AD203B41FA5}">
                      <a16:colId xmlns:a16="http://schemas.microsoft.com/office/drawing/2014/main" val="1322514446"/>
                    </a:ext>
                  </a:extLst>
                </a:gridCol>
                <a:gridCol w="2210888">
                  <a:extLst>
                    <a:ext uri="{9D8B030D-6E8A-4147-A177-3AD203B41FA5}">
                      <a16:colId xmlns:a16="http://schemas.microsoft.com/office/drawing/2014/main" val="731403972"/>
                    </a:ext>
                  </a:extLst>
                </a:gridCol>
                <a:gridCol w="1105444">
                  <a:extLst>
                    <a:ext uri="{9D8B030D-6E8A-4147-A177-3AD203B41FA5}">
                      <a16:colId xmlns:a16="http://schemas.microsoft.com/office/drawing/2014/main" val="1177463154"/>
                    </a:ext>
                  </a:extLst>
                </a:gridCol>
                <a:gridCol w="2210888">
                  <a:extLst>
                    <a:ext uri="{9D8B030D-6E8A-4147-A177-3AD203B41FA5}">
                      <a16:colId xmlns:a16="http://schemas.microsoft.com/office/drawing/2014/main" val="444971719"/>
                    </a:ext>
                  </a:extLst>
                </a:gridCol>
                <a:gridCol w="2210888">
                  <a:extLst>
                    <a:ext uri="{9D8B030D-6E8A-4147-A177-3AD203B41FA5}">
                      <a16:colId xmlns:a16="http://schemas.microsoft.com/office/drawing/2014/main" val="22315825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Integer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Fraction</a:t>
                      </a:r>
                      <a:endParaRPr lang="zh-TW" altLang="en-US" sz="2800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Coefficient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6761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0.6875 </a:t>
                      </a:r>
                      <a:r>
                        <a:rPr lang="en-US" altLang="zh-TW" sz="2800" dirty="0" smtClean="0">
                          <a:sym typeface="Symbol" panose="05050102010706020507" pitchFamily="18" charset="2"/>
                        </a:rPr>
                        <a:t> 2</a:t>
                      </a:r>
                      <a:endParaRPr lang="zh-TW" altLang="en-US" sz="2800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+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0.3750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baseline="-25000" dirty="0" smtClean="0"/>
                        <a:t>-1</a:t>
                      </a:r>
                      <a:r>
                        <a:rPr lang="en-US" altLang="zh-TW" sz="2800" dirty="0" smtClean="0"/>
                        <a:t> = 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919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0.3750 </a:t>
                      </a: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  <a:sym typeface="Symbol" panose="05050102010706020507" pitchFamily="18" charset="2"/>
                        </a:rPr>
                        <a:t> 2</a:t>
                      </a:r>
                      <a:endParaRPr kumimoji="0" lang="zh-TW" altLang="en-US" sz="2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+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0.7500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a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-2</a:t>
                      </a: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 = 0</a:t>
                      </a:r>
                      <a:endParaRPr kumimoji="0" lang="zh-TW" alt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4482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0.7500 </a:t>
                      </a: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  <a:sym typeface="Symbol" panose="05050102010706020507" pitchFamily="18" charset="2"/>
                        </a:rPr>
                        <a:t> 2</a:t>
                      </a:r>
                      <a:endParaRPr kumimoji="0" lang="zh-TW" altLang="en-US" sz="2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+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0.5000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a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-3</a:t>
                      </a: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 = 1</a:t>
                      </a:r>
                      <a:endParaRPr kumimoji="0" lang="zh-TW" alt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5294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0.5000 </a:t>
                      </a: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  <a:sym typeface="Symbol" panose="05050102010706020507" pitchFamily="18" charset="2"/>
                        </a:rPr>
                        <a:t> 2</a:t>
                      </a:r>
                      <a:endParaRPr kumimoji="0" lang="zh-TW" altLang="en-US" sz="2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+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0.0000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a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-4</a:t>
                      </a: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 = 1</a:t>
                      </a:r>
                      <a:endParaRPr kumimoji="0" lang="zh-TW" alt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5804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2354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Fraction to non-Decimal fraction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0" y="5803939"/>
            <a:ext cx="12192000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1041168"/>
              </p:ext>
            </p:extLst>
          </p:nvPr>
        </p:nvGraphicFramePr>
        <p:xfrm>
          <a:off x="302082" y="2156580"/>
          <a:ext cx="110544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0888">
                  <a:extLst>
                    <a:ext uri="{9D8B030D-6E8A-4147-A177-3AD203B41FA5}">
                      <a16:colId xmlns:a16="http://schemas.microsoft.com/office/drawing/2014/main" val="3891780644"/>
                    </a:ext>
                  </a:extLst>
                </a:gridCol>
                <a:gridCol w="1105444">
                  <a:extLst>
                    <a:ext uri="{9D8B030D-6E8A-4147-A177-3AD203B41FA5}">
                      <a16:colId xmlns:a16="http://schemas.microsoft.com/office/drawing/2014/main" val="1322514446"/>
                    </a:ext>
                  </a:extLst>
                </a:gridCol>
                <a:gridCol w="2210888">
                  <a:extLst>
                    <a:ext uri="{9D8B030D-6E8A-4147-A177-3AD203B41FA5}">
                      <a16:colId xmlns:a16="http://schemas.microsoft.com/office/drawing/2014/main" val="731403972"/>
                    </a:ext>
                  </a:extLst>
                </a:gridCol>
                <a:gridCol w="1105444">
                  <a:extLst>
                    <a:ext uri="{9D8B030D-6E8A-4147-A177-3AD203B41FA5}">
                      <a16:colId xmlns:a16="http://schemas.microsoft.com/office/drawing/2014/main" val="1177463154"/>
                    </a:ext>
                  </a:extLst>
                </a:gridCol>
                <a:gridCol w="2210888">
                  <a:extLst>
                    <a:ext uri="{9D8B030D-6E8A-4147-A177-3AD203B41FA5}">
                      <a16:colId xmlns:a16="http://schemas.microsoft.com/office/drawing/2014/main" val="444971719"/>
                    </a:ext>
                  </a:extLst>
                </a:gridCol>
                <a:gridCol w="2210888">
                  <a:extLst>
                    <a:ext uri="{9D8B030D-6E8A-4147-A177-3AD203B41FA5}">
                      <a16:colId xmlns:a16="http://schemas.microsoft.com/office/drawing/2014/main" val="22315825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Integer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Fraction</a:t>
                      </a:r>
                      <a:endParaRPr lang="zh-TW" altLang="en-US" sz="2800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Coefficient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6761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0.6875 </a:t>
                      </a:r>
                      <a:r>
                        <a:rPr lang="en-US" altLang="zh-TW" sz="2800" dirty="0" smtClean="0">
                          <a:sym typeface="Symbol" panose="05050102010706020507" pitchFamily="18" charset="2"/>
                        </a:rPr>
                        <a:t> 2</a:t>
                      </a:r>
                      <a:endParaRPr lang="zh-TW" altLang="en-US" sz="2800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+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0.3750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baseline="-25000" dirty="0" smtClean="0"/>
                        <a:t>-1</a:t>
                      </a:r>
                      <a:r>
                        <a:rPr lang="en-US" altLang="zh-TW" sz="2800" dirty="0" smtClean="0"/>
                        <a:t> = 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919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0.3750 </a:t>
                      </a: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  <a:sym typeface="Symbol" panose="05050102010706020507" pitchFamily="18" charset="2"/>
                        </a:rPr>
                        <a:t> 2</a:t>
                      </a:r>
                      <a:endParaRPr kumimoji="0" lang="zh-TW" altLang="en-US" sz="2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+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0.7500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a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-2</a:t>
                      </a: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 = 0</a:t>
                      </a:r>
                      <a:endParaRPr kumimoji="0" lang="zh-TW" alt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4482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0.7500 </a:t>
                      </a: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  <a:sym typeface="Symbol" panose="05050102010706020507" pitchFamily="18" charset="2"/>
                        </a:rPr>
                        <a:t> 2</a:t>
                      </a:r>
                      <a:endParaRPr kumimoji="0" lang="zh-TW" altLang="en-US" sz="2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+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0.5000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a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-3</a:t>
                      </a: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 = 1</a:t>
                      </a:r>
                      <a:endParaRPr kumimoji="0" lang="zh-TW" alt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5294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0.5000 </a:t>
                      </a: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  <a:sym typeface="Symbol" panose="05050102010706020507" pitchFamily="18" charset="2"/>
                        </a:rPr>
                        <a:t> 2</a:t>
                      </a:r>
                      <a:endParaRPr kumimoji="0" lang="zh-TW" altLang="en-US" sz="2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+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0.0000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a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-4</a:t>
                      </a: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 = 1</a:t>
                      </a:r>
                      <a:endParaRPr kumimoji="0" lang="zh-TW" alt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580454"/>
                  </a:ext>
                </a:extLst>
              </a:tr>
            </a:tbl>
          </a:graphicData>
        </a:graphic>
      </p:graphicFrame>
      <p:sp>
        <p:nvSpPr>
          <p:cNvPr id="10" name="文字方塊 9"/>
          <p:cNvSpPr txBox="1"/>
          <p:nvPr/>
        </p:nvSpPr>
        <p:spPr>
          <a:xfrm>
            <a:off x="514349" y="4803313"/>
            <a:ext cx="12570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0.6875</a:t>
            </a:r>
            <a:endParaRPr lang="zh-TW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487411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Fraction to non-Decimal fraction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0" y="5803939"/>
            <a:ext cx="12192000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1041168"/>
              </p:ext>
            </p:extLst>
          </p:nvPr>
        </p:nvGraphicFramePr>
        <p:xfrm>
          <a:off x="302082" y="2156580"/>
          <a:ext cx="110544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0888">
                  <a:extLst>
                    <a:ext uri="{9D8B030D-6E8A-4147-A177-3AD203B41FA5}">
                      <a16:colId xmlns:a16="http://schemas.microsoft.com/office/drawing/2014/main" val="3891780644"/>
                    </a:ext>
                  </a:extLst>
                </a:gridCol>
                <a:gridCol w="1105444">
                  <a:extLst>
                    <a:ext uri="{9D8B030D-6E8A-4147-A177-3AD203B41FA5}">
                      <a16:colId xmlns:a16="http://schemas.microsoft.com/office/drawing/2014/main" val="1322514446"/>
                    </a:ext>
                  </a:extLst>
                </a:gridCol>
                <a:gridCol w="2210888">
                  <a:extLst>
                    <a:ext uri="{9D8B030D-6E8A-4147-A177-3AD203B41FA5}">
                      <a16:colId xmlns:a16="http://schemas.microsoft.com/office/drawing/2014/main" val="731403972"/>
                    </a:ext>
                  </a:extLst>
                </a:gridCol>
                <a:gridCol w="1105444">
                  <a:extLst>
                    <a:ext uri="{9D8B030D-6E8A-4147-A177-3AD203B41FA5}">
                      <a16:colId xmlns:a16="http://schemas.microsoft.com/office/drawing/2014/main" val="1177463154"/>
                    </a:ext>
                  </a:extLst>
                </a:gridCol>
                <a:gridCol w="2210888">
                  <a:extLst>
                    <a:ext uri="{9D8B030D-6E8A-4147-A177-3AD203B41FA5}">
                      <a16:colId xmlns:a16="http://schemas.microsoft.com/office/drawing/2014/main" val="444971719"/>
                    </a:ext>
                  </a:extLst>
                </a:gridCol>
                <a:gridCol w="2210888">
                  <a:extLst>
                    <a:ext uri="{9D8B030D-6E8A-4147-A177-3AD203B41FA5}">
                      <a16:colId xmlns:a16="http://schemas.microsoft.com/office/drawing/2014/main" val="22315825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Integer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Fraction</a:t>
                      </a:r>
                      <a:endParaRPr lang="zh-TW" altLang="en-US" sz="2800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Coefficient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6761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smtClean="0"/>
                        <a:t>0.6875 </a:t>
                      </a:r>
                      <a:r>
                        <a:rPr lang="en-US" altLang="zh-TW" sz="2800" dirty="0" smtClean="0">
                          <a:sym typeface="Symbol" panose="05050102010706020507" pitchFamily="18" charset="2"/>
                        </a:rPr>
                        <a:t> 2</a:t>
                      </a:r>
                      <a:endParaRPr lang="zh-TW" altLang="en-US" sz="2800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+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0.3750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baseline="-25000" dirty="0" smtClean="0"/>
                        <a:t>-1</a:t>
                      </a:r>
                      <a:r>
                        <a:rPr lang="en-US" altLang="zh-TW" sz="2800" dirty="0" smtClean="0"/>
                        <a:t> = 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919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0.3750 </a:t>
                      </a: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  <a:sym typeface="Symbol" panose="05050102010706020507" pitchFamily="18" charset="2"/>
                        </a:rPr>
                        <a:t> 2</a:t>
                      </a:r>
                      <a:endParaRPr kumimoji="0" lang="zh-TW" altLang="en-US" sz="2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+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0.7500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a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-2</a:t>
                      </a: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 = 0</a:t>
                      </a:r>
                      <a:endParaRPr kumimoji="0" lang="zh-TW" alt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4482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0.7500 </a:t>
                      </a: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  <a:sym typeface="Symbol" panose="05050102010706020507" pitchFamily="18" charset="2"/>
                        </a:rPr>
                        <a:t> 2</a:t>
                      </a:r>
                      <a:endParaRPr kumimoji="0" lang="zh-TW" altLang="en-US" sz="2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+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0.5000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a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-3</a:t>
                      </a: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 = 1</a:t>
                      </a:r>
                      <a:endParaRPr kumimoji="0" lang="zh-TW" alt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5294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0.5000 </a:t>
                      </a: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  <a:sym typeface="Symbol" panose="05050102010706020507" pitchFamily="18" charset="2"/>
                        </a:rPr>
                        <a:t> 2</a:t>
                      </a:r>
                      <a:endParaRPr kumimoji="0" lang="zh-TW" altLang="en-US" sz="2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=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+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0.0000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a</a:t>
                      </a:r>
                      <a:r>
                        <a:rPr kumimoji="0" lang="en-US" altLang="zh-TW" sz="2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-4</a:t>
                      </a: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 = 1</a:t>
                      </a:r>
                      <a:endParaRPr kumimoji="0" lang="zh-TW" alt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580454"/>
                  </a:ext>
                </a:extLst>
              </a:tr>
            </a:tbl>
          </a:graphicData>
        </a:graphic>
      </p:graphicFrame>
      <p:sp>
        <p:nvSpPr>
          <p:cNvPr id="8" name="手繪多邊形 7"/>
          <p:cNvSpPr/>
          <p:nvPr/>
        </p:nvSpPr>
        <p:spPr>
          <a:xfrm>
            <a:off x="11185071" y="2726871"/>
            <a:ext cx="434342" cy="2338052"/>
          </a:xfrm>
          <a:custGeom>
            <a:avLst/>
            <a:gdLst>
              <a:gd name="connsiteX0" fmla="*/ 408215 w 434342"/>
              <a:gd name="connsiteY0" fmla="*/ 0 h 2338052"/>
              <a:gd name="connsiteX1" fmla="*/ 432708 w 434342"/>
              <a:gd name="connsiteY1" fmla="*/ 1379765 h 2338052"/>
              <a:gd name="connsiteX2" fmla="*/ 367393 w 434342"/>
              <a:gd name="connsiteY2" fmla="*/ 2204358 h 2338052"/>
              <a:gd name="connsiteX3" fmla="*/ 0 w 434342"/>
              <a:gd name="connsiteY3" fmla="*/ 2326822 h 2338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4342" h="2338052">
                <a:moveTo>
                  <a:pt x="408215" y="0"/>
                </a:moveTo>
                <a:cubicBezTo>
                  <a:pt x="423863" y="506186"/>
                  <a:pt x="439512" y="1012372"/>
                  <a:pt x="432708" y="1379765"/>
                </a:cubicBezTo>
                <a:cubicBezTo>
                  <a:pt x="425904" y="1747158"/>
                  <a:pt x="439511" y="2046515"/>
                  <a:pt x="367393" y="2204358"/>
                </a:cubicBezTo>
                <a:cubicBezTo>
                  <a:pt x="295275" y="2362201"/>
                  <a:pt x="147637" y="2344511"/>
                  <a:pt x="0" y="2326822"/>
                </a:cubicBezTo>
              </a:path>
            </a:pathLst>
          </a:custGeom>
          <a:noFill/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9601201" y="4803313"/>
            <a:ext cx="15023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=</a:t>
            </a:r>
            <a:r>
              <a:rPr lang="zh-TW" altLang="en-US" sz="2800" b="1" dirty="0" smtClean="0"/>
              <a:t> </a:t>
            </a:r>
            <a:r>
              <a:rPr lang="en-US" altLang="zh-TW" sz="2800" b="1" dirty="0" smtClean="0"/>
              <a:t>.1011</a:t>
            </a:r>
            <a:r>
              <a:rPr lang="en-US" altLang="zh-TW" sz="2800" b="1" baseline="-25000" dirty="0" smtClean="0"/>
              <a:t>2</a:t>
            </a:r>
            <a:endParaRPr lang="zh-TW" altLang="en-US" sz="2800" b="1" baseline="-250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514349" y="4803313"/>
            <a:ext cx="12570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0.6875</a:t>
            </a:r>
            <a:endParaRPr lang="zh-TW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590863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Fraction to non-Decimal fraction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0" y="5803939"/>
            <a:ext cx="12192000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655864" y="2408449"/>
            <a:ext cx="1114152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/>
              <a:t>To convert a decimal fraction to a number expressed in base </a:t>
            </a:r>
            <a:r>
              <a:rPr lang="en-US" altLang="zh-TW" sz="2800" i="1" dirty="0"/>
              <a:t>r</a:t>
            </a:r>
            <a:r>
              <a:rPr lang="en-US" altLang="zh-TW" sz="2800" dirty="0"/>
              <a:t>, a similar procedure is used. However, multiplication is by </a:t>
            </a:r>
            <a:r>
              <a:rPr lang="en-US" altLang="zh-TW" sz="2800" i="1" dirty="0"/>
              <a:t>r</a:t>
            </a:r>
            <a:r>
              <a:rPr lang="en-US" altLang="zh-TW" sz="2800" dirty="0"/>
              <a:t> instead of 2, and the coefficients found from the integers may range in value from 0 to </a:t>
            </a:r>
            <a:r>
              <a:rPr lang="en-US" altLang="zh-TW" sz="2800" i="1" dirty="0"/>
              <a:t>r</a:t>
            </a:r>
            <a:r>
              <a:rPr lang="en-US" altLang="zh-TW" sz="2800" dirty="0"/>
              <a:t> </a:t>
            </a:r>
            <a:r>
              <a:rPr lang="en-US" altLang="zh-TW" sz="2800" dirty="0">
                <a:sym typeface="Symbol" panose="05050102010706020507" pitchFamily="18" charset="2"/>
              </a:rPr>
              <a:t></a:t>
            </a:r>
            <a:r>
              <a:rPr lang="en-US" altLang="zh-TW" sz="2800" dirty="0"/>
              <a:t> 1 instead of 0 and 1.</a:t>
            </a:r>
            <a:r>
              <a:rPr lang="en-US" altLang="zh-TW" sz="2800" dirty="0">
                <a:sym typeface="Symbol" panose="05050102010706020507" pitchFamily="18" charset="2"/>
              </a:rPr>
              <a:t> 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074425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Fraction to non-Decimal fraction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37625" y="1113455"/>
            <a:ext cx="39388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b="1" dirty="0"/>
              <a:t>Convert </a:t>
            </a:r>
            <a:r>
              <a:rPr lang="en-US" altLang="zh-TW" sz="2800" b="1" dirty="0" smtClean="0"/>
              <a:t>0.513</a:t>
            </a:r>
            <a:r>
              <a:rPr lang="en-US" altLang="zh-TW" sz="2800" b="1" baseline="-25000" dirty="0" smtClean="0"/>
              <a:t>10</a:t>
            </a:r>
            <a:r>
              <a:rPr lang="en-US" altLang="zh-TW" sz="2800" b="1" dirty="0" smtClean="0"/>
              <a:t> </a:t>
            </a:r>
            <a:r>
              <a:rPr lang="en-US" altLang="zh-TW" sz="2800" b="1" dirty="0"/>
              <a:t>to octal. </a:t>
            </a:r>
          </a:p>
        </p:txBody>
      </p:sp>
    </p:spTree>
    <p:extLst>
      <p:ext uri="{BB962C8B-B14F-4D97-AF65-F5344CB8AC3E}">
        <p14:creationId xmlns:p14="http://schemas.microsoft.com/office/powerpoint/2010/main" val="3528483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Fraction to non-Decimal fraction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2783941"/>
              </p:ext>
            </p:extLst>
          </p:nvPr>
        </p:nvGraphicFramePr>
        <p:xfrm>
          <a:off x="1052283" y="2121636"/>
          <a:ext cx="5634264" cy="3666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4058">
                  <a:extLst>
                    <a:ext uri="{9D8B030D-6E8A-4147-A177-3AD203B41FA5}">
                      <a16:colId xmlns:a16="http://schemas.microsoft.com/office/drawing/2014/main" val="2483397806"/>
                    </a:ext>
                  </a:extLst>
                </a:gridCol>
                <a:gridCol w="1036864">
                  <a:extLst>
                    <a:ext uri="{9D8B030D-6E8A-4147-A177-3AD203B41FA5}">
                      <a16:colId xmlns:a16="http://schemas.microsoft.com/office/drawing/2014/main" val="2620007015"/>
                    </a:ext>
                  </a:extLst>
                </a:gridCol>
                <a:gridCol w="2253342">
                  <a:extLst>
                    <a:ext uri="{9D8B030D-6E8A-4147-A177-3AD203B41FA5}">
                      <a16:colId xmlns:a16="http://schemas.microsoft.com/office/drawing/2014/main" val="4148808784"/>
                    </a:ext>
                  </a:extLst>
                </a:gridCol>
              </a:tblGrid>
              <a:tr h="6111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0.513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 </a:t>
                      </a:r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8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 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=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4.104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1060396"/>
                  </a:ext>
                </a:extLst>
              </a:tr>
              <a:tr h="6111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0.104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 </a:t>
                      </a:r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8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 </a:t>
                      </a:r>
                      <a:endParaRPr lang="zh-TW" altLang="en-US" sz="28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=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0.832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447103"/>
                  </a:ext>
                </a:extLst>
              </a:tr>
              <a:tr h="6111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0.832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 </a:t>
                      </a:r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8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 </a:t>
                      </a:r>
                      <a:endParaRPr lang="zh-TW" altLang="en-US" sz="28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=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6.656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5837038"/>
                  </a:ext>
                </a:extLst>
              </a:tr>
              <a:tr h="6111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0.656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 </a:t>
                      </a:r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8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 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=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5.248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941454"/>
                  </a:ext>
                </a:extLst>
              </a:tr>
              <a:tr h="6111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0.248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 </a:t>
                      </a:r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8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 </a:t>
                      </a:r>
                      <a:endParaRPr lang="zh-TW" altLang="en-US" sz="28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=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1.984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154015"/>
                  </a:ext>
                </a:extLst>
              </a:tr>
              <a:tr h="6111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0.984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 </a:t>
                      </a:r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8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 </a:t>
                      </a:r>
                      <a:endParaRPr lang="zh-TW" altLang="en-US" sz="28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=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7.872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6793214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437625" y="1113455"/>
            <a:ext cx="39388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b="1" dirty="0"/>
              <a:t>Convert </a:t>
            </a:r>
            <a:r>
              <a:rPr lang="en-US" altLang="zh-TW" sz="2800" b="1" dirty="0" smtClean="0"/>
              <a:t>0.513</a:t>
            </a:r>
            <a:r>
              <a:rPr lang="en-US" altLang="zh-TW" sz="2800" b="1" baseline="-25000" dirty="0" smtClean="0"/>
              <a:t>10</a:t>
            </a:r>
            <a:r>
              <a:rPr lang="en-US" altLang="zh-TW" sz="2800" b="1" dirty="0" smtClean="0"/>
              <a:t> </a:t>
            </a:r>
            <a:r>
              <a:rPr lang="en-US" altLang="zh-TW" sz="2800" b="1" dirty="0"/>
              <a:t>to octal. </a:t>
            </a:r>
          </a:p>
        </p:txBody>
      </p:sp>
    </p:spTree>
    <p:extLst>
      <p:ext uri="{BB962C8B-B14F-4D97-AF65-F5344CB8AC3E}">
        <p14:creationId xmlns:p14="http://schemas.microsoft.com/office/powerpoint/2010/main" val="148924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Fraction to non-Decimal fraction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2783941"/>
              </p:ext>
            </p:extLst>
          </p:nvPr>
        </p:nvGraphicFramePr>
        <p:xfrm>
          <a:off x="1052283" y="2121636"/>
          <a:ext cx="5634264" cy="3666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4058">
                  <a:extLst>
                    <a:ext uri="{9D8B030D-6E8A-4147-A177-3AD203B41FA5}">
                      <a16:colId xmlns:a16="http://schemas.microsoft.com/office/drawing/2014/main" val="2483397806"/>
                    </a:ext>
                  </a:extLst>
                </a:gridCol>
                <a:gridCol w="1036864">
                  <a:extLst>
                    <a:ext uri="{9D8B030D-6E8A-4147-A177-3AD203B41FA5}">
                      <a16:colId xmlns:a16="http://schemas.microsoft.com/office/drawing/2014/main" val="2620007015"/>
                    </a:ext>
                  </a:extLst>
                </a:gridCol>
                <a:gridCol w="2253342">
                  <a:extLst>
                    <a:ext uri="{9D8B030D-6E8A-4147-A177-3AD203B41FA5}">
                      <a16:colId xmlns:a16="http://schemas.microsoft.com/office/drawing/2014/main" val="4148808784"/>
                    </a:ext>
                  </a:extLst>
                </a:gridCol>
              </a:tblGrid>
              <a:tr h="6111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0.513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 </a:t>
                      </a:r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8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 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=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4.104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1060396"/>
                  </a:ext>
                </a:extLst>
              </a:tr>
              <a:tr h="6111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0.104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 </a:t>
                      </a:r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8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 </a:t>
                      </a:r>
                      <a:endParaRPr lang="zh-TW" altLang="en-US" sz="28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=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0.832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447103"/>
                  </a:ext>
                </a:extLst>
              </a:tr>
              <a:tr h="6111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0.832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 </a:t>
                      </a:r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8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 </a:t>
                      </a:r>
                      <a:endParaRPr lang="zh-TW" altLang="en-US" sz="28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=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6.656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5837038"/>
                  </a:ext>
                </a:extLst>
              </a:tr>
              <a:tr h="6111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0.656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 </a:t>
                      </a:r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8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 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=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5.248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941454"/>
                  </a:ext>
                </a:extLst>
              </a:tr>
              <a:tr h="6111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0.248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 </a:t>
                      </a:r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8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 </a:t>
                      </a:r>
                      <a:endParaRPr lang="zh-TW" altLang="en-US" sz="28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=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1.984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154015"/>
                  </a:ext>
                </a:extLst>
              </a:tr>
              <a:tr h="6111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0.984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 </a:t>
                      </a:r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8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 </a:t>
                      </a:r>
                      <a:endParaRPr lang="zh-TW" altLang="en-US" sz="28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=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7.872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679321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7094765" y="5265256"/>
            <a:ext cx="38282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0.513</a:t>
            </a:r>
            <a:r>
              <a:rPr lang="en-US" altLang="zh-TW" sz="2800" b="1" baseline="-25000" dirty="0" smtClean="0">
                <a:solidFill>
                  <a:srgbClr val="C00000"/>
                </a:solidFill>
              </a:rPr>
              <a:t>10</a:t>
            </a:r>
            <a:r>
              <a:rPr lang="zh-TW" altLang="en-US" sz="28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2800" b="1" dirty="0" smtClean="0">
                <a:solidFill>
                  <a:srgbClr val="C00000"/>
                </a:solidFill>
              </a:rPr>
              <a:t>=</a:t>
            </a:r>
            <a:r>
              <a:rPr lang="zh-TW" altLang="en-US" sz="28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2800" b="1" dirty="0" smtClean="0">
                <a:solidFill>
                  <a:srgbClr val="C00000"/>
                </a:solidFill>
              </a:rPr>
              <a:t>0.406517….</a:t>
            </a:r>
            <a:r>
              <a:rPr lang="zh-TW" altLang="en-US" sz="28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2800" b="1" baseline="-25000" dirty="0" smtClean="0">
                <a:solidFill>
                  <a:srgbClr val="C00000"/>
                </a:solidFill>
              </a:rPr>
              <a:t>8</a:t>
            </a:r>
            <a:endParaRPr lang="zh-TW" altLang="en-US" sz="2800" b="1" baseline="-25000" dirty="0">
              <a:solidFill>
                <a:srgbClr val="C0000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437625" y="1113455"/>
            <a:ext cx="39388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b="1" dirty="0"/>
              <a:t>Convert </a:t>
            </a:r>
            <a:r>
              <a:rPr lang="en-US" altLang="zh-TW" sz="2800" b="1" dirty="0" smtClean="0"/>
              <a:t>0.513</a:t>
            </a:r>
            <a:r>
              <a:rPr lang="en-US" altLang="zh-TW" sz="2800" b="1" baseline="-25000" dirty="0" smtClean="0"/>
              <a:t>10</a:t>
            </a:r>
            <a:r>
              <a:rPr lang="en-US" altLang="zh-TW" sz="2800" b="1" dirty="0" smtClean="0"/>
              <a:t> </a:t>
            </a:r>
            <a:r>
              <a:rPr lang="en-US" altLang="zh-TW" sz="2800" b="1" dirty="0"/>
              <a:t>to octal. </a:t>
            </a:r>
          </a:p>
        </p:txBody>
      </p:sp>
    </p:spTree>
    <p:extLst>
      <p:ext uri="{BB962C8B-B14F-4D97-AF65-F5344CB8AC3E}">
        <p14:creationId xmlns:p14="http://schemas.microsoft.com/office/powerpoint/2010/main" val="3526269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Fraction to non-Decimal fraction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2783941"/>
              </p:ext>
            </p:extLst>
          </p:nvPr>
        </p:nvGraphicFramePr>
        <p:xfrm>
          <a:off x="1052283" y="2121636"/>
          <a:ext cx="5634264" cy="3666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4058">
                  <a:extLst>
                    <a:ext uri="{9D8B030D-6E8A-4147-A177-3AD203B41FA5}">
                      <a16:colId xmlns:a16="http://schemas.microsoft.com/office/drawing/2014/main" val="2483397806"/>
                    </a:ext>
                  </a:extLst>
                </a:gridCol>
                <a:gridCol w="1036864">
                  <a:extLst>
                    <a:ext uri="{9D8B030D-6E8A-4147-A177-3AD203B41FA5}">
                      <a16:colId xmlns:a16="http://schemas.microsoft.com/office/drawing/2014/main" val="2620007015"/>
                    </a:ext>
                  </a:extLst>
                </a:gridCol>
                <a:gridCol w="2253342">
                  <a:extLst>
                    <a:ext uri="{9D8B030D-6E8A-4147-A177-3AD203B41FA5}">
                      <a16:colId xmlns:a16="http://schemas.microsoft.com/office/drawing/2014/main" val="4148808784"/>
                    </a:ext>
                  </a:extLst>
                </a:gridCol>
              </a:tblGrid>
              <a:tr h="6111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0.513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 </a:t>
                      </a:r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8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 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=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4.104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1060396"/>
                  </a:ext>
                </a:extLst>
              </a:tr>
              <a:tr h="6111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0.104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 </a:t>
                      </a:r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8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 </a:t>
                      </a:r>
                      <a:endParaRPr lang="zh-TW" altLang="en-US" sz="28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=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0.832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447103"/>
                  </a:ext>
                </a:extLst>
              </a:tr>
              <a:tr h="6111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0.832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 </a:t>
                      </a:r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8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 </a:t>
                      </a:r>
                      <a:endParaRPr lang="zh-TW" altLang="en-US" sz="28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=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6.656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5837038"/>
                  </a:ext>
                </a:extLst>
              </a:tr>
              <a:tr h="6111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0.656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 </a:t>
                      </a:r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8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 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=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5.248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941454"/>
                  </a:ext>
                </a:extLst>
              </a:tr>
              <a:tr h="6111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0.248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 </a:t>
                      </a:r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8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 </a:t>
                      </a:r>
                      <a:endParaRPr lang="zh-TW" altLang="en-US" sz="28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=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1.984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154015"/>
                  </a:ext>
                </a:extLst>
              </a:tr>
              <a:tr h="6111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0.984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 </a:t>
                      </a:r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8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 </a:t>
                      </a:r>
                      <a:endParaRPr lang="zh-TW" altLang="en-US" sz="28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=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7.872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679321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7094765" y="5265256"/>
            <a:ext cx="38282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0.513</a:t>
            </a:r>
            <a:r>
              <a:rPr lang="en-US" altLang="zh-TW" sz="2800" b="1" baseline="-25000" dirty="0" smtClean="0">
                <a:solidFill>
                  <a:srgbClr val="C00000"/>
                </a:solidFill>
              </a:rPr>
              <a:t>10</a:t>
            </a:r>
            <a:r>
              <a:rPr lang="zh-TW" altLang="en-US" sz="28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2800" b="1" dirty="0" smtClean="0">
                <a:solidFill>
                  <a:srgbClr val="C00000"/>
                </a:solidFill>
              </a:rPr>
              <a:t>=</a:t>
            </a:r>
            <a:r>
              <a:rPr lang="zh-TW" altLang="en-US" sz="28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2800" b="1" dirty="0" smtClean="0">
                <a:solidFill>
                  <a:srgbClr val="C00000"/>
                </a:solidFill>
              </a:rPr>
              <a:t>0.406517….</a:t>
            </a:r>
            <a:r>
              <a:rPr lang="zh-TW" altLang="en-US" sz="28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2800" b="1" baseline="-25000" dirty="0" smtClean="0">
                <a:solidFill>
                  <a:srgbClr val="C00000"/>
                </a:solidFill>
              </a:rPr>
              <a:t>8</a:t>
            </a:r>
            <a:endParaRPr lang="zh-TW" altLang="en-US" sz="2800" b="1" baseline="-25000" dirty="0">
              <a:solidFill>
                <a:srgbClr val="C0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9414069" y="4248356"/>
            <a:ext cx="248337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b="1" dirty="0">
                <a:solidFill>
                  <a:srgbClr val="4D5156"/>
                </a:solidFill>
              </a:rPr>
              <a:t>infinite decimal</a:t>
            </a:r>
            <a:endParaRPr lang="zh-TW" altLang="en-US" sz="2800" b="1" dirty="0"/>
          </a:p>
        </p:txBody>
      </p:sp>
      <p:cxnSp>
        <p:nvCxnSpPr>
          <p:cNvPr id="9" name="直線單箭頭接點 8"/>
          <p:cNvCxnSpPr/>
          <p:nvPr/>
        </p:nvCxnSpPr>
        <p:spPr>
          <a:xfrm>
            <a:off x="10655755" y="4824289"/>
            <a:ext cx="0" cy="33554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437625" y="1113455"/>
            <a:ext cx="39388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b="1" dirty="0"/>
              <a:t>Convert </a:t>
            </a:r>
            <a:r>
              <a:rPr lang="en-US" altLang="zh-TW" sz="2800" b="1" dirty="0" smtClean="0"/>
              <a:t>0.513</a:t>
            </a:r>
            <a:r>
              <a:rPr lang="en-US" altLang="zh-TW" sz="2800" b="1" baseline="-25000" dirty="0" smtClean="0"/>
              <a:t>10</a:t>
            </a:r>
            <a:r>
              <a:rPr lang="en-US" altLang="zh-TW" sz="2800" b="1" dirty="0" smtClean="0"/>
              <a:t> </a:t>
            </a:r>
            <a:r>
              <a:rPr lang="en-US" altLang="zh-TW" sz="2800" b="1" dirty="0"/>
              <a:t>to octal. </a:t>
            </a:r>
          </a:p>
        </p:txBody>
      </p:sp>
    </p:spTree>
    <p:extLst>
      <p:ext uri="{BB962C8B-B14F-4D97-AF65-F5344CB8AC3E}">
        <p14:creationId xmlns:p14="http://schemas.microsoft.com/office/powerpoint/2010/main" val="827742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Fraction to non-Decimal fraction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437625" y="1113455"/>
            <a:ext cx="456246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b="1" dirty="0"/>
              <a:t>Convert </a:t>
            </a:r>
            <a:r>
              <a:rPr lang="en-US" altLang="zh-TW" sz="2800" b="1" dirty="0" smtClean="0"/>
              <a:t>57.8125</a:t>
            </a:r>
            <a:r>
              <a:rPr lang="en-US" altLang="zh-TW" sz="2800" b="1" baseline="-25000" dirty="0" smtClean="0"/>
              <a:t>10</a:t>
            </a:r>
            <a:r>
              <a:rPr lang="en-US" altLang="zh-TW" sz="2800" b="1" dirty="0" smtClean="0"/>
              <a:t> </a:t>
            </a:r>
            <a:r>
              <a:rPr lang="en-US" altLang="zh-TW" sz="2800" b="1" dirty="0"/>
              <a:t>to </a:t>
            </a:r>
            <a:r>
              <a:rPr lang="en-US" altLang="zh-TW" sz="2800" b="1" dirty="0" smtClean="0"/>
              <a:t>binary. </a:t>
            </a:r>
            <a:endParaRPr lang="en-US" altLang="zh-TW" sz="2800" b="1" dirty="0"/>
          </a:p>
        </p:txBody>
      </p:sp>
    </p:spTree>
    <p:extLst>
      <p:ext uri="{BB962C8B-B14F-4D97-AF65-F5344CB8AC3E}">
        <p14:creationId xmlns:p14="http://schemas.microsoft.com/office/powerpoint/2010/main" val="1496880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Fraction to non-Decimal fraction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437625" y="1113455"/>
            <a:ext cx="456246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b="1" dirty="0"/>
              <a:t>Convert </a:t>
            </a:r>
            <a:r>
              <a:rPr lang="en-US" altLang="zh-TW" sz="2800" b="1" dirty="0" smtClean="0"/>
              <a:t>57.</a:t>
            </a:r>
            <a:r>
              <a:rPr lang="en-US" altLang="zh-TW" sz="2800" b="1" dirty="0" smtClean="0">
                <a:solidFill>
                  <a:schemeClr val="bg1"/>
                </a:solidFill>
              </a:rPr>
              <a:t>8125</a:t>
            </a:r>
            <a:r>
              <a:rPr lang="en-US" altLang="zh-TW" sz="2800" b="1" baseline="-25000" dirty="0" smtClean="0"/>
              <a:t>10</a:t>
            </a:r>
            <a:r>
              <a:rPr lang="en-US" altLang="zh-TW" sz="2800" b="1" dirty="0" smtClean="0"/>
              <a:t> </a:t>
            </a:r>
            <a:r>
              <a:rPr lang="en-US" altLang="zh-TW" sz="2800" b="1" dirty="0"/>
              <a:t>to binary</a:t>
            </a:r>
            <a:r>
              <a:rPr lang="en-US" altLang="zh-TW" sz="2800" b="1" dirty="0" smtClean="0"/>
              <a:t>. </a:t>
            </a:r>
            <a:endParaRPr lang="en-US" altLang="zh-TW" sz="2800" b="1" dirty="0"/>
          </a:p>
        </p:txBody>
      </p:sp>
    </p:spTree>
    <p:extLst>
      <p:ext uri="{BB962C8B-B14F-4D97-AF65-F5344CB8AC3E}">
        <p14:creationId xmlns:p14="http://schemas.microsoft.com/office/powerpoint/2010/main" val="1925842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Fraction to non-Decimal fraction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437625" y="1113455"/>
            <a:ext cx="456246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b="1" dirty="0"/>
              <a:t>Convert </a:t>
            </a:r>
            <a:r>
              <a:rPr lang="en-US" altLang="zh-TW" sz="2800" b="1" dirty="0" smtClean="0"/>
              <a:t>57.</a:t>
            </a:r>
            <a:r>
              <a:rPr lang="en-US" altLang="zh-TW" sz="2800" b="1" dirty="0" smtClean="0">
                <a:solidFill>
                  <a:schemeClr val="bg1"/>
                </a:solidFill>
              </a:rPr>
              <a:t>8125</a:t>
            </a:r>
            <a:r>
              <a:rPr lang="en-US" altLang="zh-TW" sz="2800" b="1" baseline="-25000" dirty="0" smtClean="0"/>
              <a:t>10</a:t>
            </a:r>
            <a:r>
              <a:rPr lang="en-US" altLang="zh-TW" sz="2800" b="1" dirty="0" smtClean="0"/>
              <a:t> </a:t>
            </a:r>
            <a:r>
              <a:rPr lang="en-US" altLang="zh-TW" sz="2800" b="1" dirty="0"/>
              <a:t>to binary</a:t>
            </a:r>
            <a:r>
              <a:rPr lang="en-US" altLang="zh-TW" sz="2800" b="1" dirty="0" smtClean="0"/>
              <a:t>. </a:t>
            </a:r>
            <a:endParaRPr lang="en-US" altLang="zh-TW" sz="2800" b="1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5605368"/>
              </p:ext>
            </p:extLst>
          </p:nvPr>
        </p:nvGraphicFramePr>
        <p:xfrm>
          <a:off x="220578" y="2590760"/>
          <a:ext cx="4379304" cy="414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9652">
                  <a:extLst>
                    <a:ext uri="{9D8B030D-6E8A-4147-A177-3AD203B41FA5}">
                      <a16:colId xmlns:a16="http://schemas.microsoft.com/office/drawing/2014/main" val="2016684207"/>
                    </a:ext>
                  </a:extLst>
                </a:gridCol>
                <a:gridCol w="2189652">
                  <a:extLst>
                    <a:ext uri="{9D8B030D-6E8A-4147-A177-3AD203B41FA5}">
                      <a16:colId xmlns:a16="http://schemas.microsoft.com/office/drawing/2014/main" val="2772693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 smtClean="0">
                          <a:solidFill>
                            <a:schemeClr val="tx1"/>
                          </a:solidFill>
                        </a:rPr>
                        <a:t>Integer</a:t>
                      </a:r>
                      <a:endParaRPr lang="zh-TW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 smtClean="0">
                          <a:solidFill>
                            <a:schemeClr val="tx1"/>
                          </a:solidFill>
                        </a:rPr>
                        <a:t>Remainder</a:t>
                      </a:r>
                      <a:endParaRPr lang="zh-TW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9386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57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6894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28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082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14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7834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7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956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3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9961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8048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6441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327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Fraction to non-Decimal fraction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437625" y="1113455"/>
            <a:ext cx="456246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b="1" dirty="0"/>
              <a:t>Convert </a:t>
            </a:r>
            <a:r>
              <a:rPr lang="en-US" altLang="zh-TW" sz="2800" b="1" dirty="0" smtClean="0"/>
              <a:t>57.</a:t>
            </a:r>
            <a:r>
              <a:rPr lang="en-US" altLang="zh-TW" sz="2800" b="1" dirty="0" smtClean="0">
                <a:solidFill>
                  <a:schemeClr val="bg1"/>
                </a:solidFill>
              </a:rPr>
              <a:t>8125</a:t>
            </a:r>
            <a:r>
              <a:rPr lang="en-US" altLang="zh-TW" sz="2800" b="1" baseline="-25000" dirty="0" smtClean="0"/>
              <a:t>10</a:t>
            </a:r>
            <a:r>
              <a:rPr lang="en-US" altLang="zh-TW" sz="2800" b="1" dirty="0" smtClean="0"/>
              <a:t> </a:t>
            </a:r>
            <a:r>
              <a:rPr lang="en-US" altLang="zh-TW" sz="2800" b="1" dirty="0"/>
              <a:t>to binary</a:t>
            </a:r>
            <a:r>
              <a:rPr lang="en-US" altLang="zh-TW" sz="2800" b="1" dirty="0" smtClean="0"/>
              <a:t>. </a:t>
            </a:r>
            <a:endParaRPr lang="en-US" altLang="zh-TW" sz="2800" b="1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5605368"/>
              </p:ext>
            </p:extLst>
          </p:nvPr>
        </p:nvGraphicFramePr>
        <p:xfrm>
          <a:off x="220578" y="2590760"/>
          <a:ext cx="4379304" cy="414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9652">
                  <a:extLst>
                    <a:ext uri="{9D8B030D-6E8A-4147-A177-3AD203B41FA5}">
                      <a16:colId xmlns:a16="http://schemas.microsoft.com/office/drawing/2014/main" val="2016684207"/>
                    </a:ext>
                  </a:extLst>
                </a:gridCol>
                <a:gridCol w="2189652">
                  <a:extLst>
                    <a:ext uri="{9D8B030D-6E8A-4147-A177-3AD203B41FA5}">
                      <a16:colId xmlns:a16="http://schemas.microsoft.com/office/drawing/2014/main" val="2772693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 smtClean="0">
                          <a:solidFill>
                            <a:schemeClr val="tx1"/>
                          </a:solidFill>
                        </a:rPr>
                        <a:t>Integer</a:t>
                      </a:r>
                      <a:endParaRPr lang="zh-TW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 smtClean="0">
                          <a:solidFill>
                            <a:schemeClr val="tx1"/>
                          </a:solidFill>
                        </a:rPr>
                        <a:t>Remainder</a:t>
                      </a:r>
                      <a:endParaRPr lang="zh-TW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9386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57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6894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28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082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14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7834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7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956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3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9961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8048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644139"/>
                  </a:ext>
                </a:extLst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4671971" y="3135770"/>
            <a:ext cx="14558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111001.</a:t>
            </a:r>
            <a:endParaRPr lang="zh-TW" altLang="en-US" sz="2800" dirty="0"/>
          </a:p>
        </p:txBody>
      </p:sp>
      <p:sp>
        <p:nvSpPr>
          <p:cNvPr id="10" name="手繪多邊形 9"/>
          <p:cNvSpPr/>
          <p:nvPr/>
        </p:nvSpPr>
        <p:spPr>
          <a:xfrm>
            <a:off x="4861139" y="3689510"/>
            <a:ext cx="245977" cy="3069771"/>
          </a:xfrm>
          <a:custGeom>
            <a:avLst/>
            <a:gdLst>
              <a:gd name="connsiteX0" fmla="*/ 0 w 245977"/>
              <a:gd name="connsiteY0" fmla="*/ 3069771 h 3069771"/>
              <a:gd name="connsiteX1" fmla="*/ 244928 w 245977"/>
              <a:gd name="connsiteY1" fmla="*/ 2098221 h 3069771"/>
              <a:gd name="connsiteX2" fmla="*/ 89807 w 245977"/>
              <a:gd name="connsiteY2" fmla="*/ 702128 h 3069771"/>
              <a:gd name="connsiteX3" fmla="*/ 122464 w 245977"/>
              <a:gd name="connsiteY3" fmla="*/ 0 h 3069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5977" h="3069771">
                <a:moveTo>
                  <a:pt x="0" y="3069771"/>
                </a:moveTo>
                <a:cubicBezTo>
                  <a:pt x="114980" y="2781299"/>
                  <a:pt x="229960" y="2492828"/>
                  <a:pt x="244928" y="2098221"/>
                </a:cubicBezTo>
                <a:cubicBezTo>
                  <a:pt x="259896" y="1703614"/>
                  <a:pt x="110218" y="1051832"/>
                  <a:pt x="89807" y="702128"/>
                </a:cubicBezTo>
                <a:cubicBezTo>
                  <a:pt x="69396" y="352424"/>
                  <a:pt x="95930" y="176212"/>
                  <a:pt x="122464" y="0"/>
                </a:cubicBezTo>
              </a:path>
            </a:pathLst>
          </a:custGeom>
          <a:noFill/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9308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Fraction to non-Decimal fraction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437625" y="1113455"/>
            <a:ext cx="456246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b="1" dirty="0"/>
              <a:t>Convert </a:t>
            </a:r>
            <a:r>
              <a:rPr lang="en-US" altLang="zh-TW" sz="2800" b="1" dirty="0" smtClean="0">
                <a:solidFill>
                  <a:schemeClr val="bg1"/>
                </a:solidFill>
              </a:rPr>
              <a:t>57</a:t>
            </a:r>
            <a:r>
              <a:rPr lang="en-US" altLang="zh-TW" sz="2800" b="1" dirty="0" smtClean="0"/>
              <a:t>.8125</a:t>
            </a:r>
            <a:r>
              <a:rPr lang="en-US" altLang="zh-TW" sz="2800" b="1" baseline="-25000" dirty="0" smtClean="0"/>
              <a:t>10</a:t>
            </a:r>
            <a:r>
              <a:rPr lang="en-US" altLang="zh-TW" sz="2800" b="1" dirty="0" smtClean="0"/>
              <a:t> </a:t>
            </a:r>
            <a:r>
              <a:rPr lang="en-US" altLang="zh-TW" sz="2800" b="1" dirty="0"/>
              <a:t>to binary</a:t>
            </a:r>
            <a:r>
              <a:rPr lang="en-US" altLang="zh-TW" sz="2800" b="1" dirty="0" smtClean="0"/>
              <a:t>. </a:t>
            </a:r>
            <a:endParaRPr lang="en-US" altLang="zh-TW" sz="2800" b="1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5605368"/>
              </p:ext>
            </p:extLst>
          </p:nvPr>
        </p:nvGraphicFramePr>
        <p:xfrm>
          <a:off x="220578" y="2590760"/>
          <a:ext cx="4379304" cy="414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9652">
                  <a:extLst>
                    <a:ext uri="{9D8B030D-6E8A-4147-A177-3AD203B41FA5}">
                      <a16:colId xmlns:a16="http://schemas.microsoft.com/office/drawing/2014/main" val="2016684207"/>
                    </a:ext>
                  </a:extLst>
                </a:gridCol>
                <a:gridCol w="2189652">
                  <a:extLst>
                    <a:ext uri="{9D8B030D-6E8A-4147-A177-3AD203B41FA5}">
                      <a16:colId xmlns:a16="http://schemas.microsoft.com/office/drawing/2014/main" val="2772693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 smtClean="0">
                          <a:solidFill>
                            <a:schemeClr val="tx1"/>
                          </a:solidFill>
                        </a:rPr>
                        <a:t>Integer</a:t>
                      </a:r>
                      <a:endParaRPr lang="zh-TW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 smtClean="0">
                          <a:solidFill>
                            <a:schemeClr val="tx1"/>
                          </a:solidFill>
                        </a:rPr>
                        <a:t>Remainder</a:t>
                      </a:r>
                      <a:endParaRPr lang="zh-TW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9386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57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6894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28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082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14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7834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7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956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3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9961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8048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644139"/>
                  </a:ext>
                </a:extLst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4671971" y="3135770"/>
            <a:ext cx="14558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111001.</a:t>
            </a:r>
            <a:endParaRPr lang="zh-TW" altLang="en-US" sz="2800" dirty="0"/>
          </a:p>
        </p:txBody>
      </p:sp>
      <p:sp>
        <p:nvSpPr>
          <p:cNvPr id="10" name="手繪多邊形 9"/>
          <p:cNvSpPr/>
          <p:nvPr/>
        </p:nvSpPr>
        <p:spPr>
          <a:xfrm>
            <a:off x="4861139" y="3689510"/>
            <a:ext cx="245977" cy="3069771"/>
          </a:xfrm>
          <a:custGeom>
            <a:avLst/>
            <a:gdLst>
              <a:gd name="connsiteX0" fmla="*/ 0 w 245977"/>
              <a:gd name="connsiteY0" fmla="*/ 3069771 h 3069771"/>
              <a:gd name="connsiteX1" fmla="*/ 244928 w 245977"/>
              <a:gd name="connsiteY1" fmla="*/ 2098221 h 3069771"/>
              <a:gd name="connsiteX2" fmla="*/ 89807 w 245977"/>
              <a:gd name="connsiteY2" fmla="*/ 702128 h 3069771"/>
              <a:gd name="connsiteX3" fmla="*/ 122464 w 245977"/>
              <a:gd name="connsiteY3" fmla="*/ 0 h 3069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5977" h="3069771">
                <a:moveTo>
                  <a:pt x="0" y="3069771"/>
                </a:moveTo>
                <a:cubicBezTo>
                  <a:pt x="114980" y="2781299"/>
                  <a:pt x="229960" y="2492828"/>
                  <a:pt x="244928" y="2098221"/>
                </a:cubicBezTo>
                <a:cubicBezTo>
                  <a:pt x="259896" y="1703614"/>
                  <a:pt x="110218" y="1051832"/>
                  <a:pt x="89807" y="702128"/>
                </a:cubicBezTo>
                <a:cubicBezTo>
                  <a:pt x="69396" y="352424"/>
                  <a:pt x="95930" y="176212"/>
                  <a:pt x="122464" y="0"/>
                </a:cubicBezTo>
              </a:path>
            </a:pathLst>
          </a:custGeom>
          <a:noFill/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121154"/>
              </p:ext>
            </p:extLst>
          </p:nvPr>
        </p:nvGraphicFramePr>
        <p:xfrm>
          <a:off x="6297210" y="2590760"/>
          <a:ext cx="5364845" cy="207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970">
                  <a:extLst>
                    <a:ext uri="{9D8B030D-6E8A-4147-A177-3AD203B41FA5}">
                      <a16:colId xmlns:a16="http://schemas.microsoft.com/office/drawing/2014/main" val="2483397806"/>
                    </a:ext>
                  </a:extLst>
                </a:gridCol>
                <a:gridCol w="987283">
                  <a:extLst>
                    <a:ext uri="{9D8B030D-6E8A-4147-A177-3AD203B41FA5}">
                      <a16:colId xmlns:a16="http://schemas.microsoft.com/office/drawing/2014/main" val="2620007015"/>
                    </a:ext>
                  </a:extLst>
                </a:gridCol>
                <a:gridCol w="2145592">
                  <a:extLst>
                    <a:ext uri="{9D8B030D-6E8A-4147-A177-3AD203B41FA5}">
                      <a16:colId xmlns:a16="http://schemas.microsoft.com/office/drawing/2014/main" val="4148808784"/>
                    </a:ext>
                  </a:extLst>
                </a:gridCol>
              </a:tblGrid>
              <a:tr h="5146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0.8125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 </a:t>
                      </a:r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2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 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=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1.6250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1060396"/>
                  </a:ext>
                </a:extLst>
              </a:tr>
              <a:tr h="51466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0.6250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 </a:t>
                      </a:r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2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 </a:t>
                      </a:r>
                      <a:endParaRPr lang="zh-TW" altLang="en-US" sz="28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=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1.2500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8447103"/>
                  </a:ext>
                </a:extLst>
              </a:tr>
              <a:tr h="5146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0.2500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 </a:t>
                      </a:r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2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 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=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0.5000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41454"/>
                  </a:ext>
                </a:extLst>
              </a:tr>
              <a:tr h="51466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0.5000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 </a:t>
                      </a:r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2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 </a:t>
                      </a:r>
                      <a:endParaRPr lang="zh-TW" altLang="en-US" sz="28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=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1.0000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154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1184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Fraction to non-Decimal fraction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437625" y="1113455"/>
            <a:ext cx="456246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b="1" dirty="0"/>
              <a:t>Convert </a:t>
            </a:r>
            <a:r>
              <a:rPr lang="en-US" altLang="zh-TW" sz="2800" b="1" dirty="0" smtClean="0">
                <a:solidFill>
                  <a:schemeClr val="bg1"/>
                </a:solidFill>
              </a:rPr>
              <a:t>57</a:t>
            </a:r>
            <a:r>
              <a:rPr lang="en-US" altLang="zh-TW" sz="2800" b="1" dirty="0" smtClean="0"/>
              <a:t>.8125</a:t>
            </a:r>
            <a:r>
              <a:rPr lang="en-US" altLang="zh-TW" sz="2800" b="1" baseline="-25000" dirty="0" smtClean="0"/>
              <a:t>10</a:t>
            </a:r>
            <a:r>
              <a:rPr lang="en-US" altLang="zh-TW" sz="2800" b="1" dirty="0" smtClean="0"/>
              <a:t> </a:t>
            </a:r>
            <a:r>
              <a:rPr lang="en-US" altLang="zh-TW" sz="2800" b="1" dirty="0"/>
              <a:t>to binary</a:t>
            </a:r>
            <a:r>
              <a:rPr lang="en-US" altLang="zh-TW" sz="2800" b="1" dirty="0" smtClean="0"/>
              <a:t>. </a:t>
            </a:r>
            <a:endParaRPr lang="en-US" altLang="zh-TW" sz="2800" b="1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5605368"/>
              </p:ext>
            </p:extLst>
          </p:nvPr>
        </p:nvGraphicFramePr>
        <p:xfrm>
          <a:off x="220578" y="2590760"/>
          <a:ext cx="4379304" cy="414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9652">
                  <a:extLst>
                    <a:ext uri="{9D8B030D-6E8A-4147-A177-3AD203B41FA5}">
                      <a16:colId xmlns:a16="http://schemas.microsoft.com/office/drawing/2014/main" val="2016684207"/>
                    </a:ext>
                  </a:extLst>
                </a:gridCol>
                <a:gridCol w="2189652">
                  <a:extLst>
                    <a:ext uri="{9D8B030D-6E8A-4147-A177-3AD203B41FA5}">
                      <a16:colId xmlns:a16="http://schemas.microsoft.com/office/drawing/2014/main" val="2772693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 smtClean="0">
                          <a:solidFill>
                            <a:schemeClr val="tx1"/>
                          </a:solidFill>
                        </a:rPr>
                        <a:t>Integer</a:t>
                      </a:r>
                      <a:endParaRPr lang="zh-TW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 smtClean="0">
                          <a:solidFill>
                            <a:schemeClr val="tx1"/>
                          </a:solidFill>
                        </a:rPr>
                        <a:t>Remainder</a:t>
                      </a:r>
                      <a:endParaRPr lang="zh-TW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9386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57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6894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28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082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14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7834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7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956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3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9961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8048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644139"/>
                  </a:ext>
                </a:extLst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4671971" y="3135770"/>
            <a:ext cx="14558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111001.</a:t>
            </a:r>
            <a:endParaRPr lang="zh-TW" altLang="en-US" sz="2800" dirty="0"/>
          </a:p>
        </p:txBody>
      </p:sp>
      <p:sp>
        <p:nvSpPr>
          <p:cNvPr id="10" name="手繪多邊形 9"/>
          <p:cNvSpPr/>
          <p:nvPr/>
        </p:nvSpPr>
        <p:spPr>
          <a:xfrm>
            <a:off x="4861139" y="3689510"/>
            <a:ext cx="245977" cy="3069771"/>
          </a:xfrm>
          <a:custGeom>
            <a:avLst/>
            <a:gdLst>
              <a:gd name="connsiteX0" fmla="*/ 0 w 245977"/>
              <a:gd name="connsiteY0" fmla="*/ 3069771 h 3069771"/>
              <a:gd name="connsiteX1" fmla="*/ 244928 w 245977"/>
              <a:gd name="connsiteY1" fmla="*/ 2098221 h 3069771"/>
              <a:gd name="connsiteX2" fmla="*/ 89807 w 245977"/>
              <a:gd name="connsiteY2" fmla="*/ 702128 h 3069771"/>
              <a:gd name="connsiteX3" fmla="*/ 122464 w 245977"/>
              <a:gd name="connsiteY3" fmla="*/ 0 h 3069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5977" h="3069771">
                <a:moveTo>
                  <a:pt x="0" y="3069771"/>
                </a:moveTo>
                <a:cubicBezTo>
                  <a:pt x="114980" y="2781299"/>
                  <a:pt x="229960" y="2492828"/>
                  <a:pt x="244928" y="2098221"/>
                </a:cubicBezTo>
                <a:cubicBezTo>
                  <a:pt x="259896" y="1703614"/>
                  <a:pt x="110218" y="1051832"/>
                  <a:pt x="89807" y="702128"/>
                </a:cubicBezTo>
                <a:cubicBezTo>
                  <a:pt x="69396" y="352424"/>
                  <a:pt x="95930" y="176212"/>
                  <a:pt x="122464" y="0"/>
                </a:cubicBezTo>
              </a:path>
            </a:pathLst>
          </a:custGeom>
          <a:noFill/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121154"/>
              </p:ext>
            </p:extLst>
          </p:nvPr>
        </p:nvGraphicFramePr>
        <p:xfrm>
          <a:off x="6297210" y="2590760"/>
          <a:ext cx="5364845" cy="207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970">
                  <a:extLst>
                    <a:ext uri="{9D8B030D-6E8A-4147-A177-3AD203B41FA5}">
                      <a16:colId xmlns:a16="http://schemas.microsoft.com/office/drawing/2014/main" val="2483397806"/>
                    </a:ext>
                  </a:extLst>
                </a:gridCol>
                <a:gridCol w="987283">
                  <a:extLst>
                    <a:ext uri="{9D8B030D-6E8A-4147-A177-3AD203B41FA5}">
                      <a16:colId xmlns:a16="http://schemas.microsoft.com/office/drawing/2014/main" val="2620007015"/>
                    </a:ext>
                  </a:extLst>
                </a:gridCol>
                <a:gridCol w="2145592">
                  <a:extLst>
                    <a:ext uri="{9D8B030D-6E8A-4147-A177-3AD203B41FA5}">
                      <a16:colId xmlns:a16="http://schemas.microsoft.com/office/drawing/2014/main" val="4148808784"/>
                    </a:ext>
                  </a:extLst>
                </a:gridCol>
              </a:tblGrid>
              <a:tr h="5146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0.8125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 </a:t>
                      </a:r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2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 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=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1.6250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1060396"/>
                  </a:ext>
                </a:extLst>
              </a:tr>
              <a:tr h="51466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0.6250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 </a:t>
                      </a:r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2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 </a:t>
                      </a:r>
                      <a:endParaRPr lang="zh-TW" altLang="en-US" sz="28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=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1.2500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8447103"/>
                  </a:ext>
                </a:extLst>
              </a:tr>
              <a:tr h="5146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0.2500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 </a:t>
                      </a:r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2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 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=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0.5000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41454"/>
                  </a:ext>
                </a:extLst>
              </a:tr>
              <a:tr h="51466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0.5000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 </a:t>
                      </a:r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2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 </a:t>
                      </a:r>
                      <a:endParaRPr lang="zh-TW" altLang="en-US" sz="28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=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1.0000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154015"/>
                  </a:ext>
                </a:extLst>
              </a:tr>
            </a:tbl>
          </a:graphicData>
        </a:graphic>
      </p:graphicFrame>
      <p:sp>
        <p:nvSpPr>
          <p:cNvPr id="12" name="手繪多邊形 11"/>
          <p:cNvSpPr/>
          <p:nvPr/>
        </p:nvSpPr>
        <p:spPr>
          <a:xfrm>
            <a:off x="11409696" y="2644481"/>
            <a:ext cx="590339" cy="2315767"/>
          </a:xfrm>
          <a:custGeom>
            <a:avLst/>
            <a:gdLst>
              <a:gd name="connsiteX0" fmla="*/ 530678 w 590339"/>
              <a:gd name="connsiteY0" fmla="*/ 0 h 2315767"/>
              <a:gd name="connsiteX1" fmla="*/ 587828 w 590339"/>
              <a:gd name="connsiteY1" fmla="*/ 1045029 h 2315767"/>
              <a:gd name="connsiteX2" fmla="*/ 457200 w 590339"/>
              <a:gd name="connsiteY2" fmla="*/ 2122714 h 2315767"/>
              <a:gd name="connsiteX3" fmla="*/ 0 w 590339"/>
              <a:gd name="connsiteY3" fmla="*/ 2310493 h 2315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0339" h="2315767">
                <a:moveTo>
                  <a:pt x="530678" y="0"/>
                </a:moveTo>
                <a:cubicBezTo>
                  <a:pt x="565376" y="345621"/>
                  <a:pt x="600074" y="691243"/>
                  <a:pt x="587828" y="1045029"/>
                </a:cubicBezTo>
                <a:cubicBezTo>
                  <a:pt x="575582" y="1398815"/>
                  <a:pt x="555171" y="1911803"/>
                  <a:pt x="457200" y="2122714"/>
                </a:cubicBezTo>
                <a:cubicBezTo>
                  <a:pt x="359229" y="2333625"/>
                  <a:pt x="179614" y="2322059"/>
                  <a:pt x="0" y="2310493"/>
                </a:cubicBezTo>
              </a:path>
            </a:pathLst>
          </a:custGeom>
          <a:noFill/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/>
          <p:cNvSpPr txBox="1"/>
          <p:nvPr/>
        </p:nvSpPr>
        <p:spPr>
          <a:xfrm>
            <a:off x="10351393" y="4717121"/>
            <a:ext cx="10583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.1101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331723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Fraction to non-Decimal fraction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437625" y="1113455"/>
            <a:ext cx="456246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b="1" dirty="0"/>
              <a:t>Convert </a:t>
            </a:r>
            <a:r>
              <a:rPr lang="en-US" altLang="zh-TW" sz="2800" b="1" dirty="0" smtClean="0"/>
              <a:t>57.8125</a:t>
            </a:r>
            <a:r>
              <a:rPr lang="en-US" altLang="zh-TW" sz="2800" b="1" baseline="-25000" dirty="0" smtClean="0"/>
              <a:t>10</a:t>
            </a:r>
            <a:r>
              <a:rPr lang="en-US" altLang="zh-TW" sz="2800" b="1" dirty="0" smtClean="0"/>
              <a:t> </a:t>
            </a:r>
            <a:r>
              <a:rPr lang="en-US" altLang="zh-TW" sz="2800" b="1" dirty="0"/>
              <a:t>to binary</a:t>
            </a:r>
            <a:r>
              <a:rPr lang="en-US" altLang="zh-TW" sz="2800" b="1" dirty="0" smtClean="0"/>
              <a:t>. </a:t>
            </a:r>
            <a:endParaRPr lang="en-US" altLang="zh-TW" sz="2800" b="1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5605368"/>
              </p:ext>
            </p:extLst>
          </p:nvPr>
        </p:nvGraphicFramePr>
        <p:xfrm>
          <a:off x="220578" y="2590760"/>
          <a:ext cx="4379304" cy="414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9652">
                  <a:extLst>
                    <a:ext uri="{9D8B030D-6E8A-4147-A177-3AD203B41FA5}">
                      <a16:colId xmlns:a16="http://schemas.microsoft.com/office/drawing/2014/main" val="2016684207"/>
                    </a:ext>
                  </a:extLst>
                </a:gridCol>
                <a:gridCol w="2189652">
                  <a:extLst>
                    <a:ext uri="{9D8B030D-6E8A-4147-A177-3AD203B41FA5}">
                      <a16:colId xmlns:a16="http://schemas.microsoft.com/office/drawing/2014/main" val="2772693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 smtClean="0">
                          <a:solidFill>
                            <a:schemeClr val="tx1"/>
                          </a:solidFill>
                        </a:rPr>
                        <a:t>Integer</a:t>
                      </a:r>
                      <a:endParaRPr lang="zh-TW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1" dirty="0" smtClean="0">
                          <a:solidFill>
                            <a:schemeClr val="tx1"/>
                          </a:solidFill>
                        </a:rPr>
                        <a:t>Remainder</a:t>
                      </a:r>
                      <a:endParaRPr lang="zh-TW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9386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57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6894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28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082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14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7834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7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956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3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9961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8048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644139"/>
                  </a:ext>
                </a:extLst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4671971" y="3135770"/>
            <a:ext cx="14558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111001.</a:t>
            </a:r>
            <a:endParaRPr lang="zh-TW" altLang="en-US" sz="2800" dirty="0"/>
          </a:p>
        </p:txBody>
      </p:sp>
      <p:sp>
        <p:nvSpPr>
          <p:cNvPr id="10" name="手繪多邊形 9"/>
          <p:cNvSpPr/>
          <p:nvPr/>
        </p:nvSpPr>
        <p:spPr>
          <a:xfrm>
            <a:off x="4861139" y="3689510"/>
            <a:ext cx="245977" cy="3069771"/>
          </a:xfrm>
          <a:custGeom>
            <a:avLst/>
            <a:gdLst>
              <a:gd name="connsiteX0" fmla="*/ 0 w 245977"/>
              <a:gd name="connsiteY0" fmla="*/ 3069771 h 3069771"/>
              <a:gd name="connsiteX1" fmla="*/ 244928 w 245977"/>
              <a:gd name="connsiteY1" fmla="*/ 2098221 h 3069771"/>
              <a:gd name="connsiteX2" fmla="*/ 89807 w 245977"/>
              <a:gd name="connsiteY2" fmla="*/ 702128 h 3069771"/>
              <a:gd name="connsiteX3" fmla="*/ 122464 w 245977"/>
              <a:gd name="connsiteY3" fmla="*/ 0 h 3069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5977" h="3069771">
                <a:moveTo>
                  <a:pt x="0" y="3069771"/>
                </a:moveTo>
                <a:cubicBezTo>
                  <a:pt x="114980" y="2781299"/>
                  <a:pt x="229960" y="2492828"/>
                  <a:pt x="244928" y="2098221"/>
                </a:cubicBezTo>
                <a:cubicBezTo>
                  <a:pt x="259896" y="1703614"/>
                  <a:pt x="110218" y="1051832"/>
                  <a:pt x="89807" y="702128"/>
                </a:cubicBezTo>
                <a:cubicBezTo>
                  <a:pt x="69396" y="352424"/>
                  <a:pt x="95930" y="176212"/>
                  <a:pt x="122464" y="0"/>
                </a:cubicBezTo>
              </a:path>
            </a:pathLst>
          </a:custGeom>
          <a:noFill/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121154"/>
              </p:ext>
            </p:extLst>
          </p:nvPr>
        </p:nvGraphicFramePr>
        <p:xfrm>
          <a:off x="6297210" y="2590760"/>
          <a:ext cx="5364845" cy="207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970">
                  <a:extLst>
                    <a:ext uri="{9D8B030D-6E8A-4147-A177-3AD203B41FA5}">
                      <a16:colId xmlns:a16="http://schemas.microsoft.com/office/drawing/2014/main" val="2483397806"/>
                    </a:ext>
                  </a:extLst>
                </a:gridCol>
                <a:gridCol w="987283">
                  <a:extLst>
                    <a:ext uri="{9D8B030D-6E8A-4147-A177-3AD203B41FA5}">
                      <a16:colId xmlns:a16="http://schemas.microsoft.com/office/drawing/2014/main" val="2620007015"/>
                    </a:ext>
                  </a:extLst>
                </a:gridCol>
                <a:gridCol w="2145592">
                  <a:extLst>
                    <a:ext uri="{9D8B030D-6E8A-4147-A177-3AD203B41FA5}">
                      <a16:colId xmlns:a16="http://schemas.microsoft.com/office/drawing/2014/main" val="4148808784"/>
                    </a:ext>
                  </a:extLst>
                </a:gridCol>
              </a:tblGrid>
              <a:tr h="5146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0.8125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 </a:t>
                      </a:r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2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 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=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1.6250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1060396"/>
                  </a:ext>
                </a:extLst>
              </a:tr>
              <a:tr h="51466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0.6250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 </a:t>
                      </a:r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2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 </a:t>
                      </a:r>
                      <a:endParaRPr lang="zh-TW" altLang="en-US" sz="28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=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1.2500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8447103"/>
                  </a:ext>
                </a:extLst>
              </a:tr>
              <a:tr h="51466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0.2500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 </a:t>
                      </a:r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2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 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=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0.5000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41454"/>
                  </a:ext>
                </a:extLst>
              </a:tr>
              <a:tr h="51466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0.5000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 </a:t>
                      </a:r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2</a:t>
                      </a:r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 </a:t>
                      </a:r>
                      <a:endParaRPr lang="zh-TW" altLang="en-US" sz="28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=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1.0000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154015"/>
                  </a:ext>
                </a:extLst>
              </a:tr>
            </a:tbl>
          </a:graphicData>
        </a:graphic>
      </p:graphicFrame>
      <p:sp>
        <p:nvSpPr>
          <p:cNvPr id="12" name="手繪多邊形 11"/>
          <p:cNvSpPr/>
          <p:nvPr/>
        </p:nvSpPr>
        <p:spPr>
          <a:xfrm>
            <a:off x="11409696" y="2644481"/>
            <a:ext cx="590339" cy="2315767"/>
          </a:xfrm>
          <a:custGeom>
            <a:avLst/>
            <a:gdLst>
              <a:gd name="connsiteX0" fmla="*/ 530678 w 590339"/>
              <a:gd name="connsiteY0" fmla="*/ 0 h 2315767"/>
              <a:gd name="connsiteX1" fmla="*/ 587828 w 590339"/>
              <a:gd name="connsiteY1" fmla="*/ 1045029 h 2315767"/>
              <a:gd name="connsiteX2" fmla="*/ 457200 w 590339"/>
              <a:gd name="connsiteY2" fmla="*/ 2122714 h 2315767"/>
              <a:gd name="connsiteX3" fmla="*/ 0 w 590339"/>
              <a:gd name="connsiteY3" fmla="*/ 2310493 h 2315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0339" h="2315767">
                <a:moveTo>
                  <a:pt x="530678" y="0"/>
                </a:moveTo>
                <a:cubicBezTo>
                  <a:pt x="565376" y="345621"/>
                  <a:pt x="600074" y="691243"/>
                  <a:pt x="587828" y="1045029"/>
                </a:cubicBezTo>
                <a:cubicBezTo>
                  <a:pt x="575582" y="1398815"/>
                  <a:pt x="555171" y="1911803"/>
                  <a:pt x="457200" y="2122714"/>
                </a:cubicBezTo>
                <a:cubicBezTo>
                  <a:pt x="359229" y="2333625"/>
                  <a:pt x="179614" y="2322059"/>
                  <a:pt x="0" y="2310493"/>
                </a:cubicBezTo>
              </a:path>
            </a:pathLst>
          </a:custGeom>
          <a:noFill/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/>
          <p:cNvSpPr txBox="1"/>
          <p:nvPr/>
        </p:nvSpPr>
        <p:spPr>
          <a:xfrm>
            <a:off x="10351393" y="4717121"/>
            <a:ext cx="10583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.1101</a:t>
            </a:r>
            <a:endParaRPr lang="zh-TW" altLang="en-US" sz="28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7051813" y="5478920"/>
            <a:ext cx="22509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111001.1101</a:t>
            </a:r>
            <a:endParaRPr lang="zh-TW" altLang="en-US" sz="2800" dirty="0"/>
          </a:p>
        </p:txBody>
      </p:sp>
      <p:sp>
        <p:nvSpPr>
          <p:cNvPr id="15" name="手繪多邊形 14"/>
          <p:cNvSpPr/>
          <p:nvPr/>
        </p:nvSpPr>
        <p:spPr>
          <a:xfrm>
            <a:off x="5845629" y="3763736"/>
            <a:ext cx="1918607" cy="1759449"/>
          </a:xfrm>
          <a:custGeom>
            <a:avLst/>
            <a:gdLst>
              <a:gd name="connsiteX0" fmla="*/ 0 w 1918607"/>
              <a:gd name="connsiteY0" fmla="*/ 0 h 1759449"/>
              <a:gd name="connsiteX1" fmla="*/ 146957 w 1918607"/>
              <a:gd name="connsiteY1" fmla="*/ 816428 h 1759449"/>
              <a:gd name="connsiteX2" fmla="*/ 612321 w 1918607"/>
              <a:gd name="connsiteY2" fmla="*/ 1747157 h 1759449"/>
              <a:gd name="connsiteX3" fmla="*/ 1216478 w 1918607"/>
              <a:gd name="connsiteY3" fmla="*/ 1371600 h 1759449"/>
              <a:gd name="connsiteX4" fmla="*/ 1918607 w 1918607"/>
              <a:gd name="connsiteY4" fmla="*/ 1698171 h 1759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8607" h="1759449">
                <a:moveTo>
                  <a:pt x="0" y="0"/>
                </a:moveTo>
                <a:cubicBezTo>
                  <a:pt x="22452" y="262617"/>
                  <a:pt x="44904" y="525235"/>
                  <a:pt x="146957" y="816428"/>
                </a:cubicBezTo>
                <a:cubicBezTo>
                  <a:pt x="249010" y="1107621"/>
                  <a:pt x="434068" y="1654628"/>
                  <a:pt x="612321" y="1747157"/>
                </a:cubicBezTo>
                <a:cubicBezTo>
                  <a:pt x="790574" y="1839686"/>
                  <a:pt x="998764" y="1379764"/>
                  <a:pt x="1216478" y="1371600"/>
                </a:cubicBezTo>
                <a:cubicBezTo>
                  <a:pt x="1434192" y="1363436"/>
                  <a:pt x="1676399" y="1530803"/>
                  <a:pt x="1918607" y="1698171"/>
                </a:cubicBezTo>
              </a:path>
            </a:pathLst>
          </a:custGeom>
          <a:noFill/>
          <a:ln w="28575">
            <a:solidFill>
              <a:schemeClr val="tx1"/>
            </a:solidFill>
            <a:prstDash val="sysDot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手繪多邊形 15"/>
          <p:cNvSpPr/>
          <p:nvPr/>
        </p:nvSpPr>
        <p:spPr>
          <a:xfrm>
            <a:off x="8833757" y="5241471"/>
            <a:ext cx="1771650" cy="1290611"/>
          </a:xfrm>
          <a:custGeom>
            <a:avLst/>
            <a:gdLst>
              <a:gd name="connsiteX0" fmla="*/ 1771650 w 1771650"/>
              <a:gd name="connsiteY0" fmla="*/ 0 h 1290611"/>
              <a:gd name="connsiteX1" fmla="*/ 1396093 w 1771650"/>
              <a:gd name="connsiteY1" fmla="*/ 1183822 h 1290611"/>
              <a:gd name="connsiteX2" fmla="*/ 285750 w 1771650"/>
              <a:gd name="connsiteY2" fmla="*/ 1183822 h 1290611"/>
              <a:gd name="connsiteX3" fmla="*/ 0 w 1771650"/>
              <a:gd name="connsiteY3" fmla="*/ 734786 h 12906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71650" h="1290611">
                <a:moveTo>
                  <a:pt x="1771650" y="0"/>
                </a:moveTo>
                <a:cubicBezTo>
                  <a:pt x="1707696" y="493259"/>
                  <a:pt x="1643743" y="986518"/>
                  <a:pt x="1396093" y="1183822"/>
                </a:cubicBezTo>
                <a:cubicBezTo>
                  <a:pt x="1148443" y="1381126"/>
                  <a:pt x="518432" y="1258661"/>
                  <a:pt x="285750" y="1183822"/>
                </a:cubicBezTo>
                <a:cubicBezTo>
                  <a:pt x="53068" y="1108983"/>
                  <a:pt x="26534" y="921884"/>
                  <a:pt x="0" y="734786"/>
                </a:cubicBezTo>
              </a:path>
            </a:pathLst>
          </a:custGeom>
          <a:noFill/>
          <a:ln w="28575">
            <a:solidFill>
              <a:schemeClr val="tx1"/>
            </a:solidFill>
            <a:prstDash val="sysDot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634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Fraction to non-Decimal fraction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3591147" y="2817363"/>
            <a:ext cx="50097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57.8125</a:t>
            </a:r>
            <a:r>
              <a:rPr lang="en-US" altLang="zh-TW" sz="3200" baseline="-25000" dirty="0"/>
              <a:t>10 </a:t>
            </a:r>
            <a:r>
              <a:rPr lang="en-US" altLang="zh-TW" sz="3200" dirty="0"/>
              <a:t> </a:t>
            </a:r>
            <a:r>
              <a:rPr lang="en-US" altLang="zh-TW" sz="3200" dirty="0" smtClean="0"/>
              <a:t>= 111001.1101</a:t>
            </a:r>
            <a:r>
              <a:rPr lang="en-US" altLang="zh-TW" sz="3200" baseline="-25000" dirty="0" smtClean="0"/>
              <a:t>2</a:t>
            </a:r>
            <a:endParaRPr lang="zh-TW" altLang="en-US" sz="3200" baseline="-25000" dirty="0"/>
          </a:p>
        </p:txBody>
      </p:sp>
      <p:sp>
        <p:nvSpPr>
          <p:cNvPr id="17" name="矩形 16"/>
          <p:cNvSpPr/>
          <p:nvPr/>
        </p:nvSpPr>
        <p:spPr>
          <a:xfrm>
            <a:off x="-1" y="4130260"/>
            <a:ext cx="12192000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3587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2529831"/>
            <a:ext cx="12192000" cy="1596177"/>
          </a:xfrm>
          <a:solidFill>
            <a:srgbClr val="0000FF"/>
          </a:solidFill>
        </p:spPr>
        <p:txBody>
          <a:bodyPr>
            <a:normAutofit/>
          </a:bodyPr>
          <a:lstStyle/>
          <a:p>
            <a:r>
              <a:rPr lang="en-US" altLang="zh-TW" sz="9600" dirty="0" smtClean="0">
                <a:solidFill>
                  <a:schemeClr val="bg1"/>
                </a:solidFill>
              </a:rPr>
              <a:t>thanks</a:t>
            </a:r>
            <a:endParaRPr lang="zh-TW" altLang="en-US" sz="9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688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小水滴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小水滴</Template>
  <TotalTime>2343</TotalTime>
  <Words>5579</Words>
  <Application>Microsoft Office PowerPoint</Application>
  <PresentationFormat>寬螢幕</PresentationFormat>
  <Paragraphs>3367</Paragraphs>
  <Slides>186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186</vt:i4>
      </vt:variant>
    </vt:vector>
  </HeadingPairs>
  <TitlesOfParts>
    <vt:vector size="193" baseType="lpstr">
      <vt:lpstr>微軟正黑體</vt:lpstr>
      <vt:lpstr>新細明體</vt:lpstr>
      <vt:lpstr>Arial</vt:lpstr>
      <vt:lpstr>Arial Black</vt:lpstr>
      <vt:lpstr>Symbol</vt:lpstr>
      <vt:lpstr>Tw Cen MT</vt:lpstr>
      <vt:lpstr>小水滴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Windows 使用者</dc:creator>
  <cp:lastModifiedBy>Windows 使用者</cp:lastModifiedBy>
  <cp:revision>83</cp:revision>
  <dcterms:created xsi:type="dcterms:W3CDTF">2021-10-04T11:56:32Z</dcterms:created>
  <dcterms:modified xsi:type="dcterms:W3CDTF">2021-10-08T22:04:47Z</dcterms:modified>
</cp:coreProperties>
</file>