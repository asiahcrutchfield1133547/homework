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67" r:id="rId3"/>
    <p:sldId id="258" r:id="rId4"/>
    <p:sldId id="269" r:id="rId5"/>
    <p:sldId id="270" r:id="rId6"/>
    <p:sldId id="272" r:id="rId7"/>
    <p:sldId id="271" r:id="rId8"/>
    <p:sldId id="259" r:id="rId9"/>
    <p:sldId id="260" r:id="rId10"/>
    <p:sldId id="275" r:id="rId11"/>
    <p:sldId id="280" r:id="rId12"/>
    <p:sldId id="283" r:id="rId13"/>
    <p:sldId id="276" r:id="rId14"/>
    <p:sldId id="277" r:id="rId15"/>
    <p:sldId id="281" r:id="rId16"/>
    <p:sldId id="284" r:id="rId17"/>
    <p:sldId id="282" r:id="rId18"/>
    <p:sldId id="278" r:id="rId19"/>
    <p:sldId id="261" r:id="rId20"/>
    <p:sldId id="279" r:id="rId21"/>
    <p:sldId id="262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63" r:id="rId31"/>
    <p:sldId id="293" r:id="rId32"/>
    <p:sldId id="294" r:id="rId33"/>
    <p:sldId id="295" r:id="rId34"/>
    <p:sldId id="307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8" r:id="rId47"/>
    <p:sldId id="309" r:id="rId48"/>
    <p:sldId id="310" r:id="rId49"/>
    <p:sldId id="311" r:id="rId50"/>
    <p:sldId id="312" r:id="rId51"/>
    <p:sldId id="264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265" r:id="rId65"/>
    <p:sldId id="273" r:id="rId66"/>
    <p:sldId id="274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40" r:id="rId81"/>
    <p:sldId id="339" r:id="rId82"/>
    <p:sldId id="341" r:id="rId83"/>
    <p:sldId id="342" r:id="rId84"/>
    <p:sldId id="343" r:id="rId85"/>
    <p:sldId id="344" r:id="rId86"/>
    <p:sldId id="356" r:id="rId87"/>
    <p:sldId id="345" r:id="rId88"/>
    <p:sldId id="357" r:id="rId89"/>
    <p:sldId id="346" r:id="rId90"/>
    <p:sldId id="358" r:id="rId91"/>
    <p:sldId id="347" r:id="rId92"/>
    <p:sldId id="359" r:id="rId93"/>
    <p:sldId id="348" r:id="rId94"/>
    <p:sldId id="360" r:id="rId95"/>
    <p:sldId id="349" r:id="rId96"/>
    <p:sldId id="361" r:id="rId97"/>
    <p:sldId id="350" r:id="rId98"/>
    <p:sldId id="362" r:id="rId99"/>
    <p:sldId id="351" r:id="rId100"/>
    <p:sldId id="363" r:id="rId101"/>
    <p:sldId id="352" r:id="rId102"/>
    <p:sldId id="364" r:id="rId103"/>
    <p:sldId id="353" r:id="rId104"/>
    <p:sldId id="365" r:id="rId105"/>
    <p:sldId id="354" r:id="rId106"/>
    <p:sldId id="366" r:id="rId107"/>
    <p:sldId id="355" r:id="rId108"/>
    <p:sldId id="367" r:id="rId109"/>
    <p:sldId id="368" r:id="rId110"/>
    <p:sldId id="369" r:id="rId111"/>
    <p:sldId id="370" r:id="rId112"/>
    <p:sldId id="371" r:id="rId113"/>
    <p:sldId id="372" r:id="rId114"/>
    <p:sldId id="373" r:id="rId115"/>
    <p:sldId id="374" r:id="rId116"/>
    <p:sldId id="401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402" r:id="rId127"/>
    <p:sldId id="403" r:id="rId128"/>
    <p:sldId id="384" r:id="rId129"/>
    <p:sldId id="386" r:id="rId130"/>
    <p:sldId id="404" r:id="rId131"/>
    <p:sldId id="405" r:id="rId132"/>
    <p:sldId id="385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6" r:id="rId147"/>
    <p:sldId id="400" r:id="rId148"/>
    <p:sldId id="407" r:id="rId149"/>
    <p:sldId id="408" r:id="rId150"/>
    <p:sldId id="409" r:id="rId151"/>
    <p:sldId id="410" r:id="rId152"/>
    <p:sldId id="415" r:id="rId153"/>
    <p:sldId id="411" r:id="rId154"/>
    <p:sldId id="416" r:id="rId155"/>
    <p:sldId id="412" r:id="rId156"/>
    <p:sldId id="413" r:id="rId157"/>
    <p:sldId id="414" r:id="rId158"/>
    <p:sldId id="417" r:id="rId159"/>
    <p:sldId id="418" r:id="rId160"/>
    <p:sldId id="419" r:id="rId161"/>
    <p:sldId id="420" r:id="rId162"/>
    <p:sldId id="421" r:id="rId163"/>
    <p:sldId id="422" r:id="rId164"/>
    <p:sldId id="423" r:id="rId165"/>
    <p:sldId id="424" r:id="rId166"/>
    <p:sldId id="425" r:id="rId167"/>
    <p:sldId id="426" r:id="rId168"/>
    <p:sldId id="427" r:id="rId169"/>
    <p:sldId id="428" r:id="rId170"/>
    <p:sldId id="430" r:id="rId171"/>
    <p:sldId id="429" r:id="rId172"/>
    <p:sldId id="431" r:id="rId173"/>
    <p:sldId id="432" r:id="rId174"/>
    <p:sldId id="433" r:id="rId175"/>
    <p:sldId id="434" r:id="rId1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5236" y="1796142"/>
            <a:ext cx="3331028" cy="1730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Combinational Circuit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111200" y="2317128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Inputs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783907" y="2317127"/>
            <a:ext cx="144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Outputs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004902" y="183224"/>
            <a:ext cx="84325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Block diagram of </a:t>
            </a:r>
            <a:r>
              <a:rPr lang="en-US" altLang="zh-TW" sz="4000" b="1" dirty="0">
                <a:solidFill>
                  <a:srgbClr val="C00000"/>
                </a:solidFill>
              </a:rPr>
              <a:t>combinational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circuit</a:t>
            </a:r>
            <a:endParaRPr lang="zh-TW" altLang="en-US" sz="4000" b="1" dirty="0">
              <a:solidFill>
                <a:srgbClr val="C00000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277838" y="2653392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666264" y="2653392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18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35236" y="1796142"/>
            <a:ext cx="3331028" cy="1730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Combinational Circuit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111200" y="2317128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Inputs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783907" y="2317127"/>
            <a:ext cx="144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Outputs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004902" y="183224"/>
            <a:ext cx="7569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Block diagram of </a:t>
            </a:r>
            <a:r>
              <a:rPr lang="en-US" altLang="zh-TW" sz="4000" b="1" dirty="0">
                <a:solidFill>
                  <a:srgbClr val="C00000"/>
                </a:solidFill>
              </a:rPr>
              <a:t>sequential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circuit</a:t>
            </a:r>
            <a:endParaRPr lang="zh-TW" altLang="en-US" sz="40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35236" y="4237264"/>
            <a:ext cx="3331028" cy="1183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Memory Elements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277838" y="2653392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666264" y="2653392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3387061" y="3203981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2" idx="1"/>
          </p:cNvCxnSpPr>
          <p:nvPr/>
        </p:nvCxnSpPr>
        <p:spPr>
          <a:xfrm flipH="1" flipV="1">
            <a:off x="3387061" y="4829174"/>
            <a:ext cx="94817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3387061" y="3203981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7666264" y="3191233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8613321" y="3191233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 flipV="1">
            <a:off x="7665146" y="4823888"/>
            <a:ext cx="948175" cy="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2824843" y="1510393"/>
            <a:ext cx="6335486" cy="4188278"/>
          </a:xfrm>
          <a:prstGeom prst="rect">
            <a:avLst/>
          </a:prstGeom>
          <a:noFill/>
          <a:ln w="57150">
            <a:solidFill>
              <a:srgbClr val="FF33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2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7892" y="1024236"/>
            <a:ext cx="112721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000" b="1" dirty="0">
                <a:solidFill>
                  <a:srgbClr val="C00000"/>
                </a:solidFill>
                <a:latin typeface="+mj-lt"/>
              </a:rPr>
              <a:t>Describe the fundamental difference between the output of a combinational circuit and the output of a sequential circuit. </a:t>
            </a:r>
          </a:p>
        </p:txBody>
      </p:sp>
      <p:sp>
        <p:nvSpPr>
          <p:cNvPr id="5" name="矩形 4"/>
          <p:cNvSpPr/>
          <p:nvPr/>
        </p:nvSpPr>
        <p:spPr>
          <a:xfrm>
            <a:off x="557891" y="3343480"/>
            <a:ext cx="1127215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4000" b="1" dirty="0">
                <a:latin typeface="+mj-lt"/>
              </a:rPr>
              <a:t>Answer: </a:t>
            </a:r>
            <a:r>
              <a:rPr lang="en-US" altLang="zh-TW" sz="4000" dirty="0" smtClean="0">
                <a:latin typeface="+mj-lt"/>
              </a:rPr>
              <a:t>The output of a combinational circuit depends on only the inputs to the circuit</a:t>
            </a:r>
            <a:r>
              <a:rPr lang="en-US" altLang="zh-TW" sz="4000" dirty="0">
                <a:latin typeface="+mj-lt"/>
              </a:rPr>
              <a:t>; the output of a sequential circuit depends on the inputs to the circuit and the present state of the storage elements. </a:t>
            </a:r>
          </a:p>
        </p:txBody>
      </p:sp>
    </p:spTree>
    <p:extLst>
      <p:ext uri="{BB962C8B-B14F-4D97-AF65-F5344CB8AC3E}">
        <p14:creationId xmlns:p14="http://schemas.microsoft.com/office/powerpoint/2010/main" val="105939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02578" y="832757"/>
            <a:ext cx="3331028" cy="1730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Combinational Circuit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078542" y="1353743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Inputs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751249" y="1353742"/>
            <a:ext cx="144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Outputs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4302578" y="3273879"/>
            <a:ext cx="3331028" cy="1183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Memory Elements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245180" y="1690007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633606" y="1690007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3354403" y="2240596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2" idx="1"/>
          </p:cNvCxnSpPr>
          <p:nvPr/>
        </p:nvCxnSpPr>
        <p:spPr>
          <a:xfrm flipH="1" flipV="1">
            <a:off x="3354403" y="3865789"/>
            <a:ext cx="94817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3354403" y="2240596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7633606" y="2227848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8580663" y="2227848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 flipV="1">
            <a:off x="7632488" y="3860503"/>
            <a:ext cx="948175" cy="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2792185" y="547008"/>
            <a:ext cx="6335486" cy="4188278"/>
          </a:xfrm>
          <a:prstGeom prst="rect">
            <a:avLst/>
          </a:prstGeom>
          <a:noFill/>
          <a:ln w="57150">
            <a:solidFill>
              <a:srgbClr val="FF33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281277" y="5149959"/>
            <a:ext cx="115433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4000" dirty="0" smtClean="0"/>
              <a:t>		(</a:t>
            </a:r>
            <a:r>
              <a:rPr lang="en-US" altLang="zh-TW" sz="4000" dirty="0"/>
              <a:t>inputs, current state) </a:t>
            </a:r>
            <a:r>
              <a:rPr lang="en-US" altLang="zh-TW" sz="4000" dirty="0" smtClean="0">
                <a:latin typeface="Symbol" panose="05050102010706020507" pitchFamily="18" charset="2"/>
                <a:sym typeface="Wingdings" panose="05000000000000000000" pitchFamily="2" charset="2"/>
              </a:rPr>
              <a:t></a:t>
            </a:r>
            <a:r>
              <a:rPr lang="en-US" altLang="zh-TW" sz="4000" dirty="0" smtClean="0">
                <a:latin typeface="Symbol" panose="05050102010706020507" pitchFamily="18" charset="2"/>
              </a:rPr>
              <a:t> </a:t>
            </a:r>
            <a:r>
              <a:rPr lang="en-US" altLang="zh-TW" sz="4000" dirty="0"/>
              <a:t>(outputs, next state)</a:t>
            </a:r>
          </a:p>
        </p:txBody>
      </p:sp>
    </p:spTree>
    <p:extLst>
      <p:ext uri="{BB962C8B-B14F-4D97-AF65-F5344CB8AC3E}">
        <p14:creationId xmlns:p14="http://schemas.microsoft.com/office/powerpoint/2010/main" val="3989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053992" y="1235836"/>
            <a:ext cx="10631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A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(circuit) state </a:t>
            </a:r>
            <a:r>
              <a:rPr lang="en-US" altLang="zh-TW" sz="4000" dirty="0"/>
              <a:t>is </a:t>
            </a:r>
            <a:r>
              <a:rPr lang="en-US" altLang="zh-TW" sz="4000" dirty="0" smtClean="0"/>
              <a:t>the </a:t>
            </a:r>
            <a:r>
              <a:rPr lang="en-US" altLang="zh-TW" sz="4000" dirty="0"/>
              <a:t>combination of </a:t>
            </a:r>
            <a:r>
              <a:rPr lang="en-US" altLang="zh-TW" sz="4000" dirty="0" smtClean="0"/>
              <a:t>0s </a:t>
            </a:r>
            <a:r>
              <a:rPr lang="en-US" altLang="zh-TW" sz="4000" dirty="0"/>
              <a:t>and </a:t>
            </a:r>
            <a:r>
              <a:rPr lang="en-US" altLang="zh-TW" sz="4000" dirty="0" smtClean="0"/>
              <a:t>1s </a:t>
            </a:r>
            <a:r>
              <a:rPr lang="en-US" altLang="zh-TW" sz="4000" dirty="0"/>
              <a:t>of the memory </a:t>
            </a:r>
            <a:r>
              <a:rPr lang="en-US" altLang="zh-TW" sz="4000" dirty="0" smtClean="0"/>
              <a:t>elements.</a:t>
            </a:r>
            <a:r>
              <a:rPr lang="zh-TW" altLang="zh-TW" sz="4000" dirty="0"/>
              <a:t> In a </a:t>
            </a:r>
            <a:r>
              <a:rPr lang="zh-TW" altLang="zh-TW" sz="4000" dirty="0" smtClean="0"/>
              <a:t>sequential </a:t>
            </a:r>
            <a:r>
              <a:rPr lang="zh-TW" altLang="zh-TW" sz="4000" dirty="0"/>
              <a:t>circuit with M memory elements, there are 2</a:t>
            </a:r>
            <a:r>
              <a:rPr lang="zh-TW" altLang="zh-TW" sz="4000" baseline="30000" dirty="0"/>
              <a:t>M</a:t>
            </a:r>
            <a:r>
              <a:rPr lang="zh-TW" altLang="zh-TW" sz="4000" dirty="0"/>
              <a:t> states.</a:t>
            </a:r>
            <a:endParaRPr lang="zh-TW" altLang="en-US" sz="40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53992" y="31112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dirty="0"/>
              <a:t>  </a:t>
            </a:r>
          </a:p>
        </p:txBody>
      </p:sp>
      <p:sp>
        <p:nvSpPr>
          <p:cNvPr id="6" name="矩形 5"/>
          <p:cNvSpPr/>
          <p:nvPr/>
        </p:nvSpPr>
        <p:spPr>
          <a:xfrm>
            <a:off x="1098549" y="3663784"/>
            <a:ext cx="103775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Past </a:t>
            </a:r>
            <a:r>
              <a:rPr lang="zh-TW" altLang="en-US" sz="4000" dirty="0" smtClean="0"/>
              <a:t>input accumulat</a:t>
            </a:r>
            <a:r>
              <a:rPr lang="en-US" altLang="zh-TW" sz="4000" dirty="0" smtClean="0"/>
              <a:t>ion</a:t>
            </a:r>
            <a:r>
              <a:rPr lang="zh-TW" altLang="en-US" sz="4000" dirty="0" smtClean="0"/>
              <a:t> </a:t>
            </a:r>
            <a:r>
              <a:rPr lang="zh-TW" altLang="en-US" sz="4000" dirty="0"/>
              <a:t>becomes the current circuit state</a:t>
            </a:r>
          </a:p>
        </p:txBody>
      </p:sp>
    </p:spTree>
    <p:extLst>
      <p:ext uri="{BB962C8B-B14F-4D97-AF65-F5344CB8AC3E}">
        <p14:creationId xmlns:p14="http://schemas.microsoft.com/office/powerpoint/2010/main" val="248137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02578" y="832757"/>
            <a:ext cx="3331028" cy="1730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Combinational Circuit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078542" y="1353743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Inputs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751249" y="1353742"/>
            <a:ext cx="144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Outputs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4302578" y="3273879"/>
            <a:ext cx="3331028" cy="1183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Flip-Flops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245180" y="1690007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633606" y="1690007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3354403" y="2240596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2" idx="1"/>
          </p:cNvCxnSpPr>
          <p:nvPr/>
        </p:nvCxnSpPr>
        <p:spPr>
          <a:xfrm flipH="1" flipV="1">
            <a:off x="3354403" y="3865789"/>
            <a:ext cx="94817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3354403" y="2240596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7633606" y="2227848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8580663" y="2227848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 flipV="1">
            <a:off x="7632488" y="3860503"/>
            <a:ext cx="948175" cy="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2792185" y="547008"/>
            <a:ext cx="6335486" cy="4188278"/>
          </a:xfrm>
          <a:prstGeom prst="rect">
            <a:avLst/>
          </a:prstGeom>
          <a:noFill/>
          <a:ln w="57150">
            <a:solidFill>
              <a:srgbClr val="FF33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27837" y="5288428"/>
            <a:ext cx="11417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 smtClean="0"/>
              <a:t>In a sequential circuit, memory elements are called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Flip-Flops</a:t>
            </a:r>
            <a:r>
              <a:rPr lang="en-US" altLang="zh-TW" sz="3600" dirty="0" smtClean="0"/>
              <a:t>.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9318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02578" y="832757"/>
            <a:ext cx="3331028" cy="173082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Combinational Circuit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078542" y="1353743"/>
            <a:ext cx="1106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Inputs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9751249" y="1353742"/>
            <a:ext cx="144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Outputs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4302578" y="3273879"/>
            <a:ext cx="3331028" cy="118382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Flip-Flops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2245180" y="1690007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633606" y="1690007"/>
            <a:ext cx="20573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3354403" y="2240596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2" idx="1"/>
          </p:cNvCxnSpPr>
          <p:nvPr/>
        </p:nvCxnSpPr>
        <p:spPr>
          <a:xfrm flipH="1" flipV="1">
            <a:off x="3354403" y="3865789"/>
            <a:ext cx="94817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3354403" y="2240596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7633606" y="2227848"/>
            <a:ext cx="948175" cy="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V="1">
            <a:off x="8580663" y="2227848"/>
            <a:ext cx="0" cy="16251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 flipH="1" flipV="1">
            <a:off x="7632488" y="3860503"/>
            <a:ext cx="948175" cy="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2792185" y="547008"/>
            <a:ext cx="6335486" cy="4188278"/>
          </a:xfrm>
          <a:prstGeom prst="rect">
            <a:avLst/>
          </a:prstGeom>
          <a:noFill/>
          <a:ln w="57150">
            <a:solidFill>
              <a:srgbClr val="FF33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/>
          <p:nvPr/>
        </p:nvCxnSpPr>
        <p:spPr>
          <a:xfrm flipH="1" flipV="1">
            <a:off x="3354403" y="4188777"/>
            <a:ext cx="94817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3353210" y="4188778"/>
            <a:ext cx="0" cy="894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1031">
            <a:extLst>
              <a:ext uri="{FF2B5EF4-FFF2-40B4-BE49-F238E27FC236}">
                <a16:creationId xmlns:a16="http://schemas.microsoft.com/office/drawing/2014/main" id="{48AD58ED-AC35-4160-BE22-E36371D63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4" t="63968" r="8312" b="22286"/>
          <a:stretch/>
        </p:blipFill>
        <p:spPr bwMode="auto">
          <a:xfrm>
            <a:off x="1697612" y="5315345"/>
            <a:ext cx="9041778" cy="971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795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584120" y="3897768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5992" y="2612569"/>
            <a:ext cx="1623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D-Latch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25992" y="5478234"/>
            <a:ext cx="228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D 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337240" y="5412920"/>
            <a:ext cx="2626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J-K 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189928" y="5478234"/>
            <a:ext cx="2212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T 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9" name="手繪多邊形 8"/>
          <p:cNvSpPr/>
          <p:nvPr/>
        </p:nvSpPr>
        <p:spPr>
          <a:xfrm>
            <a:off x="2000249" y="4531179"/>
            <a:ext cx="2522764" cy="930728"/>
          </a:xfrm>
          <a:custGeom>
            <a:avLst/>
            <a:gdLst>
              <a:gd name="connsiteX0" fmla="*/ 2522764 w 2522764"/>
              <a:gd name="connsiteY0" fmla="*/ 0 h 930728"/>
              <a:gd name="connsiteX1" fmla="*/ 938893 w 2522764"/>
              <a:gd name="connsiteY1" fmla="*/ 359228 h 930728"/>
              <a:gd name="connsiteX2" fmla="*/ 0 w 2522764"/>
              <a:gd name="connsiteY2" fmla="*/ 930728 h 930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2764" h="930728">
                <a:moveTo>
                  <a:pt x="2522764" y="0"/>
                </a:moveTo>
                <a:cubicBezTo>
                  <a:pt x="1941059" y="102053"/>
                  <a:pt x="1359354" y="204107"/>
                  <a:pt x="938893" y="359228"/>
                </a:cubicBezTo>
                <a:cubicBezTo>
                  <a:pt x="518432" y="514349"/>
                  <a:pt x="259216" y="722538"/>
                  <a:pt x="0" y="930728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4514849" y="4523014"/>
            <a:ext cx="2775857" cy="987879"/>
          </a:xfrm>
          <a:custGeom>
            <a:avLst/>
            <a:gdLst>
              <a:gd name="connsiteX0" fmla="*/ 0 w 2775857"/>
              <a:gd name="connsiteY0" fmla="*/ 0 h 987879"/>
              <a:gd name="connsiteX1" fmla="*/ 1714500 w 2775857"/>
              <a:gd name="connsiteY1" fmla="*/ 375557 h 987879"/>
              <a:gd name="connsiteX2" fmla="*/ 2775857 w 2775857"/>
              <a:gd name="connsiteY2" fmla="*/ 987879 h 98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75857" h="987879">
                <a:moveTo>
                  <a:pt x="0" y="0"/>
                </a:moveTo>
                <a:cubicBezTo>
                  <a:pt x="625928" y="105455"/>
                  <a:pt x="1251857" y="210911"/>
                  <a:pt x="1714500" y="375557"/>
                </a:cubicBezTo>
                <a:cubicBezTo>
                  <a:pt x="2177143" y="540203"/>
                  <a:pt x="2476500" y="764041"/>
                  <a:pt x="2775857" y="987879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 10"/>
          <p:cNvSpPr/>
          <p:nvPr/>
        </p:nvSpPr>
        <p:spPr>
          <a:xfrm>
            <a:off x="4531178" y="4531179"/>
            <a:ext cx="146957" cy="775607"/>
          </a:xfrm>
          <a:custGeom>
            <a:avLst/>
            <a:gdLst>
              <a:gd name="connsiteX0" fmla="*/ 0 w 146957"/>
              <a:gd name="connsiteY0" fmla="*/ 0 h 775607"/>
              <a:gd name="connsiteX1" fmla="*/ 146957 w 146957"/>
              <a:gd name="connsiteY1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957" h="775607">
                <a:moveTo>
                  <a:pt x="0" y="0"/>
                </a:moveTo>
                <a:lnTo>
                  <a:pt x="146957" y="775607"/>
                </a:ln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1179666" y="3265714"/>
            <a:ext cx="698119" cy="2188029"/>
          </a:xfrm>
          <a:custGeom>
            <a:avLst/>
            <a:gdLst>
              <a:gd name="connsiteX0" fmla="*/ 461355 w 698119"/>
              <a:gd name="connsiteY0" fmla="*/ 0 h 2188029"/>
              <a:gd name="connsiteX1" fmla="*/ 4155 w 698119"/>
              <a:gd name="connsiteY1" fmla="*/ 1134836 h 2188029"/>
              <a:gd name="connsiteX2" fmla="*/ 698119 w 698119"/>
              <a:gd name="connsiteY2" fmla="*/ 2188029 h 218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119" h="2188029">
                <a:moveTo>
                  <a:pt x="461355" y="0"/>
                </a:moveTo>
                <a:cubicBezTo>
                  <a:pt x="213024" y="385082"/>
                  <a:pt x="-35306" y="770165"/>
                  <a:pt x="4155" y="1134836"/>
                </a:cubicBezTo>
                <a:cubicBezTo>
                  <a:pt x="43616" y="1499507"/>
                  <a:pt x="370867" y="1843768"/>
                  <a:pt x="698119" y="2188029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825992" y="706202"/>
            <a:ext cx="561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SR-Latch (with NAND gates)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手繪多邊形 14"/>
          <p:cNvSpPr/>
          <p:nvPr/>
        </p:nvSpPr>
        <p:spPr>
          <a:xfrm>
            <a:off x="1281609" y="1355271"/>
            <a:ext cx="400233" cy="1387929"/>
          </a:xfrm>
          <a:custGeom>
            <a:avLst/>
            <a:gdLst>
              <a:gd name="connsiteX0" fmla="*/ 400233 w 400233"/>
              <a:gd name="connsiteY0" fmla="*/ 0 h 1387929"/>
              <a:gd name="connsiteX1" fmla="*/ 183 w 400233"/>
              <a:gd name="connsiteY1" fmla="*/ 620486 h 1387929"/>
              <a:gd name="connsiteX2" fmla="*/ 359412 w 400233"/>
              <a:gd name="connsiteY2" fmla="*/ 1387929 h 138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233" h="1387929">
                <a:moveTo>
                  <a:pt x="400233" y="0"/>
                </a:moveTo>
                <a:cubicBezTo>
                  <a:pt x="203609" y="194582"/>
                  <a:pt x="6986" y="389165"/>
                  <a:pt x="183" y="620486"/>
                </a:cubicBezTo>
                <a:cubicBezTo>
                  <a:pt x="-6620" y="851807"/>
                  <a:pt x="176396" y="1119868"/>
                  <a:pt x="359412" y="1387929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6728770" y="719792"/>
            <a:ext cx="5292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SR-Latch (with NOR gates)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8" name="手繪多邊形 17"/>
          <p:cNvSpPr/>
          <p:nvPr/>
        </p:nvSpPr>
        <p:spPr>
          <a:xfrm>
            <a:off x="6384471" y="1045029"/>
            <a:ext cx="326572" cy="0"/>
          </a:xfrm>
          <a:custGeom>
            <a:avLst/>
            <a:gdLst>
              <a:gd name="connsiteX0" fmla="*/ 326572 w 326572"/>
              <a:gd name="connsiteY0" fmla="*/ 0 h 0"/>
              <a:gd name="connsiteX1" fmla="*/ 0 w 32657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6572">
                <a:moveTo>
                  <a:pt x="326572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 flipV="1">
            <a:off x="874978" y="800100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1167309" y="800100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4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</p:spTree>
    <p:extLst>
      <p:ext uri="{BB962C8B-B14F-4D97-AF65-F5344CB8AC3E}">
        <p14:creationId xmlns:p14="http://schemas.microsoft.com/office/powerpoint/2010/main" val="254396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20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31178" y="43491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36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31178" y="43491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65863" y="1981040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86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31178" y="43491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65863" y="1981040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51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45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65863" y="1981040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06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31178" y="43491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65863" y="1981040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5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31178" y="43491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65863" y="1981040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83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628650" y="1385889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45264" y="231713"/>
            <a:ext cx="542616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NOR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1289956" y="4212772"/>
            <a:ext cx="71029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012371" y="2152999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31178" y="43491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65863" y="1981040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83720" y="3173368"/>
            <a:ext cx="906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59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15B86710-2DA4-4B57-8D89-8DCD721F0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5" b="21157"/>
          <a:stretch/>
        </p:blipFill>
        <p:spPr bwMode="auto">
          <a:xfrm>
            <a:off x="702129" y="-83682"/>
            <a:ext cx="10937853" cy="409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4051" y="4105283"/>
            <a:ext cx="10834007" cy="2474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ct val="10000"/>
              </a:spcBef>
            </a:pPr>
            <a:r>
              <a:rPr lang="zh-TW" altLang="en-US" sz="3600" dirty="0"/>
              <a:t>(</a:t>
            </a:r>
            <a:r>
              <a:rPr lang="en-US" altLang="zh-TW" sz="3600" dirty="0"/>
              <a:t>S,R</a:t>
            </a:r>
            <a:r>
              <a:rPr lang="en-US" altLang="zh-TW" sz="3600" dirty="0" smtClean="0"/>
              <a:t>) = 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0</a:t>
            </a:r>
            <a:r>
              <a:rPr lang="en-US" altLang="zh-TW" sz="3600" dirty="0"/>
              <a:t>): no operation</a:t>
            </a:r>
          </a:p>
          <a:p>
            <a:pPr marL="0" lvl="1">
              <a:spcBef>
                <a:spcPct val="10000"/>
              </a:spcBef>
            </a:pPr>
            <a:r>
              <a:rPr lang="zh-TW" altLang="en-US" sz="3600" dirty="0"/>
              <a:t>(</a:t>
            </a:r>
            <a:r>
              <a:rPr lang="en-US" altLang="zh-TW" sz="3600" dirty="0"/>
              <a:t>S,R</a:t>
            </a:r>
            <a:r>
              <a:rPr lang="en-US" altLang="zh-TW" sz="3600" dirty="0" smtClean="0"/>
              <a:t>) = (</a:t>
            </a:r>
            <a:r>
              <a:rPr lang="en-US" altLang="zh-TW" sz="3600" dirty="0"/>
              <a:t>0</a:t>
            </a:r>
            <a:r>
              <a:rPr lang="en-US" altLang="zh-TW" sz="3600" dirty="0" smtClean="0"/>
              <a:t>, 1</a:t>
            </a:r>
            <a:r>
              <a:rPr lang="en-US" altLang="zh-TW" sz="3600" dirty="0"/>
              <a:t>): reset (</a:t>
            </a:r>
            <a:r>
              <a:rPr lang="en-US" altLang="zh-TW" sz="3600" dirty="0" smtClean="0"/>
              <a:t>Q = 0</a:t>
            </a:r>
            <a:r>
              <a:rPr lang="en-US" altLang="zh-TW" sz="3600" dirty="0"/>
              <a:t>, the clear state)</a:t>
            </a:r>
          </a:p>
          <a:p>
            <a:pPr marL="0" lvl="1">
              <a:spcBef>
                <a:spcPct val="10000"/>
              </a:spcBef>
            </a:pPr>
            <a:r>
              <a:rPr lang="en-US" altLang="zh-TW" sz="3600" dirty="0"/>
              <a:t>(S,R</a:t>
            </a:r>
            <a:r>
              <a:rPr lang="en-US" altLang="zh-TW" sz="3600" dirty="0" smtClean="0"/>
              <a:t>) = (</a:t>
            </a:r>
            <a:r>
              <a:rPr lang="en-US" altLang="zh-TW" sz="3600" dirty="0"/>
              <a:t>1</a:t>
            </a:r>
            <a:r>
              <a:rPr lang="en-US" altLang="zh-TW" sz="3600" dirty="0" smtClean="0"/>
              <a:t>, 0</a:t>
            </a:r>
            <a:r>
              <a:rPr lang="en-US" altLang="zh-TW" sz="3600" dirty="0"/>
              <a:t>): set (</a:t>
            </a:r>
            <a:r>
              <a:rPr lang="en-US" altLang="zh-TW" sz="3600" dirty="0" smtClean="0"/>
              <a:t>Q = 1</a:t>
            </a:r>
            <a:r>
              <a:rPr lang="en-US" altLang="zh-TW" sz="3600" dirty="0"/>
              <a:t>, the set state)</a:t>
            </a:r>
          </a:p>
          <a:p>
            <a:pPr marL="0" lvl="1">
              <a:spcBef>
                <a:spcPct val="10000"/>
              </a:spcBef>
            </a:pPr>
            <a:r>
              <a:rPr lang="en-US" altLang="zh-TW" sz="3600" dirty="0"/>
              <a:t>(S,R</a:t>
            </a:r>
            <a:r>
              <a:rPr lang="en-US" altLang="zh-TW" sz="3600" dirty="0" smtClean="0"/>
              <a:t>) = (</a:t>
            </a:r>
            <a:r>
              <a:rPr lang="en-US" altLang="zh-TW" sz="3600" dirty="0"/>
              <a:t>1</a:t>
            </a:r>
            <a:r>
              <a:rPr lang="en-US" altLang="zh-TW" sz="3600" dirty="0" smtClean="0"/>
              <a:t>, 1</a:t>
            </a:r>
            <a:r>
              <a:rPr lang="en-US" altLang="zh-TW" sz="3600" dirty="0"/>
              <a:t>): indeterminate state (</a:t>
            </a:r>
            <a:r>
              <a:rPr lang="en-US" altLang="zh-TW" sz="3600" dirty="0" smtClean="0"/>
              <a:t>Q = Q‘ = 0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973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57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15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31179" y="4390013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27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31179" y="4390013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31179" y="204891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76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31179" y="4390013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31179" y="204891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41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4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433207" y="207823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53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433207" y="207823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59753" y="4433277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91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433207" y="207823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59753" y="4433277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0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2EA9BE6C-0E3D-453F-8A95-E40ADC219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3" b="20996"/>
          <a:stretch/>
        </p:blipFill>
        <p:spPr bwMode="auto">
          <a:xfrm>
            <a:off x="930728" y="1531938"/>
            <a:ext cx="10413729" cy="387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930728" y="1763486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930727" y="3804557"/>
            <a:ext cx="81643" cy="13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45264" y="231713"/>
            <a:ext cx="57772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NAND </a:t>
            </a:r>
            <a:r>
              <a:rPr lang="en-US" altLang="zh-TW" sz="4000" b="1" dirty="0">
                <a:solidFill>
                  <a:srgbClr val="C00000"/>
                </a:solidFill>
              </a:rPr>
              <a:t>gates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426124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718455" y="302079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1224643" y="423489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77736" y="223708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433207" y="2078232"/>
            <a:ext cx="9062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559753" y="4433277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9552" y="314518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43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684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50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13638" y="189485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713637" y="558240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86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13638" y="189485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713637" y="558240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743700" y="572339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24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713638" y="189485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713637" y="558240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743700" y="572339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39656" y="2354846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67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27265" y="5077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1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27265" y="5077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49337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49338" y="186407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26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27265" y="5077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49337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49338" y="186407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659337" y="2354846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7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27265" y="5077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49337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49338" y="186407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659337" y="2354846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659337" y="56986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86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69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65666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22122" y="18481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16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65666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22122" y="18481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53201" y="572339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4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65666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22122" y="18481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553201" y="572339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626575" y="2171289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55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20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95602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95602" y="1770207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93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95602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95602" y="1770207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36937" y="568202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68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895602" y="569867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895602" y="1770207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36937" y="568202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697438" y="198885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09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911930" y="560886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5539" y="179110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4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911930" y="560886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5539" y="179110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626575" y="228124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68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7265" y="10167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SR latch with control input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0</a:t>
            </a:r>
            <a:r>
              <a:rPr lang="en-US" altLang="zh-TW" sz="4000" b="1" dirty="0">
                <a:solidFill>
                  <a:srgbClr val="C00000"/>
                </a:solidFill>
              </a:rPr>
              <a:t>, no change</a:t>
            </a:r>
          </a:p>
          <a:p>
            <a:pPr lvl="1"/>
            <a:r>
              <a:rPr lang="en-US" altLang="zh-TW" sz="4000" b="1" dirty="0" err="1" smtClean="0">
                <a:solidFill>
                  <a:srgbClr val="C00000"/>
                </a:solidFill>
              </a:rPr>
              <a:t>En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 = 1</a:t>
            </a:r>
            <a:r>
              <a:rPr lang="en-US" altLang="zh-TW" sz="4000" b="1" dirty="0">
                <a:solidFill>
                  <a:srgbClr val="C00000"/>
                </a:solidFill>
              </a:rPr>
              <a:t>,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77" b="27502"/>
          <a:stretch/>
        </p:blipFill>
        <p:spPr bwMode="auto">
          <a:xfrm>
            <a:off x="0" y="2416402"/>
            <a:ext cx="739684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475265" y="2604408"/>
            <a:ext cx="3077936" cy="2963636"/>
          </a:xfrm>
          <a:prstGeom prst="rect">
            <a:avLst/>
          </a:prstGeom>
          <a:noFill/>
          <a:ln w="38100">
            <a:solidFill>
              <a:schemeClr val="tx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092167" y="2019633"/>
            <a:ext cx="1659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SR latch </a:t>
            </a:r>
            <a:endParaRPr lang="zh-TW" altLang="en-US" sz="3200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5124823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5384498" y="2057403"/>
            <a:ext cx="212272" cy="1335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3">
            <a:extLst>
              <a:ext uri="{FF2B5EF4-FFF2-40B4-BE49-F238E27FC236}">
                <a16:creationId xmlns:a16="http://schemas.microsoft.com/office/drawing/2014/main" id="{4BC4FC22-3730-4BDC-8803-5598BFC6A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8" t="18219" b="27502"/>
          <a:stretch/>
        </p:blipFill>
        <p:spPr bwMode="auto">
          <a:xfrm>
            <a:off x="7470217" y="2481716"/>
            <a:ext cx="4721783" cy="328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1330779" y="376306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7265" y="2391682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13659" y="505234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911930" y="560886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925539" y="1791101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626575" y="228124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721877" y="565444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32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263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15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2790" y="1763263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72790" y="472644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7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2790" y="1763263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72790" y="472644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560919" y="472644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18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572790" y="1763263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572790" y="472644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560919" y="472644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454229" y="190976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Q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02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6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44241" y="169273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662598" y="4762506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18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44241" y="169273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662598" y="4762506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454229" y="459922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71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44241" y="1692735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662598" y="4762506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454229" y="459922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454228" y="190976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99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24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78926" y="1763263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663388" y="471057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55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78926" y="1763263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663388" y="471057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315990" y="1828577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70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59562728-7716-4B04-8ABD-91A4304AE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5"/>
          <a:stretch/>
        </p:blipFill>
        <p:spPr bwMode="auto">
          <a:xfrm>
            <a:off x="0" y="2086429"/>
            <a:ext cx="1217967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4705" y="3714074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9005" y="1586599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78926" y="1763263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663388" y="4710570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315990" y="1828577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315989" y="4637091"/>
            <a:ext cx="6531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13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67"/>
          <a:stretch/>
        </p:blipFill>
        <p:spPr bwMode="auto">
          <a:xfrm>
            <a:off x="250825" y="2071687"/>
            <a:ext cx="11685787" cy="2924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66077" y="125577"/>
            <a:ext cx="41495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Graphic symbols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0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05" y="158234"/>
            <a:ext cx="71595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D Latch (Transparent Latch)</a:t>
            </a:r>
          </a:p>
        </p:txBody>
      </p:sp>
      <p:sp>
        <p:nvSpPr>
          <p:cNvPr id="2" name="矩形 1"/>
          <p:cNvSpPr/>
          <p:nvPr/>
        </p:nvSpPr>
        <p:spPr>
          <a:xfrm>
            <a:off x="294705" y="1490478"/>
            <a:ext cx="77226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>
                <a:latin typeface="+mj-lt"/>
              </a:rPr>
              <a:t>A transparent latch has a data input, an enable input, and output. When the enable input is asserted, the output of the latch follows the input to the latch. When the enable input is de-asserted, the output of the latch is held at the value that was present at the moment the enable input was de-asserted. 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017329" y="1427252"/>
            <a:ext cx="4072370" cy="4226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10505662" y="2008415"/>
            <a:ext cx="58060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4000" i="1" dirty="0" smtClean="0"/>
              <a:t>Q</a:t>
            </a:r>
            <a:endParaRPr lang="zh-TW" alt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05208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45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2555422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1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2555422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28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3004458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41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3429001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44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3829051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13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4269922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50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4678137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2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5127169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4996541" y="39761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5159825" y="397600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996541" y="397600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159825" y="4458054"/>
            <a:ext cx="1673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890402" y="4474029"/>
            <a:ext cx="114305" cy="1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18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5543548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4996541" y="39761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5159825" y="397600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996541" y="397600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159825" y="4458054"/>
            <a:ext cx="1673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890402" y="4474029"/>
            <a:ext cx="114305" cy="1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327194" y="446088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21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5984420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4996541" y="39761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5159825" y="397600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996541" y="397600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159825" y="4458054"/>
            <a:ext cx="1673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890402" y="4474029"/>
            <a:ext cx="114305" cy="1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327194" y="446088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5759900" y="4461591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36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6392630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4996541" y="39761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5159825" y="397600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996541" y="397600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159825" y="4458054"/>
            <a:ext cx="1673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890402" y="4474029"/>
            <a:ext cx="114305" cy="1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327194" y="446088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5759900" y="4461591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6184443" y="445805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02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6825338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4996541" y="39761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5159825" y="397600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996541" y="397600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159825" y="4458054"/>
            <a:ext cx="1673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890402" y="4474029"/>
            <a:ext cx="114305" cy="1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327194" y="446088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5759900" y="4461591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6184443" y="445805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 flipV="1">
            <a:off x="6608987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6617151" y="3984879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61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1910441" y="2588080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2334984" y="203290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2343148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2767691" y="2032909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2767691" y="2024745"/>
            <a:ext cx="857250" cy="555171"/>
            <a:chOff x="2392136" y="938893"/>
            <a:chExt cx="857250" cy="555171"/>
          </a:xfrm>
        </p:grpSpPr>
        <p:cxnSp>
          <p:nvCxnSpPr>
            <p:cNvPr id="19" name="直線接點 1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/>
          <p:cNvGrpSpPr/>
          <p:nvPr/>
        </p:nvGrpSpPr>
        <p:grpSpPr>
          <a:xfrm>
            <a:off x="3616776" y="2032908"/>
            <a:ext cx="857250" cy="555171"/>
            <a:chOff x="2392136" y="938893"/>
            <a:chExt cx="857250" cy="555171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27"/>
          <p:cNvGrpSpPr/>
          <p:nvPr/>
        </p:nvGrpSpPr>
        <p:grpSpPr>
          <a:xfrm>
            <a:off x="4469943" y="2041072"/>
            <a:ext cx="857250" cy="555171"/>
            <a:chOff x="2392136" y="938893"/>
            <a:chExt cx="857250" cy="555171"/>
          </a:xfrm>
        </p:grpSpPr>
        <p:cxnSp>
          <p:nvCxnSpPr>
            <p:cNvPr id="29" name="直線接點 2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/>
          <p:cNvGrpSpPr/>
          <p:nvPr/>
        </p:nvGrpSpPr>
        <p:grpSpPr>
          <a:xfrm>
            <a:off x="5327193" y="2032908"/>
            <a:ext cx="857250" cy="555171"/>
            <a:chOff x="2392136" y="938893"/>
            <a:chExt cx="857250" cy="555171"/>
          </a:xfrm>
        </p:grpSpPr>
        <p:cxnSp>
          <p:nvCxnSpPr>
            <p:cNvPr id="34" name="直線接點 33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176277" y="2024744"/>
            <a:ext cx="857250" cy="555171"/>
            <a:chOff x="2392136" y="938893"/>
            <a:chExt cx="857250" cy="555171"/>
          </a:xfrm>
        </p:grpSpPr>
        <p:cxnSp>
          <p:nvCxnSpPr>
            <p:cNvPr id="39" name="直線接點 38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直線接點 42"/>
          <p:cNvCxnSpPr/>
          <p:nvPr/>
        </p:nvCxnSpPr>
        <p:spPr>
          <a:xfrm>
            <a:off x="7033527" y="2579915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690986" y="2253344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55876" y="3233058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1820634" y="3494668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244928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449284" y="3004458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3771899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3771899" y="3494668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5004706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 flipV="1">
            <a:off x="5167990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5633354" y="3494668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04706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 flipV="1">
            <a:off x="639263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6392630" y="3004458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1190289" y="4114801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>
            <a:off x="2343148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>
            <a:off x="276768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3200396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362494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049483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4478107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89856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575990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>
            <a:off x="5327192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>
            <a:off x="6180359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6608980" y="138384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7033527" y="1379765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7">
            <a:extLst>
              <a:ext uri="{FF2B5EF4-FFF2-40B4-BE49-F238E27FC236}">
                <a16:creationId xmlns:a16="http://schemas.microsoft.com/office/drawing/2014/main" id="{E533B13A-4B07-433D-A7EC-DDA97046E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2" t="117" r="3229" b="34870"/>
          <a:stretch/>
        </p:blipFill>
        <p:spPr bwMode="auto">
          <a:xfrm>
            <a:off x="8143860" y="1706336"/>
            <a:ext cx="3166338" cy="328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" name="文字方塊 95"/>
          <p:cNvSpPr txBox="1"/>
          <p:nvPr/>
        </p:nvSpPr>
        <p:spPr>
          <a:xfrm>
            <a:off x="11313927" y="2163536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11313927" y="3984879"/>
            <a:ext cx="54053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Q’</a:t>
            </a:r>
            <a:endParaRPr lang="zh-TW" altLang="en-US" sz="2800" dirty="0"/>
          </a:p>
        </p:txBody>
      </p:sp>
      <p:sp>
        <p:nvSpPr>
          <p:cNvPr id="98" name="矩形 97"/>
          <p:cNvSpPr/>
          <p:nvPr/>
        </p:nvSpPr>
        <p:spPr>
          <a:xfrm>
            <a:off x="234314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/>
        </p:nvSpPr>
        <p:spPr>
          <a:xfrm>
            <a:off x="3200398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/>
        </p:nvSpPr>
        <p:spPr>
          <a:xfrm>
            <a:off x="404131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/>
        </p:nvSpPr>
        <p:spPr>
          <a:xfrm>
            <a:off x="4898566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/>
        </p:nvSpPr>
        <p:spPr>
          <a:xfrm>
            <a:off x="5755817" y="1955523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/>
        </p:nvSpPr>
        <p:spPr>
          <a:xfrm>
            <a:off x="6613065" y="1959430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/>
          <p:cNvSpPr txBox="1"/>
          <p:nvPr/>
        </p:nvSpPr>
        <p:spPr>
          <a:xfrm>
            <a:off x="2799661" y="5294364"/>
            <a:ext cx="3809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Timing diagram D-latch </a:t>
            </a:r>
            <a:endParaRPr lang="zh-TW" altLang="en-US" sz="2800" b="1" dirty="0"/>
          </a:p>
        </p:txBody>
      </p:sp>
      <p:cxnSp>
        <p:nvCxnSpPr>
          <p:cNvPr id="127" name="直線接點 126"/>
          <p:cNvCxnSpPr/>
          <p:nvPr/>
        </p:nvCxnSpPr>
        <p:spPr>
          <a:xfrm flipV="1">
            <a:off x="5470070" y="300463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/>
          <p:cNvCxnSpPr/>
          <p:nvPr/>
        </p:nvCxnSpPr>
        <p:spPr>
          <a:xfrm flipV="1">
            <a:off x="5633354" y="300445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/>
          <p:cNvCxnSpPr/>
          <p:nvPr/>
        </p:nvCxnSpPr>
        <p:spPr>
          <a:xfrm>
            <a:off x="5470070" y="300445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>
          <a:xfrm>
            <a:off x="5159825" y="3494668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7274374" y="1134836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1812469" y="4458054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 flipV="1">
            <a:off x="2441119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2441119" y="3967844"/>
            <a:ext cx="32657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275952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3200396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3624940" y="396784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V="1">
            <a:off x="4049483" y="397706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4041316" y="447544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>
            <a:off x="4457694" y="4476858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4996541" y="39761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5159825" y="397600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>
            <a:off x="4996541" y="3976008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159825" y="4458054"/>
            <a:ext cx="1673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890402" y="4474029"/>
            <a:ext cx="114305" cy="1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>
            <a:off x="5327194" y="4460883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5759900" y="4461591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6184443" y="4458054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 flipV="1">
            <a:off x="6608987" y="396784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6617151" y="3984879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7033527" y="3984879"/>
            <a:ext cx="432708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85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09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0B3C94-E1A5-4733-9A9D-785DA9ABF8D9}"/>
              </a:ext>
            </a:extLst>
          </p:cNvPr>
          <p:cNvSpPr txBox="1">
            <a:spLocks noChangeArrowheads="1"/>
          </p:cNvSpPr>
          <p:nvPr/>
        </p:nvSpPr>
        <p:spPr>
          <a:xfrm>
            <a:off x="643844" y="165099"/>
            <a:ext cx="10549391" cy="295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"/>
              </a:spcBef>
              <a:buNone/>
            </a:pPr>
            <a:r>
              <a:rPr lang="en-US" altLang="zh-TW" sz="2800" b="1" dirty="0" smtClean="0">
                <a:solidFill>
                  <a:srgbClr val="C00000"/>
                </a:solidFill>
                <a:latin typeface="+mj-lt"/>
              </a:rPr>
              <a:t>A trigger</a:t>
            </a:r>
          </a:p>
          <a:p>
            <a:pPr marL="457200" lvl="1" indent="0">
              <a:spcBef>
                <a:spcPct val="5000"/>
              </a:spcBef>
              <a:buNone/>
            </a:pPr>
            <a:r>
              <a:rPr lang="en-US" altLang="zh-TW" sz="2800" dirty="0" smtClean="0">
                <a:latin typeface="+mj-lt"/>
              </a:rPr>
              <a:t>The state of a latch or flip-flop is switched by a change of the control input</a:t>
            </a:r>
          </a:p>
          <a:p>
            <a:pPr marL="514350" indent="-514350">
              <a:spcBef>
                <a:spcPct val="5000"/>
              </a:spcBef>
              <a:buFont typeface="+mj-lt"/>
              <a:buAutoNum type="arabicPeriod"/>
            </a:pPr>
            <a:r>
              <a:rPr lang="en-US" altLang="zh-TW" sz="2800" dirty="0" smtClean="0">
                <a:latin typeface="+mj-lt"/>
              </a:rPr>
              <a:t>Level triggered – latches</a:t>
            </a:r>
          </a:p>
          <a:p>
            <a:pPr marL="514350" indent="-514350">
              <a:spcBef>
                <a:spcPct val="5000"/>
              </a:spcBef>
              <a:buFont typeface="+mj-lt"/>
              <a:buAutoNum type="arabicPeriod"/>
            </a:pPr>
            <a:r>
              <a:rPr lang="en-US" altLang="zh-TW" sz="2800" dirty="0" smtClean="0">
                <a:latin typeface="+mj-lt"/>
              </a:rPr>
              <a:t>Edge triggered – flip-flops</a:t>
            </a:r>
          </a:p>
          <a:p>
            <a:pPr lvl="1">
              <a:spcBef>
                <a:spcPct val="5000"/>
              </a:spcBef>
              <a:buFont typeface="Wingdings" panose="05000000000000000000" pitchFamily="2" charset="2"/>
              <a:buNone/>
            </a:pPr>
            <a:endParaRPr lang="en-US" altLang="zh-TW" sz="2800" b="1" dirty="0">
              <a:latin typeface="+mj-lt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9B2EB83-A2A8-47D4-A1B4-59E763D2C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54"/>
          <a:stretch/>
        </p:blipFill>
        <p:spPr bwMode="auto">
          <a:xfrm>
            <a:off x="4786312" y="2212520"/>
            <a:ext cx="7039879" cy="362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094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3835" y="158821"/>
            <a:ext cx="108231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Edge-triggered flip-flops</a:t>
            </a:r>
          </a:p>
          <a:p>
            <a:pPr lvl="1"/>
            <a:r>
              <a:rPr lang="en-US" altLang="zh-TW" sz="3200" dirty="0"/>
              <a:t>the state transition happens only at the edge</a:t>
            </a:r>
          </a:p>
          <a:p>
            <a:pPr lvl="1"/>
            <a:r>
              <a:rPr lang="en-US" altLang="zh-TW" sz="3200" dirty="0"/>
              <a:t>eliminate the multiple-transition problem</a:t>
            </a:r>
          </a:p>
        </p:txBody>
      </p:sp>
    </p:spTree>
    <p:extLst>
      <p:ext uri="{BB962C8B-B14F-4D97-AF65-F5344CB8AC3E}">
        <p14:creationId xmlns:p14="http://schemas.microsoft.com/office/powerpoint/2010/main" val="245295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2999" y="0"/>
            <a:ext cx="892000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Edge-triggered D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(</a:t>
            </a:r>
            <a:r>
              <a:rPr lang="en-US" altLang="zh-TW" sz="3200" b="1" dirty="0">
                <a:solidFill>
                  <a:srgbClr val="0000FF"/>
                </a:solidFill>
              </a:rPr>
              <a:t>Master-slave D </a:t>
            </a:r>
            <a:r>
              <a:rPr lang="en-US" altLang="zh-TW" sz="3200" b="1" dirty="0" smtClean="0">
                <a:solidFill>
                  <a:srgbClr val="0000FF"/>
                </a:solidFill>
              </a:rPr>
              <a:t>flip-flop)</a:t>
            </a:r>
            <a:endParaRPr lang="en-US" altLang="zh-TW" sz="3200" b="1" dirty="0">
              <a:solidFill>
                <a:srgbClr val="0000FF"/>
              </a:solidFill>
            </a:endParaRPr>
          </a:p>
          <a:p>
            <a:endParaRPr lang="zh-TW" altLang="en-US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302999" y="2065096"/>
            <a:ext cx="11544878" cy="3168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92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631915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85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631915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88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631915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1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6760030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66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6760030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42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7150333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01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7150333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8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7607533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60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7607533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5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8015747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16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8015747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0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845661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46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845661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75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8882961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96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8882961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92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9315668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6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9315668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32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9732046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83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/>
          <p:nvPr/>
        </p:nvCxnSpPr>
        <p:spPr>
          <a:xfrm>
            <a:off x="9732046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31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10158168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84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10158168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96270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49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1059903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96270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 flipV="1">
            <a:off x="10376318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10374522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3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10599039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96270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 flipV="1">
            <a:off x="10376318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10374522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038088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31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11023581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96270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 flipV="1">
            <a:off x="10376318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10374522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038088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10799060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42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11023581" y="1445078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96270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 flipV="1">
            <a:off x="10376318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10374522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038088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 flipV="1">
            <a:off x="10805427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10799060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1080542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54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6E7B6AB-9224-46B6-9D6D-6AEBE944E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14"/>
          <a:stretch/>
        </p:blipFill>
        <p:spPr bwMode="auto">
          <a:xfrm>
            <a:off x="7506" y="6516"/>
            <a:ext cx="7142827" cy="196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線接點 3"/>
          <p:cNvCxnSpPr/>
          <p:nvPr/>
        </p:nvCxnSpPr>
        <p:spPr>
          <a:xfrm>
            <a:off x="5675979" y="25390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108686" y="1983923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6116850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V="1">
            <a:off x="6541393" y="1983923"/>
            <a:ext cx="0" cy="555171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/>
          <p:cNvGrpSpPr/>
          <p:nvPr/>
        </p:nvGrpSpPr>
        <p:grpSpPr>
          <a:xfrm>
            <a:off x="6533229" y="1975759"/>
            <a:ext cx="857250" cy="555171"/>
            <a:chOff x="2392136" y="938893"/>
            <a:chExt cx="857250" cy="555171"/>
          </a:xfrm>
        </p:grpSpPr>
        <p:cxnSp>
          <p:nvCxnSpPr>
            <p:cNvPr id="11" name="直線接點 1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7382314" y="1983922"/>
            <a:ext cx="857250" cy="555171"/>
            <a:chOff x="2392136" y="938893"/>
            <a:chExt cx="857250" cy="555171"/>
          </a:xfrm>
        </p:grpSpPr>
        <p:cxnSp>
          <p:nvCxnSpPr>
            <p:cNvPr id="16" name="直線接點 1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/>
          <p:cNvGrpSpPr/>
          <p:nvPr/>
        </p:nvGrpSpPr>
        <p:grpSpPr>
          <a:xfrm>
            <a:off x="8235481" y="1992086"/>
            <a:ext cx="857250" cy="555171"/>
            <a:chOff x="2392136" y="938893"/>
            <a:chExt cx="857250" cy="555171"/>
          </a:xfrm>
        </p:grpSpPr>
        <p:cxnSp>
          <p:nvCxnSpPr>
            <p:cNvPr id="21" name="直線接點 2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/>
          <p:cNvGrpSpPr/>
          <p:nvPr/>
        </p:nvGrpSpPr>
        <p:grpSpPr>
          <a:xfrm>
            <a:off x="9092731" y="1983922"/>
            <a:ext cx="857250" cy="555171"/>
            <a:chOff x="2392136" y="938893"/>
            <a:chExt cx="857250" cy="555171"/>
          </a:xfrm>
        </p:grpSpPr>
        <p:cxnSp>
          <p:nvCxnSpPr>
            <p:cNvPr id="26" name="直線接點 25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9941815" y="1975758"/>
            <a:ext cx="857250" cy="555171"/>
            <a:chOff x="2392136" y="938893"/>
            <a:chExt cx="857250" cy="555171"/>
          </a:xfrm>
        </p:grpSpPr>
        <p:cxnSp>
          <p:nvCxnSpPr>
            <p:cNvPr id="31" name="直線接點 30"/>
            <p:cNvCxnSpPr/>
            <p:nvPr/>
          </p:nvCxnSpPr>
          <p:spPr>
            <a:xfrm>
              <a:off x="2392136" y="1494064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16679" y="938893"/>
              <a:ext cx="432707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2824843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3249386" y="938893"/>
              <a:ext cx="0" cy="555171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線接點 34"/>
          <p:cNvCxnSpPr/>
          <p:nvPr/>
        </p:nvCxnSpPr>
        <p:spPr>
          <a:xfrm>
            <a:off x="10799065" y="2530929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464688" y="2204358"/>
            <a:ext cx="961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Clock</a:t>
            </a:r>
            <a:endParaRPr lang="zh-TW" altLang="en-US" sz="28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4529578" y="3184072"/>
            <a:ext cx="89639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Data</a:t>
            </a:r>
            <a:endParaRPr lang="zh-TW" altLang="en-US" sz="2800" dirty="0"/>
          </a:p>
        </p:txBody>
      </p:sp>
      <p:cxnSp>
        <p:nvCxnSpPr>
          <p:cNvPr id="38" name="直線接點 37"/>
          <p:cNvCxnSpPr/>
          <p:nvPr/>
        </p:nvCxnSpPr>
        <p:spPr>
          <a:xfrm>
            <a:off x="5586172" y="3445682"/>
            <a:ext cx="6286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621482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6214822" y="2955472"/>
            <a:ext cx="1322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7537437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7537437" y="3445682"/>
            <a:ext cx="12328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8770244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8933528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9398892" y="3445682"/>
            <a:ext cx="76744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8770244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1015816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0158168" y="2955472"/>
            <a:ext cx="10491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63991" y="40658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Y</a:t>
            </a:r>
            <a:endParaRPr lang="zh-TW" altLang="en-US" sz="2800" dirty="0"/>
          </a:p>
        </p:txBody>
      </p:sp>
      <p:cxnSp>
        <p:nvCxnSpPr>
          <p:cNvPr id="50" name="直線接點 49"/>
          <p:cNvCxnSpPr/>
          <p:nvPr/>
        </p:nvCxnSpPr>
        <p:spPr>
          <a:xfrm>
            <a:off x="6115048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653958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>
            <a:off x="696413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7388676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781321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8241843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867046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/>
          <p:nvPr/>
        </p:nvCxnSpPr>
        <p:spPr>
          <a:xfrm>
            <a:off x="953180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9099092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9952259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10380880" y="1694089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10805427" y="1690007"/>
            <a:ext cx="0" cy="3763736"/>
          </a:xfrm>
          <a:prstGeom prst="line">
            <a:avLst/>
          </a:prstGeom>
          <a:ln w="19050">
            <a:solidFill>
              <a:srgbClr val="FF33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11685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6974100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782318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/>
        </p:nvSpPr>
        <p:spPr>
          <a:xfrm>
            <a:off x="8680432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/>
        </p:nvSpPr>
        <p:spPr>
          <a:xfrm>
            <a:off x="9537683" y="1906537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/>
        </p:nvSpPr>
        <p:spPr>
          <a:xfrm>
            <a:off x="10378603" y="1910444"/>
            <a:ext cx="416378" cy="1384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直線接點 68"/>
          <p:cNvCxnSpPr/>
          <p:nvPr/>
        </p:nvCxnSpPr>
        <p:spPr>
          <a:xfrm flipV="1">
            <a:off x="9235608" y="2955648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 flipV="1">
            <a:off x="9398892" y="2955472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9235608" y="2955472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8925363" y="3445682"/>
            <a:ext cx="3102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4963991" y="4800247"/>
            <a:ext cx="46198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cxnSp>
        <p:nvCxnSpPr>
          <p:cNvPr id="74" name="直線單箭頭接點 73"/>
          <p:cNvCxnSpPr/>
          <p:nvPr/>
        </p:nvCxnSpPr>
        <p:spPr>
          <a:xfrm>
            <a:off x="6539589" y="2710543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 flipV="1">
            <a:off x="6214822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6214822" y="3877684"/>
            <a:ext cx="3247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>
            <a:off x="5682341" y="5167994"/>
            <a:ext cx="432707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>
            <a:off x="5675979" y="4359729"/>
            <a:ext cx="538843" cy="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6115048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539592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/>
          <p:cNvCxnSpPr/>
          <p:nvPr/>
        </p:nvCxnSpPr>
        <p:spPr>
          <a:xfrm flipV="1">
            <a:off x="6539589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6539592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6974100" y="38776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6974100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7388677" y="3877683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738867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flipV="1">
            <a:off x="7816819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782366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/>
          <p:nvPr/>
        </p:nvCxnSpPr>
        <p:spPr>
          <a:xfrm>
            <a:off x="7823663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/>
          <p:nvPr/>
        </p:nvCxnSpPr>
        <p:spPr>
          <a:xfrm>
            <a:off x="8241843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 flipV="1">
            <a:off x="8235481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/>
          <p:nvPr/>
        </p:nvCxnSpPr>
        <p:spPr>
          <a:xfrm>
            <a:off x="8241843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/>
          <p:nvPr/>
        </p:nvCxnSpPr>
        <p:spPr>
          <a:xfrm flipV="1">
            <a:off x="8762079" y="3869695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/>
          <p:cNvCxnSpPr/>
          <p:nvPr/>
        </p:nvCxnSpPr>
        <p:spPr>
          <a:xfrm flipV="1">
            <a:off x="8925363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8762079" y="3869519"/>
            <a:ext cx="16328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8651859" y="4359729"/>
            <a:ext cx="11022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8925363" y="4359729"/>
            <a:ext cx="1673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/>
          <p:cNvCxnSpPr/>
          <p:nvPr/>
        </p:nvCxnSpPr>
        <p:spPr>
          <a:xfrm>
            <a:off x="8674551" y="5167995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/>
          <p:cNvCxnSpPr/>
          <p:nvPr/>
        </p:nvCxnSpPr>
        <p:spPr>
          <a:xfrm>
            <a:off x="909273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/>
          <p:cNvCxnSpPr/>
          <p:nvPr/>
        </p:nvCxnSpPr>
        <p:spPr>
          <a:xfrm>
            <a:off x="909273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/>
          <p:cNvCxnSpPr/>
          <p:nvPr/>
        </p:nvCxnSpPr>
        <p:spPr>
          <a:xfrm>
            <a:off x="9531801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/>
          <p:cNvCxnSpPr/>
          <p:nvPr/>
        </p:nvCxnSpPr>
        <p:spPr>
          <a:xfrm>
            <a:off x="9531801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/>
          <p:cNvCxnSpPr/>
          <p:nvPr/>
        </p:nvCxnSpPr>
        <p:spPr>
          <a:xfrm>
            <a:off x="9948178" y="435972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/>
          <p:cNvCxnSpPr/>
          <p:nvPr/>
        </p:nvCxnSpPr>
        <p:spPr>
          <a:xfrm>
            <a:off x="996270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/>
          <p:cNvCxnSpPr/>
          <p:nvPr/>
        </p:nvCxnSpPr>
        <p:spPr>
          <a:xfrm flipV="1">
            <a:off x="10376318" y="3869519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/>
          <p:cNvCxnSpPr/>
          <p:nvPr/>
        </p:nvCxnSpPr>
        <p:spPr>
          <a:xfrm>
            <a:off x="10374522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10380880" y="516799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/>
          <p:cNvCxnSpPr/>
          <p:nvPr/>
        </p:nvCxnSpPr>
        <p:spPr>
          <a:xfrm flipV="1">
            <a:off x="10805427" y="4677784"/>
            <a:ext cx="0" cy="490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07"/>
          <p:cNvCxnSpPr/>
          <p:nvPr/>
        </p:nvCxnSpPr>
        <p:spPr>
          <a:xfrm>
            <a:off x="10799060" y="3869519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接點 108"/>
          <p:cNvCxnSpPr/>
          <p:nvPr/>
        </p:nvCxnSpPr>
        <p:spPr>
          <a:xfrm>
            <a:off x="10805427" y="4677784"/>
            <a:ext cx="41818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/>
          <p:nvPr/>
        </p:nvCxnSpPr>
        <p:spPr>
          <a:xfrm>
            <a:off x="7372344" y="2710543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/>
          <p:nvPr/>
        </p:nvCxnSpPr>
        <p:spPr>
          <a:xfrm>
            <a:off x="8241843" y="3184072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/>
          <p:nvPr/>
        </p:nvCxnSpPr>
        <p:spPr>
          <a:xfrm>
            <a:off x="9092731" y="3184072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/>
          <p:nvPr/>
        </p:nvCxnSpPr>
        <p:spPr>
          <a:xfrm>
            <a:off x="9948178" y="3184072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>
            <a:off x="10805427" y="2710543"/>
            <a:ext cx="0" cy="24492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271699" y="5519057"/>
            <a:ext cx="457924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Negative-Edge-triggered </a:t>
            </a:r>
            <a:r>
              <a:rPr lang="en-US" altLang="zh-TW" sz="3200" b="1" dirty="0">
                <a:solidFill>
                  <a:srgbClr val="C00000"/>
                </a:solidFill>
              </a:rPr>
              <a:t>D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flip-flop</a:t>
            </a:r>
            <a:endParaRPr lang="en-US" altLang="zh-TW" sz="32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2210479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841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2210479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367894" y="865413"/>
            <a:ext cx="2637064" cy="2367643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367894" y="3722461"/>
            <a:ext cx="2637064" cy="2367643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233559" y="2432957"/>
            <a:ext cx="2285998" cy="2073275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13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cxnSp>
        <p:nvCxnSpPr>
          <p:cNvPr id="60" name="直線接點 5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49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8374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449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0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44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63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77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33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76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67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49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92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smtClean="0"/>
              <a:t>0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16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0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45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53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0553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6162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2921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2718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584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229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6978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444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12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23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76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60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6831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8470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1513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2267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8988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263671" y="937986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529143" y="305668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90580" y="284016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90580" y="41651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0629445" y="251136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4529143" y="537405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7990580" y="54805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990580" y="107903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10629445" y="400765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64" name="直線接點 63"/>
          <p:cNvCxnSpPr/>
          <p:nvPr/>
        </p:nvCxnSpPr>
        <p:spPr>
          <a:xfrm>
            <a:off x="2743205" y="545238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07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8388" y="150070"/>
            <a:ext cx="7238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A D-type positive-edge-triggered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7739F20A-C987-47D9-98BD-D10AB8FA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2"/>
          <a:stretch/>
        </p:blipFill>
        <p:spPr bwMode="auto">
          <a:xfrm>
            <a:off x="3804111" y="1223181"/>
            <a:ext cx="8387889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直線接點 12"/>
          <p:cNvCxnSpPr/>
          <p:nvPr/>
        </p:nvCxnSpPr>
        <p:spPr>
          <a:xfrm>
            <a:off x="971550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420586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420586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1869622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869622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231049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2310495" y="29308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2743205" y="29308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2753403" y="35183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1632862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555421" y="3991781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2081898" y="4563382"/>
            <a:ext cx="473523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274320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1191989" y="3975906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H="1">
            <a:off x="971550" y="4563382"/>
            <a:ext cx="220439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1175658" y="3991781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1632862" y="4563382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555421" y="4007656"/>
            <a:ext cx="64701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>
            <a:off x="2310495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>
            <a:off x="1869622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1420586" y="2840163"/>
            <a:ext cx="0" cy="3111601"/>
          </a:xfrm>
          <a:prstGeom prst="line">
            <a:avLst/>
          </a:prstGeom>
          <a:ln w="28575">
            <a:solidFill>
              <a:srgbClr val="FF33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191033" y="3224616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ClK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86309" y="426964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86309" y="514322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Q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994430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30" name="直線接點 29"/>
          <p:cNvCxnSpPr/>
          <p:nvPr/>
        </p:nvCxnSpPr>
        <p:spPr>
          <a:xfrm>
            <a:off x="951140" y="546145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978523" y="4988027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58776" y="297303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45" name="直線接點 44"/>
          <p:cNvCxnSpPr/>
          <p:nvPr/>
        </p:nvCxnSpPr>
        <p:spPr>
          <a:xfrm flipV="1">
            <a:off x="142058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408344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857380" y="4873978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1918446" y="29682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2351155" y="2977909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1</a:t>
            </a:r>
            <a:endParaRPr lang="zh-TW" altLang="en-US" sz="2400" b="1" dirty="0"/>
          </a:p>
        </p:txBody>
      </p:sp>
      <p:cxnSp>
        <p:nvCxnSpPr>
          <p:cNvPr id="61" name="直線接點 60"/>
          <p:cNvCxnSpPr/>
          <p:nvPr/>
        </p:nvCxnSpPr>
        <p:spPr>
          <a:xfrm flipV="1">
            <a:off x="2306416" y="4873978"/>
            <a:ext cx="0" cy="587476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2294169" y="5452837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803835" y="298360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0</a:t>
            </a:r>
            <a:endParaRPr lang="zh-TW" altLang="en-US" sz="2400" b="1" dirty="0"/>
          </a:p>
        </p:txBody>
      </p:sp>
      <p:cxnSp>
        <p:nvCxnSpPr>
          <p:cNvPr id="64" name="直線接點 63"/>
          <p:cNvCxnSpPr/>
          <p:nvPr/>
        </p:nvCxnSpPr>
        <p:spPr>
          <a:xfrm>
            <a:off x="2743205" y="5452384"/>
            <a:ext cx="449036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18388" y="704661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</a:p>
          <a:p>
            <a:pPr lvl="1"/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CP=0: (S,R) = (1,1), no state change</a:t>
            </a:r>
          </a:p>
          <a:p>
            <a:pPr lvl="1"/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CP=</a:t>
            </a:r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</a:t>
            </a:r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state change once</a:t>
            </a:r>
          </a:p>
          <a:p>
            <a:pPr lvl="1"/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CP=1: state holds</a:t>
            </a:r>
            <a:endParaRPr lang="en-US" altLang="zh-TW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2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9970" y="175150"/>
            <a:ext cx="847180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The edge-triggered D flip-flops</a:t>
            </a:r>
          </a:p>
          <a:p>
            <a:pPr lvl="1"/>
            <a:r>
              <a:rPr lang="en-US" altLang="zh-TW" sz="3200" dirty="0"/>
              <a:t>The most economical and efficient</a:t>
            </a:r>
          </a:p>
          <a:p>
            <a:pPr lvl="1"/>
            <a:r>
              <a:rPr lang="en-US" altLang="zh-TW" sz="3200" dirty="0"/>
              <a:t>Positive-edge and negative-edge</a:t>
            </a:r>
            <a:endParaRPr lang="en-US" altLang="zh-TW" sz="3200" dirty="0"/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CFC296D5-2804-40D8-BF1E-684712163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8" r="1140" b="27283"/>
          <a:stretch/>
        </p:blipFill>
        <p:spPr bwMode="auto">
          <a:xfrm>
            <a:off x="859970" y="2371046"/>
            <a:ext cx="9807434" cy="3637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584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584120" y="3897768"/>
            <a:ext cx="1867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25992" y="2612569"/>
            <a:ext cx="1623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D-Latch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25992" y="5478234"/>
            <a:ext cx="228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D 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337240" y="5412920"/>
            <a:ext cx="2626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J-K 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189928" y="5478234"/>
            <a:ext cx="2212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T Flip-Flop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9" name="手繪多邊形 8"/>
          <p:cNvSpPr/>
          <p:nvPr/>
        </p:nvSpPr>
        <p:spPr>
          <a:xfrm>
            <a:off x="2000249" y="4531179"/>
            <a:ext cx="2522764" cy="930728"/>
          </a:xfrm>
          <a:custGeom>
            <a:avLst/>
            <a:gdLst>
              <a:gd name="connsiteX0" fmla="*/ 2522764 w 2522764"/>
              <a:gd name="connsiteY0" fmla="*/ 0 h 930728"/>
              <a:gd name="connsiteX1" fmla="*/ 938893 w 2522764"/>
              <a:gd name="connsiteY1" fmla="*/ 359228 h 930728"/>
              <a:gd name="connsiteX2" fmla="*/ 0 w 2522764"/>
              <a:gd name="connsiteY2" fmla="*/ 930728 h 930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2764" h="930728">
                <a:moveTo>
                  <a:pt x="2522764" y="0"/>
                </a:moveTo>
                <a:cubicBezTo>
                  <a:pt x="1941059" y="102053"/>
                  <a:pt x="1359354" y="204107"/>
                  <a:pt x="938893" y="359228"/>
                </a:cubicBezTo>
                <a:cubicBezTo>
                  <a:pt x="518432" y="514349"/>
                  <a:pt x="259216" y="722538"/>
                  <a:pt x="0" y="930728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4514849" y="4523014"/>
            <a:ext cx="2775857" cy="987879"/>
          </a:xfrm>
          <a:custGeom>
            <a:avLst/>
            <a:gdLst>
              <a:gd name="connsiteX0" fmla="*/ 0 w 2775857"/>
              <a:gd name="connsiteY0" fmla="*/ 0 h 987879"/>
              <a:gd name="connsiteX1" fmla="*/ 1714500 w 2775857"/>
              <a:gd name="connsiteY1" fmla="*/ 375557 h 987879"/>
              <a:gd name="connsiteX2" fmla="*/ 2775857 w 2775857"/>
              <a:gd name="connsiteY2" fmla="*/ 987879 h 98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75857" h="987879">
                <a:moveTo>
                  <a:pt x="0" y="0"/>
                </a:moveTo>
                <a:cubicBezTo>
                  <a:pt x="625928" y="105455"/>
                  <a:pt x="1251857" y="210911"/>
                  <a:pt x="1714500" y="375557"/>
                </a:cubicBezTo>
                <a:cubicBezTo>
                  <a:pt x="2177143" y="540203"/>
                  <a:pt x="2476500" y="764041"/>
                  <a:pt x="2775857" y="987879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 10"/>
          <p:cNvSpPr/>
          <p:nvPr/>
        </p:nvSpPr>
        <p:spPr>
          <a:xfrm>
            <a:off x="4531178" y="4531179"/>
            <a:ext cx="146957" cy="775607"/>
          </a:xfrm>
          <a:custGeom>
            <a:avLst/>
            <a:gdLst>
              <a:gd name="connsiteX0" fmla="*/ 0 w 146957"/>
              <a:gd name="connsiteY0" fmla="*/ 0 h 775607"/>
              <a:gd name="connsiteX1" fmla="*/ 146957 w 146957"/>
              <a:gd name="connsiteY1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957" h="775607">
                <a:moveTo>
                  <a:pt x="0" y="0"/>
                </a:moveTo>
                <a:lnTo>
                  <a:pt x="146957" y="775607"/>
                </a:ln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1179666" y="3265714"/>
            <a:ext cx="698119" cy="2188029"/>
          </a:xfrm>
          <a:custGeom>
            <a:avLst/>
            <a:gdLst>
              <a:gd name="connsiteX0" fmla="*/ 461355 w 698119"/>
              <a:gd name="connsiteY0" fmla="*/ 0 h 2188029"/>
              <a:gd name="connsiteX1" fmla="*/ 4155 w 698119"/>
              <a:gd name="connsiteY1" fmla="*/ 1134836 h 2188029"/>
              <a:gd name="connsiteX2" fmla="*/ 698119 w 698119"/>
              <a:gd name="connsiteY2" fmla="*/ 2188029 h 2188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119" h="2188029">
                <a:moveTo>
                  <a:pt x="461355" y="0"/>
                </a:moveTo>
                <a:cubicBezTo>
                  <a:pt x="213024" y="385082"/>
                  <a:pt x="-35306" y="770165"/>
                  <a:pt x="4155" y="1134836"/>
                </a:cubicBezTo>
                <a:cubicBezTo>
                  <a:pt x="43616" y="1499507"/>
                  <a:pt x="370867" y="1843768"/>
                  <a:pt x="698119" y="2188029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825992" y="706202"/>
            <a:ext cx="5610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SR-Latch (with NAND gates)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手繪多邊形 14"/>
          <p:cNvSpPr/>
          <p:nvPr/>
        </p:nvSpPr>
        <p:spPr>
          <a:xfrm>
            <a:off x="1281609" y="1355271"/>
            <a:ext cx="400233" cy="1387929"/>
          </a:xfrm>
          <a:custGeom>
            <a:avLst/>
            <a:gdLst>
              <a:gd name="connsiteX0" fmla="*/ 400233 w 400233"/>
              <a:gd name="connsiteY0" fmla="*/ 0 h 1387929"/>
              <a:gd name="connsiteX1" fmla="*/ 183 w 400233"/>
              <a:gd name="connsiteY1" fmla="*/ 620486 h 1387929"/>
              <a:gd name="connsiteX2" fmla="*/ 359412 w 400233"/>
              <a:gd name="connsiteY2" fmla="*/ 1387929 h 138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233" h="1387929">
                <a:moveTo>
                  <a:pt x="400233" y="0"/>
                </a:moveTo>
                <a:cubicBezTo>
                  <a:pt x="203609" y="194582"/>
                  <a:pt x="6986" y="389165"/>
                  <a:pt x="183" y="620486"/>
                </a:cubicBezTo>
                <a:cubicBezTo>
                  <a:pt x="-6620" y="851807"/>
                  <a:pt x="176396" y="1119868"/>
                  <a:pt x="359412" y="1387929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6728770" y="719792"/>
            <a:ext cx="5292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SR-Latch (with NOR gates)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8" name="手繪多邊形 17"/>
          <p:cNvSpPr/>
          <p:nvPr/>
        </p:nvSpPr>
        <p:spPr>
          <a:xfrm>
            <a:off x="6384471" y="1045029"/>
            <a:ext cx="326572" cy="0"/>
          </a:xfrm>
          <a:custGeom>
            <a:avLst/>
            <a:gdLst>
              <a:gd name="connsiteX0" fmla="*/ 326572 w 326572"/>
              <a:gd name="connsiteY0" fmla="*/ 0 h 0"/>
              <a:gd name="connsiteX1" fmla="*/ 0 w 32657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6572">
                <a:moveTo>
                  <a:pt x="326572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 flipV="1">
            <a:off x="874978" y="800100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1167309" y="800100"/>
            <a:ext cx="212272" cy="13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99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765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0: 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000749" y="92814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3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0: 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000749" y="92814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27571" y="92814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0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0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000749" y="9281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58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0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000749" y="9281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454117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64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1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8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1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106886" y="103389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1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Q’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Q’</a:t>
            </a:r>
            <a:endParaRPr lang="en-US" altLang="zh-TW" sz="32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106886" y="103389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50562" y="103389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9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Q’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Q’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1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Q’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Q’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000750" y="97272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06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CDF7F92A-85C8-4D5D-819A-D86A6CE8E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9"/>
          <a:stretch/>
        </p:blipFill>
        <p:spPr bwMode="auto">
          <a:xfrm>
            <a:off x="1668234" y="0"/>
            <a:ext cx="10349593" cy="39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11343" y="76591"/>
            <a:ext cx="2090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JK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8572" y="4168072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JQ‘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K’Q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0: 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Q</a:t>
            </a:r>
            <a:r>
              <a:rPr lang="en-US" altLang="zh-TW" sz="3200" dirty="0"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Q’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Q’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59429" y="231049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59429" y="97272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890407" y="711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110593" y="162988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90407" y="2048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000750" y="97272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84449" y="97272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380908" y="2907658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15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E1E766A1-E605-45CC-B6F7-AA9633C08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15"/>
          <a:stretch/>
        </p:blipFill>
        <p:spPr bwMode="auto">
          <a:xfrm>
            <a:off x="2016172" y="3959679"/>
            <a:ext cx="4026296" cy="2898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552" y="3002414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99505FD6-002C-40CC-9DB3-E96961578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314" y="248041"/>
            <a:ext cx="3378584" cy="293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265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E1E766A1-E605-45CC-B6F7-AA9633C08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15"/>
          <a:stretch/>
        </p:blipFill>
        <p:spPr bwMode="auto">
          <a:xfrm>
            <a:off x="6400393" y="305191"/>
            <a:ext cx="4026296" cy="2898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dirty="0" smtClean="0"/>
              <a:t>T = 0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</a:t>
            </a:r>
            <a:r>
              <a:rPr lang="en-US" altLang="zh-TW" sz="3200" dirty="0"/>
              <a:t>, no change</a:t>
            </a:r>
          </a:p>
          <a:p>
            <a:pPr lvl="2"/>
            <a:r>
              <a:rPr lang="en-US" altLang="zh-TW" sz="3200" dirty="0" smtClean="0"/>
              <a:t>T = 1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Q’ </a:t>
            </a:r>
            <a:r>
              <a:rPr lang="en-US" altLang="zh-TW" sz="3200" dirty="0" smtClean="0"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Symbol" panose="05050102010706020507" pitchFamily="18" charset="2"/>
              </a:rPr>
              <a:t> </a:t>
            </a:r>
            <a:r>
              <a:rPr lang="en-US" altLang="zh-TW" sz="3200" dirty="0" smtClean="0"/>
              <a:t>Q = Q‘ </a:t>
            </a:r>
            <a:endParaRPr lang="en-US" altLang="zh-TW" sz="3200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4393" y="3708576"/>
            <a:ext cx="9525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J-K </a:t>
            </a:r>
            <a:r>
              <a:rPr lang="en-US" altLang="zh-TW" sz="3200" b="1" dirty="0">
                <a:solidFill>
                  <a:srgbClr val="C00000"/>
                </a:solidFill>
              </a:rPr>
              <a:t>flip-flop</a:t>
            </a: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0: 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no change</a:t>
            </a: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0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dirty="0" smtClean="0">
                <a:latin typeface="+mj-lt"/>
              </a:rPr>
              <a:t>J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</a:t>
            </a:r>
            <a:r>
              <a:rPr lang="en-US" altLang="zh-TW" sz="3200" dirty="0">
                <a:latin typeface="+mj-lt"/>
              </a:rPr>
              <a:t>, </a:t>
            </a:r>
            <a:r>
              <a:rPr lang="en-US" altLang="zh-TW" sz="3200" dirty="0" smtClean="0">
                <a:latin typeface="+mj-lt"/>
              </a:rPr>
              <a:t>K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>
                <a:latin typeface="+mj-lt"/>
              </a:rPr>
              <a:t>: </a:t>
            </a:r>
            <a:r>
              <a:rPr lang="en-US" altLang="zh-TW" sz="3200" dirty="0" smtClean="0">
                <a:latin typeface="+mj-lt"/>
              </a:rPr>
              <a:t>D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</a:t>
            </a:r>
            <a:r>
              <a:rPr lang="en-US" altLang="zh-TW" sz="32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Q </a:t>
            </a:r>
            <a:r>
              <a:rPr lang="en-US" altLang="zh-TW" sz="3200" dirty="0" smtClean="0">
                <a:latin typeface="+mj-lt"/>
              </a:rPr>
              <a:t>= 1</a:t>
            </a:r>
            <a:endParaRPr lang="en-US" altLang="zh-TW" sz="3200" dirty="0">
              <a:latin typeface="+mj-lt"/>
            </a:endParaRP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J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K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D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Q’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Q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 Q’</a:t>
            </a:r>
            <a:endParaRPr lang="en-US" altLang="zh-TW" sz="32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400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dirty="0" smtClean="0"/>
              <a:t>T = 0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</a:t>
            </a:r>
            <a:r>
              <a:rPr lang="en-US" altLang="zh-TW" sz="3200" dirty="0"/>
              <a:t>, no change</a:t>
            </a:r>
          </a:p>
          <a:p>
            <a:pPr lvl="2"/>
            <a:r>
              <a:rPr lang="en-US" altLang="zh-TW" sz="3200" dirty="0" smtClean="0"/>
              <a:t>T = 1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Q’ </a:t>
            </a:r>
            <a:r>
              <a:rPr lang="en-US" altLang="zh-TW" sz="3200" dirty="0" smtClean="0"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Symbol" panose="05050102010706020507" pitchFamily="18" charset="2"/>
              </a:rPr>
              <a:t> </a:t>
            </a:r>
            <a:r>
              <a:rPr lang="en-US" altLang="zh-TW" sz="3200" dirty="0" smtClean="0"/>
              <a:t>Q = Q‘ </a:t>
            </a:r>
            <a:endParaRPr lang="en-US" altLang="zh-TW" sz="3200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567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</a:rPr>
              <a:t>T = 0</a:t>
            </a:r>
            <a:r>
              <a:rPr lang="en-US" altLang="zh-TW" sz="3200" b="1" dirty="0">
                <a:solidFill>
                  <a:srgbClr val="C00000"/>
                </a:solidFill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 = Q</a:t>
            </a:r>
            <a:r>
              <a:rPr lang="en-US" altLang="zh-TW" sz="3200" b="1" dirty="0">
                <a:solidFill>
                  <a:srgbClr val="C00000"/>
                </a:solidFill>
              </a:rPr>
              <a:t>, no change</a:t>
            </a:r>
          </a:p>
          <a:p>
            <a:pPr lvl="2"/>
            <a:r>
              <a:rPr lang="en-US" altLang="zh-TW" sz="3200" dirty="0" smtClean="0"/>
              <a:t>T = 1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Q’ </a:t>
            </a:r>
            <a:r>
              <a:rPr lang="en-US" altLang="zh-TW" sz="3200" dirty="0" smtClean="0"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Symbol" panose="05050102010706020507" pitchFamily="18" charset="2"/>
              </a:rPr>
              <a:t> </a:t>
            </a:r>
            <a:r>
              <a:rPr lang="en-US" altLang="zh-TW" sz="3200" dirty="0" smtClean="0"/>
              <a:t>Q = Q‘ </a:t>
            </a:r>
            <a:endParaRPr lang="en-US" altLang="zh-TW" sz="3200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621236" y="17488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93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</a:rPr>
              <a:t>T = 0</a:t>
            </a:r>
            <a:r>
              <a:rPr lang="en-US" altLang="zh-TW" sz="3200" b="1" dirty="0">
                <a:solidFill>
                  <a:srgbClr val="C00000"/>
                </a:solidFill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 = Q</a:t>
            </a:r>
            <a:r>
              <a:rPr lang="en-US" altLang="zh-TW" sz="3200" b="1" dirty="0">
                <a:solidFill>
                  <a:srgbClr val="C00000"/>
                </a:solidFill>
              </a:rPr>
              <a:t>, no change</a:t>
            </a:r>
          </a:p>
          <a:p>
            <a:pPr lvl="2"/>
            <a:r>
              <a:rPr lang="en-US" altLang="zh-TW" sz="3200" dirty="0" smtClean="0"/>
              <a:t>T = 1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Q’ </a:t>
            </a:r>
            <a:r>
              <a:rPr lang="en-US" altLang="zh-TW" sz="3200" dirty="0" smtClean="0"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Symbol" panose="05050102010706020507" pitchFamily="18" charset="2"/>
              </a:rPr>
              <a:t> </a:t>
            </a:r>
            <a:r>
              <a:rPr lang="en-US" altLang="zh-TW" sz="3200" dirty="0" smtClean="0"/>
              <a:t>Q = Q‘ </a:t>
            </a:r>
            <a:endParaRPr lang="en-US" altLang="zh-TW" sz="3200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621236" y="17488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753201" y="1487248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52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</a:rPr>
              <a:t>T = 0</a:t>
            </a:r>
            <a:r>
              <a:rPr lang="en-US" altLang="zh-TW" sz="3200" b="1" dirty="0">
                <a:solidFill>
                  <a:srgbClr val="C00000"/>
                </a:solidFill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 = Q</a:t>
            </a:r>
            <a:r>
              <a:rPr lang="en-US" altLang="zh-TW" sz="3200" b="1" dirty="0">
                <a:solidFill>
                  <a:srgbClr val="C00000"/>
                </a:solidFill>
              </a:rPr>
              <a:t>, no change</a:t>
            </a:r>
          </a:p>
          <a:p>
            <a:pPr lvl="2"/>
            <a:r>
              <a:rPr lang="en-US" altLang="zh-TW" sz="3200" dirty="0" smtClean="0"/>
              <a:t>T = 1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Q’ </a:t>
            </a:r>
            <a:r>
              <a:rPr lang="en-US" altLang="zh-TW" sz="3200" dirty="0" smtClean="0">
                <a:sym typeface="Wingdings" panose="05000000000000000000" pitchFamily="2" charset="2"/>
              </a:rPr>
              <a:t></a:t>
            </a:r>
            <a:r>
              <a:rPr lang="en-US" altLang="zh-TW" sz="3200" dirty="0" smtClean="0">
                <a:latin typeface="Symbol" panose="05050102010706020507" pitchFamily="18" charset="2"/>
              </a:rPr>
              <a:t> </a:t>
            </a:r>
            <a:r>
              <a:rPr lang="en-US" altLang="zh-TW" sz="3200" dirty="0" smtClean="0"/>
              <a:t>Q = Q‘ </a:t>
            </a:r>
            <a:endParaRPr lang="en-US" altLang="zh-TW" sz="3200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621236" y="17488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0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753201" y="1487248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398430" y="1404573"/>
            <a:ext cx="450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08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dirty="0" smtClean="0"/>
              <a:t>T = 0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</a:t>
            </a:r>
            <a:r>
              <a:rPr lang="en-US" altLang="zh-TW" sz="3200" dirty="0"/>
              <a:t>, no change</a:t>
            </a: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</a:rPr>
              <a:t>T = 1</a:t>
            </a:r>
            <a:r>
              <a:rPr lang="en-US" altLang="zh-TW" sz="3200" b="1" dirty="0">
                <a:solidFill>
                  <a:srgbClr val="C00000"/>
                </a:solidFill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 = Q’ </a:t>
            </a:r>
            <a:r>
              <a:rPr lang="en-US" altLang="zh-TW" sz="32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Symbol" panose="05050102010706020507" pitchFamily="18" charset="2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Q = Q‘ 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621236" y="17488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14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dirty="0" smtClean="0"/>
              <a:t>T = 0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</a:t>
            </a:r>
            <a:r>
              <a:rPr lang="en-US" altLang="zh-TW" sz="3200" dirty="0"/>
              <a:t>, no change</a:t>
            </a: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</a:rPr>
              <a:t>T = 1</a:t>
            </a:r>
            <a:r>
              <a:rPr lang="en-US" altLang="zh-TW" sz="3200" b="1" dirty="0">
                <a:solidFill>
                  <a:srgbClr val="C00000"/>
                </a:solidFill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 = Q’ </a:t>
            </a:r>
            <a:r>
              <a:rPr lang="en-US" altLang="zh-TW" sz="32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Symbol" panose="05050102010706020507" pitchFamily="18" charset="2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Q = Q‘ 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621236" y="17488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721571" y="14300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19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7431" y="125577"/>
            <a:ext cx="18517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 flip-flop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393" y="12256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3200" dirty="0"/>
              <a:t>D = </a:t>
            </a:r>
            <a:r>
              <a:rPr lang="en-US" altLang="zh-TW" sz="3200" dirty="0" smtClean="0"/>
              <a:t>T ⊕ Q </a:t>
            </a:r>
            <a:r>
              <a:rPr lang="en-US" altLang="zh-TW" sz="3200" dirty="0"/>
              <a:t>= </a:t>
            </a:r>
            <a:r>
              <a:rPr lang="en-US" altLang="zh-TW" sz="3200" dirty="0" smtClean="0"/>
              <a:t>TQ‘ + T‘Q</a:t>
            </a:r>
            <a:endParaRPr lang="en-US" altLang="zh-TW" sz="3200" dirty="0"/>
          </a:p>
          <a:p>
            <a:pPr lvl="2"/>
            <a:r>
              <a:rPr lang="en-US" altLang="zh-TW" sz="3200" dirty="0" smtClean="0"/>
              <a:t>T = 0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D = Q</a:t>
            </a:r>
            <a:r>
              <a:rPr lang="en-US" altLang="zh-TW" sz="3200" dirty="0"/>
              <a:t>, no change</a:t>
            </a:r>
          </a:p>
          <a:p>
            <a:pPr lvl="2"/>
            <a:r>
              <a:rPr lang="en-US" altLang="zh-TW" sz="3200" b="1" dirty="0" smtClean="0">
                <a:solidFill>
                  <a:srgbClr val="C00000"/>
                </a:solidFill>
              </a:rPr>
              <a:t>T = 1</a:t>
            </a:r>
            <a:r>
              <a:rPr lang="en-US" altLang="zh-TW" sz="3200" b="1" dirty="0">
                <a:solidFill>
                  <a:srgbClr val="C00000"/>
                </a:solidFill>
              </a:rPr>
              <a:t>: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D = Q’ </a:t>
            </a:r>
            <a:r>
              <a:rPr lang="en-US" altLang="zh-TW" sz="32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altLang="zh-TW" sz="3200" b="1" dirty="0" smtClean="0">
                <a:solidFill>
                  <a:srgbClr val="C00000"/>
                </a:solidFill>
                <a:latin typeface="Symbol" panose="05050102010706020507" pitchFamily="18" charset="2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Q = Q‘ 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AD9EE370-55F0-4C18-B441-25B5147D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252" y="0"/>
            <a:ext cx="5943448" cy="3855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6621236" y="174885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1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721571" y="14300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456607" y="140457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Q’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4108" y="101084"/>
            <a:ext cx="45425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Characteristic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Tables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2" t="69311" r="1557"/>
          <a:stretch/>
        </p:blipFill>
        <p:spPr bwMode="auto">
          <a:xfrm>
            <a:off x="6466115" y="3947932"/>
            <a:ext cx="5331286" cy="256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6" t="13130" r="21148" b="44884"/>
          <a:stretch/>
        </p:blipFill>
        <p:spPr bwMode="auto">
          <a:xfrm>
            <a:off x="97150" y="1765806"/>
            <a:ext cx="6236876" cy="354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1" r="60758"/>
          <a:stretch/>
        </p:blipFill>
        <p:spPr bwMode="auto">
          <a:xfrm>
            <a:off x="6466115" y="973871"/>
            <a:ext cx="4252607" cy="26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481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6" t="13130" r="21148" b="44884"/>
          <a:stretch/>
        </p:blipFill>
        <p:spPr bwMode="auto">
          <a:xfrm>
            <a:off x="421035" y="933049"/>
            <a:ext cx="6236876" cy="354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2786743" y="4786311"/>
            <a:ext cx="655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altLang="zh-TW" sz="4800" b="1" dirty="0" smtClean="0">
                <a:solidFill>
                  <a:srgbClr val="0000FF"/>
                </a:solidFill>
              </a:rPr>
              <a:t>Q(t + 1</a:t>
            </a:r>
            <a:r>
              <a:rPr lang="en-US" altLang="zh-TW" sz="4800" b="1" dirty="0">
                <a:solidFill>
                  <a:srgbClr val="0000FF"/>
                </a:solidFill>
              </a:rPr>
              <a:t>) = </a:t>
            </a:r>
            <a:r>
              <a:rPr lang="en-US" altLang="zh-TW" sz="4800" b="1" dirty="0" smtClean="0">
                <a:solidFill>
                  <a:srgbClr val="0000FF"/>
                </a:solidFill>
              </a:rPr>
              <a:t>JQ‘ + K‘Q</a:t>
            </a:r>
            <a:endParaRPr lang="en-US" altLang="zh-TW" sz="4800" b="1" dirty="0">
              <a:solidFill>
                <a:srgbClr val="00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1035" y="64431"/>
            <a:ext cx="52718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Characteristic Equations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78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6" t="13130" r="21148" b="44884"/>
          <a:stretch/>
        </p:blipFill>
        <p:spPr bwMode="auto">
          <a:xfrm>
            <a:off x="421035" y="933049"/>
            <a:ext cx="6236876" cy="354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7021288" y="1755321"/>
            <a:ext cx="48169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3200" b="1" dirty="0" smtClean="0"/>
              <a:t>Q(t + 1</a:t>
            </a:r>
            <a:r>
              <a:rPr lang="en-US" altLang="zh-TW" sz="3200" b="1" dirty="0"/>
              <a:t>) =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r>
              <a:rPr lang="en-US" altLang="zh-TW" sz="3200" b="1" dirty="0" smtClean="0"/>
              <a:t>Q‘ 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0‘</a:t>
            </a:r>
            <a:r>
              <a:rPr lang="en-US" altLang="zh-TW" sz="3200" b="1" dirty="0" smtClean="0"/>
              <a:t>Q = Q</a:t>
            </a:r>
            <a:endParaRPr lang="en-US" altLang="zh-TW" sz="3200" b="1" dirty="0"/>
          </a:p>
        </p:txBody>
      </p:sp>
      <p:sp>
        <p:nvSpPr>
          <p:cNvPr id="9" name="矩形 8"/>
          <p:cNvSpPr/>
          <p:nvPr/>
        </p:nvSpPr>
        <p:spPr>
          <a:xfrm>
            <a:off x="421035" y="64431"/>
            <a:ext cx="52718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Characteristic Equations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021286" y="2265440"/>
            <a:ext cx="48169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3200" b="1" dirty="0" smtClean="0"/>
              <a:t>Q(t + 1</a:t>
            </a:r>
            <a:r>
              <a:rPr lang="en-US" altLang="zh-TW" sz="3200" b="1" dirty="0"/>
              <a:t>) =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r>
              <a:rPr lang="en-US" altLang="zh-TW" sz="3200" b="1" dirty="0" smtClean="0"/>
              <a:t>Q‘ 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1‘</a:t>
            </a:r>
            <a:r>
              <a:rPr lang="en-US" altLang="zh-TW" sz="3200" b="1" dirty="0" smtClean="0"/>
              <a:t>Q = 0</a:t>
            </a:r>
            <a:endParaRPr lang="en-US" altLang="zh-TW" sz="3200" b="1" dirty="0"/>
          </a:p>
        </p:txBody>
      </p:sp>
      <p:sp>
        <p:nvSpPr>
          <p:cNvPr id="7" name="矩形 6"/>
          <p:cNvSpPr/>
          <p:nvPr/>
        </p:nvSpPr>
        <p:spPr>
          <a:xfrm>
            <a:off x="7021286" y="2775559"/>
            <a:ext cx="48169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3200" b="1" dirty="0" smtClean="0"/>
              <a:t>Q(t + 1</a:t>
            </a:r>
            <a:r>
              <a:rPr lang="en-US" altLang="zh-TW" sz="3200" b="1" dirty="0"/>
              <a:t>) =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r>
              <a:rPr lang="en-US" altLang="zh-TW" sz="3200" b="1" dirty="0" smtClean="0"/>
              <a:t>Q‘ 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0‘</a:t>
            </a:r>
            <a:r>
              <a:rPr lang="en-US" altLang="zh-TW" sz="3200" b="1" dirty="0" smtClean="0"/>
              <a:t>Q = 1</a:t>
            </a:r>
            <a:endParaRPr lang="en-US" altLang="zh-TW" sz="3200" b="1" dirty="0"/>
          </a:p>
        </p:txBody>
      </p:sp>
      <p:sp>
        <p:nvSpPr>
          <p:cNvPr id="10" name="矩形 9"/>
          <p:cNvSpPr/>
          <p:nvPr/>
        </p:nvSpPr>
        <p:spPr>
          <a:xfrm>
            <a:off x="7021286" y="3285678"/>
            <a:ext cx="48169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3200" b="1" dirty="0" smtClean="0"/>
              <a:t>Q(t + 1</a:t>
            </a:r>
            <a:r>
              <a:rPr lang="en-US" altLang="zh-TW" sz="3200" b="1" dirty="0"/>
              <a:t>) =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r>
              <a:rPr lang="en-US" altLang="zh-TW" sz="3200" b="1" dirty="0" smtClean="0"/>
              <a:t>Q‘ +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1‘</a:t>
            </a:r>
            <a:r>
              <a:rPr lang="en-US" altLang="zh-TW" sz="3200" b="1" dirty="0" smtClean="0"/>
              <a:t>Q = Q’</a:t>
            </a:r>
            <a:endParaRPr lang="en-US" altLang="zh-TW" sz="3200" b="1" dirty="0"/>
          </a:p>
        </p:txBody>
      </p:sp>
      <p:sp>
        <p:nvSpPr>
          <p:cNvPr id="11" name="矩形 10"/>
          <p:cNvSpPr/>
          <p:nvPr/>
        </p:nvSpPr>
        <p:spPr>
          <a:xfrm>
            <a:off x="2786743" y="4786311"/>
            <a:ext cx="655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altLang="zh-TW" sz="4800" b="1" dirty="0" smtClean="0">
                <a:solidFill>
                  <a:srgbClr val="0000FF"/>
                </a:solidFill>
              </a:rPr>
              <a:t>Q(t + 1</a:t>
            </a:r>
            <a:r>
              <a:rPr lang="en-US" altLang="zh-TW" sz="4800" b="1" dirty="0">
                <a:solidFill>
                  <a:srgbClr val="0000FF"/>
                </a:solidFill>
              </a:rPr>
              <a:t>) = </a:t>
            </a:r>
            <a:r>
              <a:rPr lang="en-US" altLang="zh-TW" sz="4800" b="1" dirty="0" smtClean="0">
                <a:solidFill>
                  <a:srgbClr val="0000FF"/>
                </a:solidFill>
              </a:rPr>
              <a:t>JQ‘ + K‘Q</a:t>
            </a:r>
            <a:endParaRPr lang="en-US" altLang="zh-TW" sz="4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55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4108" y="101084"/>
            <a:ext cx="45425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Characteristic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Tables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1" r="60758"/>
          <a:stretch/>
        </p:blipFill>
        <p:spPr bwMode="auto">
          <a:xfrm>
            <a:off x="302079" y="1373921"/>
            <a:ext cx="4252607" cy="26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579702" y="1947504"/>
            <a:ext cx="31149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zh-TW" sz="4400" b="1" dirty="0" smtClean="0">
                <a:solidFill>
                  <a:srgbClr val="0000FF"/>
                </a:solidFill>
              </a:rPr>
              <a:t>Q(t + 1</a:t>
            </a:r>
            <a:r>
              <a:rPr lang="en-US" altLang="zh-TW" sz="4400" b="1" dirty="0">
                <a:solidFill>
                  <a:srgbClr val="0000FF"/>
                </a:solidFill>
              </a:rPr>
              <a:t>) = D</a:t>
            </a:r>
            <a:endParaRPr lang="en-US" altLang="zh-TW" sz="4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58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4108" y="101084"/>
            <a:ext cx="45425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Characteristic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Tables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2" t="69311" r="1557"/>
          <a:stretch/>
        </p:blipFill>
        <p:spPr bwMode="auto">
          <a:xfrm>
            <a:off x="244108" y="1147582"/>
            <a:ext cx="5331286" cy="256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52929" y="1662855"/>
            <a:ext cx="48221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TW" sz="4400" b="1" dirty="0" smtClean="0">
                <a:solidFill>
                  <a:srgbClr val="0000FF"/>
                </a:solidFill>
              </a:rPr>
              <a:t>Q(t + 1</a:t>
            </a:r>
            <a:r>
              <a:rPr lang="en-US" altLang="zh-TW" sz="4400" b="1" dirty="0">
                <a:solidFill>
                  <a:srgbClr val="0000FF"/>
                </a:solidFill>
              </a:rPr>
              <a:t>) = T⊕Q</a:t>
            </a:r>
            <a:endParaRPr lang="en-US" altLang="zh-TW" sz="4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02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4108" y="101084"/>
            <a:ext cx="45425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Characteristic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Tables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76C57D5-DB86-4F7B-B389-88F204395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62" t="69311" r="1557"/>
          <a:stretch/>
        </p:blipFill>
        <p:spPr bwMode="auto">
          <a:xfrm>
            <a:off x="244108" y="1147582"/>
            <a:ext cx="5331286" cy="256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52929" y="1662855"/>
            <a:ext cx="48221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zh-TW" sz="4400" b="1" dirty="0" smtClean="0">
                <a:solidFill>
                  <a:srgbClr val="0000FF"/>
                </a:solidFill>
              </a:rPr>
              <a:t>Q(t + 1</a:t>
            </a:r>
            <a:r>
              <a:rPr lang="en-US" altLang="zh-TW" sz="4400" b="1" dirty="0">
                <a:solidFill>
                  <a:srgbClr val="0000FF"/>
                </a:solidFill>
              </a:rPr>
              <a:t>) = T⊕Q</a:t>
            </a:r>
            <a:endParaRPr lang="en-US" altLang="zh-TW" sz="4400" b="1" dirty="0">
              <a:solidFill>
                <a:srgbClr val="0000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48971" y="2685959"/>
            <a:ext cx="37032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zh-TW" sz="3200" b="1" dirty="0" smtClean="0"/>
              <a:t>Q(t + 1</a:t>
            </a:r>
            <a:r>
              <a:rPr lang="en-US" altLang="zh-TW" sz="3200" b="1" dirty="0"/>
              <a:t>) = </a:t>
            </a:r>
            <a:r>
              <a:rPr lang="en-US" altLang="zh-TW" sz="3200" b="1" dirty="0">
                <a:solidFill>
                  <a:srgbClr val="C00000"/>
                </a:solidFill>
              </a:rPr>
              <a:t>0</a:t>
            </a:r>
            <a:r>
              <a:rPr lang="en-US" altLang="zh-TW" sz="3200" b="1" dirty="0" smtClean="0"/>
              <a:t>⊕Q = Q</a:t>
            </a:r>
            <a:endParaRPr lang="en-US" altLang="zh-TW" sz="3200" b="1" dirty="0"/>
          </a:p>
        </p:txBody>
      </p:sp>
      <p:sp>
        <p:nvSpPr>
          <p:cNvPr id="7" name="矩形 6"/>
          <p:cNvSpPr/>
          <p:nvPr/>
        </p:nvSpPr>
        <p:spPr>
          <a:xfrm>
            <a:off x="6448971" y="3232009"/>
            <a:ext cx="3801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en-US" altLang="zh-TW" sz="3200" b="1" dirty="0" smtClean="0"/>
              <a:t>Q(t + 1</a:t>
            </a:r>
            <a:r>
              <a:rPr lang="en-US" altLang="zh-TW" sz="3200" b="1" dirty="0"/>
              <a:t>) =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r>
              <a:rPr lang="en-US" altLang="zh-TW" sz="3200" b="1" dirty="0" smtClean="0"/>
              <a:t>⊕Q = Q’</a:t>
            </a:r>
            <a:endParaRPr lang="en-US" altLang="zh-TW" sz="3200" b="1" dirty="0"/>
          </a:p>
        </p:txBody>
      </p:sp>
    </p:spTree>
    <p:extLst>
      <p:ext uri="{BB962C8B-B14F-4D97-AF65-F5344CB8AC3E}">
        <p14:creationId xmlns:p14="http://schemas.microsoft.com/office/powerpoint/2010/main" val="8965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271</TotalTime>
  <Words>3349</Words>
  <Application>Microsoft Office PowerPoint</Application>
  <PresentationFormat>寬螢幕</PresentationFormat>
  <Paragraphs>1315</Paragraphs>
  <Slides>175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175</vt:i4>
      </vt:variant>
    </vt:vector>
  </HeadingPairs>
  <TitlesOfParts>
    <vt:vector size="181" baseType="lpstr">
      <vt:lpstr>新細明體</vt:lpstr>
      <vt:lpstr>Arial</vt:lpstr>
      <vt:lpstr>Symbol</vt:lpstr>
      <vt:lpstr>Tw Cen MT</vt:lpstr>
      <vt:lpstr>Wingdings</vt:lpstr>
      <vt:lpstr>小水滴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52</cp:revision>
  <dcterms:created xsi:type="dcterms:W3CDTF">2021-12-16T08:00:32Z</dcterms:created>
  <dcterms:modified xsi:type="dcterms:W3CDTF">2021-12-23T03:41:16Z</dcterms:modified>
</cp:coreProperties>
</file>