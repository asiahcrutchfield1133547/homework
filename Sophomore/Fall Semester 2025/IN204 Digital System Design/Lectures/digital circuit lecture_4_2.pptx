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4" r:id="rId8"/>
    <p:sldId id="263" r:id="rId9"/>
    <p:sldId id="261" r:id="rId10"/>
    <p:sldId id="265" r:id="rId11"/>
    <p:sldId id="266" r:id="rId12"/>
    <p:sldId id="267" r:id="rId13"/>
    <p:sldId id="370" r:id="rId14"/>
    <p:sldId id="371" r:id="rId15"/>
    <p:sldId id="372" r:id="rId16"/>
    <p:sldId id="397" r:id="rId17"/>
    <p:sldId id="398" r:id="rId18"/>
    <p:sldId id="399" r:id="rId19"/>
    <p:sldId id="400" r:id="rId20"/>
    <p:sldId id="401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6" r:id="rId29"/>
    <p:sldId id="275" r:id="rId30"/>
    <p:sldId id="277" r:id="rId31"/>
    <p:sldId id="278" r:id="rId32"/>
    <p:sldId id="279" r:id="rId33"/>
    <p:sldId id="280" r:id="rId34"/>
    <p:sldId id="281" r:id="rId35"/>
    <p:sldId id="286" r:id="rId36"/>
    <p:sldId id="284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5" r:id="rId45"/>
    <p:sldId id="314" r:id="rId46"/>
    <p:sldId id="306" r:id="rId47"/>
    <p:sldId id="288" r:id="rId48"/>
    <p:sldId id="289" r:id="rId49"/>
    <p:sldId id="290" r:id="rId50"/>
    <p:sldId id="303" r:id="rId51"/>
    <p:sldId id="296" r:id="rId52"/>
    <p:sldId id="300" r:id="rId53"/>
    <p:sldId id="299" r:id="rId54"/>
    <p:sldId id="301" r:id="rId55"/>
    <p:sldId id="298" r:id="rId56"/>
    <p:sldId id="297" r:id="rId57"/>
    <p:sldId id="304" r:id="rId58"/>
    <p:sldId id="302" r:id="rId59"/>
    <p:sldId id="30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8" r:id="rId68"/>
    <p:sldId id="324" r:id="rId69"/>
    <p:sldId id="329" r:id="rId70"/>
    <p:sldId id="325" r:id="rId71"/>
    <p:sldId id="330" r:id="rId72"/>
    <p:sldId id="331" r:id="rId73"/>
    <p:sldId id="323" r:id="rId74"/>
    <p:sldId id="332" r:id="rId75"/>
    <p:sldId id="333" r:id="rId76"/>
    <p:sldId id="334" r:id="rId77"/>
    <p:sldId id="335" r:id="rId78"/>
    <p:sldId id="336" r:id="rId79"/>
    <p:sldId id="338" r:id="rId80"/>
    <p:sldId id="337" r:id="rId81"/>
    <p:sldId id="339" r:id="rId82"/>
    <p:sldId id="340" r:id="rId83"/>
    <p:sldId id="341" r:id="rId84"/>
    <p:sldId id="342" r:id="rId85"/>
    <p:sldId id="343" r:id="rId86"/>
    <p:sldId id="344" r:id="rId87"/>
    <p:sldId id="346" r:id="rId88"/>
    <p:sldId id="347" r:id="rId89"/>
    <p:sldId id="348" r:id="rId90"/>
    <p:sldId id="357" r:id="rId91"/>
    <p:sldId id="349" r:id="rId92"/>
    <p:sldId id="358" r:id="rId93"/>
    <p:sldId id="355" r:id="rId94"/>
    <p:sldId id="356" r:id="rId95"/>
    <p:sldId id="359" r:id="rId96"/>
    <p:sldId id="351" r:id="rId97"/>
    <p:sldId id="360" r:id="rId98"/>
    <p:sldId id="361" r:id="rId99"/>
    <p:sldId id="362" r:id="rId100"/>
    <p:sldId id="363" r:id="rId101"/>
    <p:sldId id="364" r:id="rId102"/>
    <p:sldId id="365" r:id="rId103"/>
    <p:sldId id="366" r:id="rId104"/>
    <p:sldId id="367" r:id="rId105"/>
    <p:sldId id="368" r:id="rId106"/>
    <p:sldId id="369" r:id="rId107"/>
    <p:sldId id="373" r:id="rId108"/>
    <p:sldId id="374" r:id="rId109"/>
    <p:sldId id="402" r:id="rId110"/>
    <p:sldId id="375" r:id="rId111"/>
    <p:sldId id="376" r:id="rId112"/>
    <p:sldId id="379" r:id="rId113"/>
    <p:sldId id="380" r:id="rId114"/>
    <p:sldId id="377" r:id="rId115"/>
    <p:sldId id="381" r:id="rId116"/>
    <p:sldId id="382" r:id="rId117"/>
    <p:sldId id="383" r:id="rId118"/>
    <p:sldId id="384" r:id="rId119"/>
    <p:sldId id="378" r:id="rId120"/>
    <p:sldId id="385" r:id="rId121"/>
    <p:sldId id="387" r:id="rId122"/>
    <p:sldId id="388" r:id="rId123"/>
    <p:sldId id="389" r:id="rId124"/>
    <p:sldId id="390" r:id="rId125"/>
    <p:sldId id="393" r:id="rId126"/>
    <p:sldId id="394" r:id="rId127"/>
    <p:sldId id="391" r:id="rId128"/>
    <p:sldId id="395" r:id="rId129"/>
    <p:sldId id="396" r:id="rId1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4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01763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2785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8223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772253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err="1" smtClean="0">
                          <a:solidFill>
                            <a:srgbClr val="C00000"/>
                          </a:solidFill>
                        </a:rPr>
                        <a:t>x’z</a:t>
                      </a: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xz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yz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1" name="手繪多邊形 10"/>
          <p:cNvSpPr/>
          <p:nvPr/>
        </p:nvSpPr>
        <p:spPr>
          <a:xfrm flipV="1">
            <a:off x="1652991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手繪多邊形 11"/>
          <p:cNvSpPr/>
          <p:nvPr/>
        </p:nvSpPr>
        <p:spPr>
          <a:xfrm flipH="1" flipV="1">
            <a:off x="4725634" y="542153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手繪多邊形 12"/>
          <p:cNvSpPr/>
          <p:nvPr/>
        </p:nvSpPr>
        <p:spPr>
          <a:xfrm>
            <a:off x="1559380" y="270775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>
            <a:off x="4699988" y="271870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0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72866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x’y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err="1" smtClean="0">
                          <a:solidFill>
                            <a:srgbClr val="C00000"/>
                          </a:solidFill>
                        </a:rPr>
                        <a:t>xz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yz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0" name="圓角矩形 9"/>
          <p:cNvSpPr/>
          <p:nvPr/>
        </p:nvSpPr>
        <p:spPr>
          <a:xfrm>
            <a:off x="2686049" y="3690257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37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269892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x’y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xz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err="1" smtClean="0">
                          <a:solidFill>
                            <a:srgbClr val="C00000"/>
                          </a:solidFill>
                        </a:rPr>
                        <a:t>xy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yz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0" name="圓角矩形 9"/>
          <p:cNvSpPr/>
          <p:nvPr/>
        </p:nvSpPr>
        <p:spPr>
          <a:xfrm>
            <a:off x="3698422" y="3682093"/>
            <a:ext cx="2008415" cy="174715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013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63526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x’y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xz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err="1" smtClean="0">
                          <a:solidFill>
                            <a:srgbClr val="C00000"/>
                          </a:solidFill>
                        </a:rPr>
                        <a:t>w’x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yz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0" name="圓角矩形 9"/>
          <p:cNvSpPr/>
          <p:nvPr/>
        </p:nvSpPr>
        <p:spPr>
          <a:xfrm>
            <a:off x="1673679" y="3682093"/>
            <a:ext cx="4033158" cy="87357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97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411459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x’y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xz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err="1" smtClean="0">
                          <a:solidFill>
                            <a:srgbClr val="C00000"/>
                          </a:solidFill>
                        </a:rPr>
                        <a:t>w’z</a:t>
                      </a: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yz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grpSp>
        <p:nvGrpSpPr>
          <p:cNvPr id="11" name="群組 10"/>
          <p:cNvGrpSpPr/>
          <p:nvPr/>
        </p:nvGrpSpPr>
        <p:grpSpPr>
          <a:xfrm>
            <a:off x="1657351" y="2800351"/>
            <a:ext cx="1001584" cy="1750328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flipH="1">
            <a:off x="4721582" y="2807937"/>
            <a:ext cx="1001584" cy="1750328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83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236764" y="81642"/>
            <a:ext cx="9653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Find the prime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implicants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of the Boolean function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727973"/>
            <a:ext cx="1165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TW" sz="3600" b="1" dirty="0">
                <a:solidFill>
                  <a:srgbClr val="C00000"/>
                </a:solidFill>
              </a:rPr>
              <a:t>F(w, x, y, z) = ∑(0,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2</a:t>
            </a:r>
            <a:r>
              <a:rPr lang="en-US" altLang="zh-TW" sz="3600" b="1" dirty="0">
                <a:solidFill>
                  <a:srgbClr val="C00000"/>
                </a:solidFill>
              </a:rPr>
              <a:t>, 4, 5, 6,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7, 8</a:t>
            </a:r>
            <a:r>
              <a:rPr lang="en-US" altLang="zh-TW" sz="3600" b="1" dirty="0">
                <a:solidFill>
                  <a:srgbClr val="C00000"/>
                </a:solidFill>
              </a:rPr>
              <a:t>,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10, 13, 14, 15)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265946"/>
              </p:ext>
            </p:extLst>
          </p:nvPr>
        </p:nvGraphicFramePr>
        <p:xfrm>
          <a:off x="652235" y="1904413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652235" y="2310492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971393" y="1724691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618349"/>
              </p:ext>
            </p:extLst>
          </p:nvPr>
        </p:nvGraphicFramePr>
        <p:xfrm>
          <a:off x="6327382" y="2525935"/>
          <a:ext cx="4907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875">
                  <a:extLst>
                    <a:ext uri="{9D8B030D-6E8A-4147-A177-3AD203B41FA5}">
                      <a16:colId xmlns:a16="http://schemas.microsoft.com/office/drawing/2014/main" val="903518286"/>
                    </a:ext>
                  </a:extLst>
                </a:gridCol>
                <a:gridCol w="4116085">
                  <a:extLst>
                    <a:ext uri="{9D8B030D-6E8A-4147-A177-3AD203B41FA5}">
                      <a16:colId xmlns:a16="http://schemas.microsoft.com/office/drawing/2014/main" val="3090007610"/>
                    </a:ext>
                  </a:extLst>
                </a:gridCol>
              </a:tblGrid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x’y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43510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xz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578622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xy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245696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w’x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931914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0" dirty="0" err="1" smtClean="0">
                          <a:solidFill>
                            <a:schemeClr val="tx1"/>
                          </a:solidFill>
                        </a:rPr>
                        <a:t>w’z</a:t>
                      </a: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’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741899"/>
                  </a:ext>
                </a:extLst>
              </a:tr>
              <a:tr h="463097">
                <a:tc>
                  <a:txBody>
                    <a:bodyPr/>
                    <a:lstStyle/>
                    <a:p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200" b="1" dirty="0" err="1" smtClean="0">
                          <a:solidFill>
                            <a:srgbClr val="C00000"/>
                          </a:solidFill>
                        </a:rPr>
                        <a:t>yz</a:t>
                      </a:r>
                      <a:r>
                        <a:rPr lang="en-US" altLang="zh-TW" sz="3200" b="1" dirty="0" smtClean="0">
                          <a:solidFill>
                            <a:srgbClr val="C00000"/>
                          </a:solidFill>
                        </a:rPr>
                        <a:t>’</a:t>
                      </a:r>
                      <a:endParaRPr lang="zh-TW" altLang="en-US" sz="3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010731"/>
                  </a:ext>
                </a:extLst>
              </a:tr>
            </a:tbl>
          </a:graphicData>
        </a:graphic>
      </p:graphicFrame>
      <p:sp>
        <p:nvSpPr>
          <p:cNvPr id="10" name="圓角矩形 9"/>
          <p:cNvSpPr/>
          <p:nvPr/>
        </p:nvSpPr>
        <p:spPr>
          <a:xfrm>
            <a:off x="4718957" y="2784020"/>
            <a:ext cx="987880" cy="355146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91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</p:spTree>
    <p:extLst>
      <p:ext uri="{BB962C8B-B14F-4D97-AF65-F5344CB8AC3E}">
        <p14:creationId xmlns:p14="http://schemas.microsoft.com/office/powerpoint/2010/main" val="219622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0261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652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手繪多邊形 2"/>
          <p:cNvSpPr/>
          <p:nvPr/>
        </p:nvSpPr>
        <p:spPr>
          <a:xfrm>
            <a:off x="2506436" y="2441111"/>
            <a:ext cx="5167993" cy="1102189"/>
          </a:xfrm>
          <a:custGeom>
            <a:avLst/>
            <a:gdLst>
              <a:gd name="connsiteX0" fmla="*/ 0 w 5167993"/>
              <a:gd name="connsiteY0" fmla="*/ 1102189 h 1102189"/>
              <a:gd name="connsiteX1" fmla="*/ 2751364 w 5167993"/>
              <a:gd name="connsiteY1" fmla="*/ 10 h 1102189"/>
              <a:gd name="connsiteX2" fmla="*/ 5167993 w 5167993"/>
              <a:gd name="connsiteY2" fmla="*/ 1085860 h 110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7993" h="1102189">
                <a:moveTo>
                  <a:pt x="0" y="1102189"/>
                </a:moveTo>
                <a:cubicBezTo>
                  <a:pt x="945016" y="552460"/>
                  <a:pt x="1890032" y="2731"/>
                  <a:pt x="2751364" y="10"/>
                </a:cubicBezTo>
                <a:cubicBezTo>
                  <a:pt x="3612696" y="-2712"/>
                  <a:pt x="4390344" y="541574"/>
                  <a:pt x="5167993" y="1085860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31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手繪多邊形 2"/>
          <p:cNvSpPr/>
          <p:nvPr/>
        </p:nvSpPr>
        <p:spPr>
          <a:xfrm>
            <a:off x="2506436" y="2441111"/>
            <a:ext cx="5167993" cy="1102189"/>
          </a:xfrm>
          <a:custGeom>
            <a:avLst/>
            <a:gdLst>
              <a:gd name="connsiteX0" fmla="*/ 0 w 5167993"/>
              <a:gd name="connsiteY0" fmla="*/ 1102189 h 1102189"/>
              <a:gd name="connsiteX1" fmla="*/ 2751364 w 5167993"/>
              <a:gd name="connsiteY1" fmla="*/ 10 h 1102189"/>
              <a:gd name="connsiteX2" fmla="*/ 5167993 w 5167993"/>
              <a:gd name="connsiteY2" fmla="*/ 1085860 h 110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7993" h="1102189">
                <a:moveTo>
                  <a:pt x="0" y="1102189"/>
                </a:moveTo>
                <a:cubicBezTo>
                  <a:pt x="945016" y="552460"/>
                  <a:pt x="1890032" y="2731"/>
                  <a:pt x="2751364" y="10"/>
                </a:cubicBezTo>
                <a:cubicBezTo>
                  <a:pt x="3612696" y="-2712"/>
                  <a:pt x="4390344" y="541574"/>
                  <a:pt x="5167993" y="1085860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手繪多邊形 6"/>
          <p:cNvSpPr/>
          <p:nvPr/>
        </p:nvSpPr>
        <p:spPr>
          <a:xfrm>
            <a:off x="3233058" y="2466786"/>
            <a:ext cx="5167993" cy="1102189"/>
          </a:xfrm>
          <a:custGeom>
            <a:avLst/>
            <a:gdLst>
              <a:gd name="connsiteX0" fmla="*/ 0 w 5167993"/>
              <a:gd name="connsiteY0" fmla="*/ 1102189 h 1102189"/>
              <a:gd name="connsiteX1" fmla="*/ 2751364 w 5167993"/>
              <a:gd name="connsiteY1" fmla="*/ 10 h 1102189"/>
              <a:gd name="connsiteX2" fmla="*/ 5167993 w 5167993"/>
              <a:gd name="connsiteY2" fmla="*/ 1085860 h 110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7993" h="1102189">
                <a:moveTo>
                  <a:pt x="0" y="1102189"/>
                </a:moveTo>
                <a:cubicBezTo>
                  <a:pt x="945016" y="552460"/>
                  <a:pt x="1890032" y="2731"/>
                  <a:pt x="2751364" y="10"/>
                </a:cubicBezTo>
                <a:cubicBezTo>
                  <a:pt x="3612696" y="-2712"/>
                  <a:pt x="4390344" y="541574"/>
                  <a:pt x="5167993" y="1085860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675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手繪多邊形 2"/>
          <p:cNvSpPr/>
          <p:nvPr/>
        </p:nvSpPr>
        <p:spPr>
          <a:xfrm>
            <a:off x="2506436" y="2441111"/>
            <a:ext cx="5167993" cy="1102189"/>
          </a:xfrm>
          <a:custGeom>
            <a:avLst/>
            <a:gdLst>
              <a:gd name="connsiteX0" fmla="*/ 0 w 5167993"/>
              <a:gd name="connsiteY0" fmla="*/ 1102189 h 1102189"/>
              <a:gd name="connsiteX1" fmla="*/ 2751364 w 5167993"/>
              <a:gd name="connsiteY1" fmla="*/ 10 h 1102189"/>
              <a:gd name="connsiteX2" fmla="*/ 5167993 w 5167993"/>
              <a:gd name="connsiteY2" fmla="*/ 1085860 h 110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7993" h="1102189">
                <a:moveTo>
                  <a:pt x="0" y="1102189"/>
                </a:moveTo>
                <a:cubicBezTo>
                  <a:pt x="945016" y="552460"/>
                  <a:pt x="1890032" y="2731"/>
                  <a:pt x="2751364" y="10"/>
                </a:cubicBezTo>
                <a:cubicBezTo>
                  <a:pt x="3612696" y="-2712"/>
                  <a:pt x="4390344" y="541574"/>
                  <a:pt x="5167993" y="1085860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手繪多邊形 6"/>
          <p:cNvSpPr/>
          <p:nvPr/>
        </p:nvSpPr>
        <p:spPr>
          <a:xfrm>
            <a:off x="3233058" y="2466786"/>
            <a:ext cx="5167993" cy="1102189"/>
          </a:xfrm>
          <a:custGeom>
            <a:avLst/>
            <a:gdLst>
              <a:gd name="connsiteX0" fmla="*/ 0 w 5167993"/>
              <a:gd name="connsiteY0" fmla="*/ 1102189 h 1102189"/>
              <a:gd name="connsiteX1" fmla="*/ 2751364 w 5167993"/>
              <a:gd name="connsiteY1" fmla="*/ 10 h 1102189"/>
              <a:gd name="connsiteX2" fmla="*/ 5167993 w 5167993"/>
              <a:gd name="connsiteY2" fmla="*/ 1085860 h 110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7993" h="1102189">
                <a:moveTo>
                  <a:pt x="0" y="1102189"/>
                </a:moveTo>
                <a:cubicBezTo>
                  <a:pt x="945016" y="552460"/>
                  <a:pt x="1890032" y="2731"/>
                  <a:pt x="2751364" y="10"/>
                </a:cubicBezTo>
                <a:cubicBezTo>
                  <a:pt x="3612696" y="-2712"/>
                  <a:pt x="4390344" y="541574"/>
                  <a:pt x="5167993" y="1085860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手繪多邊形 8"/>
          <p:cNvSpPr/>
          <p:nvPr/>
        </p:nvSpPr>
        <p:spPr>
          <a:xfrm>
            <a:off x="4841423" y="4875250"/>
            <a:ext cx="5167993" cy="1102189"/>
          </a:xfrm>
          <a:custGeom>
            <a:avLst/>
            <a:gdLst>
              <a:gd name="connsiteX0" fmla="*/ 0 w 5167993"/>
              <a:gd name="connsiteY0" fmla="*/ 1102189 h 1102189"/>
              <a:gd name="connsiteX1" fmla="*/ 2751364 w 5167993"/>
              <a:gd name="connsiteY1" fmla="*/ 10 h 1102189"/>
              <a:gd name="connsiteX2" fmla="*/ 5167993 w 5167993"/>
              <a:gd name="connsiteY2" fmla="*/ 1085860 h 1102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67993" h="1102189">
                <a:moveTo>
                  <a:pt x="0" y="1102189"/>
                </a:moveTo>
                <a:cubicBezTo>
                  <a:pt x="945016" y="552460"/>
                  <a:pt x="1890032" y="2731"/>
                  <a:pt x="2751364" y="10"/>
                </a:cubicBezTo>
                <a:cubicBezTo>
                  <a:pt x="3612696" y="-2712"/>
                  <a:pt x="4390344" y="541574"/>
                  <a:pt x="5167993" y="1085860"/>
                </a:cubicBezTo>
              </a:path>
            </a:pathLst>
          </a:custGeom>
          <a:noFill/>
          <a:ln w="57150">
            <a:solidFill>
              <a:srgbClr val="C00000"/>
            </a:solidFill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552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155371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0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A’B’C’D’E’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5885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155371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0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A’B’C’D’E’</a:t>
            </a:r>
            <a:endParaRPr lang="zh-TW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7225392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0574974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AB’C’D’E’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409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155371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0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A’B’C’D’E’</a:t>
            </a:r>
            <a:endParaRPr lang="zh-TW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7225392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0574974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AB’C’D’E’</a:t>
            </a:r>
            <a:endParaRPr lang="zh-TW" altLang="en-US" sz="2800" b="1" dirty="0"/>
          </a:p>
        </p:txBody>
      </p:sp>
      <p:sp>
        <p:nvSpPr>
          <p:cNvPr id="13" name="矩形 12"/>
          <p:cNvSpPr/>
          <p:nvPr/>
        </p:nvSpPr>
        <p:spPr>
          <a:xfrm>
            <a:off x="3657600" y="48985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0" y="5093809"/>
            <a:ext cx="1277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A’BCDE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6264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72" y="1080798"/>
            <a:ext cx="104065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TW" sz="3600" dirty="0"/>
              <a:t>Map for more than four variables becomes complicated</a:t>
            </a:r>
          </a:p>
        </p:txBody>
      </p:sp>
      <p:sp>
        <p:nvSpPr>
          <p:cNvPr id="8" name="矩形 7"/>
          <p:cNvSpPr/>
          <p:nvPr/>
        </p:nvSpPr>
        <p:spPr>
          <a:xfrm>
            <a:off x="525235" y="1663574"/>
            <a:ext cx="108231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600" dirty="0" smtClean="0"/>
              <a:t>Five-variable </a:t>
            </a:r>
            <a:r>
              <a:rPr lang="en-US" altLang="zh-TW" sz="3600" dirty="0"/>
              <a:t>map: two four-variable </a:t>
            </a:r>
            <a:r>
              <a:rPr lang="en-US" altLang="zh-TW" sz="3600" dirty="0" smtClean="0"/>
              <a:t>map</a:t>
            </a:r>
            <a:endParaRPr lang="zh-TW" altLang="en-US" sz="3600" dirty="0"/>
          </a:p>
        </p:txBody>
      </p:sp>
      <p:pic>
        <p:nvPicPr>
          <p:cNvPr id="5" name="Picture 5" descr="AACFLNJ0">
            <a:extLst>
              <a:ext uri="{FF2B5EF4-FFF2-40B4-BE49-F238E27FC236}">
                <a16:creationId xmlns:a16="http://schemas.microsoft.com/office/drawing/2014/main" id="{A9454165-EF98-415C-836D-6244945BD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32"/>
          <a:stretch>
            <a:fillRect/>
          </a:stretch>
        </p:blipFill>
        <p:spPr bwMode="auto">
          <a:xfrm>
            <a:off x="1570960" y="2325726"/>
            <a:ext cx="9050079" cy="453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2155371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0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A’B’C’D’E’</a:t>
            </a:r>
            <a:endParaRPr lang="zh-TW" altLang="en-US" sz="2800" b="1" dirty="0"/>
          </a:p>
        </p:txBody>
      </p:sp>
      <p:sp>
        <p:nvSpPr>
          <p:cNvPr id="9" name="矩形 8"/>
          <p:cNvSpPr/>
          <p:nvPr/>
        </p:nvSpPr>
        <p:spPr>
          <a:xfrm>
            <a:off x="7225392" y="34126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0574974" y="3526618"/>
            <a:ext cx="1649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AB’C’D’E’</a:t>
            </a:r>
            <a:endParaRPr lang="zh-TW" altLang="en-US" sz="2800" b="1" dirty="0"/>
          </a:p>
        </p:txBody>
      </p:sp>
      <p:sp>
        <p:nvSpPr>
          <p:cNvPr id="13" name="矩形 12"/>
          <p:cNvSpPr/>
          <p:nvPr/>
        </p:nvSpPr>
        <p:spPr>
          <a:xfrm>
            <a:off x="3657600" y="48985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0" y="5093809"/>
            <a:ext cx="1277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A’BCDE</a:t>
            </a:r>
            <a:endParaRPr lang="zh-TW" altLang="en-US" sz="2800" b="1" dirty="0"/>
          </a:p>
        </p:txBody>
      </p:sp>
      <p:sp>
        <p:nvSpPr>
          <p:cNvPr id="15" name="矩形 14"/>
          <p:cNvSpPr/>
          <p:nvPr/>
        </p:nvSpPr>
        <p:spPr>
          <a:xfrm>
            <a:off x="8727621" y="4898571"/>
            <a:ext cx="759279" cy="751115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0621039" y="5012518"/>
            <a:ext cx="1277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/>
              <a:t>ABCDE</a:t>
            </a:r>
            <a:endParaRPr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0539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4349" y="2542499"/>
            <a:ext cx="1167765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6000" b="1" dirty="0" smtClean="0">
                <a:solidFill>
                  <a:srgbClr val="C00000"/>
                </a:solidFill>
              </a:rPr>
              <a:t>Square</a:t>
            </a:r>
            <a:r>
              <a:rPr lang="zh-TW" altLang="en-US" sz="6000" b="1" dirty="0" smtClean="0">
                <a:solidFill>
                  <a:srgbClr val="C00000"/>
                </a:solidFill>
              </a:rPr>
              <a:t>s </a:t>
            </a:r>
            <a:r>
              <a:rPr lang="zh-TW" altLang="en-US" sz="6000" b="1" dirty="0">
                <a:solidFill>
                  <a:srgbClr val="C00000"/>
                </a:solidFill>
              </a:rPr>
              <a:t>in the same position but across different </a:t>
            </a:r>
            <a:r>
              <a:rPr lang="en-US" altLang="zh-TW" sz="6000" b="1" dirty="0" smtClean="0">
                <a:solidFill>
                  <a:srgbClr val="C00000"/>
                </a:solidFill>
              </a:rPr>
              <a:t>maps</a:t>
            </a:r>
            <a:r>
              <a:rPr lang="zh-TW" altLang="en-US" sz="6000" b="1" dirty="0" smtClean="0">
                <a:solidFill>
                  <a:srgbClr val="C00000"/>
                </a:solidFill>
              </a:rPr>
              <a:t> </a:t>
            </a:r>
            <a:r>
              <a:rPr lang="zh-TW" altLang="en-US" sz="6000" b="1" dirty="0">
                <a:solidFill>
                  <a:srgbClr val="C00000"/>
                </a:solidFill>
              </a:rPr>
              <a:t>are adjacent</a:t>
            </a:r>
          </a:p>
        </p:txBody>
      </p:sp>
    </p:spTree>
    <p:extLst>
      <p:ext uri="{BB962C8B-B14F-4D97-AF65-F5344CB8AC3E}">
        <p14:creationId xmlns:p14="http://schemas.microsoft.com/office/powerpoint/2010/main" val="290100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886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147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521496"/>
              </p:ext>
            </p:extLst>
          </p:nvPr>
        </p:nvGraphicFramePr>
        <p:xfrm>
          <a:off x="75920" y="2074939"/>
          <a:ext cx="2748924" cy="40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8">
                  <a:extLst>
                    <a:ext uri="{9D8B030D-6E8A-4147-A177-3AD203B41FA5}">
                      <a16:colId xmlns:a16="http://schemas.microsoft.com/office/drawing/2014/main" val="1439838485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7007330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2905592354"/>
                    </a:ext>
                  </a:extLst>
                </a:gridCol>
              </a:tblGrid>
              <a:tr h="806389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783745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595543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29238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56960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33800"/>
                  </a:ext>
                </a:extLst>
              </a:tr>
            </a:tbl>
          </a:graphicData>
        </a:graphic>
      </p:graphicFrame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橢圓 9"/>
          <p:cNvSpPr/>
          <p:nvPr/>
        </p:nvSpPr>
        <p:spPr>
          <a:xfrm>
            <a:off x="3773210" y="3123223"/>
            <a:ext cx="465364" cy="465364"/>
          </a:xfrm>
          <a:prstGeom prst="ellipse">
            <a:avLst/>
          </a:prstGeom>
          <a:noFill/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73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399381"/>
              </p:ext>
            </p:extLst>
          </p:nvPr>
        </p:nvGraphicFramePr>
        <p:xfrm>
          <a:off x="75920" y="2074939"/>
          <a:ext cx="2748924" cy="40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8">
                  <a:extLst>
                    <a:ext uri="{9D8B030D-6E8A-4147-A177-3AD203B41FA5}">
                      <a16:colId xmlns:a16="http://schemas.microsoft.com/office/drawing/2014/main" val="1439838485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7007330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2905592354"/>
                    </a:ext>
                  </a:extLst>
                </a:gridCol>
              </a:tblGrid>
              <a:tr h="806389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783745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595543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29238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56960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33800"/>
                  </a:ext>
                </a:extLst>
              </a:tr>
            </a:tbl>
          </a:graphicData>
        </a:graphic>
      </p:graphicFrame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橢圓 9"/>
          <p:cNvSpPr/>
          <p:nvPr/>
        </p:nvSpPr>
        <p:spPr>
          <a:xfrm>
            <a:off x="6383636" y="3105914"/>
            <a:ext cx="465364" cy="465364"/>
          </a:xfrm>
          <a:prstGeom prst="ellipse">
            <a:avLst/>
          </a:prstGeom>
          <a:noFill/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31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146348"/>
              </p:ext>
            </p:extLst>
          </p:nvPr>
        </p:nvGraphicFramePr>
        <p:xfrm>
          <a:off x="75920" y="2074939"/>
          <a:ext cx="2748924" cy="40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8">
                  <a:extLst>
                    <a:ext uri="{9D8B030D-6E8A-4147-A177-3AD203B41FA5}">
                      <a16:colId xmlns:a16="http://schemas.microsoft.com/office/drawing/2014/main" val="1439838485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7007330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2905592354"/>
                    </a:ext>
                  </a:extLst>
                </a:gridCol>
              </a:tblGrid>
              <a:tr h="806389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783745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595543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29238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56960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33800"/>
                  </a:ext>
                </a:extLst>
              </a:tr>
            </a:tbl>
          </a:graphicData>
        </a:graphic>
      </p:graphicFrame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橢圓 9"/>
          <p:cNvSpPr/>
          <p:nvPr/>
        </p:nvSpPr>
        <p:spPr>
          <a:xfrm>
            <a:off x="9330943" y="4035674"/>
            <a:ext cx="465364" cy="465364"/>
          </a:xfrm>
          <a:prstGeom prst="ellipse">
            <a:avLst/>
          </a:prstGeom>
          <a:noFill/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77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934675"/>
              </p:ext>
            </p:extLst>
          </p:nvPr>
        </p:nvGraphicFramePr>
        <p:xfrm>
          <a:off x="75920" y="2074939"/>
          <a:ext cx="2748924" cy="4031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6308">
                  <a:extLst>
                    <a:ext uri="{9D8B030D-6E8A-4147-A177-3AD203B41FA5}">
                      <a16:colId xmlns:a16="http://schemas.microsoft.com/office/drawing/2014/main" val="1439838485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7007330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2905592354"/>
                    </a:ext>
                  </a:extLst>
                </a:gridCol>
              </a:tblGrid>
              <a:tr h="806389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783745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595543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algn="ctr"/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729238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56960"/>
                  </a:ext>
                </a:extLst>
              </a:tr>
              <a:tr h="806389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3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33800"/>
                  </a:ext>
                </a:extLst>
              </a:tr>
            </a:tbl>
          </a:graphicData>
        </a:graphic>
      </p:graphicFrame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橢圓 9"/>
          <p:cNvSpPr/>
          <p:nvPr/>
        </p:nvSpPr>
        <p:spPr>
          <a:xfrm>
            <a:off x="10188193" y="4843938"/>
            <a:ext cx="465364" cy="465364"/>
          </a:xfrm>
          <a:prstGeom prst="ellipse">
            <a:avLst/>
          </a:prstGeom>
          <a:noFill/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6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911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2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594439" y="2428199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24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594439" y="2428199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135836" y="3788229"/>
            <a:ext cx="1714500" cy="171450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954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594439" y="2428199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135836" y="3788229"/>
            <a:ext cx="1714500" cy="171450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594439" y="3298859"/>
            <a:ext cx="969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ACE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18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594439" y="2428199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135836" y="3788229"/>
            <a:ext cx="1714500" cy="171450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594439" y="3298859"/>
            <a:ext cx="969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ACE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546546" y="2895151"/>
            <a:ext cx="900587" cy="1750328"/>
            <a:chOff x="7453992" y="4071761"/>
            <a:chExt cx="1448866" cy="2011739"/>
          </a:xfrm>
        </p:grpSpPr>
        <p:sp>
          <p:nvSpPr>
            <p:cNvPr id="14" name="手繪多邊形 13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 14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 rot="10800000">
            <a:off x="6192920" y="2913065"/>
            <a:ext cx="900587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230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8590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en-US" altLang="zh-TW" sz="3600" b="1" dirty="0">
                <a:solidFill>
                  <a:srgbClr val="C00000"/>
                </a:solidFill>
              </a:rPr>
              <a:t>(0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, 2, 4, 6, 9, 13, 21, 23, 25, 29, 31</a:t>
            </a:r>
            <a:r>
              <a:rPr lang="en-US" altLang="zh-TW" sz="3600" b="1" dirty="0">
                <a:solidFill>
                  <a:srgbClr val="C00000"/>
                </a:solidFill>
              </a:rPr>
              <a:t>)</a:t>
            </a: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594439" y="2428199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135836" y="3788229"/>
            <a:ext cx="1714500" cy="171450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594439" y="3298859"/>
            <a:ext cx="969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ACE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546546" y="2895151"/>
            <a:ext cx="900587" cy="1750328"/>
            <a:chOff x="7453992" y="4071761"/>
            <a:chExt cx="1448866" cy="2011739"/>
          </a:xfrm>
        </p:grpSpPr>
        <p:sp>
          <p:nvSpPr>
            <p:cNvPr id="14" name="手繪多邊形 13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 14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 rot="10800000">
            <a:off x="6192920" y="2913065"/>
            <a:ext cx="900587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1594439" y="4268356"/>
            <a:ext cx="1258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A’B’E’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07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Five-variable K-map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-152187" y="1007320"/>
            <a:ext cx="52809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altLang="zh-TW" sz="3600" b="1" dirty="0">
                <a:solidFill>
                  <a:srgbClr val="C00000"/>
                </a:solidFill>
              </a:rPr>
              <a:t>F =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+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ACE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+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A’B’E’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  <p:pic>
        <p:nvPicPr>
          <p:cNvPr id="6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6" b="10976"/>
          <a:stretch/>
        </p:blipFill>
        <p:spPr bwMode="auto">
          <a:xfrm>
            <a:off x="7543800" y="1653651"/>
            <a:ext cx="4648200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ACFLNK0">
            <a:extLst>
              <a:ext uri="{FF2B5EF4-FFF2-40B4-BE49-F238E27FC236}">
                <a16:creationId xmlns:a16="http://schemas.microsoft.com/office/drawing/2014/main" id="{B10BD102-D6D1-49EB-996C-BA1B3FB10D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31" b="10976"/>
          <a:stretch/>
        </p:blipFill>
        <p:spPr bwMode="auto">
          <a:xfrm>
            <a:off x="2898321" y="1653651"/>
            <a:ext cx="4645479" cy="5229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圓角矩形 8"/>
          <p:cNvSpPr/>
          <p:nvPr/>
        </p:nvSpPr>
        <p:spPr>
          <a:xfrm>
            <a:off x="4441373" y="4645479"/>
            <a:ext cx="879020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圓角矩形 10"/>
          <p:cNvSpPr/>
          <p:nvPr/>
        </p:nvSpPr>
        <p:spPr>
          <a:xfrm>
            <a:off x="9135836" y="4645479"/>
            <a:ext cx="865413" cy="17145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/>
          <p:cNvSpPr txBox="1"/>
          <p:nvPr/>
        </p:nvSpPr>
        <p:spPr>
          <a:xfrm>
            <a:off x="1594439" y="2428199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BD’E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9135836" y="3788229"/>
            <a:ext cx="1714500" cy="171450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594439" y="3298859"/>
            <a:ext cx="969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ACE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546546" y="2895151"/>
            <a:ext cx="900587" cy="1750328"/>
            <a:chOff x="7453992" y="4071761"/>
            <a:chExt cx="1448866" cy="2011739"/>
          </a:xfrm>
        </p:grpSpPr>
        <p:sp>
          <p:nvSpPr>
            <p:cNvPr id="14" name="手繪多邊形 13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手繪多邊形 14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 rot="10800000">
            <a:off x="6192920" y="2913065"/>
            <a:ext cx="900587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9" name="文字方塊 18"/>
          <p:cNvSpPr txBox="1"/>
          <p:nvPr/>
        </p:nvSpPr>
        <p:spPr>
          <a:xfrm>
            <a:off x="1594439" y="4268356"/>
            <a:ext cx="1258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A’B’E’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35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095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7" name="矩形 1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98470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4024671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5921895" y="3091211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B’D’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62707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5921895" y="3091211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B’D’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1796608" y="2399858"/>
            <a:ext cx="900587" cy="2028606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6200000">
            <a:off x="1805400" y="5066835"/>
            <a:ext cx="900587" cy="2028606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97253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5921895" y="3091211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B’D’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1796608" y="2399858"/>
            <a:ext cx="900587" cy="2028606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6200000">
            <a:off x="1805400" y="5066835"/>
            <a:ext cx="900587" cy="2028606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5921895" y="3669563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B’C’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77885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5921895" y="3091211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B’D’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1796608" y="2399858"/>
            <a:ext cx="900587" cy="2028606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6200000">
            <a:off x="1805400" y="5066835"/>
            <a:ext cx="900587" cy="2028606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5921895" y="3669563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B’C’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2255695" y="3001159"/>
            <a:ext cx="993692" cy="172680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262673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5921895" y="3091211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B’D’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1796608" y="2399858"/>
            <a:ext cx="900587" cy="2028606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6200000">
            <a:off x="1805400" y="5066835"/>
            <a:ext cx="900587" cy="2028606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/>
          <p:cNvSpPr txBox="1"/>
          <p:nvPr/>
        </p:nvSpPr>
        <p:spPr>
          <a:xfrm>
            <a:off x="5921895" y="3669563"/>
            <a:ext cx="939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B’C’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23" name="圓角矩形 22"/>
          <p:cNvSpPr/>
          <p:nvPr/>
        </p:nvSpPr>
        <p:spPr>
          <a:xfrm>
            <a:off x="2255695" y="3001159"/>
            <a:ext cx="993692" cy="172680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921894" y="4247915"/>
            <a:ext cx="1245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A’C’D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59449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5" y="1094648"/>
            <a:ext cx="10376807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10) = B’D’ + B’C’ + A’C’D </a:t>
            </a:r>
            <a:endParaRPr lang="en-US" altLang="zh-TW" sz="3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1796608" y="2399858"/>
            <a:ext cx="900587" cy="2028606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6200000">
            <a:off x="1805400" y="5066835"/>
            <a:ext cx="900587" cy="2028606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圓角矩形 22"/>
          <p:cNvSpPr/>
          <p:nvPr/>
        </p:nvSpPr>
        <p:spPr>
          <a:xfrm>
            <a:off x="2255695" y="3001159"/>
            <a:ext cx="993692" cy="172680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54332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5" y="1094648"/>
            <a:ext cx="10376807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10) = B’D’ + B’C’ + A’C’D </a:t>
            </a:r>
            <a:endParaRPr lang="en-US" altLang="zh-TW" sz="3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13" name="手繪多邊形 12"/>
          <p:cNvSpPr/>
          <p:nvPr/>
        </p:nvSpPr>
        <p:spPr>
          <a:xfrm flipV="1">
            <a:off x="1212615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手繪多邊形 13"/>
          <p:cNvSpPr/>
          <p:nvPr/>
        </p:nvSpPr>
        <p:spPr>
          <a:xfrm flipH="1" flipV="1">
            <a:off x="4285258" y="5623015"/>
            <a:ext cx="1024894" cy="913953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手繪多邊形 14"/>
          <p:cNvSpPr/>
          <p:nvPr/>
        </p:nvSpPr>
        <p:spPr>
          <a:xfrm>
            <a:off x="1119004" y="2909232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手繪多邊形 15"/>
          <p:cNvSpPr/>
          <p:nvPr/>
        </p:nvSpPr>
        <p:spPr>
          <a:xfrm flipH="1">
            <a:off x="4259612" y="2920188"/>
            <a:ext cx="1118505" cy="955222"/>
          </a:xfrm>
          <a:custGeom>
            <a:avLst/>
            <a:gdLst>
              <a:gd name="connsiteX0" fmla="*/ 0 w 1151164"/>
              <a:gd name="connsiteY0" fmla="*/ 1004207 h 1004207"/>
              <a:gd name="connsiteX1" fmla="*/ 873578 w 1151164"/>
              <a:gd name="connsiteY1" fmla="*/ 800100 h 1004207"/>
              <a:gd name="connsiteX2" fmla="*/ 1151164 w 1151164"/>
              <a:gd name="connsiteY2" fmla="*/ 0 h 1004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1164" h="1004207">
                <a:moveTo>
                  <a:pt x="0" y="1004207"/>
                </a:moveTo>
                <a:cubicBezTo>
                  <a:pt x="340859" y="985837"/>
                  <a:pt x="681718" y="967468"/>
                  <a:pt x="873578" y="800100"/>
                </a:cubicBezTo>
                <a:cubicBezTo>
                  <a:pt x="1065438" y="632732"/>
                  <a:pt x="1108301" y="316366"/>
                  <a:pt x="1151164" y="0"/>
                </a:cubicBezTo>
              </a:path>
            </a:pathLst>
          </a:cu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/>
        </p:nvGrpSpPr>
        <p:grpSpPr>
          <a:xfrm rot="5400000">
            <a:off x="1796608" y="2399858"/>
            <a:ext cx="900587" cy="2028606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6200000">
            <a:off x="1805400" y="5066835"/>
            <a:ext cx="900587" cy="2028606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圓角矩形 22"/>
          <p:cNvSpPr/>
          <p:nvPr/>
        </p:nvSpPr>
        <p:spPr>
          <a:xfrm>
            <a:off x="2255695" y="3001159"/>
            <a:ext cx="993692" cy="172680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94C6D3AD-5B44-40BA-905C-AC6048797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3" r="53160" b="26989"/>
          <a:stretch/>
        </p:blipFill>
        <p:spPr bwMode="auto">
          <a:xfrm>
            <a:off x="5551618" y="2661557"/>
            <a:ext cx="6639282" cy="3857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Sum </a:t>
            </a:r>
            <a:r>
              <a:rPr lang="en-US" altLang="zh-TW" sz="4800" b="1" dirty="0">
                <a:solidFill>
                  <a:schemeClr val="bg1"/>
                </a:solidFill>
              </a:rPr>
              <a:t>of </a:t>
            </a:r>
            <a:r>
              <a:rPr lang="en-US" altLang="zh-TW" sz="4800" b="1" dirty="0" smtClean="0">
                <a:solidFill>
                  <a:schemeClr val="bg1"/>
                </a:solidFill>
              </a:rPr>
              <a:t>Products </a:t>
            </a:r>
            <a:r>
              <a:rPr lang="en-US" altLang="zh-TW" sz="4800" b="1" dirty="0">
                <a:solidFill>
                  <a:schemeClr val="bg1"/>
                </a:solidFill>
              </a:rPr>
              <a:t>Simplification</a:t>
            </a:r>
          </a:p>
        </p:txBody>
      </p:sp>
    </p:spTree>
    <p:extLst>
      <p:ext uri="{BB962C8B-B14F-4D97-AF65-F5344CB8AC3E}">
        <p14:creationId xmlns:p14="http://schemas.microsoft.com/office/powerpoint/2010/main" val="289067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5" name="矩形 4"/>
          <p:cNvSpPr/>
          <p:nvPr/>
        </p:nvSpPr>
        <p:spPr>
          <a:xfrm>
            <a:off x="112628" y="923917"/>
            <a:ext cx="29241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Approach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1</a:t>
            </a:r>
            <a:endParaRPr lang="en-US" altLang="zh-TW" sz="4400" b="1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00842" y="1950857"/>
            <a:ext cx="954132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en-US" altLang="zh-TW" sz="4000" dirty="0"/>
              <a:t>Simplified </a:t>
            </a:r>
            <a:r>
              <a:rPr lang="en-US" altLang="zh-TW" sz="4000" i="1" dirty="0" smtClean="0"/>
              <a:t>F’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in the form of sum of products</a:t>
            </a:r>
          </a:p>
          <a:p>
            <a:pPr marL="0" lvl="1">
              <a:lnSpc>
                <a:spcPct val="150000"/>
              </a:lnSpc>
            </a:pPr>
            <a:r>
              <a:rPr lang="en-US" altLang="zh-TW" sz="4000" dirty="0"/>
              <a:t>Apply </a:t>
            </a:r>
            <a:r>
              <a:rPr lang="en-US" altLang="zh-TW" sz="4000" dirty="0" err="1" smtClean="0"/>
              <a:t>DeMorgan’s</a:t>
            </a:r>
            <a:r>
              <a:rPr lang="en-US" altLang="zh-TW" sz="4000" dirty="0" smtClean="0"/>
              <a:t> </a:t>
            </a:r>
            <a:r>
              <a:rPr lang="en-US" altLang="zh-TW" sz="4000" dirty="0"/>
              <a:t>theorem </a:t>
            </a:r>
            <a:r>
              <a:rPr lang="en-US" altLang="zh-TW" sz="4000" i="1" dirty="0"/>
              <a:t>F = </a:t>
            </a:r>
            <a:r>
              <a:rPr lang="en-US" altLang="zh-TW" sz="4000" dirty="0"/>
              <a:t>(</a:t>
            </a:r>
            <a:r>
              <a:rPr lang="en-US" altLang="zh-TW" sz="4000" i="1" dirty="0" smtClean="0"/>
              <a:t>F’</a:t>
            </a:r>
            <a:r>
              <a:rPr lang="en-US" altLang="zh-TW" sz="4000" dirty="0" smtClean="0"/>
              <a:t>)</a:t>
            </a:r>
            <a:r>
              <a:rPr lang="en-US" altLang="zh-TW" sz="4000" i="1" dirty="0" smtClean="0"/>
              <a:t>’ </a:t>
            </a:r>
            <a:endParaRPr lang="en-US" altLang="zh-TW" sz="4000" i="1" dirty="0"/>
          </a:p>
          <a:p>
            <a:pPr marL="0" lvl="1">
              <a:lnSpc>
                <a:spcPct val="150000"/>
              </a:lnSpc>
            </a:pPr>
            <a:r>
              <a:rPr lang="en-US" altLang="zh-TW" sz="4000" i="1" dirty="0" smtClean="0"/>
              <a:t>F’</a:t>
            </a:r>
            <a:r>
              <a:rPr lang="en-US" altLang="zh-TW" sz="4000" dirty="0" smtClean="0"/>
              <a:t>: </a:t>
            </a:r>
            <a:r>
              <a:rPr lang="en-US" altLang="zh-TW" sz="4000" dirty="0"/>
              <a:t>sum of products </a:t>
            </a:r>
            <a:r>
              <a:rPr lang="en-US" altLang="zh-TW" sz="4000" dirty="0" smtClean="0">
                <a:sym typeface="Wingdings" panose="05000000000000000000" pitchFamily="2" charset="2"/>
              </a:rPr>
              <a:t></a:t>
            </a:r>
            <a:r>
              <a:rPr lang="en-US" altLang="zh-TW" sz="4000" dirty="0" smtClean="0"/>
              <a:t> </a:t>
            </a:r>
            <a:r>
              <a:rPr lang="en-US" altLang="zh-TW" sz="4000" i="1" dirty="0"/>
              <a:t>F</a:t>
            </a:r>
            <a:r>
              <a:rPr lang="en-US" altLang="zh-TW" sz="4000" dirty="0"/>
              <a:t>: product of sums</a:t>
            </a:r>
            <a:endParaRPr lang="en-US" altLang="zh-TW" sz="40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76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2203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5298621" y="1103639"/>
            <a:ext cx="6784522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52705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461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5298621" y="1103639"/>
            <a:ext cx="6784522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  <a:endParaRPr lang="en-US" altLang="zh-TW" sz="3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1227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7" name="矩形 6"/>
          <p:cNvSpPr/>
          <p:nvPr/>
        </p:nvSpPr>
        <p:spPr>
          <a:xfrm>
            <a:off x="5298621" y="1103639"/>
            <a:ext cx="6784522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  <a:endParaRPr lang="en-US" altLang="zh-TW" sz="3600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00968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9" name="矩形 8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03555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94212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164017" y="3467742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5288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164017" y="3467742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5845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164017" y="3467742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5184131" y="4235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AB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3282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164017" y="3467742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5184131" y="4235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AB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7914995" y="3923395"/>
            <a:ext cx="1016536" cy="1750328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 rot="10800000">
            <a:off x="10968635" y="3937684"/>
            <a:ext cx="1016536" cy="1750328"/>
            <a:chOff x="7453992" y="4071761"/>
            <a:chExt cx="1448866" cy="2011739"/>
          </a:xfrm>
        </p:grpSpPr>
        <p:sp>
          <p:nvSpPr>
            <p:cNvPr id="21" name="手繪多邊形 20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 21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4" name="矩形 23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6260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5164017" y="3467742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5184131" y="4235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AB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7914995" y="3923395"/>
            <a:ext cx="1016536" cy="1750328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 rot="10800000">
            <a:off x="10968635" y="3937684"/>
            <a:ext cx="1016536" cy="1750328"/>
            <a:chOff x="7453992" y="4071761"/>
            <a:chExt cx="1448866" cy="2011739"/>
          </a:xfrm>
        </p:grpSpPr>
        <p:sp>
          <p:nvSpPr>
            <p:cNvPr id="21" name="手繪多邊形 20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 21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/>
        </p:nvSpPr>
        <p:spPr>
          <a:xfrm>
            <a:off x="5184131" y="5023767"/>
            <a:ext cx="843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6">
                    <a:lumMod val="50000"/>
                  </a:schemeClr>
                </a:solidFill>
              </a:rPr>
              <a:t>BD’</a:t>
            </a:r>
            <a:endParaRPr lang="zh-TW" altLang="en-US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9720" y="923917"/>
            <a:ext cx="6784522" cy="1422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5938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7" name="矩形 6"/>
          <p:cNvSpPr/>
          <p:nvPr/>
        </p:nvSpPr>
        <p:spPr>
          <a:xfrm>
            <a:off x="129720" y="923917"/>
            <a:ext cx="67845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CD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AB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BD’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7914995" y="3923395"/>
            <a:ext cx="1016536" cy="1750328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 rot="10800000">
            <a:off x="10968635" y="3937684"/>
            <a:ext cx="1016536" cy="1750328"/>
            <a:chOff x="7453992" y="4071761"/>
            <a:chExt cx="1448866" cy="2011739"/>
          </a:xfrm>
        </p:grpSpPr>
        <p:sp>
          <p:nvSpPr>
            <p:cNvPr id="21" name="手繪多邊形 20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 21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583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7" name="矩形 6"/>
          <p:cNvSpPr/>
          <p:nvPr/>
        </p:nvSpPr>
        <p:spPr>
          <a:xfrm>
            <a:off x="129720" y="923917"/>
            <a:ext cx="678452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CD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AB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BD’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Apply </a:t>
            </a:r>
            <a:r>
              <a:rPr lang="en-US" altLang="zh-TW" sz="3600" b="1" dirty="0" err="1">
                <a:solidFill>
                  <a:srgbClr val="C00000"/>
                </a:solidFill>
              </a:rPr>
              <a:t>DeMorgan's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theorem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7914995" y="3923395"/>
            <a:ext cx="1016536" cy="1750328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 rot="10800000">
            <a:off x="10968635" y="3937684"/>
            <a:ext cx="1016536" cy="1750328"/>
            <a:chOff x="7453992" y="4071761"/>
            <a:chExt cx="1448866" cy="2011739"/>
          </a:xfrm>
        </p:grpSpPr>
        <p:sp>
          <p:nvSpPr>
            <p:cNvPr id="21" name="手繪多邊形 20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 21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569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7" name="矩形 6"/>
          <p:cNvSpPr/>
          <p:nvPr/>
        </p:nvSpPr>
        <p:spPr>
          <a:xfrm>
            <a:off x="129720" y="923917"/>
            <a:ext cx="678452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CD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AB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BD’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Apply </a:t>
            </a:r>
            <a:r>
              <a:rPr lang="en-US" altLang="zh-TW" sz="3600" b="1" dirty="0" err="1">
                <a:solidFill>
                  <a:srgbClr val="C00000"/>
                </a:solidFill>
              </a:rPr>
              <a:t>DeMorgan's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theorem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	= (C’ + D’)(A’ + B’)(B’ + D)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134305"/>
              </p:ext>
            </p:extLst>
          </p:nvPr>
        </p:nvGraphicFramePr>
        <p:xfrm>
          <a:off x="6914242" y="2149342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914242" y="2555421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233400" y="1969620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8" name="圓角矩形 7"/>
          <p:cNvSpPr/>
          <p:nvPr/>
        </p:nvSpPr>
        <p:spPr>
          <a:xfrm>
            <a:off x="9976758" y="3045279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7914996" y="4825093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7" name="群組 16"/>
          <p:cNvGrpSpPr/>
          <p:nvPr/>
        </p:nvGrpSpPr>
        <p:grpSpPr>
          <a:xfrm>
            <a:off x="7914995" y="3923395"/>
            <a:ext cx="1016536" cy="1750328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 rot="10800000">
            <a:off x="10968635" y="3937684"/>
            <a:ext cx="1016536" cy="1750328"/>
            <a:chOff x="7453992" y="4071761"/>
            <a:chExt cx="1448866" cy="2011739"/>
          </a:xfrm>
        </p:grpSpPr>
        <p:sp>
          <p:nvSpPr>
            <p:cNvPr id="21" name="手繪多邊形 20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手繪多邊形 21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409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7" name="矩形 6"/>
          <p:cNvSpPr/>
          <p:nvPr/>
        </p:nvSpPr>
        <p:spPr>
          <a:xfrm>
            <a:off x="129720" y="923917"/>
            <a:ext cx="678452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F’ </a:t>
            </a:r>
            <a:r>
              <a:rPr lang="en-US" altLang="zh-TW" sz="3600" dirty="0"/>
              <a:t>= </a:t>
            </a:r>
            <a:r>
              <a:rPr lang="en-US" altLang="zh-TW" sz="3600" dirty="0" smtClean="0">
                <a:latin typeface="Symbol" panose="05050102010706020507" pitchFamily="18" charset="2"/>
              </a:rPr>
              <a:t>S</a:t>
            </a:r>
            <a:r>
              <a:rPr lang="en-US" altLang="zh-TW" sz="3600" dirty="0" smtClean="0"/>
              <a:t>(3, 4, 6, 7, 11, 12, 13, 14, 15)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	</a:t>
            </a:r>
            <a:r>
              <a:rPr lang="en-US" altLang="zh-TW" sz="3600" dirty="0" smtClean="0"/>
              <a:t>=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CD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AB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+</a:t>
            </a:r>
            <a:r>
              <a:rPr lang="zh-TW" altLang="en-US" sz="3600" dirty="0" smtClean="0"/>
              <a:t> </a:t>
            </a:r>
            <a:r>
              <a:rPr lang="en-US" altLang="zh-TW" sz="3600" dirty="0" smtClean="0"/>
              <a:t>BD’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Apply </a:t>
            </a:r>
            <a:r>
              <a:rPr lang="en-US" altLang="zh-TW" sz="3600" b="1" dirty="0" err="1">
                <a:solidFill>
                  <a:srgbClr val="C00000"/>
                </a:solidFill>
              </a:rPr>
              <a:t>DeMorgan's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theorem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 smtClean="0"/>
              <a:t>F	= (C’ + D’)(A’ + B’)(B’ + D)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C6D3AD-5B44-40BA-905C-AC6048797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60" t="3868" b="28181"/>
          <a:stretch/>
        </p:blipFill>
        <p:spPr bwMode="auto">
          <a:xfrm>
            <a:off x="5812971" y="3194889"/>
            <a:ext cx="6379029" cy="366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608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94C6D3AD-5B44-40BA-905C-AC6048797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82"/>
          <a:stretch/>
        </p:blipFill>
        <p:spPr bwMode="auto">
          <a:xfrm>
            <a:off x="5605" y="1933121"/>
            <a:ext cx="12180790" cy="38880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056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5" name="矩形 4"/>
          <p:cNvSpPr/>
          <p:nvPr/>
        </p:nvSpPr>
        <p:spPr>
          <a:xfrm>
            <a:off x="112628" y="923917"/>
            <a:ext cx="29241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4400" b="1" dirty="0">
                <a:solidFill>
                  <a:srgbClr val="C00000"/>
                </a:solidFill>
              </a:rPr>
              <a:t>Approach </a:t>
            </a:r>
            <a:r>
              <a:rPr lang="en-US" altLang="zh-TW" sz="4400" b="1" dirty="0" smtClean="0">
                <a:solidFill>
                  <a:srgbClr val="C00000"/>
                </a:solidFill>
              </a:rPr>
              <a:t>2</a:t>
            </a:r>
            <a:endParaRPr lang="en-US" altLang="zh-TW" sz="4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06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</p:spTree>
    <p:extLst>
      <p:ext uri="{BB962C8B-B14F-4D97-AF65-F5344CB8AC3E}">
        <p14:creationId xmlns:p14="http://schemas.microsoft.com/office/powerpoint/2010/main" val="345738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</p:spTree>
    <p:extLst>
      <p:ext uri="{BB962C8B-B14F-4D97-AF65-F5344CB8AC3E}">
        <p14:creationId xmlns:p14="http://schemas.microsoft.com/office/powerpoint/2010/main" val="193377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</p:spTree>
    <p:extLst>
      <p:ext uri="{BB962C8B-B14F-4D97-AF65-F5344CB8AC3E}">
        <p14:creationId xmlns:p14="http://schemas.microsoft.com/office/powerpoint/2010/main" val="240229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788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075865" y="3091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7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075865" y="3091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200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075865" y="3091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095979" y="3858680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AB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33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075865" y="3091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095979" y="3858680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AB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1221190" y="3858680"/>
            <a:ext cx="1016536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0800000">
            <a:off x="4274830" y="3872969"/>
            <a:ext cx="1016536" cy="1750328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7576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7075865" y="3091211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CD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095979" y="3858680"/>
            <a:ext cx="747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AB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095979" y="4647236"/>
            <a:ext cx="843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chemeClr val="accent6">
                    <a:lumMod val="50000"/>
                  </a:schemeClr>
                </a:solidFill>
              </a:rPr>
              <a:t>BD’</a:t>
            </a:r>
            <a:endParaRPr lang="zh-TW" altLang="en-US" sz="36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1221190" y="3858680"/>
            <a:ext cx="1016536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0800000">
            <a:off x="4274830" y="3872969"/>
            <a:ext cx="1016536" cy="1750328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1479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1221190" y="3858680"/>
            <a:ext cx="1016536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0800000">
            <a:off x="4274830" y="3872969"/>
            <a:ext cx="1016536" cy="1750328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5807529" y="1124245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 smtClean="0"/>
              <a:t>F’ = CD + AB + BD’ 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1006549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1221190" y="3858680"/>
            <a:ext cx="1016536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0800000">
            <a:off x="4274830" y="3872969"/>
            <a:ext cx="1016536" cy="1750328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5807529" y="1124245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 smtClean="0"/>
              <a:t>F’ = CD + AB + BD’ </a:t>
            </a:r>
            <a:endParaRPr lang="en-US" altLang="zh-TW" sz="3600" dirty="0"/>
          </a:p>
        </p:txBody>
      </p:sp>
      <p:sp>
        <p:nvSpPr>
          <p:cNvPr id="3" name="矩形 2"/>
          <p:cNvSpPr/>
          <p:nvPr/>
        </p:nvSpPr>
        <p:spPr>
          <a:xfrm>
            <a:off x="5807529" y="1659779"/>
            <a:ext cx="6096000" cy="7302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Apply </a:t>
            </a:r>
            <a:r>
              <a:rPr lang="en-US" altLang="zh-TW" sz="3600" b="1" dirty="0" err="1">
                <a:solidFill>
                  <a:srgbClr val="C00000"/>
                </a:solidFill>
              </a:rPr>
              <a:t>DeMorgan's</a:t>
            </a:r>
            <a:r>
              <a:rPr lang="en-US" altLang="zh-TW" sz="3600" b="1" dirty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theorem</a:t>
            </a:r>
            <a:endParaRPr lang="en-US" altLang="zh-TW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63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0436" y="1094648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/>
              <a:t>F = </a:t>
            </a:r>
            <a:r>
              <a:rPr lang="en-US" altLang="zh-TW" sz="3600" dirty="0">
                <a:latin typeface="Symbol" panose="05050102010706020507" pitchFamily="18" charset="2"/>
              </a:rPr>
              <a:t>S</a:t>
            </a:r>
            <a:r>
              <a:rPr lang="en-US" altLang="zh-TW" sz="3600" dirty="0"/>
              <a:t>(0</a:t>
            </a:r>
            <a:r>
              <a:rPr lang="en-US" altLang="zh-TW" sz="3600" dirty="0" smtClean="0"/>
              <a:t>, 1, 2, 5, 8, 9, 10</a:t>
            </a:r>
            <a:r>
              <a:rPr lang="en-US" altLang="zh-TW" sz="3600" dirty="0"/>
              <a:t>)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387686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220436" y="2506436"/>
            <a:ext cx="63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AB</a:t>
            </a:r>
            <a:endParaRPr lang="zh-TW" altLang="en-US" sz="32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539594" y="1920635"/>
            <a:ext cx="681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smtClean="0"/>
              <a:t>CD</a:t>
            </a:r>
            <a:endParaRPr lang="zh-TW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>
                <a:solidFill>
                  <a:schemeClr val="bg1"/>
                </a:solidFill>
              </a:rPr>
              <a:t>Product of Sums Simplification</a:t>
            </a:r>
          </a:p>
        </p:txBody>
      </p:sp>
      <p:sp>
        <p:nvSpPr>
          <p:cNvPr id="11" name="圓角矩形 10"/>
          <p:cNvSpPr/>
          <p:nvPr/>
        </p:nvSpPr>
        <p:spPr>
          <a:xfrm>
            <a:off x="3265715" y="2996294"/>
            <a:ext cx="987877" cy="3535138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1221191" y="4760378"/>
            <a:ext cx="4070175" cy="859293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" name="群組 15"/>
          <p:cNvGrpSpPr/>
          <p:nvPr/>
        </p:nvGrpSpPr>
        <p:grpSpPr>
          <a:xfrm>
            <a:off x="1221190" y="3858680"/>
            <a:ext cx="1016536" cy="1750328"/>
            <a:chOff x="7453992" y="4071761"/>
            <a:chExt cx="1448866" cy="2011739"/>
          </a:xfrm>
        </p:grpSpPr>
        <p:sp>
          <p:nvSpPr>
            <p:cNvPr id="17" name="手繪多邊形 16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手繪多邊形 17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9" name="群組 18"/>
          <p:cNvGrpSpPr/>
          <p:nvPr/>
        </p:nvGrpSpPr>
        <p:grpSpPr>
          <a:xfrm rot="10800000">
            <a:off x="4274830" y="3872969"/>
            <a:ext cx="1016536" cy="1750328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矩形 21"/>
          <p:cNvSpPr/>
          <p:nvPr/>
        </p:nvSpPr>
        <p:spPr>
          <a:xfrm>
            <a:off x="5807529" y="1124245"/>
            <a:ext cx="497205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90000"/>
              </a:lnSpc>
            </a:pPr>
            <a:r>
              <a:rPr lang="en-US" altLang="zh-TW" sz="3600" dirty="0" smtClean="0"/>
              <a:t>F’ = CD + AB + BD’ </a:t>
            </a:r>
            <a:endParaRPr lang="en-US" altLang="zh-TW" sz="3600" dirty="0"/>
          </a:p>
        </p:txBody>
      </p:sp>
      <p:sp>
        <p:nvSpPr>
          <p:cNvPr id="3" name="矩形 2"/>
          <p:cNvSpPr/>
          <p:nvPr/>
        </p:nvSpPr>
        <p:spPr>
          <a:xfrm>
            <a:off x="5807529" y="165977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600" b="1" dirty="0">
                <a:solidFill>
                  <a:srgbClr val="C00000"/>
                </a:solidFill>
              </a:rPr>
              <a:t>Apply </a:t>
            </a:r>
            <a:r>
              <a:rPr lang="en-US" altLang="zh-TW" sz="3600" b="1" dirty="0" err="1">
                <a:solidFill>
                  <a:srgbClr val="C00000"/>
                </a:solidFill>
              </a:rPr>
              <a:t>DeMorgan's</a:t>
            </a:r>
            <a:r>
              <a:rPr lang="en-US" altLang="zh-TW" sz="3600" b="1" dirty="0">
                <a:solidFill>
                  <a:srgbClr val="C00000"/>
                </a:solidFill>
              </a:rPr>
              <a:t> theorem</a:t>
            </a:r>
          </a:p>
          <a:p>
            <a:pPr marL="0" lvl="1">
              <a:lnSpc>
                <a:spcPct val="125000"/>
              </a:lnSpc>
            </a:pPr>
            <a:r>
              <a:rPr lang="en-US" altLang="zh-TW" sz="3600" dirty="0"/>
              <a:t>F	= (C’ + D’)(A’ + B’)(B’ + D)</a:t>
            </a:r>
          </a:p>
        </p:txBody>
      </p:sp>
    </p:spTree>
    <p:extLst>
      <p:ext uri="{BB962C8B-B14F-4D97-AF65-F5344CB8AC3E}">
        <p14:creationId xmlns:p14="http://schemas.microsoft.com/office/powerpoint/2010/main" val="2489655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23" name="Picture 28">
            <a:extLst>
              <a:ext uri="{FF2B5EF4-FFF2-40B4-BE49-F238E27FC236}">
                <a16:creationId xmlns:a16="http://schemas.microsoft.com/office/drawing/2014/main" id="{855B8627-A8A8-472E-877F-BC4A5789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03" y="1280206"/>
            <a:ext cx="6160969" cy="5234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681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23" name="Picture 28">
            <a:extLst>
              <a:ext uri="{FF2B5EF4-FFF2-40B4-BE49-F238E27FC236}">
                <a16:creationId xmlns:a16="http://schemas.microsoft.com/office/drawing/2014/main" id="{855B8627-A8A8-472E-877F-BC4A5789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03" y="1280206"/>
            <a:ext cx="6160969" cy="5234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9">
            <a:extLst>
              <a:ext uri="{FF2B5EF4-FFF2-40B4-BE49-F238E27FC236}">
                <a16:creationId xmlns:a16="http://schemas.microsoft.com/office/drawing/2014/main" id="{934882D8-7461-4077-A253-A66C51D50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668" y="1108755"/>
            <a:ext cx="34646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dirty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In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sum-of-</a:t>
            </a:r>
            <a:r>
              <a:rPr lang="en-US" altLang="zh-TW" sz="3200" b="1" dirty="0" err="1" smtClean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Minterm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: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96237029-B6C9-4574-B3F1-09EACD0299E8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86854085"/>
              </p:ext>
            </p:extLst>
          </p:nvPr>
        </p:nvGraphicFramePr>
        <p:xfrm>
          <a:off x="6995668" y="1836964"/>
          <a:ext cx="47203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Equation" r:id="rId4" imgW="1497950" imgH="253890" progId="Equation.DSMT4">
                  <p:embed/>
                </p:oleObj>
              </mc:Choice>
              <mc:Fallback>
                <p:oleObj name="Equation" r:id="rId4" imgW="1497950" imgH="253890" progId="Equation.DSMT4">
                  <p:embed/>
                  <p:pic>
                    <p:nvPicPr>
                      <p:cNvPr id="45060" name="Object 10">
                        <a:extLst>
                          <a:ext uri="{FF2B5EF4-FFF2-40B4-BE49-F238E27FC236}">
                            <a16:creationId xmlns:a16="http://schemas.microsoft.com/office/drawing/2014/main" id="{96237029-B6C9-4574-B3F1-09EACD0299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668" y="1836964"/>
                        <a:ext cx="4720325" cy="8001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243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23" name="Picture 28">
            <a:extLst>
              <a:ext uri="{FF2B5EF4-FFF2-40B4-BE49-F238E27FC236}">
                <a16:creationId xmlns:a16="http://schemas.microsoft.com/office/drawing/2014/main" id="{855B8627-A8A8-472E-877F-BC4A57890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03" y="1280206"/>
            <a:ext cx="6160969" cy="5234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9">
            <a:extLst>
              <a:ext uri="{FF2B5EF4-FFF2-40B4-BE49-F238E27FC236}">
                <a16:creationId xmlns:a16="http://schemas.microsoft.com/office/drawing/2014/main" id="{934882D8-7461-4077-A253-A66C51D50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668" y="1108755"/>
            <a:ext cx="34646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b="1" dirty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In </a:t>
            </a:r>
            <a:r>
              <a:rPr lang="en-US" altLang="zh-TW" sz="3200" b="1" dirty="0" smtClean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sum-of-</a:t>
            </a:r>
            <a:r>
              <a:rPr lang="en-US" altLang="zh-TW" sz="3200" b="1" dirty="0" err="1" smtClean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Minterm</a:t>
            </a:r>
            <a:r>
              <a:rPr lang="en-US" altLang="zh-TW" sz="3200" b="1" dirty="0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rPr>
              <a:t>:</a:t>
            </a:r>
          </a:p>
        </p:txBody>
      </p:sp>
      <p:graphicFrame>
        <p:nvGraphicFramePr>
          <p:cNvPr id="6" name="Object 10">
            <a:extLst>
              <a:ext uri="{FF2B5EF4-FFF2-40B4-BE49-F238E27FC236}">
                <a16:creationId xmlns:a16="http://schemas.microsoft.com/office/drawing/2014/main" id="{96237029-B6C9-4574-B3F1-09EACD0299E8}"/>
              </a:ext>
            </a:extLst>
          </p:cNvPr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86854085"/>
              </p:ext>
            </p:extLst>
          </p:nvPr>
        </p:nvGraphicFramePr>
        <p:xfrm>
          <a:off x="6995668" y="1836964"/>
          <a:ext cx="472032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4" imgW="1497950" imgH="253890" progId="Equation.DSMT4">
                  <p:embed/>
                </p:oleObj>
              </mc:Choice>
              <mc:Fallback>
                <p:oleObj name="Equation" r:id="rId4" imgW="1497950" imgH="253890" progId="Equation.DSMT4">
                  <p:embed/>
                  <p:pic>
                    <p:nvPicPr>
                      <p:cNvPr id="6" name="Object 10">
                        <a:extLst>
                          <a:ext uri="{FF2B5EF4-FFF2-40B4-BE49-F238E27FC236}">
                            <a16:creationId xmlns:a16="http://schemas.microsoft.com/office/drawing/2014/main" id="{96237029-B6C9-4574-B3F1-09EACD0299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668" y="1836964"/>
                        <a:ext cx="4720325" cy="800100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1">
            <a:extLst>
              <a:ext uri="{FF2B5EF4-FFF2-40B4-BE49-F238E27FC236}">
                <a16:creationId xmlns:a16="http://schemas.microsoft.com/office/drawing/2014/main" id="{89298CF1-9DF9-4D34-B396-AE5428152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668" y="2780498"/>
            <a:ext cx="35784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ClrTx/>
              <a:buSzTx/>
              <a:buFontTx/>
              <a:buNone/>
              <a:defRPr kumimoji="1" sz="3200" b="1">
                <a:solidFill>
                  <a:srgbClr val="C00000"/>
                </a:solidFill>
                <a:latin typeface="+mj-lt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400"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000"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r>
              <a:rPr lang="en-US" altLang="zh-TW" dirty="0"/>
              <a:t>In </a:t>
            </a:r>
            <a:r>
              <a:rPr lang="en-US" altLang="zh-TW" dirty="0" smtClean="0"/>
              <a:t>sum-of-</a:t>
            </a:r>
            <a:r>
              <a:rPr lang="en-US" altLang="zh-TW" dirty="0" err="1" smtClean="0"/>
              <a:t>Maxterm</a:t>
            </a:r>
            <a:r>
              <a:rPr lang="en-US" altLang="zh-TW" dirty="0"/>
              <a:t>:</a:t>
            </a:r>
          </a:p>
        </p:txBody>
      </p:sp>
      <p:graphicFrame>
        <p:nvGraphicFramePr>
          <p:cNvPr id="8" name="Object 20">
            <a:extLst>
              <a:ext uri="{FF2B5EF4-FFF2-40B4-BE49-F238E27FC236}">
                <a16:creationId xmlns:a16="http://schemas.microsoft.com/office/drawing/2014/main" id="{2600C8FF-0685-4899-8C36-EA2E159195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210709"/>
              </p:ext>
            </p:extLst>
          </p:nvPr>
        </p:nvGraphicFramePr>
        <p:xfrm>
          <a:off x="6995668" y="3701596"/>
          <a:ext cx="5098420" cy="690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6" imgW="1497950" imgH="203112" progId="Equation.DSMT4">
                  <p:embed/>
                </p:oleObj>
              </mc:Choice>
              <mc:Fallback>
                <p:oleObj name="Equation" r:id="rId6" imgW="1497950" imgH="203112" progId="Equation.DSMT4">
                  <p:embed/>
                  <p:pic>
                    <p:nvPicPr>
                      <p:cNvPr id="45062" name="Object 20">
                        <a:extLst>
                          <a:ext uri="{FF2B5EF4-FFF2-40B4-BE49-F238E27FC236}">
                            <a16:creationId xmlns:a16="http://schemas.microsoft.com/office/drawing/2014/main" id="{2600C8FF-0685-4899-8C36-EA2E159195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668" y="3701596"/>
                        <a:ext cx="5098420" cy="690789"/>
                      </a:xfrm>
                      <a:prstGeom prst="rect">
                        <a:avLst/>
                      </a:prstGeom>
                      <a:noFill/>
                      <a:ln w="19050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195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348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959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1270176" y="3934506"/>
            <a:ext cx="268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58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1270176" y="3934506"/>
            <a:ext cx="268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6098721" y="945015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64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1270176" y="3934506"/>
            <a:ext cx="268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6098721" y="945015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圓角矩形 17"/>
          <p:cNvSpPr/>
          <p:nvPr/>
        </p:nvSpPr>
        <p:spPr>
          <a:xfrm>
            <a:off x="7968343" y="2706462"/>
            <a:ext cx="1902277" cy="95522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 rot="10800000">
            <a:off x="9870620" y="1747159"/>
            <a:ext cx="983168" cy="963385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977011" y="1742982"/>
            <a:ext cx="983168" cy="963385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7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1270176" y="3934506"/>
            <a:ext cx="268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6098721" y="945015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圓角矩形 17"/>
          <p:cNvSpPr/>
          <p:nvPr/>
        </p:nvSpPr>
        <p:spPr>
          <a:xfrm>
            <a:off x="7968343" y="2706462"/>
            <a:ext cx="1902277" cy="95522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 rot="10800000">
            <a:off x="9870620" y="1747159"/>
            <a:ext cx="983168" cy="963385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977011" y="1742982"/>
            <a:ext cx="983168" cy="963385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7357125" y="3990204"/>
            <a:ext cx="2797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F’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=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0000FF"/>
                </a:solidFill>
              </a:rPr>
              <a:t>xz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0000FF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66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1270176" y="3934506"/>
            <a:ext cx="268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6098721" y="945015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圓角矩形 17"/>
          <p:cNvSpPr/>
          <p:nvPr/>
        </p:nvSpPr>
        <p:spPr>
          <a:xfrm>
            <a:off x="7968343" y="2706462"/>
            <a:ext cx="1902277" cy="95522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 rot="10800000">
            <a:off x="9870620" y="1747159"/>
            <a:ext cx="983168" cy="963385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977011" y="1742982"/>
            <a:ext cx="983168" cy="963385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7357125" y="3990204"/>
            <a:ext cx="2797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F’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=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0000FF"/>
                </a:solidFill>
              </a:rPr>
              <a:t>xz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0000FF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84503" y="4634493"/>
            <a:ext cx="49074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200" b="1" dirty="0">
                <a:solidFill>
                  <a:srgbClr val="0000FF"/>
                </a:solidFill>
              </a:rPr>
              <a:t>Apply </a:t>
            </a:r>
            <a:r>
              <a:rPr lang="en-US" altLang="zh-TW" sz="3200" b="1" dirty="0" err="1">
                <a:solidFill>
                  <a:srgbClr val="0000FF"/>
                </a:solidFill>
              </a:rPr>
              <a:t>DeMorgan's</a:t>
            </a:r>
            <a:r>
              <a:rPr lang="en-US" altLang="zh-TW" sz="3200" b="1" dirty="0">
                <a:solidFill>
                  <a:srgbClr val="0000FF"/>
                </a:solidFill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426148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3003" y="141905"/>
            <a:ext cx="8208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600" b="1" dirty="0">
                <a:solidFill>
                  <a:srgbClr val="C00000"/>
                </a:solidFill>
              </a:rPr>
              <a:t>Consider the function defined in Table 3.1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0" y="945016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圓角矩形 9"/>
          <p:cNvSpPr/>
          <p:nvPr/>
        </p:nvSpPr>
        <p:spPr>
          <a:xfrm>
            <a:off x="1853294" y="1747159"/>
            <a:ext cx="1902277" cy="95522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>
            <a:off x="870126" y="2702379"/>
            <a:ext cx="983168" cy="963385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10800000">
            <a:off x="3782527" y="2698203"/>
            <a:ext cx="983168" cy="963385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" name="文字方塊 1"/>
          <p:cNvSpPr txBox="1"/>
          <p:nvPr/>
        </p:nvSpPr>
        <p:spPr>
          <a:xfrm>
            <a:off x="1270176" y="3934506"/>
            <a:ext cx="2688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6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C00000"/>
                </a:solidFill>
              </a:rPr>
              <a:t>xz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5B89C363-9627-4472-8EF3-870C0FFA71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747"/>
          <a:stretch/>
        </p:blipFill>
        <p:spPr bwMode="auto">
          <a:xfrm>
            <a:off x="6098721" y="945015"/>
            <a:ext cx="5775819" cy="27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圓角矩形 17"/>
          <p:cNvSpPr/>
          <p:nvPr/>
        </p:nvSpPr>
        <p:spPr>
          <a:xfrm>
            <a:off x="7968343" y="2706462"/>
            <a:ext cx="1902277" cy="955220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9" name="群組 18"/>
          <p:cNvGrpSpPr/>
          <p:nvPr/>
        </p:nvGrpSpPr>
        <p:grpSpPr>
          <a:xfrm rot="10800000">
            <a:off x="9870620" y="1747159"/>
            <a:ext cx="983168" cy="963385"/>
            <a:chOff x="7453992" y="4071761"/>
            <a:chExt cx="1448866" cy="2011739"/>
          </a:xfrm>
        </p:grpSpPr>
        <p:sp>
          <p:nvSpPr>
            <p:cNvPr id="20" name="手繪多邊形 1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手繪多邊形 2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>
            <a:off x="6977011" y="1742982"/>
            <a:ext cx="983168" cy="963385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7357125" y="3990204"/>
            <a:ext cx="2797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F’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=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err="1" smtClean="0">
                <a:solidFill>
                  <a:srgbClr val="0000FF"/>
                </a:solidFill>
              </a:rPr>
              <a:t>xz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 + </a:t>
            </a:r>
            <a:r>
              <a:rPr lang="en-US" altLang="zh-TW" sz="3600" b="1" dirty="0" err="1" smtClean="0">
                <a:solidFill>
                  <a:srgbClr val="0000FF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84503" y="4634493"/>
            <a:ext cx="49074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200" b="1" dirty="0">
                <a:solidFill>
                  <a:srgbClr val="0000FF"/>
                </a:solidFill>
              </a:rPr>
              <a:t>Apply </a:t>
            </a:r>
            <a:r>
              <a:rPr lang="en-US" altLang="zh-TW" sz="3200" b="1" dirty="0" err="1">
                <a:solidFill>
                  <a:srgbClr val="0000FF"/>
                </a:solidFill>
              </a:rPr>
              <a:t>DeMorgan's</a:t>
            </a:r>
            <a:r>
              <a:rPr lang="en-US" altLang="zh-TW" sz="3200" b="1" dirty="0">
                <a:solidFill>
                  <a:srgbClr val="0000FF"/>
                </a:solidFill>
              </a:rPr>
              <a:t> theorem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7357124" y="5591301"/>
            <a:ext cx="3932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smtClean="0">
                <a:solidFill>
                  <a:srgbClr val="0000FF"/>
                </a:solidFill>
              </a:rPr>
              <a:t>F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=</a:t>
            </a:r>
            <a:r>
              <a:rPr lang="zh-TW" altLang="en-US" sz="3600" b="1" dirty="0" smtClean="0">
                <a:solidFill>
                  <a:srgbClr val="0000FF"/>
                </a:solidFill>
              </a:rPr>
              <a:t> 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(x’ + z’)( x + z)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6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951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58979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2397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20344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2091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0256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334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0256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6279262" y="3091211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45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75364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6279262" y="3091211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grpSp>
        <p:nvGrpSpPr>
          <p:cNvPr id="21" name="群組 20"/>
          <p:cNvGrpSpPr/>
          <p:nvPr/>
        </p:nvGrpSpPr>
        <p:grpSpPr>
          <a:xfrm rot="10800000">
            <a:off x="4285233" y="4748832"/>
            <a:ext cx="1152019" cy="1782600"/>
            <a:chOff x="7453992" y="4071761"/>
            <a:chExt cx="1448866" cy="2011739"/>
          </a:xfrm>
        </p:grpSpPr>
        <p:sp>
          <p:nvSpPr>
            <p:cNvPr id="26" name="手繪多邊形 2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2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1108981" y="4748833"/>
            <a:ext cx="1143853" cy="1782600"/>
            <a:chOff x="7453992" y="4071761"/>
            <a:chExt cx="1448866" cy="2011739"/>
          </a:xfrm>
        </p:grpSpPr>
        <p:sp>
          <p:nvSpPr>
            <p:cNvPr id="29" name="手繪多邊形 2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 2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4479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75364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6279262" y="3091211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79261" y="3737542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0000FF"/>
                </a:solidFill>
              </a:rPr>
              <a:t>wz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21" name="群組 20"/>
          <p:cNvGrpSpPr/>
          <p:nvPr/>
        </p:nvGrpSpPr>
        <p:grpSpPr>
          <a:xfrm rot="10800000">
            <a:off x="4285233" y="4748832"/>
            <a:ext cx="1152019" cy="1782600"/>
            <a:chOff x="7453992" y="4071761"/>
            <a:chExt cx="1448866" cy="2011739"/>
          </a:xfrm>
        </p:grpSpPr>
        <p:sp>
          <p:nvSpPr>
            <p:cNvPr id="26" name="手繪多邊形 2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2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1108981" y="4748833"/>
            <a:ext cx="1143853" cy="1782600"/>
            <a:chOff x="7453992" y="4071761"/>
            <a:chExt cx="1448866" cy="2011739"/>
          </a:xfrm>
        </p:grpSpPr>
        <p:sp>
          <p:nvSpPr>
            <p:cNvPr id="29" name="手繪多邊形 2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 2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707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75364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6279262" y="3091211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79261" y="3737542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0000FF"/>
                </a:solidFill>
              </a:rPr>
              <a:t>wz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21" name="群組 20"/>
          <p:cNvGrpSpPr/>
          <p:nvPr/>
        </p:nvGrpSpPr>
        <p:grpSpPr>
          <a:xfrm rot="10800000">
            <a:off x="4285233" y="4748832"/>
            <a:ext cx="1152019" cy="1782600"/>
            <a:chOff x="7453992" y="4071761"/>
            <a:chExt cx="1448866" cy="2011739"/>
          </a:xfrm>
        </p:grpSpPr>
        <p:sp>
          <p:nvSpPr>
            <p:cNvPr id="26" name="手繪多邊形 2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2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1108981" y="4748833"/>
            <a:ext cx="1143853" cy="1782600"/>
            <a:chOff x="7453992" y="4071761"/>
            <a:chExt cx="1448866" cy="2011739"/>
          </a:xfrm>
        </p:grpSpPr>
        <p:sp>
          <p:nvSpPr>
            <p:cNvPr id="29" name="手繪多邊形 2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 2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圓角矩形 30"/>
          <p:cNvSpPr/>
          <p:nvPr/>
        </p:nvSpPr>
        <p:spPr>
          <a:xfrm>
            <a:off x="1254868" y="4767942"/>
            <a:ext cx="1994972" cy="86541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053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75364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5" name="文字方塊 24"/>
          <p:cNvSpPr txBox="1"/>
          <p:nvPr/>
        </p:nvSpPr>
        <p:spPr>
          <a:xfrm>
            <a:off x="6279262" y="3091211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600" b="1" dirty="0" smtClean="0">
                <a:solidFill>
                  <a:srgbClr val="C00000"/>
                </a:solidFill>
              </a:rPr>
              <a:t>’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79261" y="3737542"/>
            <a:ext cx="8915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0000FF"/>
                </a:solidFill>
              </a:rPr>
              <a:t>wz</a:t>
            </a:r>
            <a:r>
              <a:rPr lang="en-US" altLang="zh-TW" sz="3600" b="1" dirty="0" smtClean="0">
                <a:solidFill>
                  <a:srgbClr val="0000FF"/>
                </a:solidFill>
              </a:rPr>
              <a:t>’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21" name="群組 20"/>
          <p:cNvGrpSpPr/>
          <p:nvPr/>
        </p:nvGrpSpPr>
        <p:grpSpPr>
          <a:xfrm rot="10800000">
            <a:off x="4285233" y="4748832"/>
            <a:ext cx="1152019" cy="1782600"/>
            <a:chOff x="7453992" y="4071761"/>
            <a:chExt cx="1448866" cy="2011739"/>
          </a:xfrm>
        </p:grpSpPr>
        <p:sp>
          <p:nvSpPr>
            <p:cNvPr id="26" name="手繪多邊形 2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2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1108981" y="4748833"/>
            <a:ext cx="1143853" cy="1782600"/>
            <a:chOff x="7453992" y="4071761"/>
            <a:chExt cx="1448866" cy="2011739"/>
          </a:xfrm>
        </p:grpSpPr>
        <p:sp>
          <p:nvSpPr>
            <p:cNvPr id="29" name="手繪多邊形 2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 2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圓角矩形 30"/>
          <p:cNvSpPr/>
          <p:nvPr/>
        </p:nvSpPr>
        <p:spPr>
          <a:xfrm>
            <a:off x="1254868" y="4767942"/>
            <a:ext cx="1994972" cy="86541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6279260" y="4444776"/>
            <a:ext cx="1160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chemeClr val="accent3">
                    <a:lumMod val="50000"/>
                  </a:schemeClr>
                </a:solidFill>
              </a:rPr>
              <a:t>wxy</a:t>
            </a:r>
            <a:r>
              <a:rPr lang="en-US" altLang="zh-TW" sz="3600" b="1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449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75364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grpSp>
        <p:nvGrpSpPr>
          <p:cNvPr id="9" name="群組 8"/>
          <p:cNvGrpSpPr/>
          <p:nvPr/>
        </p:nvGrpSpPr>
        <p:grpSpPr>
          <a:xfrm rot="8068278">
            <a:off x="4361966" y="3018798"/>
            <a:ext cx="766308" cy="778660"/>
            <a:chOff x="7453992" y="4071761"/>
            <a:chExt cx="1448866" cy="2011739"/>
          </a:xfrm>
        </p:grpSpPr>
        <p:sp>
          <p:nvSpPr>
            <p:cNvPr id="10" name="手繪多邊形 9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/>
          <p:cNvGrpSpPr/>
          <p:nvPr/>
        </p:nvGrpSpPr>
        <p:grpSpPr>
          <a:xfrm rot="13531722" flipV="1">
            <a:off x="4361965" y="5731128"/>
            <a:ext cx="766308" cy="778660"/>
            <a:chOff x="7453992" y="4071761"/>
            <a:chExt cx="1448866" cy="2011739"/>
          </a:xfrm>
        </p:grpSpPr>
        <p:sp>
          <p:nvSpPr>
            <p:cNvPr id="13" name="手繪多邊形 1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手繪多邊形 1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 rot="13531722" flipH="1">
            <a:off x="1417963" y="3018798"/>
            <a:ext cx="766308" cy="778660"/>
            <a:chOff x="7453992" y="4071761"/>
            <a:chExt cx="1448866" cy="2011739"/>
          </a:xfrm>
        </p:grpSpPr>
        <p:sp>
          <p:nvSpPr>
            <p:cNvPr id="16" name="手繪多邊形 1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手繪多邊形 1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2" name="群組 21"/>
          <p:cNvGrpSpPr/>
          <p:nvPr/>
        </p:nvGrpSpPr>
        <p:grpSpPr>
          <a:xfrm rot="8068278" flipH="1" flipV="1">
            <a:off x="1417961" y="5731128"/>
            <a:ext cx="766308" cy="778660"/>
            <a:chOff x="7453992" y="4071761"/>
            <a:chExt cx="1448866" cy="2011739"/>
          </a:xfrm>
        </p:grpSpPr>
        <p:sp>
          <p:nvSpPr>
            <p:cNvPr id="23" name="手繪多邊形 22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手繪多邊形 23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1" name="群組 20"/>
          <p:cNvGrpSpPr/>
          <p:nvPr/>
        </p:nvGrpSpPr>
        <p:grpSpPr>
          <a:xfrm rot="10800000">
            <a:off x="4285233" y="4748832"/>
            <a:ext cx="1152019" cy="1782600"/>
            <a:chOff x="7453992" y="4071761"/>
            <a:chExt cx="1448866" cy="2011739"/>
          </a:xfrm>
        </p:grpSpPr>
        <p:sp>
          <p:nvSpPr>
            <p:cNvPr id="26" name="手繪多邊形 25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手繪多邊形 26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1108981" y="4748833"/>
            <a:ext cx="1143853" cy="1782600"/>
            <a:chOff x="7453992" y="4071761"/>
            <a:chExt cx="1448866" cy="2011739"/>
          </a:xfrm>
        </p:grpSpPr>
        <p:sp>
          <p:nvSpPr>
            <p:cNvPr id="29" name="手繪多邊形 28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手繪多邊形 29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1" name="圓角矩形 30"/>
          <p:cNvSpPr/>
          <p:nvPr/>
        </p:nvSpPr>
        <p:spPr>
          <a:xfrm>
            <a:off x="1254868" y="4767942"/>
            <a:ext cx="1994972" cy="865415"/>
          </a:xfrm>
          <a:prstGeom prst="roundRect">
            <a:avLst/>
          </a:prstGeom>
          <a:noFill/>
          <a:ln w="571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74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6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778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279262" y="3091211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w’x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78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279262" y="3091211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w’x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677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279262" y="3091211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w’x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293139" y="3809669"/>
            <a:ext cx="65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0000FF"/>
                </a:solidFill>
              </a:rPr>
              <a:t>yz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62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279262" y="3091211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w’x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293139" y="3809669"/>
            <a:ext cx="65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0000FF"/>
                </a:solidFill>
              </a:rPr>
              <a:t>yz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 rot="16200000">
            <a:off x="2764667" y="5107814"/>
            <a:ext cx="960370" cy="2017488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2773411" y="2394256"/>
            <a:ext cx="960370" cy="2017488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367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6279262" y="3091211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C00000"/>
                </a:solidFill>
              </a:rPr>
              <a:t>w’x</a:t>
            </a:r>
            <a:endParaRPr lang="zh-TW" altLang="en-US" sz="3600" b="1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293139" y="3809669"/>
            <a:ext cx="65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rgbClr val="0000FF"/>
                </a:solidFill>
              </a:rPr>
              <a:t>yz</a:t>
            </a:r>
            <a:endParaRPr lang="zh-TW" altLang="en-US" sz="3600" b="1" dirty="0">
              <a:solidFill>
                <a:srgbClr val="0000FF"/>
              </a:solidFill>
            </a:endParaRPr>
          </a:p>
        </p:txBody>
      </p:sp>
      <p:grpSp>
        <p:nvGrpSpPr>
          <p:cNvPr id="11" name="群組 10"/>
          <p:cNvGrpSpPr/>
          <p:nvPr/>
        </p:nvGrpSpPr>
        <p:grpSpPr>
          <a:xfrm rot="16200000">
            <a:off x="2764667" y="5107814"/>
            <a:ext cx="960370" cy="2017488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2773411" y="2394256"/>
            <a:ext cx="960370" cy="2017488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" name="文字方塊 16"/>
          <p:cNvSpPr txBox="1"/>
          <p:nvPr/>
        </p:nvSpPr>
        <p:spPr>
          <a:xfrm>
            <a:off x="6305264" y="4626097"/>
            <a:ext cx="7713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b="1" dirty="0" err="1" smtClean="0">
                <a:solidFill>
                  <a:schemeClr val="accent3">
                    <a:lumMod val="50000"/>
                  </a:schemeClr>
                </a:solidFill>
              </a:rPr>
              <a:t>x’z</a:t>
            </a:r>
            <a:endParaRPr lang="zh-TW" altLang="en-US" sz="36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10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 rot="16200000">
            <a:off x="2764667" y="5107814"/>
            <a:ext cx="960370" cy="2017488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2773411" y="2394256"/>
            <a:ext cx="960370" cy="2017488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矩形 17"/>
          <p:cNvSpPr/>
          <p:nvPr/>
        </p:nvSpPr>
        <p:spPr>
          <a:xfrm>
            <a:off x="5701793" y="2988129"/>
            <a:ext cx="493276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(b) 	Product-of-sums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F’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w’x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yz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318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 rot="16200000">
            <a:off x="2764667" y="5107814"/>
            <a:ext cx="960370" cy="2017488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2773411" y="2394256"/>
            <a:ext cx="960370" cy="2017488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矩形 17"/>
          <p:cNvSpPr/>
          <p:nvPr/>
        </p:nvSpPr>
        <p:spPr>
          <a:xfrm>
            <a:off x="5701793" y="2988129"/>
            <a:ext cx="493276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(b) 	Product-of-sums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F’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w’x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yz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10996" y="3961950"/>
            <a:ext cx="49074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200" b="1" dirty="0">
                <a:solidFill>
                  <a:srgbClr val="0000FF"/>
                </a:solidFill>
              </a:rPr>
              <a:t>Apply </a:t>
            </a:r>
            <a:r>
              <a:rPr lang="en-US" altLang="zh-TW" sz="3200" b="1" dirty="0" err="1">
                <a:solidFill>
                  <a:srgbClr val="0000FF"/>
                </a:solidFill>
              </a:rPr>
              <a:t>DeMorgan's</a:t>
            </a:r>
            <a:r>
              <a:rPr lang="en-US" altLang="zh-TW" sz="3200" b="1" dirty="0">
                <a:solidFill>
                  <a:srgbClr val="0000FF"/>
                </a:solidFill>
              </a:rPr>
              <a:t> theorem</a:t>
            </a:r>
          </a:p>
        </p:txBody>
      </p:sp>
    </p:spTree>
    <p:extLst>
      <p:ext uri="{BB962C8B-B14F-4D97-AF65-F5344CB8AC3E}">
        <p14:creationId xmlns:p14="http://schemas.microsoft.com/office/powerpoint/2010/main" val="153958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7" name="圓角矩形 6"/>
          <p:cNvSpPr/>
          <p:nvPr/>
        </p:nvSpPr>
        <p:spPr>
          <a:xfrm>
            <a:off x="1222210" y="3883186"/>
            <a:ext cx="4069155" cy="865415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3273880" y="2988129"/>
            <a:ext cx="979714" cy="3543303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" name="群組 10"/>
          <p:cNvGrpSpPr/>
          <p:nvPr/>
        </p:nvGrpSpPr>
        <p:grpSpPr>
          <a:xfrm rot="16200000">
            <a:off x="2764667" y="5107814"/>
            <a:ext cx="960370" cy="2017488"/>
            <a:chOff x="7453992" y="4071761"/>
            <a:chExt cx="1448866" cy="2011739"/>
          </a:xfrm>
        </p:grpSpPr>
        <p:sp>
          <p:nvSpPr>
            <p:cNvPr id="12" name="手繪多邊形 11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手繪多邊形 12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2773411" y="2394256"/>
            <a:ext cx="960370" cy="2017488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矩形 17"/>
          <p:cNvSpPr/>
          <p:nvPr/>
        </p:nvSpPr>
        <p:spPr>
          <a:xfrm>
            <a:off x="5701793" y="2988129"/>
            <a:ext cx="493276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(b) 	Product-of-sums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F’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w’x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yz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610996" y="3961950"/>
            <a:ext cx="49074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25000"/>
              </a:lnSpc>
            </a:pPr>
            <a:r>
              <a:rPr lang="en-US" altLang="zh-TW" sz="3200" b="1" dirty="0">
                <a:solidFill>
                  <a:srgbClr val="0000FF"/>
                </a:solidFill>
              </a:rPr>
              <a:t>Apply </a:t>
            </a:r>
            <a:r>
              <a:rPr lang="en-US" altLang="zh-TW" sz="3200" b="1" dirty="0" err="1">
                <a:solidFill>
                  <a:srgbClr val="0000FF"/>
                </a:solidFill>
              </a:rPr>
              <a:t>DeMorgan's</a:t>
            </a:r>
            <a:r>
              <a:rPr lang="en-US" altLang="zh-TW" sz="3200" b="1" dirty="0">
                <a:solidFill>
                  <a:srgbClr val="0000FF"/>
                </a:solidFill>
              </a:rPr>
              <a:t> theorem</a:t>
            </a:r>
          </a:p>
        </p:txBody>
      </p:sp>
      <p:sp>
        <p:nvSpPr>
          <p:cNvPr id="20" name="矩形 19"/>
          <p:cNvSpPr/>
          <p:nvPr/>
        </p:nvSpPr>
        <p:spPr>
          <a:xfrm>
            <a:off x="5701793" y="4621993"/>
            <a:ext cx="59458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(w + x’)(y’ + z’)(x + z’)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783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0" y="228601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dirty="0" smtClean="0"/>
              <a:t>Simplify the Boolean function F(w, x, y, z) = ∑(0, 2, 8, 10, 12, 13, 14)</a:t>
            </a:r>
          </a:p>
          <a:p>
            <a:r>
              <a:rPr lang="en-US" altLang="zh-TW" sz="3200" b="1" dirty="0" smtClean="0"/>
              <a:t>into (a) sum-of-product form (b) product-of –sum form</a:t>
            </a:r>
            <a:endParaRPr lang="zh-TW" altLang="en-US" sz="3200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366025"/>
              </p:ext>
            </p:extLst>
          </p:nvPr>
        </p:nvGraphicFramePr>
        <p:xfrm>
          <a:off x="220436" y="2100357"/>
          <a:ext cx="5070930" cy="443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186">
                  <a:extLst>
                    <a:ext uri="{9D8B030D-6E8A-4147-A177-3AD203B41FA5}">
                      <a16:colId xmlns:a16="http://schemas.microsoft.com/office/drawing/2014/main" val="3775021981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374735863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424384979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954280916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903099243"/>
                    </a:ext>
                  </a:extLst>
                </a:gridCol>
              </a:tblGrid>
              <a:tr h="886215">
                <a:tc>
                  <a:txBody>
                    <a:bodyPr/>
                    <a:lstStyle/>
                    <a:p>
                      <a:pPr algn="ctr"/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43692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595745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433747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661943"/>
                  </a:ext>
                </a:extLst>
              </a:tr>
              <a:tr h="8862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3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522000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220436" y="2506436"/>
            <a:ext cx="66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wx</a:t>
            </a:r>
            <a:endParaRPr lang="zh-TW" altLang="en-US" sz="32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539594" y="1920635"/>
            <a:ext cx="569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 err="1" smtClean="0"/>
              <a:t>yz</a:t>
            </a:r>
            <a:endParaRPr lang="zh-TW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5701793" y="1506018"/>
            <a:ext cx="5216493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(a) 	sum-of-product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x’z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wz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+ </a:t>
            </a:r>
            <a:r>
              <a:rPr lang="en-US" altLang="zh-TW" sz="3200" b="1" dirty="0" err="1" smtClean="0">
                <a:solidFill>
                  <a:srgbClr val="C00000"/>
                </a:solidFill>
              </a:rPr>
              <a:t>wxy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’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701793" y="2988129"/>
            <a:ext cx="493276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(b) 	Product-of-sums form</a:t>
            </a:r>
          </a:p>
          <a:p>
            <a:r>
              <a:rPr lang="en-US" altLang="zh-TW" sz="3200" b="1" dirty="0" smtClean="0">
                <a:solidFill>
                  <a:srgbClr val="C00000"/>
                </a:solidFill>
              </a:rPr>
              <a:t>		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701793" y="3526738"/>
            <a:ext cx="59458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 smtClean="0">
                <a:solidFill>
                  <a:srgbClr val="C00000"/>
                </a:solidFill>
              </a:rPr>
              <a:t>		F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32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3200" b="1" dirty="0" smtClean="0">
                <a:solidFill>
                  <a:srgbClr val="C00000"/>
                </a:solidFill>
              </a:rPr>
              <a:t>(w + x’)(y’ + z’)(x + z’) </a:t>
            </a:r>
            <a:endParaRPr lang="zh-TW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9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120205"/>
              </p:ext>
            </p:extLst>
          </p:nvPr>
        </p:nvGraphicFramePr>
        <p:xfrm>
          <a:off x="449036" y="1771410"/>
          <a:ext cx="5021944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8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499408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22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085815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89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8354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37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116788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922834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22497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09648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14640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" name="圓角矩形 1"/>
          <p:cNvSpPr/>
          <p:nvPr/>
        </p:nvSpPr>
        <p:spPr>
          <a:xfrm>
            <a:off x="7486650" y="2718707"/>
            <a:ext cx="1943100" cy="82459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700584" y="4568246"/>
            <a:ext cx="15472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48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761926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14640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" name="圓角矩形 1"/>
          <p:cNvSpPr/>
          <p:nvPr/>
        </p:nvSpPr>
        <p:spPr>
          <a:xfrm>
            <a:off x="7486650" y="2718707"/>
            <a:ext cx="1943100" cy="82459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7486650" y="2718708"/>
            <a:ext cx="971550" cy="1698852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5700584" y="4568246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0000FF"/>
                </a:solidFill>
              </a:rPr>
              <a:t>y’z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9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92333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14640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" name="圓角矩形 1"/>
          <p:cNvSpPr/>
          <p:nvPr/>
        </p:nvSpPr>
        <p:spPr>
          <a:xfrm>
            <a:off x="7486650" y="2718707"/>
            <a:ext cx="1943100" cy="82459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7486650" y="2718708"/>
            <a:ext cx="971550" cy="1698852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群組 13"/>
          <p:cNvGrpSpPr/>
          <p:nvPr/>
        </p:nvGrpSpPr>
        <p:grpSpPr>
          <a:xfrm>
            <a:off x="7417292" y="2718706"/>
            <a:ext cx="1040908" cy="824594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rot="10800000">
            <a:off x="10393136" y="2715132"/>
            <a:ext cx="1040908" cy="824594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5700584" y="4568246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0000FF"/>
                </a:solidFill>
              </a:rPr>
              <a:t>y’z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chemeClr val="accent3">
                    <a:lumMod val="50000"/>
                  </a:schemeClr>
                </a:solidFill>
              </a:rPr>
              <a:t>x’z</a:t>
            </a:r>
            <a:r>
              <a:rPr lang="en-US" altLang="zh-TW" sz="2800" b="1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95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92333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4137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" name="圓角矩形 1"/>
          <p:cNvSpPr/>
          <p:nvPr/>
        </p:nvSpPr>
        <p:spPr>
          <a:xfrm>
            <a:off x="7486650" y="2718707"/>
            <a:ext cx="1943100" cy="824593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7486650" y="2718708"/>
            <a:ext cx="971550" cy="1698852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群組 13"/>
          <p:cNvGrpSpPr/>
          <p:nvPr/>
        </p:nvGrpSpPr>
        <p:grpSpPr>
          <a:xfrm>
            <a:off x="7417292" y="2718706"/>
            <a:ext cx="1040908" cy="824594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rot="10800000">
            <a:off x="10393136" y="2715132"/>
            <a:ext cx="1040908" cy="824594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0" name="矩形 19"/>
          <p:cNvSpPr/>
          <p:nvPr/>
        </p:nvSpPr>
        <p:spPr>
          <a:xfrm>
            <a:off x="5700584" y="4568246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0000FF"/>
                </a:solidFill>
              </a:rPr>
              <a:t>y’z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chemeClr val="accent3">
                    <a:lumMod val="50000"/>
                  </a:schemeClr>
                </a:solidFill>
              </a:rPr>
              <a:t>x’z</a:t>
            </a:r>
            <a:r>
              <a:rPr lang="en-US" altLang="zh-TW" sz="2800" b="1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89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92333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4137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5700584" y="4568246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0000FF"/>
                </a:solidFill>
              </a:rPr>
              <a:t>y’z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chemeClr val="accent3">
                    <a:lumMod val="50000"/>
                  </a:schemeClr>
                </a:solidFill>
              </a:rPr>
              <a:t>x’z</a:t>
            </a:r>
            <a:r>
              <a:rPr lang="en-US" altLang="zh-TW" sz="2800" b="1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68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92333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4137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5700584" y="4568246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0000FF"/>
                </a:solidFill>
              </a:rPr>
              <a:t>y’z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chemeClr val="accent3">
                    <a:lumMod val="50000"/>
                  </a:schemeClr>
                </a:solidFill>
              </a:rPr>
              <a:t>x’z</a:t>
            </a:r>
            <a:r>
              <a:rPr lang="en-US" altLang="zh-TW" sz="2800" b="1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7486650" y="2718707"/>
            <a:ext cx="1943100" cy="168229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700584" y="5258480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06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61257" y="1016657"/>
            <a:ext cx="116422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The value of a function is not specified for certain combinations of </a:t>
            </a:r>
            <a:r>
              <a:rPr lang="en-US" altLang="zh-TW" sz="2800" dirty="0" smtClean="0"/>
              <a:t>variables</a:t>
            </a:r>
            <a:endParaRPr lang="en-US" altLang="zh-TW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92333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541375"/>
              </p:ext>
            </p:extLst>
          </p:nvPr>
        </p:nvGraphicFramePr>
        <p:xfrm>
          <a:off x="6539592" y="1861231"/>
          <a:ext cx="4825095" cy="2539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019">
                  <a:extLst>
                    <a:ext uri="{9D8B030D-6E8A-4147-A177-3AD203B41FA5}">
                      <a16:colId xmlns:a16="http://schemas.microsoft.com/office/drawing/2014/main" val="308598473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26202679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687534631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3400179918"/>
                    </a:ext>
                  </a:extLst>
                </a:gridCol>
                <a:gridCol w="965019">
                  <a:extLst>
                    <a:ext uri="{9D8B030D-6E8A-4147-A177-3AD203B41FA5}">
                      <a16:colId xmlns:a16="http://schemas.microsoft.com/office/drawing/2014/main" val="2738002416"/>
                    </a:ext>
                  </a:extLst>
                </a:gridCol>
              </a:tblGrid>
              <a:tr h="846591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4842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663578"/>
                  </a:ext>
                </a:extLst>
              </a:tr>
              <a:tr h="84659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marL="108157" marR="108157" marT="54078" marB="540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641444"/>
                  </a:ext>
                </a:extLst>
              </a:tr>
            </a:tbl>
          </a:graphicData>
        </a:graphic>
      </p:graphicFrame>
      <p:sp>
        <p:nvSpPr>
          <p:cNvPr id="11" name="文字方塊 10"/>
          <p:cNvSpPr txBox="1"/>
          <p:nvPr/>
        </p:nvSpPr>
        <p:spPr>
          <a:xfrm>
            <a:off x="6651969" y="212284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x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016171" y="1771410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/>
              <a:t>yz</a:t>
            </a:r>
            <a:endParaRPr lang="zh-TW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5700584" y="4568246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C00000"/>
                </a:solidFill>
              </a:rPr>
              <a:t>x’y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’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rgbClr val="0000FF"/>
                </a:solidFill>
              </a:rPr>
              <a:t>y’z</a:t>
            </a:r>
            <a:r>
              <a:rPr lang="en-US" altLang="zh-TW" sz="2800" b="1" dirty="0" smtClean="0">
                <a:solidFill>
                  <a:srgbClr val="0000FF"/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/>
              <a:t>+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err="1" smtClean="0">
                <a:solidFill>
                  <a:schemeClr val="accent3">
                    <a:lumMod val="50000"/>
                  </a:schemeClr>
                </a:solidFill>
              </a:rPr>
              <a:t>x’z</a:t>
            </a:r>
            <a:r>
              <a:rPr lang="en-US" altLang="zh-TW" sz="2800" b="1" dirty="0" smtClean="0">
                <a:solidFill>
                  <a:schemeClr val="accent3">
                    <a:lumMod val="50000"/>
                  </a:schemeClr>
                </a:solidFill>
              </a:rPr>
              <a:t>’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 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sp>
        <p:nvSpPr>
          <p:cNvPr id="9" name="圓角矩形 8"/>
          <p:cNvSpPr/>
          <p:nvPr/>
        </p:nvSpPr>
        <p:spPr>
          <a:xfrm>
            <a:off x="7486650" y="2718707"/>
            <a:ext cx="1943100" cy="1682297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700584" y="5258480"/>
            <a:ext cx="47088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grpSp>
        <p:nvGrpSpPr>
          <p:cNvPr id="14" name="群組 13"/>
          <p:cNvGrpSpPr/>
          <p:nvPr/>
        </p:nvGrpSpPr>
        <p:grpSpPr>
          <a:xfrm rot="10800000">
            <a:off x="10393136" y="2715132"/>
            <a:ext cx="1040908" cy="1685872"/>
            <a:chOff x="7453992" y="4071761"/>
            <a:chExt cx="1448866" cy="2011739"/>
          </a:xfrm>
        </p:grpSpPr>
        <p:sp>
          <p:nvSpPr>
            <p:cNvPr id="15" name="手繪多邊形 14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手繪多邊形 15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7411604" y="2691106"/>
            <a:ext cx="1040908" cy="1685872"/>
            <a:chOff x="7453992" y="4071761"/>
            <a:chExt cx="1448866" cy="2011739"/>
          </a:xfrm>
        </p:grpSpPr>
        <p:sp>
          <p:nvSpPr>
            <p:cNvPr id="18" name="手繪多邊形 17"/>
            <p:cNvSpPr/>
            <p:nvPr/>
          </p:nvSpPr>
          <p:spPr>
            <a:xfrm>
              <a:off x="7453993" y="4071761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手繪多邊形 18"/>
            <p:cNvSpPr/>
            <p:nvPr/>
          </p:nvSpPr>
          <p:spPr>
            <a:xfrm flipV="1">
              <a:off x="7453992" y="5068912"/>
              <a:ext cx="1448865" cy="1014588"/>
            </a:xfrm>
            <a:custGeom>
              <a:avLst/>
              <a:gdLst>
                <a:gd name="connsiteX0" fmla="*/ 0 w 1448865"/>
                <a:gd name="connsiteY0" fmla="*/ 26710 h 1014588"/>
                <a:gd name="connsiteX1" fmla="*/ 963386 w 1448865"/>
                <a:gd name="connsiteY1" fmla="*/ 26710 h 1014588"/>
                <a:gd name="connsiteX2" fmla="*/ 1387928 w 1448865"/>
                <a:gd name="connsiteY2" fmla="*/ 304296 h 1014588"/>
                <a:gd name="connsiteX3" fmla="*/ 1436914 w 1448865"/>
                <a:gd name="connsiteY3" fmla="*/ 1014588 h 1014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8865" h="1014588">
                  <a:moveTo>
                    <a:pt x="0" y="26710"/>
                  </a:moveTo>
                  <a:cubicBezTo>
                    <a:pt x="366032" y="3578"/>
                    <a:pt x="732065" y="-19554"/>
                    <a:pt x="963386" y="26710"/>
                  </a:cubicBezTo>
                  <a:cubicBezTo>
                    <a:pt x="1194707" y="72974"/>
                    <a:pt x="1309007" y="139650"/>
                    <a:pt x="1387928" y="304296"/>
                  </a:cubicBezTo>
                  <a:cubicBezTo>
                    <a:pt x="1466849" y="468942"/>
                    <a:pt x="1451881" y="741765"/>
                    <a:pt x="1436914" y="1014588"/>
                  </a:cubicBezTo>
                </a:path>
              </a:pathLst>
            </a:custGeom>
            <a:noFill/>
            <a:ln w="571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169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68208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03393" y="1086053"/>
            <a:ext cx="1991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4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93829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03393" y="1086053"/>
            <a:ext cx="1991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91965"/>
              </p:ext>
            </p:extLst>
          </p:nvPr>
        </p:nvGraphicFramePr>
        <p:xfrm>
          <a:off x="6303393" y="1771409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15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93829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03393" y="1086053"/>
            <a:ext cx="1991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540740"/>
              </p:ext>
            </p:extLst>
          </p:nvPr>
        </p:nvGraphicFramePr>
        <p:xfrm>
          <a:off x="6303393" y="1771409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8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93829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03393" y="1086053"/>
            <a:ext cx="1991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331347"/>
              </p:ext>
            </p:extLst>
          </p:nvPr>
        </p:nvGraphicFramePr>
        <p:xfrm>
          <a:off x="6303393" y="1771409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70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293829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03393" y="1086053"/>
            <a:ext cx="1991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576029"/>
              </p:ext>
            </p:extLst>
          </p:nvPr>
        </p:nvGraphicFramePr>
        <p:xfrm>
          <a:off x="6303393" y="1771409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46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3078"/>
              </p:ext>
            </p:extLst>
          </p:nvPr>
        </p:nvGraphicFramePr>
        <p:xfrm>
          <a:off x="449036" y="1771410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x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6303393" y="1086053"/>
            <a:ext cx="19915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b="1" dirty="0" smtClean="0">
                <a:solidFill>
                  <a:srgbClr val="C00000"/>
                </a:solidFill>
              </a:rPr>
              <a:t>F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=</a:t>
            </a:r>
            <a:r>
              <a:rPr lang="zh-TW" altLang="en-US" sz="2800" b="1" dirty="0" smtClean="0">
                <a:solidFill>
                  <a:srgbClr val="C00000"/>
                </a:solidFill>
              </a:rPr>
              <a:t> </a:t>
            </a:r>
            <a:r>
              <a:rPr lang="en-US" altLang="zh-TW" sz="2800" b="1" dirty="0" smtClean="0">
                <a:solidFill>
                  <a:srgbClr val="C00000"/>
                </a:solidFill>
              </a:rPr>
              <a:t>y’ + z’</a:t>
            </a:r>
            <a:endParaRPr lang="zh-TW" altLang="en-US" sz="2800" b="1" baseline="-25000" dirty="0">
              <a:solidFill>
                <a:srgbClr val="C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576029"/>
              </p:ext>
            </p:extLst>
          </p:nvPr>
        </p:nvGraphicFramePr>
        <p:xfrm>
          <a:off x="6303393" y="1771409"/>
          <a:ext cx="502194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5486">
                  <a:extLst>
                    <a:ext uri="{9D8B030D-6E8A-4147-A177-3AD203B41FA5}">
                      <a16:colId xmlns:a16="http://schemas.microsoft.com/office/drawing/2014/main" val="1644214059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802184998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1132003235"/>
                    </a:ext>
                  </a:extLst>
                </a:gridCol>
                <a:gridCol w="1255486">
                  <a:extLst>
                    <a:ext uri="{9D8B030D-6E8A-4147-A177-3AD203B41FA5}">
                      <a16:colId xmlns:a16="http://schemas.microsoft.com/office/drawing/2014/main" val="302289740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zh-TW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zh-TW" altLang="en-US" sz="280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39100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554512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7395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18547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53888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14943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91357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708431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0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/>
                        <a:t>1</a:t>
                      </a:r>
                      <a:endParaRPr lang="zh-TW" altLang="en-US" sz="2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301782"/>
                  </a:ext>
                </a:extLst>
              </a:tr>
            </a:tbl>
          </a:graphicData>
        </a:graphic>
      </p:graphicFrame>
      <p:cxnSp>
        <p:nvCxnSpPr>
          <p:cNvPr id="3" name="直線接點 2"/>
          <p:cNvCxnSpPr/>
          <p:nvPr/>
        </p:nvCxnSpPr>
        <p:spPr>
          <a:xfrm>
            <a:off x="449036" y="5396593"/>
            <a:ext cx="5021035" cy="103825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H="1">
            <a:off x="449036" y="5396593"/>
            <a:ext cx="5021035" cy="103825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>
            <a:off x="6304302" y="5396593"/>
            <a:ext cx="5021035" cy="103825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>
            <a:off x="6304302" y="5396593"/>
            <a:ext cx="5021035" cy="103825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7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843" y="115457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2800" dirty="0"/>
              <a:t>F 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∑</a:t>
            </a:r>
            <a:r>
              <a:rPr lang="en-US" altLang="zh-TW" sz="2800" dirty="0" smtClean="0"/>
              <a:t>(</a:t>
            </a:r>
            <a:r>
              <a:rPr lang="en-US" altLang="zh-TW" sz="2800" dirty="0"/>
              <a:t>1</a:t>
            </a:r>
            <a:r>
              <a:rPr lang="en-US" altLang="zh-TW" sz="2800" dirty="0" smtClean="0"/>
              <a:t>, 3, 7, 11, 15</a:t>
            </a:r>
            <a:r>
              <a:rPr lang="en-US" altLang="zh-TW" sz="2800" dirty="0"/>
              <a:t>)</a:t>
            </a:r>
          </a:p>
          <a:p>
            <a:pPr lvl="1"/>
            <a:r>
              <a:rPr lang="en-US" altLang="zh-TW" sz="2800" dirty="0"/>
              <a:t>d(w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</a:t>
            </a:r>
            <a:r>
              <a:rPr lang="en-US" altLang="zh-TW" sz="2800" dirty="0" smtClean="0"/>
              <a:t>∑(</a:t>
            </a:r>
            <a:r>
              <a:rPr lang="en-US" altLang="zh-TW" sz="2800" dirty="0"/>
              <a:t>0</a:t>
            </a:r>
            <a:r>
              <a:rPr lang="en-US" altLang="zh-TW" sz="2800" dirty="0" smtClean="0"/>
              <a:t>, 2, 5</a:t>
            </a:r>
            <a:r>
              <a:rPr lang="en-US" altLang="zh-TW" sz="2800" dirty="0"/>
              <a:t>)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63214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843" y="115457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2800" dirty="0"/>
              <a:t>F 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∑</a:t>
            </a:r>
            <a:r>
              <a:rPr lang="en-US" altLang="zh-TW" sz="2800" dirty="0" smtClean="0"/>
              <a:t>(</a:t>
            </a:r>
            <a:r>
              <a:rPr lang="en-US" altLang="zh-TW" sz="2800" dirty="0"/>
              <a:t>1</a:t>
            </a:r>
            <a:r>
              <a:rPr lang="en-US" altLang="zh-TW" sz="2800" dirty="0" smtClean="0"/>
              <a:t>, 3, 7, 11, 15</a:t>
            </a:r>
            <a:r>
              <a:rPr lang="en-US" altLang="zh-TW" sz="2800" dirty="0"/>
              <a:t>)</a:t>
            </a:r>
          </a:p>
          <a:p>
            <a:pPr lvl="1"/>
            <a:r>
              <a:rPr lang="en-US" altLang="zh-TW" sz="2800" dirty="0"/>
              <a:t>d(w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</a:t>
            </a:r>
            <a:r>
              <a:rPr lang="en-US" altLang="zh-TW" sz="2800" dirty="0" smtClean="0"/>
              <a:t>∑(</a:t>
            </a:r>
            <a:r>
              <a:rPr lang="en-US" altLang="zh-TW" sz="2800" dirty="0"/>
              <a:t>0</a:t>
            </a:r>
            <a:r>
              <a:rPr lang="en-US" altLang="zh-TW" sz="2800" dirty="0" smtClean="0"/>
              <a:t>, 2, 5</a:t>
            </a:r>
            <a:r>
              <a:rPr lang="en-US" altLang="zh-TW" sz="2800" dirty="0"/>
              <a:t>)</a:t>
            </a:r>
            <a:endParaRPr lang="en-US" altLang="zh-TW" sz="2800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682F4001-B6B0-469F-9C23-D2A4F244B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3742" r="58256" b="32039"/>
          <a:stretch/>
        </p:blipFill>
        <p:spPr bwMode="auto">
          <a:xfrm>
            <a:off x="5878284" y="1281790"/>
            <a:ext cx="5396593" cy="519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197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843" y="115457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2800" dirty="0"/>
              <a:t>F 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∑</a:t>
            </a:r>
            <a:r>
              <a:rPr lang="en-US" altLang="zh-TW" sz="2800" dirty="0" smtClean="0"/>
              <a:t>(</a:t>
            </a:r>
            <a:r>
              <a:rPr lang="en-US" altLang="zh-TW" sz="2800" dirty="0"/>
              <a:t>1</a:t>
            </a:r>
            <a:r>
              <a:rPr lang="en-US" altLang="zh-TW" sz="2800" dirty="0" smtClean="0"/>
              <a:t>, 3, 7, 11, 15</a:t>
            </a:r>
            <a:r>
              <a:rPr lang="en-US" altLang="zh-TW" sz="2800" dirty="0"/>
              <a:t>)</a:t>
            </a:r>
          </a:p>
          <a:p>
            <a:pPr lvl="1"/>
            <a:r>
              <a:rPr lang="en-US" altLang="zh-TW" sz="2800" dirty="0"/>
              <a:t>d(w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</a:t>
            </a:r>
            <a:r>
              <a:rPr lang="en-US" altLang="zh-TW" sz="2800" dirty="0" smtClean="0"/>
              <a:t>∑(</a:t>
            </a:r>
            <a:r>
              <a:rPr lang="en-US" altLang="zh-TW" sz="2800" dirty="0"/>
              <a:t>0</a:t>
            </a:r>
            <a:r>
              <a:rPr lang="en-US" altLang="zh-TW" sz="2800" dirty="0" smtClean="0"/>
              <a:t>, 2, 5</a:t>
            </a:r>
            <a:r>
              <a:rPr lang="en-US" altLang="zh-TW" sz="2800" dirty="0"/>
              <a:t>)</a:t>
            </a:r>
            <a:endParaRPr lang="en-US" altLang="zh-TW" sz="2800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682F4001-B6B0-469F-9C23-D2A4F244B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3742" r="58256" b="32039"/>
          <a:stretch/>
        </p:blipFill>
        <p:spPr bwMode="auto">
          <a:xfrm>
            <a:off x="5878284" y="1281790"/>
            <a:ext cx="5396593" cy="519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圓角矩形 12"/>
          <p:cNvSpPr/>
          <p:nvPr/>
        </p:nvSpPr>
        <p:spPr>
          <a:xfrm>
            <a:off x="6890657" y="2092350"/>
            <a:ext cx="4294413" cy="105090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 rot="5400000">
            <a:off x="7416107" y="3705894"/>
            <a:ext cx="4294413" cy="1050901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31821" y="3086101"/>
            <a:ext cx="2981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spcBef>
                <a:spcPct val="0"/>
              </a:spcBef>
            </a:pPr>
            <a:r>
              <a:rPr lang="en-US" altLang="zh-TW" sz="3200" b="1" dirty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yz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w'x</a:t>
            </a:r>
            <a:r>
              <a:rPr lang="en-US" altLang="zh-TW" sz="3200" b="1" dirty="0">
                <a:solidFill>
                  <a:srgbClr val="C00000"/>
                </a:solidFill>
              </a:rPr>
              <a:t>'</a:t>
            </a:r>
            <a:endParaRPr lang="en-US" altLang="zh-TW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30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843" y="115457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2800" dirty="0"/>
              <a:t>F 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∑</a:t>
            </a:r>
            <a:r>
              <a:rPr lang="en-US" altLang="zh-TW" sz="2800" dirty="0" smtClean="0"/>
              <a:t>(</a:t>
            </a:r>
            <a:r>
              <a:rPr lang="en-US" altLang="zh-TW" sz="2800" dirty="0"/>
              <a:t>1</a:t>
            </a:r>
            <a:r>
              <a:rPr lang="en-US" altLang="zh-TW" sz="2800" dirty="0" smtClean="0"/>
              <a:t>, 3, 7, 11, 15</a:t>
            </a:r>
            <a:r>
              <a:rPr lang="en-US" altLang="zh-TW" sz="2800" dirty="0"/>
              <a:t>)</a:t>
            </a:r>
          </a:p>
          <a:p>
            <a:pPr lvl="1"/>
            <a:r>
              <a:rPr lang="en-US" altLang="zh-TW" sz="2800" dirty="0"/>
              <a:t>d(w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</a:t>
            </a:r>
            <a:r>
              <a:rPr lang="en-US" altLang="zh-TW" sz="2800" dirty="0" smtClean="0"/>
              <a:t>∑(</a:t>
            </a:r>
            <a:r>
              <a:rPr lang="en-US" altLang="zh-TW" sz="2800" dirty="0"/>
              <a:t>0</a:t>
            </a:r>
            <a:r>
              <a:rPr lang="en-US" altLang="zh-TW" sz="2800" dirty="0" smtClean="0"/>
              <a:t>, 2, 5</a:t>
            </a:r>
            <a:r>
              <a:rPr lang="en-US" altLang="zh-TW" sz="2800" dirty="0"/>
              <a:t>)</a:t>
            </a:r>
            <a:endParaRPr lang="en-US" altLang="zh-TW" sz="2800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682F4001-B6B0-469F-9C23-D2A4F244B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3742" r="58256" b="32039"/>
          <a:stretch/>
        </p:blipFill>
        <p:spPr bwMode="auto">
          <a:xfrm>
            <a:off x="5878284" y="1281790"/>
            <a:ext cx="5396593" cy="519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1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92920"/>
            <a:ext cx="12192000" cy="830997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lvl="1" algn="ctr"/>
            <a:r>
              <a:rPr lang="en-US" altLang="zh-TW" sz="4800" b="1" dirty="0" smtClean="0">
                <a:solidFill>
                  <a:schemeClr val="bg1"/>
                </a:solidFill>
              </a:rPr>
              <a:t>Don’t care condition</a:t>
            </a:r>
            <a:endParaRPr lang="en-US" altLang="zh-TW" sz="48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7843" y="115457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/>
            <a:r>
              <a:rPr lang="en-US" altLang="zh-TW" sz="2800" dirty="0"/>
              <a:t>F 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∑</a:t>
            </a:r>
            <a:r>
              <a:rPr lang="en-US" altLang="zh-TW" sz="2800" dirty="0" smtClean="0"/>
              <a:t>(</a:t>
            </a:r>
            <a:r>
              <a:rPr lang="en-US" altLang="zh-TW" sz="2800" dirty="0"/>
              <a:t>1</a:t>
            </a:r>
            <a:r>
              <a:rPr lang="en-US" altLang="zh-TW" sz="2800" dirty="0" smtClean="0"/>
              <a:t>, 3, 7, 11, 15</a:t>
            </a:r>
            <a:r>
              <a:rPr lang="en-US" altLang="zh-TW" sz="2800" dirty="0"/>
              <a:t>)</a:t>
            </a:r>
          </a:p>
          <a:p>
            <a:pPr lvl="1"/>
            <a:r>
              <a:rPr lang="en-US" altLang="zh-TW" sz="2800" dirty="0"/>
              <a:t>d(w</a:t>
            </a:r>
            <a:r>
              <a:rPr lang="en-US" altLang="zh-TW" sz="2800" dirty="0" smtClean="0"/>
              <a:t>, x, y, z</a:t>
            </a:r>
            <a:r>
              <a:rPr lang="en-US" altLang="zh-TW" sz="2800" dirty="0"/>
              <a:t>) = </a:t>
            </a:r>
            <a:r>
              <a:rPr lang="en-US" altLang="zh-TW" sz="2800" dirty="0" smtClean="0"/>
              <a:t>∑(</a:t>
            </a:r>
            <a:r>
              <a:rPr lang="en-US" altLang="zh-TW" sz="2800" dirty="0"/>
              <a:t>0</a:t>
            </a:r>
            <a:r>
              <a:rPr lang="en-US" altLang="zh-TW" sz="2800" dirty="0" smtClean="0"/>
              <a:t>, 2, 5</a:t>
            </a:r>
            <a:r>
              <a:rPr lang="en-US" altLang="zh-TW" sz="2800" dirty="0"/>
              <a:t>)</a:t>
            </a:r>
            <a:endParaRPr lang="en-US" altLang="zh-TW" sz="2800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682F4001-B6B0-469F-9C23-D2A4F244B7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3742" r="58256" b="32039"/>
          <a:stretch/>
        </p:blipFill>
        <p:spPr bwMode="auto">
          <a:xfrm>
            <a:off x="5878284" y="1281790"/>
            <a:ext cx="5396593" cy="519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圓角矩形 4"/>
          <p:cNvSpPr/>
          <p:nvPr/>
        </p:nvSpPr>
        <p:spPr>
          <a:xfrm>
            <a:off x="7960179" y="2092350"/>
            <a:ext cx="2128585" cy="2144914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 rot="5400000">
            <a:off x="7416107" y="3705894"/>
            <a:ext cx="4294413" cy="1050901"/>
          </a:xfrm>
          <a:prstGeom prst="roundRect">
            <a:avLst/>
          </a:prstGeom>
          <a:noFill/>
          <a:ln w="571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735627" y="3105542"/>
            <a:ext cx="24016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b="1" dirty="0">
                <a:solidFill>
                  <a:srgbClr val="C00000"/>
                </a:solidFill>
              </a:rPr>
              <a:t>F = </a:t>
            </a:r>
            <a:r>
              <a:rPr lang="en-US" altLang="zh-TW" sz="3200" b="1" dirty="0" err="1">
                <a:solidFill>
                  <a:srgbClr val="C00000"/>
                </a:solidFill>
              </a:rPr>
              <a:t>yz</a:t>
            </a:r>
            <a:r>
              <a:rPr lang="en-US" altLang="zh-TW" sz="3200" b="1" dirty="0">
                <a:solidFill>
                  <a:srgbClr val="C00000"/>
                </a:solidFill>
              </a:rPr>
              <a:t> + </a:t>
            </a:r>
            <a:r>
              <a:rPr lang="en-US" altLang="zh-TW" sz="3200" b="1" dirty="0" err="1">
                <a:solidFill>
                  <a:srgbClr val="C00000"/>
                </a:solidFill>
              </a:rPr>
              <a:t>w'z</a:t>
            </a:r>
            <a:endParaRPr lang="zh-TW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880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小水滴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198</TotalTime>
  <Words>5983</Words>
  <Application>Microsoft Office PowerPoint</Application>
  <PresentationFormat>寬螢幕</PresentationFormat>
  <Paragraphs>2817</Paragraphs>
  <Slides>129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129</vt:i4>
      </vt:variant>
    </vt:vector>
  </HeadingPairs>
  <TitlesOfParts>
    <vt:vector size="137" baseType="lpstr">
      <vt:lpstr>新細明體</vt:lpstr>
      <vt:lpstr>Arial</vt:lpstr>
      <vt:lpstr>Symbol</vt:lpstr>
      <vt:lpstr>Times New Roman</vt:lpstr>
      <vt:lpstr>Tw Cen MT</vt:lpstr>
      <vt:lpstr>Wingdings</vt:lpstr>
      <vt:lpstr>小水滴</vt:lpstr>
      <vt:lpstr>Equation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Windows 使用者</cp:lastModifiedBy>
  <cp:revision>35</cp:revision>
  <dcterms:created xsi:type="dcterms:W3CDTF">2021-11-08T06:50:51Z</dcterms:created>
  <dcterms:modified xsi:type="dcterms:W3CDTF">2021-11-11T02:31:01Z</dcterms:modified>
</cp:coreProperties>
</file>