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83" r:id="rId11"/>
    <p:sldId id="284" r:id="rId12"/>
    <p:sldId id="266" r:id="rId13"/>
    <p:sldId id="285" r:id="rId14"/>
    <p:sldId id="287" r:id="rId15"/>
    <p:sldId id="286" r:id="rId16"/>
    <p:sldId id="267" r:id="rId17"/>
    <p:sldId id="268" r:id="rId18"/>
    <p:sldId id="270" r:id="rId19"/>
    <p:sldId id="269" r:id="rId20"/>
    <p:sldId id="288" r:id="rId21"/>
    <p:sldId id="271" r:id="rId22"/>
    <p:sldId id="272" r:id="rId23"/>
    <p:sldId id="289" r:id="rId24"/>
    <p:sldId id="273" r:id="rId25"/>
    <p:sldId id="274" r:id="rId26"/>
    <p:sldId id="275" r:id="rId27"/>
    <p:sldId id="277" r:id="rId28"/>
    <p:sldId id="276" r:id="rId29"/>
    <p:sldId id="278" r:id="rId30"/>
    <p:sldId id="290" r:id="rId31"/>
    <p:sldId id="279" r:id="rId32"/>
    <p:sldId id="280" r:id="rId33"/>
    <p:sldId id="281" r:id="rId34"/>
    <p:sldId id="315" r:id="rId35"/>
    <p:sldId id="314" r:id="rId36"/>
    <p:sldId id="316" r:id="rId37"/>
    <p:sldId id="317" r:id="rId38"/>
    <p:sldId id="318" r:id="rId39"/>
    <p:sldId id="319" r:id="rId40"/>
    <p:sldId id="320" r:id="rId41"/>
    <p:sldId id="321" r:id="rId42"/>
    <p:sldId id="294" r:id="rId43"/>
    <p:sldId id="295" r:id="rId44"/>
    <p:sldId id="296" r:id="rId45"/>
    <p:sldId id="297" r:id="rId46"/>
    <p:sldId id="282" r:id="rId47"/>
    <p:sldId id="298" r:id="rId48"/>
    <p:sldId id="300" r:id="rId49"/>
    <p:sldId id="333" r:id="rId50"/>
    <p:sldId id="299" r:id="rId51"/>
    <p:sldId id="332" r:id="rId52"/>
    <p:sldId id="302" r:id="rId53"/>
    <p:sldId id="301" r:id="rId54"/>
    <p:sldId id="334" r:id="rId55"/>
    <p:sldId id="335" r:id="rId56"/>
    <p:sldId id="336" r:id="rId57"/>
    <p:sldId id="337" r:id="rId58"/>
    <p:sldId id="307" r:id="rId59"/>
    <p:sldId id="339" r:id="rId60"/>
    <p:sldId id="308" r:id="rId61"/>
    <p:sldId id="309" r:id="rId62"/>
    <p:sldId id="340" r:id="rId63"/>
    <p:sldId id="310" r:id="rId64"/>
    <p:sldId id="311" r:id="rId65"/>
    <p:sldId id="312" r:id="rId66"/>
    <p:sldId id="313" r:id="rId67"/>
    <p:sldId id="323" r:id="rId68"/>
    <p:sldId id="292" r:id="rId69"/>
    <p:sldId id="291" r:id="rId70"/>
    <p:sldId id="293" r:id="rId71"/>
    <p:sldId id="342" r:id="rId72"/>
    <p:sldId id="325" r:id="rId73"/>
    <p:sldId id="322" r:id="rId74"/>
    <p:sldId id="326" r:id="rId75"/>
    <p:sldId id="341" r:id="rId76"/>
    <p:sldId id="327" r:id="rId77"/>
    <p:sldId id="328" r:id="rId78"/>
    <p:sldId id="329" r:id="rId79"/>
    <p:sldId id="331" r:id="rId80"/>
    <p:sldId id="330" r:id="rId81"/>
    <p:sldId id="344" r:id="rId82"/>
    <p:sldId id="343" r:id="rId83"/>
    <p:sldId id="345" r:id="rId84"/>
    <p:sldId id="346" r:id="rId85"/>
    <p:sldId id="392" r:id="rId86"/>
    <p:sldId id="347" r:id="rId87"/>
    <p:sldId id="393" r:id="rId88"/>
    <p:sldId id="349" r:id="rId89"/>
    <p:sldId id="396" r:id="rId90"/>
    <p:sldId id="350" r:id="rId91"/>
    <p:sldId id="357" r:id="rId92"/>
    <p:sldId id="348" r:id="rId93"/>
    <p:sldId id="363" r:id="rId94"/>
    <p:sldId id="364" r:id="rId95"/>
    <p:sldId id="358" r:id="rId96"/>
    <p:sldId id="359" r:id="rId97"/>
    <p:sldId id="360" r:id="rId98"/>
    <p:sldId id="361" r:id="rId99"/>
    <p:sldId id="362" r:id="rId100"/>
    <p:sldId id="351" r:id="rId101"/>
    <p:sldId id="387" r:id="rId102"/>
    <p:sldId id="385" r:id="rId103"/>
    <p:sldId id="388" r:id="rId104"/>
    <p:sldId id="368" r:id="rId105"/>
    <p:sldId id="353" r:id="rId106"/>
    <p:sldId id="367" r:id="rId107"/>
    <p:sldId id="366" r:id="rId108"/>
    <p:sldId id="391" r:id="rId109"/>
    <p:sldId id="354" r:id="rId110"/>
    <p:sldId id="386" r:id="rId111"/>
    <p:sldId id="389" r:id="rId112"/>
    <p:sldId id="390" r:id="rId113"/>
    <p:sldId id="370" r:id="rId114"/>
    <p:sldId id="369" r:id="rId115"/>
    <p:sldId id="355" r:id="rId116"/>
    <p:sldId id="356" r:id="rId117"/>
    <p:sldId id="352" r:id="rId118"/>
    <p:sldId id="384" r:id="rId119"/>
    <p:sldId id="372" r:id="rId120"/>
    <p:sldId id="373" r:id="rId121"/>
    <p:sldId id="374" r:id="rId122"/>
    <p:sldId id="375" r:id="rId123"/>
    <p:sldId id="376" r:id="rId124"/>
    <p:sldId id="377" r:id="rId125"/>
    <p:sldId id="379" r:id="rId126"/>
    <p:sldId id="380" r:id="rId127"/>
    <p:sldId id="383" r:id="rId128"/>
    <p:sldId id="381" r:id="rId129"/>
    <p:sldId id="382" r:id="rId130"/>
    <p:sldId id="394" r:id="rId131"/>
    <p:sldId id="398" r:id="rId132"/>
    <p:sldId id="402" r:id="rId133"/>
    <p:sldId id="403" r:id="rId134"/>
    <p:sldId id="399" r:id="rId135"/>
    <p:sldId id="404" r:id="rId136"/>
    <p:sldId id="405" r:id="rId137"/>
    <p:sldId id="401" r:id="rId138"/>
    <p:sldId id="407" r:id="rId139"/>
    <p:sldId id="406" r:id="rId140"/>
    <p:sldId id="408" r:id="rId141"/>
    <p:sldId id="395" r:id="rId142"/>
    <p:sldId id="400" r:id="rId143"/>
    <p:sldId id="410" r:id="rId144"/>
    <p:sldId id="409" r:id="rId145"/>
    <p:sldId id="412" r:id="rId146"/>
    <p:sldId id="411" r:id="rId147"/>
    <p:sldId id="413" r:id="rId148"/>
    <p:sldId id="414" r:id="rId149"/>
    <p:sldId id="426" r:id="rId150"/>
    <p:sldId id="418" r:id="rId151"/>
    <p:sldId id="422" r:id="rId152"/>
    <p:sldId id="420" r:id="rId153"/>
    <p:sldId id="421" r:id="rId154"/>
    <p:sldId id="423" r:id="rId155"/>
    <p:sldId id="424" r:id="rId156"/>
    <p:sldId id="425" r:id="rId157"/>
    <p:sldId id="428" r:id="rId158"/>
    <p:sldId id="427" r:id="rId159"/>
    <p:sldId id="429" r:id="rId160"/>
    <p:sldId id="433" r:id="rId161"/>
    <p:sldId id="436" r:id="rId162"/>
    <p:sldId id="435" r:id="rId163"/>
    <p:sldId id="434" r:id="rId164"/>
    <p:sldId id="437" r:id="rId165"/>
    <p:sldId id="438" r:id="rId166"/>
    <p:sldId id="439" r:id="rId167"/>
    <p:sldId id="430" r:id="rId1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viewProps" Target="view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theme" Target="theme/theme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0" y="2116476"/>
            <a:ext cx="12192000" cy="1385297"/>
          </a:xfrm>
          <a:solidFill>
            <a:srgbClr val="FF0066"/>
          </a:solidFill>
        </p:spPr>
        <p:txBody>
          <a:bodyPr anchor="ctr">
            <a:normAutofit/>
          </a:bodyPr>
          <a:lstStyle/>
          <a:p>
            <a:r>
              <a:rPr lang="en-US" altLang="zh-TW" sz="7200" b="1" dirty="0" smtClean="0">
                <a:solidFill>
                  <a:srgbClr val="002060"/>
                </a:solidFill>
              </a:rPr>
              <a:t>Chapter 4</a:t>
            </a:r>
            <a:endParaRPr lang="zh-TW" altLang="en-US" sz="72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0" y="3608296"/>
            <a:ext cx="12192000" cy="847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>
                <a:solidFill>
                  <a:schemeClr val="bg1"/>
                </a:solidFill>
              </a:rPr>
              <a:t>Combinational Logic</a:t>
            </a:r>
            <a:endParaRPr lang="zh-TW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65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0" y="2116476"/>
            <a:ext cx="12192000" cy="1385297"/>
          </a:xfrm>
          <a:solidFill>
            <a:srgbClr val="0000FF"/>
          </a:solidFill>
        </p:spPr>
        <p:txBody>
          <a:bodyPr anchor="ctr">
            <a:normAutofit/>
          </a:bodyPr>
          <a:lstStyle/>
          <a:p>
            <a:r>
              <a:rPr lang="en-US" altLang="zh-TW" sz="7200" b="1" dirty="0" smtClean="0">
                <a:solidFill>
                  <a:schemeClr val="bg1"/>
                </a:solidFill>
              </a:rPr>
              <a:t>TOPIC 1</a:t>
            </a:r>
            <a:endParaRPr lang="zh-TW" altLang="en-US" sz="7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0" y="3608296"/>
            <a:ext cx="12192000" cy="963704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>
                <a:solidFill>
                  <a:schemeClr val="bg1"/>
                </a:solidFill>
              </a:rPr>
              <a:t>Analysis of Combinational Circuit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290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47699" y="902357"/>
            <a:ext cx="1084761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sz="3600" dirty="0"/>
              <a:t>Logic circuits for digital systems may be </a:t>
            </a:r>
            <a:r>
              <a:rPr lang="en-US" altLang="zh-TW" sz="3600" b="1" dirty="0"/>
              <a:t>combinational</a:t>
            </a:r>
            <a:r>
              <a:rPr lang="en-US" altLang="zh-TW" sz="3600" dirty="0"/>
              <a:t> or </a:t>
            </a:r>
            <a:r>
              <a:rPr lang="en-US" altLang="zh-TW" sz="3600" b="1" dirty="0"/>
              <a:t>sequential</a:t>
            </a:r>
            <a:r>
              <a:rPr lang="en-US" altLang="zh-TW" sz="3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3600" dirty="0"/>
              <a:t>A combinational circuit consists of logic gates whose outputs at any time are determined from only the present combination of </a:t>
            </a:r>
            <a:r>
              <a:rPr lang="en-US" altLang="zh-TW" sz="3600" dirty="0" smtClean="0"/>
              <a:t>inputs.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3600" dirty="0" smtClean="0"/>
              <a:t>A sequential circuit contains </a:t>
            </a:r>
            <a:r>
              <a:rPr lang="en-US" altLang="zh-TW" sz="3600" dirty="0"/>
              <a:t>memory </a:t>
            </a:r>
            <a:r>
              <a:rPr lang="en-US" altLang="zh-TW" sz="3600" dirty="0" smtClean="0"/>
              <a:t>elements. The </a:t>
            </a:r>
            <a:r>
              <a:rPr lang="en-US" altLang="zh-TW" sz="3600" dirty="0"/>
              <a:t>outputs are a function of the current inputs and the state of the memory </a:t>
            </a:r>
            <a:r>
              <a:rPr lang="en-US" altLang="zh-TW" sz="3600" dirty="0" smtClean="0"/>
              <a:t>elements. 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06018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6289" y="141905"/>
            <a:ext cx="53341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A combinational circuits</a:t>
            </a:r>
            <a:endParaRPr lang="zh-TW" altLang="en-US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A60FB65B-3862-487E-9237-1C1357ACA4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43" b="30767"/>
          <a:stretch/>
        </p:blipFill>
        <p:spPr bwMode="auto">
          <a:xfrm>
            <a:off x="1499417" y="1619477"/>
            <a:ext cx="9244090" cy="2519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065090" y="4534291"/>
            <a:ext cx="78691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3600" dirty="0">
                <a:latin typeface="+mj-lt"/>
              </a:rPr>
              <a:t>2</a:t>
            </a:r>
            <a:r>
              <a:rPr lang="en-US" altLang="zh-TW" sz="3600" baseline="70000" dirty="0">
                <a:latin typeface="+mj-lt"/>
              </a:rPr>
              <a:t>n </a:t>
            </a:r>
            <a:r>
              <a:rPr lang="en-US" altLang="zh-TW" sz="3600" dirty="0">
                <a:latin typeface="+mj-lt"/>
              </a:rPr>
              <a:t>possible combinations of input values</a:t>
            </a:r>
          </a:p>
        </p:txBody>
      </p:sp>
    </p:spTree>
    <p:extLst>
      <p:ext uri="{BB962C8B-B14F-4D97-AF65-F5344CB8AC3E}">
        <p14:creationId xmlns:p14="http://schemas.microsoft.com/office/powerpoint/2010/main" val="227031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puts Ay, B, and C enter or gate G sub 1, and, and gates G sub 2, G sub 3, G sub 4, and G sub 5. The outputs of G sub 3, G sub 4, and G sub 5 proceed to or gate G sub 6, producing F sub 2. F sub 2 then passes through inverter G sub 7, producing F sub 2 prime, which enters and gate G sub 8. G sub 8 also receives T sub 1 from G sub 1. In turn, G sub 8 sends T sub 3 to or gate G sub 9. At the same time, G sub 2 send T sub 2 to G sub 9, which produces output F sub 1.">
            <a:extLst>
              <a:ext uri="{FF2B5EF4-FFF2-40B4-BE49-F238E27FC236}">
                <a16:creationId xmlns:a16="http://schemas.microsoft.com/office/drawing/2014/main" id="{446BD9ED-6F1C-47D3-9664-6040E0259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978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0" y="2805393"/>
            <a:ext cx="4466772" cy="801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985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puts Ay, B, and C enter or gate G sub 1, and, and gates G sub 2, G sub 3, G sub 4, and G sub 5. The outputs of G sub 3, G sub 4, and G sub 5 proceed to or gate G sub 6, producing F sub 2. F sub 2 then passes through inverter G sub 7, producing F sub 2 prime, which enters and gate G sub 8. G sub 8 also receives T sub 1 from G sub 1. In turn, G sub 8 sends T sub 3 to or gate G sub 9. At the same time, G sub 2 send T sub 2 to G sub 9, which produces output F sub 1.">
            <a:extLst>
              <a:ext uri="{FF2B5EF4-FFF2-40B4-BE49-F238E27FC236}">
                <a16:creationId xmlns:a16="http://schemas.microsoft.com/office/drawing/2014/main" id="{446BD9ED-6F1C-47D3-9664-6040E0259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978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0" y="2805393"/>
            <a:ext cx="4466772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674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puts Ay, B, and C enter or gate G sub 1, and, and gates G sub 2, G sub 3, G sub 4, and G sub 5. The outputs of G sub 3, G sub 4, and G sub 5 proceed to or gate G sub 6, producing F sub 2. F sub 2 then passes through inverter G sub 7, producing F sub 2 prime, which enters and gate G sub 8. G sub 8 also receives T sub 1 from G sub 1. In turn, G sub 8 sends T sub 3 to or gate G sub 9. At the same time, G sub 2 send T sub 2 to G sub 9, which produces output F sub 1.">
            <a:extLst>
              <a:ext uri="{FF2B5EF4-FFF2-40B4-BE49-F238E27FC236}">
                <a16:creationId xmlns:a16="http://schemas.microsoft.com/office/drawing/2014/main" id="{446BD9ED-6F1C-47D3-9664-6040E0259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978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0" y="2805393"/>
            <a:ext cx="4466772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659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puts Ay, B, and C enter or gate G sub 1, and, and gates G sub 2, G sub 3, G sub 4, and G sub 5. The outputs of G sub 3, G sub 4, and G sub 5 proceed to or gate G sub 6, producing F sub 2. F sub 2 then passes through inverter G sub 7, producing F sub 2 prime, which enters and gate G sub 8. G sub 8 also receives T sub 1 from G sub 1. In turn, G sub 8 sends T sub 3 to or gate G sub 9. At the same time, G sub 2 send T sub 2 to G sub 9, which produces output F sub 1.">
            <a:extLst>
              <a:ext uri="{FF2B5EF4-FFF2-40B4-BE49-F238E27FC236}">
                <a16:creationId xmlns:a16="http://schemas.microsoft.com/office/drawing/2014/main" id="{446BD9ED-6F1C-47D3-9664-6040E0259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978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0" y="2805393"/>
            <a:ext cx="4466772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ABC</a:t>
            </a: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’T</a:t>
            </a:r>
            <a:r>
              <a:rPr lang="en-US" altLang="zh-TW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endParaRPr lang="en-US" altLang="zh-TW" sz="4000" b="1" baseline="-25000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561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puts Ay, B, and C enter or gate G sub 1, and, and gates G sub 2, G sub 3, G sub 4, and G sub 5. The outputs of G sub 3, G sub 4, and G sub 5 proceed to or gate G sub 6, producing F sub 2. F sub 2 then passes through inverter G sub 7, producing F sub 2 prime, which enters and gate G sub 8. G sub 8 also receives T sub 1 from G sub 1. In turn, G sub 8 sends T sub 3 to or gate G sub 9. At the same time, G sub 2 send T sub 2 to G sub 9, which produces output F sub 1.">
            <a:extLst>
              <a:ext uri="{FF2B5EF4-FFF2-40B4-BE49-F238E27FC236}">
                <a16:creationId xmlns:a16="http://schemas.microsoft.com/office/drawing/2014/main" id="{446BD9ED-6F1C-47D3-9664-6040E0259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978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0" y="2805393"/>
            <a:ext cx="4466772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40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ABC</a:t>
            </a: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’T</a:t>
            </a:r>
            <a:r>
              <a:rPr lang="en-US" altLang="zh-TW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endParaRPr lang="en-US" altLang="zh-TW" sz="4000" b="1" baseline="-25000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40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40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 </a:t>
            </a:r>
            <a:r>
              <a:rPr lang="en-US" altLang="zh-TW" sz="40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+ T</a:t>
            </a:r>
            <a:r>
              <a:rPr lang="en-US" altLang="zh-TW" sz="40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107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4414" y="114301"/>
            <a:ext cx="9802587" cy="73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600" dirty="0"/>
              <a:t>F</a:t>
            </a:r>
            <a:r>
              <a:rPr lang="en-US" altLang="zh-TW" sz="3600" baseline="-25000" dirty="0"/>
              <a:t>1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T</a:t>
            </a:r>
            <a:r>
              <a:rPr lang="en-US" altLang="zh-TW" sz="3600" baseline="-25000" dirty="0" smtClean="0"/>
              <a:t>3 </a:t>
            </a:r>
            <a:r>
              <a:rPr lang="en-US" altLang="zh-TW" sz="3600" dirty="0" smtClean="0"/>
              <a:t>+ T</a:t>
            </a:r>
            <a:r>
              <a:rPr lang="en-US" altLang="zh-TW" sz="3600" baseline="-25000" dirty="0" smtClean="0"/>
              <a:t>2 </a:t>
            </a:r>
            <a:r>
              <a:rPr lang="en-US" altLang="zh-TW" sz="3600" dirty="0"/>
              <a:t>			 	</a:t>
            </a:r>
            <a:endParaRPr lang="en-US" altLang="zh-TW" sz="3600" dirty="0" smtClean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715" y="3200399"/>
            <a:ext cx="4466772" cy="355481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ABC</a:t>
            </a: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’T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endParaRPr lang="en-US" altLang="zh-TW" sz="3600" b="1" baseline="-25000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+ 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3455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4414" y="114301"/>
            <a:ext cx="9802587" cy="73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600" dirty="0"/>
              <a:t>F</a:t>
            </a:r>
            <a:r>
              <a:rPr lang="en-US" altLang="zh-TW" sz="3600" baseline="-25000" dirty="0"/>
              <a:t>1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T</a:t>
            </a:r>
            <a:r>
              <a:rPr lang="en-US" altLang="zh-TW" sz="3600" baseline="-25000" dirty="0" smtClean="0"/>
              <a:t>3 </a:t>
            </a:r>
            <a:r>
              <a:rPr lang="en-US" altLang="zh-TW" sz="3600" dirty="0" smtClean="0"/>
              <a:t>+ T</a:t>
            </a:r>
            <a:r>
              <a:rPr lang="en-US" altLang="zh-TW" sz="3600" baseline="-25000" dirty="0" smtClean="0"/>
              <a:t>2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F</a:t>
            </a:r>
            <a:r>
              <a:rPr lang="en-US" altLang="zh-TW" sz="3600" baseline="-25000" dirty="0" smtClean="0"/>
              <a:t>2</a:t>
            </a:r>
            <a:r>
              <a:rPr lang="en-US" altLang="zh-TW" sz="3600" dirty="0" smtClean="0"/>
              <a:t>’T</a:t>
            </a:r>
            <a:r>
              <a:rPr lang="en-US" altLang="zh-TW" sz="3600" baseline="-25000" dirty="0" smtClean="0"/>
              <a:t>1 </a:t>
            </a:r>
            <a:r>
              <a:rPr lang="en-US" altLang="zh-TW" sz="3600" dirty="0" smtClean="0"/>
              <a:t>+ ABC</a:t>
            </a:r>
            <a:r>
              <a:rPr lang="en-US" altLang="zh-TW" sz="3600" dirty="0"/>
              <a:t>				 	</a:t>
            </a:r>
            <a:endParaRPr lang="en-US" altLang="zh-TW" sz="3600" dirty="0" smtClean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715" y="3200399"/>
            <a:ext cx="4466772" cy="355481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ABC</a:t>
            </a: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’T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endParaRPr lang="en-US" altLang="zh-TW" sz="3600" b="1" baseline="-25000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+ 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4469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4414" y="114301"/>
            <a:ext cx="9802587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600" dirty="0"/>
              <a:t>F</a:t>
            </a:r>
            <a:r>
              <a:rPr lang="en-US" altLang="zh-TW" sz="3600" baseline="-25000" dirty="0"/>
              <a:t>1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T</a:t>
            </a:r>
            <a:r>
              <a:rPr lang="en-US" altLang="zh-TW" sz="3600" baseline="-25000" dirty="0" smtClean="0"/>
              <a:t>3 </a:t>
            </a:r>
            <a:r>
              <a:rPr lang="en-US" altLang="zh-TW" sz="3600" dirty="0" smtClean="0"/>
              <a:t>+ T</a:t>
            </a:r>
            <a:r>
              <a:rPr lang="en-US" altLang="zh-TW" sz="3600" baseline="-25000" dirty="0" smtClean="0"/>
              <a:t>2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F</a:t>
            </a:r>
            <a:r>
              <a:rPr lang="en-US" altLang="zh-TW" sz="3600" baseline="-25000" dirty="0" smtClean="0"/>
              <a:t>2</a:t>
            </a:r>
            <a:r>
              <a:rPr lang="en-US" altLang="zh-TW" sz="3600" dirty="0" smtClean="0"/>
              <a:t>’T</a:t>
            </a:r>
            <a:r>
              <a:rPr lang="en-US" altLang="zh-TW" sz="3600" baseline="-25000" dirty="0" smtClean="0"/>
              <a:t>1 </a:t>
            </a:r>
            <a:r>
              <a:rPr lang="en-US" altLang="zh-TW" sz="3600" dirty="0" smtClean="0"/>
              <a:t>+ ABC</a:t>
            </a:r>
            <a:r>
              <a:rPr lang="en-US" altLang="zh-TW" sz="3600" dirty="0"/>
              <a:t>				 	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AB + AC + BC)’(A + B + C) + ABC</a:t>
            </a:r>
            <a:r>
              <a:rPr lang="en-US" altLang="zh-TW" sz="3600" dirty="0"/>
              <a:t>		 	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</a:t>
            </a:r>
            <a:endParaRPr lang="en-US" altLang="zh-TW" sz="3600" dirty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715" y="3200399"/>
            <a:ext cx="4466772" cy="355481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ABC</a:t>
            </a: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’T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endParaRPr lang="en-US" altLang="zh-TW" sz="3600" b="1" baseline="-25000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+ 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94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4414" y="114301"/>
            <a:ext cx="9802587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600" dirty="0"/>
              <a:t>F</a:t>
            </a:r>
            <a:r>
              <a:rPr lang="en-US" altLang="zh-TW" sz="3600" baseline="-25000" dirty="0"/>
              <a:t>1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T</a:t>
            </a:r>
            <a:r>
              <a:rPr lang="en-US" altLang="zh-TW" sz="3600" baseline="-25000" dirty="0" smtClean="0"/>
              <a:t>3 </a:t>
            </a:r>
            <a:r>
              <a:rPr lang="en-US" altLang="zh-TW" sz="3600" dirty="0" smtClean="0"/>
              <a:t>+ T</a:t>
            </a:r>
            <a:r>
              <a:rPr lang="en-US" altLang="zh-TW" sz="3600" baseline="-25000" dirty="0" smtClean="0"/>
              <a:t>2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F</a:t>
            </a:r>
            <a:r>
              <a:rPr lang="en-US" altLang="zh-TW" sz="3600" baseline="-25000" dirty="0" smtClean="0"/>
              <a:t>2</a:t>
            </a:r>
            <a:r>
              <a:rPr lang="en-US" altLang="zh-TW" sz="3600" dirty="0" smtClean="0"/>
              <a:t>’T</a:t>
            </a:r>
            <a:r>
              <a:rPr lang="en-US" altLang="zh-TW" sz="3600" baseline="-25000" dirty="0" smtClean="0"/>
              <a:t>1 </a:t>
            </a:r>
            <a:r>
              <a:rPr lang="en-US" altLang="zh-TW" sz="3600" dirty="0" smtClean="0"/>
              <a:t>+ ABC</a:t>
            </a:r>
            <a:r>
              <a:rPr lang="en-US" altLang="zh-TW" sz="3600" dirty="0"/>
              <a:t>				 	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AB + AC + BC)’(A + B + C) + ABC</a:t>
            </a:r>
            <a:r>
              <a:rPr lang="en-US" altLang="zh-TW" sz="3600" dirty="0"/>
              <a:t>		 	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A’ + B’)(A’ + C’)(B’ + C’)(A + B + C) + ABC</a:t>
            </a:r>
            <a:r>
              <a:rPr lang="en-US" altLang="zh-TW" sz="3600" dirty="0"/>
              <a:t>	 </a:t>
            </a:r>
            <a:endParaRPr lang="en-US" altLang="zh-TW" sz="3600" dirty="0" smtClean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715" y="3200399"/>
            <a:ext cx="4466772" cy="355481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ABC</a:t>
            </a: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’T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endParaRPr lang="en-US" altLang="zh-TW" sz="3600" b="1" baseline="-25000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+ 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0256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4414" y="114301"/>
            <a:ext cx="980258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600" dirty="0"/>
              <a:t>F</a:t>
            </a:r>
            <a:r>
              <a:rPr lang="en-US" altLang="zh-TW" sz="3600" baseline="-25000" dirty="0"/>
              <a:t>1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T</a:t>
            </a:r>
            <a:r>
              <a:rPr lang="en-US" altLang="zh-TW" sz="3600" baseline="-25000" dirty="0" smtClean="0"/>
              <a:t>3 </a:t>
            </a:r>
            <a:r>
              <a:rPr lang="en-US" altLang="zh-TW" sz="3600" dirty="0" smtClean="0"/>
              <a:t>+ T</a:t>
            </a:r>
            <a:r>
              <a:rPr lang="en-US" altLang="zh-TW" sz="3600" baseline="-25000" dirty="0" smtClean="0"/>
              <a:t>2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F</a:t>
            </a:r>
            <a:r>
              <a:rPr lang="en-US" altLang="zh-TW" sz="3600" baseline="-25000" dirty="0" smtClean="0"/>
              <a:t>2</a:t>
            </a:r>
            <a:r>
              <a:rPr lang="en-US" altLang="zh-TW" sz="3600" dirty="0" smtClean="0"/>
              <a:t>’T</a:t>
            </a:r>
            <a:r>
              <a:rPr lang="en-US" altLang="zh-TW" sz="3600" baseline="-25000" dirty="0" smtClean="0"/>
              <a:t>1 </a:t>
            </a:r>
            <a:r>
              <a:rPr lang="en-US" altLang="zh-TW" sz="3600" dirty="0" smtClean="0"/>
              <a:t>+ ABC</a:t>
            </a:r>
            <a:r>
              <a:rPr lang="en-US" altLang="zh-TW" sz="3600" dirty="0"/>
              <a:t>				 	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AB + AC + BC)’(A + B + C) + ABC</a:t>
            </a:r>
            <a:r>
              <a:rPr lang="en-US" altLang="zh-TW" sz="3600" dirty="0"/>
              <a:t>		 	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A’ + B’)(A’ + C’)(B’ + C’)(A + B + C) + ABC</a:t>
            </a:r>
            <a:r>
              <a:rPr lang="en-US" altLang="zh-TW" sz="3600" dirty="0"/>
              <a:t>	 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A’ + B’C’)(AB’ + AC’ + BC’ + B’C) + ABC </a:t>
            </a:r>
            <a:r>
              <a:rPr lang="en-US" altLang="zh-TW" sz="3600" dirty="0"/>
              <a:t>		</a:t>
            </a:r>
            <a:endParaRPr lang="en-US" altLang="zh-TW" sz="3600" dirty="0" smtClean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715" y="3200399"/>
            <a:ext cx="4466772" cy="355481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ABC</a:t>
            </a: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’T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endParaRPr lang="en-US" altLang="zh-TW" sz="3600" b="1" baseline="-25000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+ 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710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4414" y="114301"/>
            <a:ext cx="9802587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TW" sz="3600" dirty="0"/>
              <a:t>F</a:t>
            </a:r>
            <a:r>
              <a:rPr lang="en-US" altLang="zh-TW" sz="3600" baseline="-25000" dirty="0"/>
              <a:t>1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T</a:t>
            </a:r>
            <a:r>
              <a:rPr lang="en-US" altLang="zh-TW" sz="3600" baseline="-25000" dirty="0" smtClean="0"/>
              <a:t>3 </a:t>
            </a:r>
            <a:r>
              <a:rPr lang="en-US" altLang="zh-TW" sz="3600" dirty="0" smtClean="0"/>
              <a:t>+ T</a:t>
            </a:r>
            <a:r>
              <a:rPr lang="en-US" altLang="zh-TW" sz="3600" baseline="-25000" dirty="0" smtClean="0"/>
              <a:t>2 </a:t>
            </a:r>
            <a:r>
              <a:rPr lang="en-US" altLang="zh-TW" sz="3600" dirty="0"/>
              <a:t>= </a:t>
            </a:r>
            <a:r>
              <a:rPr lang="en-US" altLang="zh-TW" sz="3600" dirty="0" smtClean="0"/>
              <a:t>F</a:t>
            </a:r>
            <a:r>
              <a:rPr lang="en-US" altLang="zh-TW" sz="3600" baseline="-25000" dirty="0" smtClean="0"/>
              <a:t>2</a:t>
            </a:r>
            <a:r>
              <a:rPr lang="en-US" altLang="zh-TW" sz="3600" dirty="0" smtClean="0"/>
              <a:t>’T</a:t>
            </a:r>
            <a:r>
              <a:rPr lang="en-US" altLang="zh-TW" sz="3600" baseline="-25000" dirty="0" smtClean="0"/>
              <a:t>1 </a:t>
            </a:r>
            <a:r>
              <a:rPr lang="en-US" altLang="zh-TW" sz="3600" dirty="0" smtClean="0"/>
              <a:t>+ ABC</a:t>
            </a:r>
            <a:r>
              <a:rPr lang="en-US" altLang="zh-TW" sz="3600" dirty="0"/>
              <a:t>				 	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AB + AC + BC)’(A + B + C) + ABC</a:t>
            </a:r>
            <a:r>
              <a:rPr lang="en-US" altLang="zh-TW" sz="3600" dirty="0"/>
              <a:t>		 	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A’ + B’)(A’ + C’)(B’ + C’)(A + B + C) + ABC</a:t>
            </a:r>
            <a:r>
              <a:rPr lang="en-US" altLang="zh-TW" sz="3600" dirty="0"/>
              <a:t>	 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</a:t>
            </a:r>
            <a:r>
              <a:rPr lang="en-US" altLang="zh-TW" sz="3600" dirty="0"/>
              <a:t>(</a:t>
            </a:r>
            <a:r>
              <a:rPr lang="en-US" altLang="zh-TW" sz="3600" dirty="0" smtClean="0"/>
              <a:t>A’ + B’C’)(AB’ + AC’ + BC’ + B’C) + ABC </a:t>
            </a:r>
            <a:r>
              <a:rPr lang="en-US" altLang="zh-TW" sz="3600" dirty="0"/>
              <a:t>		</a:t>
            </a:r>
            <a:endParaRPr lang="en-US" altLang="zh-TW" sz="3600" dirty="0" smtClean="0"/>
          </a:p>
          <a:p>
            <a:pPr>
              <a:lnSpc>
                <a:spcPct val="125000"/>
              </a:lnSpc>
            </a:pPr>
            <a:r>
              <a:rPr lang="en-US" altLang="zh-TW" sz="3600" dirty="0" smtClean="0"/>
              <a:t>	= A’BC’ + A’B’C + AB’C’ + ABC</a:t>
            </a:r>
            <a:endParaRPr lang="en-US" altLang="zh-TW" sz="3600" dirty="0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E91CB52-A664-4ABD-B5B7-A39287E9F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715" y="3200399"/>
            <a:ext cx="4466772" cy="355481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zh-TW" altLang="en-US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zh-TW" altLang="en-US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AB + AC + BC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A + B + C</a:t>
            </a:r>
            <a:endParaRPr lang="en-US" altLang="zh-TW" sz="3600" b="1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ABC</a:t>
            </a: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’T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endParaRPr lang="en-US" altLang="zh-TW" sz="3600" b="1" baseline="-25000" dirty="0">
              <a:solidFill>
                <a:srgbClr val="0000FF"/>
              </a:solidFill>
              <a:latin typeface="+mj-lt"/>
              <a:ea typeface="新細明體" panose="02020500000000000000" pitchFamily="18" charset="-120"/>
            </a:endParaRPr>
          </a:p>
          <a:p>
            <a:pPr marL="180000" lvl="1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F</a:t>
            </a:r>
            <a:r>
              <a:rPr lang="en-US" altLang="zh-TW" sz="3600" b="1" baseline="-25000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1</a:t>
            </a:r>
            <a:r>
              <a:rPr lang="en-US" altLang="zh-TW" sz="3600" b="1" dirty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 =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3 </a:t>
            </a:r>
            <a:r>
              <a:rPr lang="en-US" altLang="zh-TW" sz="3600" b="1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+ T</a:t>
            </a:r>
            <a:r>
              <a:rPr lang="en-US" altLang="zh-TW" sz="3600" b="1" baseline="-25000" dirty="0" smtClean="0">
                <a:solidFill>
                  <a:srgbClr val="0000FF"/>
                </a:solidFill>
                <a:latin typeface="+mj-lt"/>
                <a:ea typeface="新細明體" panose="02020500000000000000" pitchFamily="18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4151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753340" y="2924438"/>
            <a:ext cx="15062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 smtClean="0"/>
              <a:t>True Table</a:t>
            </a:r>
            <a:endParaRPr lang="zh-TW" altLang="en-US" sz="2400" b="1" dirty="0"/>
          </a:p>
        </p:txBody>
      </p:sp>
      <p:pic>
        <p:nvPicPr>
          <p:cNvPr id="6" name="Picture 2" descr="Inputs Ay, B, and C enter or gate G sub 1, and, and gates G sub 2, G sub 3, G sub 4, and G sub 5. The outputs of G sub 3, G sub 4, and G sub 5 proceed to or gate G sub 6, producing F sub 2. F sub 2 then passes through inverter G sub 7, producing F sub 2 prime, which enters and gate G sub 8. G sub 8 also receives T sub 1 from G sub 1. In turn, G sub 8 sends T sub 3 to or gate G sub 9. At the same time, G sub 2 send T sub 2 to G sub 9, which produces output F sub 1.">
            <a:extLst>
              <a:ext uri="{FF2B5EF4-FFF2-40B4-BE49-F238E27FC236}">
                <a16:creationId xmlns:a16="http://schemas.microsoft.com/office/drawing/2014/main" id="{446BD9ED-6F1C-47D3-9664-6040E0259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8" y="30483"/>
            <a:ext cx="7768297" cy="5437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37768889-E10C-4216-AD8B-C79F13CFF1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68"/>
          <a:stretch/>
        </p:blipFill>
        <p:spPr bwMode="auto">
          <a:xfrm>
            <a:off x="5323114" y="3386103"/>
            <a:ext cx="6868886" cy="3471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693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3740"/>
            <a:ext cx="12192000" cy="707886"/>
          </a:xfrm>
          <a:prstGeom prst="rect">
            <a:avLst/>
          </a:prstGeom>
          <a:solidFill>
            <a:srgbClr val="C00000"/>
          </a:solidFill>
        </p:spPr>
        <p:txBody>
          <a:bodyPr wrap="square" anchor="ctr">
            <a:spAutoFit/>
          </a:bodyPr>
          <a:lstStyle/>
          <a:p>
            <a:pPr algn="ctr"/>
            <a:r>
              <a:rPr lang="en-US" altLang="zh-TW" sz="4000" b="1">
                <a:solidFill>
                  <a:schemeClr val="bg1"/>
                </a:solidFill>
              </a:rPr>
              <a:t>Design Procedure</a:t>
            </a:r>
            <a:endParaRPr lang="zh-TW" alt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5453" y="1506808"/>
            <a:ext cx="1092109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74295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3600" dirty="0"/>
              <a:t>State the problem (system spec.)</a:t>
            </a:r>
          </a:p>
          <a:p>
            <a:pPr marL="742950" lvl="1" indent="-74295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3600" dirty="0" smtClean="0"/>
              <a:t>Determine </a:t>
            </a:r>
            <a:r>
              <a:rPr lang="en-US" altLang="zh-TW" sz="3600" dirty="0"/>
              <a:t>the inputs and outputs</a:t>
            </a:r>
          </a:p>
          <a:p>
            <a:pPr marL="742950" lvl="1" indent="-74295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3600" dirty="0" smtClean="0"/>
              <a:t>The </a:t>
            </a:r>
            <a:r>
              <a:rPr lang="en-US" altLang="zh-TW" sz="3600" dirty="0"/>
              <a:t>input and output variables are assigned symbols</a:t>
            </a:r>
          </a:p>
          <a:p>
            <a:pPr marL="742950" lvl="1" indent="-74295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3600" dirty="0" smtClean="0"/>
              <a:t>Derive </a:t>
            </a:r>
            <a:r>
              <a:rPr lang="en-US" altLang="zh-TW" sz="3600" dirty="0"/>
              <a:t>the truth table</a:t>
            </a:r>
          </a:p>
          <a:p>
            <a:pPr marL="742950" lvl="1" indent="-74295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3600" dirty="0" smtClean="0"/>
              <a:t>Derive </a:t>
            </a:r>
            <a:r>
              <a:rPr lang="en-US" altLang="zh-TW" sz="3600" dirty="0"/>
              <a:t>the simplified Boolean functions</a:t>
            </a:r>
          </a:p>
          <a:p>
            <a:pPr marL="742950" lvl="1" indent="-742950">
              <a:lnSpc>
                <a:spcPct val="125000"/>
              </a:lnSpc>
              <a:buFont typeface="+mj-lt"/>
              <a:buAutoNum type="arabicPeriod"/>
            </a:pPr>
            <a:r>
              <a:rPr lang="en-US" altLang="zh-TW" sz="3600" dirty="0" smtClean="0"/>
              <a:t>Draw </a:t>
            </a:r>
            <a:r>
              <a:rPr lang="en-US" altLang="zh-TW" sz="3600" dirty="0"/>
              <a:t>the logic diagram and verify the correctness</a:t>
            </a:r>
          </a:p>
        </p:txBody>
      </p:sp>
    </p:spTree>
    <p:extLst>
      <p:ext uri="{BB962C8B-B14F-4D97-AF65-F5344CB8AC3E}">
        <p14:creationId xmlns:p14="http://schemas.microsoft.com/office/powerpoint/2010/main" val="388586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0" y="2116476"/>
            <a:ext cx="12192000" cy="1385297"/>
          </a:xfrm>
          <a:solidFill>
            <a:srgbClr val="0000FF"/>
          </a:solidFill>
        </p:spPr>
        <p:txBody>
          <a:bodyPr anchor="ctr">
            <a:normAutofit/>
          </a:bodyPr>
          <a:lstStyle/>
          <a:p>
            <a:r>
              <a:rPr lang="en-US" altLang="zh-TW" sz="7200" b="1" dirty="0" smtClean="0">
                <a:solidFill>
                  <a:schemeClr val="bg1"/>
                </a:solidFill>
              </a:rPr>
              <a:t>TOPIC 2</a:t>
            </a:r>
            <a:endParaRPr lang="zh-TW" altLang="en-US" sz="7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0" y="3608296"/>
            <a:ext cx="12192000" cy="963704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>
                <a:solidFill>
                  <a:schemeClr val="bg1"/>
                </a:solidFill>
              </a:rPr>
              <a:t>Binary Adder-</a:t>
            </a:r>
            <a:r>
              <a:rPr lang="en-US" altLang="zh-TW" sz="4400" b="1" dirty="0" err="1">
                <a:solidFill>
                  <a:schemeClr val="bg1"/>
                </a:solidFill>
              </a:rPr>
              <a:t>Subtractor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28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0935" y="0"/>
            <a:ext cx="24679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Half adder</a:t>
            </a:r>
          </a:p>
        </p:txBody>
      </p:sp>
      <p:sp>
        <p:nvSpPr>
          <p:cNvPr id="6" name="矩形 5"/>
          <p:cNvSpPr/>
          <p:nvPr/>
        </p:nvSpPr>
        <p:spPr>
          <a:xfrm>
            <a:off x="549728" y="899718"/>
            <a:ext cx="111578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1" indent="-514350">
              <a:buFont typeface="+mj-lt"/>
              <a:buAutoNum type="arabicPeriod"/>
            </a:pPr>
            <a:r>
              <a:rPr lang="zh-TW" altLang="en-US" sz="3200" dirty="0"/>
              <a:t>0 + 0 = </a:t>
            </a:r>
            <a:r>
              <a:rPr lang="en-US" altLang="zh-TW" sz="3200" dirty="0" smtClean="0"/>
              <a:t>0</a:t>
            </a:r>
            <a:r>
              <a:rPr lang="zh-TW" altLang="en-US" sz="3200" dirty="0" smtClean="0"/>
              <a:t>0 </a:t>
            </a:r>
            <a:r>
              <a:rPr lang="zh-TW" altLang="en-US" sz="3200" dirty="0"/>
              <a:t>; 0 + 1 = </a:t>
            </a:r>
            <a:r>
              <a:rPr lang="en-US" altLang="zh-TW" sz="3200" dirty="0" smtClean="0"/>
              <a:t>0</a:t>
            </a:r>
            <a:r>
              <a:rPr lang="zh-TW" altLang="en-US" sz="3200" dirty="0" smtClean="0"/>
              <a:t>1 </a:t>
            </a:r>
            <a:r>
              <a:rPr lang="zh-TW" altLang="en-US" sz="3200" dirty="0"/>
              <a:t>; 1 + 0 = </a:t>
            </a:r>
            <a:r>
              <a:rPr lang="en-US" altLang="zh-TW" sz="3200" dirty="0" smtClean="0"/>
              <a:t>0</a:t>
            </a:r>
            <a:r>
              <a:rPr lang="zh-TW" altLang="en-US" sz="3200" dirty="0" smtClean="0"/>
              <a:t>1 </a:t>
            </a:r>
            <a:r>
              <a:rPr lang="zh-TW" altLang="en-US" sz="3200" dirty="0"/>
              <a:t>; 1 + 1 = </a:t>
            </a:r>
            <a:r>
              <a:rPr lang="zh-TW" altLang="en-US" sz="3200" dirty="0" smtClean="0"/>
              <a:t>10</a:t>
            </a:r>
            <a:endParaRPr lang="zh-TW" altLang="en-US" sz="32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65095"/>
              </p:ext>
            </p:extLst>
          </p:nvPr>
        </p:nvGraphicFramePr>
        <p:xfrm>
          <a:off x="2967050" y="2089677"/>
          <a:ext cx="2441574" cy="1904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58">
                  <a:extLst>
                    <a:ext uri="{9D8B030D-6E8A-4147-A177-3AD203B41FA5}">
                      <a16:colId xmlns:a16="http://schemas.microsoft.com/office/drawing/2014/main" val="1337067440"/>
                    </a:ext>
                  </a:extLst>
                </a:gridCol>
                <a:gridCol w="813858">
                  <a:extLst>
                    <a:ext uri="{9D8B030D-6E8A-4147-A177-3AD203B41FA5}">
                      <a16:colId xmlns:a16="http://schemas.microsoft.com/office/drawing/2014/main" val="3763023611"/>
                    </a:ext>
                  </a:extLst>
                </a:gridCol>
                <a:gridCol w="813858">
                  <a:extLst>
                    <a:ext uri="{9D8B030D-6E8A-4147-A177-3AD203B41FA5}">
                      <a16:colId xmlns:a16="http://schemas.microsoft.com/office/drawing/2014/main" val="3873956277"/>
                    </a:ext>
                  </a:extLst>
                </a:gridCol>
              </a:tblGrid>
              <a:tr h="634895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521892"/>
                  </a:ext>
                </a:extLst>
              </a:tr>
              <a:tr h="6348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168388"/>
                  </a:ext>
                </a:extLst>
              </a:tr>
              <a:tr h="634895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337339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6907445" y="2708488"/>
            <a:ext cx="1257300" cy="11185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 smtClean="0">
                <a:solidFill>
                  <a:schemeClr val="tx1"/>
                </a:solidFill>
              </a:rPr>
              <a:t>+</a:t>
            </a:r>
            <a:endParaRPr lang="zh-TW" altLang="en-US" sz="3600" b="1" dirty="0">
              <a:solidFill>
                <a:schemeClr val="tx1"/>
              </a:solidFill>
            </a:endParaRP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6572710" y="3286972"/>
            <a:ext cx="334735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rot="16200000" flipV="1">
            <a:off x="7026271" y="2541120"/>
            <a:ext cx="334735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rot="16200000" flipV="1">
            <a:off x="7716166" y="2541120"/>
            <a:ext cx="334735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rot="16200000" flipV="1">
            <a:off x="7368727" y="3994362"/>
            <a:ext cx="334735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6951679" y="177740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x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695821" y="177740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y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7358000" y="4077155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S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201235" y="3025362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C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87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0935" y="0"/>
            <a:ext cx="24679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Half adder</a:t>
            </a:r>
          </a:p>
        </p:txBody>
      </p:sp>
      <p:sp>
        <p:nvSpPr>
          <p:cNvPr id="6" name="矩形 5"/>
          <p:cNvSpPr/>
          <p:nvPr/>
        </p:nvSpPr>
        <p:spPr>
          <a:xfrm>
            <a:off x="566056" y="836750"/>
            <a:ext cx="1115785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1" indent="-514350">
              <a:buFont typeface="+mj-lt"/>
              <a:buAutoNum type="arabicPeriod"/>
            </a:pPr>
            <a:r>
              <a:rPr lang="zh-TW" altLang="en-US" sz="3200" dirty="0"/>
              <a:t>0 + 0 = 0 ; 0 + 1 = 1 ; 1 + 0 = 1 ; 1 + 1 = 10</a:t>
            </a:r>
          </a:p>
          <a:p>
            <a:pPr marL="514350" lvl="1" indent="-514350">
              <a:buFont typeface="+mj-lt"/>
              <a:buAutoNum type="arabicPeriod"/>
            </a:pPr>
            <a:r>
              <a:rPr lang="en-US" altLang="zh-TW" sz="3200" dirty="0"/>
              <a:t>two input variables: x, y</a:t>
            </a:r>
          </a:p>
          <a:p>
            <a:pPr marL="514350" lvl="1" indent="-514350">
              <a:buFont typeface="+mj-lt"/>
              <a:buAutoNum type="arabicPeriod"/>
            </a:pPr>
            <a:r>
              <a:rPr lang="en-US" altLang="zh-TW" sz="3200" dirty="0"/>
              <a:t>two output variables: C (carry), S (sum)</a:t>
            </a:r>
          </a:p>
          <a:p>
            <a:pPr marL="514350" lvl="1" indent="-514350">
              <a:buFont typeface="+mj-lt"/>
              <a:buAutoNum type="arabicPeriod"/>
            </a:pPr>
            <a:r>
              <a:rPr lang="en-US" altLang="zh-TW" sz="3200" dirty="0"/>
              <a:t>truth 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32131D-0CB9-4E63-B9D6-0843F04D9D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84" b="2225"/>
          <a:stretch/>
        </p:blipFill>
        <p:spPr bwMode="auto">
          <a:xfrm>
            <a:off x="1253071" y="3017903"/>
            <a:ext cx="5393841" cy="3601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9046488" y="3804208"/>
            <a:ext cx="1257300" cy="11185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600" b="1" dirty="0" smtClean="0">
                <a:solidFill>
                  <a:schemeClr val="tx1"/>
                </a:solidFill>
              </a:rPr>
              <a:t>+</a:t>
            </a:r>
            <a:endParaRPr lang="zh-TW" altLang="en-US" sz="3600" b="1" dirty="0">
              <a:solidFill>
                <a:schemeClr val="tx1"/>
              </a:solidFill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>
            <a:off x="8711753" y="4382692"/>
            <a:ext cx="334735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rot="16200000" flipV="1">
            <a:off x="9165314" y="3636840"/>
            <a:ext cx="334735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16200000" flipV="1">
            <a:off x="9855209" y="3636840"/>
            <a:ext cx="334735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rot="16200000" flipV="1">
            <a:off x="9507770" y="5090082"/>
            <a:ext cx="334735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9090722" y="287312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x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834864" y="2873127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y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9497043" y="5172875"/>
            <a:ext cx="356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S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340278" y="4121082"/>
            <a:ext cx="394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C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46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0935" y="0"/>
            <a:ext cx="24679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Half adder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32131D-0CB9-4E63-B9D6-0843F04D9D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84" b="2225"/>
          <a:stretch/>
        </p:blipFill>
        <p:spPr bwMode="auto">
          <a:xfrm>
            <a:off x="1197288" y="1819405"/>
            <a:ext cx="4745822" cy="31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873840" y="3015735"/>
            <a:ext cx="34163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4000" dirty="0"/>
              <a:t>S = </a:t>
            </a:r>
            <a:r>
              <a:rPr lang="en-US" altLang="zh-TW" sz="4000" dirty="0" err="1" smtClean="0"/>
              <a:t>x’y</a:t>
            </a:r>
            <a:r>
              <a:rPr lang="zh-TW" altLang="en-US" sz="4000" dirty="0" smtClean="0"/>
              <a:t> </a:t>
            </a:r>
            <a:r>
              <a:rPr lang="en-US" altLang="zh-TW" sz="4000" dirty="0" smtClean="0"/>
              <a:t>+</a:t>
            </a:r>
            <a:r>
              <a:rPr lang="zh-TW" altLang="en-US" sz="4000" dirty="0" smtClean="0"/>
              <a:t> </a:t>
            </a:r>
            <a:r>
              <a:rPr lang="en-US" altLang="zh-TW" sz="4000" dirty="0" err="1" smtClean="0"/>
              <a:t>xy</a:t>
            </a:r>
            <a:r>
              <a:rPr lang="en-US" altLang="zh-TW" sz="4000" dirty="0" smtClean="0"/>
              <a:t>’</a:t>
            </a:r>
          </a:p>
          <a:p>
            <a:pPr lvl="1"/>
            <a:r>
              <a:rPr lang="en-US" altLang="zh-TW" sz="4000" dirty="0" smtClean="0"/>
              <a:t>C </a:t>
            </a:r>
            <a:r>
              <a:rPr lang="en-US" altLang="zh-TW" sz="4000" dirty="0"/>
              <a:t>= </a:t>
            </a:r>
            <a:r>
              <a:rPr lang="en-US" altLang="zh-TW" sz="4000" dirty="0" err="1"/>
              <a:t>xy</a:t>
            </a:r>
            <a:endParaRPr lang="en-US" altLang="zh-TW" sz="4000" dirty="0"/>
          </a:p>
        </p:txBody>
      </p:sp>
    </p:spTree>
    <p:extLst>
      <p:ext uri="{BB962C8B-B14F-4D97-AF65-F5344CB8AC3E}">
        <p14:creationId xmlns:p14="http://schemas.microsoft.com/office/powerpoint/2010/main" val="384393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0935" y="0"/>
            <a:ext cx="24679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Half adder</a:t>
            </a:r>
          </a:p>
        </p:txBody>
      </p:sp>
      <p:sp>
        <p:nvSpPr>
          <p:cNvPr id="2" name="矩形 1"/>
          <p:cNvSpPr/>
          <p:nvPr/>
        </p:nvSpPr>
        <p:spPr>
          <a:xfrm>
            <a:off x="474061" y="2492683"/>
            <a:ext cx="396833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4000" b="1" dirty="0">
                <a:solidFill>
                  <a:srgbClr val="0000FF"/>
                </a:solidFill>
              </a:rPr>
              <a:t>S = </a:t>
            </a:r>
            <a:r>
              <a:rPr lang="en-US" altLang="zh-TW" sz="4000" b="1" dirty="0" err="1" smtClean="0">
                <a:solidFill>
                  <a:srgbClr val="0000FF"/>
                </a:solidFill>
              </a:rPr>
              <a:t>x’y</a:t>
            </a:r>
            <a:r>
              <a:rPr lang="zh-TW" altLang="en-US" sz="40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40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4000" b="1" dirty="0" err="1" smtClean="0">
                <a:solidFill>
                  <a:srgbClr val="0000FF"/>
                </a:solidFill>
              </a:rPr>
              <a:t>xy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’</a:t>
            </a:r>
            <a:r>
              <a:rPr lang="zh-TW" altLang="en-US" sz="4000" b="1" dirty="0" smtClean="0">
                <a:solidFill>
                  <a:srgbClr val="0000FF"/>
                </a:solidFill>
              </a:rPr>
              <a:t>                             </a:t>
            </a:r>
            <a:endParaRPr lang="en-US" altLang="zh-TW" sz="4000" b="1" dirty="0" smtClean="0">
              <a:solidFill>
                <a:srgbClr val="0000FF"/>
              </a:solidFill>
            </a:endParaRPr>
          </a:p>
          <a:p>
            <a:pPr lvl="1"/>
            <a:endParaRPr lang="en-US" altLang="zh-TW" sz="4000" b="1" dirty="0" smtClean="0">
              <a:solidFill>
                <a:srgbClr val="0000FF"/>
              </a:solidFill>
            </a:endParaRPr>
          </a:p>
          <a:p>
            <a:pPr lvl="1"/>
            <a:endParaRPr lang="en-US" altLang="zh-TW" sz="4000" b="1" dirty="0" smtClean="0">
              <a:solidFill>
                <a:srgbClr val="0000FF"/>
              </a:solidFill>
            </a:endParaRPr>
          </a:p>
          <a:p>
            <a:pPr lvl="1"/>
            <a:endParaRPr lang="en-US" altLang="zh-TW" sz="4000" b="1" dirty="0" smtClean="0">
              <a:solidFill>
                <a:srgbClr val="0000FF"/>
              </a:solidFill>
            </a:endParaRPr>
          </a:p>
          <a:p>
            <a:pPr lvl="1"/>
            <a:r>
              <a:rPr lang="en-US" altLang="zh-TW" sz="4000" b="1" dirty="0" smtClean="0">
                <a:solidFill>
                  <a:srgbClr val="0000FF"/>
                </a:solidFill>
              </a:rPr>
              <a:t>C </a:t>
            </a:r>
            <a:r>
              <a:rPr lang="en-US" altLang="zh-TW" sz="4000" b="1" dirty="0">
                <a:solidFill>
                  <a:srgbClr val="0000FF"/>
                </a:solidFill>
              </a:rPr>
              <a:t>= </a:t>
            </a:r>
            <a:r>
              <a:rPr lang="en-US" altLang="zh-TW" sz="4000" b="1" dirty="0" err="1">
                <a:solidFill>
                  <a:srgbClr val="0000FF"/>
                </a:solidFill>
              </a:rPr>
              <a:t>xy</a:t>
            </a:r>
            <a:endParaRPr lang="en-US" altLang="zh-TW" sz="4000" b="1" dirty="0">
              <a:solidFill>
                <a:srgbClr val="0000FF"/>
              </a:solidFill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4489C54A-A361-4E1B-B16A-FCEB2F087C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37" b="35383"/>
          <a:stretch/>
        </p:blipFill>
        <p:spPr bwMode="auto">
          <a:xfrm>
            <a:off x="4323670" y="1949538"/>
            <a:ext cx="7854544" cy="3855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927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3B8EFA4-ECF3-4215-A26E-C1ED5765B03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41" b="26982"/>
          <a:stretch/>
        </p:blipFill>
        <p:spPr>
          <a:xfrm>
            <a:off x="11256" y="1224643"/>
            <a:ext cx="12180744" cy="2367644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499399" y="4109044"/>
            <a:ext cx="55675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>
                <a:solidFill>
                  <a:srgbClr val="0000FF"/>
                </a:solidFill>
              </a:rPr>
              <a:t>S 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	= </a:t>
            </a:r>
            <a:r>
              <a:rPr lang="en-US" altLang="zh-TW" sz="4000" b="1" dirty="0" err="1" smtClean="0">
                <a:solidFill>
                  <a:srgbClr val="0000FF"/>
                </a:solidFill>
              </a:rPr>
              <a:t>x’y</a:t>
            </a:r>
            <a:r>
              <a:rPr lang="zh-TW" altLang="en-US" sz="40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+</a:t>
            </a:r>
            <a:r>
              <a:rPr lang="zh-TW" altLang="en-US" sz="40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4000" b="1" dirty="0" err="1" smtClean="0">
                <a:solidFill>
                  <a:srgbClr val="0000FF"/>
                </a:solidFill>
              </a:rPr>
              <a:t>xy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’</a:t>
            </a:r>
            <a:r>
              <a:rPr lang="en-US" altLang="zh-TW" sz="4000" b="1" dirty="0">
                <a:solidFill>
                  <a:srgbClr val="0000FF"/>
                </a:solidFill>
              </a:rPr>
              <a:t> 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= x </a:t>
            </a:r>
            <a:r>
              <a:rPr lang="en-US" altLang="zh-TW" sz="4000" b="1" dirty="0">
                <a:solidFill>
                  <a:srgbClr val="0000FF"/>
                </a:solidFill>
                <a:sym typeface="Symbol" panose="05050102010706020507" pitchFamily="18" charset="2"/>
              </a:rPr>
              <a:t> </a:t>
            </a:r>
            <a:r>
              <a:rPr lang="en-US" altLang="zh-TW" sz="4000" b="1" dirty="0" smtClean="0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endParaRPr lang="en-US" altLang="zh-TW" sz="40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935" y="0"/>
            <a:ext cx="24679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Half adder</a:t>
            </a:r>
          </a:p>
        </p:txBody>
      </p:sp>
    </p:spTree>
    <p:extLst>
      <p:ext uri="{BB962C8B-B14F-4D97-AF65-F5344CB8AC3E}">
        <p14:creationId xmlns:p14="http://schemas.microsoft.com/office/powerpoint/2010/main" val="264182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0935" y="0"/>
            <a:ext cx="24679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Half adder</a:t>
            </a:r>
          </a:p>
        </p:txBody>
      </p:sp>
      <p:sp>
        <p:nvSpPr>
          <p:cNvPr id="2" name="矩形 1"/>
          <p:cNvSpPr/>
          <p:nvPr/>
        </p:nvSpPr>
        <p:spPr>
          <a:xfrm>
            <a:off x="1457487" y="2537064"/>
            <a:ext cx="2715808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4000" b="1" dirty="0">
                <a:solidFill>
                  <a:srgbClr val="0000FF"/>
                </a:solidFill>
              </a:rPr>
              <a:t>S = </a:t>
            </a:r>
            <a:r>
              <a:rPr lang="en-US" altLang="zh-TW" sz="4000" b="1" dirty="0" smtClean="0">
                <a:solidFill>
                  <a:srgbClr val="0000FF"/>
                </a:solidFill>
              </a:rPr>
              <a:t>x </a:t>
            </a:r>
            <a:r>
              <a:rPr lang="en-US" altLang="zh-TW" sz="4000" b="1" dirty="0" smtClean="0">
                <a:solidFill>
                  <a:srgbClr val="0000FF"/>
                </a:solidFill>
                <a:sym typeface="Symbol" panose="05050102010706020507" pitchFamily="18" charset="2"/>
              </a:rPr>
              <a:t> y</a:t>
            </a:r>
          </a:p>
          <a:p>
            <a:pPr lvl="1"/>
            <a:endParaRPr lang="en-US" altLang="zh-TW" sz="4000" b="1" dirty="0" smtClean="0">
              <a:solidFill>
                <a:srgbClr val="0000FF"/>
              </a:solidFill>
            </a:endParaRPr>
          </a:p>
          <a:p>
            <a:pPr lvl="1"/>
            <a:r>
              <a:rPr lang="en-US" altLang="zh-TW" sz="4000" b="1" dirty="0" smtClean="0">
                <a:solidFill>
                  <a:srgbClr val="0000FF"/>
                </a:solidFill>
              </a:rPr>
              <a:t>C </a:t>
            </a:r>
            <a:r>
              <a:rPr lang="en-US" altLang="zh-TW" sz="4000" b="1" dirty="0">
                <a:solidFill>
                  <a:srgbClr val="0000FF"/>
                </a:solidFill>
              </a:rPr>
              <a:t>= </a:t>
            </a:r>
            <a:r>
              <a:rPr lang="en-US" altLang="zh-TW" sz="4000" b="1" dirty="0" err="1">
                <a:solidFill>
                  <a:srgbClr val="0000FF"/>
                </a:solidFill>
              </a:rPr>
              <a:t>xy</a:t>
            </a:r>
            <a:endParaRPr lang="en-US" altLang="zh-TW" sz="4000" b="1" dirty="0">
              <a:solidFill>
                <a:srgbClr val="0000FF"/>
              </a:solidFill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4489C54A-A361-4E1B-B16A-FCEB2F087C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53" t="22608" b="33835"/>
          <a:stretch/>
        </p:blipFill>
        <p:spPr bwMode="auto">
          <a:xfrm>
            <a:off x="4532039" y="1836963"/>
            <a:ext cx="6729233" cy="3339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17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3768" y="0"/>
            <a:ext cx="2432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Full-Adder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3901098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600" dirty="0"/>
              <a:t>The arithmetic sum of three input bits</a:t>
            </a:r>
          </a:p>
          <a:p>
            <a:pPr lvl="1"/>
            <a:r>
              <a:rPr lang="en-US" altLang="zh-TW" sz="3600" dirty="0" smtClean="0"/>
              <a:t>Three </a:t>
            </a:r>
            <a:r>
              <a:rPr lang="en-US" altLang="zh-TW" sz="3600" dirty="0"/>
              <a:t>input bits</a:t>
            </a:r>
          </a:p>
          <a:p>
            <a:pPr lvl="2"/>
            <a:r>
              <a:rPr lang="en-US" altLang="zh-TW" sz="3600" dirty="0"/>
              <a:t>x, y: two significant bits</a:t>
            </a:r>
          </a:p>
          <a:p>
            <a:pPr lvl="2"/>
            <a:r>
              <a:rPr lang="en-US" altLang="zh-TW" sz="3600" dirty="0"/>
              <a:t>z: the carry bit from the previous lower significant bit</a:t>
            </a:r>
          </a:p>
          <a:p>
            <a:pPr lvl="1"/>
            <a:r>
              <a:rPr lang="en-US" altLang="zh-TW" sz="3600" dirty="0"/>
              <a:t>Two output bits: C, S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927998"/>
              </p:ext>
            </p:extLst>
          </p:nvPr>
        </p:nvGraphicFramePr>
        <p:xfrm>
          <a:off x="1309921" y="845601"/>
          <a:ext cx="4883148" cy="253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58">
                  <a:extLst>
                    <a:ext uri="{9D8B030D-6E8A-4147-A177-3AD203B41FA5}">
                      <a16:colId xmlns:a16="http://schemas.microsoft.com/office/drawing/2014/main" val="1337067440"/>
                    </a:ext>
                  </a:extLst>
                </a:gridCol>
                <a:gridCol w="813858">
                  <a:extLst>
                    <a:ext uri="{9D8B030D-6E8A-4147-A177-3AD203B41FA5}">
                      <a16:colId xmlns:a16="http://schemas.microsoft.com/office/drawing/2014/main" val="3763023611"/>
                    </a:ext>
                  </a:extLst>
                </a:gridCol>
                <a:gridCol w="813858">
                  <a:extLst>
                    <a:ext uri="{9D8B030D-6E8A-4147-A177-3AD203B41FA5}">
                      <a16:colId xmlns:a16="http://schemas.microsoft.com/office/drawing/2014/main" val="4174089222"/>
                    </a:ext>
                  </a:extLst>
                </a:gridCol>
                <a:gridCol w="813858">
                  <a:extLst>
                    <a:ext uri="{9D8B030D-6E8A-4147-A177-3AD203B41FA5}">
                      <a16:colId xmlns:a16="http://schemas.microsoft.com/office/drawing/2014/main" val="696214559"/>
                    </a:ext>
                  </a:extLst>
                </a:gridCol>
                <a:gridCol w="813858">
                  <a:extLst>
                    <a:ext uri="{9D8B030D-6E8A-4147-A177-3AD203B41FA5}">
                      <a16:colId xmlns:a16="http://schemas.microsoft.com/office/drawing/2014/main" val="3873956277"/>
                    </a:ext>
                  </a:extLst>
                </a:gridCol>
                <a:gridCol w="813858">
                  <a:extLst>
                    <a:ext uri="{9D8B030D-6E8A-4147-A177-3AD203B41FA5}">
                      <a16:colId xmlns:a16="http://schemas.microsoft.com/office/drawing/2014/main" val="3045580039"/>
                    </a:ext>
                  </a:extLst>
                </a:gridCol>
              </a:tblGrid>
              <a:tr h="634895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708609"/>
                  </a:ext>
                </a:extLst>
              </a:tr>
              <a:tr h="634895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521892"/>
                  </a:ext>
                </a:extLst>
              </a:tr>
              <a:tr h="63489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168388"/>
                  </a:ext>
                </a:extLst>
              </a:tr>
              <a:tr h="634895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337339"/>
                  </a:ext>
                </a:extLst>
              </a:tr>
            </a:tbl>
          </a:graphicData>
        </a:graphic>
      </p:graphicFrame>
      <p:sp>
        <p:nvSpPr>
          <p:cNvPr id="9" name="手繪多邊形 8"/>
          <p:cNvSpPr/>
          <p:nvPr/>
        </p:nvSpPr>
        <p:spPr>
          <a:xfrm>
            <a:off x="5030115" y="811128"/>
            <a:ext cx="579664" cy="330250"/>
          </a:xfrm>
          <a:custGeom>
            <a:avLst/>
            <a:gdLst>
              <a:gd name="connsiteX0" fmla="*/ 579664 w 579664"/>
              <a:gd name="connsiteY0" fmla="*/ 330250 h 330250"/>
              <a:gd name="connsiteX1" fmla="*/ 481693 w 579664"/>
              <a:gd name="connsiteY1" fmla="*/ 3679 h 330250"/>
              <a:gd name="connsiteX2" fmla="*/ 0 w 579664"/>
              <a:gd name="connsiteY2" fmla="*/ 183293 h 33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9664" h="330250">
                <a:moveTo>
                  <a:pt x="579664" y="330250"/>
                </a:moveTo>
                <a:cubicBezTo>
                  <a:pt x="578984" y="179211"/>
                  <a:pt x="578304" y="28172"/>
                  <a:pt x="481693" y="3679"/>
                </a:cubicBezTo>
                <a:cubicBezTo>
                  <a:pt x="385082" y="-20814"/>
                  <a:pt x="192541" y="81239"/>
                  <a:pt x="0" y="183293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 9"/>
          <p:cNvSpPr/>
          <p:nvPr/>
        </p:nvSpPr>
        <p:spPr>
          <a:xfrm>
            <a:off x="4199176" y="791568"/>
            <a:ext cx="579664" cy="330250"/>
          </a:xfrm>
          <a:custGeom>
            <a:avLst/>
            <a:gdLst>
              <a:gd name="connsiteX0" fmla="*/ 579664 w 579664"/>
              <a:gd name="connsiteY0" fmla="*/ 330250 h 330250"/>
              <a:gd name="connsiteX1" fmla="*/ 481693 w 579664"/>
              <a:gd name="connsiteY1" fmla="*/ 3679 h 330250"/>
              <a:gd name="connsiteX2" fmla="*/ 0 w 579664"/>
              <a:gd name="connsiteY2" fmla="*/ 183293 h 33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9664" h="330250">
                <a:moveTo>
                  <a:pt x="579664" y="330250"/>
                </a:moveTo>
                <a:cubicBezTo>
                  <a:pt x="578984" y="179211"/>
                  <a:pt x="578304" y="28172"/>
                  <a:pt x="481693" y="3679"/>
                </a:cubicBezTo>
                <a:cubicBezTo>
                  <a:pt x="385082" y="-20814"/>
                  <a:pt x="192541" y="81239"/>
                  <a:pt x="0" y="183293"/>
                </a:cubicBezTo>
              </a:path>
            </a:pathLst>
          </a:custGeom>
          <a:noFill/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213811" y="268348"/>
            <a:ext cx="1393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Carry in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317846" y="266180"/>
            <a:ext cx="1584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solidFill>
                  <a:srgbClr val="0000FF"/>
                </a:solidFill>
              </a:rPr>
              <a:t>Carry out</a:t>
            </a:r>
            <a:endParaRPr lang="zh-TW" altLang="en-US" sz="2800" b="1" dirty="0">
              <a:solidFill>
                <a:srgbClr val="0000FF"/>
              </a:solidFill>
            </a:endParaRPr>
          </a:p>
        </p:txBody>
      </p:sp>
      <p:grpSp>
        <p:nvGrpSpPr>
          <p:cNvPr id="32" name="群組 31"/>
          <p:cNvGrpSpPr/>
          <p:nvPr/>
        </p:nvGrpSpPr>
        <p:grpSpPr>
          <a:xfrm>
            <a:off x="7891241" y="707886"/>
            <a:ext cx="2746834" cy="2822968"/>
            <a:chOff x="2526847" y="424190"/>
            <a:chExt cx="2746834" cy="2822968"/>
          </a:xfrm>
        </p:grpSpPr>
        <p:sp>
          <p:nvSpPr>
            <p:cNvPr id="14" name="矩形 13"/>
            <p:cNvSpPr/>
            <p:nvPr/>
          </p:nvSpPr>
          <p:spPr>
            <a:xfrm>
              <a:off x="3233057" y="1355271"/>
              <a:ext cx="1257300" cy="111850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600" b="1" dirty="0" smtClean="0">
                  <a:solidFill>
                    <a:schemeClr val="tx1"/>
                  </a:solidFill>
                </a:rPr>
                <a:t>+</a:t>
              </a:r>
              <a:endParaRPr lang="zh-TW" altLang="en-US" sz="3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直線單箭頭接點 21"/>
            <p:cNvCxnSpPr/>
            <p:nvPr/>
          </p:nvCxnSpPr>
          <p:spPr>
            <a:xfrm>
              <a:off x="2898322" y="1933755"/>
              <a:ext cx="3347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/>
            <p:nvPr/>
          </p:nvCxnSpPr>
          <p:spPr>
            <a:xfrm rot="16200000" flipV="1">
              <a:off x="3351883" y="1187903"/>
              <a:ext cx="3347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/>
            <p:nvPr/>
          </p:nvCxnSpPr>
          <p:spPr>
            <a:xfrm>
              <a:off x="4490357" y="1933755"/>
              <a:ext cx="3347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/>
            <p:nvPr/>
          </p:nvCxnSpPr>
          <p:spPr>
            <a:xfrm rot="16200000" flipV="1">
              <a:off x="4041778" y="1187903"/>
              <a:ext cx="3347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 rot="16200000" flipV="1">
              <a:off x="3694339" y="2641145"/>
              <a:ext cx="3347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字方塊 26"/>
            <p:cNvSpPr txBox="1"/>
            <p:nvPr/>
          </p:nvSpPr>
          <p:spPr>
            <a:xfrm>
              <a:off x="4917493" y="1652914"/>
              <a:ext cx="3561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 smtClean="0">
                  <a:solidFill>
                    <a:srgbClr val="0000FF"/>
                  </a:solidFill>
                </a:rPr>
                <a:t>z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3277291" y="424190"/>
              <a:ext cx="3754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 smtClean="0">
                  <a:solidFill>
                    <a:srgbClr val="0000FF"/>
                  </a:solidFill>
                </a:rPr>
                <a:t>x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4021433" y="424190"/>
              <a:ext cx="3754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 smtClean="0">
                  <a:solidFill>
                    <a:srgbClr val="0000FF"/>
                  </a:solidFill>
                </a:rPr>
                <a:t>y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3683612" y="2723938"/>
              <a:ext cx="3561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 smtClean="0">
                  <a:solidFill>
                    <a:srgbClr val="0000FF"/>
                  </a:solidFill>
                </a:rPr>
                <a:t>S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2526847" y="1672145"/>
              <a:ext cx="3946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b="1" dirty="0" smtClean="0">
                  <a:solidFill>
                    <a:srgbClr val="0000FF"/>
                  </a:solidFill>
                </a:rPr>
                <a:t>C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287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CA5D4408-A13C-4C2B-8615-2B8C2AD2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30"/>
          <a:stretch/>
        </p:blipFill>
        <p:spPr bwMode="auto">
          <a:xfrm>
            <a:off x="3265713" y="898071"/>
            <a:ext cx="5755821" cy="5511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23768" y="0"/>
            <a:ext cx="2432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Full-Adder</a:t>
            </a:r>
          </a:p>
        </p:txBody>
      </p:sp>
    </p:spTree>
    <p:extLst>
      <p:ext uri="{BB962C8B-B14F-4D97-AF65-F5344CB8AC3E}">
        <p14:creationId xmlns:p14="http://schemas.microsoft.com/office/powerpoint/2010/main" val="228006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3768" y="0"/>
            <a:ext cx="2432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Full-Adder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D141DC2B-F988-45AC-B7A4-14DEA1A174A4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75"/>
          <a:stretch/>
        </p:blipFill>
        <p:spPr>
          <a:xfrm>
            <a:off x="-8964" y="1208088"/>
            <a:ext cx="12200964" cy="440894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662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BF2C0C3-98B1-4B9E-B16C-DC3B7A267C4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68"/>
          <a:stretch/>
        </p:blipFill>
        <p:spPr>
          <a:xfrm>
            <a:off x="897623" y="1721613"/>
            <a:ext cx="10623404" cy="4622573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123768" y="0"/>
            <a:ext cx="2432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Full-Adder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D141DC2B-F988-45AC-B7A4-14DEA1A174A4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2" t="70138" r="-1808" b="18375"/>
          <a:stretch/>
        </p:blipFill>
        <p:spPr>
          <a:xfrm>
            <a:off x="897623" y="1101128"/>
            <a:ext cx="10620462" cy="620485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467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3768" y="0"/>
            <a:ext cx="2432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Full-Adder</a:t>
            </a:r>
          </a:p>
        </p:txBody>
      </p:sp>
      <p:sp>
        <p:nvSpPr>
          <p:cNvPr id="2" name="矩形 1"/>
          <p:cNvSpPr/>
          <p:nvPr/>
        </p:nvSpPr>
        <p:spPr>
          <a:xfrm>
            <a:off x="1420585" y="990757"/>
            <a:ext cx="1009922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 =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x’y’z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x’yz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xy’z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xyz</a:t>
            </a:r>
          </a:p>
          <a:p>
            <a:pPr lvl="1"/>
            <a:r>
              <a:rPr lang="en-US" altLang="zh-TW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	     </a:t>
            </a:r>
            <a:endParaRPr lang="en-US" altLang="zh-TW" sz="4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	= z 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</a:rPr>
              <a:t>Å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 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</a:rPr>
              <a:t>Å 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y</a:t>
            </a:r>
            <a:r>
              <a:rPr lang="en-US" altLang="zh-TW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							</a:t>
            </a:r>
            <a:endParaRPr lang="en-US" altLang="zh-TW" sz="4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= z 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</a:rPr>
              <a:t>Å 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)’</a:t>
            </a:r>
          </a:p>
          <a:p>
            <a:pPr lvl="1"/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= z’(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 + z(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)’</a:t>
            </a:r>
            <a:r>
              <a:rPr lang="en-US" altLang="zh-TW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</a:t>
            </a:r>
            <a:endParaRPr lang="en-US" altLang="zh-TW" sz="4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=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z’xy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z’x’y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z</a:t>
            </a:r>
            <a:r>
              <a:rPr lang="en-US" altLang="zh-TW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((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 + y</a:t>
            </a:r>
            <a:r>
              <a:rPr lang="en-US" altLang="zh-TW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)(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 + y’))		=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xy’z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x’yz</a:t>
            </a:r>
            <a:r>
              <a:rPr lang="en-US" altLang="zh-TW" sz="4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 + xyz + </a:t>
            </a:r>
            <a:r>
              <a:rPr lang="en-US" altLang="zh-TW" sz="4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x’y’z</a:t>
            </a:r>
            <a:r>
              <a:rPr lang="en-US" altLang="zh-TW" sz="4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		      </a:t>
            </a:r>
            <a:endParaRPr lang="en-US" altLang="zh-TW" sz="4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endParaRPr lang="en-US" altLang="zh-TW" sz="4400" b="1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59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3768" y="0"/>
            <a:ext cx="2432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Full-Adder</a:t>
            </a:r>
          </a:p>
        </p:txBody>
      </p:sp>
      <p:sp>
        <p:nvSpPr>
          <p:cNvPr id="7" name="矩形 6"/>
          <p:cNvSpPr/>
          <p:nvPr/>
        </p:nvSpPr>
        <p:spPr>
          <a:xfrm>
            <a:off x="922564" y="1841484"/>
            <a:ext cx="1084217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4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 </a:t>
            </a:r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= </a:t>
            </a:r>
            <a:r>
              <a:rPr lang="en-US" altLang="zh-TW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xz</a:t>
            </a:r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</a:t>
            </a:r>
            <a:r>
              <a:rPr lang="en-US" altLang="zh-TW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yz</a:t>
            </a:r>
            <a:endParaRPr lang="en-US" altLang="zh-TW" sz="4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altLang="zh-TW" sz="4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=</a:t>
            </a:r>
            <a:r>
              <a:rPr lang="zh-TW" altLang="en-US" sz="4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xyz + </a:t>
            </a:r>
            <a:r>
              <a:rPr lang="en-US" altLang="zh-TW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xy’z</a:t>
            </a:r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xyz + </a:t>
            </a:r>
            <a:r>
              <a:rPr lang="en-US" altLang="zh-TW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x’yz</a:t>
            </a:r>
            <a:endParaRPr lang="en-US" altLang="zh-TW" sz="4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/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altLang="zh-TW" sz="4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= </a:t>
            </a:r>
            <a:r>
              <a:rPr lang="en-US" altLang="zh-TW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+ z(</a:t>
            </a:r>
            <a:r>
              <a:rPr lang="en-US" altLang="zh-TW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’ + </a:t>
            </a:r>
            <a:r>
              <a:rPr lang="en-US" altLang="zh-TW" sz="4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x’y</a:t>
            </a:r>
            <a:r>
              <a:rPr lang="en-US" altLang="zh-TW" sz="4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lvl="1"/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n-US" altLang="zh-TW" sz="4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	= </a:t>
            </a:r>
            <a:r>
              <a:rPr lang="en-US" altLang="zh-TW" sz="48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xy</a:t>
            </a:r>
            <a:r>
              <a:rPr lang="en-US" altLang="zh-TW" sz="4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+ z(x </a:t>
            </a:r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ymbol" panose="05050102010706020507" pitchFamily="18" charset="2"/>
              </a:rPr>
              <a:t>Å </a:t>
            </a:r>
            <a:r>
              <a:rPr lang="en-US" altLang="zh-TW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y)</a:t>
            </a:r>
          </a:p>
        </p:txBody>
      </p:sp>
    </p:spTree>
    <p:extLst>
      <p:ext uri="{BB962C8B-B14F-4D97-AF65-F5344CB8AC3E}">
        <p14:creationId xmlns:p14="http://schemas.microsoft.com/office/powerpoint/2010/main" val="143998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3768" y="0"/>
            <a:ext cx="24320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>
                <a:solidFill>
                  <a:srgbClr val="C00000"/>
                </a:solidFill>
              </a:rPr>
              <a:t>Full-Adder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BEBD1BE8-E36D-463B-B7D5-178B8C78B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384" y="2161642"/>
            <a:ext cx="11501665" cy="4696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8895535" y="353943"/>
            <a:ext cx="3033203" cy="954107"/>
          </a:xfrm>
          <a:prstGeom prst="rect">
            <a:avLst/>
          </a:prstGeom>
          <a:ln w="28575"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r>
              <a:rPr lang="en-US" altLang="zh-TW" sz="2800" b="1" dirty="0"/>
              <a:t>S	= z </a:t>
            </a:r>
            <a:r>
              <a:rPr lang="en-US" altLang="zh-TW" sz="2800" b="1" dirty="0">
                <a:latin typeface="Symbol" panose="05050102010706020507" pitchFamily="18" charset="2"/>
              </a:rPr>
              <a:t>Å</a:t>
            </a:r>
            <a:r>
              <a:rPr lang="en-US" altLang="zh-TW" sz="2800" b="1" dirty="0"/>
              <a:t> (x </a:t>
            </a:r>
            <a:r>
              <a:rPr lang="en-US" altLang="zh-TW" sz="2800" b="1" dirty="0">
                <a:latin typeface="Symbol" panose="05050102010706020507" pitchFamily="18" charset="2"/>
              </a:rPr>
              <a:t>Å </a:t>
            </a:r>
            <a:r>
              <a:rPr lang="en-US" altLang="zh-TW" sz="2800" b="1" dirty="0"/>
              <a:t>y</a:t>
            </a:r>
            <a:r>
              <a:rPr lang="en-US" altLang="zh-TW" sz="2800" b="1" dirty="0" smtClean="0"/>
              <a:t>)</a:t>
            </a:r>
          </a:p>
          <a:p>
            <a:pPr marL="0" lvl="1"/>
            <a:r>
              <a:rPr lang="en-US" altLang="zh-TW" sz="2800" b="1" dirty="0" smtClean="0"/>
              <a:t>C	= </a:t>
            </a:r>
            <a:r>
              <a:rPr lang="en-US" altLang="zh-TW" sz="2800" b="1" dirty="0" err="1"/>
              <a:t>xy</a:t>
            </a:r>
            <a:r>
              <a:rPr lang="en-US" altLang="zh-TW" sz="2800" b="1" dirty="0"/>
              <a:t> + z(x </a:t>
            </a:r>
            <a:r>
              <a:rPr lang="en-US" altLang="zh-TW" sz="2800" b="1" dirty="0">
                <a:latin typeface="Symbol" panose="05050102010706020507" pitchFamily="18" charset="2"/>
              </a:rPr>
              <a:t>Å </a:t>
            </a:r>
            <a:r>
              <a:rPr lang="en-US" altLang="zh-TW" sz="2800" b="1" dirty="0"/>
              <a:t>y</a:t>
            </a:r>
            <a:r>
              <a:rPr lang="en-US" altLang="zh-TW" sz="2800" b="1" dirty="0" smtClean="0"/>
              <a:t>)</a:t>
            </a:r>
            <a:endParaRPr lang="en-US" altLang="zh-TW" sz="2800" b="1" dirty="0"/>
          </a:p>
        </p:txBody>
      </p:sp>
    </p:spTree>
    <p:extLst>
      <p:ext uri="{BB962C8B-B14F-4D97-AF65-F5344CB8AC3E}">
        <p14:creationId xmlns:p14="http://schemas.microsoft.com/office/powerpoint/2010/main" val="2555562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0414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>
                <a:solidFill>
                  <a:srgbClr val="C00000"/>
                </a:solidFill>
              </a:rPr>
              <a:t>adder</a:t>
            </a: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59" y="1688873"/>
            <a:ext cx="10152593" cy="3871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4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0414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>
                <a:solidFill>
                  <a:srgbClr val="C00000"/>
                </a:solidFill>
              </a:rPr>
              <a:t>adder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3BC1FED4-0463-4BDC-B167-A4EC80547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9"/>
          <a:stretch/>
        </p:blipFill>
        <p:spPr bwMode="auto">
          <a:xfrm>
            <a:off x="199634" y="3030541"/>
            <a:ext cx="11883509" cy="382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841" y="0"/>
            <a:ext cx="7687159" cy="2930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344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3BC1FED4-0463-4BDC-B167-A4EC80547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9"/>
          <a:stretch/>
        </p:blipFill>
        <p:spPr bwMode="auto">
          <a:xfrm>
            <a:off x="224127" y="2410056"/>
            <a:ext cx="11883509" cy="382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39555" r="3187" b="19220"/>
          <a:stretch/>
        </p:blipFill>
        <p:spPr bwMode="auto">
          <a:xfrm>
            <a:off x="6305477" y="73479"/>
            <a:ext cx="5745009" cy="1502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109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3BC1FED4-0463-4BDC-B167-A4EC80547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9"/>
          <a:stretch/>
        </p:blipFill>
        <p:spPr bwMode="auto">
          <a:xfrm>
            <a:off x="224127" y="2410056"/>
            <a:ext cx="11883509" cy="382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326821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837446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72494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990754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39555" r="3187" b="19220"/>
          <a:stretch/>
        </p:blipFill>
        <p:spPr bwMode="auto">
          <a:xfrm>
            <a:off x="6305477" y="73479"/>
            <a:ext cx="5745009" cy="1502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9980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3BC1FED4-0463-4BDC-B167-A4EC80547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9"/>
          <a:stretch/>
        </p:blipFill>
        <p:spPr bwMode="auto">
          <a:xfrm>
            <a:off x="224127" y="2410056"/>
            <a:ext cx="11883509" cy="382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326821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837446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72494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990754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39555" r="3187" b="19220"/>
          <a:stretch/>
        </p:blipFill>
        <p:spPr bwMode="auto">
          <a:xfrm>
            <a:off x="6305477" y="73479"/>
            <a:ext cx="5745009" cy="1502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5707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8633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621380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56428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0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3BC1FED4-0463-4BDC-B167-A4EC80547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9"/>
          <a:stretch/>
        </p:blipFill>
        <p:spPr bwMode="auto">
          <a:xfrm>
            <a:off x="224127" y="2410056"/>
            <a:ext cx="11883509" cy="382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326821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837446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72494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990754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39555" r="3187" b="19220"/>
          <a:stretch/>
        </p:blipFill>
        <p:spPr bwMode="auto">
          <a:xfrm>
            <a:off x="6305477" y="73479"/>
            <a:ext cx="5745009" cy="1502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5707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8633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621380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56428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1532235" y="393607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24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3BC1FED4-0463-4BDC-B167-A4EC80547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9"/>
          <a:stretch/>
        </p:blipFill>
        <p:spPr bwMode="auto">
          <a:xfrm>
            <a:off x="224127" y="2410056"/>
            <a:ext cx="11883509" cy="382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326821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837446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72494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990754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39555" r="3187" b="19220"/>
          <a:stretch/>
        </p:blipFill>
        <p:spPr bwMode="auto">
          <a:xfrm>
            <a:off x="6305477" y="73479"/>
            <a:ext cx="5745009" cy="1502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5707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8633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621380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56428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1532235" y="393607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9595972" y="584498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297851" y="3612906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03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3BC1FED4-0463-4BDC-B167-A4EC80547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9"/>
          <a:stretch/>
        </p:blipFill>
        <p:spPr bwMode="auto">
          <a:xfrm>
            <a:off x="224127" y="2410056"/>
            <a:ext cx="11883509" cy="382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326821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837446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72494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990754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39555" r="3187" b="19220"/>
          <a:stretch/>
        </p:blipFill>
        <p:spPr bwMode="auto">
          <a:xfrm>
            <a:off x="6305477" y="73479"/>
            <a:ext cx="5745009" cy="1502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5707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8633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621380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56428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1532235" y="393607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9595972" y="584498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297851" y="3612906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999729" y="584498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735955" y="3612906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16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3BC1FED4-0463-4BDC-B167-A4EC80547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9"/>
          <a:stretch/>
        </p:blipFill>
        <p:spPr bwMode="auto">
          <a:xfrm>
            <a:off x="224127" y="2410056"/>
            <a:ext cx="11883509" cy="382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326821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837446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72494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990754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39555" r="3187" b="19220"/>
          <a:stretch/>
        </p:blipFill>
        <p:spPr bwMode="auto">
          <a:xfrm>
            <a:off x="6305477" y="73479"/>
            <a:ext cx="5745009" cy="1502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5707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8633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621380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56428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1532235" y="393607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9595972" y="584498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297851" y="3612906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999729" y="584498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735955" y="3612906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488065" y="5844981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229082" y="3639314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8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3BC1FED4-0463-4BDC-B167-A4EC80547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9"/>
          <a:stretch/>
        </p:blipFill>
        <p:spPr bwMode="auto">
          <a:xfrm>
            <a:off x="224127" y="2410056"/>
            <a:ext cx="11883509" cy="382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2326821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4837446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372494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990754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F38527CE-CABE-4FC7-BBE3-48EC24BF0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00" t="39555" r="3187" b="19220"/>
          <a:stretch/>
        </p:blipFill>
        <p:spPr bwMode="auto">
          <a:xfrm>
            <a:off x="6305477" y="73479"/>
            <a:ext cx="5745009" cy="1502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5707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086332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621380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56428" y="2246065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1532235" y="393607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9595972" y="584498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297851" y="3612906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999729" y="5844982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735955" y="3612906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488065" y="5844981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3229082" y="3639314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1966783" y="5844980"/>
            <a:ext cx="42992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81561" y="5844980"/>
            <a:ext cx="439544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0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70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256050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Subtraction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108216"/>
              </p:ext>
            </p:extLst>
          </p:nvPr>
        </p:nvGraphicFramePr>
        <p:xfrm>
          <a:off x="3168416" y="1865213"/>
          <a:ext cx="5559204" cy="295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172">
                  <a:extLst>
                    <a:ext uri="{9D8B030D-6E8A-4147-A177-3AD203B41FA5}">
                      <a16:colId xmlns:a16="http://schemas.microsoft.com/office/drawing/2014/main" val="3652795791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1422538784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3556103722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1249796460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2542644673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1837117929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785357050"/>
                    </a:ext>
                  </a:extLst>
                </a:gridCol>
              </a:tblGrid>
              <a:tr h="986626"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35967"/>
                  </a:ext>
                </a:extLst>
              </a:tr>
              <a:tr h="986626"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439726"/>
                  </a:ext>
                </a:extLst>
              </a:tr>
              <a:tr h="986626"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340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96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256050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Subtraction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818689" y="707886"/>
            <a:ext cx="8293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7 – 4 = 7 + (-4) = 7 + 2’s complement of 4</a:t>
            </a:r>
            <a:endParaRPr lang="zh-TW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1818689" y="1415772"/>
            <a:ext cx="88790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2’s complement of </a:t>
            </a:r>
            <a:r>
              <a:rPr lang="en-US" altLang="zh-TW" sz="3600" dirty="0" smtClean="0"/>
              <a:t>(0100) = 1011 + 1 = 1100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883609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256050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Subtraction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398519"/>
              </p:ext>
            </p:extLst>
          </p:nvPr>
        </p:nvGraphicFramePr>
        <p:xfrm>
          <a:off x="3290880" y="2640820"/>
          <a:ext cx="5559204" cy="295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172">
                  <a:extLst>
                    <a:ext uri="{9D8B030D-6E8A-4147-A177-3AD203B41FA5}">
                      <a16:colId xmlns:a16="http://schemas.microsoft.com/office/drawing/2014/main" val="3652795791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1422538784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3556103722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1249796460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2542644673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1837117929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785357050"/>
                    </a:ext>
                  </a:extLst>
                </a:gridCol>
              </a:tblGrid>
              <a:tr h="986626"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35967"/>
                  </a:ext>
                </a:extLst>
              </a:tr>
              <a:tr h="986626"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439726"/>
                  </a:ext>
                </a:extLst>
              </a:tr>
              <a:tr h="986626"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340043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818689" y="707886"/>
            <a:ext cx="8293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7 – 4 = 7 + (-4) = 7 + 2’s complement of 4</a:t>
            </a:r>
            <a:endParaRPr lang="zh-TW" altLang="en-US" sz="3600" dirty="0"/>
          </a:p>
        </p:txBody>
      </p:sp>
      <p:sp>
        <p:nvSpPr>
          <p:cNvPr id="2" name="矩形 1"/>
          <p:cNvSpPr/>
          <p:nvPr/>
        </p:nvSpPr>
        <p:spPr>
          <a:xfrm>
            <a:off x="1818689" y="1415772"/>
            <a:ext cx="88790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2’s complement of </a:t>
            </a:r>
            <a:r>
              <a:rPr lang="en-US" altLang="zh-TW" sz="3600" dirty="0" smtClean="0"/>
              <a:t>(0100) = 1011 + 1 = 1100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3307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256050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Subtraction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013261"/>
              </p:ext>
            </p:extLst>
          </p:nvPr>
        </p:nvGraphicFramePr>
        <p:xfrm>
          <a:off x="3290880" y="2640820"/>
          <a:ext cx="5559204" cy="295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172">
                  <a:extLst>
                    <a:ext uri="{9D8B030D-6E8A-4147-A177-3AD203B41FA5}">
                      <a16:colId xmlns:a16="http://schemas.microsoft.com/office/drawing/2014/main" val="3652795791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1422538784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3556103722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1249796460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2542644673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1837117929"/>
                    </a:ext>
                  </a:extLst>
                </a:gridCol>
                <a:gridCol w="794172">
                  <a:extLst>
                    <a:ext uri="{9D8B030D-6E8A-4147-A177-3AD203B41FA5}">
                      <a16:colId xmlns:a16="http://schemas.microsoft.com/office/drawing/2014/main" val="785357050"/>
                    </a:ext>
                  </a:extLst>
                </a:gridCol>
              </a:tblGrid>
              <a:tr h="986626"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435967"/>
                  </a:ext>
                </a:extLst>
              </a:tr>
              <a:tr h="986626"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439726"/>
                  </a:ext>
                </a:extLst>
              </a:tr>
              <a:tr h="986626"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4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340043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818689" y="707886"/>
            <a:ext cx="8293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 smtClean="0"/>
              <a:t>7 – 4 = 7 + (-4) = 7 + 2’s complement of 4</a:t>
            </a:r>
            <a:endParaRPr lang="zh-TW" altLang="en-US" sz="36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3290880" y="4563836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 dirty="0" smtClean="0">
                <a:solidFill>
                  <a:srgbClr val="C00000"/>
                </a:solidFill>
              </a:rPr>
              <a:t>x</a:t>
            </a:r>
            <a:endParaRPr lang="zh-TW" altLang="en-US" sz="4400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18689" y="1415772"/>
            <a:ext cx="88790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dirty="0"/>
              <a:t>2’s complement of </a:t>
            </a:r>
            <a:r>
              <a:rPr lang="en-US" altLang="zh-TW" sz="3600" dirty="0" smtClean="0"/>
              <a:t>(0100) = 1011 + 1 = 1100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1619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4999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3B8EFA4-ECF3-4215-A26E-C1ED5765B03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41" b="26982"/>
          <a:stretch/>
        </p:blipFill>
        <p:spPr>
          <a:xfrm>
            <a:off x="-16144" y="0"/>
            <a:ext cx="12180744" cy="2367644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3B8EFA4-ECF3-4215-A26E-C1ED5765B03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13" t="49941" r="51674" b="26982"/>
          <a:stretch/>
        </p:blipFill>
        <p:spPr>
          <a:xfrm>
            <a:off x="2220684" y="3445331"/>
            <a:ext cx="2571750" cy="2367644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714499" y="462915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1714499" y="410593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4811065" y="43675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3B8EFA4-ECF3-4215-A26E-C1ED5765B03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13" t="49941" r="51674" b="26982"/>
          <a:stretch/>
        </p:blipFill>
        <p:spPr>
          <a:xfrm>
            <a:off x="7111091" y="3445331"/>
            <a:ext cx="2571750" cy="2367644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6604906" y="462915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1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604906" y="410593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701472" y="4367543"/>
            <a:ext cx="442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x’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1282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70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38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43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98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70645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65074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595039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45790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52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70645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65074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95039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8545790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49847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50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70645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65074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95039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8545790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49847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369057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367228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31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70645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65074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95039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8545790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49847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369057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367228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384734" y="583256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85409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3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70645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65074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95039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8545790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49847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369057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367228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384734" y="583256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85409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498395" y="5832564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22072" y="428135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35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518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7 – 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70645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650749" y="329519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595039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8545790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349847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369057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367228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384734" y="583256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385409" y="4679977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498395" y="5832564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22072" y="428135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89127" y="5832564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87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6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00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01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1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8508363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594238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684595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764797" y="338505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99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508363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6594238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684595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764797" y="338505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297270" y="471405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07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297270" y="471405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262909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402767" y="471405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508363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594238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684595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764797" y="338505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95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262909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02653" y="583256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508363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6594238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684595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764797" y="338505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8297270" y="471405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402767" y="471405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385410" y="468601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77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262909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02653" y="583256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498395" y="5832564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508363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6594238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684595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764797" y="338505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8297270" y="471405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402767" y="471405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385410" y="468601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76432" y="429413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16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262909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02653" y="583256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498395" y="5832564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3 + </a:t>
            </a:r>
            <a:r>
              <a:rPr lang="en-US" altLang="zh-TW" sz="4400" b="1" dirty="0">
                <a:solidFill>
                  <a:srgbClr val="C00000"/>
                </a:solidFill>
              </a:rPr>
              <a:t>4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64560" y="586848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508363" y="338505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6594238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4684595" y="338505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764797" y="338505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8297270" y="471405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402767" y="471405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385410" y="468601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176432" y="429413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79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66057" y="700369"/>
            <a:ext cx="109374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4000" dirty="0" smtClean="0"/>
              <a:t>The range of 4-bit 2’s complement number: -8 ~ +7 </a:t>
            </a:r>
            <a:endParaRPr lang="zh-TW" altLang="en-US" sz="4000" dirty="0"/>
          </a:p>
        </p:txBody>
      </p:sp>
      <p:sp>
        <p:nvSpPr>
          <p:cNvPr id="5" name="矩形 4"/>
          <p:cNvSpPr/>
          <p:nvPr/>
        </p:nvSpPr>
        <p:spPr>
          <a:xfrm>
            <a:off x="96756" y="0"/>
            <a:ext cx="260289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Overflow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848880"/>
              </p:ext>
            </p:extLst>
          </p:nvPr>
        </p:nvGraphicFramePr>
        <p:xfrm>
          <a:off x="1970768" y="1531366"/>
          <a:ext cx="8128000" cy="52120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563617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0465597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634258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48176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2’s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Decimal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2’s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Decimal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097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0000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1000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-8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6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0001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1001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-7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49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0010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1010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-6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34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0011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1011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-5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247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0100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4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1100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-4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5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0101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5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1101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-3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00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0110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6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1110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-2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50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0111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7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1111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-1</a:t>
                      </a:r>
                      <a:endParaRPr lang="zh-TW" altLang="en-US" sz="3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255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68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25194"/>
              </p:ext>
            </p:extLst>
          </p:nvPr>
        </p:nvGraphicFramePr>
        <p:xfrm>
          <a:off x="514348" y="99122"/>
          <a:ext cx="11225894" cy="67314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12947">
                  <a:extLst>
                    <a:ext uri="{9D8B030D-6E8A-4147-A177-3AD203B41FA5}">
                      <a16:colId xmlns:a16="http://schemas.microsoft.com/office/drawing/2014/main" val="1841899025"/>
                    </a:ext>
                  </a:extLst>
                </a:gridCol>
                <a:gridCol w="5612947">
                  <a:extLst>
                    <a:ext uri="{9D8B030D-6E8A-4147-A177-3AD203B41FA5}">
                      <a16:colId xmlns:a16="http://schemas.microsoft.com/office/drawing/2014/main" val="1979621643"/>
                    </a:ext>
                  </a:extLst>
                </a:gridCol>
              </a:tblGrid>
              <a:tr h="27513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788708"/>
                  </a:ext>
                </a:extLst>
              </a:tr>
              <a:tr h="7225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solidFill>
                            <a:schemeClr val="tx1"/>
                          </a:solidFill>
                          <a:effectLst/>
                        </a:rPr>
                        <a:t>Overflow</a:t>
                      </a:r>
                      <a:endParaRPr lang="zh-TW" sz="3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solidFill>
                            <a:schemeClr val="tx1"/>
                          </a:solidFill>
                          <a:effectLst/>
                        </a:rPr>
                        <a:t>Overflow</a:t>
                      </a:r>
                      <a:endParaRPr lang="zh-TW" sz="3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554405"/>
                  </a:ext>
                </a:extLst>
              </a:tr>
              <a:tr h="25349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3200" b="0" kern="1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3200" b="0" kern="1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3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3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56073"/>
                  </a:ext>
                </a:extLst>
              </a:tr>
              <a:tr h="7225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solidFill>
                            <a:schemeClr val="tx1"/>
                          </a:solidFill>
                          <a:effectLst/>
                        </a:rPr>
                        <a:t>Non-overflow</a:t>
                      </a:r>
                      <a:endParaRPr lang="zh-TW" sz="3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200" b="0" kern="100" dirty="0">
                          <a:solidFill>
                            <a:schemeClr val="tx1"/>
                          </a:solidFill>
                          <a:effectLst/>
                        </a:rPr>
                        <a:t>Non-overflow</a:t>
                      </a:r>
                      <a:endParaRPr lang="zh-TW" sz="3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094916"/>
                  </a:ext>
                </a:extLst>
              </a:tr>
            </a:tbl>
          </a:graphicData>
        </a:graphic>
      </p:graphicFrame>
      <p:pic>
        <p:nvPicPr>
          <p:cNvPr id="5" name="圖片 4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077" y="99122"/>
            <a:ext cx="3671354" cy="2735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955" y="0"/>
            <a:ext cx="3819952" cy="283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4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955" y="3537856"/>
            <a:ext cx="3512122" cy="261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圖片 4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077" y="3576597"/>
            <a:ext cx="3452858" cy="257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14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0600" y="1881483"/>
            <a:ext cx="1093742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742950">
              <a:buFont typeface="+mj-lt"/>
              <a:buAutoNum type="arabicPeriod"/>
            </a:pPr>
            <a:r>
              <a:rPr lang="en-US" altLang="zh-TW" sz="4000" dirty="0"/>
              <a:t>The storage is limited</a:t>
            </a:r>
          </a:p>
          <a:p>
            <a:pPr marL="742950" lvl="1" indent="-742950">
              <a:buFont typeface="+mj-lt"/>
              <a:buAutoNum type="arabicPeriod"/>
            </a:pPr>
            <a:r>
              <a:rPr lang="en-US" altLang="zh-TW" sz="4000" dirty="0"/>
              <a:t>Add two positive numbers and obtain a negative number</a:t>
            </a:r>
          </a:p>
          <a:p>
            <a:pPr marL="742950" lvl="1" indent="-742950">
              <a:buFont typeface="+mj-lt"/>
              <a:buAutoNum type="arabicPeriod"/>
            </a:pPr>
            <a:r>
              <a:rPr lang="en-US" altLang="zh-TW" sz="4000" dirty="0"/>
              <a:t>Add two negative numbers and obtain a positive number</a:t>
            </a:r>
            <a:endParaRPr lang="zh-TW" altLang="en-US" sz="4000" dirty="0"/>
          </a:p>
        </p:txBody>
      </p:sp>
      <p:sp>
        <p:nvSpPr>
          <p:cNvPr id="5" name="矩形 4"/>
          <p:cNvSpPr/>
          <p:nvPr/>
        </p:nvSpPr>
        <p:spPr>
          <a:xfrm>
            <a:off x="96756" y="0"/>
            <a:ext cx="260289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800" b="1" dirty="0">
                <a:solidFill>
                  <a:srgbClr val="C00000"/>
                </a:solidFill>
              </a:rPr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68320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83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00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24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文字方塊 2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44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文字方塊 2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706459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657374" y="337684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592197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8529952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54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8324668" y="46814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706459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4657374" y="337684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6592197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8529952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44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262909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6380714" y="468403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706459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657374" y="337684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6592197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8529952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8324668" y="46814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99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262909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02653" y="583256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380714" y="468403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324668" y="46814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706459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657374" y="337684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592197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8529952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4436760" y="46840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83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262909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02653" y="583256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498395" y="5832564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117991" y="432947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380714" y="468403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324668" y="46814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706459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657374" y="337684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592197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529952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436760" y="46840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13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991" y="0"/>
            <a:ext cx="492718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000" b="1" dirty="0" smtClean="0">
                <a:solidFill>
                  <a:srgbClr val="C00000"/>
                </a:solidFill>
              </a:rPr>
              <a:t>4-bit Binary </a:t>
            </a:r>
            <a:r>
              <a:rPr lang="en-US" altLang="zh-TW" sz="4000" b="1" dirty="0" err="1" smtClean="0">
                <a:solidFill>
                  <a:srgbClr val="C00000"/>
                </a:solidFill>
              </a:rPr>
              <a:t>subtractor</a:t>
            </a:r>
            <a:endParaRPr lang="en-US" altLang="zh-TW" sz="4000" b="1" dirty="0">
              <a:solidFill>
                <a:srgbClr val="C00000"/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B05E7AAF-B8B4-4C47-817D-ACA815691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97"/>
          <a:stretch/>
        </p:blipFill>
        <p:spPr bwMode="auto">
          <a:xfrm>
            <a:off x="354467" y="898752"/>
            <a:ext cx="11142427" cy="5722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/>
          <p:cNvSpPr txBox="1"/>
          <p:nvPr/>
        </p:nvSpPr>
        <p:spPr>
          <a:xfrm>
            <a:off x="9247232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262909" y="583256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02653" y="583256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498395" y="5832564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1144250" y="184839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94847" y="795200"/>
            <a:ext cx="16129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 smtClean="0">
                <a:solidFill>
                  <a:srgbClr val="C00000"/>
                </a:solidFill>
              </a:rPr>
              <a:t>6 + 5 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763735" y="795203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60340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652315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574604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971799" y="8114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916089" y="795202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838378" y="79520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8773703" y="7952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64560" y="5832564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117991" y="4329478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380714" y="4684036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324668" y="468140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706459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4657374" y="3376840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592197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0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8529952" y="3376841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 smtClean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436760" y="4684035"/>
            <a:ext cx="53067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0000FF"/>
                </a:solidFill>
              </a:rPr>
              <a:t>1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84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0" y="2116476"/>
            <a:ext cx="12192000" cy="1385297"/>
          </a:xfrm>
          <a:solidFill>
            <a:srgbClr val="0000FF"/>
          </a:solidFill>
        </p:spPr>
        <p:txBody>
          <a:bodyPr anchor="ctr">
            <a:normAutofit/>
          </a:bodyPr>
          <a:lstStyle/>
          <a:p>
            <a:r>
              <a:rPr lang="en-US" altLang="zh-TW" sz="7200" b="1" dirty="0" smtClean="0">
                <a:solidFill>
                  <a:schemeClr val="bg1"/>
                </a:solidFill>
              </a:rPr>
              <a:t>TOPIC 3</a:t>
            </a:r>
            <a:endParaRPr lang="zh-TW" altLang="en-US" sz="7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0" y="3608296"/>
            <a:ext cx="12192000" cy="963704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 smtClean="0">
                <a:solidFill>
                  <a:schemeClr val="bg1"/>
                </a:solidFill>
              </a:rPr>
              <a:t>Multiplier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27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91754" y="117413"/>
            <a:ext cx="40880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Binary Multiplier</a:t>
            </a:r>
            <a:endParaRPr lang="zh-TW" altLang="en-US" sz="44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63786" y="2939143"/>
            <a:ext cx="3608614" cy="78377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 smtClean="0">
                <a:solidFill>
                  <a:schemeClr val="tx1"/>
                </a:solidFill>
              </a:rPr>
              <a:t>2-bit multiplier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cxnSp>
        <p:nvCxnSpPr>
          <p:cNvPr id="8" name="直線單箭頭接點 7"/>
          <p:cNvCxnSpPr/>
          <p:nvPr/>
        </p:nvCxnSpPr>
        <p:spPr>
          <a:xfrm>
            <a:off x="4718957" y="2735036"/>
            <a:ext cx="0" cy="204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5249636" y="2735036"/>
            <a:ext cx="0" cy="204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4448690" y="227337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A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979369" y="2273371"/>
            <a:ext cx="48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A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cxnSp>
        <p:nvCxnSpPr>
          <p:cNvPr id="13" name="直線單箭頭接點 12"/>
          <p:cNvCxnSpPr/>
          <p:nvPr/>
        </p:nvCxnSpPr>
        <p:spPr>
          <a:xfrm>
            <a:off x="6727371" y="2735036"/>
            <a:ext cx="0" cy="204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7258050" y="2735036"/>
            <a:ext cx="0" cy="204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6457104" y="2273371"/>
            <a:ext cx="452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B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6987783" y="2273371"/>
            <a:ext cx="452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B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  <p:cxnSp>
        <p:nvCxnSpPr>
          <p:cNvPr id="17" name="直線單箭頭接點 16"/>
          <p:cNvCxnSpPr/>
          <p:nvPr/>
        </p:nvCxnSpPr>
        <p:spPr>
          <a:xfrm>
            <a:off x="4718957" y="3722914"/>
            <a:ext cx="0" cy="204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>
            <a:off x="5565321" y="3722914"/>
            <a:ext cx="0" cy="204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6411685" y="3722914"/>
            <a:ext cx="0" cy="204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7258050" y="3722914"/>
            <a:ext cx="0" cy="2041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4480750" y="3927021"/>
            <a:ext cx="452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P</a:t>
            </a:r>
            <a:r>
              <a:rPr lang="en-US" altLang="zh-TW" sz="2400" baseline="-25000" dirty="0" smtClean="0"/>
              <a:t>3</a:t>
            </a:r>
            <a:endParaRPr lang="zh-TW" altLang="en-US" sz="2400" baseline="-250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5311084" y="3927021"/>
            <a:ext cx="452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P</a:t>
            </a:r>
            <a:r>
              <a:rPr lang="en-US" altLang="zh-TW" sz="2400" baseline="-25000" dirty="0" smtClean="0"/>
              <a:t>2</a:t>
            </a:r>
            <a:endParaRPr lang="zh-TW" altLang="en-US" sz="2400" baseline="-250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6157448" y="3927021"/>
            <a:ext cx="452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P</a:t>
            </a:r>
            <a:r>
              <a:rPr lang="en-US" altLang="zh-TW" sz="2400" baseline="-25000" dirty="0" smtClean="0"/>
              <a:t>1</a:t>
            </a:r>
            <a:endParaRPr lang="zh-TW" altLang="en-US" sz="2400" baseline="-250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003812" y="3923321"/>
            <a:ext cx="452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P</a:t>
            </a:r>
            <a:r>
              <a:rPr lang="en-US" altLang="zh-TW" sz="2400" baseline="-25000" dirty="0" smtClean="0"/>
              <a:t>0</a:t>
            </a:r>
            <a:endParaRPr lang="zh-TW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87378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069343"/>
              </p:ext>
            </p:extLst>
          </p:nvPr>
        </p:nvGraphicFramePr>
        <p:xfrm>
          <a:off x="1885043" y="237973"/>
          <a:ext cx="8128000" cy="630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12507397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8040438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0858642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9496115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547252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36860408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15050551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64613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b="0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TW" b="0" baseline="-25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TW" sz="18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TW" sz="18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18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altLang="zh-TW" sz="18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18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altLang="zh-TW" sz="18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18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altLang="zh-TW" sz="18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18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altLang="zh-TW" sz="1800" b="0" kern="1200" baseline="-25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1800" b="0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441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00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385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24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623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926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86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285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22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138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42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1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896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449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4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37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582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21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930791"/>
              </p:ext>
            </p:extLst>
          </p:nvPr>
        </p:nvGraphicFramePr>
        <p:xfrm>
          <a:off x="4593908" y="1773588"/>
          <a:ext cx="3429910" cy="3069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982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13955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404597" y="2142920"/>
            <a:ext cx="705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endParaRPr lang="zh-TW" altLang="en-US" b="1" baseline="-25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757304" y="1632857"/>
            <a:ext cx="72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B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B</a:t>
            </a:r>
            <a:r>
              <a:rPr lang="en-US" altLang="zh-TW" b="1" baseline="-25000" dirty="0" smtClean="0"/>
              <a:t>0</a:t>
            </a:r>
            <a:endParaRPr lang="zh-TW" altLang="en-US" b="1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415343" y="4984094"/>
            <a:ext cx="220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r>
              <a:rPr lang="en-US" altLang="zh-TW" baseline="-25000" dirty="0"/>
              <a:t>3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201790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772061"/>
              </p:ext>
            </p:extLst>
          </p:nvPr>
        </p:nvGraphicFramePr>
        <p:xfrm>
          <a:off x="4334327" y="1700110"/>
          <a:ext cx="3429910" cy="3069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982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13955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145016" y="2069442"/>
            <a:ext cx="705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endParaRPr lang="zh-TW" altLang="en-US" b="1" baseline="-25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497723" y="1559379"/>
            <a:ext cx="72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B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B</a:t>
            </a:r>
            <a:r>
              <a:rPr lang="en-US" altLang="zh-TW" b="1" baseline="-25000" dirty="0" smtClean="0"/>
              <a:t>0</a:t>
            </a:r>
            <a:endParaRPr lang="zh-TW" altLang="en-US" b="1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000640" y="4980215"/>
            <a:ext cx="3381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r>
              <a:rPr lang="en-US" altLang="zh-TW" baseline="-25000" dirty="0" smtClean="0"/>
              <a:t>2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 </a:t>
            </a:r>
            <a:r>
              <a:rPr lang="en-US" altLang="zh-TW" sz="2800" dirty="0" smtClean="0"/>
              <a:t>+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endParaRPr lang="zh-TW" altLang="en-US" sz="2800" dirty="0"/>
          </a:p>
        </p:txBody>
      </p:sp>
      <p:sp>
        <p:nvSpPr>
          <p:cNvPr id="12" name="圓角矩形 11"/>
          <p:cNvSpPr/>
          <p:nvPr/>
        </p:nvSpPr>
        <p:spPr>
          <a:xfrm>
            <a:off x="6392636" y="4163786"/>
            <a:ext cx="1371601" cy="60609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角矩形 12"/>
          <p:cNvSpPr/>
          <p:nvPr/>
        </p:nvSpPr>
        <p:spPr>
          <a:xfrm>
            <a:off x="7078436" y="3557687"/>
            <a:ext cx="685801" cy="1212198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6098722" y="5031495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7845879" y="5031495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53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24116"/>
              </p:ext>
            </p:extLst>
          </p:nvPr>
        </p:nvGraphicFramePr>
        <p:xfrm>
          <a:off x="4530270" y="1485900"/>
          <a:ext cx="3429910" cy="3069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982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13955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340959" y="1855232"/>
            <a:ext cx="705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endParaRPr lang="zh-TW" altLang="en-US" b="1" baseline="-250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4693666" y="1345169"/>
            <a:ext cx="72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B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B</a:t>
            </a:r>
            <a:r>
              <a:rPr lang="en-US" altLang="zh-TW" b="1" baseline="-25000" dirty="0" smtClean="0"/>
              <a:t>0</a:t>
            </a:r>
            <a:endParaRPr lang="zh-TW" altLang="en-US" b="1" baseline="-25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3284644" y="4900162"/>
            <a:ext cx="6236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r>
              <a:rPr lang="en-US" altLang="zh-TW" baseline="-25000" dirty="0"/>
              <a:t>1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r>
              <a:rPr lang="en-US" altLang="zh-TW" sz="2800" baseline="-250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/>
              <a:t> +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sp>
        <p:nvSpPr>
          <p:cNvPr id="12" name="圓角矩形 11"/>
          <p:cNvSpPr/>
          <p:nvPr/>
        </p:nvSpPr>
        <p:spPr>
          <a:xfrm>
            <a:off x="6599148" y="2717737"/>
            <a:ext cx="1371601" cy="60609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角矩形 12"/>
          <p:cNvSpPr/>
          <p:nvPr/>
        </p:nvSpPr>
        <p:spPr>
          <a:xfrm>
            <a:off x="7284948" y="2721048"/>
            <a:ext cx="685801" cy="1212198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 13"/>
          <p:cNvSpPr/>
          <p:nvPr/>
        </p:nvSpPr>
        <p:spPr>
          <a:xfrm>
            <a:off x="5894141" y="3949574"/>
            <a:ext cx="1371601" cy="606099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 16"/>
          <p:cNvSpPr/>
          <p:nvPr/>
        </p:nvSpPr>
        <p:spPr>
          <a:xfrm>
            <a:off x="5897019" y="3340164"/>
            <a:ext cx="685801" cy="1212198"/>
          </a:xfrm>
          <a:prstGeom prst="round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/>
          <p:nvPr/>
        </p:nvCxnSpPr>
        <p:spPr>
          <a:xfrm>
            <a:off x="4498521" y="4959605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5775759" y="4959605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6819582" y="4967419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/>
          <p:nvPr/>
        </p:nvCxnSpPr>
        <p:spPr>
          <a:xfrm>
            <a:off x="8892403" y="4959605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37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007781"/>
              </p:ext>
            </p:extLst>
          </p:nvPr>
        </p:nvGraphicFramePr>
        <p:xfrm>
          <a:off x="4538434" y="1632857"/>
          <a:ext cx="3429910" cy="3069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982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685982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613955"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61395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4349123" y="2002189"/>
            <a:ext cx="705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endParaRPr lang="zh-TW" altLang="en-US" b="1" baseline="-250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701830" y="1492126"/>
            <a:ext cx="72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B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B</a:t>
            </a:r>
            <a:r>
              <a:rPr lang="en-US" altLang="zh-TW" b="1" baseline="-25000" dirty="0" smtClean="0"/>
              <a:t>0</a:t>
            </a:r>
            <a:endParaRPr lang="zh-TW" altLang="en-US" b="1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013012" y="5047119"/>
            <a:ext cx="15456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r>
              <a:rPr lang="en-US" altLang="zh-TW" baseline="-25000" dirty="0"/>
              <a:t>0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endParaRPr lang="zh-TW" altLang="en-US" sz="2800" dirty="0"/>
          </a:p>
        </p:txBody>
      </p:sp>
      <p:sp>
        <p:nvSpPr>
          <p:cNvPr id="28" name="圓角矩形 27"/>
          <p:cNvSpPr/>
          <p:nvPr/>
        </p:nvSpPr>
        <p:spPr>
          <a:xfrm>
            <a:off x="5918199" y="2864694"/>
            <a:ext cx="1371601" cy="122367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805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3276479" y="3512233"/>
            <a:ext cx="62360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r>
              <a:rPr lang="en-US" altLang="zh-TW" baseline="-25000" dirty="0"/>
              <a:t>1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r>
              <a:rPr lang="en-US" altLang="zh-TW" sz="2800" baseline="-25000" dirty="0" smtClean="0"/>
              <a:t>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 </a:t>
            </a:r>
            <a:r>
              <a:rPr lang="en-US" altLang="zh-TW" sz="2800" dirty="0"/>
              <a:t>+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/>
              <a:t> +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  <p:cxnSp>
        <p:nvCxnSpPr>
          <p:cNvPr id="5" name="直線接點 4"/>
          <p:cNvCxnSpPr/>
          <p:nvPr/>
        </p:nvCxnSpPr>
        <p:spPr>
          <a:xfrm>
            <a:off x="4374561" y="3583771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5758225" y="3571676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6786924" y="3571676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8884238" y="3571676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3272336" y="4178176"/>
            <a:ext cx="15456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r>
              <a:rPr lang="en-US" altLang="zh-TW" baseline="-25000" dirty="0"/>
              <a:t>0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276479" y="2846290"/>
            <a:ext cx="3381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r>
              <a:rPr lang="en-US" altLang="zh-TW" baseline="-25000" dirty="0" smtClean="0"/>
              <a:t>2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 </a:t>
            </a:r>
            <a:r>
              <a:rPr lang="en-US" altLang="zh-TW" sz="2800" dirty="0" smtClean="0"/>
              <a:t>+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endParaRPr lang="zh-TW" altLang="en-US" sz="2800" dirty="0"/>
          </a:p>
        </p:txBody>
      </p:sp>
      <p:cxnSp>
        <p:nvCxnSpPr>
          <p:cNvPr id="11" name="直線接點 10"/>
          <p:cNvCxnSpPr/>
          <p:nvPr/>
        </p:nvCxnSpPr>
        <p:spPr>
          <a:xfrm>
            <a:off x="4374561" y="2897570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080897" y="2897570"/>
            <a:ext cx="2367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3272336" y="2251709"/>
            <a:ext cx="2204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</a:t>
            </a:r>
            <a:r>
              <a:rPr lang="en-US" altLang="zh-TW" baseline="-25000" dirty="0"/>
              <a:t>3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A</a:t>
            </a:r>
            <a:r>
              <a:rPr lang="en-US" altLang="zh-TW" sz="2800" baseline="-25000" dirty="0" smtClean="0"/>
              <a:t>0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1</a:t>
            </a:r>
            <a:r>
              <a:rPr lang="en-US" altLang="zh-TW" sz="2800" dirty="0" smtClean="0"/>
              <a:t>B</a:t>
            </a:r>
            <a:r>
              <a:rPr lang="en-US" altLang="zh-TW" sz="2800" baseline="-25000" dirty="0" smtClean="0"/>
              <a:t>0</a:t>
            </a:r>
            <a:endParaRPr lang="zh-TW" alt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369761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37557" y="2395836"/>
            <a:ext cx="102026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800" b="1" dirty="0" smtClean="0">
                <a:solidFill>
                  <a:srgbClr val="C00000"/>
                </a:solidFill>
              </a:rPr>
              <a:t>n-bit multiplier design</a:t>
            </a:r>
          </a:p>
          <a:p>
            <a:endParaRPr lang="en-US" altLang="zh-TW" sz="3200" dirty="0"/>
          </a:p>
          <a:p>
            <a:pPr lvl="1"/>
            <a:r>
              <a:rPr lang="en-US" altLang="zh-TW" sz="3200" dirty="0" smtClean="0"/>
              <a:t>The </a:t>
            </a:r>
            <a:r>
              <a:rPr lang="en-US" altLang="zh-TW" sz="3200" dirty="0"/>
              <a:t>truth </a:t>
            </a:r>
            <a:r>
              <a:rPr lang="en-US" altLang="zh-TW" sz="3200" dirty="0" smtClean="0"/>
              <a:t>table has </a:t>
            </a:r>
            <a:r>
              <a:rPr lang="zh-TW" altLang="en-US" sz="3200" dirty="0" smtClean="0"/>
              <a:t>2</a:t>
            </a:r>
            <a:r>
              <a:rPr lang="zh-TW" altLang="en-US" sz="3200" baseline="80000" dirty="0" smtClean="0"/>
              <a:t>2</a:t>
            </a:r>
            <a:r>
              <a:rPr lang="en-US" altLang="zh-TW" sz="3200" baseline="80000" dirty="0"/>
              <a:t>n </a:t>
            </a:r>
            <a:r>
              <a:rPr lang="en-US" altLang="zh-TW" sz="3200" dirty="0"/>
              <a:t>entries - too cumbersome for large n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20098943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2" y="906236"/>
            <a:ext cx="6349092" cy="453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20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2901860-A95A-487B-8F34-C9948DBDF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36" y="0"/>
            <a:ext cx="532221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59579" cy="225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052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2901860-A95A-487B-8F34-C9948DBDF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36" y="0"/>
            <a:ext cx="532221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59579" cy="225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978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6630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6630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57978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71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2901860-A95A-487B-8F34-C9948DBDF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36" y="0"/>
            <a:ext cx="532221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59579" cy="225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978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6630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6630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57978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462814" y="94462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476294" y="944622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474003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7837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876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2901860-A95A-487B-8F34-C9948DBDF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36" y="0"/>
            <a:ext cx="532221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59579" cy="225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978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6630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6630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57978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462814" y="94462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476294" y="944622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474003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7837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62814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518426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82580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-12727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10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2901860-A95A-487B-8F34-C9948DBDF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36" y="0"/>
            <a:ext cx="532221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59579" cy="225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978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6630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6630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57978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462814" y="94462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476294" y="944622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474003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7837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62814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518426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82580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-12727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149430" y="-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149430" y="2083589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8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2901860-A95A-487B-8F34-C9948DBDF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36" y="0"/>
            <a:ext cx="532221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59579" cy="225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978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6630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6630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57978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462814" y="94462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476294" y="944622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474003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7837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62814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518426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82580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-12727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149430" y="-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149430" y="2083589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9050625" y="23083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05032" y="23836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19189" y="231442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162083" y="2256639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70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2901860-A95A-487B-8F34-C9948DBDF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36" y="0"/>
            <a:ext cx="532221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59579" cy="225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978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6630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6630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57978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462814" y="94462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476294" y="944622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474003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7837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62814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518426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82580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-12727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149430" y="-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149430" y="2083589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9050625" y="23083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05032" y="23836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19189" y="231442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162083" y="2256639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050625" y="1887644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605032" y="1887645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749144" y="4026687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5193273" y="4026686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3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2901860-A95A-487B-8F34-C9948DBDF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36" y="0"/>
            <a:ext cx="532221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59579" cy="225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978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6630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6630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57978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462814" y="94462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476294" y="944622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474003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7837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62814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518426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82580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-12727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149430" y="-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149430" y="2083589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9050625" y="23083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05032" y="23836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19189" y="231442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162083" y="2256639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050625" y="1887644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605032" y="1887645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749144" y="4026687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5193273" y="4026686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805696" y="6432288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427740" y="6396335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588132" y="5517888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89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62901860-A95A-487B-8F34-C9948DBDF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036" y="0"/>
            <a:ext cx="532221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ABF461C-171A-4813-AE84-2E841C995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59579" cy="225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/>
          <p:cNvSpPr txBox="1"/>
          <p:nvPr/>
        </p:nvSpPr>
        <p:spPr>
          <a:xfrm>
            <a:off x="157978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566309" y="0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6630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579789" y="367392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462814" y="94462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1476294" y="944622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474003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47837" y="1312013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2462814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518426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82580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-12727" y="1852757"/>
            <a:ext cx="56157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149430" y="-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149430" y="2083589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9050625" y="23083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605032" y="23836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619189" y="2314421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162083" y="2256639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9050625" y="1887644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605032" y="1887645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749144" y="4026687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0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5193273" y="4026686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0000FF"/>
                </a:solidFill>
              </a:rPr>
              <a:t>1</a:t>
            </a:r>
            <a:endParaRPr lang="zh-TW" altLang="en-US" sz="2400" b="1" dirty="0">
              <a:solidFill>
                <a:srgbClr val="0000FF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8805696" y="6432288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427740" y="6396335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588132" y="5517888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796481" y="6396334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1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369217" y="6394178"/>
            <a:ext cx="354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</a:rPr>
              <a:t>0</a:t>
            </a:r>
            <a:endParaRPr lang="zh-TW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25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359162"/>
              </p:ext>
            </p:extLst>
          </p:nvPr>
        </p:nvGraphicFramePr>
        <p:xfrm>
          <a:off x="2652480" y="1127881"/>
          <a:ext cx="7920270" cy="4780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714940" y="5236420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262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727560"/>
              </p:ext>
            </p:extLst>
          </p:nvPr>
        </p:nvGraphicFramePr>
        <p:xfrm>
          <a:off x="2652480" y="1127881"/>
          <a:ext cx="7920270" cy="4780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714940" y="5236420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80264" y="3233057"/>
            <a:ext cx="4980214" cy="48491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122508" y="3917538"/>
            <a:ext cx="4980214" cy="48491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19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399"/>
          <a:stretch/>
        </p:blipFill>
        <p:spPr bwMode="auto">
          <a:xfrm>
            <a:off x="3582599" y="0"/>
            <a:ext cx="6331566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535636" y="1714500"/>
            <a:ext cx="220435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718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652480" y="1127881"/>
          <a:ext cx="7920270" cy="4780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714940" y="5236420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87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15168"/>
              </p:ext>
            </p:extLst>
          </p:nvPr>
        </p:nvGraphicFramePr>
        <p:xfrm>
          <a:off x="2652480" y="1127881"/>
          <a:ext cx="7920270" cy="4780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714940" y="5236420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14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640062"/>
              </p:ext>
            </p:extLst>
          </p:nvPr>
        </p:nvGraphicFramePr>
        <p:xfrm>
          <a:off x="2652480" y="1127881"/>
          <a:ext cx="7920270" cy="4780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cxnSp>
        <p:nvCxnSpPr>
          <p:cNvPr id="3" name="直線單箭頭接點 2"/>
          <p:cNvCxnSpPr/>
          <p:nvPr/>
        </p:nvCxnSpPr>
        <p:spPr>
          <a:xfrm>
            <a:off x="9870621" y="3869871"/>
            <a:ext cx="8165" cy="1477736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714940" y="5236420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02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597965"/>
              </p:ext>
            </p:extLst>
          </p:nvPr>
        </p:nvGraphicFramePr>
        <p:xfrm>
          <a:off x="2652480" y="1127881"/>
          <a:ext cx="7920270" cy="4780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714940" y="5236420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97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183990"/>
              </p:ext>
            </p:extLst>
          </p:nvPr>
        </p:nvGraphicFramePr>
        <p:xfrm>
          <a:off x="2652480" y="1127881"/>
          <a:ext cx="7920270" cy="4780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714940" y="5236420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60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399"/>
          <a:stretch/>
        </p:blipFill>
        <p:spPr bwMode="auto">
          <a:xfrm>
            <a:off x="3582599" y="0"/>
            <a:ext cx="6331566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510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997683"/>
              </p:ext>
            </p:extLst>
          </p:nvPr>
        </p:nvGraphicFramePr>
        <p:xfrm>
          <a:off x="2652480" y="1127881"/>
          <a:ext cx="7920270" cy="546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43649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714940" y="5914056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78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40"/>
          <a:stretch/>
        </p:blipFill>
        <p:spPr bwMode="auto">
          <a:xfrm>
            <a:off x="3582599" y="0"/>
            <a:ext cx="6331566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269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959482"/>
              </p:ext>
            </p:extLst>
          </p:nvPr>
        </p:nvGraphicFramePr>
        <p:xfrm>
          <a:off x="2652480" y="1127881"/>
          <a:ext cx="7920270" cy="546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43649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714940" y="5914056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84021" y="5298621"/>
            <a:ext cx="4980214" cy="48491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05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39"/>
          <a:stretch/>
        </p:blipFill>
        <p:spPr bwMode="auto">
          <a:xfrm>
            <a:off x="3582599" y="0"/>
            <a:ext cx="6331566" cy="503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698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704507"/>
              </p:ext>
            </p:extLst>
          </p:nvPr>
        </p:nvGraphicFramePr>
        <p:xfrm>
          <a:off x="2652480" y="1127881"/>
          <a:ext cx="7920270" cy="546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43649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714940" y="5914056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007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989570"/>
              </p:ext>
            </p:extLst>
          </p:nvPr>
        </p:nvGraphicFramePr>
        <p:xfrm>
          <a:off x="2652480" y="1127881"/>
          <a:ext cx="7920270" cy="546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43649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cxnSp>
        <p:nvCxnSpPr>
          <p:cNvPr id="4" name="直線單箭頭接點 3"/>
          <p:cNvCxnSpPr/>
          <p:nvPr/>
        </p:nvCxnSpPr>
        <p:spPr>
          <a:xfrm>
            <a:off x="8596992" y="5233307"/>
            <a:ext cx="1" cy="808264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714940" y="5914056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34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11411"/>
              </p:ext>
            </p:extLst>
          </p:nvPr>
        </p:nvGraphicFramePr>
        <p:xfrm>
          <a:off x="2652480" y="1127881"/>
          <a:ext cx="7920270" cy="546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45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320045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43649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714940" y="5914056"/>
            <a:ext cx="5325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914400">
              <a:defRPr/>
            </a:pPr>
            <a:r>
              <a:rPr lang="en-US" altLang="zh-TW" sz="2800" dirty="0" smtClean="0">
                <a:solidFill>
                  <a:prstClr val="black"/>
                </a:solidFill>
              </a:rPr>
              <a:t>C</a:t>
            </a:r>
            <a:r>
              <a:rPr lang="en-US" altLang="zh-TW" sz="2800" baseline="-25000" dirty="0" smtClean="0">
                <a:solidFill>
                  <a:schemeClr val="dk1"/>
                </a:solidFill>
              </a:rPr>
              <a:t>6</a:t>
            </a:r>
            <a:endParaRPr lang="zh-TW" altLang="en-US" sz="2800" baseline="-25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244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53447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binary 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650940"/>
              </p:ext>
            </p:extLst>
          </p:nvPr>
        </p:nvGraphicFramePr>
        <p:xfrm>
          <a:off x="1559382" y="1127881"/>
          <a:ext cx="9013368" cy="546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195565768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682877"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baseline="-25000" dirty="0" smtClean="0"/>
                        <a:t>3</a:t>
                      </a:r>
                      <a:endParaRPr lang="zh-TW" altLang="en-US" sz="28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/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baseline="0" dirty="0" smtClean="0">
                          <a:solidFill>
                            <a:srgbClr val="C00000"/>
                          </a:solidFill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b="1" kern="1200" baseline="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altLang="zh-TW" sz="2800" b="1" kern="1200" baseline="-25000" dirty="0" smtClean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436493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algn="ctr"/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dirty="0" smtClean="0"/>
                        <a:t>A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800" dirty="0" smtClean="0"/>
                        <a:t>B</a:t>
                      </a:r>
                      <a:r>
                        <a:rPr lang="en-US" altLang="zh-TW" sz="28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6828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b="1" kern="1200" baseline="-25000" noProof="0" dirty="0" smtClean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800" b="1" kern="1200" baseline="-25000" noProof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b="1" kern="1200" baseline="-25000" noProof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48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3582599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824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949517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baseline="-25000" dirty="0" smtClean="0"/>
                        <a:t>3</a:t>
                      </a:r>
                      <a:endParaRPr lang="zh-TW" altLang="en-US" sz="2400" baseline="-25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TW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baseline="-250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08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994360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TW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baseline="-250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94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994360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TW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baseline="-250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85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994360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TW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baseline="-250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64237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3309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842493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407375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816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994360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TW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baseline="-250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64237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3309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842493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407375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888051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27123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66307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31189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39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614564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TW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baseline="-250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64237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3309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842493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407375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888051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27123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66307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31189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48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614564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dirty="0" smtClean="0"/>
                        <a:t>A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TW" sz="2400" dirty="0" smtClean="0"/>
                        <a:t>B</a:t>
                      </a:r>
                      <a:r>
                        <a:rPr lang="en-US" altLang="zh-TW" sz="2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TW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baseline="-250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64237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3309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842493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407375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888051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27123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66307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31189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172201" y="-5052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172201" y="90934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206273" y="369900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03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381877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TW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baseline="-250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64237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3309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842493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407375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888051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27123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66307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31189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172201" y="-5052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172201" y="90934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206273" y="369900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62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381877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en-US" altLang="zh-TW" sz="24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400" kern="1200" baseline="-250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C</a:t>
                      </a:r>
                      <a:r>
                        <a:rPr lang="en-US" altLang="zh-TW" sz="2400" kern="1200" baseline="-250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kern="1200" baseline="-250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64237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3309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842493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407375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888051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27123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66307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31189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172201" y="-5052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172201" y="90934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206273" y="369900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0263683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0802755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1341939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1906821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373732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912804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451988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9016870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576747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115819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655003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219885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94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591943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1" kern="1200" baseline="-25000" noProof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64237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3309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842493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407375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888051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27123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66307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31189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172201" y="-5052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172201" y="90934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206273" y="369900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0263683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0802755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1341939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1906821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373732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912804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451988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9016870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576747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115819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655003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219885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61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760326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1" kern="1200" baseline="-25000" noProof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64237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3309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842493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407375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888051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27123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66307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31189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172201" y="-5052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172201" y="90934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206273" y="369900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0263683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0802755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1341939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1906821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373732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912804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451988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9016870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576747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115819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655003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219885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9311846" y="32862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9678936" y="32862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0033377" y="32862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0657203" y="33045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8870565" y="32862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0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84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42485" y="101084"/>
            <a:ext cx="303179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4-bit by 3-bit </a:t>
            </a:r>
            <a:endParaRPr lang="en-US" altLang="zh-TW" sz="3200" b="1" dirty="0" smtClean="0">
              <a:solidFill>
                <a:srgbClr val="C00000"/>
              </a:solidFill>
            </a:endParaRP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binary </a:t>
            </a:r>
            <a:r>
              <a:rPr lang="en-US" altLang="zh-TW" sz="3200" b="1" dirty="0">
                <a:solidFill>
                  <a:srgbClr val="C00000"/>
                </a:solidFill>
              </a:rPr>
              <a:t>multiplier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pic>
        <p:nvPicPr>
          <p:cNvPr id="3" name="Picture 0">
            <a:extLst>
              <a:ext uri="{FF2B5EF4-FFF2-40B4-BE49-F238E27FC236}">
                <a16:creationId xmlns:a16="http://schemas.microsoft.com/office/drawing/2014/main" id="{27E3B3F4-C54F-4FCB-8589-2F053C58AF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3"/>
          <a:stretch/>
        </p:blipFill>
        <p:spPr bwMode="auto">
          <a:xfrm>
            <a:off x="5860434" y="0"/>
            <a:ext cx="6331566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823036"/>
              </p:ext>
            </p:extLst>
          </p:nvPr>
        </p:nvGraphicFramePr>
        <p:xfrm>
          <a:off x="107226" y="3286264"/>
          <a:ext cx="5558098" cy="357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014">
                  <a:extLst>
                    <a:ext uri="{9D8B030D-6E8A-4147-A177-3AD203B41FA5}">
                      <a16:colId xmlns:a16="http://schemas.microsoft.com/office/drawing/2014/main" val="2152638055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65075974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207779610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2342430361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015120062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1389572023"/>
                    </a:ext>
                  </a:extLst>
                </a:gridCol>
                <a:gridCol w="794014">
                  <a:extLst>
                    <a:ext uri="{9D8B030D-6E8A-4147-A177-3AD203B41FA5}">
                      <a16:colId xmlns:a16="http://schemas.microsoft.com/office/drawing/2014/main" val="3849828175"/>
                    </a:ext>
                  </a:extLst>
                </a:gridCol>
              </a:tblGrid>
              <a:tr h="510248"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16382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07956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sym typeface="Symbol" panose="05050102010706020507" pitchFamily="18" charset="2"/>
                        </a:rPr>
                        <a:t></a:t>
                      </a:r>
                      <a:endParaRPr lang="zh-TW" altLang="en-US" sz="2400" dirty="0" smtClean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708132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273281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041523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algn="ctr"/>
                      <a:endParaRPr lang="zh-TW" altLang="en-US" sz="2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b="1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400" b="1" kern="1200" baseline="-250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636459"/>
                  </a:ext>
                </a:extLst>
              </a:tr>
              <a:tr h="510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400" b="1" kern="1200" baseline="-25000" noProof="0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1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4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新細明體" panose="02020500000000000000" pitchFamily="18" charset="-120"/>
                          <a:cs typeface="+mn-cs"/>
                        </a:rPr>
                        <a:t>0</a:t>
                      </a:r>
                      <a:endParaRPr lang="zh-TW" altLang="en-US" sz="2400" b="1" kern="1200" baseline="-2500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5192106"/>
                  </a:ext>
                </a:extLst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10189029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0728101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1267285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1832167" y="1796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7764237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303309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8842493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407375" y="1094014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6888051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427123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966307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531189" y="3976007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6172201" y="-5052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172201" y="90934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1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206273" y="3699008"/>
            <a:ext cx="3113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0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0263683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0802755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1341939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11906821" y="19104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0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373732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7912804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8451988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9016870" y="19920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576747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115819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655003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8219885" y="487407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0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9311846" y="32862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9678936" y="32862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10033377" y="32862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10657203" y="33045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8870565" y="328626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0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9952379" y="61212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9190027" y="6113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8497547" y="61212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7684623" y="61212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0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6922271" y="61212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chemeClr val="accent6">
                    <a:lumMod val="50000"/>
                  </a:schemeClr>
                </a:solidFill>
              </a:rPr>
              <a:t>0</a:t>
            </a:r>
            <a:endParaRPr lang="zh-TW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66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>
          <a:xfrm>
            <a:off x="0" y="2116476"/>
            <a:ext cx="12192000" cy="1385297"/>
          </a:xfrm>
          <a:solidFill>
            <a:srgbClr val="0000FF"/>
          </a:solidFill>
        </p:spPr>
        <p:txBody>
          <a:bodyPr anchor="ctr">
            <a:normAutofit/>
          </a:bodyPr>
          <a:lstStyle/>
          <a:p>
            <a:r>
              <a:rPr lang="en-US" altLang="zh-TW" sz="7200" b="1" dirty="0" smtClean="0">
                <a:solidFill>
                  <a:schemeClr val="bg1"/>
                </a:solidFill>
              </a:rPr>
              <a:t>TOPIC </a:t>
            </a:r>
            <a:r>
              <a:rPr lang="en-US" altLang="zh-TW" sz="7200" b="1" dirty="0" smtClean="0">
                <a:solidFill>
                  <a:schemeClr val="bg1"/>
                </a:solidFill>
              </a:rPr>
              <a:t>4</a:t>
            </a:r>
            <a:endParaRPr lang="zh-TW" altLang="en-US" sz="7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0" y="3608296"/>
            <a:ext cx="12192000" cy="963704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400" b="1" dirty="0">
                <a:solidFill>
                  <a:schemeClr val="bg1"/>
                </a:solidFill>
              </a:rPr>
              <a:t>Magnitude Comparator</a:t>
            </a:r>
            <a:endParaRPr lang="zh-TW" alt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21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64079" y="633816"/>
            <a:ext cx="102842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/>
              <a:t>The comparison of two </a:t>
            </a:r>
            <a:r>
              <a:rPr lang="en-US" altLang="zh-TW" sz="3200" b="1" dirty="0" smtClean="0"/>
              <a:t>numbers:</a:t>
            </a:r>
            <a:endParaRPr lang="en-US" altLang="zh-TW" sz="3200" b="1" dirty="0"/>
          </a:p>
          <a:p>
            <a:pPr lvl="1"/>
            <a:r>
              <a:rPr lang="en-US" altLang="zh-TW" sz="3200" dirty="0"/>
              <a:t>outputs: </a:t>
            </a:r>
            <a:r>
              <a:rPr lang="en-US" altLang="zh-TW" sz="3200" dirty="0" smtClean="0"/>
              <a:t>A &gt; B</a:t>
            </a:r>
            <a:r>
              <a:rPr lang="en-US" altLang="zh-TW" sz="3200" dirty="0"/>
              <a:t>, </a:t>
            </a:r>
            <a:r>
              <a:rPr lang="en-US" altLang="zh-TW" sz="3200" dirty="0" smtClean="0"/>
              <a:t>A = B</a:t>
            </a:r>
            <a:r>
              <a:rPr lang="en-US" altLang="zh-TW" sz="3200" dirty="0"/>
              <a:t>, </a:t>
            </a:r>
            <a:r>
              <a:rPr lang="en-US" altLang="zh-TW" sz="3200" dirty="0" smtClean="0"/>
              <a:t>A &lt; B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05053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84415" y="135795"/>
            <a:ext cx="102842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1-bit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484415" y="987703"/>
            <a:ext cx="4053852" cy="1278095"/>
            <a:chOff x="5000508" y="1083615"/>
            <a:chExt cx="4053852" cy="1278095"/>
          </a:xfrm>
        </p:grpSpPr>
        <p:sp>
          <p:nvSpPr>
            <p:cNvPr id="3" name="矩形 2"/>
            <p:cNvSpPr/>
            <p:nvPr/>
          </p:nvSpPr>
          <p:spPr>
            <a:xfrm>
              <a:off x="5626553" y="1200150"/>
              <a:ext cx="1827439" cy="1110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chemeClr val="tx1"/>
                  </a:solidFill>
                </a:rPr>
                <a:t>Comparator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5445579" y="1412421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5445579" y="2106386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>
              <a:off x="7453992" y="1371599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7453992" y="1779813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>
              <a:off x="7453992" y="2130878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5000508" y="118420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A</a:t>
              </a:r>
              <a:endParaRPr lang="zh-TW" altLang="en-US" sz="24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00508" y="190004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B</a:t>
              </a:r>
              <a:endParaRPr lang="zh-TW" altLang="en-US" sz="24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741483" y="108361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&gt; B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41483" y="1491830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= B</a:t>
              </a:r>
              <a:endParaRPr lang="zh-TW" altLang="en-US" sz="24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749880" y="190004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&lt; B</a:t>
              </a:r>
              <a:endParaRPr lang="zh-TW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4020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84415" y="135795"/>
            <a:ext cx="102842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1-bit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601394"/>
              </p:ext>
            </p:extLst>
          </p:nvPr>
        </p:nvGraphicFramePr>
        <p:xfrm>
          <a:off x="5308260" y="562183"/>
          <a:ext cx="668507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15">
                  <a:extLst>
                    <a:ext uri="{9D8B030D-6E8A-4147-A177-3AD203B41FA5}">
                      <a16:colId xmlns:a16="http://schemas.microsoft.com/office/drawing/2014/main" val="2669893673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4289839274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3109640809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799145668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198728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&lt;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7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7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2339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484415" y="987703"/>
            <a:ext cx="4053852" cy="1278095"/>
            <a:chOff x="5000508" y="1083615"/>
            <a:chExt cx="4053852" cy="1278095"/>
          </a:xfrm>
        </p:grpSpPr>
        <p:sp>
          <p:nvSpPr>
            <p:cNvPr id="3" name="矩形 2"/>
            <p:cNvSpPr/>
            <p:nvPr/>
          </p:nvSpPr>
          <p:spPr>
            <a:xfrm>
              <a:off x="5626553" y="1200150"/>
              <a:ext cx="1827439" cy="1110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chemeClr val="tx1"/>
                  </a:solidFill>
                </a:rPr>
                <a:t>Comparator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5445579" y="1412421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5445579" y="2106386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>
              <a:off x="7453992" y="1371599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7453992" y="1779813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>
              <a:off x="7453992" y="2130878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5000508" y="118420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A</a:t>
              </a:r>
              <a:endParaRPr lang="zh-TW" altLang="en-US" sz="24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00508" y="190004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B</a:t>
              </a:r>
              <a:endParaRPr lang="zh-TW" altLang="en-US" sz="24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741483" y="108361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&gt; B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41483" y="1491830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= B</a:t>
              </a:r>
              <a:endParaRPr lang="zh-TW" altLang="en-US" sz="24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749880" y="190004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&lt; B</a:t>
              </a:r>
              <a:endParaRPr lang="zh-TW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66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84415" y="135795"/>
            <a:ext cx="102842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1-bit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972391"/>
              </p:ext>
            </p:extLst>
          </p:nvPr>
        </p:nvGraphicFramePr>
        <p:xfrm>
          <a:off x="5308260" y="562183"/>
          <a:ext cx="668507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15">
                  <a:extLst>
                    <a:ext uri="{9D8B030D-6E8A-4147-A177-3AD203B41FA5}">
                      <a16:colId xmlns:a16="http://schemas.microsoft.com/office/drawing/2014/main" val="2669893673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4289839274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3109640809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799145668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198728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&lt;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7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7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2339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484415" y="987703"/>
            <a:ext cx="4053852" cy="1278095"/>
            <a:chOff x="5000508" y="1083615"/>
            <a:chExt cx="4053852" cy="1278095"/>
          </a:xfrm>
        </p:grpSpPr>
        <p:sp>
          <p:nvSpPr>
            <p:cNvPr id="3" name="矩形 2"/>
            <p:cNvSpPr/>
            <p:nvPr/>
          </p:nvSpPr>
          <p:spPr>
            <a:xfrm>
              <a:off x="5626553" y="1200150"/>
              <a:ext cx="1827439" cy="1110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chemeClr val="tx1"/>
                  </a:solidFill>
                </a:rPr>
                <a:t>Comparator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5445579" y="1412421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5445579" y="2106386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>
              <a:off x="7453992" y="1371599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7453992" y="1779813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>
              <a:off x="7453992" y="2130878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5000508" y="118420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A</a:t>
              </a:r>
              <a:endParaRPr lang="zh-TW" altLang="en-US" sz="24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00508" y="190004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B</a:t>
              </a:r>
              <a:endParaRPr lang="zh-TW" altLang="en-US" sz="24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741483" y="108361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&gt; B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41483" y="1491830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= B</a:t>
              </a:r>
              <a:endParaRPr lang="zh-TW" altLang="en-US" sz="24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749880" y="190004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&lt; B</a:t>
              </a:r>
              <a:endParaRPr lang="zh-TW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9781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84415" y="135795"/>
            <a:ext cx="102842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1-bit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070214"/>
              </p:ext>
            </p:extLst>
          </p:nvPr>
        </p:nvGraphicFramePr>
        <p:xfrm>
          <a:off x="5308260" y="562183"/>
          <a:ext cx="668507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15">
                  <a:extLst>
                    <a:ext uri="{9D8B030D-6E8A-4147-A177-3AD203B41FA5}">
                      <a16:colId xmlns:a16="http://schemas.microsoft.com/office/drawing/2014/main" val="2669893673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4289839274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3109640809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799145668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198728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&lt;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7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7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2339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484415" y="987703"/>
            <a:ext cx="4053852" cy="1278095"/>
            <a:chOff x="5000508" y="1083615"/>
            <a:chExt cx="4053852" cy="1278095"/>
          </a:xfrm>
        </p:grpSpPr>
        <p:sp>
          <p:nvSpPr>
            <p:cNvPr id="3" name="矩形 2"/>
            <p:cNvSpPr/>
            <p:nvPr/>
          </p:nvSpPr>
          <p:spPr>
            <a:xfrm>
              <a:off x="5626553" y="1200150"/>
              <a:ext cx="1827439" cy="1110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chemeClr val="tx1"/>
                  </a:solidFill>
                </a:rPr>
                <a:t>Comparator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5445579" y="1412421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5445579" y="2106386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>
              <a:off x="7453992" y="1371599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7453992" y="1779813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>
              <a:off x="7453992" y="2130878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5000508" y="118420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A</a:t>
              </a:r>
              <a:endParaRPr lang="zh-TW" altLang="en-US" sz="24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00508" y="190004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B</a:t>
              </a:r>
              <a:endParaRPr lang="zh-TW" altLang="en-US" sz="24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741483" y="108361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&gt; B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41483" y="1491830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= B</a:t>
              </a:r>
              <a:endParaRPr lang="zh-TW" altLang="en-US" sz="24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749880" y="190004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&lt; B</a:t>
              </a:r>
              <a:endParaRPr lang="zh-TW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0704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84415" y="135795"/>
            <a:ext cx="102842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1-bit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671059"/>
              </p:ext>
            </p:extLst>
          </p:nvPr>
        </p:nvGraphicFramePr>
        <p:xfrm>
          <a:off x="5308260" y="562183"/>
          <a:ext cx="668507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15">
                  <a:extLst>
                    <a:ext uri="{9D8B030D-6E8A-4147-A177-3AD203B41FA5}">
                      <a16:colId xmlns:a16="http://schemas.microsoft.com/office/drawing/2014/main" val="2669893673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4289839274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3109640809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799145668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198728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&lt;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7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7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2339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484415" y="987703"/>
            <a:ext cx="4053852" cy="1278095"/>
            <a:chOff x="5000508" y="1083615"/>
            <a:chExt cx="4053852" cy="1278095"/>
          </a:xfrm>
        </p:grpSpPr>
        <p:sp>
          <p:nvSpPr>
            <p:cNvPr id="3" name="矩形 2"/>
            <p:cNvSpPr/>
            <p:nvPr/>
          </p:nvSpPr>
          <p:spPr>
            <a:xfrm>
              <a:off x="5626553" y="1200150"/>
              <a:ext cx="1827439" cy="1110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chemeClr val="tx1"/>
                  </a:solidFill>
                </a:rPr>
                <a:t>Comparator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5445579" y="1412421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5445579" y="2106386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>
              <a:off x="7453992" y="1371599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7453992" y="1779813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>
              <a:off x="7453992" y="2130878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5000508" y="118420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A</a:t>
              </a:r>
              <a:endParaRPr lang="zh-TW" altLang="en-US" sz="24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00508" y="190004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B</a:t>
              </a:r>
              <a:endParaRPr lang="zh-TW" altLang="en-US" sz="24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741483" y="108361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&gt; B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41483" y="1491830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= B</a:t>
              </a:r>
              <a:endParaRPr lang="zh-TW" altLang="en-US" sz="24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749880" y="190004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&lt; B</a:t>
              </a:r>
              <a:endParaRPr lang="zh-TW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6719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84415" y="135795"/>
            <a:ext cx="102842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1-bit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671059"/>
              </p:ext>
            </p:extLst>
          </p:nvPr>
        </p:nvGraphicFramePr>
        <p:xfrm>
          <a:off x="5308260" y="562183"/>
          <a:ext cx="668507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15">
                  <a:extLst>
                    <a:ext uri="{9D8B030D-6E8A-4147-A177-3AD203B41FA5}">
                      <a16:colId xmlns:a16="http://schemas.microsoft.com/office/drawing/2014/main" val="2669893673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4289839274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3109640809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799145668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198728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&lt;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7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7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2339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484415" y="987703"/>
            <a:ext cx="4053852" cy="1278095"/>
            <a:chOff x="5000508" y="1083615"/>
            <a:chExt cx="4053852" cy="1278095"/>
          </a:xfrm>
        </p:grpSpPr>
        <p:sp>
          <p:nvSpPr>
            <p:cNvPr id="3" name="矩形 2"/>
            <p:cNvSpPr/>
            <p:nvPr/>
          </p:nvSpPr>
          <p:spPr>
            <a:xfrm>
              <a:off x="5626553" y="1200150"/>
              <a:ext cx="1827439" cy="1110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chemeClr val="tx1"/>
                  </a:solidFill>
                </a:rPr>
                <a:t>Comparator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5445579" y="1412421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5445579" y="2106386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>
              <a:off x="7453992" y="1371599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7453992" y="1779813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>
              <a:off x="7453992" y="2130878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5000508" y="118420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A</a:t>
              </a:r>
              <a:endParaRPr lang="zh-TW" altLang="en-US" sz="24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00508" y="190004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B</a:t>
              </a:r>
              <a:endParaRPr lang="zh-TW" altLang="en-US" sz="24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741483" y="108361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&gt; B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41483" y="1491830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= B</a:t>
              </a:r>
              <a:endParaRPr lang="zh-TW" altLang="en-US" sz="24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749880" y="190004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&lt; B</a:t>
              </a:r>
              <a:endParaRPr lang="zh-TW" altLang="en-US" sz="2400" dirty="0"/>
            </a:p>
          </p:txBody>
        </p:sp>
      </p:grpSp>
      <p:sp>
        <p:nvSpPr>
          <p:cNvPr id="18" name="文字方塊 17"/>
          <p:cNvSpPr txBox="1"/>
          <p:nvPr/>
        </p:nvSpPr>
        <p:spPr>
          <a:xfrm>
            <a:off x="484415" y="4135363"/>
            <a:ext cx="2125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&gt; B) = AB’</a:t>
            </a:r>
            <a:endParaRPr lang="zh-TW" altLang="en-US" sz="28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84414" y="4650824"/>
            <a:ext cx="30057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= B) = A’B’ + AB</a:t>
            </a:r>
            <a:endParaRPr lang="zh-TW" altLang="en-US" sz="28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84415" y="5204884"/>
            <a:ext cx="2093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&lt; B) = A’B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5112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84415" y="135795"/>
            <a:ext cx="102842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1-bit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671059"/>
              </p:ext>
            </p:extLst>
          </p:nvPr>
        </p:nvGraphicFramePr>
        <p:xfrm>
          <a:off x="5308260" y="562183"/>
          <a:ext cx="668507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15">
                  <a:extLst>
                    <a:ext uri="{9D8B030D-6E8A-4147-A177-3AD203B41FA5}">
                      <a16:colId xmlns:a16="http://schemas.microsoft.com/office/drawing/2014/main" val="2669893673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4289839274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3109640809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799145668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198728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&lt;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7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7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2339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484415" y="987703"/>
            <a:ext cx="4053852" cy="1278095"/>
            <a:chOff x="5000508" y="1083615"/>
            <a:chExt cx="4053852" cy="1278095"/>
          </a:xfrm>
        </p:grpSpPr>
        <p:sp>
          <p:nvSpPr>
            <p:cNvPr id="3" name="矩形 2"/>
            <p:cNvSpPr/>
            <p:nvPr/>
          </p:nvSpPr>
          <p:spPr>
            <a:xfrm>
              <a:off x="5626553" y="1200150"/>
              <a:ext cx="1827439" cy="1110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chemeClr val="tx1"/>
                  </a:solidFill>
                </a:rPr>
                <a:t>Comparator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5445579" y="1412421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5445579" y="2106386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>
              <a:off x="7453992" y="1371599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7453992" y="1779813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>
              <a:off x="7453992" y="2130878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5000508" y="118420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A</a:t>
              </a:r>
              <a:endParaRPr lang="zh-TW" altLang="en-US" sz="24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00508" y="190004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B</a:t>
              </a:r>
              <a:endParaRPr lang="zh-TW" altLang="en-US" sz="24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741483" y="108361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&gt; B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41483" y="1491830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= B</a:t>
              </a:r>
              <a:endParaRPr lang="zh-TW" altLang="en-US" sz="24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749880" y="190004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&lt; B</a:t>
              </a:r>
              <a:endParaRPr lang="zh-TW" altLang="en-US" sz="2400" dirty="0"/>
            </a:p>
          </p:txBody>
        </p:sp>
      </p:grpSp>
      <p:sp>
        <p:nvSpPr>
          <p:cNvPr id="18" name="文字方塊 17"/>
          <p:cNvSpPr txBox="1"/>
          <p:nvPr/>
        </p:nvSpPr>
        <p:spPr>
          <a:xfrm>
            <a:off x="484415" y="4135363"/>
            <a:ext cx="2125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&gt; B) = AB’</a:t>
            </a:r>
            <a:endParaRPr lang="zh-TW" altLang="en-US" sz="28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84414" y="4650824"/>
            <a:ext cx="5222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(A = B) = A’B’ + AB</a:t>
            </a:r>
            <a:endParaRPr lang="zh-TW" altLang="en-US" sz="28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84415" y="5204884"/>
            <a:ext cx="2093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&lt; B) = A’B</a:t>
            </a:r>
            <a:endParaRPr lang="zh-TW" altLang="en-US" sz="28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209599" y="3873753"/>
            <a:ext cx="32622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= B) 	= A’B’ + AB</a:t>
            </a:r>
            <a:endParaRPr lang="zh-TW" altLang="en-US" sz="28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5209599" y="4396973"/>
            <a:ext cx="409099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≠ B)’ 	= (A’B + AB’)’</a:t>
            </a:r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		= (</a:t>
            </a:r>
            <a:r>
              <a:rPr lang="en-US" altLang="zh-TW" sz="2800" dirty="0"/>
              <a:t>A’B</a:t>
            </a:r>
            <a:r>
              <a:rPr lang="en-US" altLang="zh-TW" sz="2800" dirty="0" smtClean="0"/>
              <a:t>)’ ·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</a:t>
            </a:r>
            <a:r>
              <a:rPr lang="en-US" altLang="zh-TW" sz="2800" dirty="0"/>
              <a:t>AB</a:t>
            </a:r>
            <a:r>
              <a:rPr lang="en-US" altLang="zh-TW" sz="2800" dirty="0" smtClean="0"/>
              <a:t>’)’</a:t>
            </a:r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		=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(A + B’)(A’ + B)</a:t>
            </a:r>
          </a:p>
          <a:p>
            <a:r>
              <a:rPr lang="en-US" altLang="zh-TW" sz="2800" dirty="0"/>
              <a:t>	</a:t>
            </a:r>
            <a:r>
              <a:rPr lang="en-US" altLang="zh-TW" sz="2800" dirty="0" smtClean="0"/>
              <a:t>		= A’B’ + AB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84415" y="135795"/>
            <a:ext cx="102842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1-bit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671059"/>
              </p:ext>
            </p:extLst>
          </p:nvPr>
        </p:nvGraphicFramePr>
        <p:xfrm>
          <a:off x="5308260" y="562183"/>
          <a:ext cx="668507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15">
                  <a:extLst>
                    <a:ext uri="{9D8B030D-6E8A-4147-A177-3AD203B41FA5}">
                      <a16:colId xmlns:a16="http://schemas.microsoft.com/office/drawing/2014/main" val="2669893673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4289839274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3109640809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799145668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198728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&lt;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7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7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2339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484415" y="987703"/>
            <a:ext cx="4053852" cy="1278095"/>
            <a:chOff x="5000508" y="1083615"/>
            <a:chExt cx="4053852" cy="1278095"/>
          </a:xfrm>
        </p:grpSpPr>
        <p:sp>
          <p:nvSpPr>
            <p:cNvPr id="3" name="矩形 2"/>
            <p:cNvSpPr/>
            <p:nvPr/>
          </p:nvSpPr>
          <p:spPr>
            <a:xfrm>
              <a:off x="5626553" y="1200150"/>
              <a:ext cx="1827439" cy="1110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chemeClr val="tx1"/>
                  </a:solidFill>
                </a:rPr>
                <a:t>Comparator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5445579" y="1412421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5445579" y="2106386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>
              <a:off x="7453992" y="1371599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7453992" y="1779813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>
              <a:off x="7453992" y="2130878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5000508" y="118420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A</a:t>
              </a:r>
              <a:endParaRPr lang="zh-TW" altLang="en-US" sz="24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00508" y="190004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B</a:t>
              </a:r>
              <a:endParaRPr lang="zh-TW" altLang="en-US" sz="24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741483" y="108361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&gt; B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41483" y="1491830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= B</a:t>
              </a:r>
              <a:endParaRPr lang="zh-TW" altLang="en-US" sz="24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749880" y="190004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&lt; B</a:t>
              </a:r>
              <a:endParaRPr lang="zh-TW" altLang="en-US" sz="2400" dirty="0"/>
            </a:p>
          </p:txBody>
        </p:sp>
      </p:grpSp>
      <p:sp>
        <p:nvSpPr>
          <p:cNvPr id="18" name="文字方塊 17"/>
          <p:cNvSpPr txBox="1"/>
          <p:nvPr/>
        </p:nvSpPr>
        <p:spPr>
          <a:xfrm>
            <a:off x="484415" y="4135363"/>
            <a:ext cx="2125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&gt; B) = AB’</a:t>
            </a:r>
            <a:endParaRPr lang="zh-TW" altLang="en-US" sz="28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84414" y="4650824"/>
            <a:ext cx="5222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(A = B) = A’B’ + AB = (</a:t>
            </a:r>
            <a:r>
              <a:rPr lang="en-US" altLang="zh-TW" sz="2800" dirty="0"/>
              <a:t>A’B + AB’)’</a:t>
            </a:r>
          </a:p>
          <a:p>
            <a:r>
              <a:rPr lang="en-US" altLang="zh-TW" sz="2800" dirty="0" smtClean="0"/>
              <a:t> </a:t>
            </a:r>
            <a:endParaRPr lang="zh-TW" altLang="en-US" sz="28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84415" y="5204884"/>
            <a:ext cx="2093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&lt; B) = A’B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8556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84415" y="135795"/>
            <a:ext cx="102842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1-bit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671059"/>
              </p:ext>
            </p:extLst>
          </p:nvPr>
        </p:nvGraphicFramePr>
        <p:xfrm>
          <a:off x="5308260" y="562183"/>
          <a:ext cx="668507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015">
                  <a:extLst>
                    <a:ext uri="{9D8B030D-6E8A-4147-A177-3AD203B41FA5}">
                      <a16:colId xmlns:a16="http://schemas.microsoft.com/office/drawing/2014/main" val="2669893673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4289839274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3109640809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799145668"/>
                    </a:ext>
                  </a:extLst>
                </a:gridCol>
                <a:gridCol w="1337015">
                  <a:extLst>
                    <a:ext uri="{9D8B030D-6E8A-4147-A177-3AD203B41FA5}">
                      <a16:colId xmlns:a16="http://schemas.microsoft.com/office/drawing/2014/main" val="1987288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(A</a:t>
                      </a:r>
                      <a:r>
                        <a:rPr lang="zh-TW" altLang="en-US" sz="28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&lt; </a:t>
                      </a:r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B)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70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7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871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2339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484415" y="987703"/>
            <a:ext cx="4053852" cy="1278095"/>
            <a:chOff x="5000508" y="1083615"/>
            <a:chExt cx="4053852" cy="1278095"/>
          </a:xfrm>
        </p:grpSpPr>
        <p:sp>
          <p:nvSpPr>
            <p:cNvPr id="3" name="矩形 2"/>
            <p:cNvSpPr/>
            <p:nvPr/>
          </p:nvSpPr>
          <p:spPr>
            <a:xfrm>
              <a:off x="5626553" y="1200150"/>
              <a:ext cx="1827439" cy="1110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chemeClr val="tx1"/>
                  </a:solidFill>
                </a:rPr>
                <a:t>Comparator</a:t>
              </a:r>
              <a:endParaRPr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5445579" y="1412421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5445579" y="2106386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/>
            <p:cNvCxnSpPr/>
            <p:nvPr/>
          </p:nvCxnSpPr>
          <p:spPr>
            <a:xfrm>
              <a:off x="7453992" y="1371599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>
              <a:off x="7453992" y="1779813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/>
            <p:cNvCxnSpPr/>
            <p:nvPr/>
          </p:nvCxnSpPr>
          <p:spPr>
            <a:xfrm>
              <a:off x="7453992" y="2130878"/>
              <a:ext cx="180974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字方塊 11"/>
            <p:cNvSpPr txBox="1"/>
            <p:nvPr/>
          </p:nvSpPr>
          <p:spPr>
            <a:xfrm>
              <a:off x="5000508" y="1184200"/>
              <a:ext cx="3706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A</a:t>
              </a:r>
              <a:endParaRPr lang="zh-TW" altLang="en-US" sz="2400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000508" y="190004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 smtClean="0"/>
                <a:t>B</a:t>
              </a:r>
              <a:endParaRPr lang="zh-TW" altLang="en-US" sz="2400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741483" y="108361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&gt; B</a:t>
              </a:r>
              <a:endParaRPr lang="zh-TW" altLang="en-US" sz="2400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7741483" y="1491830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= B</a:t>
              </a:r>
              <a:endParaRPr lang="zh-TW" altLang="en-US" sz="2400" dirty="0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7749880" y="1900045"/>
              <a:ext cx="130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smtClean="0"/>
                <a:t>A &lt; B</a:t>
              </a:r>
              <a:endParaRPr lang="zh-TW" altLang="en-US" sz="2400" dirty="0"/>
            </a:p>
          </p:txBody>
        </p:sp>
      </p:grpSp>
      <p:sp>
        <p:nvSpPr>
          <p:cNvPr id="18" name="文字方塊 17"/>
          <p:cNvSpPr txBox="1"/>
          <p:nvPr/>
        </p:nvSpPr>
        <p:spPr>
          <a:xfrm>
            <a:off x="484415" y="4135363"/>
            <a:ext cx="21259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&gt; B) = AB’</a:t>
            </a:r>
            <a:endParaRPr lang="zh-TW" altLang="en-US" sz="28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484414" y="4650824"/>
            <a:ext cx="5222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(A = B) = A’B’ + AB = (</a:t>
            </a:r>
            <a:r>
              <a:rPr lang="en-US" altLang="zh-TW" sz="2800" dirty="0"/>
              <a:t>A’B + AB’)’</a:t>
            </a:r>
          </a:p>
          <a:p>
            <a:r>
              <a:rPr lang="en-US" altLang="zh-TW" sz="2800" dirty="0" smtClean="0"/>
              <a:t> </a:t>
            </a:r>
            <a:endParaRPr lang="zh-TW" altLang="en-US" sz="28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84415" y="5204884"/>
            <a:ext cx="2093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&lt; B) = A’B</a:t>
            </a:r>
            <a:endParaRPr lang="zh-TW" altLang="en-US" sz="2800" dirty="0"/>
          </a:p>
        </p:txBody>
      </p:sp>
      <p:pic>
        <p:nvPicPr>
          <p:cNvPr id="20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5" t="67976" r="56887" b="16310"/>
          <a:stretch/>
        </p:blipFill>
        <p:spPr bwMode="auto">
          <a:xfrm>
            <a:off x="5626554" y="3938691"/>
            <a:ext cx="4865397" cy="2060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文字方塊 21"/>
          <p:cNvSpPr txBox="1"/>
          <p:nvPr/>
        </p:nvSpPr>
        <p:spPr>
          <a:xfrm>
            <a:off x="10491951" y="3789783"/>
            <a:ext cx="1213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&lt; B)</a:t>
            </a:r>
            <a:endParaRPr lang="zh-TW" altLang="en-US" sz="28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491951" y="4499178"/>
            <a:ext cx="1213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= B)</a:t>
            </a:r>
            <a:endParaRPr lang="zh-TW" altLang="en-US" sz="28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0491951" y="5446940"/>
            <a:ext cx="1213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(A &gt; B)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9158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835730" y="3463769"/>
            <a:ext cx="77451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TW" sz="3200" dirty="0"/>
              <a:t>the truth </a:t>
            </a:r>
            <a:r>
              <a:rPr lang="en-US" altLang="zh-TW" sz="3200" dirty="0" smtClean="0"/>
              <a:t>table has 2</a:t>
            </a:r>
            <a:r>
              <a:rPr lang="en-US" altLang="zh-TW" sz="3200" baseline="30000" dirty="0" smtClean="0"/>
              <a:t>8</a:t>
            </a:r>
            <a:r>
              <a:rPr lang="en-US" altLang="zh-TW" sz="3200" baseline="80000" dirty="0" smtClean="0"/>
              <a:t> </a:t>
            </a:r>
            <a:r>
              <a:rPr lang="en-US" altLang="zh-TW" sz="3200" dirty="0" smtClean="0"/>
              <a:t>entries: </a:t>
            </a:r>
            <a:r>
              <a:rPr lang="en-US" altLang="zh-TW" sz="3200" dirty="0"/>
              <a:t>cumbersome</a:t>
            </a:r>
            <a:endParaRPr lang="en-US" altLang="zh-TW" sz="3200" dirty="0"/>
          </a:p>
        </p:txBody>
      </p:sp>
      <p:sp>
        <p:nvSpPr>
          <p:cNvPr id="6" name="矩形 5"/>
          <p:cNvSpPr/>
          <p:nvPr/>
        </p:nvSpPr>
        <p:spPr>
          <a:xfrm>
            <a:off x="2452008" y="2878994"/>
            <a:ext cx="42835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For 4-bit comparator: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24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303564" y="1074689"/>
            <a:ext cx="91875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/>
              <a:t>A = A</a:t>
            </a:r>
            <a:r>
              <a:rPr lang="en-US" altLang="zh-TW" sz="3600" baseline="-25000" dirty="0"/>
              <a:t>3</a:t>
            </a:r>
            <a:r>
              <a:rPr lang="en-US" altLang="zh-TW" sz="3600" dirty="0"/>
              <a:t>A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A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A</a:t>
            </a:r>
            <a:r>
              <a:rPr lang="en-US" altLang="zh-TW" sz="3600" baseline="-25000" dirty="0"/>
              <a:t>0</a:t>
            </a:r>
            <a:r>
              <a:rPr lang="en-US" altLang="zh-TW" sz="3600" dirty="0"/>
              <a:t> ; B =</a:t>
            </a:r>
            <a:r>
              <a:rPr lang="en-US" altLang="zh-TW" sz="3600" b="1" dirty="0"/>
              <a:t> </a:t>
            </a:r>
            <a:r>
              <a:rPr lang="en-US" altLang="zh-TW" sz="3600" dirty="0"/>
              <a:t>B</a:t>
            </a:r>
            <a:r>
              <a:rPr lang="en-US" altLang="zh-TW" sz="3600" baseline="-25000" dirty="0"/>
              <a:t>3</a:t>
            </a:r>
            <a:r>
              <a:rPr lang="en-US" altLang="zh-TW" sz="3600" dirty="0"/>
              <a:t>B</a:t>
            </a:r>
            <a:r>
              <a:rPr lang="en-US" altLang="zh-TW" sz="3600" baseline="-25000" dirty="0"/>
              <a:t>2</a:t>
            </a:r>
            <a:r>
              <a:rPr lang="en-US" altLang="zh-TW" sz="3600" dirty="0"/>
              <a:t>B</a:t>
            </a:r>
            <a:r>
              <a:rPr lang="en-US" altLang="zh-TW" sz="3600" baseline="-25000" dirty="0"/>
              <a:t>1</a:t>
            </a:r>
            <a:r>
              <a:rPr lang="en-US" altLang="zh-TW" sz="3600" dirty="0"/>
              <a:t>B</a:t>
            </a:r>
            <a:r>
              <a:rPr lang="en-US" altLang="zh-TW" sz="3600" baseline="-25000" dirty="0"/>
              <a:t>0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A = B </a:t>
            </a:r>
            <a:r>
              <a:rPr lang="en-US" altLang="zh-TW" sz="3600" dirty="0"/>
              <a:t>if </a:t>
            </a:r>
            <a:r>
              <a:rPr lang="en-US" altLang="zh-TW" sz="3600" dirty="0" smtClean="0"/>
              <a:t>A</a:t>
            </a:r>
            <a:r>
              <a:rPr lang="en-US" altLang="zh-TW" sz="3600" baseline="-25000" dirty="0" smtClean="0"/>
              <a:t>3 </a:t>
            </a:r>
            <a:r>
              <a:rPr lang="en-US" altLang="zh-TW" sz="3600" dirty="0" smtClean="0"/>
              <a:t>= B</a:t>
            </a:r>
            <a:r>
              <a:rPr lang="en-US" altLang="zh-TW" sz="3600" baseline="-25000" dirty="0" smtClean="0"/>
              <a:t>3</a:t>
            </a:r>
            <a:r>
              <a:rPr lang="en-US" altLang="zh-TW" sz="3600" dirty="0"/>
              <a:t>, </a:t>
            </a:r>
            <a:r>
              <a:rPr lang="en-US" altLang="zh-TW" sz="3600" dirty="0" smtClean="0"/>
              <a:t>A</a:t>
            </a:r>
            <a:r>
              <a:rPr lang="en-US" altLang="zh-TW" sz="3600" baseline="-25000" dirty="0" smtClean="0"/>
              <a:t>2 </a:t>
            </a:r>
            <a:r>
              <a:rPr lang="en-US" altLang="zh-TW" sz="3600" dirty="0" smtClean="0"/>
              <a:t>= B</a:t>
            </a:r>
            <a:r>
              <a:rPr lang="en-US" altLang="zh-TW" sz="3600" baseline="-25000" dirty="0" smtClean="0"/>
              <a:t>2</a:t>
            </a:r>
            <a:r>
              <a:rPr lang="en-US" altLang="zh-TW" sz="3600" dirty="0"/>
              <a:t>, </a:t>
            </a:r>
            <a:r>
              <a:rPr lang="en-US" altLang="zh-TW" sz="3600" dirty="0" smtClean="0"/>
              <a:t>A</a:t>
            </a:r>
            <a:r>
              <a:rPr lang="en-US" altLang="zh-TW" sz="3600" baseline="-25000" dirty="0" smtClean="0"/>
              <a:t>1 </a:t>
            </a:r>
            <a:r>
              <a:rPr lang="en-US" altLang="zh-TW" sz="3600" dirty="0" smtClean="0"/>
              <a:t>= B</a:t>
            </a:r>
            <a:r>
              <a:rPr lang="en-US" altLang="zh-TW" sz="3600" baseline="-25000" dirty="0" smtClean="0"/>
              <a:t>1</a:t>
            </a:r>
            <a:r>
              <a:rPr lang="en-US" altLang="zh-TW" sz="3600" dirty="0" smtClean="0"/>
              <a:t>and A</a:t>
            </a:r>
            <a:r>
              <a:rPr lang="en-US" altLang="zh-TW" sz="3600" baseline="-25000" dirty="0" smtClean="0"/>
              <a:t>1 </a:t>
            </a:r>
            <a:r>
              <a:rPr lang="en-US" altLang="zh-TW" sz="3600" dirty="0" smtClean="0"/>
              <a:t>= B</a:t>
            </a:r>
            <a:r>
              <a:rPr lang="en-US" altLang="zh-TW" sz="3600" baseline="-25000" dirty="0" smtClean="0"/>
              <a:t>1</a:t>
            </a:r>
            <a:endParaRPr lang="en-US" altLang="zh-TW" sz="3600" dirty="0"/>
          </a:p>
          <a:p>
            <a:pPr marL="0" lvl="2">
              <a:lnSpc>
                <a:spcPct val="125000"/>
              </a:lnSpc>
            </a:pPr>
            <a:r>
              <a:rPr lang="en-US" altLang="zh-TW" sz="3600" dirty="0"/>
              <a:t>equality: </a:t>
            </a:r>
            <a:r>
              <a:rPr lang="en-US" altLang="zh-TW" sz="3600" dirty="0" smtClean="0"/>
              <a:t>x</a:t>
            </a:r>
            <a:r>
              <a:rPr lang="en-US" altLang="zh-TW" sz="3600" baseline="-25000" dirty="0" smtClean="0"/>
              <a:t>i</a:t>
            </a:r>
            <a:r>
              <a:rPr lang="en-US" altLang="zh-TW" sz="3600" dirty="0" smtClean="0"/>
              <a:t> = </a:t>
            </a:r>
            <a:r>
              <a:rPr lang="en-US" altLang="zh-TW" sz="3600" dirty="0" err="1" smtClean="0"/>
              <a:t>A</a:t>
            </a:r>
            <a:r>
              <a:rPr lang="en-US" altLang="zh-TW" sz="3600" baseline="-25000" dirty="0" err="1" smtClean="0"/>
              <a:t>i</a:t>
            </a:r>
            <a:r>
              <a:rPr lang="en-US" altLang="zh-TW" sz="3600" dirty="0" err="1" smtClean="0"/>
              <a:t>B</a:t>
            </a:r>
            <a:r>
              <a:rPr lang="en-US" altLang="zh-TW" sz="3600" baseline="-25000" dirty="0" err="1" smtClean="0"/>
              <a:t>i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+ </a:t>
            </a:r>
            <a:r>
              <a:rPr lang="en-US" altLang="zh-TW" sz="3600" dirty="0" err="1" smtClean="0"/>
              <a:t>A</a:t>
            </a:r>
            <a:r>
              <a:rPr lang="en-US" altLang="zh-TW" sz="3600" baseline="-25000" dirty="0" err="1" smtClean="0"/>
              <a:t>i</a:t>
            </a:r>
            <a:r>
              <a:rPr lang="en-US" altLang="zh-TW" sz="3600" dirty="0" err="1" smtClean="0"/>
              <a:t>’B</a:t>
            </a:r>
            <a:r>
              <a:rPr lang="en-US" altLang="zh-TW" sz="3600" baseline="-25000" dirty="0" err="1" smtClean="0"/>
              <a:t>i</a:t>
            </a:r>
            <a:r>
              <a:rPr lang="en-US" altLang="zh-TW" sz="3600" dirty="0" smtClean="0"/>
              <a:t>’, </a:t>
            </a:r>
            <a:r>
              <a:rPr lang="en-US" altLang="zh-TW" sz="3600" dirty="0"/>
              <a:t>for </a:t>
            </a:r>
            <a:r>
              <a:rPr lang="en-US" altLang="zh-TW" sz="3600" i="1" dirty="0" err="1"/>
              <a:t>i</a:t>
            </a:r>
            <a:r>
              <a:rPr lang="en-US" altLang="zh-TW" sz="3600" dirty="0"/>
              <a:t> = 0, 1, 2, </a:t>
            </a:r>
            <a:r>
              <a:rPr lang="en-US" altLang="zh-TW" sz="3600" dirty="0" smtClean="0"/>
              <a:t>3</a:t>
            </a:r>
          </a:p>
          <a:p>
            <a:pPr marL="0" lvl="2">
              <a:lnSpc>
                <a:spcPct val="125000"/>
              </a:lnSpc>
            </a:pPr>
            <a:r>
              <a:rPr lang="zh-TW" altLang="en-US" sz="3600" dirty="0" smtClean="0"/>
              <a:t>(</a:t>
            </a:r>
            <a:r>
              <a:rPr lang="en-US" altLang="zh-TW" sz="3600" dirty="0" smtClean="0"/>
              <a:t>A = B</a:t>
            </a:r>
            <a:r>
              <a:rPr lang="en-US" altLang="zh-TW" sz="3600" dirty="0"/>
              <a:t>) = </a:t>
            </a:r>
            <a:r>
              <a:rPr lang="en-US" altLang="zh-TW" sz="3600" dirty="0" smtClean="0"/>
              <a:t>x</a:t>
            </a:r>
            <a:r>
              <a:rPr lang="en-US" altLang="zh-TW" sz="3600" baseline="-25000" dirty="0" smtClean="0"/>
              <a:t>3</a:t>
            </a:r>
            <a:r>
              <a:rPr lang="en-US" altLang="zh-TW" sz="3600" dirty="0" smtClean="0"/>
              <a:t>x</a:t>
            </a:r>
            <a:r>
              <a:rPr lang="en-US" altLang="zh-TW" sz="3600" baseline="-25000" dirty="0" smtClean="0"/>
              <a:t>2</a:t>
            </a:r>
            <a:r>
              <a:rPr lang="en-US" altLang="zh-TW" sz="3600" dirty="0" smtClean="0"/>
              <a:t>x</a:t>
            </a:r>
            <a:r>
              <a:rPr lang="en-US" altLang="zh-TW" sz="3600" baseline="-25000" dirty="0" smtClean="0"/>
              <a:t>1</a:t>
            </a:r>
            <a:r>
              <a:rPr lang="en-US" altLang="zh-TW" sz="3600" dirty="0" smtClean="0"/>
              <a:t>x</a:t>
            </a:r>
            <a:r>
              <a:rPr lang="en-US" altLang="zh-TW" sz="3600" baseline="-25000" dirty="0" smtClean="0"/>
              <a:t>0</a:t>
            </a:r>
            <a:endParaRPr lang="en-US" altLang="zh-TW" sz="3600" baseline="-25000" dirty="0"/>
          </a:p>
        </p:txBody>
      </p:sp>
    </p:spTree>
    <p:extLst>
      <p:ext uri="{BB962C8B-B14F-4D97-AF65-F5344CB8AC3E}">
        <p14:creationId xmlns:p14="http://schemas.microsoft.com/office/powerpoint/2010/main" val="221643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-16905" r="56884" b="16905"/>
          <a:stretch/>
        </p:blipFill>
        <p:spPr bwMode="auto">
          <a:xfrm>
            <a:off x="1281793" y="-1249136"/>
            <a:ext cx="2971800" cy="792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089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-16905" r="56884" b="16905"/>
          <a:stretch/>
        </p:blipFill>
        <p:spPr bwMode="auto">
          <a:xfrm>
            <a:off x="1281793" y="-1249136"/>
            <a:ext cx="2971800" cy="792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方塊 11"/>
          <p:cNvSpPr txBox="1"/>
          <p:nvPr/>
        </p:nvSpPr>
        <p:spPr>
          <a:xfrm>
            <a:off x="4498521" y="321520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x3</a:t>
            </a:r>
            <a:endParaRPr lang="zh-TW" altLang="en-US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498521" y="2158485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x2</a:t>
            </a:r>
            <a:endParaRPr lang="zh-TW" altLang="en-US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498521" y="3784146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x1</a:t>
            </a:r>
            <a:endParaRPr lang="zh-TW" altLang="en-US" b="1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498521" y="5992586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x0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62829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-16905" r="56884" b="16905"/>
          <a:stretch/>
        </p:blipFill>
        <p:spPr bwMode="auto">
          <a:xfrm>
            <a:off x="1281793" y="-1249136"/>
            <a:ext cx="2971800" cy="792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34" t="84643" r="602" b="5952"/>
          <a:stretch/>
        </p:blipFill>
        <p:spPr bwMode="auto">
          <a:xfrm>
            <a:off x="6327321" y="3298371"/>
            <a:ext cx="4751821" cy="98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字方塊 11"/>
          <p:cNvSpPr txBox="1"/>
          <p:nvPr/>
        </p:nvSpPr>
        <p:spPr>
          <a:xfrm>
            <a:off x="4498521" y="321520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x3</a:t>
            </a:r>
            <a:endParaRPr lang="zh-TW" altLang="en-US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498521" y="2158485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x2</a:t>
            </a:r>
            <a:endParaRPr lang="zh-TW" altLang="en-US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498521" y="3784146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x1</a:t>
            </a:r>
            <a:endParaRPr lang="zh-TW" altLang="en-US" b="1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498521" y="5992586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x0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8181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-16905" r="56884" b="16905"/>
          <a:stretch/>
        </p:blipFill>
        <p:spPr bwMode="auto">
          <a:xfrm>
            <a:off x="1281793" y="-1249136"/>
            <a:ext cx="2971800" cy="792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34" t="84643" r="602" b="5952"/>
          <a:stretch/>
        </p:blipFill>
        <p:spPr bwMode="auto">
          <a:xfrm>
            <a:off x="6327321" y="3298371"/>
            <a:ext cx="4751821" cy="98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手繪多邊形 7"/>
          <p:cNvSpPr/>
          <p:nvPr/>
        </p:nvSpPr>
        <p:spPr>
          <a:xfrm>
            <a:off x="4237264" y="653143"/>
            <a:ext cx="2098222" cy="2890157"/>
          </a:xfrm>
          <a:custGeom>
            <a:avLst/>
            <a:gdLst>
              <a:gd name="connsiteX0" fmla="*/ 0 w 2098222"/>
              <a:gd name="connsiteY0" fmla="*/ 0 h 2890157"/>
              <a:gd name="connsiteX1" fmla="*/ 400050 w 2098222"/>
              <a:gd name="connsiteY1" fmla="*/ 228600 h 2890157"/>
              <a:gd name="connsiteX2" fmla="*/ 865415 w 2098222"/>
              <a:gd name="connsiteY2" fmla="*/ 1175657 h 2890157"/>
              <a:gd name="connsiteX3" fmla="*/ 1543050 w 2098222"/>
              <a:gd name="connsiteY3" fmla="*/ 2237014 h 2890157"/>
              <a:gd name="connsiteX4" fmla="*/ 2098222 w 2098222"/>
              <a:gd name="connsiteY4" fmla="*/ 2890157 h 2890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222" h="2890157">
                <a:moveTo>
                  <a:pt x="0" y="0"/>
                </a:moveTo>
                <a:cubicBezTo>
                  <a:pt x="127907" y="16328"/>
                  <a:pt x="255814" y="32657"/>
                  <a:pt x="400050" y="228600"/>
                </a:cubicBezTo>
                <a:cubicBezTo>
                  <a:pt x="544286" y="424543"/>
                  <a:pt x="674915" y="840921"/>
                  <a:pt x="865415" y="1175657"/>
                </a:cubicBezTo>
                <a:cubicBezTo>
                  <a:pt x="1055915" y="1510393"/>
                  <a:pt x="1337582" y="1951264"/>
                  <a:pt x="1543050" y="2237014"/>
                </a:cubicBezTo>
                <a:cubicBezTo>
                  <a:pt x="1748518" y="2522764"/>
                  <a:pt x="1923370" y="2706460"/>
                  <a:pt x="2098222" y="2890157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 8"/>
          <p:cNvSpPr/>
          <p:nvPr/>
        </p:nvSpPr>
        <p:spPr>
          <a:xfrm>
            <a:off x="4237264" y="2416629"/>
            <a:ext cx="2106386" cy="1273628"/>
          </a:xfrm>
          <a:custGeom>
            <a:avLst/>
            <a:gdLst>
              <a:gd name="connsiteX0" fmla="*/ 0 w 2106386"/>
              <a:gd name="connsiteY0" fmla="*/ 0 h 1273628"/>
              <a:gd name="connsiteX1" fmla="*/ 449036 w 2106386"/>
              <a:gd name="connsiteY1" fmla="*/ 342900 h 1273628"/>
              <a:gd name="connsiteX2" fmla="*/ 1477736 w 2106386"/>
              <a:gd name="connsiteY2" fmla="*/ 1102178 h 1273628"/>
              <a:gd name="connsiteX3" fmla="*/ 2106386 w 2106386"/>
              <a:gd name="connsiteY3" fmla="*/ 1273628 h 1273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6386" h="1273628">
                <a:moveTo>
                  <a:pt x="0" y="0"/>
                </a:moveTo>
                <a:lnTo>
                  <a:pt x="449036" y="342900"/>
                </a:lnTo>
                <a:cubicBezTo>
                  <a:pt x="695325" y="526596"/>
                  <a:pt x="1201511" y="947057"/>
                  <a:pt x="1477736" y="1102178"/>
                </a:cubicBezTo>
                <a:cubicBezTo>
                  <a:pt x="1753961" y="1257299"/>
                  <a:pt x="1930173" y="1265463"/>
                  <a:pt x="2106386" y="1273628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 9"/>
          <p:cNvSpPr/>
          <p:nvPr/>
        </p:nvSpPr>
        <p:spPr>
          <a:xfrm>
            <a:off x="4237264" y="3837214"/>
            <a:ext cx="2130879" cy="375557"/>
          </a:xfrm>
          <a:custGeom>
            <a:avLst/>
            <a:gdLst>
              <a:gd name="connsiteX0" fmla="*/ 0 w 2130879"/>
              <a:gd name="connsiteY0" fmla="*/ 375557 h 375557"/>
              <a:gd name="connsiteX1" fmla="*/ 840922 w 2130879"/>
              <a:gd name="connsiteY1" fmla="*/ 310243 h 375557"/>
              <a:gd name="connsiteX2" fmla="*/ 1494065 w 2130879"/>
              <a:gd name="connsiteY2" fmla="*/ 57150 h 375557"/>
              <a:gd name="connsiteX3" fmla="*/ 2130879 w 2130879"/>
              <a:gd name="connsiteY3" fmla="*/ 0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0879" h="375557">
                <a:moveTo>
                  <a:pt x="0" y="375557"/>
                </a:moveTo>
                <a:cubicBezTo>
                  <a:pt x="295955" y="369434"/>
                  <a:pt x="591911" y="363311"/>
                  <a:pt x="840922" y="310243"/>
                </a:cubicBezTo>
                <a:cubicBezTo>
                  <a:pt x="1089933" y="257175"/>
                  <a:pt x="1279072" y="108857"/>
                  <a:pt x="1494065" y="57150"/>
                </a:cubicBezTo>
                <a:cubicBezTo>
                  <a:pt x="1709058" y="5443"/>
                  <a:pt x="1919968" y="2721"/>
                  <a:pt x="2130879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 10"/>
          <p:cNvSpPr/>
          <p:nvPr/>
        </p:nvSpPr>
        <p:spPr>
          <a:xfrm>
            <a:off x="4253593" y="3976007"/>
            <a:ext cx="2073728" cy="2016579"/>
          </a:xfrm>
          <a:custGeom>
            <a:avLst/>
            <a:gdLst>
              <a:gd name="connsiteX0" fmla="*/ 0 w 2073728"/>
              <a:gd name="connsiteY0" fmla="*/ 2016579 h 2016579"/>
              <a:gd name="connsiteX1" fmla="*/ 1126671 w 2073728"/>
              <a:gd name="connsiteY1" fmla="*/ 955222 h 2016579"/>
              <a:gd name="connsiteX2" fmla="*/ 1624693 w 2073728"/>
              <a:gd name="connsiteY2" fmla="*/ 244929 h 2016579"/>
              <a:gd name="connsiteX3" fmla="*/ 2073728 w 2073728"/>
              <a:gd name="connsiteY3" fmla="*/ 0 h 201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3728" h="2016579">
                <a:moveTo>
                  <a:pt x="0" y="2016579"/>
                </a:moveTo>
                <a:cubicBezTo>
                  <a:pt x="427944" y="1633538"/>
                  <a:pt x="855889" y="1250497"/>
                  <a:pt x="1126671" y="955222"/>
                </a:cubicBezTo>
                <a:cubicBezTo>
                  <a:pt x="1397453" y="659947"/>
                  <a:pt x="1466850" y="404133"/>
                  <a:pt x="1624693" y="244929"/>
                </a:cubicBezTo>
                <a:cubicBezTo>
                  <a:pt x="1782536" y="85725"/>
                  <a:pt x="1928132" y="42862"/>
                  <a:pt x="2073728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4498521" y="321520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x3</a:t>
            </a:r>
            <a:endParaRPr lang="zh-TW" altLang="en-US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498521" y="2158485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x2</a:t>
            </a:r>
            <a:endParaRPr lang="zh-TW" altLang="en-US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498521" y="3784146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x1</a:t>
            </a:r>
            <a:endParaRPr lang="zh-TW" altLang="en-US" b="1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498521" y="5992586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x0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33003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20445" y="3048392"/>
            <a:ext cx="108446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3600" b="1" dirty="0">
                <a:solidFill>
                  <a:srgbClr val="C00000"/>
                </a:solidFill>
              </a:rPr>
              <a:t>(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3600" b="1" dirty="0">
                <a:solidFill>
                  <a:srgbClr val="C00000"/>
                </a:solidFill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20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81792" y="-1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661767" y="117413"/>
            <a:ext cx="743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</a:t>
            </a:r>
            <a:endParaRPr lang="en-US" altLang="zh-TW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96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81792" y="-1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661767" y="117413"/>
            <a:ext cx="743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</a:t>
            </a:r>
            <a:endParaRPr lang="en-US" altLang="zh-TW" sz="24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49178" y="109712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&gt;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349177" y="3072884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349177" y="487932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06327" y="6488668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730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661767" y="117413"/>
            <a:ext cx="743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</a:t>
            </a:r>
            <a:endParaRPr lang="en-US" altLang="zh-TW" sz="2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81792" y="-1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349178" y="109712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&gt;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349177" y="3072884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349177" y="487932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406327" y="6488668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3" t="69298" b="22164"/>
          <a:stretch/>
        </p:blipFill>
        <p:spPr bwMode="auto">
          <a:xfrm>
            <a:off x="9192985" y="3227027"/>
            <a:ext cx="179614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97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661767" y="117413"/>
            <a:ext cx="743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</a:t>
            </a:r>
            <a:endParaRPr lang="en-US" altLang="zh-TW" sz="2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81792" y="-1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349178" y="109712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&gt;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349177" y="3072884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349177" y="487932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406327" y="6488668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3" t="69298" b="22164"/>
          <a:stretch/>
        </p:blipFill>
        <p:spPr bwMode="auto">
          <a:xfrm>
            <a:off x="9192985" y="3227027"/>
            <a:ext cx="179614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手繪多邊形 3"/>
          <p:cNvSpPr/>
          <p:nvPr/>
        </p:nvSpPr>
        <p:spPr>
          <a:xfrm>
            <a:off x="4245429" y="922564"/>
            <a:ext cx="4963885" cy="2444522"/>
          </a:xfrm>
          <a:custGeom>
            <a:avLst/>
            <a:gdLst>
              <a:gd name="connsiteX0" fmla="*/ 0 w 4963885"/>
              <a:gd name="connsiteY0" fmla="*/ 0 h 2444522"/>
              <a:gd name="connsiteX1" fmla="*/ 1559378 w 4963885"/>
              <a:gd name="connsiteY1" fmla="*/ 204107 h 2444522"/>
              <a:gd name="connsiteX2" fmla="*/ 3077935 w 4963885"/>
              <a:gd name="connsiteY2" fmla="*/ 857250 h 2444522"/>
              <a:gd name="connsiteX3" fmla="*/ 4392385 w 4963885"/>
              <a:gd name="connsiteY3" fmla="*/ 1616529 h 2444522"/>
              <a:gd name="connsiteX4" fmla="*/ 4833257 w 4963885"/>
              <a:gd name="connsiteY4" fmla="*/ 2318657 h 2444522"/>
              <a:gd name="connsiteX5" fmla="*/ 4963885 w 4963885"/>
              <a:gd name="connsiteY5" fmla="*/ 2441122 h 244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3885" h="2444522">
                <a:moveTo>
                  <a:pt x="0" y="0"/>
                </a:moveTo>
                <a:cubicBezTo>
                  <a:pt x="523194" y="30616"/>
                  <a:pt x="1046389" y="61232"/>
                  <a:pt x="1559378" y="204107"/>
                </a:cubicBezTo>
                <a:cubicBezTo>
                  <a:pt x="2072367" y="346982"/>
                  <a:pt x="2605767" y="621846"/>
                  <a:pt x="3077935" y="857250"/>
                </a:cubicBezTo>
                <a:cubicBezTo>
                  <a:pt x="3550103" y="1092654"/>
                  <a:pt x="4099831" y="1372961"/>
                  <a:pt x="4392385" y="1616529"/>
                </a:cubicBezTo>
                <a:cubicBezTo>
                  <a:pt x="4684939" y="1860097"/>
                  <a:pt x="4738007" y="2181225"/>
                  <a:pt x="4833257" y="2318657"/>
                </a:cubicBezTo>
                <a:cubicBezTo>
                  <a:pt x="4928507" y="2456089"/>
                  <a:pt x="4946196" y="2448605"/>
                  <a:pt x="4963885" y="2441122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51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661767" y="117413"/>
            <a:ext cx="743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</a:t>
            </a:r>
            <a:endParaRPr lang="en-US" altLang="zh-TW" sz="2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81792" y="-1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349178" y="109712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&gt;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349177" y="3072884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349177" y="487932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406327" y="6488668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3" t="69298" b="22164"/>
          <a:stretch/>
        </p:blipFill>
        <p:spPr bwMode="auto">
          <a:xfrm>
            <a:off x="9192985" y="3227027"/>
            <a:ext cx="179614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4237264" y="2857500"/>
            <a:ext cx="2171700" cy="85598"/>
          </a:xfrm>
          <a:custGeom>
            <a:avLst/>
            <a:gdLst>
              <a:gd name="connsiteX0" fmla="*/ 0 w 2171700"/>
              <a:gd name="connsiteY0" fmla="*/ 65314 h 85598"/>
              <a:gd name="connsiteX1" fmla="*/ 644979 w 2171700"/>
              <a:gd name="connsiteY1" fmla="*/ 81643 h 85598"/>
              <a:gd name="connsiteX2" fmla="*/ 2171700 w 2171700"/>
              <a:gd name="connsiteY2" fmla="*/ 0 h 8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85598">
                <a:moveTo>
                  <a:pt x="0" y="65314"/>
                </a:moveTo>
                <a:cubicBezTo>
                  <a:pt x="141514" y="78921"/>
                  <a:pt x="283029" y="92529"/>
                  <a:pt x="644979" y="81643"/>
                </a:cubicBezTo>
                <a:cubicBezTo>
                  <a:pt x="1006929" y="70757"/>
                  <a:pt x="1589314" y="35378"/>
                  <a:pt x="2171700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4237264" y="506186"/>
            <a:ext cx="2163536" cy="2057400"/>
          </a:xfrm>
          <a:custGeom>
            <a:avLst/>
            <a:gdLst>
              <a:gd name="connsiteX0" fmla="*/ 0 w 2163536"/>
              <a:gd name="connsiteY0" fmla="*/ 0 h 2057400"/>
              <a:gd name="connsiteX1" fmla="*/ 751115 w 2163536"/>
              <a:gd name="connsiteY1" fmla="*/ 122464 h 2057400"/>
              <a:gd name="connsiteX2" fmla="*/ 1265465 w 2163536"/>
              <a:gd name="connsiteY2" fmla="*/ 424543 h 2057400"/>
              <a:gd name="connsiteX3" fmla="*/ 1649186 w 2163536"/>
              <a:gd name="connsiteY3" fmla="*/ 1477735 h 2057400"/>
              <a:gd name="connsiteX4" fmla="*/ 2163536 w 2163536"/>
              <a:gd name="connsiteY4" fmla="*/ 205740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3536" h="2057400">
                <a:moveTo>
                  <a:pt x="0" y="0"/>
                </a:moveTo>
                <a:cubicBezTo>
                  <a:pt x="270102" y="25853"/>
                  <a:pt x="540204" y="51707"/>
                  <a:pt x="751115" y="122464"/>
                </a:cubicBezTo>
                <a:cubicBezTo>
                  <a:pt x="962026" y="193221"/>
                  <a:pt x="1115787" y="198665"/>
                  <a:pt x="1265465" y="424543"/>
                </a:cubicBezTo>
                <a:cubicBezTo>
                  <a:pt x="1415144" y="650422"/>
                  <a:pt x="1499508" y="1205592"/>
                  <a:pt x="1649186" y="1477735"/>
                </a:cubicBezTo>
                <a:cubicBezTo>
                  <a:pt x="1798864" y="1749878"/>
                  <a:pt x="1981200" y="1903639"/>
                  <a:pt x="2163536" y="205740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7258050" y="2702379"/>
            <a:ext cx="1951264" cy="775607"/>
          </a:xfrm>
          <a:custGeom>
            <a:avLst/>
            <a:gdLst>
              <a:gd name="connsiteX0" fmla="*/ 0 w 1951264"/>
              <a:gd name="connsiteY0" fmla="*/ 8164 h 775607"/>
              <a:gd name="connsiteX1" fmla="*/ 269421 w 1951264"/>
              <a:gd name="connsiteY1" fmla="*/ 16328 h 775607"/>
              <a:gd name="connsiteX2" fmla="*/ 775607 w 1951264"/>
              <a:gd name="connsiteY2" fmla="*/ 155121 h 775607"/>
              <a:gd name="connsiteX3" fmla="*/ 1673679 w 1951264"/>
              <a:gd name="connsiteY3" fmla="*/ 661307 h 775607"/>
              <a:gd name="connsiteX4" fmla="*/ 1951264 w 1951264"/>
              <a:gd name="connsiteY4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1264" h="775607">
                <a:moveTo>
                  <a:pt x="0" y="8164"/>
                </a:moveTo>
                <a:cubicBezTo>
                  <a:pt x="70076" y="-1"/>
                  <a:pt x="140153" y="-8165"/>
                  <a:pt x="269421" y="16328"/>
                </a:cubicBezTo>
                <a:cubicBezTo>
                  <a:pt x="398689" y="40821"/>
                  <a:pt x="541564" y="47625"/>
                  <a:pt x="775607" y="155121"/>
                </a:cubicBezTo>
                <a:cubicBezTo>
                  <a:pt x="1009650" y="262617"/>
                  <a:pt x="1477736" y="557893"/>
                  <a:pt x="1673679" y="661307"/>
                </a:cubicBezTo>
                <a:cubicBezTo>
                  <a:pt x="1869622" y="764721"/>
                  <a:pt x="1910443" y="770164"/>
                  <a:pt x="1951264" y="775607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67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661767" y="117413"/>
            <a:ext cx="743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</a:t>
            </a:r>
            <a:endParaRPr lang="en-US" altLang="zh-TW" sz="2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81792" y="-1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349178" y="109712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&gt;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349177" y="3072884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349177" y="487932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406327" y="6488668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3" t="69298" b="22164"/>
          <a:stretch/>
        </p:blipFill>
        <p:spPr bwMode="auto">
          <a:xfrm>
            <a:off x="9192985" y="3227027"/>
            <a:ext cx="179614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>
            <a:off x="4196443" y="498021"/>
            <a:ext cx="2179864" cy="3690258"/>
          </a:xfrm>
          <a:custGeom>
            <a:avLst/>
            <a:gdLst>
              <a:gd name="connsiteX0" fmla="*/ 0 w 2179864"/>
              <a:gd name="connsiteY0" fmla="*/ 0 h 3690258"/>
              <a:gd name="connsiteX1" fmla="*/ 898071 w 2179864"/>
              <a:gd name="connsiteY1" fmla="*/ 1347108 h 3690258"/>
              <a:gd name="connsiteX2" fmla="*/ 2179864 w 2179864"/>
              <a:gd name="connsiteY2" fmla="*/ 3690258 h 369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9864" h="3690258">
                <a:moveTo>
                  <a:pt x="0" y="0"/>
                </a:moveTo>
                <a:cubicBezTo>
                  <a:pt x="267380" y="366032"/>
                  <a:pt x="534760" y="732065"/>
                  <a:pt x="898071" y="1347108"/>
                </a:cubicBezTo>
                <a:cubicBezTo>
                  <a:pt x="1261382" y="1962151"/>
                  <a:pt x="1720623" y="2826204"/>
                  <a:pt x="2179864" y="3690258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4237264" y="2277836"/>
            <a:ext cx="2147207" cy="2065564"/>
          </a:xfrm>
          <a:custGeom>
            <a:avLst/>
            <a:gdLst>
              <a:gd name="connsiteX0" fmla="*/ 0 w 2147207"/>
              <a:gd name="connsiteY0" fmla="*/ 0 h 2065564"/>
              <a:gd name="connsiteX1" fmla="*/ 710293 w 2147207"/>
              <a:gd name="connsiteY1" fmla="*/ 359228 h 2065564"/>
              <a:gd name="connsiteX2" fmla="*/ 1494065 w 2147207"/>
              <a:gd name="connsiteY2" fmla="*/ 1510393 h 2065564"/>
              <a:gd name="connsiteX3" fmla="*/ 2147207 w 2147207"/>
              <a:gd name="connsiteY3" fmla="*/ 2065564 h 206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7207" h="2065564">
                <a:moveTo>
                  <a:pt x="0" y="0"/>
                </a:moveTo>
                <a:cubicBezTo>
                  <a:pt x="230641" y="53748"/>
                  <a:pt x="461282" y="107496"/>
                  <a:pt x="710293" y="359228"/>
                </a:cubicBezTo>
                <a:cubicBezTo>
                  <a:pt x="959304" y="610960"/>
                  <a:pt x="1254579" y="1226004"/>
                  <a:pt x="1494065" y="1510393"/>
                </a:cubicBezTo>
                <a:cubicBezTo>
                  <a:pt x="1733551" y="1794782"/>
                  <a:pt x="1940379" y="1930173"/>
                  <a:pt x="2147207" y="206556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4245429" y="4506686"/>
            <a:ext cx="2163535" cy="236764"/>
          </a:xfrm>
          <a:custGeom>
            <a:avLst/>
            <a:gdLst>
              <a:gd name="connsiteX0" fmla="*/ 0 w 2163535"/>
              <a:gd name="connsiteY0" fmla="*/ 236764 h 236764"/>
              <a:gd name="connsiteX1" fmla="*/ 857250 w 2163535"/>
              <a:gd name="connsiteY1" fmla="*/ 187778 h 236764"/>
              <a:gd name="connsiteX2" fmla="*/ 1910442 w 2163535"/>
              <a:gd name="connsiteY2" fmla="*/ 106135 h 236764"/>
              <a:gd name="connsiteX3" fmla="*/ 2163535 w 2163535"/>
              <a:gd name="connsiteY3" fmla="*/ 0 h 236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535" h="236764">
                <a:moveTo>
                  <a:pt x="0" y="236764"/>
                </a:moveTo>
                <a:lnTo>
                  <a:pt x="857250" y="187778"/>
                </a:lnTo>
                <a:cubicBezTo>
                  <a:pt x="1175657" y="166007"/>
                  <a:pt x="1692728" y="137431"/>
                  <a:pt x="1910442" y="106135"/>
                </a:cubicBezTo>
                <a:cubicBezTo>
                  <a:pt x="2128156" y="74839"/>
                  <a:pt x="2145845" y="37419"/>
                  <a:pt x="216353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>
            <a:off x="7266214" y="3549554"/>
            <a:ext cx="1918607" cy="769353"/>
          </a:xfrm>
          <a:custGeom>
            <a:avLst/>
            <a:gdLst>
              <a:gd name="connsiteX0" fmla="*/ 0 w 1918607"/>
              <a:gd name="connsiteY0" fmla="*/ 769353 h 769353"/>
              <a:gd name="connsiteX1" fmla="*/ 1216479 w 1918607"/>
              <a:gd name="connsiteY1" fmla="*/ 393796 h 769353"/>
              <a:gd name="connsiteX2" fmla="*/ 1632857 w 1918607"/>
              <a:gd name="connsiteY2" fmla="*/ 34567 h 769353"/>
              <a:gd name="connsiteX3" fmla="*/ 1918607 w 1918607"/>
              <a:gd name="connsiteY3" fmla="*/ 34567 h 76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8607" h="769353">
                <a:moveTo>
                  <a:pt x="0" y="769353"/>
                </a:moveTo>
                <a:cubicBezTo>
                  <a:pt x="472168" y="642806"/>
                  <a:pt x="944336" y="516260"/>
                  <a:pt x="1216479" y="393796"/>
                </a:cubicBezTo>
                <a:cubicBezTo>
                  <a:pt x="1488622" y="271332"/>
                  <a:pt x="1515836" y="94438"/>
                  <a:pt x="1632857" y="34567"/>
                </a:cubicBezTo>
                <a:cubicBezTo>
                  <a:pt x="1749878" y="-25305"/>
                  <a:pt x="1834242" y="4631"/>
                  <a:pt x="1918607" y="3456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548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661767" y="117413"/>
            <a:ext cx="743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</a:t>
            </a:r>
            <a:endParaRPr lang="en-US" altLang="zh-TW" sz="2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81792" y="-1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349178" y="109712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&gt;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349177" y="3072884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349177" y="487932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406327" y="6488668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3" t="69298" b="22164"/>
          <a:stretch/>
        </p:blipFill>
        <p:spPr bwMode="auto">
          <a:xfrm>
            <a:off x="9192985" y="3227027"/>
            <a:ext cx="179614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/>
        </p:nvSpPr>
        <p:spPr>
          <a:xfrm>
            <a:off x="4188279" y="498021"/>
            <a:ext cx="2228850" cy="4926518"/>
          </a:xfrm>
          <a:custGeom>
            <a:avLst/>
            <a:gdLst>
              <a:gd name="connsiteX0" fmla="*/ 0 w 2228850"/>
              <a:gd name="connsiteY0" fmla="*/ 0 h 4926518"/>
              <a:gd name="connsiteX1" fmla="*/ 1151164 w 2228850"/>
              <a:gd name="connsiteY1" fmla="*/ 3241222 h 4926518"/>
              <a:gd name="connsiteX2" fmla="*/ 1861457 w 2228850"/>
              <a:gd name="connsiteY2" fmla="*/ 4661808 h 4926518"/>
              <a:gd name="connsiteX3" fmla="*/ 2228850 w 2228850"/>
              <a:gd name="connsiteY3" fmla="*/ 4923065 h 492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8850" h="4926518">
                <a:moveTo>
                  <a:pt x="0" y="0"/>
                </a:moveTo>
                <a:cubicBezTo>
                  <a:pt x="420460" y="1232127"/>
                  <a:pt x="840921" y="2464254"/>
                  <a:pt x="1151164" y="3241222"/>
                </a:cubicBezTo>
                <a:cubicBezTo>
                  <a:pt x="1461407" y="4018190"/>
                  <a:pt x="1681843" y="4381501"/>
                  <a:pt x="1861457" y="4661808"/>
                </a:cubicBezTo>
                <a:cubicBezTo>
                  <a:pt x="2041071" y="4942115"/>
                  <a:pt x="2134960" y="4932590"/>
                  <a:pt x="2228850" y="492306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>
            <a:off x="4212771" y="2286000"/>
            <a:ext cx="2179865" cy="3233057"/>
          </a:xfrm>
          <a:custGeom>
            <a:avLst/>
            <a:gdLst>
              <a:gd name="connsiteX0" fmla="*/ 0 w 2179865"/>
              <a:gd name="connsiteY0" fmla="*/ 0 h 3233057"/>
              <a:gd name="connsiteX1" fmla="*/ 922565 w 2179865"/>
              <a:gd name="connsiteY1" fmla="*/ 1934936 h 3233057"/>
              <a:gd name="connsiteX2" fmla="*/ 1526722 w 2179865"/>
              <a:gd name="connsiteY2" fmla="*/ 2922814 h 3233057"/>
              <a:gd name="connsiteX3" fmla="*/ 2179865 w 2179865"/>
              <a:gd name="connsiteY3" fmla="*/ 3233057 h 3233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865" h="3233057">
                <a:moveTo>
                  <a:pt x="0" y="0"/>
                </a:moveTo>
                <a:cubicBezTo>
                  <a:pt x="334055" y="723900"/>
                  <a:pt x="668111" y="1447800"/>
                  <a:pt x="922565" y="1934936"/>
                </a:cubicBezTo>
                <a:cubicBezTo>
                  <a:pt x="1177019" y="2422072"/>
                  <a:pt x="1317172" y="2706461"/>
                  <a:pt x="1526722" y="2922814"/>
                </a:cubicBezTo>
                <a:cubicBezTo>
                  <a:pt x="1736272" y="3139167"/>
                  <a:pt x="1958068" y="3186112"/>
                  <a:pt x="2179865" y="323305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 22"/>
          <p:cNvSpPr/>
          <p:nvPr/>
        </p:nvSpPr>
        <p:spPr>
          <a:xfrm>
            <a:off x="4229100" y="4057650"/>
            <a:ext cx="2171700" cy="1559379"/>
          </a:xfrm>
          <a:custGeom>
            <a:avLst/>
            <a:gdLst>
              <a:gd name="connsiteX0" fmla="*/ 0 w 2171700"/>
              <a:gd name="connsiteY0" fmla="*/ 0 h 1559379"/>
              <a:gd name="connsiteX1" fmla="*/ 1102179 w 2171700"/>
              <a:gd name="connsiteY1" fmla="*/ 1167493 h 1559379"/>
              <a:gd name="connsiteX2" fmla="*/ 1845129 w 2171700"/>
              <a:gd name="connsiteY2" fmla="*/ 1485900 h 1559379"/>
              <a:gd name="connsiteX3" fmla="*/ 2171700 w 2171700"/>
              <a:gd name="connsiteY3" fmla="*/ 1559379 h 155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1559379">
                <a:moveTo>
                  <a:pt x="0" y="0"/>
                </a:moveTo>
                <a:cubicBezTo>
                  <a:pt x="397328" y="459921"/>
                  <a:pt x="794657" y="919843"/>
                  <a:pt x="1102179" y="1167493"/>
                </a:cubicBezTo>
                <a:cubicBezTo>
                  <a:pt x="1409701" y="1415143"/>
                  <a:pt x="1666876" y="1420586"/>
                  <a:pt x="1845129" y="1485900"/>
                </a:cubicBezTo>
                <a:cubicBezTo>
                  <a:pt x="2023382" y="1551214"/>
                  <a:pt x="2097541" y="1555296"/>
                  <a:pt x="2171700" y="155937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4261757" y="5731329"/>
            <a:ext cx="2163536" cy="751114"/>
          </a:xfrm>
          <a:custGeom>
            <a:avLst/>
            <a:gdLst>
              <a:gd name="connsiteX0" fmla="*/ 0 w 2163536"/>
              <a:gd name="connsiteY0" fmla="*/ 751114 h 751114"/>
              <a:gd name="connsiteX1" fmla="*/ 1134836 w 2163536"/>
              <a:gd name="connsiteY1" fmla="*/ 375557 h 751114"/>
              <a:gd name="connsiteX2" fmla="*/ 1796143 w 2163536"/>
              <a:gd name="connsiteY2" fmla="*/ 122464 h 751114"/>
              <a:gd name="connsiteX3" fmla="*/ 2163536 w 2163536"/>
              <a:gd name="connsiteY3" fmla="*/ 0 h 75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536" h="751114">
                <a:moveTo>
                  <a:pt x="0" y="751114"/>
                </a:moveTo>
                <a:lnTo>
                  <a:pt x="1134836" y="375557"/>
                </a:lnTo>
                <a:cubicBezTo>
                  <a:pt x="1434193" y="270782"/>
                  <a:pt x="1624693" y="185057"/>
                  <a:pt x="1796143" y="122464"/>
                </a:cubicBezTo>
                <a:cubicBezTo>
                  <a:pt x="1967593" y="59871"/>
                  <a:pt x="2065564" y="29935"/>
                  <a:pt x="2163536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7274379" y="3690257"/>
            <a:ext cx="1926771" cy="1885950"/>
          </a:xfrm>
          <a:custGeom>
            <a:avLst/>
            <a:gdLst>
              <a:gd name="connsiteX0" fmla="*/ 0 w 1926771"/>
              <a:gd name="connsiteY0" fmla="*/ 1885950 h 1885950"/>
              <a:gd name="connsiteX1" fmla="*/ 1012371 w 1926771"/>
              <a:gd name="connsiteY1" fmla="*/ 1289957 h 1885950"/>
              <a:gd name="connsiteX2" fmla="*/ 1404257 w 1926771"/>
              <a:gd name="connsiteY2" fmla="*/ 302079 h 1885950"/>
              <a:gd name="connsiteX3" fmla="*/ 1926771 w 1926771"/>
              <a:gd name="connsiteY3" fmla="*/ 0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6771" h="1885950">
                <a:moveTo>
                  <a:pt x="0" y="1885950"/>
                </a:moveTo>
                <a:cubicBezTo>
                  <a:pt x="389164" y="1719942"/>
                  <a:pt x="778328" y="1553935"/>
                  <a:pt x="1012371" y="1289957"/>
                </a:cubicBezTo>
                <a:cubicBezTo>
                  <a:pt x="1246414" y="1025979"/>
                  <a:pt x="1251857" y="517072"/>
                  <a:pt x="1404257" y="302079"/>
                </a:cubicBezTo>
                <a:cubicBezTo>
                  <a:pt x="1556657" y="87086"/>
                  <a:pt x="1741714" y="43543"/>
                  <a:pt x="192677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4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661767" y="117413"/>
            <a:ext cx="743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</a:t>
            </a:r>
            <a:endParaRPr lang="en-US" altLang="zh-TW" sz="2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81792" y="-1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349178" y="109712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&gt;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349177" y="3072884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349177" y="487932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406327" y="6488668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3" t="69298" b="22164"/>
          <a:stretch/>
        </p:blipFill>
        <p:spPr bwMode="auto">
          <a:xfrm>
            <a:off x="9192985" y="3227027"/>
            <a:ext cx="179614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手繪多邊形 3"/>
          <p:cNvSpPr/>
          <p:nvPr/>
        </p:nvSpPr>
        <p:spPr>
          <a:xfrm>
            <a:off x="4245429" y="922564"/>
            <a:ext cx="4963885" cy="2444522"/>
          </a:xfrm>
          <a:custGeom>
            <a:avLst/>
            <a:gdLst>
              <a:gd name="connsiteX0" fmla="*/ 0 w 4963885"/>
              <a:gd name="connsiteY0" fmla="*/ 0 h 2444522"/>
              <a:gd name="connsiteX1" fmla="*/ 1559378 w 4963885"/>
              <a:gd name="connsiteY1" fmla="*/ 204107 h 2444522"/>
              <a:gd name="connsiteX2" fmla="*/ 3077935 w 4963885"/>
              <a:gd name="connsiteY2" fmla="*/ 857250 h 2444522"/>
              <a:gd name="connsiteX3" fmla="*/ 4392385 w 4963885"/>
              <a:gd name="connsiteY3" fmla="*/ 1616529 h 2444522"/>
              <a:gd name="connsiteX4" fmla="*/ 4833257 w 4963885"/>
              <a:gd name="connsiteY4" fmla="*/ 2318657 h 2444522"/>
              <a:gd name="connsiteX5" fmla="*/ 4963885 w 4963885"/>
              <a:gd name="connsiteY5" fmla="*/ 2441122 h 244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3885" h="2444522">
                <a:moveTo>
                  <a:pt x="0" y="0"/>
                </a:moveTo>
                <a:cubicBezTo>
                  <a:pt x="523194" y="30616"/>
                  <a:pt x="1046389" y="61232"/>
                  <a:pt x="1559378" y="204107"/>
                </a:cubicBezTo>
                <a:cubicBezTo>
                  <a:pt x="2072367" y="346982"/>
                  <a:pt x="2605767" y="621846"/>
                  <a:pt x="3077935" y="857250"/>
                </a:cubicBezTo>
                <a:cubicBezTo>
                  <a:pt x="3550103" y="1092654"/>
                  <a:pt x="4099831" y="1372961"/>
                  <a:pt x="4392385" y="1616529"/>
                </a:cubicBezTo>
                <a:cubicBezTo>
                  <a:pt x="4684939" y="1860097"/>
                  <a:pt x="4738007" y="2181225"/>
                  <a:pt x="4833257" y="2318657"/>
                </a:cubicBezTo>
                <a:cubicBezTo>
                  <a:pt x="4928507" y="2456089"/>
                  <a:pt x="4946196" y="2448605"/>
                  <a:pt x="4963885" y="2441122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手繪多邊形 1"/>
          <p:cNvSpPr/>
          <p:nvPr/>
        </p:nvSpPr>
        <p:spPr>
          <a:xfrm>
            <a:off x="4237264" y="2857500"/>
            <a:ext cx="2171700" cy="85598"/>
          </a:xfrm>
          <a:custGeom>
            <a:avLst/>
            <a:gdLst>
              <a:gd name="connsiteX0" fmla="*/ 0 w 2171700"/>
              <a:gd name="connsiteY0" fmla="*/ 65314 h 85598"/>
              <a:gd name="connsiteX1" fmla="*/ 644979 w 2171700"/>
              <a:gd name="connsiteY1" fmla="*/ 81643 h 85598"/>
              <a:gd name="connsiteX2" fmla="*/ 2171700 w 2171700"/>
              <a:gd name="connsiteY2" fmla="*/ 0 h 8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85598">
                <a:moveTo>
                  <a:pt x="0" y="65314"/>
                </a:moveTo>
                <a:cubicBezTo>
                  <a:pt x="141514" y="78921"/>
                  <a:pt x="283029" y="92529"/>
                  <a:pt x="644979" y="81643"/>
                </a:cubicBezTo>
                <a:cubicBezTo>
                  <a:pt x="1006929" y="70757"/>
                  <a:pt x="1589314" y="35378"/>
                  <a:pt x="2171700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4237264" y="506186"/>
            <a:ext cx="2163536" cy="2057400"/>
          </a:xfrm>
          <a:custGeom>
            <a:avLst/>
            <a:gdLst>
              <a:gd name="connsiteX0" fmla="*/ 0 w 2163536"/>
              <a:gd name="connsiteY0" fmla="*/ 0 h 2057400"/>
              <a:gd name="connsiteX1" fmla="*/ 751115 w 2163536"/>
              <a:gd name="connsiteY1" fmla="*/ 122464 h 2057400"/>
              <a:gd name="connsiteX2" fmla="*/ 1265465 w 2163536"/>
              <a:gd name="connsiteY2" fmla="*/ 424543 h 2057400"/>
              <a:gd name="connsiteX3" fmla="*/ 1649186 w 2163536"/>
              <a:gd name="connsiteY3" fmla="*/ 1477735 h 2057400"/>
              <a:gd name="connsiteX4" fmla="*/ 2163536 w 2163536"/>
              <a:gd name="connsiteY4" fmla="*/ 205740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3536" h="2057400">
                <a:moveTo>
                  <a:pt x="0" y="0"/>
                </a:moveTo>
                <a:cubicBezTo>
                  <a:pt x="270102" y="25853"/>
                  <a:pt x="540204" y="51707"/>
                  <a:pt x="751115" y="122464"/>
                </a:cubicBezTo>
                <a:cubicBezTo>
                  <a:pt x="962026" y="193221"/>
                  <a:pt x="1115787" y="198665"/>
                  <a:pt x="1265465" y="424543"/>
                </a:cubicBezTo>
                <a:cubicBezTo>
                  <a:pt x="1415144" y="650422"/>
                  <a:pt x="1499508" y="1205592"/>
                  <a:pt x="1649186" y="1477735"/>
                </a:cubicBezTo>
                <a:cubicBezTo>
                  <a:pt x="1798864" y="1749878"/>
                  <a:pt x="1981200" y="1903639"/>
                  <a:pt x="2163536" y="205740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7258050" y="2702379"/>
            <a:ext cx="1951264" cy="775607"/>
          </a:xfrm>
          <a:custGeom>
            <a:avLst/>
            <a:gdLst>
              <a:gd name="connsiteX0" fmla="*/ 0 w 1951264"/>
              <a:gd name="connsiteY0" fmla="*/ 8164 h 775607"/>
              <a:gd name="connsiteX1" fmla="*/ 269421 w 1951264"/>
              <a:gd name="connsiteY1" fmla="*/ 16328 h 775607"/>
              <a:gd name="connsiteX2" fmla="*/ 775607 w 1951264"/>
              <a:gd name="connsiteY2" fmla="*/ 155121 h 775607"/>
              <a:gd name="connsiteX3" fmla="*/ 1673679 w 1951264"/>
              <a:gd name="connsiteY3" fmla="*/ 661307 h 775607"/>
              <a:gd name="connsiteX4" fmla="*/ 1951264 w 1951264"/>
              <a:gd name="connsiteY4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1264" h="775607">
                <a:moveTo>
                  <a:pt x="0" y="8164"/>
                </a:moveTo>
                <a:cubicBezTo>
                  <a:pt x="70076" y="-1"/>
                  <a:pt x="140153" y="-8165"/>
                  <a:pt x="269421" y="16328"/>
                </a:cubicBezTo>
                <a:cubicBezTo>
                  <a:pt x="398689" y="40821"/>
                  <a:pt x="541564" y="47625"/>
                  <a:pt x="775607" y="155121"/>
                </a:cubicBezTo>
                <a:cubicBezTo>
                  <a:pt x="1009650" y="262617"/>
                  <a:pt x="1477736" y="557893"/>
                  <a:pt x="1673679" y="661307"/>
                </a:cubicBezTo>
                <a:cubicBezTo>
                  <a:pt x="1869622" y="764721"/>
                  <a:pt x="1910443" y="770164"/>
                  <a:pt x="1951264" y="775607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>
            <a:off x="4196443" y="498021"/>
            <a:ext cx="2179864" cy="3690258"/>
          </a:xfrm>
          <a:custGeom>
            <a:avLst/>
            <a:gdLst>
              <a:gd name="connsiteX0" fmla="*/ 0 w 2179864"/>
              <a:gd name="connsiteY0" fmla="*/ 0 h 3690258"/>
              <a:gd name="connsiteX1" fmla="*/ 898071 w 2179864"/>
              <a:gd name="connsiteY1" fmla="*/ 1347108 h 3690258"/>
              <a:gd name="connsiteX2" fmla="*/ 2179864 w 2179864"/>
              <a:gd name="connsiteY2" fmla="*/ 3690258 h 369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9864" h="3690258">
                <a:moveTo>
                  <a:pt x="0" y="0"/>
                </a:moveTo>
                <a:cubicBezTo>
                  <a:pt x="267380" y="366032"/>
                  <a:pt x="534760" y="732065"/>
                  <a:pt x="898071" y="1347108"/>
                </a:cubicBezTo>
                <a:cubicBezTo>
                  <a:pt x="1261382" y="1962151"/>
                  <a:pt x="1720623" y="2826204"/>
                  <a:pt x="2179864" y="3690258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4237264" y="2277836"/>
            <a:ext cx="2147207" cy="2065564"/>
          </a:xfrm>
          <a:custGeom>
            <a:avLst/>
            <a:gdLst>
              <a:gd name="connsiteX0" fmla="*/ 0 w 2147207"/>
              <a:gd name="connsiteY0" fmla="*/ 0 h 2065564"/>
              <a:gd name="connsiteX1" fmla="*/ 710293 w 2147207"/>
              <a:gd name="connsiteY1" fmla="*/ 359228 h 2065564"/>
              <a:gd name="connsiteX2" fmla="*/ 1494065 w 2147207"/>
              <a:gd name="connsiteY2" fmla="*/ 1510393 h 2065564"/>
              <a:gd name="connsiteX3" fmla="*/ 2147207 w 2147207"/>
              <a:gd name="connsiteY3" fmla="*/ 2065564 h 206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7207" h="2065564">
                <a:moveTo>
                  <a:pt x="0" y="0"/>
                </a:moveTo>
                <a:cubicBezTo>
                  <a:pt x="230641" y="53748"/>
                  <a:pt x="461282" y="107496"/>
                  <a:pt x="710293" y="359228"/>
                </a:cubicBezTo>
                <a:cubicBezTo>
                  <a:pt x="959304" y="610960"/>
                  <a:pt x="1254579" y="1226004"/>
                  <a:pt x="1494065" y="1510393"/>
                </a:cubicBezTo>
                <a:cubicBezTo>
                  <a:pt x="1733551" y="1794782"/>
                  <a:pt x="1940379" y="1930173"/>
                  <a:pt x="2147207" y="206556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4245429" y="4506686"/>
            <a:ext cx="2163535" cy="236764"/>
          </a:xfrm>
          <a:custGeom>
            <a:avLst/>
            <a:gdLst>
              <a:gd name="connsiteX0" fmla="*/ 0 w 2163535"/>
              <a:gd name="connsiteY0" fmla="*/ 236764 h 236764"/>
              <a:gd name="connsiteX1" fmla="*/ 857250 w 2163535"/>
              <a:gd name="connsiteY1" fmla="*/ 187778 h 236764"/>
              <a:gd name="connsiteX2" fmla="*/ 1910442 w 2163535"/>
              <a:gd name="connsiteY2" fmla="*/ 106135 h 236764"/>
              <a:gd name="connsiteX3" fmla="*/ 2163535 w 2163535"/>
              <a:gd name="connsiteY3" fmla="*/ 0 h 236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535" h="236764">
                <a:moveTo>
                  <a:pt x="0" y="236764"/>
                </a:moveTo>
                <a:lnTo>
                  <a:pt x="857250" y="187778"/>
                </a:lnTo>
                <a:cubicBezTo>
                  <a:pt x="1175657" y="166007"/>
                  <a:pt x="1692728" y="137431"/>
                  <a:pt x="1910442" y="106135"/>
                </a:cubicBezTo>
                <a:cubicBezTo>
                  <a:pt x="2128156" y="74839"/>
                  <a:pt x="2145845" y="37419"/>
                  <a:pt x="216353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>
            <a:off x="7266214" y="3549554"/>
            <a:ext cx="1918607" cy="769353"/>
          </a:xfrm>
          <a:custGeom>
            <a:avLst/>
            <a:gdLst>
              <a:gd name="connsiteX0" fmla="*/ 0 w 1918607"/>
              <a:gd name="connsiteY0" fmla="*/ 769353 h 769353"/>
              <a:gd name="connsiteX1" fmla="*/ 1216479 w 1918607"/>
              <a:gd name="connsiteY1" fmla="*/ 393796 h 769353"/>
              <a:gd name="connsiteX2" fmla="*/ 1632857 w 1918607"/>
              <a:gd name="connsiteY2" fmla="*/ 34567 h 769353"/>
              <a:gd name="connsiteX3" fmla="*/ 1918607 w 1918607"/>
              <a:gd name="connsiteY3" fmla="*/ 34567 h 76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8607" h="769353">
                <a:moveTo>
                  <a:pt x="0" y="769353"/>
                </a:moveTo>
                <a:cubicBezTo>
                  <a:pt x="472168" y="642806"/>
                  <a:pt x="944336" y="516260"/>
                  <a:pt x="1216479" y="393796"/>
                </a:cubicBezTo>
                <a:cubicBezTo>
                  <a:pt x="1488622" y="271332"/>
                  <a:pt x="1515836" y="94438"/>
                  <a:pt x="1632857" y="34567"/>
                </a:cubicBezTo>
                <a:cubicBezTo>
                  <a:pt x="1749878" y="-25305"/>
                  <a:pt x="1834242" y="4631"/>
                  <a:pt x="1918607" y="3456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/>
        </p:nvSpPr>
        <p:spPr>
          <a:xfrm>
            <a:off x="4188279" y="498021"/>
            <a:ext cx="2228850" cy="4926518"/>
          </a:xfrm>
          <a:custGeom>
            <a:avLst/>
            <a:gdLst>
              <a:gd name="connsiteX0" fmla="*/ 0 w 2228850"/>
              <a:gd name="connsiteY0" fmla="*/ 0 h 4926518"/>
              <a:gd name="connsiteX1" fmla="*/ 1151164 w 2228850"/>
              <a:gd name="connsiteY1" fmla="*/ 3241222 h 4926518"/>
              <a:gd name="connsiteX2" fmla="*/ 1861457 w 2228850"/>
              <a:gd name="connsiteY2" fmla="*/ 4661808 h 4926518"/>
              <a:gd name="connsiteX3" fmla="*/ 2228850 w 2228850"/>
              <a:gd name="connsiteY3" fmla="*/ 4923065 h 492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8850" h="4926518">
                <a:moveTo>
                  <a:pt x="0" y="0"/>
                </a:moveTo>
                <a:cubicBezTo>
                  <a:pt x="420460" y="1232127"/>
                  <a:pt x="840921" y="2464254"/>
                  <a:pt x="1151164" y="3241222"/>
                </a:cubicBezTo>
                <a:cubicBezTo>
                  <a:pt x="1461407" y="4018190"/>
                  <a:pt x="1681843" y="4381501"/>
                  <a:pt x="1861457" y="4661808"/>
                </a:cubicBezTo>
                <a:cubicBezTo>
                  <a:pt x="2041071" y="4942115"/>
                  <a:pt x="2134960" y="4932590"/>
                  <a:pt x="2228850" y="492306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>
            <a:off x="4212771" y="2286000"/>
            <a:ext cx="2179865" cy="3233057"/>
          </a:xfrm>
          <a:custGeom>
            <a:avLst/>
            <a:gdLst>
              <a:gd name="connsiteX0" fmla="*/ 0 w 2179865"/>
              <a:gd name="connsiteY0" fmla="*/ 0 h 3233057"/>
              <a:gd name="connsiteX1" fmla="*/ 922565 w 2179865"/>
              <a:gd name="connsiteY1" fmla="*/ 1934936 h 3233057"/>
              <a:gd name="connsiteX2" fmla="*/ 1526722 w 2179865"/>
              <a:gd name="connsiteY2" fmla="*/ 2922814 h 3233057"/>
              <a:gd name="connsiteX3" fmla="*/ 2179865 w 2179865"/>
              <a:gd name="connsiteY3" fmla="*/ 3233057 h 3233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865" h="3233057">
                <a:moveTo>
                  <a:pt x="0" y="0"/>
                </a:moveTo>
                <a:cubicBezTo>
                  <a:pt x="334055" y="723900"/>
                  <a:pt x="668111" y="1447800"/>
                  <a:pt x="922565" y="1934936"/>
                </a:cubicBezTo>
                <a:cubicBezTo>
                  <a:pt x="1177019" y="2422072"/>
                  <a:pt x="1317172" y="2706461"/>
                  <a:pt x="1526722" y="2922814"/>
                </a:cubicBezTo>
                <a:cubicBezTo>
                  <a:pt x="1736272" y="3139167"/>
                  <a:pt x="1958068" y="3186112"/>
                  <a:pt x="2179865" y="323305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 22"/>
          <p:cNvSpPr/>
          <p:nvPr/>
        </p:nvSpPr>
        <p:spPr>
          <a:xfrm>
            <a:off x="4229100" y="4057650"/>
            <a:ext cx="2171700" cy="1559379"/>
          </a:xfrm>
          <a:custGeom>
            <a:avLst/>
            <a:gdLst>
              <a:gd name="connsiteX0" fmla="*/ 0 w 2171700"/>
              <a:gd name="connsiteY0" fmla="*/ 0 h 1559379"/>
              <a:gd name="connsiteX1" fmla="*/ 1102179 w 2171700"/>
              <a:gd name="connsiteY1" fmla="*/ 1167493 h 1559379"/>
              <a:gd name="connsiteX2" fmla="*/ 1845129 w 2171700"/>
              <a:gd name="connsiteY2" fmla="*/ 1485900 h 1559379"/>
              <a:gd name="connsiteX3" fmla="*/ 2171700 w 2171700"/>
              <a:gd name="connsiteY3" fmla="*/ 1559379 h 155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1559379">
                <a:moveTo>
                  <a:pt x="0" y="0"/>
                </a:moveTo>
                <a:cubicBezTo>
                  <a:pt x="397328" y="459921"/>
                  <a:pt x="794657" y="919843"/>
                  <a:pt x="1102179" y="1167493"/>
                </a:cubicBezTo>
                <a:cubicBezTo>
                  <a:pt x="1409701" y="1415143"/>
                  <a:pt x="1666876" y="1420586"/>
                  <a:pt x="1845129" y="1485900"/>
                </a:cubicBezTo>
                <a:cubicBezTo>
                  <a:pt x="2023382" y="1551214"/>
                  <a:pt x="2097541" y="1555296"/>
                  <a:pt x="2171700" y="155937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4261757" y="5731329"/>
            <a:ext cx="2163536" cy="751114"/>
          </a:xfrm>
          <a:custGeom>
            <a:avLst/>
            <a:gdLst>
              <a:gd name="connsiteX0" fmla="*/ 0 w 2163536"/>
              <a:gd name="connsiteY0" fmla="*/ 751114 h 751114"/>
              <a:gd name="connsiteX1" fmla="*/ 1134836 w 2163536"/>
              <a:gd name="connsiteY1" fmla="*/ 375557 h 751114"/>
              <a:gd name="connsiteX2" fmla="*/ 1796143 w 2163536"/>
              <a:gd name="connsiteY2" fmla="*/ 122464 h 751114"/>
              <a:gd name="connsiteX3" fmla="*/ 2163536 w 2163536"/>
              <a:gd name="connsiteY3" fmla="*/ 0 h 75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536" h="751114">
                <a:moveTo>
                  <a:pt x="0" y="751114"/>
                </a:moveTo>
                <a:lnTo>
                  <a:pt x="1134836" y="375557"/>
                </a:lnTo>
                <a:cubicBezTo>
                  <a:pt x="1434193" y="270782"/>
                  <a:pt x="1624693" y="185057"/>
                  <a:pt x="1796143" y="122464"/>
                </a:cubicBezTo>
                <a:cubicBezTo>
                  <a:pt x="1967593" y="59871"/>
                  <a:pt x="2065564" y="29935"/>
                  <a:pt x="2163536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7274379" y="3690257"/>
            <a:ext cx="1926771" cy="1885950"/>
          </a:xfrm>
          <a:custGeom>
            <a:avLst/>
            <a:gdLst>
              <a:gd name="connsiteX0" fmla="*/ 0 w 1926771"/>
              <a:gd name="connsiteY0" fmla="*/ 1885950 h 1885950"/>
              <a:gd name="connsiteX1" fmla="*/ 1012371 w 1926771"/>
              <a:gd name="connsiteY1" fmla="*/ 1289957 h 1885950"/>
              <a:gd name="connsiteX2" fmla="*/ 1404257 w 1926771"/>
              <a:gd name="connsiteY2" fmla="*/ 302079 h 1885950"/>
              <a:gd name="connsiteX3" fmla="*/ 1926771 w 1926771"/>
              <a:gd name="connsiteY3" fmla="*/ 0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6771" h="1885950">
                <a:moveTo>
                  <a:pt x="0" y="1885950"/>
                </a:moveTo>
                <a:cubicBezTo>
                  <a:pt x="389164" y="1719942"/>
                  <a:pt x="778328" y="1553935"/>
                  <a:pt x="1012371" y="1289957"/>
                </a:cubicBezTo>
                <a:cubicBezTo>
                  <a:pt x="1246414" y="1025979"/>
                  <a:pt x="1251857" y="517072"/>
                  <a:pt x="1404257" y="302079"/>
                </a:cubicBezTo>
                <a:cubicBezTo>
                  <a:pt x="1556657" y="87086"/>
                  <a:pt x="1741714" y="43543"/>
                  <a:pt x="192677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359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9626" y="2942255"/>
            <a:ext cx="107997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3600" b="1" dirty="0">
                <a:solidFill>
                  <a:srgbClr val="C00000"/>
                </a:solidFill>
              </a:rPr>
              <a:t>(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 &lt; B</a:t>
            </a:r>
            <a:r>
              <a:rPr lang="en-US" altLang="zh-TW" sz="3600" b="1" dirty="0">
                <a:solidFill>
                  <a:srgbClr val="C00000"/>
                </a:solidFill>
              </a:rPr>
              <a:t>) =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3600" b="1" dirty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36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3600" b="1" dirty="0">
                <a:solidFill>
                  <a:srgbClr val="C00000"/>
                </a:solidFill>
              </a:rPr>
              <a:t>A</a:t>
            </a:r>
            <a:r>
              <a:rPr lang="en-US" altLang="zh-TW" sz="3600" b="1" baseline="-25000" dirty="0">
                <a:solidFill>
                  <a:srgbClr val="C00000"/>
                </a:solidFill>
              </a:rPr>
              <a:t>0</a:t>
            </a:r>
            <a:r>
              <a:rPr lang="en-US" altLang="zh-TW" sz="3600" b="1" dirty="0">
                <a:solidFill>
                  <a:srgbClr val="C00000"/>
                </a:solidFill>
              </a:rPr>
              <a:t>'B</a:t>
            </a:r>
            <a:r>
              <a:rPr lang="en-US" altLang="zh-TW" sz="3600" b="1" baseline="-25000" dirty="0">
                <a:solidFill>
                  <a:srgbClr val="C00000"/>
                </a:solidFill>
              </a:rPr>
              <a:t>0</a:t>
            </a:r>
            <a:endParaRPr lang="en-US" altLang="zh-TW" sz="36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70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57299" y="329293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4620947" y="54037"/>
            <a:ext cx="7414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&lt;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r>
              <a:rPr lang="en-US" altLang="zh-TW" sz="2400" b="1" dirty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endParaRPr lang="en-US" altLang="zh-TW" sz="24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31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57299" y="329293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386825" y="5403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&lt;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416309" y="1797893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16309" y="359364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16309" y="5389399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20947" y="54037"/>
            <a:ext cx="7414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&lt;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r>
              <a:rPr lang="en-US" altLang="zh-TW" sz="2400" b="1" dirty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endParaRPr lang="en-US" altLang="zh-TW" sz="24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72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57299" y="329293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386825" y="5403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&lt;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416309" y="1797893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16309" y="359364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16309" y="5389399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20947" y="54037"/>
            <a:ext cx="7414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&lt;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r>
              <a:rPr lang="en-US" altLang="zh-TW" sz="2400" b="1" dirty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endParaRPr lang="en-US" altLang="zh-TW" sz="2400" b="1" baseline="-25000" dirty="0">
              <a:solidFill>
                <a:srgbClr val="C00000"/>
              </a:solidFill>
            </a:endParaRPr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86" t="39251" b="51990"/>
          <a:stretch/>
        </p:blipFill>
        <p:spPr bwMode="auto">
          <a:xfrm>
            <a:off x="8923564" y="3455822"/>
            <a:ext cx="1657350" cy="644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089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57299" y="329293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386825" y="5403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&lt;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416309" y="1797893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16309" y="359364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16309" y="5389399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20947" y="54037"/>
            <a:ext cx="7414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&lt;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r>
              <a:rPr lang="en-US" altLang="zh-TW" sz="2400" b="1" dirty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endParaRPr lang="en-US" altLang="zh-TW" sz="2400" b="1" baseline="-25000" dirty="0">
              <a:solidFill>
                <a:srgbClr val="C00000"/>
              </a:solidFill>
            </a:endParaRPr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86" t="39251" b="51990"/>
          <a:stretch/>
        </p:blipFill>
        <p:spPr bwMode="auto">
          <a:xfrm>
            <a:off x="8923564" y="3455822"/>
            <a:ext cx="1657350" cy="644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4229100" y="407755"/>
            <a:ext cx="4727121" cy="3209131"/>
          </a:xfrm>
          <a:custGeom>
            <a:avLst/>
            <a:gdLst>
              <a:gd name="connsiteX0" fmla="*/ 0 w 4727121"/>
              <a:gd name="connsiteY0" fmla="*/ 459 h 3209131"/>
              <a:gd name="connsiteX1" fmla="*/ 1494064 w 4727121"/>
              <a:gd name="connsiteY1" fmla="*/ 155581 h 3209131"/>
              <a:gd name="connsiteX2" fmla="*/ 3020786 w 4727121"/>
              <a:gd name="connsiteY2" fmla="*/ 955681 h 3209131"/>
              <a:gd name="connsiteX3" fmla="*/ 4049486 w 4727121"/>
              <a:gd name="connsiteY3" fmla="*/ 2564045 h 3209131"/>
              <a:gd name="connsiteX4" fmla="*/ 4465864 w 4727121"/>
              <a:gd name="connsiteY4" fmla="*/ 3102888 h 3209131"/>
              <a:gd name="connsiteX5" fmla="*/ 4727121 w 4727121"/>
              <a:gd name="connsiteY5" fmla="*/ 3209024 h 320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7121" h="3209131">
                <a:moveTo>
                  <a:pt x="0" y="459"/>
                </a:moveTo>
                <a:cubicBezTo>
                  <a:pt x="495300" y="-1582"/>
                  <a:pt x="990600" y="-3623"/>
                  <a:pt x="1494064" y="155581"/>
                </a:cubicBezTo>
                <a:cubicBezTo>
                  <a:pt x="1997528" y="314785"/>
                  <a:pt x="2594882" y="554270"/>
                  <a:pt x="3020786" y="955681"/>
                </a:cubicBezTo>
                <a:cubicBezTo>
                  <a:pt x="3446690" y="1357092"/>
                  <a:pt x="3808640" y="2206177"/>
                  <a:pt x="4049486" y="2564045"/>
                </a:cubicBezTo>
                <a:cubicBezTo>
                  <a:pt x="4290332" y="2921913"/>
                  <a:pt x="4352925" y="2995392"/>
                  <a:pt x="4465864" y="3102888"/>
                </a:cubicBezTo>
                <a:cubicBezTo>
                  <a:pt x="4578803" y="3210385"/>
                  <a:pt x="4652962" y="3209704"/>
                  <a:pt x="4727121" y="320902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056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57299" y="329293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386825" y="5403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&lt;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416309" y="1797893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16309" y="359364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16309" y="5389399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20947" y="54037"/>
            <a:ext cx="7414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&lt;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r>
              <a:rPr lang="en-US" altLang="zh-TW" sz="2400" b="1" dirty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endParaRPr lang="en-US" altLang="zh-TW" sz="2400" b="1" baseline="-25000" dirty="0">
              <a:solidFill>
                <a:srgbClr val="C00000"/>
              </a:solidFill>
            </a:endParaRPr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86" t="39251" b="51990"/>
          <a:stretch/>
        </p:blipFill>
        <p:spPr bwMode="auto">
          <a:xfrm>
            <a:off x="8923564" y="3455822"/>
            <a:ext cx="1657350" cy="644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手繪多邊形 2"/>
          <p:cNvSpPr/>
          <p:nvPr/>
        </p:nvSpPr>
        <p:spPr>
          <a:xfrm>
            <a:off x="4204607" y="824593"/>
            <a:ext cx="2204357" cy="1744690"/>
          </a:xfrm>
          <a:custGeom>
            <a:avLst/>
            <a:gdLst>
              <a:gd name="connsiteX0" fmla="*/ 0 w 2204357"/>
              <a:gd name="connsiteY0" fmla="*/ 0 h 1744690"/>
              <a:gd name="connsiteX1" fmla="*/ 906236 w 2204357"/>
              <a:gd name="connsiteY1" fmla="*/ 81643 h 1744690"/>
              <a:gd name="connsiteX2" fmla="*/ 1183822 w 2204357"/>
              <a:gd name="connsiteY2" fmla="*/ 449036 h 1744690"/>
              <a:gd name="connsiteX3" fmla="*/ 1681843 w 2204357"/>
              <a:gd name="connsiteY3" fmla="*/ 1249136 h 1744690"/>
              <a:gd name="connsiteX4" fmla="*/ 1992086 w 2204357"/>
              <a:gd name="connsiteY4" fmla="*/ 1690007 h 1744690"/>
              <a:gd name="connsiteX5" fmla="*/ 2204357 w 2204357"/>
              <a:gd name="connsiteY5" fmla="*/ 1722664 h 174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4357" h="1744690">
                <a:moveTo>
                  <a:pt x="0" y="0"/>
                </a:moveTo>
                <a:cubicBezTo>
                  <a:pt x="354466" y="3402"/>
                  <a:pt x="708932" y="6804"/>
                  <a:pt x="906236" y="81643"/>
                </a:cubicBezTo>
                <a:cubicBezTo>
                  <a:pt x="1103540" y="156482"/>
                  <a:pt x="1054554" y="254454"/>
                  <a:pt x="1183822" y="449036"/>
                </a:cubicBezTo>
                <a:cubicBezTo>
                  <a:pt x="1313090" y="643618"/>
                  <a:pt x="1547132" y="1042308"/>
                  <a:pt x="1681843" y="1249136"/>
                </a:cubicBezTo>
                <a:cubicBezTo>
                  <a:pt x="1816554" y="1455964"/>
                  <a:pt x="1905000" y="1611086"/>
                  <a:pt x="1992086" y="1690007"/>
                </a:cubicBezTo>
                <a:cubicBezTo>
                  <a:pt x="2079172" y="1768928"/>
                  <a:pt x="2141764" y="1745796"/>
                  <a:pt x="2204357" y="172266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7274379" y="2694214"/>
            <a:ext cx="1681842" cy="1028700"/>
          </a:xfrm>
          <a:custGeom>
            <a:avLst/>
            <a:gdLst>
              <a:gd name="connsiteX0" fmla="*/ 0 w 1681842"/>
              <a:gd name="connsiteY0" fmla="*/ 0 h 1028700"/>
              <a:gd name="connsiteX1" fmla="*/ 538842 w 1681842"/>
              <a:gd name="connsiteY1" fmla="*/ 187779 h 1028700"/>
              <a:gd name="connsiteX2" fmla="*/ 1134835 w 1681842"/>
              <a:gd name="connsiteY2" fmla="*/ 832757 h 1028700"/>
              <a:gd name="connsiteX3" fmla="*/ 1681842 w 1681842"/>
              <a:gd name="connsiteY3" fmla="*/ 102870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842" h="1028700">
                <a:moveTo>
                  <a:pt x="0" y="0"/>
                </a:moveTo>
                <a:cubicBezTo>
                  <a:pt x="174851" y="24493"/>
                  <a:pt x="349703" y="48986"/>
                  <a:pt x="538842" y="187779"/>
                </a:cubicBezTo>
                <a:cubicBezTo>
                  <a:pt x="727981" y="326572"/>
                  <a:pt x="944335" y="692604"/>
                  <a:pt x="1134835" y="832757"/>
                </a:cubicBezTo>
                <a:cubicBezTo>
                  <a:pt x="1325335" y="972910"/>
                  <a:pt x="1503588" y="1000805"/>
                  <a:pt x="1681842" y="10287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4212771" y="2179864"/>
            <a:ext cx="2204358" cy="685800"/>
          </a:xfrm>
          <a:custGeom>
            <a:avLst/>
            <a:gdLst>
              <a:gd name="connsiteX0" fmla="*/ 0 w 2204358"/>
              <a:gd name="connsiteY0" fmla="*/ 0 h 685800"/>
              <a:gd name="connsiteX1" fmla="*/ 579665 w 2204358"/>
              <a:gd name="connsiteY1" fmla="*/ 530679 h 685800"/>
              <a:gd name="connsiteX2" fmla="*/ 2204358 w 2204358"/>
              <a:gd name="connsiteY2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4358" h="685800">
                <a:moveTo>
                  <a:pt x="0" y="0"/>
                </a:moveTo>
                <a:cubicBezTo>
                  <a:pt x="106136" y="208189"/>
                  <a:pt x="212272" y="416379"/>
                  <a:pt x="579665" y="530679"/>
                </a:cubicBezTo>
                <a:cubicBezTo>
                  <a:pt x="947058" y="644979"/>
                  <a:pt x="1575708" y="665389"/>
                  <a:pt x="2204358" y="6858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56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57299" y="329293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386825" y="5403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&lt;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416309" y="1797893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16309" y="359364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16309" y="5389399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20947" y="54037"/>
            <a:ext cx="7414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&lt;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r>
              <a:rPr lang="en-US" altLang="zh-TW" sz="2400" b="1" dirty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endParaRPr lang="en-US" altLang="zh-TW" sz="2400" b="1" baseline="-25000" dirty="0">
              <a:solidFill>
                <a:srgbClr val="C00000"/>
              </a:solidFill>
            </a:endParaRPr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86" t="39251" b="51990"/>
          <a:stretch/>
        </p:blipFill>
        <p:spPr bwMode="auto">
          <a:xfrm>
            <a:off x="8923564" y="3455822"/>
            <a:ext cx="1657350" cy="644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手繪多邊形 18"/>
          <p:cNvSpPr/>
          <p:nvPr/>
        </p:nvSpPr>
        <p:spPr>
          <a:xfrm>
            <a:off x="4204607" y="816429"/>
            <a:ext cx="2212522" cy="3371850"/>
          </a:xfrm>
          <a:custGeom>
            <a:avLst/>
            <a:gdLst>
              <a:gd name="connsiteX0" fmla="*/ 0 w 2212522"/>
              <a:gd name="connsiteY0" fmla="*/ 0 h 3371850"/>
              <a:gd name="connsiteX1" fmla="*/ 955222 w 2212522"/>
              <a:gd name="connsiteY1" fmla="*/ 816428 h 3371850"/>
              <a:gd name="connsiteX2" fmla="*/ 1428750 w 2212522"/>
              <a:gd name="connsiteY2" fmla="*/ 2522764 h 3371850"/>
              <a:gd name="connsiteX3" fmla="*/ 1894114 w 2212522"/>
              <a:gd name="connsiteY3" fmla="*/ 3224892 h 3371850"/>
              <a:gd name="connsiteX4" fmla="*/ 2212522 w 2212522"/>
              <a:gd name="connsiteY4" fmla="*/ 3371850 h 3371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2522" h="3371850">
                <a:moveTo>
                  <a:pt x="0" y="0"/>
                </a:moveTo>
                <a:cubicBezTo>
                  <a:pt x="358548" y="197983"/>
                  <a:pt x="717097" y="395967"/>
                  <a:pt x="955222" y="816428"/>
                </a:cubicBezTo>
                <a:cubicBezTo>
                  <a:pt x="1193347" y="1236889"/>
                  <a:pt x="1272268" y="2121353"/>
                  <a:pt x="1428750" y="2522764"/>
                </a:cubicBezTo>
                <a:cubicBezTo>
                  <a:pt x="1585232" y="2924175"/>
                  <a:pt x="1763485" y="3083378"/>
                  <a:pt x="1894114" y="3224892"/>
                </a:cubicBezTo>
                <a:cubicBezTo>
                  <a:pt x="2024743" y="3366406"/>
                  <a:pt x="2118632" y="3369128"/>
                  <a:pt x="2212522" y="33718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/>
        </p:nvSpPr>
        <p:spPr>
          <a:xfrm>
            <a:off x="4204607" y="2596243"/>
            <a:ext cx="2220686" cy="1738993"/>
          </a:xfrm>
          <a:custGeom>
            <a:avLst/>
            <a:gdLst>
              <a:gd name="connsiteX0" fmla="*/ 0 w 2220686"/>
              <a:gd name="connsiteY0" fmla="*/ 0 h 1738993"/>
              <a:gd name="connsiteX1" fmla="*/ 530679 w 2220686"/>
              <a:gd name="connsiteY1" fmla="*/ 653143 h 1738993"/>
              <a:gd name="connsiteX2" fmla="*/ 1273629 w 2220686"/>
              <a:gd name="connsiteY2" fmla="*/ 1371600 h 1738993"/>
              <a:gd name="connsiteX3" fmla="*/ 2220686 w 2220686"/>
              <a:gd name="connsiteY3" fmla="*/ 1738993 h 1738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0686" h="1738993">
                <a:moveTo>
                  <a:pt x="0" y="0"/>
                </a:moveTo>
                <a:cubicBezTo>
                  <a:pt x="159204" y="212271"/>
                  <a:pt x="318408" y="424543"/>
                  <a:pt x="530679" y="653143"/>
                </a:cubicBezTo>
                <a:cubicBezTo>
                  <a:pt x="742950" y="881743"/>
                  <a:pt x="991961" y="1190625"/>
                  <a:pt x="1273629" y="1371600"/>
                </a:cubicBezTo>
                <a:cubicBezTo>
                  <a:pt x="1555297" y="1552575"/>
                  <a:pt x="1887991" y="1645784"/>
                  <a:pt x="2220686" y="1738993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手繪多邊形 20"/>
          <p:cNvSpPr/>
          <p:nvPr/>
        </p:nvSpPr>
        <p:spPr>
          <a:xfrm>
            <a:off x="4229100" y="3967843"/>
            <a:ext cx="2204357" cy="622608"/>
          </a:xfrm>
          <a:custGeom>
            <a:avLst/>
            <a:gdLst>
              <a:gd name="connsiteX0" fmla="*/ 0 w 2204357"/>
              <a:gd name="connsiteY0" fmla="*/ 0 h 622608"/>
              <a:gd name="connsiteX1" fmla="*/ 702129 w 2204357"/>
              <a:gd name="connsiteY1" fmla="*/ 106136 h 622608"/>
              <a:gd name="connsiteX2" fmla="*/ 1534886 w 2204357"/>
              <a:gd name="connsiteY2" fmla="*/ 587828 h 622608"/>
              <a:gd name="connsiteX3" fmla="*/ 2204357 w 2204357"/>
              <a:gd name="connsiteY3" fmla="*/ 547007 h 62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4357" h="622608">
                <a:moveTo>
                  <a:pt x="0" y="0"/>
                </a:moveTo>
                <a:cubicBezTo>
                  <a:pt x="223157" y="4082"/>
                  <a:pt x="446315" y="8165"/>
                  <a:pt x="702129" y="106136"/>
                </a:cubicBezTo>
                <a:cubicBezTo>
                  <a:pt x="957943" y="204107"/>
                  <a:pt x="1284515" y="514350"/>
                  <a:pt x="1534886" y="587828"/>
                </a:cubicBezTo>
                <a:cubicBezTo>
                  <a:pt x="1785257" y="661306"/>
                  <a:pt x="1994807" y="604156"/>
                  <a:pt x="2204357" y="54700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>
            <a:off x="7249886" y="3795747"/>
            <a:ext cx="1673678" cy="531324"/>
          </a:xfrm>
          <a:custGeom>
            <a:avLst/>
            <a:gdLst>
              <a:gd name="connsiteX0" fmla="*/ 0 w 1673678"/>
              <a:gd name="connsiteY0" fmla="*/ 531324 h 531324"/>
              <a:gd name="connsiteX1" fmla="*/ 1126671 w 1673678"/>
              <a:gd name="connsiteY1" fmla="*/ 286396 h 531324"/>
              <a:gd name="connsiteX2" fmla="*/ 1371600 w 1673678"/>
              <a:gd name="connsiteY2" fmla="*/ 25139 h 531324"/>
              <a:gd name="connsiteX3" fmla="*/ 1673678 w 1673678"/>
              <a:gd name="connsiteY3" fmla="*/ 25139 h 53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3678" h="531324">
                <a:moveTo>
                  <a:pt x="0" y="531324"/>
                </a:moveTo>
                <a:cubicBezTo>
                  <a:pt x="449035" y="451042"/>
                  <a:pt x="898071" y="370760"/>
                  <a:pt x="1126671" y="286396"/>
                </a:cubicBezTo>
                <a:cubicBezTo>
                  <a:pt x="1355271" y="202032"/>
                  <a:pt x="1280432" y="68682"/>
                  <a:pt x="1371600" y="25139"/>
                </a:cubicBezTo>
                <a:cubicBezTo>
                  <a:pt x="1462768" y="-18404"/>
                  <a:pt x="1568223" y="3367"/>
                  <a:pt x="1673678" y="2513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00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57299" y="329293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386825" y="5403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&lt;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416309" y="1797893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16309" y="359364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16309" y="5389399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20947" y="54037"/>
            <a:ext cx="7414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&lt;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r>
              <a:rPr lang="en-US" altLang="zh-TW" sz="2400" b="1" dirty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endParaRPr lang="en-US" altLang="zh-TW" sz="2400" b="1" baseline="-25000" dirty="0">
              <a:solidFill>
                <a:srgbClr val="C00000"/>
              </a:solidFill>
            </a:endParaRPr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86" t="39251" b="51990"/>
          <a:stretch/>
        </p:blipFill>
        <p:spPr bwMode="auto">
          <a:xfrm>
            <a:off x="8923564" y="3455822"/>
            <a:ext cx="1657350" cy="644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手繪多邊形 22"/>
          <p:cNvSpPr/>
          <p:nvPr/>
        </p:nvSpPr>
        <p:spPr>
          <a:xfrm>
            <a:off x="4196443" y="816429"/>
            <a:ext cx="2204357" cy="4596492"/>
          </a:xfrm>
          <a:custGeom>
            <a:avLst/>
            <a:gdLst>
              <a:gd name="connsiteX0" fmla="*/ 0 w 2204357"/>
              <a:gd name="connsiteY0" fmla="*/ 0 h 4596492"/>
              <a:gd name="connsiteX1" fmla="*/ 1094014 w 2204357"/>
              <a:gd name="connsiteY1" fmla="*/ 2424792 h 4596492"/>
              <a:gd name="connsiteX2" fmla="*/ 1771650 w 2204357"/>
              <a:gd name="connsiteY2" fmla="*/ 4163785 h 4596492"/>
              <a:gd name="connsiteX3" fmla="*/ 2204357 w 2204357"/>
              <a:gd name="connsiteY3" fmla="*/ 4596492 h 459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4357" h="4596492">
                <a:moveTo>
                  <a:pt x="0" y="0"/>
                </a:moveTo>
                <a:cubicBezTo>
                  <a:pt x="399369" y="865414"/>
                  <a:pt x="798739" y="1730828"/>
                  <a:pt x="1094014" y="2424792"/>
                </a:cubicBezTo>
                <a:cubicBezTo>
                  <a:pt x="1389289" y="3118756"/>
                  <a:pt x="1586593" y="3801835"/>
                  <a:pt x="1771650" y="4163785"/>
                </a:cubicBezTo>
                <a:cubicBezTo>
                  <a:pt x="1956707" y="4525735"/>
                  <a:pt x="2080532" y="4561113"/>
                  <a:pt x="2204357" y="459649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4220936" y="2604407"/>
            <a:ext cx="2188028" cy="2914650"/>
          </a:xfrm>
          <a:custGeom>
            <a:avLst/>
            <a:gdLst>
              <a:gd name="connsiteX0" fmla="*/ 0 w 2188028"/>
              <a:gd name="connsiteY0" fmla="*/ 0 h 2914650"/>
              <a:gd name="connsiteX1" fmla="*/ 987878 w 2188028"/>
              <a:gd name="connsiteY1" fmla="*/ 1992086 h 2914650"/>
              <a:gd name="connsiteX2" fmla="*/ 1657350 w 2188028"/>
              <a:gd name="connsiteY2" fmla="*/ 2710543 h 2914650"/>
              <a:gd name="connsiteX3" fmla="*/ 2188028 w 2188028"/>
              <a:gd name="connsiteY3" fmla="*/ 291465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8028" h="2914650">
                <a:moveTo>
                  <a:pt x="0" y="0"/>
                </a:moveTo>
                <a:cubicBezTo>
                  <a:pt x="355826" y="770164"/>
                  <a:pt x="711653" y="1540329"/>
                  <a:pt x="987878" y="1992086"/>
                </a:cubicBezTo>
                <a:cubicBezTo>
                  <a:pt x="1264103" y="2443843"/>
                  <a:pt x="1457325" y="2556782"/>
                  <a:pt x="1657350" y="2710543"/>
                </a:cubicBezTo>
                <a:cubicBezTo>
                  <a:pt x="1857375" y="2864304"/>
                  <a:pt x="2022701" y="2889477"/>
                  <a:pt x="2188028" y="29146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手繪多邊形 25"/>
          <p:cNvSpPr/>
          <p:nvPr/>
        </p:nvSpPr>
        <p:spPr>
          <a:xfrm>
            <a:off x="4220936" y="4384221"/>
            <a:ext cx="2204357" cy="1240972"/>
          </a:xfrm>
          <a:custGeom>
            <a:avLst/>
            <a:gdLst>
              <a:gd name="connsiteX0" fmla="*/ 0 w 2204357"/>
              <a:gd name="connsiteY0" fmla="*/ 0 h 1240972"/>
              <a:gd name="connsiteX1" fmla="*/ 212271 w 2204357"/>
              <a:gd name="connsiteY1" fmla="*/ 179615 h 1240972"/>
              <a:gd name="connsiteX2" fmla="*/ 1216478 w 2204357"/>
              <a:gd name="connsiteY2" fmla="*/ 1053193 h 1240972"/>
              <a:gd name="connsiteX3" fmla="*/ 2204357 w 2204357"/>
              <a:gd name="connsiteY3" fmla="*/ 1240972 h 124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4357" h="1240972">
                <a:moveTo>
                  <a:pt x="0" y="0"/>
                </a:moveTo>
                <a:cubicBezTo>
                  <a:pt x="4762" y="2041"/>
                  <a:pt x="212271" y="179615"/>
                  <a:pt x="212271" y="179615"/>
                </a:cubicBezTo>
                <a:cubicBezTo>
                  <a:pt x="415017" y="355147"/>
                  <a:pt x="884464" y="876300"/>
                  <a:pt x="1216478" y="1053193"/>
                </a:cubicBezTo>
                <a:cubicBezTo>
                  <a:pt x="1548492" y="1230086"/>
                  <a:pt x="1876424" y="1235529"/>
                  <a:pt x="2204357" y="124097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手繪多邊形 26"/>
          <p:cNvSpPr/>
          <p:nvPr/>
        </p:nvSpPr>
        <p:spPr>
          <a:xfrm>
            <a:off x="4220936" y="5723164"/>
            <a:ext cx="2188028" cy="335341"/>
          </a:xfrm>
          <a:custGeom>
            <a:avLst/>
            <a:gdLst>
              <a:gd name="connsiteX0" fmla="*/ 0 w 2188028"/>
              <a:gd name="connsiteY0" fmla="*/ 40822 h 335341"/>
              <a:gd name="connsiteX1" fmla="*/ 1020535 w 2188028"/>
              <a:gd name="connsiteY1" fmla="*/ 334736 h 335341"/>
              <a:gd name="connsiteX2" fmla="*/ 1730828 w 2188028"/>
              <a:gd name="connsiteY2" fmla="*/ 114300 h 335341"/>
              <a:gd name="connsiteX3" fmla="*/ 2188028 w 2188028"/>
              <a:gd name="connsiteY3" fmla="*/ 0 h 335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8028" h="335341">
                <a:moveTo>
                  <a:pt x="0" y="40822"/>
                </a:moveTo>
                <a:cubicBezTo>
                  <a:pt x="366032" y="181656"/>
                  <a:pt x="732064" y="322490"/>
                  <a:pt x="1020535" y="334736"/>
                </a:cubicBezTo>
                <a:cubicBezTo>
                  <a:pt x="1309006" y="346982"/>
                  <a:pt x="1536246" y="170089"/>
                  <a:pt x="1730828" y="114300"/>
                </a:cubicBezTo>
                <a:cubicBezTo>
                  <a:pt x="1925410" y="58511"/>
                  <a:pt x="2056719" y="29255"/>
                  <a:pt x="2188028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手繪多邊形 27"/>
          <p:cNvSpPr/>
          <p:nvPr/>
        </p:nvSpPr>
        <p:spPr>
          <a:xfrm>
            <a:off x="7241721" y="3927021"/>
            <a:ext cx="1665515" cy="1695929"/>
          </a:xfrm>
          <a:custGeom>
            <a:avLst/>
            <a:gdLst>
              <a:gd name="connsiteX0" fmla="*/ 0 w 1665515"/>
              <a:gd name="connsiteY0" fmla="*/ 1649186 h 1695929"/>
              <a:gd name="connsiteX1" fmla="*/ 996043 w 1665515"/>
              <a:gd name="connsiteY1" fmla="*/ 1551215 h 1695929"/>
              <a:gd name="connsiteX2" fmla="*/ 1273629 w 1665515"/>
              <a:gd name="connsiteY2" fmla="*/ 440872 h 1695929"/>
              <a:gd name="connsiteX3" fmla="*/ 1665515 w 1665515"/>
              <a:gd name="connsiteY3" fmla="*/ 0 h 1695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5515" h="1695929">
                <a:moveTo>
                  <a:pt x="0" y="1649186"/>
                </a:moveTo>
                <a:cubicBezTo>
                  <a:pt x="391885" y="1700893"/>
                  <a:pt x="783771" y="1752601"/>
                  <a:pt x="996043" y="1551215"/>
                </a:cubicBezTo>
                <a:cubicBezTo>
                  <a:pt x="1208315" y="1349829"/>
                  <a:pt x="1162050" y="699408"/>
                  <a:pt x="1273629" y="440872"/>
                </a:cubicBezTo>
                <a:cubicBezTo>
                  <a:pt x="1385208" y="182336"/>
                  <a:pt x="1525361" y="91168"/>
                  <a:pt x="166551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96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57299" y="329293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386825" y="5403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&lt;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3416309" y="1797893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16309" y="359364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416309" y="5389399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&lt;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20947" y="54037"/>
            <a:ext cx="74142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&lt;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>
                <a:solidFill>
                  <a:srgbClr val="C00000"/>
                </a:solidFill>
              </a:rPr>
              <a:t>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r>
              <a:rPr lang="en-US" altLang="zh-TW" sz="2400" b="1" dirty="0">
                <a:solidFill>
                  <a:srgbClr val="C00000"/>
                </a:solidFill>
              </a:rPr>
              <a:t>'B</a:t>
            </a:r>
            <a:r>
              <a:rPr lang="en-US" altLang="zh-TW" sz="2400" b="1" baseline="-25000" dirty="0">
                <a:solidFill>
                  <a:srgbClr val="C00000"/>
                </a:solidFill>
              </a:rPr>
              <a:t>0</a:t>
            </a:r>
            <a:endParaRPr lang="en-US" altLang="zh-TW" sz="2400" b="1" baseline="-25000" dirty="0">
              <a:solidFill>
                <a:srgbClr val="C00000"/>
              </a:solidFill>
            </a:endParaRPr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86" t="39251" b="51990"/>
          <a:stretch/>
        </p:blipFill>
        <p:spPr bwMode="auto">
          <a:xfrm>
            <a:off x="8923564" y="3455822"/>
            <a:ext cx="1657350" cy="644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手繪多邊形 1"/>
          <p:cNvSpPr/>
          <p:nvPr/>
        </p:nvSpPr>
        <p:spPr>
          <a:xfrm>
            <a:off x="4229100" y="407755"/>
            <a:ext cx="4727121" cy="3209131"/>
          </a:xfrm>
          <a:custGeom>
            <a:avLst/>
            <a:gdLst>
              <a:gd name="connsiteX0" fmla="*/ 0 w 4727121"/>
              <a:gd name="connsiteY0" fmla="*/ 459 h 3209131"/>
              <a:gd name="connsiteX1" fmla="*/ 1494064 w 4727121"/>
              <a:gd name="connsiteY1" fmla="*/ 155581 h 3209131"/>
              <a:gd name="connsiteX2" fmla="*/ 3020786 w 4727121"/>
              <a:gd name="connsiteY2" fmla="*/ 955681 h 3209131"/>
              <a:gd name="connsiteX3" fmla="*/ 4049486 w 4727121"/>
              <a:gd name="connsiteY3" fmla="*/ 2564045 h 3209131"/>
              <a:gd name="connsiteX4" fmla="*/ 4465864 w 4727121"/>
              <a:gd name="connsiteY4" fmla="*/ 3102888 h 3209131"/>
              <a:gd name="connsiteX5" fmla="*/ 4727121 w 4727121"/>
              <a:gd name="connsiteY5" fmla="*/ 3209024 h 320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27121" h="3209131">
                <a:moveTo>
                  <a:pt x="0" y="459"/>
                </a:moveTo>
                <a:cubicBezTo>
                  <a:pt x="495300" y="-1582"/>
                  <a:pt x="990600" y="-3623"/>
                  <a:pt x="1494064" y="155581"/>
                </a:cubicBezTo>
                <a:cubicBezTo>
                  <a:pt x="1997528" y="314785"/>
                  <a:pt x="2594882" y="554270"/>
                  <a:pt x="3020786" y="955681"/>
                </a:cubicBezTo>
                <a:cubicBezTo>
                  <a:pt x="3446690" y="1357092"/>
                  <a:pt x="3808640" y="2206177"/>
                  <a:pt x="4049486" y="2564045"/>
                </a:cubicBezTo>
                <a:cubicBezTo>
                  <a:pt x="4290332" y="2921913"/>
                  <a:pt x="4352925" y="2995392"/>
                  <a:pt x="4465864" y="3102888"/>
                </a:cubicBezTo>
                <a:cubicBezTo>
                  <a:pt x="4578803" y="3210385"/>
                  <a:pt x="4652962" y="3209704"/>
                  <a:pt x="4727121" y="320902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4204607" y="824593"/>
            <a:ext cx="2204357" cy="1744690"/>
          </a:xfrm>
          <a:custGeom>
            <a:avLst/>
            <a:gdLst>
              <a:gd name="connsiteX0" fmla="*/ 0 w 2204357"/>
              <a:gd name="connsiteY0" fmla="*/ 0 h 1744690"/>
              <a:gd name="connsiteX1" fmla="*/ 906236 w 2204357"/>
              <a:gd name="connsiteY1" fmla="*/ 81643 h 1744690"/>
              <a:gd name="connsiteX2" fmla="*/ 1183822 w 2204357"/>
              <a:gd name="connsiteY2" fmla="*/ 449036 h 1744690"/>
              <a:gd name="connsiteX3" fmla="*/ 1681843 w 2204357"/>
              <a:gd name="connsiteY3" fmla="*/ 1249136 h 1744690"/>
              <a:gd name="connsiteX4" fmla="*/ 1992086 w 2204357"/>
              <a:gd name="connsiteY4" fmla="*/ 1690007 h 1744690"/>
              <a:gd name="connsiteX5" fmla="*/ 2204357 w 2204357"/>
              <a:gd name="connsiteY5" fmla="*/ 1722664 h 1744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4357" h="1744690">
                <a:moveTo>
                  <a:pt x="0" y="0"/>
                </a:moveTo>
                <a:cubicBezTo>
                  <a:pt x="354466" y="3402"/>
                  <a:pt x="708932" y="6804"/>
                  <a:pt x="906236" y="81643"/>
                </a:cubicBezTo>
                <a:cubicBezTo>
                  <a:pt x="1103540" y="156482"/>
                  <a:pt x="1054554" y="254454"/>
                  <a:pt x="1183822" y="449036"/>
                </a:cubicBezTo>
                <a:cubicBezTo>
                  <a:pt x="1313090" y="643618"/>
                  <a:pt x="1547132" y="1042308"/>
                  <a:pt x="1681843" y="1249136"/>
                </a:cubicBezTo>
                <a:cubicBezTo>
                  <a:pt x="1816554" y="1455964"/>
                  <a:pt x="1905000" y="1611086"/>
                  <a:pt x="1992086" y="1690007"/>
                </a:cubicBezTo>
                <a:cubicBezTo>
                  <a:pt x="2079172" y="1768928"/>
                  <a:pt x="2141764" y="1745796"/>
                  <a:pt x="2204357" y="172266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7274379" y="2694214"/>
            <a:ext cx="1681842" cy="1028700"/>
          </a:xfrm>
          <a:custGeom>
            <a:avLst/>
            <a:gdLst>
              <a:gd name="connsiteX0" fmla="*/ 0 w 1681842"/>
              <a:gd name="connsiteY0" fmla="*/ 0 h 1028700"/>
              <a:gd name="connsiteX1" fmla="*/ 538842 w 1681842"/>
              <a:gd name="connsiteY1" fmla="*/ 187779 h 1028700"/>
              <a:gd name="connsiteX2" fmla="*/ 1134835 w 1681842"/>
              <a:gd name="connsiteY2" fmla="*/ 832757 h 1028700"/>
              <a:gd name="connsiteX3" fmla="*/ 1681842 w 1681842"/>
              <a:gd name="connsiteY3" fmla="*/ 102870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1842" h="1028700">
                <a:moveTo>
                  <a:pt x="0" y="0"/>
                </a:moveTo>
                <a:cubicBezTo>
                  <a:pt x="174851" y="24493"/>
                  <a:pt x="349703" y="48986"/>
                  <a:pt x="538842" y="187779"/>
                </a:cubicBezTo>
                <a:cubicBezTo>
                  <a:pt x="727981" y="326572"/>
                  <a:pt x="944335" y="692604"/>
                  <a:pt x="1134835" y="832757"/>
                </a:cubicBezTo>
                <a:cubicBezTo>
                  <a:pt x="1325335" y="972910"/>
                  <a:pt x="1503588" y="1000805"/>
                  <a:pt x="1681842" y="10287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>
            <a:off x="4204607" y="816429"/>
            <a:ext cx="2212522" cy="3371850"/>
          </a:xfrm>
          <a:custGeom>
            <a:avLst/>
            <a:gdLst>
              <a:gd name="connsiteX0" fmla="*/ 0 w 2212522"/>
              <a:gd name="connsiteY0" fmla="*/ 0 h 3371850"/>
              <a:gd name="connsiteX1" fmla="*/ 955222 w 2212522"/>
              <a:gd name="connsiteY1" fmla="*/ 816428 h 3371850"/>
              <a:gd name="connsiteX2" fmla="*/ 1428750 w 2212522"/>
              <a:gd name="connsiteY2" fmla="*/ 2522764 h 3371850"/>
              <a:gd name="connsiteX3" fmla="*/ 1894114 w 2212522"/>
              <a:gd name="connsiteY3" fmla="*/ 3224892 h 3371850"/>
              <a:gd name="connsiteX4" fmla="*/ 2212522 w 2212522"/>
              <a:gd name="connsiteY4" fmla="*/ 3371850 h 3371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2522" h="3371850">
                <a:moveTo>
                  <a:pt x="0" y="0"/>
                </a:moveTo>
                <a:cubicBezTo>
                  <a:pt x="358548" y="197983"/>
                  <a:pt x="717097" y="395967"/>
                  <a:pt x="955222" y="816428"/>
                </a:cubicBezTo>
                <a:cubicBezTo>
                  <a:pt x="1193347" y="1236889"/>
                  <a:pt x="1272268" y="2121353"/>
                  <a:pt x="1428750" y="2522764"/>
                </a:cubicBezTo>
                <a:cubicBezTo>
                  <a:pt x="1585232" y="2924175"/>
                  <a:pt x="1763485" y="3083378"/>
                  <a:pt x="1894114" y="3224892"/>
                </a:cubicBezTo>
                <a:cubicBezTo>
                  <a:pt x="2024743" y="3366406"/>
                  <a:pt x="2118632" y="3369128"/>
                  <a:pt x="2212522" y="33718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/>
        </p:nvSpPr>
        <p:spPr>
          <a:xfrm>
            <a:off x="4204607" y="2596243"/>
            <a:ext cx="2220686" cy="1738993"/>
          </a:xfrm>
          <a:custGeom>
            <a:avLst/>
            <a:gdLst>
              <a:gd name="connsiteX0" fmla="*/ 0 w 2220686"/>
              <a:gd name="connsiteY0" fmla="*/ 0 h 1738993"/>
              <a:gd name="connsiteX1" fmla="*/ 530679 w 2220686"/>
              <a:gd name="connsiteY1" fmla="*/ 653143 h 1738993"/>
              <a:gd name="connsiteX2" fmla="*/ 1273629 w 2220686"/>
              <a:gd name="connsiteY2" fmla="*/ 1371600 h 1738993"/>
              <a:gd name="connsiteX3" fmla="*/ 2220686 w 2220686"/>
              <a:gd name="connsiteY3" fmla="*/ 1738993 h 1738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0686" h="1738993">
                <a:moveTo>
                  <a:pt x="0" y="0"/>
                </a:moveTo>
                <a:cubicBezTo>
                  <a:pt x="159204" y="212271"/>
                  <a:pt x="318408" y="424543"/>
                  <a:pt x="530679" y="653143"/>
                </a:cubicBezTo>
                <a:cubicBezTo>
                  <a:pt x="742950" y="881743"/>
                  <a:pt x="991961" y="1190625"/>
                  <a:pt x="1273629" y="1371600"/>
                </a:cubicBezTo>
                <a:cubicBezTo>
                  <a:pt x="1555297" y="1552575"/>
                  <a:pt x="1887991" y="1645784"/>
                  <a:pt x="2220686" y="1738993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手繪多邊形 20"/>
          <p:cNvSpPr/>
          <p:nvPr/>
        </p:nvSpPr>
        <p:spPr>
          <a:xfrm>
            <a:off x="4229100" y="3967843"/>
            <a:ext cx="2204357" cy="622608"/>
          </a:xfrm>
          <a:custGeom>
            <a:avLst/>
            <a:gdLst>
              <a:gd name="connsiteX0" fmla="*/ 0 w 2204357"/>
              <a:gd name="connsiteY0" fmla="*/ 0 h 622608"/>
              <a:gd name="connsiteX1" fmla="*/ 702129 w 2204357"/>
              <a:gd name="connsiteY1" fmla="*/ 106136 h 622608"/>
              <a:gd name="connsiteX2" fmla="*/ 1534886 w 2204357"/>
              <a:gd name="connsiteY2" fmla="*/ 587828 h 622608"/>
              <a:gd name="connsiteX3" fmla="*/ 2204357 w 2204357"/>
              <a:gd name="connsiteY3" fmla="*/ 547007 h 62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4357" h="622608">
                <a:moveTo>
                  <a:pt x="0" y="0"/>
                </a:moveTo>
                <a:cubicBezTo>
                  <a:pt x="223157" y="4082"/>
                  <a:pt x="446315" y="8165"/>
                  <a:pt x="702129" y="106136"/>
                </a:cubicBezTo>
                <a:cubicBezTo>
                  <a:pt x="957943" y="204107"/>
                  <a:pt x="1284515" y="514350"/>
                  <a:pt x="1534886" y="587828"/>
                </a:cubicBezTo>
                <a:cubicBezTo>
                  <a:pt x="1785257" y="661306"/>
                  <a:pt x="1994807" y="604156"/>
                  <a:pt x="2204357" y="54700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>
            <a:off x="7249886" y="3795747"/>
            <a:ext cx="1673678" cy="531324"/>
          </a:xfrm>
          <a:custGeom>
            <a:avLst/>
            <a:gdLst>
              <a:gd name="connsiteX0" fmla="*/ 0 w 1673678"/>
              <a:gd name="connsiteY0" fmla="*/ 531324 h 531324"/>
              <a:gd name="connsiteX1" fmla="*/ 1126671 w 1673678"/>
              <a:gd name="connsiteY1" fmla="*/ 286396 h 531324"/>
              <a:gd name="connsiteX2" fmla="*/ 1371600 w 1673678"/>
              <a:gd name="connsiteY2" fmla="*/ 25139 h 531324"/>
              <a:gd name="connsiteX3" fmla="*/ 1673678 w 1673678"/>
              <a:gd name="connsiteY3" fmla="*/ 25139 h 53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3678" h="531324">
                <a:moveTo>
                  <a:pt x="0" y="531324"/>
                </a:moveTo>
                <a:cubicBezTo>
                  <a:pt x="449035" y="451042"/>
                  <a:pt x="898071" y="370760"/>
                  <a:pt x="1126671" y="286396"/>
                </a:cubicBezTo>
                <a:cubicBezTo>
                  <a:pt x="1355271" y="202032"/>
                  <a:pt x="1280432" y="68682"/>
                  <a:pt x="1371600" y="25139"/>
                </a:cubicBezTo>
                <a:cubicBezTo>
                  <a:pt x="1462768" y="-18404"/>
                  <a:pt x="1568223" y="3367"/>
                  <a:pt x="1673678" y="2513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 22"/>
          <p:cNvSpPr/>
          <p:nvPr/>
        </p:nvSpPr>
        <p:spPr>
          <a:xfrm>
            <a:off x="4196443" y="816429"/>
            <a:ext cx="2204357" cy="4596492"/>
          </a:xfrm>
          <a:custGeom>
            <a:avLst/>
            <a:gdLst>
              <a:gd name="connsiteX0" fmla="*/ 0 w 2204357"/>
              <a:gd name="connsiteY0" fmla="*/ 0 h 4596492"/>
              <a:gd name="connsiteX1" fmla="*/ 1094014 w 2204357"/>
              <a:gd name="connsiteY1" fmla="*/ 2424792 h 4596492"/>
              <a:gd name="connsiteX2" fmla="*/ 1771650 w 2204357"/>
              <a:gd name="connsiteY2" fmla="*/ 4163785 h 4596492"/>
              <a:gd name="connsiteX3" fmla="*/ 2204357 w 2204357"/>
              <a:gd name="connsiteY3" fmla="*/ 4596492 h 459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4357" h="4596492">
                <a:moveTo>
                  <a:pt x="0" y="0"/>
                </a:moveTo>
                <a:cubicBezTo>
                  <a:pt x="399369" y="865414"/>
                  <a:pt x="798739" y="1730828"/>
                  <a:pt x="1094014" y="2424792"/>
                </a:cubicBezTo>
                <a:cubicBezTo>
                  <a:pt x="1389289" y="3118756"/>
                  <a:pt x="1586593" y="3801835"/>
                  <a:pt x="1771650" y="4163785"/>
                </a:cubicBezTo>
                <a:cubicBezTo>
                  <a:pt x="1956707" y="4525735"/>
                  <a:pt x="2080532" y="4561113"/>
                  <a:pt x="2204357" y="459649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4220936" y="2604407"/>
            <a:ext cx="2188028" cy="2914650"/>
          </a:xfrm>
          <a:custGeom>
            <a:avLst/>
            <a:gdLst>
              <a:gd name="connsiteX0" fmla="*/ 0 w 2188028"/>
              <a:gd name="connsiteY0" fmla="*/ 0 h 2914650"/>
              <a:gd name="connsiteX1" fmla="*/ 987878 w 2188028"/>
              <a:gd name="connsiteY1" fmla="*/ 1992086 h 2914650"/>
              <a:gd name="connsiteX2" fmla="*/ 1657350 w 2188028"/>
              <a:gd name="connsiteY2" fmla="*/ 2710543 h 2914650"/>
              <a:gd name="connsiteX3" fmla="*/ 2188028 w 2188028"/>
              <a:gd name="connsiteY3" fmla="*/ 2914650 h 291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8028" h="2914650">
                <a:moveTo>
                  <a:pt x="0" y="0"/>
                </a:moveTo>
                <a:cubicBezTo>
                  <a:pt x="355826" y="770164"/>
                  <a:pt x="711653" y="1540329"/>
                  <a:pt x="987878" y="1992086"/>
                </a:cubicBezTo>
                <a:cubicBezTo>
                  <a:pt x="1264103" y="2443843"/>
                  <a:pt x="1457325" y="2556782"/>
                  <a:pt x="1657350" y="2710543"/>
                </a:cubicBezTo>
                <a:cubicBezTo>
                  <a:pt x="1857375" y="2864304"/>
                  <a:pt x="2022701" y="2889477"/>
                  <a:pt x="2188028" y="29146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4212771" y="2179864"/>
            <a:ext cx="2204358" cy="685800"/>
          </a:xfrm>
          <a:custGeom>
            <a:avLst/>
            <a:gdLst>
              <a:gd name="connsiteX0" fmla="*/ 0 w 2204358"/>
              <a:gd name="connsiteY0" fmla="*/ 0 h 685800"/>
              <a:gd name="connsiteX1" fmla="*/ 579665 w 2204358"/>
              <a:gd name="connsiteY1" fmla="*/ 530679 h 685800"/>
              <a:gd name="connsiteX2" fmla="*/ 2204358 w 2204358"/>
              <a:gd name="connsiteY2" fmla="*/ 685800 h 68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04358" h="685800">
                <a:moveTo>
                  <a:pt x="0" y="0"/>
                </a:moveTo>
                <a:cubicBezTo>
                  <a:pt x="106136" y="208189"/>
                  <a:pt x="212272" y="416379"/>
                  <a:pt x="579665" y="530679"/>
                </a:cubicBezTo>
                <a:cubicBezTo>
                  <a:pt x="947058" y="644979"/>
                  <a:pt x="1575708" y="665389"/>
                  <a:pt x="2204358" y="6858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手繪多邊形 25"/>
          <p:cNvSpPr/>
          <p:nvPr/>
        </p:nvSpPr>
        <p:spPr>
          <a:xfrm>
            <a:off x="4220936" y="4384221"/>
            <a:ext cx="2204357" cy="1240972"/>
          </a:xfrm>
          <a:custGeom>
            <a:avLst/>
            <a:gdLst>
              <a:gd name="connsiteX0" fmla="*/ 0 w 2204357"/>
              <a:gd name="connsiteY0" fmla="*/ 0 h 1240972"/>
              <a:gd name="connsiteX1" fmla="*/ 212271 w 2204357"/>
              <a:gd name="connsiteY1" fmla="*/ 179615 h 1240972"/>
              <a:gd name="connsiteX2" fmla="*/ 1216478 w 2204357"/>
              <a:gd name="connsiteY2" fmla="*/ 1053193 h 1240972"/>
              <a:gd name="connsiteX3" fmla="*/ 2204357 w 2204357"/>
              <a:gd name="connsiteY3" fmla="*/ 1240972 h 124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4357" h="1240972">
                <a:moveTo>
                  <a:pt x="0" y="0"/>
                </a:moveTo>
                <a:cubicBezTo>
                  <a:pt x="4762" y="2041"/>
                  <a:pt x="212271" y="179615"/>
                  <a:pt x="212271" y="179615"/>
                </a:cubicBezTo>
                <a:cubicBezTo>
                  <a:pt x="415017" y="355147"/>
                  <a:pt x="884464" y="876300"/>
                  <a:pt x="1216478" y="1053193"/>
                </a:cubicBezTo>
                <a:cubicBezTo>
                  <a:pt x="1548492" y="1230086"/>
                  <a:pt x="1876424" y="1235529"/>
                  <a:pt x="2204357" y="124097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手繪多邊形 26"/>
          <p:cNvSpPr/>
          <p:nvPr/>
        </p:nvSpPr>
        <p:spPr>
          <a:xfrm>
            <a:off x="4220936" y="5723164"/>
            <a:ext cx="2188028" cy="335341"/>
          </a:xfrm>
          <a:custGeom>
            <a:avLst/>
            <a:gdLst>
              <a:gd name="connsiteX0" fmla="*/ 0 w 2188028"/>
              <a:gd name="connsiteY0" fmla="*/ 40822 h 335341"/>
              <a:gd name="connsiteX1" fmla="*/ 1020535 w 2188028"/>
              <a:gd name="connsiteY1" fmla="*/ 334736 h 335341"/>
              <a:gd name="connsiteX2" fmla="*/ 1730828 w 2188028"/>
              <a:gd name="connsiteY2" fmla="*/ 114300 h 335341"/>
              <a:gd name="connsiteX3" fmla="*/ 2188028 w 2188028"/>
              <a:gd name="connsiteY3" fmla="*/ 0 h 335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88028" h="335341">
                <a:moveTo>
                  <a:pt x="0" y="40822"/>
                </a:moveTo>
                <a:cubicBezTo>
                  <a:pt x="366032" y="181656"/>
                  <a:pt x="732064" y="322490"/>
                  <a:pt x="1020535" y="334736"/>
                </a:cubicBezTo>
                <a:cubicBezTo>
                  <a:pt x="1309006" y="346982"/>
                  <a:pt x="1536246" y="170089"/>
                  <a:pt x="1730828" y="114300"/>
                </a:cubicBezTo>
                <a:cubicBezTo>
                  <a:pt x="1925410" y="58511"/>
                  <a:pt x="2056719" y="29255"/>
                  <a:pt x="2188028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手繪多邊形 27"/>
          <p:cNvSpPr/>
          <p:nvPr/>
        </p:nvSpPr>
        <p:spPr>
          <a:xfrm>
            <a:off x="7241721" y="3927021"/>
            <a:ext cx="1665515" cy="1695929"/>
          </a:xfrm>
          <a:custGeom>
            <a:avLst/>
            <a:gdLst>
              <a:gd name="connsiteX0" fmla="*/ 0 w 1665515"/>
              <a:gd name="connsiteY0" fmla="*/ 1649186 h 1695929"/>
              <a:gd name="connsiteX1" fmla="*/ 996043 w 1665515"/>
              <a:gd name="connsiteY1" fmla="*/ 1551215 h 1695929"/>
              <a:gd name="connsiteX2" fmla="*/ 1273629 w 1665515"/>
              <a:gd name="connsiteY2" fmla="*/ 440872 h 1695929"/>
              <a:gd name="connsiteX3" fmla="*/ 1665515 w 1665515"/>
              <a:gd name="connsiteY3" fmla="*/ 0 h 1695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5515" h="1695929">
                <a:moveTo>
                  <a:pt x="0" y="1649186"/>
                </a:moveTo>
                <a:cubicBezTo>
                  <a:pt x="391885" y="1700893"/>
                  <a:pt x="783771" y="1752601"/>
                  <a:pt x="996043" y="1551215"/>
                </a:cubicBezTo>
                <a:cubicBezTo>
                  <a:pt x="1208315" y="1349829"/>
                  <a:pt x="1162050" y="699408"/>
                  <a:pt x="1273629" y="440872"/>
                </a:cubicBezTo>
                <a:cubicBezTo>
                  <a:pt x="1385208" y="182336"/>
                  <a:pt x="1525361" y="91168"/>
                  <a:pt x="166551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560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-16905" r="56884" b="16905"/>
          <a:stretch/>
        </p:blipFill>
        <p:spPr bwMode="auto">
          <a:xfrm>
            <a:off x="1281793" y="-1249136"/>
            <a:ext cx="2971800" cy="792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34" t="84643" r="602" b="5952"/>
          <a:stretch/>
        </p:blipFill>
        <p:spPr bwMode="auto">
          <a:xfrm>
            <a:off x="6327321" y="3298371"/>
            <a:ext cx="4751821" cy="98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手繪多邊形 7"/>
          <p:cNvSpPr/>
          <p:nvPr/>
        </p:nvSpPr>
        <p:spPr>
          <a:xfrm>
            <a:off x="4237264" y="653143"/>
            <a:ext cx="2098222" cy="2890157"/>
          </a:xfrm>
          <a:custGeom>
            <a:avLst/>
            <a:gdLst>
              <a:gd name="connsiteX0" fmla="*/ 0 w 2098222"/>
              <a:gd name="connsiteY0" fmla="*/ 0 h 2890157"/>
              <a:gd name="connsiteX1" fmla="*/ 400050 w 2098222"/>
              <a:gd name="connsiteY1" fmla="*/ 228600 h 2890157"/>
              <a:gd name="connsiteX2" fmla="*/ 865415 w 2098222"/>
              <a:gd name="connsiteY2" fmla="*/ 1175657 h 2890157"/>
              <a:gd name="connsiteX3" fmla="*/ 1543050 w 2098222"/>
              <a:gd name="connsiteY3" fmla="*/ 2237014 h 2890157"/>
              <a:gd name="connsiteX4" fmla="*/ 2098222 w 2098222"/>
              <a:gd name="connsiteY4" fmla="*/ 2890157 h 2890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8222" h="2890157">
                <a:moveTo>
                  <a:pt x="0" y="0"/>
                </a:moveTo>
                <a:cubicBezTo>
                  <a:pt x="127907" y="16328"/>
                  <a:pt x="255814" y="32657"/>
                  <a:pt x="400050" y="228600"/>
                </a:cubicBezTo>
                <a:cubicBezTo>
                  <a:pt x="544286" y="424543"/>
                  <a:pt x="674915" y="840921"/>
                  <a:pt x="865415" y="1175657"/>
                </a:cubicBezTo>
                <a:cubicBezTo>
                  <a:pt x="1055915" y="1510393"/>
                  <a:pt x="1337582" y="1951264"/>
                  <a:pt x="1543050" y="2237014"/>
                </a:cubicBezTo>
                <a:cubicBezTo>
                  <a:pt x="1748518" y="2522764"/>
                  <a:pt x="1923370" y="2706460"/>
                  <a:pt x="2098222" y="2890157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 8"/>
          <p:cNvSpPr/>
          <p:nvPr/>
        </p:nvSpPr>
        <p:spPr>
          <a:xfrm>
            <a:off x="4237264" y="2416629"/>
            <a:ext cx="2106386" cy="1273628"/>
          </a:xfrm>
          <a:custGeom>
            <a:avLst/>
            <a:gdLst>
              <a:gd name="connsiteX0" fmla="*/ 0 w 2106386"/>
              <a:gd name="connsiteY0" fmla="*/ 0 h 1273628"/>
              <a:gd name="connsiteX1" fmla="*/ 449036 w 2106386"/>
              <a:gd name="connsiteY1" fmla="*/ 342900 h 1273628"/>
              <a:gd name="connsiteX2" fmla="*/ 1477736 w 2106386"/>
              <a:gd name="connsiteY2" fmla="*/ 1102178 h 1273628"/>
              <a:gd name="connsiteX3" fmla="*/ 2106386 w 2106386"/>
              <a:gd name="connsiteY3" fmla="*/ 1273628 h 1273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6386" h="1273628">
                <a:moveTo>
                  <a:pt x="0" y="0"/>
                </a:moveTo>
                <a:lnTo>
                  <a:pt x="449036" y="342900"/>
                </a:lnTo>
                <a:cubicBezTo>
                  <a:pt x="695325" y="526596"/>
                  <a:pt x="1201511" y="947057"/>
                  <a:pt x="1477736" y="1102178"/>
                </a:cubicBezTo>
                <a:cubicBezTo>
                  <a:pt x="1753961" y="1257299"/>
                  <a:pt x="1930173" y="1265463"/>
                  <a:pt x="2106386" y="1273628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手繪多邊形 9"/>
          <p:cNvSpPr/>
          <p:nvPr/>
        </p:nvSpPr>
        <p:spPr>
          <a:xfrm>
            <a:off x="4237264" y="3837214"/>
            <a:ext cx="2130879" cy="375557"/>
          </a:xfrm>
          <a:custGeom>
            <a:avLst/>
            <a:gdLst>
              <a:gd name="connsiteX0" fmla="*/ 0 w 2130879"/>
              <a:gd name="connsiteY0" fmla="*/ 375557 h 375557"/>
              <a:gd name="connsiteX1" fmla="*/ 840922 w 2130879"/>
              <a:gd name="connsiteY1" fmla="*/ 310243 h 375557"/>
              <a:gd name="connsiteX2" fmla="*/ 1494065 w 2130879"/>
              <a:gd name="connsiteY2" fmla="*/ 57150 h 375557"/>
              <a:gd name="connsiteX3" fmla="*/ 2130879 w 2130879"/>
              <a:gd name="connsiteY3" fmla="*/ 0 h 375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0879" h="375557">
                <a:moveTo>
                  <a:pt x="0" y="375557"/>
                </a:moveTo>
                <a:cubicBezTo>
                  <a:pt x="295955" y="369434"/>
                  <a:pt x="591911" y="363311"/>
                  <a:pt x="840922" y="310243"/>
                </a:cubicBezTo>
                <a:cubicBezTo>
                  <a:pt x="1089933" y="257175"/>
                  <a:pt x="1279072" y="108857"/>
                  <a:pt x="1494065" y="57150"/>
                </a:cubicBezTo>
                <a:cubicBezTo>
                  <a:pt x="1709058" y="5443"/>
                  <a:pt x="1919968" y="2721"/>
                  <a:pt x="2130879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手繪多邊形 10"/>
          <p:cNvSpPr/>
          <p:nvPr/>
        </p:nvSpPr>
        <p:spPr>
          <a:xfrm>
            <a:off x="4253593" y="3976007"/>
            <a:ext cx="2073728" cy="2016579"/>
          </a:xfrm>
          <a:custGeom>
            <a:avLst/>
            <a:gdLst>
              <a:gd name="connsiteX0" fmla="*/ 0 w 2073728"/>
              <a:gd name="connsiteY0" fmla="*/ 2016579 h 2016579"/>
              <a:gd name="connsiteX1" fmla="*/ 1126671 w 2073728"/>
              <a:gd name="connsiteY1" fmla="*/ 955222 h 2016579"/>
              <a:gd name="connsiteX2" fmla="*/ 1624693 w 2073728"/>
              <a:gd name="connsiteY2" fmla="*/ 244929 h 2016579"/>
              <a:gd name="connsiteX3" fmla="*/ 2073728 w 2073728"/>
              <a:gd name="connsiteY3" fmla="*/ 0 h 201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3728" h="2016579">
                <a:moveTo>
                  <a:pt x="0" y="2016579"/>
                </a:moveTo>
                <a:cubicBezTo>
                  <a:pt x="427944" y="1633538"/>
                  <a:pt x="855889" y="1250497"/>
                  <a:pt x="1126671" y="955222"/>
                </a:cubicBezTo>
                <a:cubicBezTo>
                  <a:pt x="1397453" y="659947"/>
                  <a:pt x="1466850" y="404133"/>
                  <a:pt x="1624693" y="244929"/>
                </a:cubicBezTo>
                <a:cubicBezTo>
                  <a:pt x="1782536" y="85725"/>
                  <a:pt x="1928132" y="42862"/>
                  <a:pt x="2073728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4498521" y="321520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/>
              <a:t>x3</a:t>
            </a:r>
            <a:endParaRPr lang="zh-TW" altLang="en-US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498521" y="2158485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x2</a:t>
            </a:r>
            <a:endParaRPr lang="zh-TW" altLang="en-US" b="1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498521" y="3784146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x1</a:t>
            </a:r>
            <a:endParaRPr lang="zh-TW" altLang="en-US" b="1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4498521" y="5992586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/>
              <a:t>x0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76065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661767" y="117413"/>
            <a:ext cx="74398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TW" altLang="en-US" sz="2400" b="1" dirty="0">
                <a:solidFill>
                  <a:srgbClr val="C00000"/>
                </a:solidFill>
              </a:rPr>
              <a:t>(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 &gt; B</a:t>
            </a:r>
            <a:r>
              <a:rPr lang="en-US" altLang="zh-TW" sz="2400" b="1" dirty="0">
                <a:solidFill>
                  <a:srgbClr val="C00000"/>
                </a:solidFill>
              </a:rPr>
              <a:t>) =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 + 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3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2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x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1 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A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B</a:t>
            </a:r>
            <a:r>
              <a:rPr lang="en-US" altLang="zh-TW" sz="2400" b="1" baseline="-25000" dirty="0" smtClean="0">
                <a:solidFill>
                  <a:srgbClr val="C00000"/>
                </a:solidFill>
              </a:rPr>
              <a:t>0</a:t>
            </a:r>
            <a:r>
              <a:rPr lang="en-US" altLang="zh-TW" sz="2400" b="1" dirty="0" smtClean="0">
                <a:solidFill>
                  <a:srgbClr val="C00000"/>
                </a:solidFill>
              </a:rPr>
              <a:t>’</a:t>
            </a:r>
            <a:endParaRPr lang="en-US" altLang="zh-TW" sz="2400" b="1" dirty="0">
              <a:solidFill>
                <a:srgbClr val="C00000"/>
              </a:solidFill>
            </a:endParaRPr>
          </a:p>
        </p:txBody>
      </p:sp>
      <p:pic>
        <p:nvPicPr>
          <p:cNvPr id="6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712" r="56884" b="16905"/>
          <a:stretch/>
        </p:blipFill>
        <p:spPr bwMode="auto">
          <a:xfrm>
            <a:off x="1281792" y="-1"/>
            <a:ext cx="2971800" cy="6528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349178" y="1097127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3</a:t>
            </a:r>
            <a:r>
              <a:rPr lang="en-US" altLang="zh-TW" b="1" dirty="0"/>
              <a:t> </a:t>
            </a:r>
            <a:r>
              <a:rPr lang="en-US" altLang="zh-TW" b="1" dirty="0" smtClean="0"/>
              <a:t>&gt; B</a:t>
            </a:r>
            <a:r>
              <a:rPr lang="en-US" altLang="zh-TW" b="1" baseline="-25000" dirty="0" smtClean="0"/>
              <a:t>3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349177" y="3072884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2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2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349177" y="4879326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1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1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406327" y="6488668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/>
              <a:t>A</a:t>
            </a:r>
            <a:r>
              <a:rPr lang="en-US" altLang="zh-TW" b="1" baseline="-25000" dirty="0" smtClean="0"/>
              <a:t>0</a:t>
            </a:r>
            <a:r>
              <a:rPr lang="en-US" altLang="zh-TW" b="1" dirty="0" smtClean="0"/>
              <a:t> &gt; B</a:t>
            </a:r>
            <a:r>
              <a:rPr lang="en-US" altLang="zh-TW" b="1" baseline="-25000" dirty="0" smtClean="0"/>
              <a:t>0</a:t>
            </a:r>
            <a:endParaRPr lang="zh-TW" altLang="en-US" dirty="0"/>
          </a:p>
        </p:txBody>
      </p:sp>
      <p:pic>
        <p:nvPicPr>
          <p:cNvPr id="11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83" t="69298" b="22164"/>
          <a:stretch/>
        </p:blipFill>
        <p:spPr bwMode="auto">
          <a:xfrm>
            <a:off x="9192985" y="3227027"/>
            <a:ext cx="1796143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63004" r="35930" b="28791"/>
          <a:stretch/>
        </p:blipFill>
        <p:spPr bwMode="auto">
          <a:xfrm>
            <a:off x="6392633" y="5262452"/>
            <a:ext cx="881743" cy="60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7" t="16964" r="35930" b="49960"/>
          <a:stretch/>
        </p:blipFill>
        <p:spPr bwMode="auto">
          <a:xfrm>
            <a:off x="6392634" y="2323616"/>
            <a:ext cx="881743" cy="243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手繪多邊形 3"/>
          <p:cNvSpPr/>
          <p:nvPr/>
        </p:nvSpPr>
        <p:spPr>
          <a:xfrm>
            <a:off x="4245429" y="922564"/>
            <a:ext cx="4963885" cy="2444522"/>
          </a:xfrm>
          <a:custGeom>
            <a:avLst/>
            <a:gdLst>
              <a:gd name="connsiteX0" fmla="*/ 0 w 4963885"/>
              <a:gd name="connsiteY0" fmla="*/ 0 h 2444522"/>
              <a:gd name="connsiteX1" fmla="*/ 1559378 w 4963885"/>
              <a:gd name="connsiteY1" fmla="*/ 204107 h 2444522"/>
              <a:gd name="connsiteX2" fmla="*/ 3077935 w 4963885"/>
              <a:gd name="connsiteY2" fmla="*/ 857250 h 2444522"/>
              <a:gd name="connsiteX3" fmla="*/ 4392385 w 4963885"/>
              <a:gd name="connsiteY3" fmla="*/ 1616529 h 2444522"/>
              <a:gd name="connsiteX4" fmla="*/ 4833257 w 4963885"/>
              <a:gd name="connsiteY4" fmla="*/ 2318657 h 2444522"/>
              <a:gd name="connsiteX5" fmla="*/ 4963885 w 4963885"/>
              <a:gd name="connsiteY5" fmla="*/ 2441122 h 2444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3885" h="2444522">
                <a:moveTo>
                  <a:pt x="0" y="0"/>
                </a:moveTo>
                <a:cubicBezTo>
                  <a:pt x="523194" y="30616"/>
                  <a:pt x="1046389" y="61232"/>
                  <a:pt x="1559378" y="204107"/>
                </a:cubicBezTo>
                <a:cubicBezTo>
                  <a:pt x="2072367" y="346982"/>
                  <a:pt x="2605767" y="621846"/>
                  <a:pt x="3077935" y="857250"/>
                </a:cubicBezTo>
                <a:cubicBezTo>
                  <a:pt x="3550103" y="1092654"/>
                  <a:pt x="4099831" y="1372961"/>
                  <a:pt x="4392385" y="1616529"/>
                </a:cubicBezTo>
                <a:cubicBezTo>
                  <a:pt x="4684939" y="1860097"/>
                  <a:pt x="4738007" y="2181225"/>
                  <a:pt x="4833257" y="2318657"/>
                </a:cubicBezTo>
                <a:cubicBezTo>
                  <a:pt x="4928507" y="2456089"/>
                  <a:pt x="4946196" y="2448605"/>
                  <a:pt x="4963885" y="2441122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手繪多邊形 1"/>
          <p:cNvSpPr/>
          <p:nvPr/>
        </p:nvSpPr>
        <p:spPr>
          <a:xfrm>
            <a:off x="4237264" y="2857500"/>
            <a:ext cx="2171700" cy="85598"/>
          </a:xfrm>
          <a:custGeom>
            <a:avLst/>
            <a:gdLst>
              <a:gd name="connsiteX0" fmla="*/ 0 w 2171700"/>
              <a:gd name="connsiteY0" fmla="*/ 65314 h 85598"/>
              <a:gd name="connsiteX1" fmla="*/ 644979 w 2171700"/>
              <a:gd name="connsiteY1" fmla="*/ 81643 h 85598"/>
              <a:gd name="connsiteX2" fmla="*/ 2171700 w 2171700"/>
              <a:gd name="connsiteY2" fmla="*/ 0 h 85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1700" h="85598">
                <a:moveTo>
                  <a:pt x="0" y="65314"/>
                </a:moveTo>
                <a:cubicBezTo>
                  <a:pt x="141514" y="78921"/>
                  <a:pt x="283029" y="92529"/>
                  <a:pt x="644979" y="81643"/>
                </a:cubicBezTo>
                <a:cubicBezTo>
                  <a:pt x="1006929" y="70757"/>
                  <a:pt x="1589314" y="35378"/>
                  <a:pt x="2171700" y="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手繪多邊形 2"/>
          <p:cNvSpPr/>
          <p:nvPr/>
        </p:nvSpPr>
        <p:spPr>
          <a:xfrm>
            <a:off x="4237264" y="506186"/>
            <a:ext cx="2163536" cy="2057400"/>
          </a:xfrm>
          <a:custGeom>
            <a:avLst/>
            <a:gdLst>
              <a:gd name="connsiteX0" fmla="*/ 0 w 2163536"/>
              <a:gd name="connsiteY0" fmla="*/ 0 h 2057400"/>
              <a:gd name="connsiteX1" fmla="*/ 751115 w 2163536"/>
              <a:gd name="connsiteY1" fmla="*/ 122464 h 2057400"/>
              <a:gd name="connsiteX2" fmla="*/ 1265465 w 2163536"/>
              <a:gd name="connsiteY2" fmla="*/ 424543 h 2057400"/>
              <a:gd name="connsiteX3" fmla="*/ 1649186 w 2163536"/>
              <a:gd name="connsiteY3" fmla="*/ 1477735 h 2057400"/>
              <a:gd name="connsiteX4" fmla="*/ 2163536 w 2163536"/>
              <a:gd name="connsiteY4" fmla="*/ 2057400 h 205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3536" h="2057400">
                <a:moveTo>
                  <a:pt x="0" y="0"/>
                </a:moveTo>
                <a:cubicBezTo>
                  <a:pt x="270102" y="25853"/>
                  <a:pt x="540204" y="51707"/>
                  <a:pt x="751115" y="122464"/>
                </a:cubicBezTo>
                <a:cubicBezTo>
                  <a:pt x="962026" y="193221"/>
                  <a:pt x="1115787" y="198665"/>
                  <a:pt x="1265465" y="424543"/>
                </a:cubicBezTo>
                <a:cubicBezTo>
                  <a:pt x="1415144" y="650422"/>
                  <a:pt x="1499508" y="1205592"/>
                  <a:pt x="1649186" y="1477735"/>
                </a:cubicBezTo>
                <a:cubicBezTo>
                  <a:pt x="1798864" y="1749878"/>
                  <a:pt x="1981200" y="1903639"/>
                  <a:pt x="2163536" y="2057400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7258050" y="2702379"/>
            <a:ext cx="1951264" cy="775607"/>
          </a:xfrm>
          <a:custGeom>
            <a:avLst/>
            <a:gdLst>
              <a:gd name="connsiteX0" fmla="*/ 0 w 1951264"/>
              <a:gd name="connsiteY0" fmla="*/ 8164 h 775607"/>
              <a:gd name="connsiteX1" fmla="*/ 269421 w 1951264"/>
              <a:gd name="connsiteY1" fmla="*/ 16328 h 775607"/>
              <a:gd name="connsiteX2" fmla="*/ 775607 w 1951264"/>
              <a:gd name="connsiteY2" fmla="*/ 155121 h 775607"/>
              <a:gd name="connsiteX3" fmla="*/ 1673679 w 1951264"/>
              <a:gd name="connsiteY3" fmla="*/ 661307 h 775607"/>
              <a:gd name="connsiteX4" fmla="*/ 1951264 w 1951264"/>
              <a:gd name="connsiteY4" fmla="*/ 775607 h 77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1264" h="775607">
                <a:moveTo>
                  <a:pt x="0" y="8164"/>
                </a:moveTo>
                <a:cubicBezTo>
                  <a:pt x="70076" y="-1"/>
                  <a:pt x="140153" y="-8165"/>
                  <a:pt x="269421" y="16328"/>
                </a:cubicBezTo>
                <a:cubicBezTo>
                  <a:pt x="398689" y="40821"/>
                  <a:pt x="541564" y="47625"/>
                  <a:pt x="775607" y="155121"/>
                </a:cubicBezTo>
                <a:cubicBezTo>
                  <a:pt x="1009650" y="262617"/>
                  <a:pt x="1477736" y="557893"/>
                  <a:pt x="1673679" y="661307"/>
                </a:cubicBezTo>
                <a:cubicBezTo>
                  <a:pt x="1869622" y="764721"/>
                  <a:pt x="1910443" y="770164"/>
                  <a:pt x="1951264" y="775607"/>
                </a:cubicBez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392633" y="3367086"/>
            <a:ext cx="881743" cy="64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>
            <a:off x="4196443" y="498021"/>
            <a:ext cx="2179864" cy="3690258"/>
          </a:xfrm>
          <a:custGeom>
            <a:avLst/>
            <a:gdLst>
              <a:gd name="connsiteX0" fmla="*/ 0 w 2179864"/>
              <a:gd name="connsiteY0" fmla="*/ 0 h 3690258"/>
              <a:gd name="connsiteX1" fmla="*/ 898071 w 2179864"/>
              <a:gd name="connsiteY1" fmla="*/ 1347108 h 3690258"/>
              <a:gd name="connsiteX2" fmla="*/ 2179864 w 2179864"/>
              <a:gd name="connsiteY2" fmla="*/ 3690258 h 369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79864" h="3690258">
                <a:moveTo>
                  <a:pt x="0" y="0"/>
                </a:moveTo>
                <a:cubicBezTo>
                  <a:pt x="267380" y="366032"/>
                  <a:pt x="534760" y="732065"/>
                  <a:pt x="898071" y="1347108"/>
                </a:cubicBezTo>
                <a:cubicBezTo>
                  <a:pt x="1261382" y="1962151"/>
                  <a:pt x="1720623" y="2826204"/>
                  <a:pt x="2179864" y="3690258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手繪多邊形 16"/>
          <p:cNvSpPr/>
          <p:nvPr/>
        </p:nvSpPr>
        <p:spPr>
          <a:xfrm>
            <a:off x="4237264" y="2277836"/>
            <a:ext cx="2147207" cy="2065564"/>
          </a:xfrm>
          <a:custGeom>
            <a:avLst/>
            <a:gdLst>
              <a:gd name="connsiteX0" fmla="*/ 0 w 2147207"/>
              <a:gd name="connsiteY0" fmla="*/ 0 h 2065564"/>
              <a:gd name="connsiteX1" fmla="*/ 710293 w 2147207"/>
              <a:gd name="connsiteY1" fmla="*/ 359228 h 2065564"/>
              <a:gd name="connsiteX2" fmla="*/ 1494065 w 2147207"/>
              <a:gd name="connsiteY2" fmla="*/ 1510393 h 2065564"/>
              <a:gd name="connsiteX3" fmla="*/ 2147207 w 2147207"/>
              <a:gd name="connsiteY3" fmla="*/ 2065564 h 206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7207" h="2065564">
                <a:moveTo>
                  <a:pt x="0" y="0"/>
                </a:moveTo>
                <a:cubicBezTo>
                  <a:pt x="230641" y="53748"/>
                  <a:pt x="461282" y="107496"/>
                  <a:pt x="710293" y="359228"/>
                </a:cubicBezTo>
                <a:cubicBezTo>
                  <a:pt x="959304" y="610960"/>
                  <a:pt x="1254579" y="1226004"/>
                  <a:pt x="1494065" y="1510393"/>
                </a:cubicBezTo>
                <a:cubicBezTo>
                  <a:pt x="1733551" y="1794782"/>
                  <a:pt x="1940379" y="1930173"/>
                  <a:pt x="2147207" y="206556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 17"/>
          <p:cNvSpPr/>
          <p:nvPr/>
        </p:nvSpPr>
        <p:spPr>
          <a:xfrm>
            <a:off x="4245429" y="4506686"/>
            <a:ext cx="2163535" cy="236764"/>
          </a:xfrm>
          <a:custGeom>
            <a:avLst/>
            <a:gdLst>
              <a:gd name="connsiteX0" fmla="*/ 0 w 2163535"/>
              <a:gd name="connsiteY0" fmla="*/ 236764 h 236764"/>
              <a:gd name="connsiteX1" fmla="*/ 857250 w 2163535"/>
              <a:gd name="connsiteY1" fmla="*/ 187778 h 236764"/>
              <a:gd name="connsiteX2" fmla="*/ 1910442 w 2163535"/>
              <a:gd name="connsiteY2" fmla="*/ 106135 h 236764"/>
              <a:gd name="connsiteX3" fmla="*/ 2163535 w 2163535"/>
              <a:gd name="connsiteY3" fmla="*/ 0 h 236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535" h="236764">
                <a:moveTo>
                  <a:pt x="0" y="236764"/>
                </a:moveTo>
                <a:lnTo>
                  <a:pt x="857250" y="187778"/>
                </a:lnTo>
                <a:cubicBezTo>
                  <a:pt x="1175657" y="166007"/>
                  <a:pt x="1692728" y="137431"/>
                  <a:pt x="1910442" y="106135"/>
                </a:cubicBezTo>
                <a:cubicBezTo>
                  <a:pt x="2128156" y="74839"/>
                  <a:pt x="2145845" y="37419"/>
                  <a:pt x="216353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手繪多邊形 18"/>
          <p:cNvSpPr/>
          <p:nvPr/>
        </p:nvSpPr>
        <p:spPr>
          <a:xfrm>
            <a:off x="7266214" y="3549554"/>
            <a:ext cx="1918607" cy="769353"/>
          </a:xfrm>
          <a:custGeom>
            <a:avLst/>
            <a:gdLst>
              <a:gd name="connsiteX0" fmla="*/ 0 w 1918607"/>
              <a:gd name="connsiteY0" fmla="*/ 769353 h 769353"/>
              <a:gd name="connsiteX1" fmla="*/ 1216479 w 1918607"/>
              <a:gd name="connsiteY1" fmla="*/ 393796 h 769353"/>
              <a:gd name="connsiteX2" fmla="*/ 1632857 w 1918607"/>
              <a:gd name="connsiteY2" fmla="*/ 34567 h 769353"/>
              <a:gd name="connsiteX3" fmla="*/ 1918607 w 1918607"/>
              <a:gd name="connsiteY3" fmla="*/ 34567 h 76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8607" h="769353">
                <a:moveTo>
                  <a:pt x="0" y="769353"/>
                </a:moveTo>
                <a:cubicBezTo>
                  <a:pt x="472168" y="642806"/>
                  <a:pt x="944336" y="516260"/>
                  <a:pt x="1216479" y="393796"/>
                </a:cubicBezTo>
                <a:cubicBezTo>
                  <a:pt x="1488622" y="271332"/>
                  <a:pt x="1515836" y="94438"/>
                  <a:pt x="1632857" y="34567"/>
                </a:cubicBezTo>
                <a:cubicBezTo>
                  <a:pt x="1749878" y="-25305"/>
                  <a:pt x="1834242" y="4631"/>
                  <a:pt x="1918607" y="3456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手繪多邊形 19"/>
          <p:cNvSpPr/>
          <p:nvPr/>
        </p:nvSpPr>
        <p:spPr>
          <a:xfrm>
            <a:off x="4188279" y="498021"/>
            <a:ext cx="2228850" cy="4926518"/>
          </a:xfrm>
          <a:custGeom>
            <a:avLst/>
            <a:gdLst>
              <a:gd name="connsiteX0" fmla="*/ 0 w 2228850"/>
              <a:gd name="connsiteY0" fmla="*/ 0 h 4926518"/>
              <a:gd name="connsiteX1" fmla="*/ 1151164 w 2228850"/>
              <a:gd name="connsiteY1" fmla="*/ 3241222 h 4926518"/>
              <a:gd name="connsiteX2" fmla="*/ 1861457 w 2228850"/>
              <a:gd name="connsiteY2" fmla="*/ 4661808 h 4926518"/>
              <a:gd name="connsiteX3" fmla="*/ 2228850 w 2228850"/>
              <a:gd name="connsiteY3" fmla="*/ 4923065 h 4926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8850" h="4926518">
                <a:moveTo>
                  <a:pt x="0" y="0"/>
                </a:moveTo>
                <a:cubicBezTo>
                  <a:pt x="420460" y="1232127"/>
                  <a:pt x="840921" y="2464254"/>
                  <a:pt x="1151164" y="3241222"/>
                </a:cubicBezTo>
                <a:cubicBezTo>
                  <a:pt x="1461407" y="4018190"/>
                  <a:pt x="1681843" y="4381501"/>
                  <a:pt x="1861457" y="4661808"/>
                </a:cubicBezTo>
                <a:cubicBezTo>
                  <a:pt x="2041071" y="4942115"/>
                  <a:pt x="2134960" y="4932590"/>
                  <a:pt x="2228850" y="492306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 21"/>
          <p:cNvSpPr/>
          <p:nvPr/>
        </p:nvSpPr>
        <p:spPr>
          <a:xfrm>
            <a:off x="4212771" y="2286000"/>
            <a:ext cx="2179865" cy="3233057"/>
          </a:xfrm>
          <a:custGeom>
            <a:avLst/>
            <a:gdLst>
              <a:gd name="connsiteX0" fmla="*/ 0 w 2179865"/>
              <a:gd name="connsiteY0" fmla="*/ 0 h 3233057"/>
              <a:gd name="connsiteX1" fmla="*/ 922565 w 2179865"/>
              <a:gd name="connsiteY1" fmla="*/ 1934936 h 3233057"/>
              <a:gd name="connsiteX2" fmla="*/ 1526722 w 2179865"/>
              <a:gd name="connsiteY2" fmla="*/ 2922814 h 3233057"/>
              <a:gd name="connsiteX3" fmla="*/ 2179865 w 2179865"/>
              <a:gd name="connsiteY3" fmla="*/ 3233057 h 3233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9865" h="3233057">
                <a:moveTo>
                  <a:pt x="0" y="0"/>
                </a:moveTo>
                <a:cubicBezTo>
                  <a:pt x="334055" y="723900"/>
                  <a:pt x="668111" y="1447800"/>
                  <a:pt x="922565" y="1934936"/>
                </a:cubicBezTo>
                <a:cubicBezTo>
                  <a:pt x="1177019" y="2422072"/>
                  <a:pt x="1317172" y="2706461"/>
                  <a:pt x="1526722" y="2922814"/>
                </a:cubicBezTo>
                <a:cubicBezTo>
                  <a:pt x="1736272" y="3139167"/>
                  <a:pt x="1958068" y="3186112"/>
                  <a:pt x="2179865" y="323305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 22"/>
          <p:cNvSpPr/>
          <p:nvPr/>
        </p:nvSpPr>
        <p:spPr>
          <a:xfrm>
            <a:off x="4229100" y="4057650"/>
            <a:ext cx="2171700" cy="1559379"/>
          </a:xfrm>
          <a:custGeom>
            <a:avLst/>
            <a:gdLst>
              <a:gd name="connsiteX0" fmla="*/ 0 w 2171700"/>
              <a:gd name="connsiteY0" fmla="*/ 0 h 1559379"/>
              <a:gd name="connsiteX1" fmla="*/ 1102179 w 2171700"/>
              <a:gd name="connsiteY1" fmla="*/ 1167493 h 1559379"/>
              <a:gd name="connsiteX2" fmla="*/ 1845129 w 2171700"/>
              <a:gd name="connsiteY2" fmla="*/ 1485900 h 1559379"/>
              <a:gd name="connsiteX3" fmla="*/ 2171700 w 2171700"/>
              <a:gd name="connsiteY3" fmla="*/ 1559379 h 155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1700" h="1559379">
                <a:moveTo>
                  <a:pt x="0" y="0"/>
                </a:moveTo>
                <a:cubicBezTo>
                  <a:pt x="397328" y="459921"/>
                  <a:pt x="794657" y="919843"/>
                  <a:pt x="1102179" y="1167493"/>
                </a:cubicBezTo>
                <a:cubicBezTo>
                  <a:pt x="1409701" y="1415143"/>
                  <a:pt x="1666876" y="1420586"/>
                  <a:pt x="1845129" y="1485900"/>
                </a:cubicBezTo>
                <a:cubicBezTo>
                  <a:pt x="2023382" y="1551214"/>
                  <a:pt x="2097541" y="1555296"/>
                  <a:pt x="2171700" y="155937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 23"/>
          <p:cNvSpPr/>
          <p:nvPr/>
        </p:nvSpPr>
        <p:spPr>
          <a:xfrm>
            <a:off x="4261757" y="5731329"/>
            <a:ext cx="2163536" cy="751114"/>
          </a:xfrm>
          <a:custGeom>
            <a:avLst/>
            <a:gdLst>
              <a:gd name="connsiteX0" fmla="*/ 0 w 2163536"/>
              <a:gd name="connsiteY0" fmla="*/ 751114 h 751114"/>
              <a:gd name="connsiteX1" fmla="*/ 1134836 w 2163536"/>
              <a:gd name="connsiteY1" fmla="*/ 375557 h 751114"/>
              <a:gd name="connsiteX2" fmla="*/ 1796143 w 2163536"/>
              <a:gd name="connsiteY2" fmla="*/ 122464 h 751114"/>
              <a:gd name="connsiteX3" fmla="*/ 2163536 w 2163536"/>
              <a:gd name="connsiteY3" fmla="*/ 0 h 75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536" h="751114">
                <a:moveTo>
                  <a:pt x="0" y="751114"/>
                </a:moveTo>
                <a:lnTo>
                  <a:pt x="1134836" y="375557"/>
                </a:lnTo>
                <a:cubicBezTo>
                  <a:pt x="1434193" y="270782"/>
                  <a:pt x="1624693" y="185057"/>
                  <a:pt x="1796143" y="122464"/>
                </a:cubicBezTo>
                <a:cubicBezTo>
                  <a:pt x="1967593" y="59871"/>
                  <a:pt x="2065564" y="29935"/>
                  <a:pt x="2163536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手繪多邊形 24"/>
          <p:cNvSpPr/>
          <p:nvPr/>
        </p:nvSpPr>
        <p:spPr>
          <a:xfrm>
            <a:off x="7274379" y="3690257"/>
            <a:ext cx="1926771" cy="1885950"/>
          </a:xfrm>
          <a:custGeom>
            <a:avLst/>
            <a:gdLst>
              <a:gd name="connsiteX0" fmla="*/ 0 w 1926771"/>
              <a:gd name="connsiteY0" fmla="*/ 1885950 h 1885950"/>
              <a:gd name="connsiteX1" fmla="*/ 1012371 w 1926771"/>
              <a:gd name="connsiteY1" fmla="*/ 1289957 h 1885950"/>
              <a:gd name="connsiteX2" fmla="*/ 1404257 w 1926771"/>
              <a:gd name="connsiteY2" fmla="*/ 302079 h 1885950"/>
              <a:gd name="connsiteX3" fmla="*/ 1926771 w 1926771"/>
              <a:gd name="connsiteY3" fmla="*/ 0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6771" h="1885950">
                <a:moveTo>
                  <a:pt x="0" y="1885950"/>
                </a:moveTo>
                <a:cubicBezTo>
                  <a:pt x="389164" y="1719942"/>
                  <a:pt x="778328" y="1553935"/>
                  <a:pt x="1012371" y="1289957"/>
                </a:cubicBezTo>
                <a:cubicBezTo>
                  <a:pt x="1246414" y="1025979"/>
                  <a:pt x="1251857" y="517072"/>
                  <a:pt x="1404257" y="302079"/>
                </a:cubicBezTo>
                <a:cubicBezTo>
                  <a:pt x="1556657" y="87086"/>
                  <a:pt x="1741714" y="43543"/>
                  <a:pt x="192677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12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0">
            <a:extLst>
              <a:ext uri="{FF2B5EF4-FFF2-40B4-BE49-F238E27FC236}">
                <a16:creationId xmlns:a16="http://schemas.microsoft.com/office/drawing/2014/main" id="{A2ED9728-2A2E-4B2C-8E36-B5A44B8657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86"/>
          <a:stretch/>
        </p:blipFill>
        <p:spPr bwMode="auto">
          <a:xfrm>
            <a:off x="2679020" y="0"/>
            <a:ext cx="6930344" cy="686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954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462</TotalTime>
  <Words>4086</Words>
  <Application>Microsoft Office PowerPoint</Application>
  <PresentationFormat>寬螢幕</PresentationFormat>
  <Paragraphs>2460</Paragraphs>
  <Slides>167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167</vt:i4>
      </vt:variant>
    </vt:vector>
  </HeadingPairs>
  <TitlesOfParts>
    <vt:vector size="174" baseType="lpstr">
      <vt:lpstr>微軟正黑體</vt:lpstr>
      <vt:lpstr>新細明體</vt:lpstr>
      <vt:lpstr>Arial</vt:lpstr>
      <vt:lpstr>Symbol</vt:lpstr>
      <vt:lpstr>Times New Roman</vt:lpstr>
      <vt:lpstr>Tw Cen MT</vt:lpstr>
      <vt:lpstr>小水滴</vt:lpstr>
      <vt:lpstr>Chapter 4</vt:lpstr>
      <vt:lpstr>TOPIC 1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TOPIC 2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TOPIC 3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TOPIC 4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creator>Windows 使用者</dc:creator>
  <cp:lastModifiedBy>Windows 使用者</cp:lastModifiedBy>
  <cp:revision>73</cp:revision>
  <dcterms:created xsi:type="dcterms:W3CDTF">2021-11-24T22:44:39Z</dcterms:created>
  <dcterms:modified xsi:type="dcterms:W3CDTF">2021-12-02T03:41:37Z</dcterms:modified>
</cp:coreProperties>
</file>