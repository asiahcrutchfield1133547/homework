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464" r:id="rId3"/>
    <p:sldId id="465" r:id="rId4"/>
    <p:sldId id="442" r:id="rId5"/>
    <p:sldId id="443" r:id="rId6"/>
    <p:sldId id="444" r:id="rId7"/>
    <p:sldId id="445" r:id="rId8"/>
    <p:sldId id="278" r:id="rId9"/>
    <p:sldId id="257" r:id="rId10"/>
    <p:sldId id="466" r:id="rId11"/>
    <p:sldId id="261" r:id="rId12"/>
    <p:sldId id="262" r:id="rId13"/>
    <p:sldId id="263" r:id="rId14"/>
    <p:sldId id="264" r:id="rId15"/>
    <p:sldId id="446" r:id="rId16"/>
    <p:sldId id="449" r:id="rId17"/>
    <p:sldId id="448" r:id="rId18"/>
    <p:sldId id="447" r:id="rId19"/>
    <p:sldId id="258" r:id="rId20"/>
    <p:sldId id="265" r:id="rId21"/>
    <p:sldId id="450" r:id="rId22"/>
    <p:sldId id="453" r:id="rId23"/>
    <p:sldId id="452" r:id="rId24"/>
    <p:sldId id="451" r:id="rId25"/>
    <p:sldId id="266" r:id="rId26"/>
    <p:sldId id="267" r:id="rId27"/>
    <p:sldId id="268" r:id="rId28"/>
    <p:sldId id="269" r:id="rId29"/>
    <p:sldId id="270" r:id="rId30"/>
    <p:sldId id="271" r:id="rId31"/>
    <p:sldId id="454" r:id="rId32"/>
    <p:sldId id="457" r:id="rId33"/>
    <p:sldId id="456" r:id="rId34"/>
    <p:sldId id="455" r:id="rId35"/>
    <p:sldId id="272" r:id="rId36"/>
    <p:sldId id="273" r:id="rId37"/>
    <p:sldId id="274" r:id="rId38"/>
    <p:sldId id="335" r:id="rId39"/>
    <p:sldId id="275" r:id="rId40"/>
    <p:sldId id="276" r:id="rId41"/>
    <p:sldId id="277" r:id="rId42"/>
    <p:sldId id="314" r:id="rId43"/>
    <p:sldId id="313" r:id="rId44"/>
    <p:sldId id="461" r:id="rId45"/>
    <p:sldId id="463" r:id="rId46"/>
    <p:sldId id="462" r:id="rId47"/>
    <p:sldId id="316" r:id="rId48"/>
    <p:sldId id="467" r:id="rId49"/>
    <p:sldId id="323" r:id="rId50"/>
    <p:sldId id="324" r:id="rId51"/>
    <p:sldId id="319" r:id="rId52"/>
    <p:sldId id="320" r:id="rId53"/>
    <p:sldId id="321" r:id="rId54"/>
    <p:sldId id="322" r:id="rId55"/>
    <p:sldId id="326" r:id="rId56"/>
    <p:sldId id="327" r:id="rId57"/>
    <p:sldId id="328" r:id="rId58"/>
    <p:sldId id="329" r:id="rId59"/>
    <p:sldId id="280" r:id="rId60"/>
    <p:sldId id="281" r:id="rId61"/>
    <p:sldId id="282" r:id="rId62"/>
    <p:sldId id="288" r:id="rId63"/>
    <p:sldId id="286" r:id="rId64"/>
    <p:sldId id="289" r:id="rId65"/>
    <p:sldId id="285" r:id="rId66"/>
    <p:sldId id="468" r:id="rId67"/>
    <p:sldId id="290" r:id="rId68"/>
    <p:sldId id="291" r:id="rId69"/>
    <p:sldId id="295" r:id="rId70"/>
    <p:sldId id="294" r:id="rId71"/>
    <p:sldId id="293" r:id="rId72"/>
    <p:sldId id="296" r:id="rId73"/>
    <p:sldId id="338" r:id="rId74"/>
    <p:sldId id="297" r:id="rId75"/>
    <p:sldId id="298" r:id="rId76"/>
    <p:sldId id="385" r:id="rId77"/>
    <p:sldId id="389" r:id="rId78"/>
    <p:sldId id="386" r:id="rId79"/>
    <p:sldId id="387" r:id="rId80"/>
    <p:sldId id="388" r:id="rId81"/>
    <p:sldId id="459" r:id="rId82"/>
    <p:sldId id="458" r:id="rId83"/>
    <p:sldId id="460" r:id="rId84"/>
    <p:sldId id="300" r:id="rId85"/>
    <p:sldId id="301" r:id="rId86"/>
    <p:sldId id="308" r:id="rId87"/>
    <p:sldId id="302" r:id="rId88"/>
    <p:sldId id="309" r:id="rId89"/>
    <p:sldId id="310" r:id="rId90"/>
    <p:sldId id="303" r:id="rId91"/>
    <p:sldId id="305" r:id="rId92"/>
    <p:sldId id="306" r:id="rId93"/>
    <p:sldId id="307" r:id="rId94"/>
    <p:sldId id="311" r:id="rId95"/>
    <p:sldId id="312" r:id="rId96"/>
    <p:sldId id="330" r:id="rId97"/>
    <p:sldId id="331" r:id="rId98"/>
    <p:sldId id="334" r:id="rId99"/>
    <p:sldId id="470" r:id="rId100"/>
    <p:sldId id="469" r:id="rId101"/>
    <p:sldId id="471" r:id="rId102"/>
    <p:sldId id="340" r:id="rId103"/>
    <p:sldId id="341" r:id="rId104"/>
    <p:sldId id="392" r:id="rId105"/>
    <p:sldId id="343" r:id="rId106"/>
    <p:sldId id="345" r:id="rId107"/>
    <p:sldId id="348" r:id="rId108"/>
    <p:sldId id="350" r:id="rId109"/>
    <p:sldId id="394" r:id="rId110"/>
    <p:sldId id="393" r:id="rId111"/>
    <p:sldId id="395" r:id="rId112"/>
    <p:sldId id="368" r:id="rId113"/>
    <p:sldId id="344" r:id="rId114"/>
    <p:sldId id="349" r:id="rId115"/>
    <p:sldId id="347" r:id="rId116"/>
    <p:sldId id="396" r:id="rId117"/>
    <p:sldId id="351" r:id="rId118"/>
    <p:sldId id="369" r:id="rId119"/>
    <p:sldId id="352" r:id="rId120"/>
    <p:sldId id="353" r:id="rId121"/>
    <p:sldId id="391" r:id="rId122"/>
    <p:sldId id="397" r:id="rId123"/>
    <p:sldId id="390" r:id="rId124"/>
    <p:sldId id="363" r:id="rId125"/>
    <p:sldId id="364" r:id="rId126"/>
    <p:sldId id="365" r:id="rId127"/>
    <p:sldId id="366" r:id="rId128"/>
    <p:sldId id="361" r:id="rId129"/>
    <p:sldId id="356" r:id="rId130"/>
    <p:sldId id="357" r:id="rId131"/>
    <p:sldId id="358" r:id="rId132"/>
    <p:sldId id="359" r:id="rId133"/>
    <p:sldId id="360" r:id="rId134"/>
    <p:sldId id="370" r:id="rId135"/>
    <p:sldId id="367" r:id="rId136"/>
    <p:sldId id="371" r:id="rId137"/>
    <p:sldId id="372" r:id="rId138"/>
    <p:sldId id="380" r:id="rId139"/>
    <p:sldId id="384" r:id="rId140"/>
    <p:sldId id="381" r:id="rId141"/>
    <p:sldId id="382" r:id="rId142"/>
    <p:sldId id="383" r:id="rId143"/>
    <p:sldId id="374" r:id="rId144"/>
    <p:sldId id="375" r:id="rId145"/>
    <p:sldId id="377" r:id="rId146"/>
    <p:sldId id="376" r:id="rId147"/>
    <p:sldId id="379" r:id="rId148"/>
    <p:sldId id="378" r:id="rId149"/>
    <p:sldId id="398" r:id="rId150"/>
    <p:sldId id="410" r:id="rId151"/>
    <p:sldId id="411" r:id="rId152"/>
    <p:sldId id="412" r:id="rId153"/>
    <p:sldId id="399" r:id="rId154"/>
    <p:sldId id="400" r:id="rId155"/>
    <p:sldId id="401" r:id="rId156"/>
    <p:sldId id="403" r:id="rId157"/>
    <p:sldId id="404" r:id="rId158"/>
    <p:sldId id="405" r:id="rId159"/>
    <p:sldId id="406" r:id="rId160"/>
    <p:sldId id="407" r:id="rId161"/>
    <p:sldId id="408" r:id="rId162"/>
    <p:sldId id="409" r:id="rId163"/>
    <p:sldId id="413" r:id="rId164"/>
    <p:sldId id="430" r:id="rId165"/>
    <p:sldId id="431" r:id="rId166"/>
    <p:sldId id="420" r:id="rId167"/>
    <p:sldId id="421" r:id="rId168"/>
    <p:sldId id="422" r:id="rId169"/>
    <p:sldId id="423" r:id="rId170"/>
    <p:sldId id="414" r:id="rId171"/>
    <p:sldId id="415" r:id="rId172"/>
    <p:sldId id="424" r:id="rId173"/>
    <p:sldId id="416" r:id="rId174"/>
    <p:sldId id="425" r:id="rId175"/>
    <p:sldId id="417" r:id="rId176"/>
    <p:sldId id="426" r:id="rId177"/>
    <p:sldId id="418" r:id="rId178"/>
    <p:sldId id="419" r:id="rId179"/>
    <p:sldId id="427" r:id="rId180"/>
    <p:sldId id="428" r:id="rId181"/>
    <p:sldId id="429" r:id="rId182"/>
    <p:sldId id="432" r:id="rId183"/>
    <p:sldId id="434" r:id="rId184"/>
    <p:sldId id="435" r:id="rId185"/>
    <p:sldId id="433" r:id="rId186"/>
    <p:sldId id="436" r:id="rId187"/>
    <p:sldId id="438" r:id="rId188"/>
    <p:sldId id="437" r:id="rId189"/>
    <p:sldId id="439" r:id="rId190"/>
    <p:sldId id="440" r:id="rId191"/>
    <p:sldId id="441" r:id="rId19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5" d="100"/>
          <a:sy n="55" d="100"/>
        </p:scale>
        <p:origin x="60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presProps" Target="pres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theme" Target="theme/theme1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tableStyles" Target="tableStyle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43335" y="1191986"/>
            <a:ext cx="11505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A Boolean function expresses the logical relationship between binary variables.</a:t>
            </a:r>
            <a:endParaRPr lang="zh-TW" altLang="en-US" sz="28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50300"/>
              </p:ext>
            </p:extLst>
          </p:nvPr>
        </p:nvGraphicFramePr>
        <p:xfrm>
          <a:off x="438149" y="2123923"/>
          <a:ext cx="11302094" cy="398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9209">
                  <a:extLst>
                    <a:ext uri="{9D8B030D-6E8A-4147-A177-3AD203B41FA5}">
                      <a16:colId xmlns:a16="http://schemas.microsoft.com/office/drawing/2014/main" val="1877541748"/>
                    </a:ext>
                  </a:extLst>
                </a:gridCol>
                <a:gridCol w="7322885">
                  <a:extLst>
                    <a:ext uri="{9D8B030D-6E8A-4147-A177-3AD203B41FA5}">
                      <a16:colId xmlns:a16="http://schemas.microsoft.com/office/drawing/2014/main" val="1178683844"/>
                    </a:ext>
                  </a:extLst>
                </a:gridCol>
              </a:tblGrid>
              <a:tr h="663827"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 Boolean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binary variables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593223"/>
                  </a:ext>
                </a:extLst>
              </a:tr>
              <a:tr h="663827">
                <a:tc vMerge="1">
                  <a:txBody>
                    <a:bodyPr/>
                    <a:lstStyle/>
                    <a:p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binary operators OR and </a:t>
                      </a:r>
                      <a:r>
                        <a:rPr lang="en-US" altLang="zh-TW" sz="2800" b="0" dirty="0" err="1" smtClean="0">
                          <a:solidFill>
                            <a:schemeClr val="tx1"/>
                          </a:solidFill>
                        </a:rPr>
                        <a:t>AND</a:t>
                      </a:r>
                      <a:endParaRPr lang="en-US" altLang="zh-TW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407300"/>
                  </a:ext>
                </a:extLst>
              </a:tr>
              <a:tr h="663827">
                <a:tc vMerge="1">
                  <a:txBody>
                    <a:bodyPr/>
                    <a:lstStyle/>
                    <a:p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unary operator NOT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823764"/>
                  </a:ext>
                </a:extLst>
              </a:tr>
              <a:tr h="663827">
                <a:tc vMerge="1">
                  <a:txBody>
                    <a:bodyPr/>
                    <a:lstStyle/>
                    <a:p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parentheses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128604"/>
                  </a:ext>
                </a:extLst>
              </a:tr>
              <a:tr h="663827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i="1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="0" i="1" dirty="0" smtClean="0">
                          <a:solidFill>
                            <a:schemeClr val="tx1"/>
                          </a:solidFill>
                        </a:rPr>
                        <a:t>= x + y ·</a:t>
                      </a:r>
                      <a:r>
                        <a:rPr lang="zh-TW" altLang="en-US" sz="2800" b="0" i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b="0" i="1" dirty="0" smtClean="0">
                          <a:solidFill>
                            <a:schemeClr val="tx1"/>
                          </a:solidFill>
                        </a:rPr>
                        <a:t>z‘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904492"/>
                  </a:ext>
                </a:extLst>
              </a:tr>
              <a:tr h="663827">
                <a:tc vMerge="1">
                  <a:txBody>
                    <a:bodyPr/>
                    <a:lstStyle/>
                    <a:p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i="1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altLang="zh-TW" sz="2800" b="0" i="1" dirty="0" smtClean="0">
                          <a:solidFill>
                            <a:schemeClr val="tx1"/>
                          </a:solidFill>
                        </a:rPr>
                        <a:t>= x‘</a:t>
                      </a:r>
                      <a:r>
                        <a:rPr lang="zh-TW" altLang="en-US" sz="2800" b="0" i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b="0" i="1" dirty="0" smtClean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zh-TW" altLang="en-US" sz="2800" b="0" i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b="0" i="1" dirty="0" smtClean="0">
                          <a:solidFill>
                            <a:schemeClr val="tx1"/>
                          </a:solidFill>
                        </a:rPr>
                        <a:t>y’ ·</a:t>
                      </a:r>
                      <a:r>
                        <a:rPr lang="zh-TW" altLang="en-US" sz="2800" b="0" i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b="0" i="1" dirty="0" smtClean="0">
                          <a:solidFill>
                            <a:schemeClr val="tx1"/>
                          </a:solidFill>
                        </a:rPr>
                        <a:t>z + x‘</a:t>
                      </a:r>
                      <a:r>
                        <a:rPr lang="zh-TW" altLang="en-US" sz="2800" b="0" i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b="0" i="1" dirty="0" smtClean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zh-TW" altLang="en-US" sz="2800" b="0" i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b="0" i="1" dirty="0" smtClean="0">
                          <a:solidFill>
                            <a:schemeClr val="tx1"/>
                          </a:solidFill>
                        </a:rPr>
                        <a:t>y +</a:t>
                      </a:r>
                      <a:r>
                        <a:rPr lang="zh-TW" altLang="en-US" sz="2800" b="0" i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b="0" i="1" dirty="0" smtClean="0">
                          <a:solidFill>
                            <a:schemeClr val="tx1"/>
                          </a:solidFill>
                        </a:rPr>
                        <a:t>z) + x ·</a:t>
                      </a:r>
                      <a:r>
                        <a:rPr lang="zh-TW" altLang="en-US" sz="2800" b="0" i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b="0" i="1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861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9725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圖: 合併 3"/>
          <p:cNvSpPr/>
          <p:nvPr/>
        </p:nvSpPr>
        <p:spPr>
          <a:xfrm rot="10800000">
            <a:off x="3812721" y="1657349"/>
            <a:ext cx="4637314" cy="2914650"/>
          </a:xfrm>
          <a:prstGeom prst="flowChartMerge">
            <a:avLst/>
          </a:prstGeom>
          <a:solidFill>
            <a:schemeClr val="bg1"/>
          </a:solidFill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406660" y="579665"/>
            <a:ext cx="14494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Boolean</a:t>
            </a:r>
          </a:p>
          <a:p>
            <a:r>
              <a:rPr lang="en-US" altLang="zh-TW" sz="2800" b="1" dirty="0" smtClean="0"/>
              <a:t>Function</a:t>
            </a:r>
            <a:endParaRPr lang="zh-TW" altLang="en-US" sz="28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71625" y="4094944"/>
            <a:ext cx="9898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True</a:t>
            </a:r>
          </a:p>
          <a:p>
            <a:r>
              <a:rPr lang="en-US" altLang="zh-TW" sz="2800" b="1" dirty="0" smtClean="0"/>
              <a:t>Table</a:t>
            </a:r>
            <a:endParaRPr lang="zh-TW" altLang="en-US" sz="2800" b="1" dirty="0"/>
          </a:p>
        </p:txBody>
      </p:sp>
      <p:sp>
        <p:nvSpPr>
          <p:cNvPr id="7" name="文字方塊 6"/>
          <p:cNvSpPr txBox="1"/>
          <p:nvPr/>
        </p:nvSpPr>
        <p:spPr>
          <a:xfrm>
            <a:off x="8601245" y="4094943"/>
            <a:ext cx="11208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Logic</a:t>
            </a:r>
          </a:p>
          <a:p>
            <a:r>
              <a:rPr lang="en-US" altLang="zh-TW" sz="2800" b="1" dirty="0" smtClean="0"/>
              <a:t>Circuit</a:t>
            </a:r>
            <a:endParaRPr lang="zh-TW" altLang="en-US" sz="2800" b="1" dirty="0"/>
          </a:p>
        </p:txBody>
      </p:sp>
      <p:sp>
        <p:nvSpPr>
          <p:cNvPr id="2" name="文字方塊 1"/>
          <p:cNvSpPr txBox="1"/>
          <p:nvPr/>
        </p:nvSpPr>
        <p:spPr>
          <a:xfrm>
            <a:off x="5011936" y="3114674"/>
            <a:ext cx="2238883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Equivalence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771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圖: 合併 3"/>
          <p:cNvSpPr/>
          <p:nvPr/>
        </p:nvSpPr>
        <p:spPr>
          <a:xfrm rot="10800000">
            <a:off x="3812721" y="1657349"/>
            <a:ext cx="4637314" cy="2914650"/>
          </a:xfrm>
          <a:prstGeom prst="flowChartMerge">
            <a:avLst/>
          </a:prstGeom>
          <a:solidFill>
            <a:schemeClr val="bg1"/>
          </a:solidFill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406660" y="579665"/>
            <a:ext cx="14494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Boolean</a:t>
            </a:r>
          </a:p>
          <a:p>
            <a:r>
              <a:rPr lang="en-US" altLang="zh-TW" sz="2800" b="1" dirty="0" smtClean="0"/>
              <a:t>Function</a:t>
            </a:r>
            <a:endParaRPr lang="zh-TW" altLang="en-US" sz="28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71625" y="4094944"/>
            <a:ext cx="9898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True</a:t>
            </a:r>
          </a:p>
          <a:p>
            <a:r>
              <a:rPr lang="en-US" altLang="zh-TW" sz="2800" b="1" dirty="0" smtClean="0"/>
              <a:t>Table</a:t>
            </a:r>
            <a:endParaRPr lang="zh-TW" altLang="en-US" sz="2800" b="1" dirty="0"/>
          </a:p>
        </p:txBody>
      </p:sp>
      <p:sp>
        <p:nvSpPr>
          <p:cNvPr id="7" name="文字方塊 6"/>
          <p:cNvSpPr txBox="1"/>
          <p:nvPr/>
        </p:nvSpPr>
        <p:spPr>
          <a:xfrm>
            <a:off x="8601245" y="4094943"/>
            <a:ext cx="11208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Logic</a:t>
            </a:r>
          </a:p>
          <a:p>
            <a:r>
              <a:rPr lang="en-US" altLang="zh-TW" sz="2800" b="1" dirty="0" smtClean="0"/>
              <a:t>Circuit</a:t>
            </a:r>
            <a:endParaRPr lang="zh-TW" altLang="en-US" sz="2800" b="1" dirty="0"/>
          </a:p>
        </p:txBody>
      </p:sp>
      <p:sp>
        <p:nvSpPr>
          <p:cNvPr id="2" name="文字方塊 1"/>
          <p:cNvSpPr txBox="1"/>
          <p:nvPr/>
        </p:nvSpPr>
        <p:spPr>
          <a:xfrm>
            <a:off x="5011936" y="3114674"/>
            <a:ext cx="2238883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Equivalence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>
            <a:off x="6533554" y="1657349"/>
            <a:ext cx="1992086" cy="2502907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091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</p:spTree>
    <p:extLst>
      <p:ext uri="{BB962C8B-B14F-4D97-AF65-F5344CB8AC3E}">
        <p14:creationId xmlns:p14="http://schemas.microsoft.com/office/powerpoint/2010/main" val="1614040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885950" y="1583871"/>
            <a:ext cx="10306050" cy="1714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5723164" y="2795039"/>
            <a:ext cx="6648450" cy="1714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1543050" y="4019881"/>
            <a:ext cx="6648450" cy="489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467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885950" y="1583871"/>
            <a:ext cx="10306050" cy="1714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8352064" y="2710542"/>
            <a:ext cx="3839936" cy="1714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1540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2905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37199" y="973505"/>
            <a:ext cx="10461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A true table can be developed from a Boolean function.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898712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37199" y="973505"/>
            <a:ext cx="11757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altLang="zh-TW" sz="3600" dirty="0" smtClean="0"/>
              <a:t>Develop a true table from the Boolean expression </a:t>
            </a:r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1</a:t>
            </a:r>
            <a:r>
              <a:rPr lang="en-US" altLang="zh-TW" sz="3600" b="1" i="1" dirty="0"/>
              <a:t>= x + y’ </a:t>
            </a:r>
            <a:r>
              <a:rPr lang="en-US" altLang="zh-TW" sz="3600" b="1" i="1" dirty="0" smtClean="0"/>
              <a:t>z.</a:t>
            </a:r>
            <a:endParaRPr lang="en-US" altLang="zh-TW" sz="3600" b="1" i="1" dirty="0"/>
          </a:p>
        </p:txBody>
      </p:sp>
    </p:spTree>
    <p:extLst>
      <p:ext uri="{BB962C8B-B14F-4D97-AF65-F5344CB8AC3E}">
        <p14:creationId xmlns:p14="http://schemas.microsoft.com/office/powerpoint/2010/main" val="2276375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圖: 合併 3"/>
          <p:cNvSpPr/>
          <p:nvPr/>
        </p:nvSpPr>
        <p:spPr>
          <a:xfrm rot="10800000">
            <a:off x="3812721" y="1657349"/>
            <a:ext cx="4637314" cy="2914650"/>
          </a:xfrm>
          <a:prstGeom prst="flowChartMerge">
            <a:avLst/>
          </a:prstGeom>
          <a:solidFill>
            <a:schemeClr val="bg1"/>
          </a:solidFill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406660" y="579665"/>
            <a:ext cx="14494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Boolean</a:t>
            </a:r>
          </a:p>
          <a:p>
            <a:r>
              <a:rPr lang="en-US" altLang="zh-TW" sz="2800" b="1" dirty="0" smtClean="0"/>
              <a:t>Function</a:t>
            </a:r>
            <a:endParaRPr lang="zh-TW" altLang="en-US" sz="28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71625" y="4094944"/>
            <a:ext cx="9898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True</a:t>
            </a:r>
          </a:p>
          <a:p>
            <a:r>
              <a:rPr lang="en-US" altLang="zh-TW" sz="2800" b="1" dirty="0" smtClean="0"/>
              <a:t>Table</a:t>
            </a:r>
            <a:endParaRPr lang="zh-TW" altLang="en-US" sz="2800" b="1" dirty="0"/>
          </a:p>
        </p:txBody>
      </p:sp>
      <p:sp>
        <p:nvSpPr>
          <p:cNvPr id="7" name="文字方塊 6"/>
          <p:cNvSpPr txBox="1"/>
          <p:nvPr/>
        </p:nvSpPr>
        <p:spPr>
          <a:xfrm>
            <a:off x="8601245" y="4094943"/>
            <a:ext cx="11208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Logic</a:t>
            </a:r>
          </a:p>
          <a:p>
            <a:r>
              <a:rPr lang="en-US" altLang="zh-TW" sz="2800" b="1" dirty="0" smtClean="0"/>
              <a:t>Circuit</a:t>
            </a:r>
            <a:endParaRPr lang="zh-TW" altLang="en-US" sz="2800" b="1" dirty="0"/>
          </a:p>
        </p:txBody>
      </p:sp>
      <p:sp>
        <p:nvSpPr>
          <p:cNvPr id="2" name="文字方塊 1"/>
          <p:cNvSpPr txBox="1"/>
          <p:nvPr/>
        </p:nvSpPr>
        <p:spPr>
          <a:xfrm>
            <a:off x="5011936" y="3114674"/>
            <a:ext cx="2238883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Equivalence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 flipH="1">
            <a:off x="3812720" y="1592036"/>
            <a:ext cx="1992086" cy="2502907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flipH="1">
            <a:off x="4099406" y="4882243"/>
            <a:ext cx="4139292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337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490615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961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573790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626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573790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 flipH="1">
            <a:off x="5690507" y="2416629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067879" y="2147987"/>
            <a:ext cx="5739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0 + 0’ · 0 = </a:t>
            </a:r>
            <a:r>
              <a:rPr lang="en-US" altLang="zh-TW" sz="2800" dirty="0"/>
              <a:t>0 +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= 0 + 0 = 0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48647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685761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 flipH="1">
            <a:off x="5690507" y="2416629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067879" y="2147987"/>
            <a:ext cx="5739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0 + 0’ · 0 = </a:t>
            </a:r>
            <a:r>
              <a:rPr lang="en-US" altLang="zh-TW" sz="2800" dirty="0"/>
              <a:t>0 +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= 0 + 0 = 0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15943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530929" y="156754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37412" y="33397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21924" y="37490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62042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530929" y="156754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37412" y="33397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21924" y="37490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843948" y="332394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63344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530929" y="156754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37412" y="33397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21924" y="37490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843948" y="332394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211590" y="352400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82537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530929" y="156754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37412" y="33397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21924" y="37490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843948" y="332394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211590" y="352400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1216047" y="176759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45406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621331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 flipH="1">
            <a:off x="5690507" y="2938056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067879" y="2671758"/>
            <a:ext cx="5739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0 + 0’ · 1 = </a:t>
            </a:r>
            <a:r>
              <a:rPr lang="en-US" altLang="zh-TW" sz="2800" dirty="0"/>
              <a:t>0 +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= 0 + 1 = 1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12400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874275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 flipH="1">
            <a:off x="5690507" y="2938056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067879" y="2671758"/>
            <a:ext cx="5739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0 + 0’ · 1 = </a:t>
            </a:r>
            <a:r>
              <a:rPr lang="en-US" altLang="zh-TW" sz="2800" dirty="0"/>
              <a:t>0 +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= 0 + 1 = 1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22480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530929" y="156754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37412" y="33397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21924" y="37490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46980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530929" y="156754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37412" y="33397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21924" y="37490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843948" y="332394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33173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530929" y="156754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37412" y="33397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21924" y="37490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843948" y="332394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211590" y="352400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80346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530929" y="156754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37412" y="33397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21924" y="37490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843948" y="332394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211590" y="352400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1216047" y="176759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05171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874275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 flipH="1">
            <a:off x="5690507" y="3459483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067879" y="3195529"/>
            <a:ext cx="5739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0 + 1’ · 0 = </a:t>
            </a:r>
            <a:r>
              <a:rPr lang="en-US" altLang="zh-TW" sz="2800" dirty="0"/>
              <a:t>0 + </a:t>
            </a:r>
            <a:r>
              <a:rPr lang="en-US" altLang="zh-TW" sz="2800" dirty="0" smtClean="0"/>
              <a:t>0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= 0 + 0 = 0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21920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492218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 flipH="1">
            <a:off x="5690507" y="3459483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067879" y="3195529"/>
            <a:ext cx="5739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0 + 1’ · 0 = </a:t>
            </a:r>
            <a:r>
              <a:rPr lang="en-US" altLang="zh-TW" sz="2800" dirty="0"/>
              <a:t>0 + </a:t>
            </a:r>
            <a:r>
              <a:rPr lang="en-US" altLang="zh-TW" sz="2800" dirty="0" smtClean="0"/>
              <a:t>0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= 0 + 0 = 0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93346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492218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9" name="直線單箭頭接點 8"/>
          <p:cNvCxnSpPr/>
          <p:nvPr/>
        </p:nvCxnSpPr>
        <p:spPr>
          <a:xfrm flipH="1">
            <a:off x="5690507" y="3980911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067879" y="3719301"/>
            <a:ext cx="58689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0 + 1’ · 1 = </a:t>
            </a:r>
            <a:r>
              <a:rPr lang="en-US" altLang="zh-TW" sz="2800" dirty="0"/>
              <a:t>0 + </a:t>
            </a:r>
            <a:r>
              <a:rPr lang="en-US" altLang="zh-TW" sz="2800" dirty="0" smtClean="0"/>
              <a:t>0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= 0 + 0 = 0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70099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274147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9" name="直線單箭頭接點 8"/>
          <p:cNvCxnSpPr/>
          <p:nvPr/>
        </p:nvCxnSpPr>
        <p:spPr>
          <a:xfrm flipH="1">
            <a:off x="5690507" y="3980911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067879" y="3719301"/>
            <a:ext cx="58689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0 + 1’ · 1 = </a:t>
            </a:r>
            <a:r>
              <a:rPr lang="en-US" altLang="zh-TW" sz="2800" dirty="0"/>
              <a:t>0 + </a:t>
            </a:r>
            <a:r>
              <a:rPr lang="en-US" altLang="zh-TW" sz="2800" dirty="0" smtClean="0"/>
              <a:t>0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= 0 + 0 = 0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14246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274147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 flipH="1">
            <a:off x="5690507" y="4511163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067879" y="4242521"/>
            <a:ext cx="58689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1 + 0’ · 0 = 1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= 1 + 0 = 1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43279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667226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 flipH="1">
            <a:off x="5690507" y="4511163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067879" y="4242521"/>
            <a:ext cx="58689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1 + 0’ · 0 = 1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= 1 + 0 = 1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51706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530929" y="156754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37412" y="33397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21924" y="37490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93647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530929" y="156754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37412" y="33397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21924" y="37490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843948" y="332394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99657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530929" y="156754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37412" y="33397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21924" y="37490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843948" y="332394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211590" y="352400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54089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988050-C552-4C32-AE7A-568C56CA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58"/>
          <a:stretch>
            <a:fillRect/>
          </a:stretch>
        </p:blipFill>
        <p:spPr>
          <a:xfrm>
            <a:off x="0" y="1650794"/>
            <a:ext cx="12192000" cy="285874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530929" y="156754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37412" y="33397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21924" y="37490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843948" y="332394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211590" y="352400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0</a:t>
            </a:r>
            <a:endParaRPr lang="zh-TW" altLang="en-US" sz="2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1216047" y="176759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1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83197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667226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9" name="直線單箭頭接點 8"/>
          <p:cNvCxnSpPr/>
          <p:nvPr/>
        </p:nvCxnSpPr>
        <p:spPr>
          <a:xfrm flipH="1">
            <a:off x="5690507" y="5032590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067879" y="4766292"/>
            <a:ext cx="5739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1 + 0’ · 1 = 1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= 1 + 1 = 1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52234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565422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9" name="直線單箭頭接點 8"/>
          <p:cNvCxnSpPr/>
          <p:nvPr/>
        </p:nvCxnSpPr>
        <p:spPr>
          <a:xfrm flipH="1">
            <a:off x="5690507" y="5032590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067879" y="4766292"/>
            <a:ext cx="5739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1 + 0’ · 1 = 1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= 1 + 1 = 1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59437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081713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 flipH="1">
            <a:off x="5690507" y="5554017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067879" y="5290063"/>
            <a:ext cx="58689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1 + 1’ · 0 = 1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0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= 1 + 0 = 1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85313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183745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 flipH="1">
            <a:off x="5690507" y="5554017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067879" y="5290063"/>
            <a:ext cx="58689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1 + 1’ · 0 = 1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0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= 1 + 0 = 1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76912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183745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9" name="直線單箭頭接點 8"/>
          <p:cNvCxnSpPr/>
          <p:nvPr/>
        </p:nvCxnSpPr>
        <p:spPr>
          <a:xfrm flipH="1">
            <a:off x="5690507" y="6075445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067879" y="5813835"/>
            <a:ext cx="5739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1 + 1’ · 1 = 1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0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= 1 + 0 = 1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76060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783220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9" name="直線單箭頭接點 8"/>
          <p:cNvCxnSpPr/>
          <p:nvPr/>
        </p:nvCxnSpPr>
        <p:spPr>
          <a:xfrm flipH="1">
            <a:off x="5690507" y="6075445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067879" y="5813835"/>
            <a:ext cx="5739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1 + 1’ · 1 = 1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0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= 1 + 0 = 1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21927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8864" y="1607869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783220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264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9019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Draw a logic diagram of the Boolean function F = x’ y + x y’.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17064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9019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Draw a logic diagram of the Boolean function F = x’ y + x y’.</a:t>
            </a:r>
            <a:endParaRPr lang="zh-TW" altLang="en-US" sz="2800" dirty="0"/>
          </a:p>
        </p:txBody>
      </p:sp>
      <p:pic>
        <p:nvPicPr>
          <p:cNvPr id="7" name="圖片 1">
            <a:extLst>
              <a:ext uri="{FF2B5EF4-FFF2-40B4-BE49-F238E27FC236}">
                <a16:creationId xmlns:a16="http://schemas.microsoft.com/office/drawing/2014/main" id="{2AFB9623-6790-496C-9812-0E9EB971F6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44" r="35103"/>
          <a:stretch/>
        </p:blipFill>
        <p:spPr bwMode="auto">
          <a:xfrm>
            <a:off x="6082393" y="1669273"/>
            <a:ext cx="1257300" cy="5065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4307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9019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Draw a logic diagram of the Boolean function F = x’ y + x y’.</a:t>
            </a:r>
            <a:endParaRPr lang="zh-TW" altLang="en-US" sz="2800" dirty="0"/>
          </a:p>
        </p:txBody>
      </p:sp>
      <p:pic>
        <p:nvPicPr>
          <p:cNvPr id="7" name="圖片 1">
            <a:extLst>
              <a:ext uri="{FF2B5EF4-FFF2-40B4-BE49-F238E27FC236}">
                <a16:creationId xmlns:a16="http://schemas.microsoft.com/office/drawing/2014/main" id="{2AFB9623-6790-496C-9812-0E9EB971F6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44" r="-1"/>
          <a:stretch/>
        </p:blipFill>
        <p:spPr bwMode="auto">
          <a:xfrm>
            <a:off x="6082393" y="1669273"/>
            <a:ext cx="3876000" cy="5065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7315200" y="3476752"/>
            <a:ext cx="555172" cy="489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7315200" y="5607631"/>
            <a:ext cx="465365" cy="489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4312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9019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Draw a logic diagram of the Boolean function F = x’ y + x y’.</a:t>
            </a:r>
            <a:endParaRPr lang="zh-TW" altLang="en-US" sz="2800" dirty="0"/>
          </a:p>
        </p:txBody>
      </p:sp>
      <p:grpSp>
        <p:nvGrpSpPr>
          <p:cNvPr id="12" name="群組 11"/>
          <p:cNvGrpSpPr/>
          <p:nvPr/>
        </p:nvGrpSpPr>
        <p:grpSpPr>
          <a:xfrm>
            <a:off x="2498272" y="1669273"/>
            <a:ext cx="7460121" cy="5065029"/>
            <a:chOff x="2441121" y="1792971"/>
            <a:chExt cx="7460121" cy="5065029"/>
          </a:xfrm>
        </p:grpSpPr>
        <p:pic>
          <p:nvPicPr>
            <p:cNvPr id="7" name="圖片 1">
              <a:extLst>
                <a:ext uri="{FF2B5EF4-FFF2-40B4-BE49-F238E27FC236}">
                  <a16:creationId xmlns:a16="http://schemas.microsoft.com/office/drawing/2014/main" id="{2AFB9623-6790-496C-9812-0E9EB971F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1121" y="1792971"/>
              <a:ext cx="7460121" cy="5065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矩形 9"/>
            <p:cNvSpPr/>
            <p:nvPr/>
          </p:nvSpPr>
          <p:spPr>
            <a:xfrm>
              <a:off x="7258049" y="3600450"/>
              <a:ext cx="555172" cy="4898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7258049" y="5731329"/>
              <a:ext cx="465365" cy="4898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5536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9019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Draw a logic diagram of the Boolean function F = x’ y + x y’.</a:t>
            </a:r>
            <a:endParaRPr lang="zh-TW" altLang="en-US" sz="2800" dirty="0"/>
          </a:p>
        </p:txBody>
      </p:sp>
      <p:grpSp>
        <p:nvGrpSpPr>
          <p:cNvPr id="12" name="群組 11"/>
          <p:cNvGrpSpPr/>
          <p:nvPr/>
        </p:nvGrpSpPr>
        <p:grpSpPr>
          <a:xfrm>
            <a:off x="2498272" y="1669273"/>
            <a:ext cx="7460121" cy="5065029"/>
            <a:chOff x="2441121" y="1792971"/>
            <a:chExt cx="7460121" cy="5065029"/>
          </a:xfrm>
        </p:grpSpPr>
        <p:pic>
          <p:nvPicPr>
            <p:cNvPr id="7" name="圖片 1">
              <a:extLst>
                <a:ext uri="{FF2B5EF4-FFF2-40B4-BE49-F238E27FC236}">
                  <a16:creationId xmlns:a16="http://schemas.microsoft.com/office/drawing/2014/main" id="{2AFB9623-6790-496C-9812-0E9EB971F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1121" y="1792971"/>
              <a:ext cx="7460121" cy="5065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矩形 9"/>
            <p:cNvSpPr/>
            <p:nvPr/>
          </p:nvSpPr>
          <p:spPr>
            <a:xfrm>
              <a:off x="7258049" y="3600450"/>
              <a:ext cx="555172" cy="4898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7258049" y="5731329"/>
              <a:ext cx="465365" cy="4898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4" name="文字方塊 13"/>
          <p:cNvSpPr txBox="1"/>
          <p:nvPr/>
        </p:nvSpPr>
        <p:spPr>
          <a:xfrm>
            <a:off x="7859106" y="5708774"/>
            <a:ext cx="673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C00000"/>
                </a:solidFill>
              </a:rPr>
              <a:t>x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y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852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9019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Draw a logic diagram of the Boolean function F = x’ y + x y’.</a:t>
            </a:r>
            <a:endParaRPr lang="zh-TW" altLang="en-US" sz="2800" dirty="0"/>
          </a:p>
        </p:txBody>
      </p:sp>
      <p:grpSp>
        <p:nvGrpSpPr>
          <p:cNvPr id="12" name="群組 11"/>
          <p:cNvGrpSpPr/>
          <p:nvPr/>
        </p:nvGrpSpPr>
        <p:grpSpPr>
          <a:xfrm>
            <a:off x="2498272" y="1669273"/>
            <a:ext cx="7460121" cy="5065029"/>
            <a:chOff x="2441121" y="1792971"/>
            <a:chExt cx="7460121" cy="5065029"/>
          </a:xfrm>
        </p:grpSpPr>
        <p:pic>
          <p:nvPicPr>
            <p:cNvPr id="7" name="圖片 1">
              <a:extLst>
                <a:ext uri="{FF2B5EF4-FFF2-40B4-BE49-F238E27FC236}">
                  <a16:creationId xmlns:a16="http://schemas.microsoft.com/office/drawing/2014/main" id="{2AFB9623-6790-496C-9812-0E9EB971F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1121" y="1792971"/>
              <a:ext cx="7460121" cy="5065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矩形 9"/>
            <p:cNvSpPr/>
            <p:nvPr/>
          </p:nvSpPr>
          <p:spPr>
            <a:xfrm>
              <a:off x="7258049" y="3600450"/>
              <a:ext cx="555172" cy="4898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7258049" y="5731329"/>
              <a:ext cx="465365" cy="4898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4" name="文字方塊 13"/>
          <p:cNvSpPr txBox="1"/>
          <p:nvPr/>
        </p:nvSpPr>
        <p:spPr>
          <a:xfrm>
            <a:off x="7859106" y="5708774"/>
            <a:ext cx="673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C00000"/>
                </a:solidFill>
              </a:rPr>
              <a:t>x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y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870372" y="3970954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x y’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495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圖: 合併 3"/>
          <p:cNvSpPr/>
          <p:nvPr/>
        </p:nvSpPr>
        <p:spPr>
          <a:xfrm rot="10800000">
            <a:off x="3812721" y="1657349"/>
            <a:ext cx="4637314" cy="2914650"/>
          </a:xfrm>
          <a:prstGeom prst="flowChartMerge">
            <a:avLst/>
          </a:prstGeom>
          <a:solidFill>
            <a:schemeClr val="bg1"/>
          </a:solidFill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406660" y="579665"/>
            <a:ext cx="14494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Boolean</a:t>
            </a:r>
          </a:p>
          <a:p>
            <a:r>
              <a:rPr lang="en-US" altLang="zh-TW" sz="2800" b="1" dirty="0" smtClean="0"/>
              <a:t>Function</a:t>
            </a:r>
            <a:endParaRPr lang="zh-TW" altLang="en-US" sz="28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71625" y="4094944"/>
            <a:ext cx="9898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True</a:t>
            </a:r>
          </a:p>
          <a:p>
            <a:r>
              <a:rPr lang="en-US" altLang="zh-TW" sz="2800" b="1" dirty="0" smtClean="0"/>
              <a:t>Table</a:t>
            </a:r>
            <a:endParaRPr lang="zh-TW" altLang="en-US" sz="2800" b="1" dirty="0"/>
          </a:p>
        </p:txBody>
      </p:sp>
      <p:sp>
        <p:nvSpPr>
          <p:cNvPr id="7" name="文字方塊 6"/>
          <p:cNvSpPr txBox="1"/>
          <p:nvPr/>
        </p:nvSpPr>
        <p:spPr>
          <a:xfrm>
            <a:off x="8601245" y="4094943"/>
            <a:ext cx="11208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Logic</a:t>
            </a:r>
          </a:p>
          <a:p>
            <a:r>
              <a:rPr lang="en-US" altLang="zh-TW" sz="2800" b="1" dirty="0" smtClean="0"/>
              <a:t>Circuit</a:t>
            </a:r>
            <a:endParaRPr lang="zh-TW" altLang="en-US" sz="2800" b="1" dirty="0"/>
          </a:p>
        </p:txBody>
      </p:sp>
      <p:sp>
        <p:nvSpPr>
          <p:cNvPr id="2" name="文字方塊 1"/>
          <p:cNvSpPr txBox="1"/>
          <p:nvPr/>
        </p:nvSpPr>
        <p:spPr>
          <a:xfrm>
            <a:off x="5011936" y="3114674"/>
            <a:ext cx="2238883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Equivalence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>
            <a:off x="6533554" y="1657349"/>
            <a:ext cx="1992086" cy="2502907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681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Logic Circuit to Boolean Function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10797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2800" dirty="0"/>
              <a:t>What Boolean expression is implemented by the following logic diagram? </a:t>
            </a:r>
          </a:p>
        </p:txBody>
      </p:sp>
      <p:pic>
        <p:nvPicPr>
          <p:cNvPr id="13" name="圖片 1">
            <a:extLst>
              <a:ext uri="{FF2B5EF4-FFF2-40B4-BE49-F238E27FC236}">
                <a16:creationId xmlns:a16="http://schemas.microsoft.com/office/drawing/2014/main" id="{409A5BD3-8077-41C4-BCE2-0D0505374B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12"/>
          <a:stretch/>
        </p:blipFill>
        <p:spPr bwMode="auto">
          <a:xfrm>
            <a:off x="0" y="1637007"/>
            <a:ext cx="7837487" cy="522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9A25FB0D-92AD-45D9-B967-B5713D4B9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3"/>
          <a:stretch/>
        </p:blipFill>
        <p:spPr bwMode="auto">
          <a:xfrm>
            <a:off x="5645149" y="4400124"/>
            <a:ext cx="2192339" cy="1372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355795" y="508633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/>
              <a:t>F</a:t>
            </a:r>
            <a:endParaRPr lang="zh-TW" alt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3609215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Logic Circuit to Boolean Function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10797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2800" dirty="0"/>
              <a:t>What Boolean expression is implemented by the following logic diagram? </a:t>
            </a:r>
          </a:p>
        </p:txBody>
      </p:sp>
      <p:pic>
        <p:nvPicPr>
          <p:cNvPr id="13" name="圖片 1">
            <a:extLst>
              <a:ext uri="{FF2B5EF4-FFF2-40B4-BE49-F238E27FC236}">
                <a16:creationId xmlns:a16="http://schemas.microsoft.com/office/drawing/2014/main" id="{409A5BD3-8077-41C4-BCE2-0D0505374B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12"/>
          <a:stretch/>
        </p:blipFill>
        <p:spPr bwMode="auto">
          <a:xfrm>
            <a:off x="0" y="1637007"/>
            <a:ext cx="7837487" cy="522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9A25FB0D-92AD-45D9-B967-B5713D4B9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3"/>
          <a:stretch/>
        </p:blipFill>
        <p:spPr bwMode="auto">
          <a:xfrm>
            <a:off x="5645149" y="4400124"/>
            <a:ext cx="2192339" cy="1372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355795" y="508633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/>
              <a:t>F</a:t>
            </a:r>
            <a:endParaRPr lang="zh-TW" altLang="en-US" sz="3200" i="1" dirty="0"/>
          </a:p>
        </p:txBody>
      </p:sp>
      <p:sp>
        <p:nvSpPr>
          <p:cNvPr id="5" name="文字方塊 4"/>
          <p:cNvSpPr txBox="1"/>
          <p:nvPr/>
        </p:nvSpPr>
        <p:spPr>
          <a:xfrm>
            <a:off x="6814030" y="1457786"/>
            <a:ext cx="30748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3200" dirty="0" smtClean="0"/>
              <a:t>F	= (x’ y + x y’)’</a:t>
            </a:r>
          </a:p>
          <a:p>
            <a:pPr>
              <a:lnSpc>
                <a:spcPct val="125000"/>
              </a:lnSpc>
            </a:pPr>
            <a:r>
              <a:rPr lang="en-US" altLang="zh-TW" sz="3200" dirty="0"/>
              <a:t>	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72164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Logic Circuit to Boolean Function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10797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2800" dirty="0"/>
              <a:t>What Boolean expression is implemented by the following logic diagram? </a:t>
            </a:r>
          </a:p>
        </p:txBody>
      </p:sp>
      <p:pic>
        <p:nvPicPr>
          <p:cNvPr id="13" name="圖片 1">
            <a:extLst>
              <a:ext uri="{FF2B5EF4-FFF2-40B4-BE49-F238E27FC236}">
                <a16:creationId xmlns:a16="http://schemas.microsoft.com/office/drawing/2014/main" id="{409A5BD3-8077-41C4-BCE2-0D0505374B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12"/>
          <a:stretch/>
        </p:blipFill>
        <p:spPr bwMode="auto">
          <a:xfrm>
            <a:off x="0" y="1637007"/>
            <a:ext cx="7837487" cy="522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9A25FB0D-92AD-45D9-B967-B5713D4B9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3"/>
          <a:stretch/>
        </p:blipFill>
        <p:spPr bwMode="auto">
          <a:xfrm>
            <a:off x="5645149" y="4400124"/>
            <a:ext cx="2192339" cy="1372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355795" y="508633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/>
              <a:t>F</a:t>
            </a:r>
            <a:endParaRPr lang="zh-TW" altLang="en-US" sz="3200" i="1" dirty="0"/>
          </a:p>
        </p:txBody>
      </p:sp>
      <p:sp>
        <p:nvSpPr>
          <p:cNvPr id="5" name="文字方塊 4"/>
          <p:cNvSpPr txBox="1"/>
          <p:nvPr/>
        </p:nvSpPr>
        <p:spPr>
          <a:xfrm>
            <a:off x="6814030" y="1457786"/>
            <a:ext cx="32015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3200" dirty="0" smtClean="0"/>
              <a:t>F	= (x’ y + x y’)’</a:t>
            </a:r>
          </a:p>
          <a:p>
            <a:pPr>
              <a:lnSpc>
                <a:spcPct val="125000"/>
              </a:lnSpc>
            </a:pPr>
            <a:r>
              <a:rPr lang="en-US" altLang="zh-TW" sz="3200" dirty="0"/>
              <a:t>	</a:t>
            </a:r>
            <a:r>
              <a:rPr lang="en-US" altLang="zh-TW" sz="3200" dirty="0" smtClean="0"/>
              <a:t>= (x’ y)’ · (x y’)’</a:t>
            </a:r>
          </a:p>
        </p:txBody>
      </p:sp>
    </p:spTree>
    <p:extLst>
      <p:ext uri="{BB962C8B-B14F-4D97-AF65-F5344CB8AC3E}">
        <p14:creationId xmlns:p14="http://schemas.microsoft.com/office/powerpoint/2010/main" val="107775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Logic Circuit to Boolean Function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10797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2800" dirty="0"/>
              <a:t>What Boolean expression is implemented by the following logic diagram? </a:t>
            </a:r>
          </a:p>
        </p:txBody>
      </p:sp>
      <p:pic>
        <p:nvPicPr>
          <p:cNvPr id="13" name="圖片 1">
            <a:extLst>
              <a:ext uri="{FF2B5EF4-FFF2-40B4-BE49-F238E27FC236}">
                <a16:creationId xmlns:a16="http://schemas.microsoft.com/office/drawing/2014/main" id="{409A5BD3-8077-41C4-BCE2-0D0505374B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12"/>
          <a:stretch/>
        </p:blipFill>
        <p:spPr bwMode="auto">
          <a:xfrm>
            <a:off x="0" y="1637007"/>
            <a:ext cx="7837487" cy="522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9A25FB0D-92AD-45D9-B967-B5713D4B9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3"/>
          <a:stretch/>
        </p:blipFill>
        <p:spPr bwMode="auto">
          <a:xfrm>
            <a:off x="5645149" y="4400124"/>
            <a:ext cx="2192339" cy="1372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355795" y="508633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/>
              <a:t>F</a:t>
            </a:r>
            <a:endParaRPr lang="zh-TW" altLang="en-US" sz="3200" i="1" dirty="0"/>
          </a:p>
        </p:txBody>
      </p:sp>
      <p:sp>
        <p:nvSpPr>
          <p:cNvPr id="5" name="文字方塊 4"/>
          <p:cNvSpPr txBox="1"/>
          <p:nvPr/>
        </p:nvSpPr>
        <p:spPr>
          <a:xfrm>
            <a:off x="6814030" y="1457786"/>
            <a:ext cx="37978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3200" dirty="0" smtClean="0"/>
              <a:t>F	= (x’ y + x y’)’</a:t>
            </a:r>
          </a:p>
          <a:p>
            <a:pPr>
              <a:lnSpc>
                <a:spcPct val="125000"/>
              </a:lnSpc>
            </a:pPr>
            <a:r>
              <a:rPr lang="en-US" altLang="zh-TW" sz="3200" dirty="0"/>
              <a:t>	</a:t>
            </a:r>
            <a:r>
              <a:rPr lang="en-US" altLang="zh-TW" sz="3200" dirty="0" smtClean="0"/>
              <a:t>= (x’ y)’ · (x y’)’</a:t>
            </a:r>
          </a:p>
          <a:p>
            <a:pPr>
              <a:lnSpc>
                <a:spcPct val="125000"/>
              </a:lnSpc>
            </a:pPr>
            <a:r>
              <a:rPr lang="en-US" altLang="zh-TW" sz="3200" dirty="0" smtClean="0"/>
              <a:t>	= (x + y’) · (x’ + y)</a:t>
            </a:r>
          </a:p>
        </p:txBody>
      </p:sp>
    </p:spTree>
    <p:extLst>
      <p:ext uri="{BB962C8B-B14F-4D97-AF65-F5344CB8AC3E}">
        <p14:creationId xmlns:p14="http://schemas.microsoft.com/office/powerpoint/2010/main" val="265190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Logic Circuit to Boolean Function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10797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2800" dirty="0"/>
              <a:t>What Boolean expression is implemented by the following logic diagram? </a:t>
            </a:r>
          </a:p>
        </p:txBody>
      </p:sp>
      <p:pic>
        <p:nvPicPr>
          <p:cNvPr id="13" name="圖片 1">
            <a:extLst>
              <a:ext uri="{FF2B5EF4-FFF2-40B4-BE49-F238E27FC236}">
                <a16:creationId xmlns:a16="http://schemas.microsoft.com/office/drawing/2014/main" id="{409A5BD3-8077-41C4-BCE2-0D0505374B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12"/>
          <a:stretch/>
        </p:blipFill>
        <p:spPr bwMode="auto">
          <a:xfrm>
            <a:off x="0" y="1637007"/>
            <a:ext cx="7837487" cy="522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9A25FB0D-92AD-45D9-B967-B5713D4B9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3"/>
          <a:stretch/>
        </p:blipFill>
        <p:spPr bwMode="auto">
          <a:xfrm>
            <a:off x="5645149" y="4400124"/>
            <a:ext cx="2192339" cy="1372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355795" y="508633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/>
              <a:t>F</a:t>
            </a:r>
            <a:endParaRPr lang="zh-TW" altLang="en-US" sz="3200" i="1" dirty="0"/>
          </a:p>
        </p:txBody>
      </p:sp>
      <p:sp>
        <p:nvSpPr>
          <p:cNvPr id="5" name="文字方塊 4"/>
          <p:cNvSpPr txBox="1"/>
          <p:nvPr/>
        </p:nvSpPr>
        <p:spPr>
          <a:xfrm>
            <a:off x="6814030" y="1457786"/>
            <a:ext cx="499527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3200" dirty="0" smtClean="0"/>
              <a:t>F	= (x’ y + x y’)’</a:t>
            </a:r>
          </a:p>
          <a:p>
            <a:pPr>
              <a:lnSpc>
                <a:spcPct val="125000"/>
              </a:lnSpc>
            </a:pPr>
            <a:r>
              <a:rPr lang="en-US" altLang="zh-TW" sz="3200" dirty="0"/>
              <a:t>	</a:t>
            </a:r>
            <a:r>
              <a:rPr lang="en-US" altLang="zh-TW" sz="3200" dirty="0" smtClean="0"/>
              <a:t>= (x’ y)’ · (x y’)’</a:t>
            </a:r>
          </a:p>
          <a:p>
            <a:pPr>
              <a:lnSpc>
                <a:spcPct val="125000"/>
              </a:lnSpc>
            </a:pPr>
            <a:r>
              <a:rPr lang="en-US" altLang="zh-TW" sz="3200" dirty="0" smtClean="0"/>
              <a:t>	= (x + y’) · (x’ + y)</a:t>
            </a:r>
          </a:p>
          <a:p>
            <a:pPr>
              <a:lnSpc>
                <a:spcPct val="125000"/>
              </a:lnSpc>
            </a:pPr>
            <a:r>
              <a:rPr lang="en-US" altLang="zh-TW" sz="3200" dirty="0" smtClean="0"/>
              <a:t>	= x </a:t>
            </a:r>
            <a:r>
              <a:rPr lang="en-US" altLang="zh-TW" sz="3200" dirty="0" err="1" smtClean="0"/>
              <a:t>x</a:t>
            </a:r>
            <a:r>
              <a:rPr lang="en-US" altLang="zh-TW" sz="3200" dirty="0" smtClean="0"/>
              <a:t>’ + x y + y’ x’ + y’ y</a:t>
            </a:r>
          </a:p>
        </p:txBody>
      </p:sp>
    </p:spTree>
    <p:extLst>
      <p:ext uri="{BB962C8B-B14F-4D97-AF65-F5344CB8AC3E}">
        <p14:creationId xmlns:p14="http://schemas.microsoft.com/office/powerpoint/2010/main" val="3629832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Logic Circuit to Boolean Function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10797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2800" dirty="0"/>
              <a:t>What Boolean expression is implemented by the following logic diagram? </a:t>
            </a:r>
          </a:p>
        </p:txBody>
      </p:sp>
      <p:pic>
        <p:nvPicPr>
          <p:cNvPr id="13" name="圖片 1">
            <a:extLst>
              <a:ext uri="{FF2B5EF4-FFF2-40B4-BE49-F238E27FC236}">
                <a16:creationId xmlns:a16="http://schemas.microsoft.com/office/drawing/2014/main" id="{409A5BD3-8077-41C4-BCE2-0D0505374B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12"/>
          <a:stretch/>
        </p:blipFill>
        <p:spPr bwMode="auto">
          <a:xfrm>
            <a:off x="0" y="1637007"/>
            <a:ext cx="7837487" cy="522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9A25FB0D-92AD-45D9-B967-B5713D4B9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3"/>
          <a:stretch/>
        </p:blipFill>
        <p:spPr bwMode="auto">
          <a:xfrm>
            <a:off x="5645149" y="4400124"/>
            <a:ext cx="2192339" cy="1372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355795" y="508633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/>
              <a:t>F</a:t>
            </a:r>
            <a:endParaRPr lang="zh-TW" altLang="en-US" sz="3200" i="1" dirty="0"/>
          </a:p>
        </p:txBody>
      </p:sp>
      <p:sp>
        <p:nvSpPr>
          <p:cNvPr id="5" name="文字方塊 4"/>
          <p:cNvSpPr txBox="1"/>
          <p:nvPr/>
        </p:nvSpPr>
        <p:spPr>
          <a:xfrm>
            <a:off x="6814030" y="1457786"/>
            <a:ext cx="4995278" cy="3121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3200" dirty="0" smtClean="0"/>
              <a:t>F	= (x’ y + x y’)’</a:t>
            </a:r>
          </a:p>
          <a:p>
            <a:pPr>
              <a:lnSpc>
                <a:spcPct val="125000"/>
              </a:lnSpc>
            </a:pPr>
            <a:r>
              <a:rPr lang="en-US" altLang="zh-TW" sz="3200" dirty="0"/>
              <a:t>	</a:t>
            </a:r>
            <a:r>
              <a:rPr lang="en-US" altLang="zh-TW" sz="3200" dirty="0" smtClean="0"/>
              <a:t>= (x’ y)’ · (x y’)’</a:t>
            </a:r>
          </a:p>
          <a:p>
            <a:pPr>
              <a:lnSpc>
                <a:spcPct val="125000"/>
              </a:lnSpc>
            </a:pPr>
            <a:r>
              <a:rPr lang="en-US" altLang="zh-TW" sz="3200" dirty="0" smtClean="0"/>
              <a:t>	= (x + y’) · (x’ + y)</a:t>
            </a:r>
          </a:p>
          <a:p>
            <a:pPr>
              <a:lnSpc>
                <a:spcPct val="125000"/>
              </a:lnSpc>
            </a:pPr>
            <a:r>
              <a:rPr lang="en-US" altLang="zh-TW" sz="3200" dirty="0" smtClean="0"/>
              <a:t>	= x </a:t>
            </a:r>
            <a:r>
              <a:rPr lang="en-US" altLang="zh-TW" sz="3200" dirty="0" err="1" smtClean="0"/>
              <a:t>x</a:t>
            </a:r>
            <a:r>
              <a:rPr lang="en-US" altLang="zh-TW" sz="3200" dirty="0" smtClean="0"/>
              <a:t>’ + x y + y’ x’ + y’ y</a:t>
            </a:r>
          </a:p>
          <a:p>
            <a:pPr>
              <a:lnSpc>
                <a:spcPct val="125000"/>
              </a:lnSpc>
            </a:pPr>
            <a:r>
              <a:rPr lang="en-US" altLang="zh-TW" sz="3200" dirty="0" smtClean="0"/>
              <a:t>	= x y + x’ y’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20549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Logic Circuit to Boolean Function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8004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2800" dirty="0"/>
              <a:t>What truth table is implemented by the logic </a:t>
            </a:r>
            <a:r>
              <a:rPr lang="en-US" altLang="zh-TW" sz="2800" dirty="0" smtClean="0"/>
              <a:t>diagram?</a:t>
            </a:r>
            <a:endParaRPr lang="en-US" altLang="zh-TW" sz="2800" dirty="0"/>
          </a:p>
        </p:txBody>
      </p:sp>
      <p:pic>
        <p:nvPicPr>
          <p:cNvPr id="13" name="圖片 1">
            <a:extLst>
              <a:ext uri="{FF2B5EF4-FFF2-40B4-BE49-F238E27FC236}">
                <a16:creationId xmlns:a16="http://schemas.microsoft.com/office/drawing/2014/main" id="{409A5BD3-8077-41C4-BCE2-0D0505374B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12"/>
          <a:stretch/>
        </p:blipFill>
        <p:spPr bwMode="auto">
          <a:xfrm>
            <a:off x="1" y="1637007"/>
            <a:ext cx="7837487" cy="522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9A25FB0D-92AD-45D9-B967-B5713D4B9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3"/>
          <a:stretch/>
        </p:blipFill>
        <p:spPr bwMode="auto">
          <a:xfrm>
            <a:off x="5645149" y="4400124"/>
            <a:ext cx="2192339" cy="1372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355795" y="508633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/>
              <a:t>F</a:t>
            </a:r>
            <a:endParaRPr lang="zh-TW" alt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923095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Logic Circuit to Boolean Function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8004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2800" dirty="0"/>
              <a:t>What truth table is implemented by the logic </a:t>
            </a:r>
            <a:r>
              <a:rPr lang="en-US" altLang="zh-TW" sz="2800" dirty="0" smtClean="0"/>
              <a:t>diagram?</a:t>
            </a:r>
            <a:endParaRPr lang="en-US" altLang="zh-TW" sz="2800" dirty="0"/>
          </a:p>
        </p:txBody>
      </p:sp>
      <p:pic>
        <p:nvPicPr>
          <p:cNvPr id="13" name="圖片 1">
            <a:extLst>
              <a:ext uri="{FF2B5EF4-FFF2-40B4-BE49-F238E27FC236}">
                <a16:creationId xmlns:a16="http://schemas.microsoft.com/office/drawing/2014/main" id="{409A5BD3-8077-41C4-BCE2-0D0505374B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12"/>
          <a:stretch/>
        </p:blipFill>
        <p:spPr bwMode="auto">
          <a:xfrm>
            <a:off x="1" y="1637007"/>
            <a:ext cx="7837487" cy="522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9A25FB0D-92AD-45D9-B967-B5713D4B9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3"/>
          <a:stretch/>
        </p:blipFill>
        <p:spPr bwMode="auto">
          <a:xfrm>
            <a:off x="5645149" y="4400124"/>
            <a:ext cx="2192339" cy="1372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355795" y="508633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/>
              <a:t>F</a:t>
            </a:r>
            <a:endParaRPr lang="zh-TW" altLang="en-US" sz="3200" i="1" dirty="0"/>
          </a:p>
        </p:txBody>
      </p:sp>
      <p:sp>
        <p:nvSpPr>
          <p:cNvPr id="7" name="矩形 6"/>
          <p:cNvSpPr/>
          <p:nvPr/>
        </p:nvSpPr>
        <p:spPr>
          <a:xfrm>
            <a:off x="8444595" y="929121"/>
            <a:ext cx="3409949" cy="659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3200" b="1" dirty="0"/>
              <a:t>F	= 	</a:t>
            </a:r>
            <a:r>
              <a:rPr lang="en-US" altLang="zh-TW" sz="3200" b="1" dirty="0" smtClean="0"/>
              <a:t>x </a:t>
            </a:r>
            <a:r>
              <a:rPr lang="en-US" altLang="zh-TW" sz="3200" b="1" dirty="0"/>
              <a:t>y + x’ y’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66010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Logic Circuit to Boolean Function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8004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2800" dirty="0"/>
              <a:t>What truth table is implemented by the logic </a:t>
            </a:r>
            <a:r>
              <a:rPr lang="en-US" altLang="zh-TW" sz="2800" dirty="0" smtClean="0"/>
              <a:t>diagram?</a:t>
            </a:r>
            <a:endParaRPr lang="en-US" altLang="zh-TW" sz="2800" dirty="0"/>
          </a:p>
        </p:txBody>
      </p:sp>
      <p:pic>
        <p:nvPicPr>
          <p:cNvPr id="13" name="圖片 1">
            <a:extLst>
              <a:ext uri="{FF2B5EF4-FFF2-40B4-BE49-F238E27FC236}">
                <a16:creationId xmlns:a16="http://schemas.microsoft.com/office/drawing/2014/main" id="{409A5BD3-8077-41C4-BCE2-0D0505374B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12"/>
          <a:stretch/>
        </p:blipFill>
        <p:spPr bwMode="auto">
          <a:xfrm>
            <a:off x="1" y="1637007"/>
            <a:ext cx="7837487" cy="522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9A25FB0D-92AD-45D9-B967-B5713D4B9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3"/>
          <a:stretch/>
        </p:blipFill>
        <p:spPr bwMode="auto">
          <a:xfrm>
            <a:off x="5645149" y="4400124"/>
            <a:ext cx="2192339" cy="1372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355795" y="508633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/>
              <a:t>F</a:t>
            </a:r>
            <a:endParaRPr lang="zh-TW" altLang="en-US" sz="3200" i="1" dirty="0"/>
          </a:p>
        </p:txBody>
      </p:sp>
      <p:sp>
        <p:nvSpPr>
          <p:cNvPr id="8" name="矩形 7"/>
          <p:cNvSpPr/>
          <p:nvPr/>
        </p:nvSpPr>
        <p:spPr>
          <a:xfrm>
            <a:off x="8444595" y="929121"/>
            <a:ext cx="3409949" cy="659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3200" b="1" dirty="0"/>
              <a:t>F	= 	</a:t>
            </a:r>
            <a:r>
              <a:rPr lang="en-US" altLang="zh-TW" sz="3200" b="1" dirty="0" smtClean="0"/>
              <a:t>x </a:t>
            </a:r>
            <a:r>
              <a:rPr lang="en-US" altLang="zh-TW" sz="3200" b="1" dirty="0"/>
              <a:t>y + x’ y’</a:t>
            </a:r>
            <a:endParaRPr lang="zh-TW" altLang="en-US" sz="3200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7487"/>
              </p:ext>
            </p:extLst>
          </p:nvPr>
        </p:nvGraphicFramePr>
        <p:xfrm>
          <a:off x="7837488" y="1832603"/>
          <a:ext cx="4354512" cy="2964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04">
                  <a:extLst>
                    <a:ext uri="{9D8B030D-6E8A-4147-A177-3AD203B41FA5}">
                      <a16:colId xmlns:a16="http://schemas.microsoft.com/office/drawing/2014/main" val="2884711790"/>
                    </a:ext>
                  </a:extLst>
                </a:gridCol>
                <a:gridCol w="1451504">
                  <a:extLst>
                    <a:ext uri="{9D8B030D-6E8A-4147-A177-3AD203B41FA5}">
                      <a16:colId xmlns:a16="http://schemas.microsoft.com/office/drawing/2014/main" val="2001286240"/>
                    </a:ext>
                  </a:extLst>
                </a:gridCol>
                <a:gridCol w="1451504">
                  <a:extLst>
                    <a:ext uri="{9D8B030D-6E8A-4147-A177-3AD203B41FA5}">
                      <a16:colId xmlns:a16="http://schemas.microsoft.com/office/drawing/2014/main" val="292577040"/>
                    </a:ext>
                  </a:extLst>
                </a:gridCol>
              </a:tblGrid>
              <a:tr h="5928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318096"/>
                  </a:ext>
                </a:extLst>
              </a:tr>
              <a:tr h="5928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788339"/>
                  </a:ext>
                </a:extLst>
              </a:tr>
              <a:tr h="5928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27968"/>
                  </a:ext>
                </a:extLst>
              </a:tr>
              <a:tr h="5928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101520"/>
                  </a:ext>
                </a:extLst>
              </a:tr>
              <a:tr h="5928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00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285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Logic Circuit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1644" y="955221"/>
            <a:ext cx="8004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2800" dirty="0"/>
              <a:t>What truth table is implemented by the logic </a:t>
            </a:r>
            <a:r>
              <a:rPr lang="en-US" altLang="zh-TW" sz="2800" dirty="0" smtClean="0"/>
              <a:t>diagram?</a:t>
            </a:r>
            <a:endParaRPr lang="en-US" altLang="zh-TW" sz="2800" dirty="0"/>
          </a:p>
        </p:txBody>
      </p:sp>
      <p:pic>
        <p:nvPicPr>
          <p:cNvPr id="13" name="圖片 1">
            <a:extLst>
              <a:ext uri="{FF2B5EF4-FFF2-40B4-BE49-F238E27FC236}">
                <a16:creationId xmlns:a16="http://schemas.microsoft.com/office/drawing/2014/main" id="{409A5BD3-8077-41C4-BCE2-0D0505374B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12"/>
          <a:stretch/>
        </p:blipFill>
        <p:spPr bwMode="auto">
          <a:xfrm>
            <a:off x="1" y="1637007"/>
            <a:ext cx="7837487" cy="522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9A25FB0D-92AD-45D9-B967-B5713D4B9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3"/>
          <a:stretch/>
        </p:blipFill>
        <p:spPr bwMode="auto">
          <a:xfrm>
            <a:off x="5645149" y="4400124"/>
            <a:ext cx="2192339" cy="1372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355795" y="508633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/>
              <a:t>F</a:t>
            </a:r>
            <a:endParaRPr lang="zh-TW" altLang="en-US" sz="3200" i="1" dirty="0"/>
          </a:p>
        </p:txBody>
      </p:sp>
      <p:sp>
        <p:nvSpPr>
          <p:cNvPr id="8" name="矩形 7"/>
          <p:cNvSpPr/>
          <p:nvPr/>
        </p:nvSpPr>
        <p:spPr>
          <a:xfrm>
            <a:off x="8444595" y="929121"/>
            <a:ext cx="3409949" cy="659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3200" b="1" dirty="0"/>
              <a:t>F	= 	</a:t>
            </a:r>
            <a:r>
              <a:rPr lang="en-US" altLang="zh-TW" sz="3200" b="1" dirty="0" smtClean="0"/>
              <a:t>x </a:t>
            </a:r>
            <a:r>
              <a:rPr lang="en-US" altLang="zh-TW" sz="3200" b="1" dirty="0"/>
              <a:t>y + x’ y’</a:t>
            </a:r>
            <a:endParaRPr lang="zh-TW" altLang="en-US" sz="3200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922222"/>
              </p:ext>
            </p:extLst>
          </p:nvPr>
        </p:nvGraphicFramePr>
        <p:xfrm>
          <a:off x="7837488" y="1832603"/>
          <a:ext cx="4354512" cy="2964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04">
                  <a:extLst>
                    <a:ext uri="{9D8B030D-6E8A-4147-A177-3AD203B41FA5}">
                      <a16:colId xmlns:a16="http://schemas.microsoft.com/office/drawing/2014/main" val="2884711790"/>
                    </a:ext>
                  </a:extLst>
                </a:gridCol>
                <a:gridCol w="1451504">
                  <a:extLst>
                    <a:ext uri="{9D8B030D-6E8A-4147-A177-3AD203B41FA5}">
                      <a16:colId xmlns:a16="http://schemas.microsoft.com/office/drawing/2014/main" val="2001286240"/>
                    </a:ext>
                  </a:extLst>
                </a:gridCol>
                <a:gridCol w="1451504">
                  <a:extLst>
                    <a:ext uri="{9D8B030D-6E8A-4147-A177-3AD203B41FA5}">
                      <a16:colId xmlns:a16="http://schemas.microsoft.com/office/drawing/2014/main" val="292577040"/>
                    </a:ext>
                  </a:extLst>
                </a:gridCol>
              </a:tblGrid>
              <a:tr h="5928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318096"/>
                  </a:ext>
                </a:extLst>
              </a:tr>
              <a:tr h="5928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788339"/>
                  </a:ext>
                </a:extLst>
              </a:tr>
              <a:tr h="5928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27968"/>
                  </a:ext>
                </a:extLst>
              </a:tr>
              <a:tr h="5928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101520"/>
                  </a:ext>
                </a:extLst>
              </a:tr>
              <a:tr h="5928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00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387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True Table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43396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</a:t>
            </a:r>
            <a:r>
              <a:rPr lang="en-US" altLang="zh-TW" sz="2800" b="1" i="1" dirty="0"/>
              <a:t>= x' y' z + x' y z + x y’</a:t>
            </a:r>
          </a:p>
        </p:txBody>
      </p:sp>
    </p:spTree>
    <p:extLst>
      <p:ext uri="{BB962C8B-B14F-4D97-AF65-F5344CB8AC3E}">
        <p14:creationId xmlns:p14="http://schemas.microsoft.com/office/powerpoint/2010/main" val="1078720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43396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</a:t>
            </a:r>
            <a:r>
              <a:rPr lang="en-US" altLang="zh-TW" sz="2800" b="1" i="1" dirty="0"/>
              <a:t>= x' y' z + x' y z + x y’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198461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409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43396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</a:t>
            </a:r>
            <a:r>
              <a:rPr lang="en-US" altLang="zh-TW" sz="2800" b="1" i="1" dirty="0"/>
              <a:t>= x' y' z + x' y z + x y’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366242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 flipH="1">
            <a:off x="5690507" y="2442338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541735" y="2180728"/>
            <a:ext cx="5274201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800" dirty="0" smtClean="0"/>
              <a:t>=</a:t>
            </a:r>
            <a:r>
              <a:rPr lang="en-US" altLang="zh-TW" sz="2800" b="1" i="1" dirty="0" smtClean="0"/>
              <a:t>	</a:t>
            </a:r>
            <a:r>
              <a:rPr lang="en-US" altLang="zh-TW" sz="2800" dirty="0" smtClean="0"/>
              <a:t>0’ · 0’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0’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</a:t>
            </a:r>
            <a:r>
              <a:rPr lang="en-US" altLang="zh-TW" sz="2800" dirty="0"/>
              <a:t> ·</a:t>
            </a:r>
            <a:r>
              <a:rPr lang="en-US" altLang="zh-TW" sz="2800" dirty="0" smtClean="0"/>
              <a:t> 0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0</a:t>
            </a:r>
            <a:r>
              <a:rPr lang="en-US" altLang="zh-TW" sz="2800" dirty="0"/>
              <a:t> ·</a:t>
            </a:r>
            <a:r>
              <a:rPr lang="en-US" altLang="zh-TW" sz="2800" dirty="0" smtClean="0"/>
              <a:t> 0’</a:t>
            </a:r>
          </a:p>
          <a:p>
            <a:pPr lvl="1"/>
            <a:r>
              <a:rPr lang="en-US" altLang="zh-TW" sz="2800" dirty="0" smtClean="0"/>
              <a:t>=</a:t>
            </a:r>
            <a:r>
              <a:rPr lang="en-US" altLang="zh-TW" sz="2800" dirty="0"/>
              <a:t>	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0 +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0 · 0 + 0 · </a:t>
            </a:r>
            <a:r>
              <a:rPr lang="en-US" altLang="zh-TW" sz="2800" dirty="0" smtClean="0"/>
              <a:t>1</a:t>
            </a:r>
          </a:p>
          <a:p>
            <a:pPr lvl="1"/>
            <a:r>
              <a:rPr lang="en-US" altLang="zh-TW" sz="2800" dirty="0" smtClean="0"/>
              <a:t>=	0 + 0 + 0 </a:t>
            </a:r>
          </a:p>
          <a:p>
            <a:pPr lvl="1"/>
            <a:r>
              <a:rPr lang="en-US" altLang="zh-TW" sz="2800" dirty="0" smtClean="0"/>
              <a:t>=	0</a:t>
            </a:r>
            <a:endParaRPr lang="en-US" altLang="zh-TW" sz="2800" dirty="0"/>
          </a:p>
          <a:p>
            <a:pPr lvl="1"/>
            <a:r>
              <a:rPr lang="en-US" altLang="zh-TW" sz="2800" dirty="0" smtClean="0"/>
              <a:t> 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847184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43396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</a:t>
            </a:r>
            <a:r>
              <a:rPr lang="en-US" altLang="zh-TW" sz="2800" b="1" i="1" dirty="0"/>
              <a:t>= x' y' z + x' y z + x y’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560006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 flipH="1">
            <a:off x="5690507" y="2442338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541735" y="2180728"/>
            <a:ext cx="5274201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800" dirty="0" smtClean="0"/>
              <a:t>=</a:t>
            </a:r>
            <a:r>
              <a:rPr lang="en-US" altLang="zh-TW" sz="2800" b="1" i="1" dirty="0" smtClean="0"/>
              <a:t>	</a:t>
            </a:r>
            <a:r>
              <a:rPr lang="en-US" altLang="zh-TW" sz="2800" dirty="0" smtClean="0"/>
              <a:t>0’ · 0’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0’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</a:t>
            </a:r>
            <a:r>
              <a:rPr lang="en-US" altLang="zh-TW" sz="2800" dirty="0"/>
              <a:t> ·</a:t>
            </a:r>
            <a:r>
              <a:rPr lang="en-US" altLang="zh-TW" sz="2800" dirty="0" smtClean="0"/>
              <a:t> 0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0</a:t>
            </a:r>
            <a:r>
              <a:rPr lang="en-US" altLang="zh-TW" sz="2800" dirty="0"/>
              <a:t> ·</a:t>
            </a:r>
            <a:r>
              <a:rPr lang="en-US" altLang="zh-TW" sz="2800" dirty="0" smtClean="0"/>
              <a:t> 0’</a:t>
            </a:r>
          </a:p>
          <a:p>
            <a:pPr lvl="1"/>
            <a:r>
              <a:rPr lang="en-US" altLang="zh-TW" sz="2800" dirty="0" smtClean="0"/>
              <a:t>=</a:t>
            </a:r>
            <a:r>
              <a:rPr lang="en-US" altLang="zh-TW" sz="2800" dirty="0"/>
              <a:t>	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0 +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0 · 0 + 0 · </a:t>
            </a:r>
            <a:r>
              <a:rPr lang="en-US" altLang="zh-TW" sz="2800" dirty="0" smtClean="0"/>
              <a:t>1</a:t>
            </a:r>
          </a:p>
          <a:p>
            <a:pPr lvl="1"/>
            <a:r>
              <a:rPr lang="en-US" altLang="zh-TW" sz="2800" dirty="0" smtClean="0"/>
              <a:t>=	0 + 0 + 0 </a:t>
            </a:r>
          </a:p>
          <a:p>
            <a:pPr lvl="1"/>
            <a:r>
              <a:rPr lang="en-US" altLang="zh-TW" sz="2800" dirty="0" smtClean="0"/>
              <a:t>=	0</a:t>
            </a:r>
            <a:endParaRPr lang="en-US" altLang="zh-TW" sz="2800" dirty="0"/>
          </a:p>
          <a:p>
            <a:pPr lvl="1"/>
            <a:r>
              <a:rPr lang="en-US" altLang="zh-TW" sz="2800" dirty="0" smtClean="0"/>
              <a:t> 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463681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43396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</a:t>
            </a:r>
            <a:r>
              <a:rPr lang="en-US" altLang="zh-TW" sz="2800" b="1" i="1" dirty="0"/>
              <a:t>= x' y' z + x' y z + x y’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785836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 flipH="1">
            <a:off x="5763985" y="4009881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598885" y="3756435"/>
            <a:ext cx="5274201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800" dirty="0" smtClean="0"/>
              <a:t>=</a:t>
            </a:r>
            <a:r>
              <a:rPr lang="en-US" altLang="zh-TW" sz="2800" b="1" i="1" dirty="0" smtClean="0"/>
              <a:t>	</a:t>
            </a:r>
            <a:r>
              <a:rPr lang="en-US" altLang="zh-TW" sz="2800" dirty="0" smtClean="0"/>
              <a:t>0’ · 1’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0’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</a:t>
            </a:r>
            <a:r>
              <a:rPr lang="en-US" altLang="zh-TW" sz="2800" dirty="0" smtClean="0"/>
              <a:t> 1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0</a:t>
            </a:r>
            <a:r>
              <a:rPr lang="en-US" altLang="zh-TW" sz="2800" dirty="0"/>
              <a:t> ·</a:t>
            </a:r>
            <a:r>
              <a:rPr lang="en-US" altLang="zh-TW" sz="2800" dirty="0" smtClean="0"/>
              <a:t> 1’</a:t>
            </a:r>
          </a:p>
          <a:p>
            <a:pPr lvl="1"/>
            <a:r>
              <a:rPr lang="en-US" altLang="zh-TW" sz="2800" dirty="0" smtClean="0"/>
              <a:t>=</a:t>
            </a:r>
            <a:r>
              <a:rPr lang="en-US" altLang="zh-TW" sz="2800" dirty="0"/>
              <a:t>	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+ 0 · </a:t>
            </a:r>
            <a:r>
              <a:rPr lang="en-US" altLang="zh-TW" sz="2800" dirty="0" smtClean="0"/>
              <a:t>0</a:t>
            </a:r>
          </a:p>
          <a:p>
            <a:pPr lvl="1"/>
            <a:r>
              <a:rPr lang="en-US" altLang="zh-TW" sz="2800" dirty="0" smtClean="0"/>
              <a:t>=	0 + 1 + 0 </a:t>
            </a:r>
          </a:p>
          <a:p>
            <a:pPr lvl="1"/>
            <a:r>
              <a:rPr lang="en-US" altLang="zh-TW" sz="2800" dirty="0" smtClean="0"/>
              <a:t>=	1</a:t>
            </a:r>
            <a:endParaRPr lang="en-US" altLang="zh-TW" sz="2800" dirty="0"/>
          </a:p>
          <a:p>
            <a:pPr lvl="1"/>
            <a:r>
              <a:rPr lang="en-US" altLang="zh-TW" sz="2800" dirty="0" smtClean="0"/>
              <a:t> 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1729729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43396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</a:t>
            </a:r>
            <a:r>
              <a:rPr lang="en-US" altLang="zh-TW" sz="2800" b="1" i="1" dirty="0"/>
              <a:t>= x' y' z + x' y z + x y’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047034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 flipH="1">
            <a:off x="5763985" y="4009881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598885" y="3756435"/>
            <a:ext cx="5274201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800" dirty="0" smtClean="0"/>
              <a:t>=</a:t>
            </a:r>
            <a:r>
              <a:rPr lang="en-US" altLang="zh-TW" sz="2800" b="1" i="1" dirty="0" smtClean="0"/>
              <a:t>	</a:t>
            </a:r>
            <a:r>
              <a:rPr lang="en-US" altLang="zh-TW" sz="2800" dirty="0" smtClean="0"/>
              <a:t>0’ · 1’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0’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</a:t>
            </a:r>
            <a:r>
              <a:rPr lang="en-US" altLang="zh-TW" sz="2800" dirty="0" smtClean="0"/>
              <a:t> 1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0</a:t>
            </a:r>
            <a:r>
              <a:rPr lang="en-US" altLang="zh-TW" sz="2800" dirty="0"/>
              <a:t> ·</a:t>
            </a:r>
            <a:r>
              <a:rPr lang="en-US" altLang="zh-TW" sz="2800" dirty="0" smtClean="0"/>
              <a:t> 1’</a:t>
            </a:r>
          </a:p>
          <a:p>
            <a:pPr lvl="1"/>
            <a:r>
              <a:rPr lang="en-US" altLang="zh-TW" sz="2800" dirty="0" smtClean="0"/>
              <a:t>=</a:t>
            </a:r>
            <a:r>
              <a:rPr lang="en-US" altLang="zh-TW" sz="2800" dirty="0"/>
              <a:t>	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</a:t>
            </a:r>
            <a:r>
              <a:rPr lang="en-US" altLang="zh-TW" sz="2800" dirty="0"/>
              <a:t>+ 0 · </a:t>
            </a:r>
            <a:r>
              <a:rPr lang="en-US" altLang="zh-TW" sz="2800" dirty="0" smtClean="0"/>
              <a:t>0</a:t>
            </a:r>
          </a:p>
          <a:p>
            <a:pPr lvl="1"/>
            <a:r>
              <a:rPr lang="en-US" altLang="zh-TW" sz="2800" dirty="0" smtClean="0"/>
              <a:t>=	0 + 1 + 0 </a:t>
            </a:r>
          </a:p>
          <a:p>
            <a:pPr lvl="1"/>
            <a:r>
              <a:rPr lang="en-US" altLang="zh-TW" sz="2800" dirty="0" smtClean="0"/>
              <a:t>=	1</a:t>
            </a:r>
            <a:endParaRPr lang="en-US" altLang="zh-TW" sz="2800" dirty="0"/>
          </a:p>
          <a:p>
            <a:pPr lvl="1"/>
            <a:r>
              <a:rPr lang="en-US" altLang="zh-TW" sz="2800" dirty="0" smtClean="0"/>
              <a:t> 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745282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43396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</a:t>
            </a:r>
            <a:r>
              <a:rPr lang="en-US" altLang="zh-TW" sz="2800" b="1" i="1" dirty="0"/>
              <a:t>= x' y' z + x' y z + x y’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048773"/>
              </p:ext>
            </p:extLst>
          </p:nvPr>
        </p:nvGraphicFramePr>
        <p:xfrm>
          <a:off x="519791" y="1649191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164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38397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dirty="0" smtClean="0">
                <a:solidFill>
                  <a:srgbClr val="C00000"/>
                </a:solidFill>
                <a:latin typeface="Berlin Sans FB Demi" panose="020E0802020502020306" pitchFamily="34" charset="0"/>
              </a:rPr>
              <a:t>Why we need to Simplify Boolean Function?</a:t>
            </a:r>
            <a:endParaRPr lang="zh-TW" altLang="en-US" sz="4800" dirty="0">
              <a:solidFill>
                <a:srgbClr val="C00000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264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to Logic Circuit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749" y="930233"/>
            <a:ext cx="43396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</a:t>
            </a:r>
            <a:r>
              <a:rPr lang="en-US" altLang="zh-TW" sz="2800" b="1" i="1" dirty="0"/>
              <a:t>= x' y' z + x' y z + x y’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C147AF9-4A57-4FB4-8750-F99A697E5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049"/>
          <a:stretch/>
        </p:blipFill>
        <p:spPr>
          <a:xfrm>
            <a:off x="466065" y="1777093"/>
            <a:ext cx="11259869" cy="4738006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9017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Simplification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3877" y="1044533"/>
            <a:ext cx="4405373" cy="5884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	</a:t>
            </a:r>
            <a:r>
              <a:rPr lang="en-US" altLang="zh-TW" sz="2800" b="1" i="1" dirty="0" smtClean="0"/>
              <a:t>= x’ y’ </a:t>
            </a:r>
            <a:r>
              <a:rPr lang="en-US" altLang="zh-TW" sz="2800" b="1" i="1" dirty="0"/>
              <a:t>z + </a:t>
            </a:r>
            <a:r>
              <a:rPr lang="en-US" altLang="zh-TW" sz="2800" b="1" i="1" dirty="0" smtClean="0"/>
              <a:t>x’ </a:t>
            </a:r>
            <a:r>
              <a:rPr lang="en-US" altLang="zh-TW" sz="2800" b="1" i="1" dirty="0"/>
              <a:t>y z + x y</a:t>
            </a:r>
            <a:r>
              <a:rPr lang="en-US" altLang="zh-TW" sz="2800" b="1" i="1" dirty="0" smtClean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423496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Simplification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3877" y="1044533"/>
            <a:ext cx="4405373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	</a:t>
            </a:r>
            <a:r>
              <a:rPr lang="en-US" altLang="zh-TW" sz="2800" b="1" i="1" dirty="0" smtClean="0"/>
              <a:t>= x’ y’ </a:t>
            </a:r>
            <a:r>
              <a:rPr lang="en-US" altLang="zh-TW" sz="2800" b="1" i="1" dirty="0"/>
              <a:t>z + </a:t>
            </a:r>
            <a:r>
              <a:rPr lang="en-US" altLang="zh-TW" sz="2800" b="1" i="1" dirty="0" smtClean="0"/>
              <a:t>x’ </a:t>
            </a:r>
            <a:r>
              <a:rPr lang="en-US" altLang="zh-TW" sz="2800" b="1" i="1" dirty="0"/>
              <a:t>y z + x y</a:t>
            </a:r>
            <a:r>
              <a:rPr lang="en-US" altLang="zh-TW" sz="2800" b="1" i="1" dirty="0" smtClean="0"/>
              <a:t>’</a:t>
            </a:r>
          </a:p>
          <a:p>
            <a:pPr lvl="1">
              <a:lnSpc>
                <a:spcPct val="125000"/>
              </a:lnSpc>
            </a:pPr>
            <a:r>
              <a:rPr lang="en-US" altLang="zh-TW" sz="2800" b="1" i="1" dirty="0"/>
              <a:t>	</a:t>
            </a:r>
            <a:r>
              <a:rPr lang="en-US" altLang="zh-TW" sz="2800" b="1" i="1" dirty="0" smtClean="0"/>
              <a:t>= x’ z </a:t>
            </a:r>
            <a:r>
              <a:rPr lang="en-US" altLang="zh-TW" sz="2800" b="1" dirty="0" smtClean="0"/>
              <a:t>(y’ + y) +</a:t>
            </a:r>
            <a:r>
              <a:rPr lang="en-US" altLang="zh-TW" sz="2800" b="1" i="1" dirty="0"/>
              <a:t> x y</a:t>
            </a:r>
            <a:r>
              <a:rPr lang="en-US" altLang="zh-TW" sz="2800" b="1" i="1" dirty="0" smtClean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3277909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Simplification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3877" y="1044533"/>
            <a:ext cx="4405373" cy="16656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	</a:t>
            </a:r>
            <a:r>
              <a:rPr lang="en-US" altLang="zh-TW" sz="2800" b="1" i="1" dirty="0" smtClean="0"/>
              <a:t>= x’ y’ </a:t>
            </a:r>
            <a:r>
              <a:rPr lang="en-US" altLang="zh-TW" sz="2800" b="1" i="1" dirty="0"/>
              <a:t>z + </a:t>
            </a:r>
            <a:r>
              <a:rPr lang="en-US" altLang="zh-TW" sz="2800" b="1" i="1" dirty="0" smtClean="0"/>
              <a:t>x’ </a:t>
            </a:r>
            <a:r>
              <a:rPr lang="en-US" altLang="zh-TW" sz="2800" b="1" i="1" dirty="0"/>
              <a:t>y z + x y</a:t>
            </a:r>
            <a:r>
              <a:rPr lang="en-US" altLang="zh-TW" sz="2800" b="1" i="1" dirty="0" smtClean="0"/>
              <a:t>’</a:t>
            </a:r>
          </a:p>
          <a:p>
            <a:pPr lvl="1">
              <a:lnSpc>
                <a:spcPct val="125000"/>
              </a:lnSpc>
            </a:pPr>
            <a:r>
              <a:rPr lang="en-US" altLang="zh-TW" sz="2800" b="1" i="1" dirty="0"/>
              <a:t>	</a:t>
            </a:r>
            <a:r>
              <a:rPr lang="en-US" altLang="zh-TW" sz="2800" b="1" i="1" dirty="0" smtClean="0"/>
              <a:t>= x’ z </a:t>
            </a:r>
            <a:r>
              <a:rPr lang="en-US" altLang="zh-TW" sz="2800" b="1" dirty="0" smtClean="0"/>
              <a:t>(y’ + y) +</a:t>
            </a:r>
            <a:r>
              <a:rPr lang="en-US" altLang="zh-TW" sz="2800" b="1" i="1" dirty="0"/>
              <a:t> x y</a:t>
            </a:r>
            <a:r>
              <a:rPr lang="en-US" altLang="zh-TW" sz="2800" b="1" i="1" dirty="0" smtClean="0"/>
              <a:t>’</a:t>
            </a:r>
          </a:p>
          <a:p>
            <a:pPr lvl="1">
              <a:lnSpc>
                <a:spcPct val="125000"/>
              </a:lnSpc>
            </a:pPr>
            <a:r>
              <a:rPr lang="en-US" altLang="zh-TW" sz="2800" b="1" i="1" dirty="0"/>
              <a:t>	</a:t>
            </a:r>
            <a:r>
              <a:rPr lang="en-US" altLang="zh-TW" sz="2800" b="1" i="1" dirty="0" smtClean="0"/>
              <a:t>= x’ z + </a:t>
            </a:r>
            <a:r>
              <a:rPr lang="en-US" altLang="zh-TW" sz="2800" b="1" i="1" dirty="0"/>
              <a:t>x y</a:t>
            </a:r>
            <a:r>
              <a:rPr lang="en-US" altLang="zh-TW" sz="2800" b="1" i="1" dirty="0" smtClean="0"/>
              <a:t>’</a:t>
            </a:r>
            <a:endParaRPr lang="en-US" altLang="zh-TW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258335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Simplification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3877" y="1044533"/>
            <a:ext cx="2879314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	</a:t>
            </a:r>
            <a:r>
              <a:rPr lang="en-US" altLang="zh-TW" sz="2800" b="1" i="1" dirty="0" smtClean="0"/>
              <a:t>= x’ z + </a:t>
            </a:r>
            <a:r>
              <a:rPr lang="en-US" altLang="zh-TW" sz="2800" b="1" i="1" dirty="0"/>
              <a:t>x y</a:t>
            </a:r>
            <a:r>
              <a:rPr lang="en-US" altLang="zh-TW" sz="2800" b="1" i="1" dirty="0" smtClean="0"/>
              <a:t>’</a:t>
            </a:r>
            <a:endParaRPr lang="en-US" altLang="zh-TW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413448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Simplification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3877" y="1044533"/>
            <a:ext cx="2879314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	</a:t>
            </a:r>
            <a:r>
              <a:rPr lang="en-US" altLang="zh-TW" sz="2800" b="1" i="1" dirty="0" smtClean="0"/>
              <a:t>= x’ z + </a:t>
            </a:r>
            <a:r>
              <a:rPr lang="en-US" altLang="zh-TW" sz="2800" b="1" i="1" dirty="0"/>
              <a:t>x y</a:t>
            </a:r>
            <a:r>
              <a:rPr lang="en-US" altLang="zh-TW" sz="2800" b="1" i="1" dirty="0" smtClean="0"/>
              <a:t>’</a:t>
            </a:r>
            <a:endParaRPr lang="en-US" altLang="zh-TW" sz="2800" b="1" dirty="0" smtClean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C147AF9-4A57-4FB4-8750-F99A697E5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 t="61728" b="14188"/>
          <a:stretch/>
        </p:blipFill>
        <p:spPr>
          <a:xfrm>
            <a:off x="-1" y="2346521"/>
            <a:ext cx="12192001" cy="2665364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1698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Boolean Function Simplification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845877" y="6059203"/>
            <a:ext cx="2879314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	</a:t>
            </a:r>
            <a:r>
              <a:rPr lang="en-US" altLang="zh-TW" sz="2800" b="1" i="1" dirty="0" smtClean="0"/>
              <a:t>= x’ z + </a:t>
            </a:r>
            <a:r>
              <a:rPr lang="en-US" altLang="zh-TW" sz="2800" b="1" i="1" dirty="0"/>
              <a:t>x y</a:t>
            </a:r>
            <a:r>
              <a:rPr lang="en-US" altLang="zh-TW" sz="2800" b="1" i="1" dirty="0" smtClean="0"/>
              <a:t>’</a:t>
            </a:r>
            <a:endParaRPr lang="en-US" altLang="zh-TW" sz="2800" b="1" dirty="0" smtClean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C147AF9-4A57-4FB4-8750-F99A697E5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 t="61728" b="14188"/>
          <a:stretch/>
        </p:blipFill>
        <p:spPr>
          <a:xfrm>
            <a:off x="399225" y="4842937"/>
            <a:ext cx="9217374" cy="2015063"/>
          </a:xfrm>
          <a:prstGeom prst="rect">
            <a:avLst/>
          </a:prstGeom>
          <a:noFill/>
          <a:ln w="9525" cap="flat">
            <a:noFill/>
            <a:miter lim="800000"/>
            <a:headEnd type="none" w="med" len="med"/>
            <a:tailEnd type="none" w="med" len="med"/>
          </a:ln>
          <a:extLst/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7C147AF9-4A57-4FB4-8750-F99A697E5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049"/>
          <a:stretch/>
        </p:blipFill>
        <p:spPr>
          <a:xfrm>
            <a:off x="0" y="862361"/>
            <a:ext cx="9459838" cy="3980576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7845877" y="3626671"/>
            <a:ext cx="43396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800" b="1" i="1" dirty="0" smtClean="0"/>
              <a:t>F</a:t>
            </a:r>
            <a:r>
              <a:rPr lang="en-US" altLang="zh-TW" sz="2800" b="1" baseline="-25000" dirty="0" smtClean="0"/>
              <a:t>2 </a:t>
            </a:r>
            <a:r>
              <a:rPr lang="en-US" altLang="zh-TW" sz="2800" b="1" i="1" dirty="0"/>
              <a:t>= x' y' z + x' y z + x y’</a:t>
            </a:r>
          </a:p>
        </p:txBody>
      </p:sp>
    </p:spTree>
    <p:extLst>
      <p:ext uri="{BB962C8B-B14F-4D97-AF65-F5344CB8AC3E}">
        <p14:creationId xmlns:p14="http://schemas.microsoft.com/office/powerpoint/2010/main" val="2584589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Algebraic Manipulation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B7AD1CE-ED39-4D54-9B2D-2A9F6590498D}"/>
              </a:ext>
            </a:extLst>
          </p:cNvPr>
          <p:cNvSpPr txBox="1">
            <a:spLocks noChangeArrowheads="1"/>
          </p:cNvSpPr>
          <p:nvPr/>
        </p:nvSpPr>
        <p:spPr>
          <a:xfrm>
            <a:off x="302078" y="1926772"/>
            <a:ext cx="11889921" cy="3592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3200" b="1" dirty="0" smtClean="0">
                <a:solidFill>
                  <a:srgbClr val="C00000"/>
                </a:solidFill>
              </a:rPr>
              <a:t>To minimize Boolean expressions</a:t>
            </a:r>
          </a:p>
          <a:p>
            <a:pPr marL="971550" lvl="1" indent="-514350" algn="l">
              <a:buFont typeface="+mj-lt"/>
              <a:buAutoNum type="arabicParenR"/>
            </a:pPr>
            <a:r>
              <a:rPr lang="en-US" altLang="zh-TW" sz="2800" b="1" dirty="0" smtClean="0"/>
              <a:t>literal: </a:t>
            </a:r>
            <a:r>
              <a:rPr lang="en-US" altLang="zh-TW" sz="2800" dirty="0" smtClean="0"/>
              <a:t>a primed or unprimed variable (an input to a gate)</a:t>
            </a:r>
          </a:p>
          <a:p>
            <a:pPr marL="971550" lvl="1" indent="-514350" algn="l">
              <a:buFont typeface="+mj-lt"/>
              <a:buAutoNum type="arabicParenR"/>
            </a:pPr>
            <a:r>
              <a:rPr lang="en-US" altLang="zh-TW" sz="2800" b="1" dirty="0" smtClean="0"/>
              <a:t>term: </a:t>
            </a:r>
            <a:r>
              <a:rPr lang="en-US" altLang="zh-TW" sz="2800" dirty="0" smtClean="0"/>
              <a:t>an implementation with a gate</a:t>
            </a:r>
          </a:p>
          <a:p>
            <a:pPr marL="971550" lvl="1" indent="-514350" algn="l">
              <a:buFont typeface="+mj-lt"/>
              <a:buAutoNum type="arabicParenR"/>
            </a:pPr>
            <a:r>
              <a:rPr lang="en-US" altLang="zh-TW" sz="2800" dirty="0" smtClean="0"/>
              <a:t>The minimization of the number of literals and the number of terms </a:t>
            </a:r>
            <a:r>
              <a:rPr lang="en-US" altLang="zh-TW" sz="2800" dirty="0" smtClean="0">
                <a:sym typeface="Wingdings" panose="05000000000000000000" pitchFamily="2" charset="2"/>
              </a:rPr>
              <a:t></a:t>
            </a:r>
            <a:r>
              <a:rPr lang="en-US" altLang="zh-TW" sz="2800" dirty="0" smtClean="0"/>
              <a:t> a circuit with less equipment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806473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415CB35-C2F4-4559-818B-23641573B5DD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724479"/>
            <a:ext cx="12145759" cy="5133521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0" y="277586"/>
            <a:ext cx="12192000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Algebraic Manipulation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152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B9730221-DA47-4E44-9984-4D1C71A7E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02" y="822325"/>
            <a:ext cx="11959744" cy="5366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2251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圖: 合併 3"/>
          <p:cNvSpPr/>
          <p:nvPr/>
        </p:nvSpPr>
        <p:spPr>
          <a:xfrm rot="10800000">
            <a:off x="3812721" y="1657349"/>
            <a:ext cx="4637314" cy="2914650"/>
          </a:xfrm>
          <a:prstGeom prst="flowChartMerge">
            <a:avLst/>
          </a:prstGeom>
          <a:solidFill>
            <a:schemeClr val="bg1"/>
          </a:solidFill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406660" y="579665"/>
            <a:ext cx="14494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Boolean</a:t>
            </a:r>
          </a:p>
          <a:p>
            <a:r>
              <a:rPr lang="en-US" altLang="zh-TW" sz="2800" b="1" dirty="0" smtClean="0"/>
              <a:t>Function</a:t>
            </a:r>
            <a:endParaRPr lang="zh-TW" altLang="en-US" sz="28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71625" y="4094944"/>
            <a:ext cx="9898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True</a:t>
            </a:r>
          </a:p>
          <a:p>
            <a:r>
              <a:rPr lang="en-US" altLang="zh-TW" sz="2800" b="1" dirty="0" smtClean="0"/>
              <a:t>Table</a:t>
            </a:r>
            <a:endParaRPr lang="zh-TW" altLang="en-US" sz="2800" b="1" dirty="0"/>
          </a:p>
        </p:txBody>
      </p:sp>
      <p:sp>
        <p:nvSpPr>
          <p:cNvPr id="7" name="文字方塊 6"/>
          <p:cNvSpPr txBox="1"/>
          <p:nvPr/>
        </p:nvSpPr>
        <p:spPr>
          <a:xfrm>
            <a:off x="8601245" y="4094943"/>
            <a:ext cx="11208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Logic</a:t>
            </a:r>
          </a:p>
          <a:p>
            <a:r>
              <a:rPr lang="en-US" altLang="zh-TW" sz="2800" b="1" dirty="0" smtClean="0"/>
              <a:t>Circuit</a:t>
            </a:r>
            <a:endParaRPr lang="zh-TW" altLang="en-US" sz="2800" b="1" dirty="0"/>
          </a:p>
        </p:txBody>
      </p:sp>
      <p:sp>
        <p:nvSpPr>
          <p:cNvPr id="2" name="文字方塊 1"/>
          <p:cNvSpPr txBox="1"/>
          <p:nvPr/>
        </p:nvSpPr>
        <p:spPr>
          <a:xfrm>
            <a:off x="5011936" y="3114674"/>
            <a:ext cx="2238883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Equivalence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444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5406660" y="579665"/>
            <a:ext cx="14494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Boolean</a:t>
            </a:r>
          </a:p>
          <a:p>
            <a:r>
              <a:rPr lang="en-US" altLang="zh-TW" sz="2800" b="1" dirty="0" smtClean="0"/>
              <a:t>Function</a:t>
            </a:r>
            <a:endParaRPr lang="zh-TW" altLang="en-US" sz="28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71625" y="4094944"/>
            <a:ext cx="9898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True</a:t>
            </a:r>
          </a:p>
          <a:p>
            <a:r>
              <a:rPr lang="en-US" altLang="zh-TW" sz="2800" b="1" dirty="0" smtClean="0"/>
              <a:t>Table</a:t>
            </a:r>
            <a:endParaRPr lang="zh-TW" altLang="en-US" sz="2800" b="1" dirty="0"/>
          </a:p>
        </p:txBody>
      </p:sp>
      <p:sp>
        <p:nvSpPr>
          <p:cNvPr id="7" name="文字方塊 6"/>
          <p:cNvSpPr txBox="1"/>
          <p:nvPr/>
        </p:nvSpPr>
        <p:spPr>
          <a:xfrm>
            <a:off x="8601245" y="4094943"/>
            <a:ext cx="11208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Logic</a:t>
            </a:r>
          </a:p>
          <a:p>
            <a:r>
              <a:rPr lang="en-US" altLang="zh-TW" sz="2800" b="1" dirty="0" smtClean="0"/>
              <a:t>Circuit</a:t>
            </a:r>
            <a:endParaRPr lang="zh-TW" altLang="en-US" sz="2800" b="1" dirty="0"/>
          </a:p>
        </p:txBody>
      </p:sp>
      <p:cxnSp>
        <p:nvCxnSpPr>
          <p:cNvPr id="9" name="直線單箭頭接點 8"/>
          <p:cNvCxnSpPr/>
          <p:nvPr/>
        </p:nvCxnSpPr>
        <p:spPr>
          <a:xfrm>
            <a:off x="6533554" y="1657349"/>
            <a:ext cx="1992086" cy="2502907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>
            <a:off x="3737116" y="1657349"/>
            <a:ext cx="1992086" cy="2502907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流程圖: 合併 13"/>
          <p:cNvSpPr/>
          <p:nvPr/>
        </p:nvSpPr>
        <p:spPr>
          <a:xfrm rot="10800000">
            <a:off x="3812721" y="1657349"/>
            <a:ext cx="4637314" cy="2914650"/>
          </a:xfrm>
          <a:prstGeom prst="flowChartMerge">
            <a:avLst/>
          </a:prstGeom>
          <a:solidFill>
            <a:schemeClr val="bg1"/>
          </a:solidFill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011936" y="3114674"/>
            <a:ext cx="2238883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Equivalence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03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5406660" y="579665"/>
            <a:ext cx="14494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Boolean</a:t>
            </a:r>
          </a:p>
          <a:p>
            <a:r>
              <a:rPr lang="en-US" altLang="zh-TW" sz="2800" b="1" dirty="0" smtClean="0"/>
              <a:t>Function</a:t>
            </a:r>
            <a:endParaRPr lang="zh-TW" altLang="en-US" sz="28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71625" y="4094944"/>
            <a:ext cx="9898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True</a:t>
            </a:r>
          </a:p>
          <a:p>
            <a:r>
              <a:rPr lang="en-US" altLang="zh-TW" sz="2800" b="1" dirty="0" smtClean="0"/>
              <a:t>Table</a:t>
            </a:r>
            <a:endParaRPr lang="zh-TW" altLang="en-US" sz="2800" b="1" dirty="0"/>
          </a:p>
        </p:txBody>
      </p:sp>
      <p:sp>
        <p:nvSpPr>
          <p:cNvPr id="7" name="文字方塊 6"/>
          <p:cNvSpPr txBox="1"/>
          <p:nvPr/>
        </p:nvSpPr>
        <p:spPr>
          <a:xfrm>
            <a:off x="8601245" y="4094943"/>
            <a:ext cx="11208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Logic</a:t>
            </a:r>
          </a:p>
          <a:p>
            <a:r>
              <a:rPr lang="en-US" altLang="zh-TW" sz="2800" b="1" dirty="0" smtClean="0"/>
              <a:t>Circuit</a:t>
            </a:r>
            <a:endParaRPr lang="zh-TW" altLang="en-US" sz="2800" b="1" dirty="0"/>
          </a:p>
        </p:txBody>
      </p:sp>
      <p:cxnSp>
        <p:nvCxnSpPr>
          <p:cNvPr id="9" name="直線單箭頭接點 8"/>
          <p:cNvCxnSpPr/>
          <p:nvPr/>
        </p:nvCxnSpPr>
        <p:spPr>
          <a:xfrm>
            <a:off x="6533554" y="1657349"/>
            <a:ext cx="1992086" cy="2502907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>
            <a:off x="4048424" y="4857750"/>
            <a:ext cx="4401611" cy="12801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流程圖: 合併 13"/>
          <p:cNvSpPr/>
          <p:nvPr/>
        </p:nvSpPr>
        <p:spPr>
          <a:xfrm rot="10800000">
            <a:off x="3812721" y="1657349"/>
            <a:ext cx="4637314" cy="2914650"/>
          </a:xfrm>
          <a:prstGeom prst="flowChartMerge">
            <a:avLst/>
          </a:prstGeom>
          <a:solidFill>
            <a:schemeClr val="bg1"/>
          </a:solidFill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011936" y="3114674"/>
            <a:ext cx="2238883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Equivalence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86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5406660" y="579665"/>
            <a:ext cx="14494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Boolean</a:t>
            </a:r>
          </a:p>
          <a:p>
            <a:r>
              <a:rPr lang="en-US" altLang="zh-TW" sz="2800" b="1" dirty="0" smtClean="0"/>
              <a:t>Function</a:t>
            </a:r>
            <a:endParaRPr lang="zh-TW" altLang="en-US" sz="28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71625" y="4094944"/>
            <a:ext cx="9898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True</a:t>
            </a:r>
          </a:p>
          <a:p>
            <a:r>
              <a:rPr lang="en-US" altLang="zh-TW" sz="2800" b="1" dirty="0" smtClean="0"/>
              <a:t>Table</a:t>
            </a:r>
            <a:endParaRPr lang="zh-TW" altLang="en-US" sz="2800" b="1" dirty="0"/>
          </a:p>
        </p:txBody>
      </p:sp>
      <p:sp>
        <p:nvSpPr>
          <p:cNvPr id="7" name="文字方塊 6"/>
          <p:cNvSpPr txBox="1"/>
          <p:nvPr/>
        </p:nvSpPr>
        <p:spPr>
          <a:xfrm>
            <a:off x="8601245" y="4094943"/>
            <a:ext cx="11208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Logic</a:t>
            </a:r>
          </a:p>
          <a:p>
            <a:r>
              <a:rPr lang="en-US" altLang="zh-TW" sz="2800" b="1" dirty="0" smtClean="0"/>
              <a:t>Circuit</a:t>
            </a:r>
            <a:endParaRPr lang="zh-TW" altLang="en-US" sz="2800" b="1" dirty="0"/>
          </a:p>
        </p:txBody>
      </p:sp>
      <p:cxnSp>
        <p:nvCxnSpPr>
          <p:cNvPr id="10" name="直線單箭頭接點 9"/>
          <p:cNvCxnSpPr/>
          <p:nvPr/>
        </p:nvCxnSpPr>
        <p:spPr>
          <a:xfrm flipH="1">
            <a:off x="3737116" y="2171700"/>
            <a:ext cx="1577834" cy="1988556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>
            <a:off x="4048426" y="4860068"/>
            <a:ext cx="3609674" cy="10483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/>
          <p:cNvSpPr txBox="1"/>
          <p:nvPr/>
        </p:nvSpPr>
        <p:spPr>
          <a:xfrm>
            <a:off x="7836463" y="4578163"/>
            <a:ext cx="445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  <a:latin typeface="Comic Sans MS" panose="030F0702030302020204" pitchFamily="66" charset="0"/>
              </a:rPr>
              <a:t>?</a:t>
            </a:r>
            <a:endParaRPr lang="zh-TW" altLang="en-US" sz="3600" b="1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314950" y="1608775"/>
            <a:ext cx="445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  <a:latin typeface="Comic Sans MS" panose="030F0702030302020204" pitchFamily="66" charset="0"/>
              </a:rPr>
              <a:t>?</a:t>
            </a:r>
            <a:endParaRPr lang="zh-TW" altLang="en-US" sz="3600" b="1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流程圖: 合併 13"/>
          <p:cNvSpPr/>
          <p:nvPr/>
        </p:nvSpPr>
        <p:spPr>
          <a:xfrm rot="10800000">
            <a:off x="3812721" y="1657349"/>
            <a:ext cx="4637314" cy="2914650"/>
          </a:xfrm>
          <a:prstGeom prst="flowChartMerge">
            <a:avLst/>
          </a:prstGeom>
          <a:solidFill>
            <a:schemeClr val="bg1"/>
          </a:solidFill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011936" y="3114674"/>
            <a:ext cx="2238883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Equivalence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960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5406660" y="579665"/>
            <a:ext cx="14494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Boolean</a:t>
            </a:r>
          </a:p>
          <a:p>
            <a:r>
              <a:rPr lang="en-US" altLang="zh-TW" sz="2800" b="1" dirty="0" smtClean="0"/>
              <a:t>Function</a:t>
            </a:r>
            <a:endParaRPr lang="zh-TW" altLang="en-US" sz="28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71625" y="4094944"/>
            <a:ext cx="9898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True</a:t>
            </a:r>
          </a:p>
          <a:p>
            <a:r>
              <a:rPr lang="en-US" altLang="zh-TW" sz="2800" b="1" dirty="0" smtClean="0"/>
              <a:t>Table</a:t>
            </a:r>
            <a:endParaRPr lang="zh-TW" altLang="en-US" sz="2800" b="1" dirty="0"/>
          </a:p>
        </p:txBody>
      </p:sp>
      <p:sp>
        <p:nvSpPr>
          <p:cNvPr id="7" name="文字方塊 6"/>
          <p:cNvSpPr txBox="1"/>
          <p:nvPr/>
        </p:nvSpPr>
        <p:spPr>
          <a:xfrm>
            <a:off x="8601245" y="4094943"/>
            <a:ext cx="11208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Logic</a:t>
            </a:r>
          </a:p>
          <a:p>
            <a:r>
              <a:rPr lang="en-US" altLang="zh-TW" sz="2800" b="1" dirty="0" smtClean="0"/>
              <a:t>Circuit</a:t>
            </a:r>
            <a:endParaRPr lang="zh-TW" altLang="en-US" sz="2800" b="1" dirty="0"/>
          </a:p>
        </p:txBody>
      </p:sp>
      <p:cxnSp>
        <p:nvCxnSpPr>
          <p:cNvPr id="10" name="直線單箭頭接點 9"/>
          <p:cNvCxnSpPr/>
          <p:nvPr/>
        </p:nvCxnSpPr>
        <p:spPr>
          <a:xfrm flipH="1">
            <a:off x="3737116" y="2171700"/>
            <a:ext cx="1577834" cy="1988556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>
            <a:off x="4048426" y="4860068"/>
            <a:ext cx="3609674" cy="10483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/>
          <p:cNvSpPr txBox="1"/>
          <p:nvPr/>
        </p:nvSpPr>
        <p:spPr>
          <a:xfrm>
            <a:off x="7836463" y="4578163"/>
            <a:ext cx="445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  <a:latin typeface="Comic Sans MS" panose="030F0702030302020204" pitchFamily="66" charset="0"/>
              </a:rPr>
              <a:t>?</a:t>
            </a:r>
            <a:endParaRPr lang="zh-TW" altLang="en-US" sz="3600" b="1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314950" y="1608775"/>
            <a:ext cx="445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  <a:latin typeface="Comic Sans MS" panose="030F0702030302020204" pitchFamily="66" charset="0"/>
              </a:rPr>
              <a:t>?</a:t>
            </a:r>
            <a:endParaRPr lang="zh-TW" altLang="en-US" sz="3600" b="1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流程圖: 合併 13"/>
          <p:cNvSpPr/>
          <p:nvPr/>
        </p:nvSpPr>
        <p:spPr>
          <a:xfrm rot="10800000">
            <a:off x="3812721" y="1657349"/>
            <a:ext cx="4637314" cy="2914650"/>
          </a:xfrm>
          <a:prstGeom prst="flowChartMerge">
            <a:avLst/>
          </a:prstGeom>
          <a:solidFill>
            <a:schemeClr val="bg1"/>
          </a:solidFill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011936" y="3114674"/>
            <a:ext cx="2238883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Equivalence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5633776" y="3931204"/>
            <a:ext cx="8002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600" dirty="0" smtClean="0">
                <a:solidFill>
                  <a:srgbClr val="C00000"/>
                </a:solidFill>
                <a:latin typeface="Forte" panose="03060902040502070203" pitchFamily="66" charset="0"/>
              </a:rPr>
              <a:t>x</a:t>
            </a:r>
            <a:endParaRPr lang="zh-TW" altLang="en-US" sz="9600" dirty="0">
              <a:solidFill>
                <a:srgbClr val="C00000"/>
              </a:solidFill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104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5406660" y="579665"/>
            <a:ext cx="14494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Boolean</a:t>
            </a:r>
          </a:p>
          <a:p>
            <a:r>
              <a:rPr lang="en-US" altLang="zh-TW" sz="2800" b="1" dirty="0" smtClean="0"/>
              <a:t>Function</a:t>
            </a:r>
            <a:endParaRPr lang="zh-TW" altLang="en-US" sz="28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71625" y="4094944"/>
            <a:ext cx="9898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True</a:t>
            </a:r>
          </a:p>
          <a:p>
            <a:r>
              <a:rPr lang="en-US" altLang="zh-TW" sz="2800" b="1" dirty="0" smtClean="0"/>
              <a:t>Table</a:t>
            </a:r>
            <a:endParaRPr lang="zh-TW" altLang="en-US" sz="2800" b="1" dirty="0"/>
          </a:p>
        </p:txBody>
      </p:sp>
      <p:sp>
        <p:nvSpPr>
          <p:cNvPr id="7" name="文字方塊 6"/>
          <p:cNvSpPr txBox="1"/>
          <p:nvPr/>
        </p:nvSpPr>
        <p:spPr>
          <a:xfrm>
            <a:off x="8601245" y="4094943"/>
            <a:ext cx="11208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Logic</a:t>
            </a:r>
          </a:p>
          <a:p>
            <a:r>
              <a:rPr lang="en-US" altLang="zh-TW" sz="2800" b="1" dirty="0" smtClean="0"/>
              <a:t>Circuit</a:t>
            </a:r>
            <a:endParaRPr lang="zh-TW" altLang="en-US" sz="2800" b="1" dirty="0"/>
          </a:p>
        </p:txBody>
      </p:sp>
      <p:sp>
        <p:nvSpPr>
          <p:cNvPr id="14" name="流程圖: 合併 13"/>
          <p:cNvSpPr/>
          <p:nvPr/>
        </p:nvSpPr>
        <p:spPr>
          <a:xfrm rot="10800000">
            <a:off x="3812721" y="1657349"/>
            <a:ext cx="4637314" cy="2914650"/>
          </a:xfrm>
          <a:prstGeom prst="flowChartMerge">
            <a:avLst/>
          </a:prstGeom>
          <a:solidFill>
            <a:schemeClr val="bg1"/>
          </a:solidFill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011936" y="3114674"/>
            <a:ext cx="2238883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Equivalence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6533554" y="1657349"/>
            <a:ext cx="1992086" cy="2502907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3737116" y="1657349"/>
            <a:ext cx="1992086" cy="2502907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867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5406660" y="579665"/>
            <a:ext cx="14494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Boolean</a:t>
            </a:r>
          </a:p>
          <a:p>
            <a:r>
              <a:rPr lang="en-US" altLang="zh-TW" sz="2800" b="1" dirty="0" smtClean="0"/>
              <a:t>Function</a:t>
            </a:r>
            <a:endParaRPr lang="zh-TW" altLang="en-US" sz="28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71625" y="4094944"/>
            <a:ext cx="9898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True</a:t>
            </a:r>
          </a:p>
          <a:p>
            <a:r>
              <a:rPr lang="en-US" altLang="zh-TW" sz="2800" b="1" dirty="0" smtClean="0"/>
              <a:t>Table</a:t>
            </a:r>
            <a:endParaRPr lang="zh-TW" altLang="en-US" sz="2800" b="1" dirty="0"/>
          </a:p>
        </p:txBody>
      </p:sp>
      <p:sp>
        <p:nvSpPr>
          <p:cNvPr id="7" name="文字方塊 6"/>
          <p:cNvSpPr txBox="1"/>
          <p:nvPr/>
        </p:nvSpPr>
        <p:spPr>
          <a:xfrm>
            <a:off x="8601245" y="4094943"/>
            <a:ext cx="11208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Logic</a:t>
            </a:r>
          </a:p>
          <a:p>
            <a:r>
              <a:rPr lang="en-US" altLang="zh-TW" sz="2800" b="1" dirty="0" smtClean="0"/>
              <a:t>Circuit</a:t>
            </a:r>
            <a:endParaRPr lang="zh-TW" altLang="en-US" sz="2800" b="1" dirty="0"/>
          </a:p>
        </p:txBody>
      </p:sp>
      <p:sp>
        <p:nvSpPr>
          <p:cNvPr id="14" name="流程圖: 合併 13"/>
          <p:cNvSpPr/>
          <p:nvPr/>
        </p:nvSpPr>
        <p:spPr>
          <a:xfrm rot="10800000">
            <a:off x="3812721" y="1657349"/>
            <a:ext cx="4637314" cy="2914650"/>
          </a:xfrm>
          <a:prstGeom prst="flowChartMerge">
            <a:avLst/>
          </a:prstGeom>
          <a:solidFill>
            <a:schemeClr val="bg1"/>
          </a:solidFill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011936" y="3114674"/>
            <a:ext cx="2238883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Equivalence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3737116" y="2171700"/>
            <a:ext cx="1577834" cy="1988556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5314950" y="1608775"/>
            <a:ext cx="445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  <a:latin typeface="Comic Sans MS" panose="030F0702030302020204" pitchFamily="66" charset="0"/>
              </a:rPr>
              <a:t>?</a:t>
            </a:r>
            <a:endParaRPr lang="zh-TW" altLang="en-US" sz="3600" b="1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84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/>
          <a:lstStyle/>
          <a:p>
            <a:pPr eaLnBrk="1" hangingPunct="1"/>
            <a:r>
              <a:rPr lang="en-US" altLang="zh-TW" sz="2800" b="1" dirty="0">
                <a:solidFill>
                  <a:schemeClr val="bg1"/>
                </a:solidFill>
              </a:rPr>
              <a:t>Complement of a Function</a:t>
            </a:r>
          </a:p>
        </p:txBody>
      </p:sp>
      <p:sp>
        <p:nvSpPr>
          <p:cNvPr id="5" name="矩形 4"/>
          <p:cNvSpPr/>
          <p:nvPr/>
        </p:nvSpPr>
        <p:spPr>
          <a:xfrm>
            <a:off x="536120" y="1259784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15885"/>
              </p:ext>
            </p:extLst>
          </p:nvPr>
        </p:nvGraphicFramePr>
        <p:xfrm>
          <a:off x="536120" y="1910448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059751"/>
              </p:ext>
            </p:extLst>
          </p:nvPr>
        </p:nvGraphicFramePr>
        <p:xfrm>
          <a:off x="536118" y="1910447"/>
          <a:ext cx="6240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048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2419339694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90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/>
          <a:lstStyle/>
          <a:p>
            <a:pPr eaLnBrk="1" hangingPunct="1"/>
            <a:r>
              <a:rPr lang="en-US" altLang="zh-TW" sz="2800" b="1" dirty="0">
                <a:solidFill>
                  <a:schemeClr val="bg1"/>
                </a:solidFill>
              </a:rPr>
              <a:t>Complement of a Function</a:t>
            </a:r>
          </a:p>
        </p:txBody>
      </p:sp>
      <p:sp>
        <p:nvSpPr>
          <p:cNvPr id="5" name="矩形 4"/>
          <p:cNvSpPr/>
          <p:nvPr/>
        </p:nvSpPr>
        <p:spPr>
          <a:xfrm>
            <a:off x="536120" y="1259784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15885"/>
              </p:ext>
            </p:extLst>
          </p:nvPr>
        </p:nvGraphicFramePr>
        <p:xfrm>
          <a:off x="536120" y="1910448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889385"/>
              </p:ext>
            </p:extLst>
          </p:nvPr>
        </p:nvGraphicFramePr>
        <p:xfrm>
          <a:off x="536118" y="1910447"/>
          <a:ext cx="6240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048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2419339694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890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/>
          <a:lstStyle/>
          <a:p>
            <a:pPr eaLnBrk="1" hangingPunct="1"/>
            <a:r>
              <a:rPr lang="en-US" altLang="zh-TW" sz="2800" b="1" dirty="0">
                <a:solidFill>
                  <a:schemeClr val="bg1"/>
                </a:solidFill>
              </a:rPr>
              <a:t>Complement of a Function</a:t>
            </a:r>
          </a:p>
        </p:txBody>
      </p:sp>
      <p:sp>
        <p:nvSpPr>
          <p:cNvPr id="5" name="矩形 4"/>
          <p:cNvSpPr/>
          <p:nvPr/>
        </p:nvSpPr>
        <p:spPr>
          <a:xfrm>
            <a:off x="536120" y="1259784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15885"/>
              </p:ext>
            </p:extLst>
          </p:nvPr>
        </p:nvGraphicFramePr>
        <p:xfrm>
          <a:off x="536120" y="1910448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889385"/>
              </p:ext>
            </p:extLst>
          </p:nvPr>
        </p:nvGraphicFramePr>
        <p:xfrm>
          <a:off x="536118" y="1910447"/>
          <a:ext cx="6240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048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2419339694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7072994" y="1783004"/>
            <a:ext cx="51190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Interchange </a:t>
            </a:r>
            <a:r>
              <a:rPr lang="en-US" altLang="zh-TW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0's for 1's and 1's for 0's in the value of </a:t>
            </a:r>
            <a:r>
              <a:rPr lang="en-US" altLang="zh-TW" sz="2800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</a:t>
            </a:r>
            <a:r>
              <a:rPr lang="en-US" altLang="zh-TW" sz="2800" b="1" i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en-US" altLang="zh-TW" sz="2800" b="1" i="1" baseline="-25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576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/>
          <a:lstStyle/>
          <a:p>
            <a:pPr eaLnBrk="1" hangingPunct="1"/>
            <a:r>
              <a:rPr lang="en-US" altLang="zh-TW" sz="2800" b="1" dirty="0">
                <a:solidFill>
                  <a:schemeClr val="bg1"/>
                </a:solidFill>
              </a:rPr>
              <a:t>Complement of a Function</a:t>
            </a:r>
          </a:p>
        </p:txBody>
      </p:sp>
      <p:sp>
        <p:nvSpPr>
          <p:cNvPr id="5" name="矩形 4"/>
          <p:cNvSpPr/>
          <p:nvPr/>
        </p:nvSpPr>
        <p:spPr>
          <a:xfrm>
            <a:off x="536120" y="1259784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15885"/>
              </p:ext>
            </p:extLst>
          </p:nvPr>
        </p:nvGraphicFramePr>
        <p:xfrm>
          <a:off x="536120" y="1910448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657149"/>
              </p:ext>
            </p:extLst>
          </p:nvPr>
        </p:nvGraphicFramePr>
        <p:xfrm>
          <a:off x="536118" y="1910447"/>
          <a:ext cx="6240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048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2419339694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072994" y="1783004"/>
            <a:ext cx="51190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Interchange </a:t>
            </a:r>
            <a:r>
              <a:rPr lang="en-US" altLang="zh-TW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0's for 1's and 1's for 0's in the value of </a:t>
            </a:r>
            <a:r>
              <a:rPr lang="en-US" altLang="zh-TW" sz="2800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</a:t>
            </a:r>
            <a:r>
              <a:rPr lang="en-US" altLang="zh-TW" sz="2800" b="1" i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en-US" altLang="zh-TW" sz="2800" b="1" i="1" baseline="-25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942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/>
          <a:lstStyle/>
          <a:p>
            <a:pPr eaLnBrk="1" hangingPunct="1"/>
            <a:r>
              <a:rPr lang="en-US" altLang="zh-TW" sz="2800" b="1" dirty="0">
                <a:solidFill>
                  <a:schemeClr val="bg1"/>
                </a:solidFill>
              </a:rPr>
              <a:t>Complement of a Function</a:t>
            </a:r>
          </a:p>
        </p:txBody>
      </p:sp>
      <p:sp>
        <p:nvSpPr>
          <p:cNvPr id="5" name="矩形 4"/>
          <p:cNvSpPr/>
          <p:nvPr/>
        </p:nvSpPr>
        <p:spPr>
          <a:xfrm>
            <a:off x="536120" y="1259784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15885"/>
              </p:ext>
            </p:extLst>
          </p:nvPr>
        </p:nvGraphicFramePr>
        <p:xfrm>
          <a:off x="536120" y="1910448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657149"/>
              </p:ext>
            </p:extLst>
          </p:nvPr>
        </p:nvGraphicFramePr>
        <p:xfrm>
          <a:off x="536118" y="1910447"/>
          <a:ext cx="6240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048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2419339694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072994" y="1783004"/>
            <a:ext cx="51190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How to derive the Boolean function of F</a:t>
            </a:r>
            <a:r>
              <a:rPr lang="en-US" altLang="zh-TW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n-US" altLang="zh-TW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’? </a:t>
            </a:r>
            <a:endParaRPr lang="en-US" altLang="zh-TW" sz="2800" b="1" i="1" baseline="-25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236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/>
          <a:lstStyle/>
          <a:p>
            <a:pPr eaLnBrk="1" hangingPunct="1"/>
            <a:r>
              <a:rPr lang="en-US" altLang="zh-TW" sz="2800" b="1" dirty="0">
                <a:solidFill>
                  <a:schemeClr val="bg1"/>
                </a:solidFill>
              </a:rPr>
              <a:t>Complement of a Function</a:t>
            </a:r>
          </a:p>
        </p:txBody>
      </p:sp>
      <p:sp>
        <p:nvSpPr>
          <p:cNvPr id="5" name="矩形 4"/>
          <p:cNvSpPr/>
          <p:nvPr/>
        </p:nvSpPr>
        <p:spPr>
          <a:xfrm>
            <a:off x="536120" y="1259784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15885"/>
              </p:ext>
            </p:extLst>
          </p:nvPr>
        </p:nvGraphicFramePr>
        <p:xfrm>
          <a:off x="536120" y="1910448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657149"/>
              </p:ext>
            </p:extLst>
          </p:nvPr>
        </p:nvGraphicFramePr>
        <p:xfrm>
          <a:off x="536118" y="1910447"/>
          <a:ext cx="6240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048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2419339694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072994" y="1783004"/>
            <a:ext cx="51190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How to derive the Boolean function of F</a:t>
            </a:r>
            <a:r>
              <a:rPr lang="en-US" altLang="zh-TW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n-US" altLang="zh-TW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’? </a:t>
            </a:r>
            <a:endParaRPr lang="en-US" altLang="zh-TW" sz="2800" b="1" i="1" baseline="-25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7176407" y="2864554"/>
            <a:ext cx="3801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TW" sz="2800" b="1" dirty="0">
                <a:solidFill>
                  <a:srgbClr val="C00000"/>
                </a:solidFill>
              </a:rPr>
              <a:t>by </a:t>
            </a:r>
            <a:r>
              <a:rPr lang="en-US" altLang="zh-TW" sz="2800" b="1" dirty="0" err="1">
                <a:solidFill>
                  <a:srgbClr val="C00000"/>
                </a:solidFill>
              </a:rPr>
              <a:t>DeMorgan's</a:t>
            </a:r>
            <a:r>
              <a:rPr lang="en-US" altLang="zh-TW" sz="2800" b="1" dirty="0">
                <a:solidFill>
                  <a:srgbClr val="C00000"/>
                </a:solidFill>
              </a:rPr>
              <a:t> theorem</a:t>
            </a:r>
          </a:p>
        </p:txBody>
      </p:sp>
    </p:spTree>
    <p:extLst>
      <p:ext uri="{BB962C8B-B14F-4D97-AF65-F5344CB8AC3E}">
        <p14:creationId xmlns:p14="http://schemas.microsoft.com/office/powerpoint/2010/main" val="3910634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/>
          <a:lstStyle/>
          <a:p>
            <a:pPr eaLnBrk="1" hangingPunct="1"/>
            <a:r>
              <a:rPr lang="en-US" altLang="zh-TW" sz="2800" b="1" dirty="0">
                <a:solidFill>
                  <a:schemeClr val="bg1"/>
                </a:solidFill>
              </a:rPr>
              <a:t>Complement of a Function</a:t>
            </a:r>
          </a:p>
        </p:txBody>
      </p:sp>
      <p:sp>
        <p:nvSpPr>
          <p:cNvPr id="5" name="矩形 4"/>
          <p:cNvSpPr/>
          <p:nvPr/>
        </p:nvSpPr>
        <p:spPr>
          <a:xfrm>
            <a:off x="536120" y="1259784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15885"/>
              </p:ext>
            </p:extLst>
          </p:nvPr>
        </p:nvGraphicFramePr>
        <p:xfrm>
          <a:off x="536120" y="1910448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657149"/>
              </p:ext>
            </p:extLst>
          </p:nvPr>
        </p:nvGraphicFramePr>
        <p:xfrm>
          <a:off x="536118" y="1910447"/>
          <a:ext cx="6240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048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2419339694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459434" y="1259784"/>
            <a:ext cx="3100529" cy="6593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lnSpc>
                <a:spcPct val="125000"/>
              </a:lnSpc>
              <a:defRPr/>
            </a:pPr>
            <a:r>
              <a:rPr lang="en-US" altLang="zh-TW" sz="3200" b="1" i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	=</a:t>
            </a:r>
            <a:r>
              <a:rPr lang="en-US" altLang="zh-TW" sz="3200" b="1" i="1" dirty="0" smtClean="0"/>
              <a:t> </a:t>
            </a:r>
            <a:r>
              <a:rPr lang="en-US" altLang="zh-TW" sz="3200" b="1" dirty="0" smtClean="0"/>
              <a:t>(</a:t>
            </a:r>
            <a:r>
              <a:rPr lang="en-US" altLang="zh-TW" sz="3200" b="1" i="1" dirty="0" smtClean="0"/>
              <a:t>x </a:t>
            </a:r>
            <a:r>
              <a:rPr lang="en-US" altLang="zh-TW" sz="3200" b="1" i="1" dirty="0"/>
              <a:t>+ </a:t>
            </a:r>
            <a:r>
              <a:rPr lang="en-US" altLang="zh-TW" sz="3200" b="1" i="1" dirty="0" smtClean="0"/>
              <a:t>y’ z</a:t>
            </a:r>
            <a:r>
              <a:rPr lang="en-US" altLang="zh-TW" sz="3200" b="1" dirty="0" smtClean="0"/>
              <a:t>)’</a:t>
            </a:r>
          </a:p>
        </p:txBody>
      </p:sp>
    </p:spTree>
    <p:extLst>
      <p:ext uri="{BB962C8B-B14F-4D97-AF65-F5344CB8AC3E}">
        <p14:creationId xmlns:p14="http://schemas.microsoft.com/office/powerpoint/2010/main" val="3248060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/>
          <a:lstStyle/>
          <a:p>
            <a:pPr eaLnBrk="1" hangingPunct="1"/>
            <a:r>
              <a:rPr lang="en-US" altLang="zh-TW" sz="2800" b="1" dirty="0">
                <a:solidFill>
                  <a:schemeClr val="bg1"/>
                </a:solidFill>
              </a:rPr>
              <a:t>Complement of a Function</a:t>
            </a:r>
          </a:p>
        </p:txBody>
      </p:sp>
      <p:sp>
        <p:nvSpPr>
          <p:cNvPr id="5" name="矩形 4"/>
          <p:cNvSpPr/>
          <p:nvPr/>
        </p:nvSpPr>
        <p:spPr>
          <a:xfrm>
            <a:off x="536120" y="1259784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15885"/>
              </p:ext>
            </p:extLst>
          </p:nvPr>
        </p:nvGraphicFramePr>
        <p:xfrm>
          <a:off x="536120" y="1910448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657149"/>
              </p:ext>
            </p:extLst>
          </p:nvPr>
        </p:nvGraphicFramePr>
        <p:xfrm>
          <a:off x="536118" y="1910447"/>
          <a:ext cx="6240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048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2419339694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459434" y="1259784"/>
            <a:ext cx="3100529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lnSpc>
                <a:spcPct val="125000"/>
              </a:lnSpc>
              <a:defRPr/>
            </a:pPr>
            <a:r>
              <a:rPr lang="en-US" altLang="zh-TW" sz="3200" b="1" i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	=</a:t>
            </a:r>
            <a:r>
              <a:rPr lang="en-US" altLang="zh-TW" sz="3200" b="1" i="1" dirty="0" smtClean="0"/>
              <a:t> </a:t>
            </a:r>
            <a:r>
              <a:rPr lang="en-US" altLang="zh-TW" sz="3200" b="1" dirty="0" smtClean="0"/>
              <a:t>(</a:t>
            </a:r>
            <a:r>
              <a:rPr lang="en-US" altLang="zh-TW" sz="3200" b="1" i="1" dirty="0" smtClean="0"/>
              <a:t>x </a:t>
            </a:r>
            <a:r>
              <a:rPr lang="en-US" altLang="zh-TW" sz="3200" b="1" i="1" dirty="0"/>
              <a:t>+ </a:t>
            </a:r>
            <a:r>
              <a:rPr lang="en-US" altLang="zh-TW" sz="3200" b="1" i="1" dirty="0" smtClean="0"/>
              <a:t>y’ z</a:t>
            </a:r>
            <a:r>
              <a:rPr lang="en-US" altLang="zh-TW" sz="3200" b="1" dirty="0" smtClean="0"/>
              <a:t>)’</a:t>
            </a:r>
          </a:p>
          <a:p>
            <a:pPr marL="180000" lvl="1" defTabSz="914400">
              <a:lnSpc>
                <a:spcPct val="125000"/>
              </a:lnSpc>
              <a:defRPr/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 x’ · (</a:t>
            </a:r>
            <a:r>
              <a:rPr lang="en-US" altLang="zh-TW" sz="3200" b="1" i="1" dirty="0"/>
              <a:t>y’ z</a:t>
            </a:r>
            <a:r>
              <a:rPr lang="en-US" altLang="zh-TW" sz="3200" b="1" dirty="0" smtClean="0"/>
              <a:t>)’</a:t>
            </a:r>
          </a:p>
          <a:p>
            <a:pPr marL="180000" lvl="1" defTabSz="914400">
              <a:lnSpc>
                <a:spcPct val="125000"/>
              </a:lnSpc>
              <a:defRPr/>
            </a:pPr>
            <a:r>
              <a:rPr lang="en-US" altLang="zh-TW" sz="32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37069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/>
          <a:lstStyle/>
          <a:p>
            <a:pPr eaLnBrk="1" hangingPunct="1"/>
            <a:r>
              <a:rPr lang="en-US" altLang="zh-TW" sz="2800" b="1" dirty="0">
                <a:solidFill>
                  <a:schemeClr val="bg1"/>
                </a:solidFill>
              </a:rPr>
              <a:t>Complement of a Function</a:t>
            </a:r>
          </a:p>
        </p:txBody>
      </p:sp>
      <p:sp>
        <p:nvSpPr>
          <p:cNvPr id="5" name="矩形 4"/>
          <p:cNvSpPr/>
          <p:nvPr/>
        </p:nvSpPr>
        <p:spPr>
          <a:xfrm>
            <a:off x="536120" y="1259784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15885"/>
              </p:ext>
            </p:extLst>
          </p:nvPr>
        </p:nvGraphicFramePr>
        <p:xfrm>
          <a:off x="536120" y="1910448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657149"/>
              </p:ext>
            </p:extLst>
          </p:nvPr>
        </p:nvGraphicFramePr>
        <p:xfrm>
          <a:off x="536118" y="1910447"/>
          <a:ext cx="6240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048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2419339694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459434" y="1259784"/>
            <a:ext cx="3374642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lnSpc>
                <a:spcPct val="125000"/>
              </a:lnSpc>
              <a:defRPr/>
            </a:pPr>
            <a:r>
              <a:rPr lang="en-US" altLang="zh-TW" sz="3200" b="1" i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	=</a:t>
            </a:r>
            <a:r>
              <a:rPr lang="en-US" altLang="zh-TW" sz="3200" b="1" i="1" dirty="0" smtClean="0"/>
              <a:t> </a:t>
            </a:r>
            <a:r>
              <a:rPr lang="en-US" altLang="zh-TW" sz="3200" b="1" dirty="0" smtClean="0"/>
              <a:t>(</a:t>
            </a:r>
            <a:r>
              <a:rPr lang="en-US" altLang="zh-TW" sz="3200" b="1" i="1" dirty="0" smtClean="0"/>
              <a:t>x </a:t>
            </a:r>
            <a:r>
              <a:rPr lang="en-US" altLang="zh-TW" sz="3200" b="1" i="1" dirty="0"/>
              <a:t>+ </a:t>
            </a:r>
            <a:r>
              <a:rPr lang="en-US" altLang="zh-TW" sz="3200" b="1" i="1" dirty="0" smtClean="0"/>
              <a:t>y’ z</a:t>
            </a:r>
            <a:r>
              <a:rPr lang="en-US" altLang="zh-TW" sz="3200" b="1" dirty="0" smtClean="0"/>
              <a:t>)’</a:t>
            </a:r>
          </a:p>
          <a:p>
            <a:pPr marL="180000" lvl="1" defTabSz="914400">
              <a:lnSpc>
                <a:spcPct val="125000"/>
              </a:lnSpc>
              <a:defRPr/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 x’ · (</a:t>
            </a:r>
            <a:r>
              <a:rPr lang="en-US" altLang="zh-TW" sz="3200" b="1" i="1" dirty="0"/>
              <a:t>y’ z</a:t>
            </a:r>
            <a:r>
              <a:rPr lang="en-US" altLang="zh-TW" sz="3200" b="1" dirty="0" smtClean="0"/>
              <a:t>)’</a:t>
            </a:r>
          </a:p>
          <a:p>
            <a:pPr marL="180000" lvl="1" defTabSz="914400">
              <a:lnSpc>
                <a:spcPct val="125000"/>
              </a:lnSpc>
              <a:defRPr/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 x</a:t>
            </a:r>
            <a:r>
              <a:rPr lang="en-US" altLang="zh-TW" sz="3200" b="1" dirty="0"/>
              <a:t>’ · </a:t>
            </a:r>
            <a:r>
              <a:rPr lang="en-US" altLang="zh-TW" sz="3200" b="1" dirty="0" smtClean="0"/>
              <a:t>(</a:t>
            </a:r>
            <a:r>
              <a:rPr lang="en-US" altLang="zh-TW" sz="3200" b="1" i="1" dirty="0" smtClean="0"/>
              <a:t>y + z’</a:t>
            </a:r>
            <a:r>
              <a:rPr lang="en-US" altLang="zh-TW" sz="3200" b="1" dirty="0" smtClean="0"/>
              <a:t>)</a:t>
            </a:r>
          </a:p>
          <a:p>
            <a:pPr marL="180000" lvl="1" defTabSz="914400">
              <a:lnSpc>
                <a:spcPct val="125000"/>
              </a:lnSpc>
              <a:defRPr/>
            </a:pPr>
            <a:r>
              <a:rPr lang="en-US" altLang="zh-TW" sz="32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397048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/>
          <a:lstStyle/>
          <a:p>
            <a:pPr eaLnBrk="1" hangingPunct="1"/>
            <a:r>
              <a:rPr lang="en-US" altLang="zh-TW" sz="2800" b="1" dirty="0">
                <a:solidFill>
                  <a:schemeClr val="bg1"/>
                </a:solidFill>
              </a:rPr>
              <a:t>Complement of a Function</a:t>
            </a:r>
          </a:p>
        </p:txBody>
      </p:sp>
      <p:sp>
        <p:nvSpPr>
          <p:cNvPr id="5" name="矩形 4"/>
          <p:cNvSpPr/>
          <p:nvPr/>
        </p:nvSpPr>
        <p:spPr>
          <a:xfrm>
            <a:off x="536120" y="1259784"/>
            <a:ext cx="2074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defRPr/>
            </a:pPr>
            <a:r>
              <a:rPr lang="en-US" altLang="zh-TW" sz="2800" b="1" i="1" dirty="0"/>
              <a:t>F</a:t>
            </a:r>
            <a:r>
              <a:rPr lang="en-US" altLang="zh-TW" sz="2800" b="1" baseline="-25000" dirty="0"/>
              <a:t>1</a:t>
            </a:r>
            <a:r>
              <a:rPr lang="en-US" altLang="zh-TW" sz="2800" b="1" i="1" dirty="0"/>
              <a:t>= x + </a:t>
            </a:r>
            <a:r>
              <a:rPr lang="en-US" altLang="zh-TW" sz="2800" b="1" i="1" dirty="0" smtClean="0"/>
              <a:t>y’ z</a:t>
            </a:r>
            <a:endParaRPr lang="en-US" altLang="zh-TW" sz="2800" b="1" i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15885"/>
              </p:ext>
            </p:extLst>
          </p:nvPr>
        </p:nvGraphicFramePr>
        <p:xfrm>
          <a:off x="536120" y="1910448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657149"/>
              </p:ext>
            </p:extLst>
          </p:nvPr>
        </p:nvGraphicFramePr>
        <p:xfrm>
          <a:off x="536118" y="1910447"/>
          <a:ext cx="6240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048">
                  <a:extLst>
                    <a:ext uri="{9D8B030D-6E8A-4147-A177-3AD203B41FA5}">
                      <a16:colId xmlns:a16="http://schemas.microsoft.com/office/drawing/2014/main" val="124701145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81820387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1653195717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3126228228"/>
                    </a:ext>
                  </a:extLst>
                </a:gridCol>
                <a:gridCol w="1248048">
                  <a:extLst>
                    <a:ext uri="{9D8B030D-6E8A-4147-A177-3AD203B41FA5}">
                      <a16:colId xmlns:a16="http://schemas.microsoft.com/office/drawing/2014/main" val="2419339694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4462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9017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4596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55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22646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77317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4274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634833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02590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459434" y="1259784"/>
            <a:ext cx="3374642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000" lvl="1" defTabSz="914400">
              <a:lnSpc>
                <a:spcPct val="125000"/>
              </a:lnSpc>
              <a:defRPr/>
            </a:pPr>
            <a:r>
              <a:rPr lang="en-US" altLang="zh-TW" sz="3200" b="1" i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	=</a:t>
            </a:r>
            <a:r>
              <a:rPr lang="en-US" altLang="zh-TW" sz="3200" b="1" i="1" dirty="0" smtClean="0"/>
              <a:t> </a:t>
            </a:r>
            <a:r>
              <a:rPr lang="en-US" altLang="zh-TW" sz="3200" b="1" dirty="0" smtClean="0"/>
              <a:t>(</a:t>
            </a:r>
            <a:r>
              <a:rPr lang="en-US" altLang="zh-TW" sz="3200" b="1" i="1" dirty="0" smtClean="0"/>
              <a:t>x </a:t>
            </a:r>
            <a:r>
              <a:rPr lang="en-US" altLang="zh-TW" sz="3200" b="1" i="1" dirty="0"/>
              <a:t>+ </a:t>
            </a:r>
            <a:r>
              <a:rPr lang="en-US" altLang="zh-TW" sz="3200" b="1" i="1" dirty="0" smtClean="0"/>
              <a:t>y’ z</a:t>
            </a:r>
            <a:r>
              <a:rPr lang="en-US" altLang="zh-TW" sz="3200" b="1" dirty="0" smtClean="0"/>
              <a:t>)’</a:t>
            </a:r>
          </a:p>
          <a:p>
            <a:pPr marL="180000" lvl="1" defTabSz="914400">
              <a:lnSpc>
                <a:spcPct val="125000"/>
              </a:lnSpc>
              <a:defRPr/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 x’ · (</a:t>
            </a:r>
            <a:r>
              <a:rPr lang="en-US" altLang="zh-TW" sz="3200" b="1" i="1" dirty="0"/>
              <a:t>y’ z</a:t>
            </a:r>
            <a:r>
              <a:rPr lang="en-US" altLang="zh-TW" sz="3200" b="1" dirty="0" smtClean="0"/>
              <a:t>)’</a:t>
            </a:r>
          </a:p>
          <a:p>
            <a:pPr marL="180000" lvl="1" defTabSz="914400">
              <a:lnSpc>
                <a:spcPct val="125000"/>
              </a:lnSpc>
              <a:defRPr/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 x</a:t>
            </a:r>
            <a:r>
              <a:rPr lang="en-US" altLang="zh-TW" sz="3200" b="1" dirty="0"/>
              <a:t>’ · </a:t>
            </a:r>
            <a:r>
              <a:rPr lang="en-US" altLang="zh-TW" sz="3200" b="1" dirty="0" smtClean="0"/>
              <a:t>(</a:t>
            </a:r>
            <a:r>
              <a:rPr lang="en-US" altLang="zh-TW" sz="3200" b="1" i="1" dirty="0" smtClean="0"/>
              <a:t>y + z’</a:t>
            </a:r>
            <a:r>
              <a:rPr lang="en-US" altLang="zh-TW" sz="3200" b="1" dirty="0" smtClean="0"/>
              <a:t>)</a:t>
            </a:r>
          </a:p>
          <a:p>
            <a:pPr marL="180000" lvl="1" defTabSz="914400">
              <a:lnSpc>
                <a:spcPct val="125000"/>
              </a:lnSpc>
              <a:defRPr/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 x’ y + x’ z’</a:t>
            </a:r>
            <a:endParaRPr lang="en-US" altLang="zh-TW" sz="3200" b="1" dirty="0"/>
          </a:p>
        </p:txBody>
      </p:sp>
    </p:spTree>
    <p:extLst>
      <p:ext uri="{BB962C8B-B14F-4D97-AF65-F5344CB8AC3E}">
        <p14:creationId xmlns:p14="http://schemas.microsoft.com/office/powerpoint/2010/main" val="3682837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>
            <a:normAutofit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r>
              <a:rPr lang="en-US" altLang="zh-TW" sz="2800" b="1" dirty="0" smtClean="0">
                <a:solidFill>
                  <a:schemeClr val="bg1"/>
                </a:solidFill>
              </a:rPr>
              <a:t>Generalization</a:t>
            </a:r>
            <a:r>
              <a:rPr lang="zh-TW" altLang="en-US" sz="2800" b="1" dirty="0" smtClean="0">
                <a:solidFill>
                  <a:schemeClr val="bg1"/>
                </a:solidFill>
              </a:rPr>
              <a:t> 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of </a:t>
            </a:r>
            <a:r>
              <a:rPr lang="en-US" altLang="zh-TW" sz="2800" b="1" dirty="0" err="1" smtClean="0">
                <a:solidFill>
                  <a:schemeClr val="bg1"/>
                </a:solidFill>
              </a:rPr>
              <a:t>DeMorgan's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 theorem</a:t>
            </a:r>
            <a:endParaRPr lang="en-US" altLang="zh-TW" sz="2800" b="1" dirty="0">
              <a:solidFill>
                <a:schemeClr val="bg1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E213A5C-5379-486B-B89D-B69B4D7E0BC8}"/>
              </a:ext>
            </a:extLst>
          </p:cNvPr>
          <p:cNvSpPr txBox="1">
            <a:spLocks noChangeArrowheads="1"/>
          </p:cNvSpPr>
          <p:nvPr/>
        </p:nvSpPr>
        <p:spPr>
          <a:xfrm>
            <a:off x="560047" y="1345974"/>
            <a:ext cx="11071906" cy="52752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altLang="zh-TW" sz="3200" dirty="0" smtClean="0"/>
              <a:t>(A + B + C)’	= (A + X)’			let B + C = X	  </a:t>
            </a:r>
          </a:p>
          <a:p>
            <a:pPr marL="457200" lvl="1" indent="0">
              <a:buNone/>
            </a:pPr>
            <a:r>
              <a:rPr lang="en-US" altLang="zh-TW" sz="3200" dirty="0" smtClean="0"/>
              <a:t>			= A’ X’			by </a:t>
            </a:r>
            <a:r>
              <a:rPr lang="en-US" altLang="zh-TW" sz="3200" dirty="0" err="1" smtClean="0"/>
              <a:t>DeMorgan's</a:t>
            </a:r>
            <a:r>
              <a:rPr lang="en-US" altLang="zh-TW" sz="3200" dirty="0" smtClean="0"/>
              <a:t>	  </a:t>
            </a:r>
          </a:p>
          <a:p>
            <a:pPr marL="457200" lvl="1" indent="0">
              <a:buNone/>
            </a:pPr>
            <a:r>
              <a:rPr lang="en-US" altLang="zh-TW" sz="3200" dirty="0" smtClean="0"/>
              <a:t>			= A’ (B + C)’					             </a:t>
            </a:r>
          </a:p>
          <a:p>
            <a:pPr marL="457200" lvl="1" indent="0">
              <a:buNone/>
            </a:pPr>
            <a:r>
              <a:rPr lang="en-US" altLang="zh-TW" sz="3200" dirty="0" smtClean="0"/>
              <a:t>			= A’ (B’ C’)			by </a:t>
            </a:r>
            <a:r>
              <a:rPr lang="en-US" altLang="zh-TW" sz="3200" dirty="0" err="1" smtClean="0"/>
              <a:t>DeMorgan's</a:t>
            </a:r>
            <a:r>
              <a:rPr lang="en-US" altLang="zh-TW" sz="3200" dirty="0" smtClean="0"/>
              <a:t>	  </a:t>
            </a:r>
          </a:p>
          <a:p>
            <a:pPr marL="457200" lvl="1" indent="0">
              <a:buNone/>
            </a:pPr>
            <a:r>
              <a:rPr lang="en-US" altLang="zh-TW" sz="3200" dirty="0" smtClean="0"/>
              <a:t>			= A’ B’ C‘					</a:t>
            </a:r>
          </a:p>
          <a:p>
            <a:pPr marL="0" indent="0">
              <a:buNone/>
            </a:pPr>
            <a:r>
              <a:rPr lang="en-US" altLang="zh-TW" sz="3200" b="1" dirty="0" smtClean="0">
                <a:solidFill>
                  <a:srgbClr val="C00000"/>
                </a:solidFill>
              </a:rPr>
              <a:t>generalizations</a:t>
            </a:r>
          </a:p>
          <a:p>
            <a:pPr marL="457200" lvl="1" indent="0">
              <a:buNone/>
            </a:pPr>
            <a:r>
              <a:rPr lang="en-US" altLang="zh-TW" sz="3200" dirty="0" smtClean="0"/>
              <a:t>(A + B + C + ... + F)’ = A’ B’ C’ ... F’</a:t>
            </a:r>
          </a:p>
          <a:p>
            <a:pPr marL="457200" lvl="1" indent="0">
              <a:buNone/>
            </a:pPr>
            <a:r>
              <a:rPr lang="en-US" altLang="zh-TW" sz="3200" dirty="0" smtClean="0"/>
              <a:t>(A B C ... F)’ = A’ + B’ + C’ + ... + F’</a:t>
            </a:r>
          </a:p>
        </p:txBody>
      </p:sp>
    </p:spTree>
    <p:extLst>
      <p:ext uri="{BB962C8B-B14F-4D97-AF65-F5344CB8AC3E}">
        <p14:creationId xmlns:p14="http://schemas.microsoft.com/office/powerpoint/2010/main" val="257821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>
            <a:normAutofit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r>
              <a:rPr lang="en-US" altLang="zh-TW" sz="2800" b="1" dirty="0" smtClean="0">
                <a:solidFill>
                  <a:schemeClr val="bg1"/>
                </a:solidFill>
              </a:rPr>
              <a:t>Generalization</a:t>
            </a:r>
            <a:r>
              <a:rPr lang="zh-TW" altLang="en-US" sz="2800" b="1" dirty="0" smtClean="0">
                <a:solidFill>
                  <a:schemeClr val="bg1"/>
                </a:solidFill>
              </a:rPr>
              <a:t> 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of </a:t>
            </a:r>
            <a:r>
              <a:rPr lang="en-US" altLang="zh-TW" sz="2800" b="1" dirty="0" err="1" smtClean="0">
                <a:solidFill>
                  <a:schemeClr val="bg1"/>
                </a:solidFill>
              </a:rPr>
              <a:t>DeMorgan's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 theorem</a:t>
            </a:r>
            <a:endParaRPr lang="en-US" altLang="zh-TW" sz="2800" b="1" dirty="0">
              <a:solidFill>
                <a:schemeClr val="bg1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6787A2C-9927-499C-8B7D-FFBB2A4FF1D7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90" y="1982805"/>
            <a:ext cx="12192090" cy="4148574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4098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>
            <a:normAutofit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r>
              <a:rPr lang="en-US" altLang="zh-TW" sz="2800" b="1" dirty="0" smtClean="0">
                <a:solidFill>
                  <a:schemeClr val="bg1"/>
                </a:solidFill>
              </a:rPr>
              <a:t>Generalization</a:t>
            </a:r>
            <a:r>
              <a:rPr lang="zh-TW" altLang="en-US" sz="2800" b="1" dirty="0" smtClean="0">
                <a:solidFill>
                  <a:schemeClr val="bg1"/>
                </a:solidFill>
              </a:rPr>
              <a:t> 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of </a:t>
            </a:r>
            <a:r>
              <a:rPr lang="en-US" altLang="zh-TW" sz="2800" b="1" dirty="0" err="1" smtClean="0">
                <a:solidFill>
                  <a:schemeClr val="bg1"/>
                </a:solidFill>
              </a:rPr>
              <a:t>DeMorgan's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 theorem</a:t>
            </a:r>
            <a:endParaRPr lang="en-US" altLang="zh-TW" sz="2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9100" y="1469572"/>
            <a:ext cx="1135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dirty="0" smtClean="0"/>
              <a:t>Find the complement of the Boolean function </a:t>
            </a:r>
            <a:r>
              <a:rPr lang="en-US" altLang="zh-TW" sz="3200" i="1" dirty="0" smtClean="0"/>
              <a:t>F</a:t>
            </a:r>
            <a:r>
              <a:rPr lang="en-US" altLang="zh-TW" sz="3200" dirty="0" smtClean="0"/>
              <a:t> = A’ B C’ + A’ B’ C.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3527404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>
            <a:normAutofit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r>
              <a:rPr lang="en-US" altLang="zh-TW" sz="2800" b="1" dirty="0" smtClean="0">
                <a:solidFill>
                  <a:schemeClr val="bg1"/>
                </a:solidFill>
              </a:rPr>
              <a:t>Generalization</a:t>
            </a:r>
            <a:r>
              <a:rPr lang="zh-TW" altLang="en-US" sz="2800" b="1" dirty="0" smtClean="0">
                <a:solidFill>
                  <a:schemeClr val="bg1"/>
                </a:solidFill>
              </a:rPr>
              <a:t> 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of </a:t>
            </a:r>
            <a:r>
              <a:rPr lang="en-US" altLang="zh-TW" sz="2800" b="1" dirty="0" err="1" smtClean="0">
                <a:solidFill>
                  <a:schemeClr val="bg1"/>
                </a:solidFill>
              </a:rPr>
              <a:t>DeMorgan's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 theorem</a:t>
            </a:r>
            <a:endParaRPr lang="en-US" altLang="zh-TW" sz="2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9100" y="1469572"/>
            <a:ext cx="1135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dirty="0" smtClean="0"/>
              <a:t>Find the complement of the Boolean function </a:t>
            </a:r>
            <a:r>
              <a:rPr lang="en-US" altLang="zh-TW" sz="3200" i="1" dirty="0" smtClean="0"/>
              <a:t>F</a:t>
            </a:r>
            <a:r>
              <a:rPr lang="en-US" altLang="zh-TW" sz="3200" dirty="0" smtClean="0"/>
              <a:t> = A’ B C’ + A’ B’ C.</a:t>
            </a:r>
            <a:endParaRPr lang="en-US" altLang="zh-TW" sz="3200" dirty="0"/>
          </a:p>
        </p:txBody>
      </p:sp>
      <p:sp>
        <p:nvSpPr>
          <p:cNvPr id="3" name="矩形 2"/>
          <p:cNvSpPr/>
          <p:nvPr/>
        </p:nvSpPr>
        <p:spPr>
          <a:xfrm>
            <a:off x="2671421" y="2207470"/>
            <a:ext cx="3991798" cy="6593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i="1" dirty="0" smtClean="0"/>
              <a:t>F’</a:t>
            </a:r>
            <a:r>
              <a:rPr lang="en-US" altLang="zh-TW" sz="3200" dirty="0" smtClean="0"/>
              <a:t>	= (A</a:t>
            </a:r>
            <a:r>
              <a:rPr lang="en-US" altLang="zh-TW" sz="3200" dirty="0"/>
              <a:t>’ B C’ + A’ B’ </a:t>
            </a:r>
            <a:r>
              <a:rPr lang="en-US" altLang="zh-TW" sz="3200" dirty="0" smtClean="0"/>
              <a:t>C)’</a:t>
            </a:r>
          </a:p>
        </p:txBody>
      </p:sp>
    </p:spTree>
    <p:extLst>
      <p:ext uri="{BB962C8B-B14F-4D97-AF65-F5344CB8AC3E}">
        <p14:creationId xmlns:p14="http://schemas.microsoft.com/office/powerpoint/2010/main" val="1893955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>
            <a:normAutofit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r>
              <a:rPr lang="en-US" altLang="zh-TW" sz="2800" b="1" dirty="0" smtClean="0">
                <a:solidFill>
                  <a:schemeClr val="bg1"/>
                </a:solidFill>
              </a:rPr>
              <a:t>Generalization</a:t>
            </a:r>
            <a:r>
              <a:rPr lang="zh-TW" altLang="en-US" sz="2800" b="1" dirty="0" smtClean="0">
                <a:solidFill>
                  <a:schemeClr val="bg1"/>
                </a:solidFill>
              </a:rPr>
              <a:t> 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of </a:t>
            </a:r>
            <a:r>
              <a:rPr lang="en-US" altLang="zh-TW" sz="2800" b="1" dirty="0" err="1" smtClean="0">
                <a:solidFill>
                  <a:schemeClr val="bg1"/>
                </a:solidFill>
              </a:rPr>
              <a:t>DeMorgan's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 theorem</a:t>
            </a:r>
            <a:endParaRPr lang="en-US" altLang="zh-TW" sz="2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9100" y="1469572"/>
            <a:ext cx="1135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dirty="0" smtClean="0"/>
              <a:t>Find the complement of the Boolean function </a:t>
            </a:r>
            <a:r>
              <a:rPr lang="en-US" altLang="zh-TW" sz="3200" i="1" dirty="0" smtClean="0"/>
              <a:t>F</a:t>
            </a:r>
            <a:r>
              <a:rPr lang="en-US" altLang="zh-TW" sz="3200" dirty="0" smtClean="0"/>
              <a:t> = A’ B C’ + A’ B’ C.</a:t>
            </a:r>
            <a:endParaRPr lang="en-US" altLang="zh-TW" sz="3200" dirty="0"/>
          </a:p>
        </p:txBody>
      </p:sp>
      <p:sp>
        <p:nvSpPr>
          <p:cNvPr id="3" name="矩形 2"/>
          <p:cNvSpPr/>
          <p:nvPr/>
        </p:nvSpPr>
        <p:spPr>
          <a:xfrm>
            <a:off x="2671421" y="2207470"/>
            <a:ext cx="4118435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i="1" dirty="0" smtClean="0"/>
              <a:t>F’</a:t>
            </a:r>
            <a:r>
              <a:rPr lang="en-US" altLang="zh-TW" sz="3200" dirty="0" smtClean="0"/>
              <a:t>	= (A</a:t>
            </a:r>
            <a:r>
              <a:rPr lang="en-US" altLang="zh-TW" sz="3200" dirty="0"/>
              <a:t>’ B C’ + A’ B’ </a:t>
            </a:r>
            <a:r>
              <a:rPr lang="en-US" altLang="zh-TW" sz="3200" dirty="0" smtClean="0"/>
              <a:t>C)’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dirty="0" smtClean="0"/>
              <a:t>	=</a:t>
            </a:r>
            <a:r>
              <a:rPr lang="zh-TW" altLang="en-US" sz="3200" dirty="0" smtClean="0"/>
              <a:t> </a:t>
            </a:r>
            <a:r>
              <a:rPr lang="en-US" altLang="zh-TW" sz="3200" dirty="0"/>
              <a:t>(A’ B C</a:t>
            </a:r>
            <a:r>
              <a:rPr lang="en-US" altLang="zh-TW" sz="3200" dirty="0" smtClean="0"/>
              <a:t>’)’</a:t>
            </a:r>
            <a:r>
              <a:rPr lang="zh-TW" altLang="en-US" sz="3200" dirty="0" smtClean="0"/>
              <a:t> </a:t>
            </a:r>
            <a:r>
              <a:rPr lang="en-US" altLang="zh-TW" sz="3200" dirty="0"/>
              <a:t>·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(A</a:t>
            </a:r>
            <a:r>
              <a:rPr lang="en-US" altLang="zh-TW" sz="3200" dirty="0"/>
              <a:t>’ B’ C</a:t>
            </a:r>
            <a:r>
              <a:rPr lang="en-US" altLang="zh-TW" sz="3200" dirty="0" smtClean="0"/>
              <a:t>)’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dirty="0" smtClean="0"/>
              <a:t>	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916512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>
            <a:normAutofit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r>
              <a:rPr lang="en-US" altLang="zh-TW" sz="2800" b="1" dirty="0" smtClean="0">
                <a:solidFill>
                  <a:schemeClr val="bg1"/>
                </a:solidFill>
              </a:rPr>
              <a:t>Generalization</a:t>
            </a:r>
            <a:r>
              <a:rPr lang="zh-TW" altLang="en-US" sz="2800" b="1" dirty="0" smtClean="0">
                <a:solidFill>
                  <a:schemeClr val="bg1"/>
                </a:solidFill>
              </a:rPr>
              <a:t> 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of </a:t>
            </a:r>
            <a:r>
              <a:rPr lang="en-US" altLang="zh-TW" sz="2800" b="1" dirty="0" err="1" smtClean="0">
                <a:solidFill>
                  <a:schemeClr val="bg1"/>
                </a:solidFill>
              </a:rPr>
              <a:t>DeMorgan's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 theorem</a:t>
            </a:r>
            <a:endParaRPr lang="en-US" altLang="zh-TW" sz="2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9100" y="1469572"/>
            <a:ext cx="1135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dirty="0" smtClean="0"/>
              <a:t>Find the complement of the Boolean function </a:t>
            </a:r>
            <a:r>
              <a:rPr lang="en-US" altLang="zh-TW" sz="3200" i="1" dirty="0" smtClean="0"/>
              <a:t>F</a:t>
            </a:r>
            <a:r>
              <a:rPr lang="en-US" altLang="zh-TW" sz="3200" dirty="0" smtClean="0"/>
              <a:t> = A’ B C’ + A’ B’ C.</a:t>
            </a:r>
            <a:endParaRPr lang="en-US" altLang="zh-TW" sz="3200" dirty="0"/>
          </a:p>
        </p:txBody>
      </p:sp>
      <p:sp>
        <p:nvSpPr>
          <p:cNvPr id="3" name="矩形 2"/>
          <p:cNvSpPr/>
          <p:nvPr/>
        </p:nvSpPr>
        <p:spPr>
          <a:xfrm>
            <a:off x="2671421" y="2207470"/>
            <a:ext cx="5384807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i="1" dirty="0" smtClean="0"/>
              <a:t>F’</a:t>
            </a:r>
            <a:r>
              <a:rPr lang="en-US" altLang="zh-TW" sz="3200" dirty="0" smtClean="0"/>
              <a:t>	= (A</a:t>
            </a:r>
            <a:r>
              <a:rPr lang="en-US" altLang="zh-TW" sz="3200" dirty="0"/>
              <a:t>’ B C’ + A’ B’ </a:t>
            </a:r>
            <a:r>
              <a:rPr lang="en-US" altLang="zh-TW" sz="3200" dirty="0" smtClean="0"/>
              <a:t>C)’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dirty="0" smtClean="0"/>
              <a:t>	=</a:t>
            </a:r>
            <a:r>
              <a:rPr lang="zh-TW" altLang="en-US" sz="3200" dirty="0" smtClean="0"/>
              <a:t> </a:t>
            </a:r>
            <a:r>
              <a:rPr lang="en-US" altLang="zh-TW" sz="3200" dirty="0"/>
              <a:t>(A’ B C</a:t>
            </a:r>
            <a:r>
              <a:rPr lang="en-US" altLang="zh-TW" sz="3200" dirty="0" smtClean="0"/>
              <a:t>’)’</a:t>
            </a:r>
            <a:r>
              <a:rPr lang="zh-TW" altLang="en-US" sz="3200" dirty="0" smtClean="0"/>
              <a:t> </a:t>
            </a:r>
            <a:r>
              <a:rPr lang="en-US" altLang="zh-TW" sz="3200" dirty="0"/>
              <a:t>·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(A</a:t>
            </a:r>
            <a:r>
              <a:rPr lang="en-US" altLang="zh-TW" sz="3200" dirty="0"/>
              <a:t>’ B’ C</a:t>
            </a:r>
            <a:r>
              <a:rPr lang="en-US" altLang="zh-TW" sz="3200" dirty="0" smtClean="0"/>
              <a:t>)’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dirty="0" smtClean="0"/>
              <a:t>	= (A + B’ + C) · (A + B + C’)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5343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>
            <a:normAutofit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r>
              <a:rPr lang="en-US" altLang="zh-TW" sz="2800" b="1" dirty="0" smtClean="0">
                <a:solidFill>
                  <a:schemeClr val="bg1"/>
                </a:solidFill>
              </a:rPr>
              <a:t>Generalization</a:t>
            </a:r>
            <a:r>
              <a:rPr lang="zh-TW" altLang="en-US" sz="2800" b="1" dirty="0" smtClean="0">
                <a:solidFill>
                  <a:schemeClr val="bg1"/>
                </a:solidFill>
              </a:rPr>
              <a:t> 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of </a:t>
            </a:r>
            <a:r>
              <a:rPr lang="en-US" altLang="zh-TW" sz="2800" b="1" dirty="0" err="1" smtClean="0">
                <a:solidFill>
                  <a:schemeClr val="bg1"/>
                </a:solidFill>
              </a:rPr>
              <a:t>DeMorgan's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 theorem</a:t>
            </a:r>
            <a:endParaRPr lang="en-US" altLang="zh-TW" sz="2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9100" y="1469572"/>
            <a:ext cx="1135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dirty="0" smtClean="0"/>
              <a:t>Find the complement of the Boolean function </a:t>
            </a:r>
            <a:r>
              <a:rPr lang="en-US" altLang="zh-TW" sz="3200" i="1" dirty="0" smtClean="0"/>
              <a:t>F</a:t>
            </a:r>
            <a:r>
              <a:rPr lang="en-US" altLang="zh-TW" sz="3200" dirty="0" smtClean="0"/>
              <a:t> = A’ B C’ + A’ B’ C.</a:t>
            </a:r>
            <a:endParaRPr lang="en-US" altLang="zh-TW" sz="3200" dirty="0"/>
          </a:p>
        </p:txBody>
      </p:sp>
      <p:sp>
        <p:nvSpPr>
          <p:cNvPr id="3" name="矩形 2"/>
          <p:cNvSpPr/>
          <p:nvPr/>
        </p:nvSpPr>
        <p:spPr>
          <a:xfrm>
            <a:off x="2671421" y="2207470"/>
            <a:ext cx="8029762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i="1" dirty="0" smtClean="0"/>
              <a:t>F’</a:t>
            </a:r>
            <a:r>
              <a:rPr lang="en-US" altLang="zh-TW" sz="3200" dirty="0" smtClean="0"/>
              <a:t>	= (A</a:t>
            </a:r>
            <a:r>
              <a:rPr lang="en-US" altLang="zh-TW" sz="3200" dirty="0"/>
              <a:t>’ B C’ + A’ B’ </a:t>
            </a:r>
            <a:r>
              <a:rPr lang="en-US" altLang="zh-TW" sz="3200" dirty="0" smtClean="0"/>
              <a:t>C)’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dirty="0" smtClean="0"/>
              <a:t>	=</a:t>
            </a:r>
            <a:r>
              <a:rPr lang="zh-TW" altLang="en-US" sz="3200" dirty="0" smtClean="0"/>
              <a:t> </a:t>
            </a:r>
            <a:r>
              <a:rPr lang="en-US" altLang="zh-TW" sz="3200" dirty="0"/>
              <a:t>(A’ B C</a:t>
            </a:r>
            <a:r>
              <a:rPr lang="en-US" altLang="zh-TW" sz="3200" dirty="0" smtClean="0"/>
              <a:t>’)’</a:t>
            </a:r>
            <a:r>
              <a:rPr lang="zh-TW" altLang="en-US" sz="3200" dirty="0" smtClean="0"/>
              <a:t> </a:t>
            </a:r>
            <a:r>
              <a:rPr lang="en-US" altLang="zh-TW" sz="3200" dirty="0"/>
              <a:t>·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(A</a:t>
            </a:r>
            <a:r>
              <a:rPr lang="en-US" altLang="zh-TW" sz="3200" dirty="0"/>
              <a:t>’ B’ C</a:t>
            </a:r>
            <a:r>
              <a:rPr lang="en-US" altLang="zh-TW" sz="3200" dirty="0" smtClean="0"/>
              <a:t>)’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dirty="0" smtClean="0"/>
              <a:t>	= (A + B’ + C) · (A + B + C’)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dirty="0"/>
              <a:t>	</a:t>
            </a:r>
            <a:r>
              <a:rPr lang="en-US" altLang="zh-TW" sz="3200" dirty="0" smtClean="0"/>
              <a:t>= A + A B + A C’ + A B’ + B’C’ + A C + B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C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dirty="0" smtClean="0"/>
              <a:t>	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1788735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E37CBDB-013D-4BFE-BEBD-34F497D2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0678"/>
            <a:ext cx="12192000" cy="601663"/>
          </a:xfrm>
          <a:solidFill>
            <a:srgbClr val="C00000"/>
          </a:solidFill>
        </p:spPr>
        <p:txBody>
          <a:bodyPr>
            <a:normAutofit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r>
              <a:rPr lang="en-US" altLang="zh-TW" sz="2800" b="1" dirty="0" smtClean="0">
                <a:solidFill>
                  <a:schemeClr val="bg1"/>
                </a:solidFill>
              </a:rPr>
              <a:t>Generalization</a:t>
            </a:r>
            <a:r>
              <a:rPr lang="zh-TW" altLang="en-US" sz="2800" b="1" dirty="0" smtClean="0">
                <a:solidFill>
                  <a:schemeClr val="bg1"/>
                </a:solidFill>
              </a:rPr>
              <a:t> 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of </a:t>
            </a:r>
            <a:r>
              <a:rPr lang="en-US" altLang="zh-TW" sz="2800" b="1" dirty="0" err="1" smtClean="0">
                <a:solidFill>
                  <a:schemeClr val="bg1"/>
                </a:solidFill>
              </a:rPr>
              <a:t>DeMorgan's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 theorem</a:t>
            </a:r>
            <a:endParaRPr lang="en-US" altLang="zh-TW" sz="2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9100" y="1469572"/>
            <a:ext cx="1135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dirty="0" smtClean="0"/>
              <a:t>Find the complement of the Boolean function </a:t>
            </a:r>
            <a:r>
              <a:rPr lang="en-US" altLang="zh-TW" sz="3200" i="1" dirty="0" smtClean="0"/>
              <a:t>F</a:t>
            </a:r>
            <a:r>
              <a:rPr lang="en-US" altLang="zh-TW" sz="3200" dirty="0" smtClean="0"/>
              <a:t> = A’ B C’ + A’ B’ C.</a:t>
            </a:r>
            <a:endParaRPr lang="en-US" altLang="zh-TW" sz="3200" dirty="0"/>
          </a:p>
        </p:txBody>
      </p:sp>
      <p:sp>
        <p:nvSpPr>
          <p:cNvPr id="3" name="矩形 2"/>
          <p:cNvSpPr/>
          <p:nvPr/>
        </p:nvSpPr>
        <p:spPr>
          <a:xfrm>
            <a:off x="2671421" y="2207470"/>
            <a:ext cx="8029762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i="1" dirty="0" smtClean="0"/>
              <a:t>F’</a:t>
            </a:r>
            <a:r>
              <a:rPr lang="en-US" altLang="zh-TW" sz="3200" dirty="0" smtClean="0"/>
              <a:t>	= (A</a:t>
            </a:r>
            <a:r>
              <a:rPr lang="en-US" altLang="zh-TW" sz="3200" dirty="0"/>
              <a:t>’ B C’ + A’ B’ </a:t>
            </a:r>
            <a:r>
              <a:rPr lang="en-US" altLang="zh-TW" sz="3200" dirty="0" smtClean="0"/>
              <a:t>C)’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dirty="0" smtClean="0"/>
              <a:t>	=</a:t>
            </a:r>
            <a:r>
              <a:rPr lang="zh-TW" altLang="en-US" sz="3200" dirty="0" smtClean="0"/>
              <a:t> </a:t>
            </a:r>
            <a:r>
              <a:rPr lang="en-US" altLang="zh-TW" sz="3200" dirty="0"/>
              <a:t>(A’ B C</a:t>
            </a:r>
            <a:r>
              <a:rPr lang="en-US" altLang="zh-TW" sz="3200" dirty="0" smtClean="0"/>
              <a:t>’)’</a:t>
            </a:r>
            <a:r>
              <a:rPr lang="zh-TW" altLang="en-US" sz="3200" dirty="0" smtClean="0"/>
              <a:t> </a:t>
            </a:r>
            <a:r>
              <a:rPr lang="en-US" altLang="zh-TW" sz="3200" dirty="0"/>
              <a:t>·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(A</a:t>
            </a:r>
            <a:r>
              <a:rPr lang="en-US" altLang="zh-TW" sz="3200" dirty="0"/>
              <a:t>’ B’ C</a:t>
            </a:r>
            <a:r>
              <a:rPr lang="en-US" altLang="zh-TW" sz="3200" dirty="0" smtClean="0"/>
              <a:t>)’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dirty="0" smtClean="0"/>
              <a:t>	= (A + B’ + C) · (A + B + C’)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dirty="0"/>
              <a:t>	</a:t>
            </a:r>
            <a:r>
              <a:rPr lang="en-US" altLang="zh-TW" sz="3200" dirty="0" smtClean="0"/>
              <a:t>= A + A B + A C’ + A B’ + B’C’ + A C + B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C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TW" sz="3200" dirty="0" smtClean="0"/>
              <a:t>	= A + B’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C’</a:t>
            </a:r>
            <a:r>
              <a:rPr lang="en-US" altLang="zh-TW" sz="3200" dirty="0"/>
              <a:t> + B</a:t>
            </a:r>
            <a:r>
              <a:rPr lang="zh-TW" altLang="en-US" sz="3200" dirty="0"/>
              <a:t> </a:t>
            </a:r>
            <a:r>
              <a:rPr lang="en-US" altLang="zh-TW" sz="3200" dirty="0" smtClean="0"/>
              <a:t>C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3944595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EEFDE48-B5F7-4498-B599-2E6DA65F1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955472"/>
            <a:ext cx="12192000" cy="865414"/>
          </a:xfrm>
          <a:solidFill>
            <a:srgbClr val="C00000"/>
          </a:solidFill>
        </p:spPr>
        <p:txBody>
          <a:bodyPr>
            <a:noAutofit/>
          </a:bodyPr>
          <a:lstStyle/>
          <a:p>
            <a:pPr eaLnBrk="1" hangingPunct="1"/>
            <a:r>
              <a:rPr lang="en-US" altLang="zh-TW" sz="4800" b="1" dirty="0">
                <a:solidFill>
                  <a:schemeClr val="bg1"/>
                </a:solidFill>
              </a:rPr>
              <a:t>Canonical and Standard Forms</a:t>
            </a:r>
            <a:endParaRPr lang="zh-TW" altLang="en-US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002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23599"/>
            <a:ext cx="12192000" cy="76944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err="1">
                <a:solidFill>
                  <a:schemeClr val="bg1"/>
                </a:solidFill>
              </a:rPr>
              <a:t>Minterms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8520" y="2045653"/>
            <a:ext cx="1081495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/>
              <a:t>A </a:t>
            </a:r>
            <a:r>
              <a:rPr lang="en-US" altLang="zh-TW" sz="3200" b="1" dirty="0" err="1">
                <a:solidFill>
                  <a:srgbClr val="C00000"/>
                </a:solidFill>
              </a:rPr>
              <a:t>minterm</a:t>
            </a:r>
            <a:r>
              <a:rPr lang="en-US" altLang="zh-TW" sz="3200" dirty="0"/>
              <a:t>: an AND term consists of all literals in their normal form or in their complement form</a:t>
            </a:r>
          </a:p>
          <a:p>
            <a:pPr lvl="1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/>
              <a:t>For example, two binary variables </a:t>
            </a:r>
            <a:r>
              <a:rPr lang="en-US" altLang="zh-TW" sz="3200" i="1" dirty="0"/>
              <a:t>x </a:t>
            </a:r>
            <a:r>
              <a:rPr lang="en-US" altLang="zh-TW" sz="3200" dirty="0"/>
              <a:t>and </a:t>
            </a:r>
            <a:r>
              <a:rPr lang="en-US" altLang="zh-TW" sz="3200" i="1" dirty="0"/>
              <a:t>y,</a:t>
            </a:r>
          </a:p>
          <a:p>
            <a:pPr marL="0" lvl="2" algn="ctr">
              <a:lnSpc>
                <a:spcPct val="125000"/>
              </a:lnSpc>
            </a:pPr>
            <a:r>
              <a:rPr lang="en-US" altLang="zh-TW" sz="3200" i="1" dirty="0" err="1" smtClean="0"/>
              <a:t>xy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3200" i="1" dirty="0" smtClean="0"/>
              <a:t> </a:t>
            </a:r>
            <a:r>
              <a:rPr lang="en-US" altLang="zh-TW" sz="3200" i="1" dirty="0" err="1" smtClean="0"/>
              <a:t>xy</a:t>
            </a:r>
            <a:r>
              <a:rPr lang="en-US" altLang="zh-TW" sz="3200" i="1" dirty="0" smtClean="0"/>
              <a:t>’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3200" i="1" dirty="0" smtClean="0"/>
              <a:t> </a:t>
            </a:r>
            <a:r>
              <a:rPr lang="en-US" altLang="zh-TW" sz="3200" i="1" dirty="0" err="1" smtClean="0"/>
              <a:t>x’y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3200" i="1" dirty="0"/>
              <a:t> </a:t>
            </a:r>
            <a:r>
              <a:rPr lang="en-US" altLang="zh-TW" sz="3200" i="1" dirty="0" err="1" smtClean="0"/>
              <a:t>x’y</a:t>
            </a:r>
            <a:r>
              <a:rPr lang="en-US" altLang="zh-TW" sz="3200" i="1" dirty="0" smtClean="0"/>
              <a:t>’</a:t>
            </a:r>
            <a:endParaRPr lang="en-US" altLang="zh-TW" sz="3200" i="1" dirty="0"/>
          </a:p>
          <a:p>
            <a:pPr lvl="1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/>
              <a:t>It is also called a </a:t>
            </a:r>
            <a:r>
              <a:rPr lang="en-US" altLang="zh-TW" sz="3200" b="1" dirty="0">
                <a:solidFill>
                  <a:srgbClr val="C00000"/>
                </a:solidFill>
              </a:rPr>
              <a:t>standard product</a:t>
            </a:r>
          </a:p>
          <a:p>
            <a:pPr lvl="1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200" i="1" dirty="0"/>
              <a:t>n</a:t>
            </a:r>
            <a:r>
              <a:rPr lang="en-US" altLang="zh-TW" sz="3200" dirty="0"/>
              <a:t> variables </a:t>
            </a:r>
            <a:r>
              <a:rPr lang="en-US" altLang="zh-TW" sz="3200" dirty="0" smtClean="0"/>
              <a:t>can </a:t>
            </a:r>
            <a:r>
              <a:rPr lang="en-US" altLang="zh-TW" sz="3200" dirty="0"/>
              <a:t>be combined to form 2</a:t>
            </a:r>
            <a:r>
              <a:rPr lang="en-US" altLang="zh-TW" sz="3200" i="1" baseline="40000" dirty="0"/>
              <a:t>n </a:t>
            </a:r>
            <a:r>
              <a:rPr lang="en-US" altLang="zh-TW" sz="3200" dirty="0" err="1"/>
              <a:t>minterms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702817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3771" y="3902034"/>
            <a:ext cx="9666429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4400" b="1" i="1" dirty="0" smtClean="0"/>
              <a:t>F</a:t>
            </a:r>
            <a:r>
              <a:rPr lang="en-US" altLang="zh-TW" sz="4400" b="1" baseline="-25000" dirty="0" smtClean="0"/>
              <a:t>2 </a:t>
            </a:r>
            <a:r>
              <a:rPr lang="en-US" altLang="zh-TW" sz="4400" b="1" dirty="0" smtClean="0"/>
              <a:t>(x, y ,z) </a:t>
            </a:r>
            <a:r>
              <a:rPr lang="en-US" altLang="zh-TW" sz="4400" b="1" i="1" dirty="0" smtClean="0"/>
              <a:t>= 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x’ y’ </a:t>
            </a:r>
            <a:r>
              <a:rPr lang="en-US" altLang="zh-TW" sz="4400" b="1" i="1" dirty="0">
                <a:solidFill>
                  <a:srgbClr val="C00000"/>
                </a:solidFill>
              </a:rPr>
              <a:t>z </a:t>
            </a:r>
            <a:r>
              <a:rPr lang="en-US" altLang="zh-TW" sz="4400" b="1" i="1" dirty="0" smtClean="0"/>
              <a:t>+ x z + 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x’ </a:t>
            </a:r>
            <a:r>
              <a:rPr lang="en-US" altLang="zh-TW" sz="4400" b="1" i="1" dirty="0">
                <a:solidFill>
                  <a:srgbClr val="C00000"/>
                </a:solidFill>
              </a:rPr>
              <a:t>y z </a:t>
            </a:r>
            <a:r>
              <a:rPr lang="en-US" altLang="zh-TW" sz="4400" b="1" i="1" dirty="0"/>
              <a:t>+ x y</a:t>
            </a:r>
            <a:r>
              <a:rPr lang="en-US" altLang="zh-TW" sz="4400" b="1" i="1" dirty="0" smtClean="0"/>
              <a:t>’</a:t>
            </a:r>
          </a:p>
        </p:txBody>
      </p:sp>
      <p:sp>
        <p:nvSpPr>
          <p:cNvPr id="5" name="矩形 4"/>
          <p:cNvSpPr/>
          <p:nvPr/>
        </p:nvSpPr>
        <p:spPr>
          <a:xfrm>
            <a:off x="783771" y="1575211"/>
            <a:ext cx="7420621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4400" b="1" i="1" dirty="0" smtClean="0"/>
              <a:t>F</a:t>
            </a:r>
            <a:r>
              <a:rPr lang="en-US" altLang="zh-TW" sz="4400" b="1" baseline="-25000" dirty="0" smtClean="0"/>
              <a:t>2 </a:t>
            </a:r>
            <a:r>
              <a:rPr lang="en-US" altLang="zh-TW" sz="4400" b="1" dirty="0" smtClean="0"/>
              <a:t>(x, y) </a:t>
            </a:r>
            <a:r>
              <a:rPr lang="en-US" altLang="zh-TW" sz="4400" b="1" i="1" dirty="0" smtClean="0"/>
              <a:t>= x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 </a:t>
            </a:r>
            <a:r>
              <a:rPr lang="en-US" altLang="zh-TW" sz="4400" b="1" i="1" dirty="0" smtClean="0"/>
              <a:t>+ 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x’ </a:t>
            </a:r>
            <a:r>
              <a:rPr lang="en-US" altLang="zh-TW" sz="4400" b="1" i="1" dirty="0">
                <a:solidFill>
                  <a:srgbClr val="C00000"/>
                </a:solidFill>
              </a:rPr>
              <a:t>y 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 </a:t>
            </a:r>
            <a:r>
              <a:rPr lang="en-US" altLang="zh-TW" sz="4400" b="1" i="1" dirty="0"/>
              <a:t>+ </a:t>
            </a:r>
            <a:r>
              <a:rPr lang="en-US" altLang="zh-TW" sz="4400" b="1" i="1" dirty="0">
                <a:solidFill>
                  <a:srgbClr val="C00000"/>
                </a:solidFill>
              </a:rPr>
              <a:t>x y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’</a:t>
            </a:r>
            <a:r>
              <a:rPr lang="en-US" altLang="zh-TW" sz="4400" b="1" i="1" dirty="0" smtClean="0"/>
              <a:t> + y</a:t>
            </a:r>
          </a:p>
        </p:txBody>
      </p:sp>
    </p:spTree>
    <p:extLst>
      <p:ext uri="{BB962C8B-B14F-4D97-AF65-F5344CB8AC3E}">
        <p14:creationId xmlns:p14="http://schemas.microsoft.com/office/powerpoint/2010/main" val="782728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80D25B-9C16-4179-BA20-30FCEB1C5F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20" r="41665"/>
          <a:stretch/>
        </p:blipFill>
        <p:spPr bwMode="auto">
          <a:xfrm>
            <a:off x="1690007" y="261257"/>
            <a:ext cx="9307286" cy="6532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6536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08215" y="2216808"/>
            <a:ext cx="1169942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latin typeface="+mj-lt"/>
              </a:rPr>
              <a:t>A Boolean function can be expressed algebraically from a given truth table by </a:t>
            </a:r>
            <a:r>
              <a:rPr lang="en-US" altLang="zh-TW" sz="3200" b="1" dirty="0" smtClean="0">
                <a:latin typeface="+mj-lt"/>
              </a:rPr>
              <a:t>forming a </a:t>
            </a:r>
            <a:r>
              <a:rPr lang="en-US" altLang="zh-TW" sz="3200" b="1" dirty="0" err="1">
                <a:latin typeface="+mj-lt"/>
              </a:rPr>
              <a:t>minterm</a:t>
            </a:r>
            <a:r>
              <a:rPr lang="en-US" altLang="zh-TW" sz="3200" b="1" dirty="0">
                <a:latin typeface="+mj-lt"/>
              </a:rPr>
              <a:t> for each combination of the variables that produces a 1 in the </a:t>
            </a:r>
            <a:r>
              <a:rPr lang="en-US" altLang="zh-TW" sz="3200" b="1" dirty="0" smtClean="0">
                <a:latin typeface="+mj-lt"/>
              </a:rPr>
              <a:t>function and </a:t>
            </a:r>
            <a:r>
              <a:rPr lang="en-US" altLang="zh-TW" sz="3200" b="1" dirty="0">
                <a:latin typeface="+mj-lt"/>
              </a:rPr>
              <a:t>then taking the OR of all those terms.</a:t>
            </a:r>
            <a:endParaRPr lang="zh-TW" altLang="en-US" sz="3200" dirty="0"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732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03514" y="2851273"/>
            <a:ext cx="50945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1</a:t>
            </a:r>
            <a:r>
              <a:rPr lang="en-US" altLang="zh-TW" sz="3600" b="1" i="1" baseline="-25000" dirty="0" smtClean="0"/>
              <a:t>	</a:t>
            </a:r>
            <a:r>
              <a:rPr lang="en-US" altLang="zh-TW" sz="3600" b="1" i="1" dirty="0" smtClean="0"/>
              <a:t>=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657513"/>
              </p:ext>
            </p:extLst>
          </p:nvPr>
        </p:nvGraphicFramePr>
        <p:xfrm>
          <a:off x="6767284" y="1419618"/>
          <a:ext cx="503010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2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348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03514" y="2851273"/>
            <a:ext cx="50945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1</a:t>
            </a:r>
            <a:r>
              <a:rPr lang="en-US" altLang="zh-TW" sz="3600" b="1" i="1" baseline="-25000" dirty="0" smtClean="0"/>
              <a:t>	</a:t>
            </a:r>
            <a:r>
              <a:rPr lang="en-US" altLang="zh-TW" sz="3600" b="1" i="1" dirty="0" smtClean="0"/>
              <a:t>= </a:t>
            </a:r>
            <a:r>
              <a:rPr lang="en-US" altLang="zh-TW" sz="3600" b="1" i="1" dirty="0" err="1" smtClean="0"/>
              <a:t>x'y'z</a:t>
            </a:r>
            <a:endParaRPr lang="en-US" altLang="zh-TW" sz="3600" b="1" i="1" dirty="0" smtClean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078638"/>
              </p:ext>
            </p:extLst>
          </p:nvPr>
        </p:nvGraphicFramePr>
        <p:xfrm>
          <a:off x="6767284" y="1419618"/>
          <a:ext cx="503010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2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061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03514" y="2851273"/>
            <a:ext cx="50945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1</a:t>
            </a:r>
            <a:r>
              <a:rPr lang="en-US" altLang="zh-TW" sz="3600" b="1" i="1" baseline="-25000" dirty="0" smtClean="0"/>
              <a:t>	</a:t>
            </a:r>
            <a:r>
              <a:rPr lang="en-US" altLang="zh-TW" sz="3600" b="1" i="1" dirty="0" smtClean="0"/>
              <a:t>= </a:t>
            </a:r>
            <a:r>
              <a:rPr lang="en-US" altLang="zh-TW" sz="3600" b="1" i="1" dirty="0" err="1"/>
              <a:t>x'y'z</a:t>
            </a:r>
            <a:r>
              <a:rPr lang="en-US" altLang="zh-TW" sz="3600" b="1" i="1" dirty="0"/>
              <a:t> + </a:t>
            </a:r>
            <a:r>
              <a:rPr lang="en-US" altLang="zh-TW" sz="3600" b="1" i="1" dirty="0" err="1"/>
              <a:t>xy'z</a:t>
            </a:r>
            <a:r>
              <a:rPr lang="en-US" altLang="zh-TW" sz="3600" b="1" i="1" dirty="0" smtClean="0"/>
              <a:t>'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049571"/>
              </p:ext>
            </p:extLst>
          </p:nvPr>
        </p:nvGraphicFramePr>
        <p:xfrm>
          <a:off x="6767284" y="1419618"/>
          <a:ext cx="503010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2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996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03514" y="2851273"/>
            <a:ext cx="50945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1</a:t>
            </a:r>
            <a:r>
              <a:rPr lang="en-US" altLang="zh-TW" sz="3600" b="1" i="1" baseline="-25000" dirty="0" smtClean="0"/>
              <a:t>	</a:t>
            </a:r>
            <a:r>
              <a:rPr lang="en-US" altLang="zh-TW" sz="3600" b="1" i="1" dirty="0" smtClean="0"/>
              <a:t>= </a:t>
            </a:r>
            <a:r>
              <a:rPr lang="en-US" altLang="zh-TW" sz="3600" b="1" i="1" dirty="0" err="1"/>
              <a:t>x'y'z</a:t>
            </a:r>
            <a:r>
              <a:rPr lang="en-US" altLang="zh-TW" sz="3600" b="1" i="1" dirty="0"/>
              <a:t> + </a:t>
            </a:r>
            <a:r>
              <a:rPr lang="en-US" altLang="zh-TW" sz="3600" b="1" i="1" dirty="0" err="1"/>
              <a:t>xy'z</a:t>
            </a:r>
            <a:r>
              <a:rPr lang="en-US" altLang="zh-TW" sz="3600" b="1" i="1" dirty="0"/>
              <a:t>' + </a:t>
            </a:r>
            <a:r>
              <a:rPr lang="en-US" altLang="zh-TW" sz="3600" b="1" i="1" dirty="0" smtClean="0"/>
              <a:t>xyz 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350788"/>
              </p:ext>
            </p:extLst>
          </p:nvPr>
        </p:nvGraphicFramePr>
        <p:xfrm>
          <a:off x="6767284" y="1419618"/>
          <a:ext cx="503010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2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93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03514" y="2851273"/>
            <a:ext cx="50945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1</a:t>
            </a:r>
            <a:r>
              <a:rPr lang="en-US" altLang="zh-TW" sz="3600" b="1" i="1" baseline="-25000" dirty="0" smtClean="0"/>
              <a:t>	</a:t>
            </a:r>
            <a:r>
              <a:rPr lang="en-US" altLang="zh-TW" sz="3600" b="1" i="1" dirty="0" smtClean="0"/>
              <a:t>= </a:t>
            </a:r>
            <a:r>
              <a:rPr lang="en-US" altLang="zh-TW" sz="3600" b="1" i="1" dirty="0" err="1"/>
              <a:t>x'y'z</a:t>
            </a:r>
            <a:r>
              <a:rPr lang="en-US" altLang="zh-TW" sz="3600" b="1" i="1" dirty="0"/>
              <a:t> + </a:t>
            </a:r>
            <a:r>
              <a:rPr lang="en-US" altLang="zh-TW" sz="3600" b="1" i="1" dirty="0" err="1"/>
              <a:t>xy'z</a:t>
            </a:r>
            <a:r>
              <a:rPr lang="en-US" altLang="zh-TW" sz="3600" b="1" i="1" dirty="0"/>
              <a:t>' + </a:t>
            </a:r>
            <a:r>
              <a:rPr lang="en-US" altLang="zh-TW" sz="3600" b="1" i="1" dirty="0" smtClean="0"/>
              <a:t>xyz 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51552"/>
              </p:ext>
            </p:extLst>
          </p:nvPr>
        </p:nvGraphicFramePr>
        <p:xfrm>
          <a:off x="6767284" y="1419618"/>
          <a:ext cx="503010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2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68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03514" y="2851273"/>
            <a:ext cx="50945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1</a:t>
            </a:r>
            <a:r>
              <a:rPr lang="en-US" altLang="zh-TW" sz="3600" b="1" i="1" baseline="-25000" dirty="0" smtClean="0"/>
              <a:t>	</a:t>
            </a:r>
            <a:r>
              <a:rPr lang="en-US" altLang="zh-TW" sz="3600" b="1" i="1" dirty="0" smtClean="0"/>
              <a:t>= </a:t>
            </a:r>
            <a:r>
              <a:rPr lang="en-US" altLang="zh-TW" sz="3600" b="1" i="1" dirty="0" err="1"/>
              <a:t>x'y'z</a:t>
            </a:r>
            <a:r>
              <a:rPr lang="en-US" altLang="zh-TW" sz="3600" b="1" i="1" dirty="0"/>
              <a:t> + </a:t>
            </a:r>
            <a:r>
              <a:rPr lang="en-US" altLang="zh-TW" sz="3600" b="1" i="1" dirty="0" err="1"/>
              <a:t>xy'z</a:t>
            </a:r>
            <a:r>
              <a:rPr lang="en-US" altLang="zh-TW" sz="3600" b="1" i="1" dirty="0"/>
              <a:t>' + </a:t>
            </a:r>
            <a:r>
              <a:rPr lang="en-US" altLang="zh-TW" sz="3600" b="1" i="1" dirty="0" smtClean="0"/>
              <a:t>xyz 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51552"/>
              </p:ext>
            </p:extLst>
          </p:nvPr>
        </p:nvGraphicFramePr>
        <p:xfrm>
          <a:off x="6767284" y="1419618"/>
          <a:ext cx="503010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2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903514" y="1778256"/>
            <a:ext cx="4294381" cy="70788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>
            <a:spAutoFit/>
          </a:bodyPr>
          <a:lstStyle/>
          <a:p>
            <a:pPr lvl="1"/>
            <a:r>
              <a:rPr lang="en-US" altLang="zh-TW" sz="40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000" b="1" dirty="0">
                <a:solidFill>
                  <a:schemeClr val="bg1"/>
                </a:solidFill>
              </a:rPr>
              <a:t>of </a:t>
            </a:r>
            <a:r>
              <a:rPr lang="en-US" altLang="zh-TW" sz="4000" b="1" dirty="0" err="1">
                <a:solidFill>
                  <a:schemeClr val="bg1"/>
                </a:solidFill>
              </a:rPr>
              <a:t>minterms</a:t>
            </a:r>
            <a:endParaRPr lang="en-US" altLang="zh-TW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230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03514" y="2851273"/>
            <a:ext cx="50945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1</a:t>
            </a:r>
            <a:r>
              <a:rPr lang="en-US" altLang="zh-TW" sz="3600" b="1" i="1" baseline="-25000" dirty="0" smtClean="0"/>
              <a:t>	</a:t>
            </a:r>
            <a:r>
              <a:rPr lang="en-US" altLang="zh-TW" sz="3600" b="1" i="1" dirty="0" smtClean="0"/>
              <a:t>= </a:t>
            </a:r>
            <a:r>
              <a:rPr lang="en-US" altLang="zh-TW" sz="3600" b="1" i="1" dirty="0" err="1"/>
              <a:t>x'y'z</a:t>
            </a:r>
            <a:r>
              <a:rPr lang="en-US" altLang="zh-TW" sz="3600" b="1" i="1" dirty="0"/>
              <a:t> + </a:t>
            </a:r>
            <a:r>
              <a:rPr lang="en-US" altLang="zh-TW" sz="3600" b="1" i="1" dirty="0" err="1"/>
              <a:t>xy'z</a:t>
            </a:r>
            <a:r>
              <a:rPr lang="en-US" altLang="zh-TW" sz="3600" b="1" i="1" dirty="0"/>
              <a:t>' + </a:t>
            </a:r>
            <a:r>
              <a:rPr lang="en-US" altLang="zh-TW" sz="3600" b="1" i="1" dirty="0" smtClean="0"/>
              <a:t>xyz </a:t>
            </a:r>
          </a:p>
          <a:p>
            <a:pPr lvl="1">
              <a:lnSpc>
                <a:spcPct val="150000"/>
              </a:lnSpc>
            </a:pPr>
            <a:r>
              <a:rPr lang="en-US" altLang="zh-TW" sz="3600" b="1" i="1" dirty="0" smtClean="0"/>
              <a:t>= </a:t>
            </a:r>
            <a:r>
              <a:rPr lang="en-US" altLang="zh-TW" sz="3600" b="1" i="1" dirty="0"/>
              <a:t>m</a:t>
            </a:r>
            <a:r>
              <a:rPr lang="en-US" altLang="zh-TW" sz="3600" b="1" i="1" baseline="-25000" dirty="0"/>
              <a:t>1 </a:t>
            </a:r>
            <a:r>
              <a:rPr lang="en-US" altLang="zh-TW" sz="3600" b="1" i="1" dirty="0"/>
              <a:t>+ m</a:t>
            </a:r>
            <a:r>
              <a:rPr lang="en-US" altLang="zh-TW" sz="3600" b="1" i="1" baseline="-25000" dirty="0"/>
              <a:t>4 </a:t>
            </a:r>
            <a:r>
              <a:rPr lang="en-US" altLang="zh-TW" sz="3600" b="1" i="1" dirty="0" smtClean="0"/>
              <a:t>+ m</a:t>
            </a:r>
            <a:r>
              <a:rPr lang="en-US" altLang="zh-TW" sz="3600" b="1" i="1" baseline="-25000" dirty="0" smtClean="0"/>
              <a:t>7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51552"/>
              </p:ext>
            </p:extLst>
          </p:nvPr>
        </p:nvGraphicFramePr>
        <p:xfrm>
          <a:off x="6767284" y="1419618"/>
          <a:ext cx="503010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2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903514" y="1778256"/>
            <a:ext cx="4294381" cy="70788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>
            <a:spAutoFit/>
          </a:bodyPr>
          <a:lstStyle/>
          <a:p>
            <a:pPr lvl="1"/>
            <a:r>
              <a:rPr lang="en-US" altLang="zh-TW" sz="40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000" b="1" dirty="0">
                <a:solidFill>
                  <a:schemeClr val="bg1"/>
                </a:solidFill>
              </a:rPr>
              <a:t>of </a:t>
            </a:r>
            <a:r>
              <a:rPr lang="en-US" altLang="zh-TW" sz="4000" b="1" dirty="0" err="1">
                <a:solidFill>
                  <a:schemeClr val="bg1"/>
                </a:solidFill>
              </a:rPr>
              <a:t>minterms</a:t>
            </a:r>
            <a:endParaRPr lang="en-US" altLang="zh-TW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949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03514" y="2851273"/>
            <a:ext cx="509451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1</a:t>
            </a:r>
            <a:r>
              <a:rPr lang="en-US" altLang="zh-TW" sz="3600" b="1" i="1" baseline="-25000" dirty="0" smtClean="0"/>
              <a:t>	</a:t>
            </a:r>
            <a:r>
              <a:rPr lang="en-US" altLang="zh-TW" sz="3600" b="1" i="1" dirty="0" smtClean="0"/>
              <a:t>= </a:t>
            </a:r>
            <a:r>
              <a:rPr lang="en-US" altLang="zh-TW" sz="3600" b="1" i="1" dirty="0" err="1"/>
              <a:t>x'y'z</a:t>
            </a:r>
            <a:r>
              <a:rPr lang="en-US" altLang="zh-TW" sz="3600" b="1" i="1" dirty="0"/>
              <a:t> + </a:t>
            </a:r>
            <a:r>
              <a:rPr lang="en-US" altLang="zh-TW" sz="3600" b="1" i="1" dirty="0" err="1"/>
              <a:t>xy'z</a:t>
            </a:r>
            <a:r>
              <a:rPr lang="en-US" altLang="zh-TW" sz="3600" b="1" i="1" dirty="0"/>
              <a:t>' + </a:t>
            </a:r>
            <a:r>
              <a:rPr lang="en-US" altLang="zh-TW" sz="3600" b="1" i="1" dirty="0" smtClean="0"/>
              <a:t>xyz </a:t>
            </a:r>
          </a:p>
          <a:p>
            <a:pPr lvl="1">
              <a:lnSpc>
                <a:spcPct val="150000"/>
              </a:lnSpc>
            </a:pPr>
            <a:r>
              <a:rPr lang="en-US" altLang="zh-TW" sz="3600" b="1" i="1" dirty="0" smtClean="0"/>
              <a:t>= </a:t>
            </a:r>
            <a:r>
              <a:rPr lang="en-US" altLang="zh-TW" sz="3600" b="1" i="1" dirty="0"/>
              <a:t>m</a:t>
            </a:r>
            <a:r>
              <a:rPr lang="en-US" altLang="zh-TW" sz="3600" b="1" i="1" baseline="-25000" dirty="0"/>
              <a:t>1 </a:t>
            </a:r>
            <a:r>
              <a:rPr lang="en-US" altLang="zh-TW" sz="3600" b="1" i="1" dirty="0"/>
              <a:t>+ m</a:t>
            </a:r>
            <a:r>
              <a:rPr lang="en-US" altLang="zh-TW" sz="3600" b="1" i="1" baseline="-25000" dirty="0"/>
              <a:t>4 </a:t>
            </a:r>
            <a:r>
              <a:rPr lang="en-US" altLang="zh-TW" sz="3600" b="1" i="1" dirty="0" smtClean="0"/>
              <a:t>+ m</a:t>
            </a:r>
            <a:r>
              <a:rPr lang="en-US" altLang="zh-TW" sz="3600" b="1" i="1" baseline="-25000" dirty="0" smtClean="0"/>
              <a:t>7</a:t>
            </a:r>
          </a:p>
          <a:p>
            <a:pPr lvl="1">
              <a:lnSpc>
                <a:spcPct val="150000"/>
              </a:lnSpc>
            </a:pPr>
            <a:r>
              <a:rPr lang="en-US" altLang="zh-TW" sz="3600" b="1" i="1" dirty="0" smtClean="0"/>
              <a:t>= ∑</a:t>
            </a:r>
            <a:r>
              <a:rPr lang="en-US" altLang="zh-TW" sz="3600" b="1" dirty="0" smtClean="0"/>
              <a:t>(1, 4, 7)</a:t>
            </a:r>
            <a:endParaRPr lang="en-US" altLang="zh-TW" sz="3600" b="1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51552"/>
              </p:ext>
            </p:extLst>
          </p:nvPr>
        </p:nvGraphicFramePr>
        <p:xfrm>
          <a:off x="6767284" y="1419618"/>
          <a:ext cx="503010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2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903514" y="1778256"/>
            <a:ext cx="4294381" cy="70788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>
            <a:spAutoFit/>
          </a:bodyPr>
          <a:lstStyle/>
          <a:p>
            <a:pPr lvl="1"/>
            <a:r>
              <a:rPr lang="en-US" altLang="zh-TW" sz="40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000" b="1" dirty="0">
                <a:solidFill>
                  <a:schemeClr val="bg1"/>
                </a:solidFill>
              </a:rPr>
              <a:t>of </a:t>
            </a:r>
            <a:r>
              <a:rPr lang="en-US" altLang="zh-TW" sz="4000" b="1" dirty="0" err="1">
                <a:solidFill>
                  <a:schemeClr val="bg1"/>
                </a:solidFill>
              </a:rPr>
              <a:t>minterms</a:t>
            </a:r>
            <a:endParaRPr lang="en-US" altLang="zh-TW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569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992343"/>
              </p:ext>
            </p:extLst>
          </p:nvPr>
        </p:nvGraphicFramePr>
        <p:xfrm>
          <a:off x="6767284" y="1419618"/>
          <a:ext cx="503010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2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44019" y="2660504"/>
            <a:ext cx="6106886" cy="834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2</a:t>
            </a:r>
            <a:r>
              <a:rPr lang="en-US" altLang="zh-TW" sz="3600" b="1" dirty="0" smtClean="0"/>
              <a:t>	=</a:t>
            </a:r>
            <a:endParaRPr lang="en-US" altLang="zh-TW" sz="3600" b="1" dirty="0"/>
          </a:p>
        </p:txBody>
      </p:sp>
    </p:spTree>
    <p:extLst>
      <p:ext uri="{BB962C8B-B14F-4D97-AF65-F5344CB8AC3E}">
        <p14:creationId xmlns:p14="http://schemas.microsoft.com/office/powerpoint/2010/main" val="3350419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729304"/>
              </p:ext>
            </p:extLst>
          </p:nvPr>
        </p:nvGraphicFramePr>
        <p:xfrm>
          <a:off x="6767284" y="1419618"/>
          <a:ext cx="503010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2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44019" y="2660504"/>
            <a:ext cx="6106886" cy="834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2</a:t>
            </a:r>
            <a:r>
              <a:rPr lang="en-US" altLang="zh-TW" sz="3600" b="1" dirty="0" smtClean="0"/>
              <a:t>	=</a:t>
            </a:r>
            <a:endParaRPr lang="en-US" altLang="zh-TW" sz="3600" b="1" dirty="0"/>
          </a:p>
        </p:txBody>
      </p:sp>
    </p:spTree>
    <p:extLst>
      <p:ext uri="{BB962C8B-B14F-4D97-AF65-F5344CB8AC3E}">
        <p14:creationId xmlns:p14="http://schemas.microsoft.com/office/powerpoint/2010/main" val="3538125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695557"/>
              </p:ext>
            </p:extLst>
          </p:nvPr>
        </p:nvGraphicFramePr>
        <p:xfrm>
          <a:off x="6767284" y="1419618"/>
          <a:ext cx="503010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2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44019" y="2660504"/>
            <a:ext cx="61068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2</a:t>
            </a:r>
            <a:r>
              <a:rPr lang="en-US" altLang="zh-TW" sz="3600" b="1" dirty="0" smtClean="0"/>
              <a:t>	= </a:t>
            </a:r>
            <a:r>
              <a:rPr lang="en-US" altLang="zh-TW" sz="3600" b="1" dirty="0" err="1" smtClean="0"/>
              <a:t>x'yz</a:t>
            </a:r>
            <a:r>
              <a:rPr lang="en-US" altLang="zh-TW" sz="3600" b="1" dirty="0" smtClean="0"/>
              <a:t> + </a:t>
            </a:r>
            <a:r>
              <a:rPr lang="en-US" altLang="zh-TW" sz="3600" b="1" dirty="0" err="1"/>
              <a:t>xy'z</a:t>
            </a:r>
            <a:r>
              <a:rPr lang="en-US" altLang="zh-TW" sz="3600" b="1" dirty="0"/>
              <a:t> + </a:t>
            </a:r>
            <a:r>
              <a:rPr lang="en-US" altLang="zh-TW" sz="3600" b="1" dirty="0" smtClean="0"/>
              <a:t>xyz‘ + xyz </a:t>
            </a:r>
          </a:p>
          <a:p>
            <a:pPr marL="0" lvl="1">
              <a:lnSpc>
                <a:spcPct val="150000"/>
              </a:lnSpc>
            </a:pPr>
            <a:r>
              <a:rPr lang="en-US" altLang="zh-TW" sz="36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94204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319688"/>
              </p:ext>
            </p:extLst>
          </p:nvPr>
        </p:nvGraphicFramePr>
        <p:xfrm>
          <a:off x="6767284" y="1419618"/>
          <a:ext cx="503010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2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44019" y="2660504"/>
            <a:ext cx="61068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2</a:t>
            </a:r>
            <a:r>
              <a:rPr lang="en-US" altLang="zh-TW" sz="3600" b="1" dirty="0" smtClean="0"/>
              <a:t>	= </a:t>
            </a:r>
            <a:r>
              <a:rPr lang="en-US" altLang="zh-TW" sz="3600" b="1" dirty="0" err="1" smtClean="0"/>
              <a:t>x'yz</a:t>
            </a:r>
            <a:r>
              <a:rPr lang="en-US" altLang="zh-TW" sz="3600" b="1" dirty="0" smtClean="0"/>
              <a:t> + </a:t>
            </a:r>
            <a:r>
              <a:rPr lang="en-US" altLang="zh-TW" sz="3600" b="1" dirty="0" err="1"/>
              <a:t>xy'z</a:t>
            </a:r>
            <a:r>
              <a:rPr lang="en-US" altLang="zh-TW" sz="3600" b="1" dirty="0"/>
              <a:t> + </a:t>
            </a:r>
            <a:r>
              <a:rPr lang="en-US" altLang="zh-TW" sz="3600" b="1" dirty="0" smtClean="0"/>
              <a:t>xyz‘ + xyz </a:t>
            </a:r>
          </a:p>
          <a:p>
            <a:pPr marL="0" lvl="1">
              <a:lnSpc>
                <a:spcPct val="150000"/>
              </a:lnSpc>
            </a:pPr>
            <a:r>
              <a:rPr lang="en-US" altLang="zh-TW" sz="3600" b="1" dirty="0"/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903514" y="1778256"/>
            <a:ext cx="4294381" cy="70788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>
            <a:spAutoFit/>
          </a:bodyPr>
          <a:lstStyle/>
          <a:p>
            <a:pPr lvl="1"/>
            <a:r>
              <a:rPr lang="en-US" altLang="zh-TW" sz="40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000" b="1" dirty="0">
                <a:solidFill>
                  <a:schemeClr val="bg1"/>
                </a:solidFill>
              </a:rPr>
              <a:t>of </a:t>
            </a:r>
            <a:r>
              <a:rPr lang="en-US" altLang="zh-TW" sz="4000" b="1" dirty="0" err="1">
                <a:solidFill>
                  <a:schemeClr val="bg1"/>
                </a:solidFill>
              </a:rPr>
              <a:t>minterms</a:t>
            </a:r>
            <a:endParaRPr lang="en-US" altLang="zh-TW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591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466514"/>
              </p:ext>
            </p:extLst>
          </p:nvPr>
        </p:nvGraphicFramePr>
        <p:xfrm>
          <a:off x="6767284" y="1419618"/>
          <a:ext cx="503010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2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44019" y="2660504"/>
            <a:ext cx="610688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2</a:t>
            </a:r>
            <a:r>
              <a:rPr lang="en-US" altLang="zh-TW" sz="3600" b="1" dirty="0" smtClean="0"/>
              <a:t>	= </a:t>
            </a:r>
            <a:r>
              <a:rPr lang="en-US" altLang="zh-TW" sz="3600" b="1" dirty="0" err="1" smtClean="0"/>
              <a:t>x'yz</a:t>
            </a:r>
            <a:r>
              <a:rPr lang="en-US" altLang="zh-TW" sz="3600" b="1" dirty="0" smtClean="0"/>
              <a:t> + </a:t>
            </a:r>
            <a:r>
              <a:rPr lang="en-US" altLang="zh-TW" sz="3600" b="1" dirty="0" err="1"/>
              <a:t>xy'z</a:t>
            </a:r>
            <a:r>
              <a:rPr lang="en-US" altLang="zh-TW" sz="3600" b="1" dirty="0"/>
              <a:t> + </a:t>
            </a:r>
            <a:r>
              <a:rPr lang="en-US" altLang="zh-TW" sz="3600" b="1" dirty="0" smtClean="0"/>
              <a:t>xyz‘ + xyz </a:t>
            </a:r>
          </a:p>
          <a:p>
            <a:pPr marL="0" lvl="1">
              <a:lnSpc>
                <a:spcPct val="150000"/>
              </a:lnSpc>
            </a:pPr>
            <a:r>
              <a:rPr lang="en-US" altLang="zh-TW" sz="3600" b="1" dirty="0"/>
              <a:t>	</a:t>
            </a:r>
            <a:r>
              <a:rPr lang="en-US" altLang="zh-TW" sz="3600" b="1" dirty="0" smtClean="0"/>
              <a:t>= </a:t>
            </a:r>
            <a:r>
              <a:rPr lang="en-US" altLang="zh-TW" sz="3600" b="1" i="1" dirty="0"/>
              <a:t>m</a:t>
            </a:r>
            <a:r>
              <a:rPr lang="en-US" altLang="zh-TW" sz="3600" b="1" i="1" baseline="-25000" dirty="0"/>
              <a:t>3 </a:t>
            </a:r>
            <a:r>
              <a:rPr lang="en-US" altLang="zh-TW" sz="3600" b="1" i="1" dirty="0"/>
              <a:t>+ m</a:t>
            </a:r>
            <a:r>
              <a:rPr lang="en-US" altLang="zh-TW" sz="3600" b="1" i="1" baseline="-25000" dirty="0"/>
              <a:t>5 </a:t>
            </a:r>
            <a:r>
              <a:rPr lang="en-US" altLang="zh-TW" sz="3600" b="1" i="1" dirty="0" smtClean="0"/>
              <a:t>+ m</a:t>
            </a:r>
            <a:r>
              <a:rPr lang="en-US" altLang="zh-TW" sz="3600" b="1" i="1" baseline="-25000" dirty="0" smtClean="0"/>
              <a:t>6</a:t>
            </a:r>
            <a:r>
              <a:rPr lang="en-US" altLang="zh-TW" sz="3600" b="1" i="1" dirty="0" smtClean="0"/>
              <a:t> </a:t>
            </a:r>
            <a:r>
              <a:rPr lang="en-US" altLang="zh-TW" sz="3600" b="1" i="1" dirty="0"/>
              <a:t>+ </a:t>
            </a:r>
            <a:r>
              <a:rPr lang="en-US" altLang="zh-TW" sz="3600" b="1" i="1" dirty="0" smtClean="0"/>
              <a:t>m</a:t>
            </a:r>
            <a:r>
              <a:rPr lang="en-US" altLang="zh-TW" sz="3600" b="1" i="1" baseline="-25000" dirty="0" smtClean="0"/>
              <a:t>7</a:t>
            </a:r>
          </a:p>
          <a:p>
            <a:pPr marL="0" lvl="1">
              <a:lnSpc>
                <a:spcPct val="150000"/>
              </a:lnSpc>
            </a:pPr>
            <a:r>
              <a:rPr lang="en-US" altLang="zh-TW" sz="3600" b="1" i="1" baseline="-25000" dirty="0"/>
              <a:t>	</a:t>
            </a:r>
            <a:endParaRPr lang="en-US" altLang="zh-TW" sz="3600" b="1" dirty="0"/>
          </a:p>
        </p:txBody>
      </p:sp>
      <p:sp>
        <p:nvSpPr>
          <p:cNvPr id="7" name="矩形 6"/>
          <p:cNvSpPr/>
          <p:nvPr/>
        </p:nvSpPr>
        <p:spPr>
          <a:xfrm>
            <a:off x="903514" y="1778256"/>
            <a:ext cx="4294381" cy="70788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>
            <a:spAutoFit/>
          </a:bodyPr>
          <a:lstStyle/>
          <a:p>
            <a:pPr lvl="1"/>
            <a:r>
              <a:rPr lang="en-US" altLang="zh-TW" sz="40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000" b="1" dirty="0">
                <a:solidFill>
                  <a:schemeClr val="bg1"/>
                </a:solidFill>
              </a:rPr>
              <a:t>of </a:t>
            </a:r>
            <a:r>
              <a:rPr lang="en-US" altLang="zh-TW" sz="4000" b="1" dirty="0" err="1">
                <a:solidFill>
                  <a:schemeClr val="bg1"/>
                </a:solidFill>
              </a:rPr>
              <a:t>minterms</a:t>
            </a:r>
            <a:endParaRPr lang="en-US" altLang="zh-TW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879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98394"/>
              </p:ext>
            </p:extLst>
          </p:nvPr>
        </p:nvGraphicFramePr>
        <p:xfrm>
          <a:off x="6767284" y="1419618"/>
          <a:ext cx="503010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2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25752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44019" y="2660504"/>
            <a:ext cx="610688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TW" sz="3600" b="1" i="1" dirty="0" smtClean="0"/>
              <a:t>F</a:t>
            </a:r>
            <a:r>
              <a:rPr lang="en-US" altLang="zh-TW" sz="3600" b="1" baseline="-25000" dirty="0" smtClean="0"/>
              <a:t>2</a:t>
            </a:r>
            <a:r>
              <a:rPr lang="en-US" altLang="zh-TW" sz="3600" b="1" dirty="0" smtClean="0"/>
              <a:t>	= </a:t>
            </a:r>
            <a:r>
              <a:rPr lang="en-US" altLang="zh-TW" sz="3600" b="1" dirty="0" err="1" smtClean="0"/>
              <a:t>x'yz</a:t>
            </a:r>
            <a:r>
              <a:rPr lang="en-US" altLang="zh-TW" sz="3600" b="1" dirty="0" smtClean="0"/>
              <a:t> + </a:t>
            </a:r>
            <a:r>
              <a:rPr lang="en-US" altLang="zh-TW" sz="3600" b="1" dirty="0" err="1"/>
              <a:t>xy'z</a:t>
            </a:r>
            <a:r>
              <a:rPr lang="en-US" altLang="zh-TW" sz="3600" b="1" dirty="0"/>
              <a:t> + </a:t>
            </a:r>
            <a:r>
              <a:rPr lang="en-US" altLang="zh-TW" sz="3600" b="1" dirty="0" smtClean="0"/>
              <a:t>xyz‘ + xyz </a:t>
            </a:r>
          </a:p>
          <a:p>
            <a:pPr marL="0" lvl="1">
              <a:lnSpc>
                <a:spcPct val="150000"/>
              </a:lnSpc>
            </a:pPr>
            <a:r>
              <a:rPr lang="en-US" altLang="zh-TW" sz="3600" b="1" dirty="0"/>
              <a:t>	</a:t>
            </a:r>
            <a:r>
              <a:rPr lang="en-US" altLang="zh-TW" sz="3600" b="1" dirty="0" smtClean="0"/>
              <a:t>= </a:t>
            </a:r>
            <a:r>
              <a:rPr lang="en-US" altLang="zh-TW" sz="3600" b="1" i="1" dirty="0"/>
              <a:t>m</a:t>
            </a:r>
            <a:r>
              <a:rPr lang="en-US" altLang="zh-TW" sz="3600" b="1" i="1" baseline="-25000" dirty="0"/>
              <a:t>3 </a:t>
            </a:r>
            <a:r>
              <a:rPr lang="en-US" altLang="zh-TW" sz="3600" b="1" i="1" dirty="0"/>
              <a:t>+ m</a:t>
            </a:r>
            <a:r>
              <a:rPr lang="en-US" altLang="zh-TW" sz="3600" b="1" i="1" baseline="-25000" dirty="0"/>
              <a:t>5 </a:t>
            </a:r>
            <a:r>
              <a:rPr lang="en-US" altLang="zh-TW" sz="3600" b="1" i="1" dirty="0" smtClean="0"/>
              <a:t>+ m</a:t>
            </a:r>
            <a:r>
              <a:rPr lang="en-US" altLang="zh-TW" sz="3600" b="1" i="1" baseline="-25000" dirty="0" smtClean="0"/>
              <a:t>6</a:t>
            </a:r>
            <a:r>
              <a:rPr lang="en-US" altLang="zh-TW" sz="3600" b="1" i="1" dirty="0" smtClean="0"/>
              <a:t> </a:t>
            </a:r>
            <a:r>
              <a:rPr lang="en-US" altLang="zh-TW" sz="3600" b="1" i="1" dirty="0"/>
              <a:t>+ </a:t>
            </a:r>
            <a:r>
              <a:rPr lang="en-US" altLang="zh-TW" sz="3600" b="1" i="1" dirty="0" smtClean="0"/>
              <a:t>m</a:t>
            </a:r>
            <a:r>
              <a:rPr lang="en-US" altLang="zh-TW" sz="3600" b="1" i="1" baseline="-25000" dirty="0" smtClean="0"/>
              <a:t>7</a:t>
            </a:r>
          </a:p>
          <a:p>
            <a:pPr marL="0" lvl="1">
              <a:lnSpc>
                <a:spcPct val="150000"/>
              </a:lnSpc>
            </a:pPr>
            <a:r>
              <a:rPr lang="en-US" altLang="zh-TW" sz="3600" b="1" i="1" baseline="-25000" dirty="0"/>
              <a:t>	</a:t>
            </a:r>
            <a:r>
              <a:rPr lang="en-US" altLang="zh-TW" sz="3600" b="1" i="1" dirty="0" smtClean="0"/>
              <a:t>= ∑</a:t>
            </a:r>
            <a:r>
              <a:rPr lang="en-US" altLang="zh-TW" sz="3600" b="1" dirty="0" smtClean="0"/>
              <a:t>(3, 5, 6, 7)</a:t>
            </a:r>
            <a:endParaRPr lang="en-US" altLang="zh-TW" sz="3600" b="1" dirty="0"/>
          </a:p>
        </p:txBody>
      </p:sp>
      <p:sp>
        <p:nvSpPr>
          <p:cNvPr id="7" name="矩形 6"/>
          <p:cNvSpPr/>
          <p:nvPr/>
        </p:nvSpPr>
        <p:spPr>
          <a:xfrm>
            <a:off x="903514" y="1778256"/>
            <a:ext cx="4294381" cy="70788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>
            <a:spAutoFit/>
          </a:bodyPr>
          <a:lstStyle/>
          <a:p>
            <a:pPr lvl="1"/>
            <a:r>
              <a:rPr lang="en-US" altLang="zh-TW" sz="40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000" b="1" dirty="0">
                <a:solidFill>
                  <a:schemeClr val="bg1"/>
                </a:solidFill>
              </a:rPr>
              <a:t>of </a:t>
            </a:r>
            <a:r>
              <a:rPr lang="en-US" altLang="zh-TW" sz="4000" b="1" dirty="0" err="1">
                <a:solidFill>
                  <a:schemeClr val="bg1"/>
                </a:solidFill>
              </a:rPr>
              <a:t>minterms</a:t>
            </a:r>
            <a:endParaRPr lang="en-US" altLang="zh-TW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135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23599"/>
            <a:ext cx="12192000" cy="76944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err="1" smtClean="0">
                <a:solidFill>
                  <a:schemeClr val="bg1"/>
                </a:solidFill>
              </a:rPr>
              <a:t>Maxterms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9882" y="1603900"/>
            <a:ext cx="1081223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/>
              <a:t>A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</a:t>
            </a:r>
            <a:r>
              <a:rPr lang="en-US" altLang="zh-TW" sz="3200" dirty="0"/>
              <a:t>: an OR </a:t>
            </a:r>
            <a:r>
              <a:rPr lang="en-US" altLang="zh-TW" sz="3200" dirty="0" smtClean="0"/>
              <a:t>term consists </a:t>
            </a:r>
            <a:r>
              <a:rPr lang="en-US" altLang="zh-TW" sz="3200" dirty="0"/>
              <a:t>of all literals in their normal form or in their complement form</a:t>
            </a:r>
          </a:p>
          <a:p>
            <a:pPr lvl="1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/>
              <a:t>For example, two binary variables </a:t>
            </a:r>
            <a:r>
              <a:rPr lang="en-US" altLang="zh-TW" sz="3200" i="1" dirty="0"/>
              <a:t>x </a:t>
            </a:r>
            <a:r>
              <a:rPr lang="en-US" altLang="zh-TW" sz="3200" dirty="0"/>
              <a:t>and </a:t>
            </a:r>
            <a:r>
              <a:rPr lang="en-US" altLang="zh-TW" sz="3200" i="1" dirty="0"/>
              <a:t>y,</a:t>
            </a:r>
          </a:p>
          <a:p>
            <a:pPr marL="180000" lvl="2" algn="ctr">
              <a:lnSpc>
                <a:spcPct val="125000"/>
              </a:lnSpc>
            </a:pPr>
            <a:r>
              <a:rPr lang="en-US" altLang="zh-TW" sz="3200" i="1" dirty="0" smtClean="0"/>
              <a:t>x + y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3200" i="1" dirty="0"/>
              <a:t> </a:t>
            </a:r>
            <a:r>
              <a:rPr lang="en-US" altLang="zh-TW" sz="3200" i="1" dirty="0" smtClean="0"/>
              <a:t>x + y</a:t>
            </a:r>
            <a:r>
              <a:rPr lang="en-US" altLang="zh-TW" sz="3200" i="1" dirty="0"/>
              <a:t>’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3200" i="1" dirty="0"/>
              <a:t> x</a:t>
            </a:r>
            <a:r>
              <a:rPr lang="en-US" altLang="zh-TW" sz="3200" i="1" dirty="0" smtClean="0"/>
              <a:t>’ + y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3200" i="1" dirty="0"/>
              <a:t> x</a:t>
            </a:r>
            <a:r>
              <a:rPr lang="en-US" altLang="zh-TW" sz="3200" i="1" dirty="0" smtClean="0"/>
              <a:t>’ + y’</a:t>
            </a:r>
            <a:endParaRPr lang="en-US" altLang="zh-TW" sz="3200" dirty="0"/>
          </a:p>
          <a:p>
            <a:pPr lvl="1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/>
              <a:t>It is also call a </a:t>
            </a:r>
            <a:r>
              <a:rPr lang="en-US" altLang="zh-TW" sz="3200" b="1" dirty="0">
                <a:solidFill>
                  <a:srgbClr val="C00000"/>
                </a:solidFill>
              </a:rPr>
              <a:t>standard sum</a:t>
            </a:r>
          </a:p>
          <a:p>
            <a:pPr lvl="1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200" i="1" dirty="0"/>
              <a:t>n</a:t>
            </a:r>
            <a:r>
              <a:rPr lang="en-US" altLang="zh-TW" sz="3200" dirty="0"/>
              <a:t> variables can be combined to </a:t>
            </a:r>
            <a:r>
              <a:rPr lang="en-US" altLang="zh-TW" sz="3200" dirty="0" smtClean="0"/>
              <a:t>form 2</a:t>
            </a:r>
            <a:r>
              <a:rPr lang="en-US" altLang="zh-TW" sz="3200" i="1" baseline="40000" dirty="0" smtClean="0"/>
              <a:t>n </a:t>
            </a:r>
            <a:r>
              <a:rPr lang="en-US" altLang="zh-TW" sz="3200" dirty="0" err="1" smtClean="0"/>
              <a:t>maxterms</a:t>
            </a:r>
            <a:endParaRPr lang="en-US" altLang="zh-TW" sz="3200" dirty="0" smtClean="0"/>
          </a:p>
        </p:txBody>
      </p:sp>
    </p:spTree>
    <p:extLst>
      <p:ext uri="{BB962C8B-B14F-4D97-AF65-F5344CB8AC3E}">
        <p14:creationId xmlns:p14="http://schemas.microsoft.com/office/powerpoint/2010/main" val="16690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633586"/>
            <a:ext cx="11575605" cy="87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4400" b="1" i="1" dirty="0" smtClean="0"/>
              <a:t>F</a:t>
            </a:r>
            <a:r>
              <a:rPr lang="en-US" altLang="zh-TW" sz="4400" b="1" baseline="-25000" dirty="0" smtClean="0"/>
              <a:t>2 </a:t>
            </a:r>
            <a:r>
              <a:rPr lang="en-US" altLang="zh-TW" sz="4400" b="1" dirty="0" smtClean="0"/>
              <a:t>(x, y ,z) </a:t>
            </a:r>
            <a:r>
              <a:rPr lang="en-US" altLang="zh-TW" sz="4400" b="1" i="1" dirty="0" smtClean="0"/>
              <a:t>=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(</a:t>
            </a:r>
            <a:r>
              <a:rPr lang="en-US" altLang="zh-TW" sz="4400" b="1" i="1" dirty="0">
                <a:solidFill>
                  <a:srgbClr val="C00000"/>
                </a:solidFill>
              </a:rPr>
              <a:t>x’ 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+ y</a:t>
            </a:r>
            <a:r>
              <a:rPr lang="en-US" altLang="zh-TW" sz="4400" b="1" i="1" dirty="0">
                <a:solidFill>
                  <a:srgbClr val="C00000"/>
                </a:solidFill>
              </a:rPr>
              <a:t>’ 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+ z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)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 </a:t>
            </a:r>
            <a:r>
              <a:rPr lang="en-US" altLang="zh-TW" sz="4400" b="1" i="1" dirty="0" smtClean="0"/>
              <a:t>· </a:t>
            </a:r>
            <a:r>
              <a:rPr lang="en-US" altLang="zh-TW" sz="4400" b="1" dirty="0" smtClean="0"/>
              <a:t>(</a:t>
            </a:r>
            <a:r>
              <a:rPr lang="en-US" altLang="zh-TW" sz="4400" b="1" i="1" dirty="0" smtClean="0"/>
              <a:t>x + z</a:t>
            </a:r>
            <a:r>
              <a:rPr lang="en-US" altLang="zh-TW" sz="4400" b="1" dirty="0" smtClean="0"/>
              <a:t>)</a:t>
            </a:r>
            <a:r>
              <a:rPr lang="en-US" altLang="zh-TW" sz="4400" b="1" i="1" dirty="0" smtClean="0"/>
              <a:t> </a:t>
            </a:r>
            <a:r>
              <a:rPr lang="en-US" altLang="zh-TW" sz="4400" b="1" i="1" dirty="0"/>
              <a:t>·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(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x’ + y + z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)</a:t>
            </a:r>
            <a:endParaRPr lang="en-US" altLang="zh-TW" sz="4400" b="1" dirty="0" smtClean="0"/>
          </a:p>
        </p:txBody>
      </p:sp>
      <p:sp>
        <p:nvSpPr>
          <p:cNvPr id="5" name="矩形 4"/>
          <p:cNvSpPr/>
          <p:nvPr/>
        </p:nvSpPr>
        <p:spPr>
          <a:xfrm>
            <a:off x="0" y="1424209"/>
            <a:ext cx="8488221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4400" b="1" i="1" dirty="0" smtClean="0"/>
              <a:t>F</a:t>
            </a:r>
            <a:r>
              <a:rPr lang="en-US" altLang="zh-TW" sz="4400" b="1" baseline="-25000" dirty="0" smtClean="0"/>
              <a:t>2 </a:t>
            </a:r>
            <a:r>
              <a:rPr lang="en-US" altLang="zh-TW" sz="4400" b="1" dirty="0" smtClean="0"/>
              <a:t>(x, y) </a:t>
            </a:r>
            <a:r>
              <a:rPr lang="en-US" altLang="zh-TW" sz="4400" b="1" i="1" dirty="0" smtClean="0"/>
              <a:t>= x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 </a:t>
            </a:r>
            <a:r>
              <a:rPr lang="en-US" altLang="zh-TW" sz="4400" b="1" i="1" dirty="0" smtClean="0"/>
              <a:t>·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(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x’ + y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)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 </a:t>
            </a:r>
            <a:r>
              <a:rPr lang="en-US" altLang="zh-TW" sz="4400" b="1" i="1" dirty="0"/>
              <a:t>·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(</a:t>
            </a:r>
            <a:r>
              <a:rPr lang="en-US" altLang="zh-TW" sz="4400" b="1" i="1" dirty="0">
                <a:solidFill>
                  <a:srgbClr val="C00000"/>
                </a:solidFill>
              </a:rPr>
              <a:t>x + y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’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)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 </a:t>
            </a:r>
            <a:r>
              <a:rPr lang="en-US" altLang="zh-TW" sz="4400" b="1" i="1" dirty="0" smtClean="0"/>
              <a:t>· y</a:t>
            </a:r>
          </a:p>
        </p:txBody>
      </p:sp>
    </p:spTree>
    <p:extLst>
      <p:ext uri="{BB962C8B-B14F-4D97-AF65-F5344CB8AC3E}">
        <p14:creationId xmlns:p14="http://schemas.microsoft.com/office/powerpoint/2010/main" val="1087172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80D25B-9C16-4179-BA20-30FCEB1C5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8832"/>
            <a:ext cx="12204121" cy="5679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2121" y="255148"/>
            <a:ext cx="12192000" cy="5884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>
              <a:lnSpc>
                <a:spcPct val="125000"/>
              </a:lnSpc>
            </a:pPr>
            <a:r>
              <a:rPr lang="en-US" altLang="zh-TW" sz="2800" b="1" dirty="0" smtClean="0">
                <a:solidFill>
                  <a:srgbClr val="C00000"/>
                </a:solidFill>
              </a:rPr>
              <a:t>Each </a:t>
            </a:r>
            <a:r>
              <a:rPr lang="en-US" altLang="zh-TW" sz="2800" b="1" dirty="0" err="1">
                <a:solidFill>
                  <a:srgbClr val="C00000"/>
                </a:solidFill>
              </a:rPr>
              <a:t>maxterm</a:t>
            </a:r>
            <a:r>
              <a:rPr lang="en-US" altLang="zh-TW" sz="2800" b="1" dirty="0">
                <a:solidFill>
                  <a:srgbClr val="C00000"/>
                </a:solidFill>
              </a:rPr>
              <a:t> is the complement of its corresponding </a:t>
            </a:r>
            <a:r>
              <a:rPr lang="en-US" altLang="zh-TW" sz="2800" b="1" dirty="0" err="1">
                <a:solidFill>
                  <a:srgbClr val="C00000"/>
                </a:solidFill>
              </a:rPr>
              <a:t>minterm</a:t>
            </a:r>
            <a:r>
              <a:rPr lang="en-US" altLang="zh-TW" sz="2800" b="1" dirty="0">
                <a:solidFill>
                  <a:srgbClr val="C00000"/>
                </a:solidFill>
              </a:rPr>
              <a:t>, and vice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versa.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663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999005" y="1359016"/>
            <a:ext cx="910827" cy="75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 =</a:t>
            </a:r>
            <a:endParaRPr lang="zh-TW" altLang="en-US" sz="3200" b="1" dirty="0"/>
          </a:p>
        </p:txBody>
      </p:sp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181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999005" y="1359016"/>
            <a:ext cx="433323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 = 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’ + xyz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</a:t>
            </a:r>
            <a:endParaRPr lang="zh-TW" altLang="en-US" sz="3200" b="1" dirty="0"/>
          </a:p>
        </p:txBody>
      </p:sp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155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999005" y="1359016"/>
            <a:ext cx="43332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 = 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’ + xyz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1</a:t>
            </a:r>
            <a:r>
              <a:rPr lang="en-US" altLang="zh-TW" sz="3200" b="1" dirty="0" smtClean="0"/>
              <a:t> +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4</a:t>
            </a:r>
            <a:r>
              <a:rPr lang="en-US" altLang="zh-TW" sz="3200" b="1" dirty="0" smtClean="0"/>
              <a:t> +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7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</a:t>
            </a:r>
            <a:endParaRPr lang="zh-TW" altLang="en-US" sz="3200" b="1" dirty="0"/>
          </a:p>
        </p:txBody>
      </p:sp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474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999005" y="1359016"/>
            <a:ext cx="43332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 = 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’ + xyz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1</a:t>
            </a:r>
            <a:r>
              <a:rPr lang="en-US" altLang="zh-TW" sz="3200" b="1" dirty="0" smtClean="0"/>
              <a:t> +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4</a:t>
            </a:r>
            <a:r>
              <a:rPr lang="en-US" altLang="zh-TW" sz="3200" b="1" dirty="0" smtClean="0"/>
              <a:t> +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7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 ∑(1, 4 , 7)</a:t>
            </a:r>
            <a:endParaRPr lang="zh-TW" altLang="en-US" sz="3200" b="1" dirty="0"/>
          </a:p>
        </p:txBody>
      </p:sp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65271" y="5590528"/>
            <a:ext cx="4294381" cy="70788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>
            <a:spAutoFit/>
          </a:bodyPr>
          <a:lstStyle/>
          <a:p>
            <a:pPr lvl="1"/>
            <a:r>
              <a:rPr lang="en-US" altLang="zh-TW" sz="40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000" b="1" dirty="0">
                <a:solidFill>
                  <a:schemeClr val="bg1"/>
                </a:solidFill>
              </a:rPr>
              <a:t>of </a:t>
            </a:r>
            <a:r>
              <a:rPr lang="en-US" altLang="zh-TW" sz="4000" b="1" dirty="0" err="1">
                <a:solidFill>
                  <a:schemeClr val="bg1"/>
                </a:solidFill>
              </a:rPr>
              <a:t>minterms</a:t>
            </a:r>
            <a:endParaRPr lang="en-US" altLang="zh-TW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043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999005" y="1359016"/>
            <a:ext cx="7192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 = 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 +xyz’ </a:t>
            </a:r>
            <a:endParaRPr lang="zh-TW" altLang="en-US" sz="3200" b="1" dirty="0"/>
          </a:p>
        </p:txBody>
      </p:sp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503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999005" y="1359016"/>
            <a:ext cx="7192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 = 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 +xyz’ </a:t>
            </a:r>
            <a:endParaRPr lang="zh-TW" altLang="en-US" sz="3200" b="1" dirty="0"/>
          </a:p>
        </p:txBody>
      </p:sp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99005" y="2060513"/>
            <a:ext cx="4291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By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DeMorgan's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</a:rPr>
              <a:t>theorem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513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999005" y="1359016"/>
            <a:ext cx="7192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 = 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 +xyz’ </a:t>
            </a:r>
            <a:endParaRPr lang="zh-TW" altLang="en-US" sz="3200" b="1" dirty="0"/>
          </a:p>
        </p:txBody>
      </p:sp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99005" y="2060513"/>
            <a:ext cx="4291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By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DeMorgan's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</a:rPr>
              <a:t>theorem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999005" y="2762010"/>
            <a:ext cx="72683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 = (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 +xyz’)’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</a:t>
            </a:r>
            <a:endParaRPr lang="zh-TW" altLang="en-US" sz="32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991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999005" y="1359016"/>
            <a:ext cx="7192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 = 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 +xyz’ </a:t>
            </a:r>
            <a:endParaRPr lang="zh-TW" altLang="en-US" sz="3200" b="1" dirty="0"/>
          </a:p>
        </p:txBody>
      </p:sp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99005" y="2060513"/>
            <a:ext cx="4291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By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DeMorgan's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</a:rPr>
              <a:t>theorem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999005" y="2762010"/>
            <a:ext cx="726833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 = (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 +xyz’)’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 (x + y + z)(x + y’ + z)(x + y’ + z’)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 </a:t>
            </a:r>
            <a:r>
              <a:rPr lang="en-US" altLang="zh-TW" sz="3200" b="1" dirty="0" smtClean="0"/>
              <a:t>   (x’ + y + z’)(x’ + y’ + z)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</a:t>
            </a:r>
            <a:endParaRPr lang="zh-TW" altLang="en-US" sz="32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011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999005" y="1359016"/>
            <a:ext cx="7192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 = 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 +xyz’ </a:t>
            </a:r>
            <a:endParaRPr lang="zh-TW" altLang="en-US" sz="3200" b="1" dirty="0"/>
          </a:p>
        </p:txBody>
      </p:sp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99005" y="2060513"/>
            <a:ext cx="4291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By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DeMorgan's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</a:rPr>
              <a:t>theorem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999005" y="2762010"/>
            <a:ext cx="726833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 = (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 +xyz’)’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 (x + y + z)(x + y’ + z)(x + y’ + z’)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 </a:t>
            </a:r>
            <a:r>
              <a:rPr lang="en-US" altLang="zh-TW" sz="3200" b="1" dirty="0" smtClean="0"/>
              <a:t>   (x’ + y + z’)(x’ + y’ + z)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	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0</a:t>
            </a:r>
            <a:r>
              <a:rPr lang="en-US" altLang="zh-TW" sz="3200" b="1" dirty="0" smtClean="0"/>
              <a:t> ·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2</a:t>
            </a:r>
            <a:r>
              <a:rPr lang="en-US" altLang="zh-TW" sz="3200" b="1" dirty="0" smtClean="0"/>
              <a:t> </a:t>
            </a:r>
            <a:r>
              <a:rPr lang="en-US" altLang="zh-TW" sz="3200" b="1" dirty="0"/>
              <a:t>·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3</a:t>
            </a:r>
            <a:r>
              <a:rPr lang="en-US" altLang="zh-TW" sz="3200" b="1" dirty="0" smtClean="0"/>
              <a:t> ·</a:t>
            </a:r>
            <a:r>
              <a:rPr lang="en-US" altLang="zh-TW" sz="3200" b="1" dirty="0"/>
              <a:t>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5</a:t>
            </a:r>
            <a:r>
              <a:rPr lang="en-US" altLang="zh-TW" sz="3200" b="1" dirty="0" smtClean="0"/>
              <a:t> </a:t>
            </a:r>
            <a:r>
              <a:rPr lang="en-US" altLang="zh-TW" sz="3200" b="1" dirty="0"/>
              <a:t>·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6</a:t>
            </a:r>
          </a:p>
          <a:p>
            <a:pPr>
              <a:lnSpc>
                <a:spcPct val="150000"/>
              </a:lnSpc>
            </a:pPr>
            <a:r>
              <a:rPr lang="en-US" altLang="zh-TW" sz="3200" b="1" baseline="-25000" dirty="0"/>
              <a:t>	</a:t>
            </a:r>
            <a:endParaRPr lang="zh-TW" altLang="en-US" sz="32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319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999005" y="1359016"/>
            <a:ext cx="7192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 = 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 +xyz’ </a:t>
            </a:r>
            <a:endParaRPr lang="zh-TW" altLang="en-US" sz="3200" b="1" dirty="0"/>
          </a:p>
        </p:txBody>
      </p:sp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99005" y="2060513"/>
            <a:ext cx="4291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By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DeMorgan's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</a:rPr>
              <a:t>theorem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999005" y="2762010"/>
            <a:ext cx="726833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 = (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 +xyz’)’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 (x + y + z)(x + y’ + z)(x + y’ + z’)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 </a:t>
            </a:r>
            <a:r>
              <a:rPr lang="en-US" altLang="zh-TW" sz="3200" b="1" dirty="0" smtClean="0"/>
              <a:t>   (x’ + y + z’)(x’ + y’ + z)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	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0</a:t>
            </a:r>
            <a:r>
              <a:rPr lang="en-US" altLang="zh-TW" sz="3200" b="1" dirty="0" smtClean="0"/>
              <a:t> ·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2</a:t>
            </a:r>
            <a:r>
              <a:rPr lang="en-US" altLang="zh-TW" sz="3200" b="1" dirty="0" smtClean="0"/>
              <a:t> </a:t>
            </a:r>
            <a:r>
              <a:rPr lang="en-US" altLang="zh-TW" sz="3200" b="1" dirty="0"/>
              <a:t>·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3</a:t>
            </a:r>
            <a:r>
              <a:rPr lang="en-US" altLang="zh-TW" sz="3200" b="1" dirty="0" smtClean="0"/>
              <a:t> ·</a:t>
            </a:r>
            <a:r>
              <a:rPr lang="en-US" altLang="zh-TW" sz="3200" b="1" dirty="0"/>
              <a:t>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5</a:t>
            </a:r>
            <a:r>
              <a:rPr lang="en-US" altLang="zh-TW" sz="3200" b="1" dirty="0" smtClean="0"/>
              <a:t> </a:t>
            </a:r>
            <a:r>
              <a:rPr lang="en-US" altLang="zh-TW" sz="3200" b="1" dirty="0"/>
              <a:t>·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6</a:t>
            </a:r>
          </a:p>
          <a:p>
            <a:pPr>
              <a:lnSpc>
                <a:spcPct val="150000"/>
              </a:lnSpc>
            </a:pPr>
            <a:r>
              <a:rPr lang="en-US" altLang="zh-TW" sz="3200" b="1" baseline="-25000" dirty="0"/>
              <a:t>	</a:t>
            </a:r>
            <a:r>
              <a:rPr lang="en-US" altLang="zh-TW" sz="3200" b="1" dirty="0" smtClean="0"/>
              <a:t>= 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∏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(0, 2, 3,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5,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6)</a:t>
            </a:r>
            <a:endParaRPr lang="zh-TW" altLang="en-US" sz="32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194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999005" y="1359016"/>
            <a:ext cx="7192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 = 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 +xyz’ </a:t>
            </a:r>
            <a:endParaRPr lang="zh-TW" altLang="en-US" sz="3200" b="1" dirty="0"/>
          </a:p>
        </p:txBody>
      </p:sp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99005" y="2060513"/>
            <a:ext cx="4291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By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DeMorgan's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</a:rPr>
              <a:t>theorem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999005" y="2762010"/>
            <a:ext cx="726833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 = (</a:t>
            </a:r>
            <a:r>
              <a:rPr lang="en-US" altLang="zh-TW" sz="3200" b="1" dirty="0" err="1" smtClean="0"/>
              <a:t>x’y’z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’ + </a:t>
            </a:r>
            <a:r>
              <a:rPr lang="en-US" altLang="zh-TW" sz="3200" b="1" dirty="0" err="1" smtClean="0"/>
              <a:t>x’yz</a:t>
            </a:r>
            <a:r>
              <a:rPr lang="en-US" altLang="zh-TW" sz="3200" b="1" dirty="0" smtClean="0"/>
              <a:t> + </a:t>
            </a:r>
            <a:r>
              <a:rPr lang="en-US" altLang="zh-TW" sz="3200" b="1" dirty="0" err="1" smtClean="0"/>
              <a:t>xy’z</a:t>
            </a:r>
            <a:r>
              <a:rPr lang="en-US" altLang="zh-TW" sz="3200" b="1" dirty="0" smtClean="0"/>
              <a:t> +xyz’)’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 (x + y + z)(x + y’ + z)(x + y’ + z’)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 </a:t>
            </a:r>
            <a:r>
              <a:rPr lang="en-US" altLang="zh-TW" sz="3200" b="1" dirty="0" smtClean="0"/>
              <a:t>   (x’ + y + z’)(x’ + y’ + z)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	</a:t>
            </a:r>
            <a:r>
              <a:rPr lang="en-US" altLang="zh-TW" sz="3200" b="1" dirty="0" smtClean="0"/>
              <a:t>=	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0</a:t>
            </a:r>
            <a:r>
              <a:rPr lang="en-US" altLang="zh-TW" sz="3200" b="1" dirty="0" smtClean="0"/>
              <a:t> ·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2</a:t>
            </a:r>
            <a:r>
              <a:rPr lang="en-US" altLang="zh-TW" sz="3200" b="1" dirty="0" smtClean="0"/>
              <a:t> </a:t>
            </a:r>
            <a:r>
              <a:rPr lang="en-US" altLang="zh-TW" sz="3200" b="1" dirty="0"/>
              <a:t>·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3</a:t>
            </a:r>
            <a:r>
              <a:rPr lang="en-US" altLang="zh-TW" sz="3200" b="1" dirty="0" smtClean="0"/>
              <a:t> ·</a:t>
            </a:r>
            <a:r>
              <a:rPr lang="en-US" altLang="zh-TW" sz="3200" b="1" dirty="0"/>
              <a:t>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4</a:t>
            </a:r>
            <a:r>
              <a:rPr lang="en-US" altLang="zh-TW" sz="3200" b="1" dirty="0" smtClean="0"/>
              <a:t> </a:t>
            </a:r>
            <a:r>
              <a:rPr lang="en-US" altLang="zh-TW" sz="3200" b="1" dirty="0"/>
              <a:t>· </a:t>
            </a:r>
            <a:r>
              <a:rPr lang="en-US" altLang="zh-TW" sz="3200" b="1" i="1" dirty="0" smtClean="0"/>
              <a:t>M</a:t>
            </a:r>
            <a:r>
              <a:rPr lang="en-US" altLang="zh-TW" sz="3200" b="1" i="1" baseline="-25000" dirty="0" smtClean="0"/>
              <a:t>6</a:t>
            </a:r>
          </a:p>
          <a:p>
            <a:pPr>
              <a:lnSpc>
                <a:spcPct val="150000"/>
              </a:lnSpc>
            </a:pPr>
            <a:r>
              <a:rPr lang="en-US" altLang="zh-TW" sz="3200" b="1" baseline="-25000" dirty="0"/>
              <a:t>	</a:t>
            </a:r>
            <a:r>
              <a:rPr lang="en-US" altLang="zh-TW" sz="3200" b="1" dirty="0" smtClean="0"/>
              <a:t>= 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∏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(0, 2, 3,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5,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6)</a:t>
            </a:r>
            <a:endParaRPr lang="zh-TW" altLang="en-US" sz="3200" b="1" dirty="0"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074729" y="5759805"/>
            <a:ext cx="2117271" cy="107721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altLang="zh-TW" sz="3200" b="1" dirty="0" smtClean="0">
                <a:solidFill>
                  <a:schemeClr val="bg1"/>
                </a:solidFill>
              </a:rPr>
              <a:t>Product of </a:t>
            </a:r>
            <a:r>
              <a:rPr lang="en-US" altLang="zh-TW" sz="3200" b="1" dirty="0" err="1" smtClean="0">
                <a:solidFill>
                  <a:schemeClr val="bg1"/>
                </a:solidFill>
              </a:rPr>
              <a:t>Maxterms</a:t>
            </a:r>
            <a:endParaRPr lang="en-US" altLang="zh-TW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956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194948" y="1270140"/>
            <a:ext cx="58977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 = ∑(1, 4 , 7)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=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∏ </a:t>
            </a:r>
            <a:r>
              <a:rPr lang="en-US" altLang="zh-TW" sz="3200" b="1" dirty="0">
                <a:cs typeface="Times New Roman" panose="02020603050405020304" pitchFamily="18" charset="0"/>
              </a:rPr>
              <a:t>(0, 2, 3,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5, </a:t>
            </a:r>
            <a:r>
              <a:rPr lang="en-US" altLang="zh-TW" sz="3200" b="1" dirty="0">
                <a:cs typeface="Times New Roman" panose="02020603050405020304" pitchFamily="18" charset="0"/>
              </a:rPr>
              <a:t>6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)</a:t>
            </a:r>
            <a:endParaRPr lang="zh-TW" altLang="en-US" sz="32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657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194948" y="1270140"/>
            <a:ext cx="58977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 = ∑(1, 4 , 7)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=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∏ </a:t>
            </a:r>
            <a:r>
              <a:rPr lang="en-US" altLang="zh-TW" sz="3200" b="1" dirty="0">
                <a:cs typeface="Times New Roman" panose="02020603050405020304" pitchFamily="18" charset="0"/>
              </a:rPr>
              <a:t>(0, 2, 3,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5, </a:t>
            </a:r>
            <a:r>
              <a:rPr lang="en-US" altLang="zh-TW" sz="3200" b="1" dirty="0">
                <a:cs typeface="Times New Roman" panose="02020603050405020304" pitchFamily="18" charset="0"/>
              </a:rPr>
              <a:t>6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)</a:t>
            </a:r>
            <a:endParaRPr lang="zh-TW" altLang="en-US" sz="3200" b="1" dirty="0"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94948" y="2657092"/>
            <a:ext cx="630036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4400" dirty="0"/>
              <a:t>Boolean functions</a:t>
            </a:r>
          </a:p>
          <a:p>
            <a:r>
              <a:rPr lang="en-US" altLang="zh-TW" sz="4400" dirty="0"/>
              <a:t>expressed as a sum of </a:t>
            </a:r>
            <a:r>
              <a:rPr lang="en-US" altLang="zh-TW" sz="4400" dirty="0" err="1"/>
              <a:t>minterms</a:t>
            </a:r>
            <a:r>
              <a:rPr lang="en-US" altLang="zh-TW" sz="4400" dirty="0"/>
              <a:t> or product of </a:t>
            </a:r>
            <a:r>
              <a:rPr lang="en-US" altLang="zh-TW" sz="4400" dirty="0" err="1"/>
              <a:t>maxterms</a:t>
            </a:r>
            <a:r>
              <a:rPr lang="en-US" altLang="zh-TW" sz="4400" dirty="0"/>
              <a:t> are said to be in </a:t>
            </a:r>
            <a:r>
              <a:rPr lang="en-US" altLang="zh-TW" sz="4400" b="1" i="1" dirty="0">
                <a:solidFill>
                  <a:srgbClr val="C00000"/>
                </a:solidFill>
              </a:rPr>
              <a:t>canonical </a:t>
            </a:r>
            <a:r>
              <a:rPr lang="en-US" altLang="zh-TW" sz="4400" b="1" i="1" dirty="0" smtClean="0">
                <a:solidFill>
                  <a:srgbClr val="C00000"/>
                </a:solidFill>
              </a:rPr>
              <a:t>form</a:t>
            </a:r>
            <a:r>
              <a:rPr lang="en-US" altLang="zh-TW" sz="4400" dirty="0" smtClean="0"/>
              <a:t>.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303386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194948" y="1270140"/>
            <a:ext cx="5916645" cy="749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	= ∑(1, 4 , 7)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906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194948" y="1270140"/>
            <a:ext cx="59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	= ∑(1, 4 , 7)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	= </a:t>
            </a:r>
            <a:r>
              <a:rPr lang="en-US" altLang="zh-TW" sz="3200" b="1" dirty="0"/>
              <a:t>∑</a:t>
            </a:r>
            <a:r>
              <a:rPr lang="en-US" altLang="zh-TW" sz="3200" b="1" dirty="0" smtClean="0"/>
              <a:t>(0, 2 </a:t>
            </a:r>
            <a:r>
              <a:rPr lang="en-US" altLang="zh-TW" sz="3200" b="1" dirty="0"/>
              <a:t>, </a:t>
            </a:r>
            <a:r>
              <a:rPr lang="en-US" altLang="zh-TW" sz="3200" b="1" dirty="0" smtClean="0"/>
              <a:t>3, 5, 6)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TW" sz="3200" b="1" i="1" baseline="-25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483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194948" y="1270140"/>
            <a:ext cx="59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	= ∑(1, 4 , 7)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	= </a:t>
            </a:r>
            <a:r>
              <a:rPr lang="en-US" altLang="zh-TW" sz="3200" b="1" dirty="0"/>
              <a:t>∑</a:t>
            </a:r>
            <a:r>
              <a:rPr lang="en-US" altLang="zh-TW" sz="3200" b="1" dirty="0" smtClean="0"/>
              <a:t>(0, 2 </a:t>
            </a:r>
            <a:r>
              <a:rPr lang="en-US" altLang="zh-TW" sz="3200" b="1" dirty="0"/>
              <a:t>, </a:t>
            </a:r>
            <a:r>
              <a:rPr lang="en-US" altLang="zh-TW" sz="3200" b="1" dirty="0" smtClean="0"/>
              <a:t>3, 5, 6)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=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0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2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3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5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6</a:t>
            </a:r>
            <a:endParaRPr lang="en-US" altLang="zh-TW" sz="3200" b="1" i="1" baseline="-25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45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194948" y="1270140"/>
            <a:ext cx="59166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	= ∑(1, 4 , 7)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	= </a:t>
            </a:r>
            <a:r>
              <a:rPr lang="en-US" altLang="zh-TW" sz="3200" b="1" dirty="0"/>
              <a:t>∑</a:t>
            </a:r>
            <a:r>
              <a:rPr lang="en-US" altLang="zh-TW" sz="3200" b="1" dirty="0" smtClean="0"/>
              <a:t>(0, 2 </a:t>
            </a:r>
            <a:r>
              <a:rPr lang="en-US" altLang="zh-TW" sz="3200" b="1" dirty="0"/>
              <a:t>, </a:t>
            </a:r>
            <a:r>
              <a:rPr lang="en-US" altLang="zh-TW" sz="3200" b="1" dirty="0" smtClean="0"/>
              <a:t>3, 5, 6)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=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0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2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3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5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6</a:t>
            </a:r>
            <a:endParaRPr lang="en-US" altLang="zh-TW" sz="3200" b="1" i="1" baseline="-25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F</a:t>
            </a:r>
            <a:r>
              <a:rPr lang="en-US" altLang="zh-TW" sz="3200" b="1" baseline="-25000" dirty="0"/>
              <a:t>1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	= (</a:t>
            </a:r>
            <a:r>
              <a:rPr lang="en-US" altLang="zh-TW" sz="3200" b="1" i="1" dirty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>
                <a:cs typeface="Times New Roman" panose="02020603050405020304" pitchFamily="18" charset="0"/>
              </a:rPr>
              <a:t>0</a:t>
            </a:r>
            <a:r>
              <a:rPr lang="en-US" altLang="zh-TW" sz="3200" b="1" dirty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>
                <a:cs typeface="Times New Roman" panose="02020603050405020304" pitchFamily="18" charset="0"/>
              </a:rPr>
              <a:t>2</a:t>
            </a:r>
            <a:r>
              <a:rPr lang="en-US" altLang="zh-TW" sz="3200" b="1" dirty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>
                <a:cs typeface="Times New Roman" panose="02020603050405020304" pitchFamily="18" charset="0"/>
              </a:rPr>
              <a:t>3</a:t>
            </a:r>
            <a:r>
              <a:rPr lang="en-US" altLang="zh-TW" sz="3200" b="1" dirty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>
                <a:cs typeface="Times New Roman" panose="02020603050405020304" pitchFamily="18" charset="0"/>
              </a:rPr>
              <a:t>5</a:t>
            </a:r>
            <a:r>
              <a:rPr lang="en-US" altLang="zh-TW" sz="3200" b="1" dirty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6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)’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cs typeface="Times New Roman" panose="02020603050405020304" pitchFamily="18" charset="0"/>
              </a:rPr>
              <a:t>	</a:t>
            </a:r>
            <a:endParaRPr lang="zh-TW" altLang="en-US" sz="32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220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194948" y="1270140"/>
            <a:ext cx="59166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	= ∑(1, 4 , 7)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	= </a:t>
            </a:r>
            <a:r>
              <a:rPr lang="en-US" altLang="zh-TW" sz="3200" b="1" dirty="0"/>
              <a:t>∑</a:t>
            </a:r>
            <a:r>
              <a:rPr lang="en-US" altLang="zh-TW" sz="3200" b="1" dirty="0" smtClean="0"/>
              <a:t>(0, 2 </a:t>
            </a:r>
            <a:r>
              <a:rPr lang="en-US" altLang="zh-TW" sz="3200" b="1" dirty="0"/>
              <a:t>, </a:t>
            </a:r>
            <a:r>
              <a:rPr lang="en-US" altLang="zh-TW" sz="3200" b="1" dirty="0" smtClean="0"/>
              <a:t>3, 5, 6)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=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0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2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3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5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6</a:t>
            </a:r>
            <a:endParaRPr lang="en-US" altLang="zh-TW" sz="3200" b="1" i="1" baseline="-25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F</a:t>
            </a:r>
            <a:r>
              <a:rPr lang="en-US" altLang="zh-TW" sz="3200" b="1" baseline="-25000" dirty="0"/>
              <a:t>1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	= (</a:t>
            </a:r>
            <a:r>
              <a:rPr lang="en-US" altLang="zh-TW" sz="3200" b="1" i="1" dirty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>
                <a:cs typeface="Times New Roman" panose="02020603050405020304" pitchFamily="18" charset="0"/>
              </a:rPr>
              <a:t>0</a:t>
            </a:r>
            <a:r>
              <a:rPr lang="en-US" altLang="zh-TW" sz="3200" b="1" dirty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>
                <a:cs typeface="Times New Roman" panose="02020603050405020304" pitchFamily="18" charset="0"/>
              </a:rPr>
              <a:t>2</a:t>
            </a:r>
            <a:r>
              <a:rPr lang="en-US" altLang="zh-TW" sz="3200" b="1" dirty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>
                <a:cs typeface="Times New Roman" panose="02020603050405020304" pitchFamily="18" charset="0"/>
              </a:rPr>
              <a:t>3</a:t>
            </a:r>
            <a:r>
              <a:rPr lang="en-US" altLang="zh-TW" sz="3200" b="1" dirty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>
                <a:cs typeface="Times New Roman" panose="02020603050405020304" pitchFamily="18" charset="0"/>
              </a:rPr>
              <a:t>5</a:t>
            </a:r>
            <a:r>
              <a:rPr lang="en-US" altLang="zh-TW" sz="3200" b="1" dirty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6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)’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cs typeface="Times New Roman" panose="02020603050405020304" pitchFamily="18" charset="0"/>
              </a:rPr>
              <a:t>	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= M</a:t>
            </a:r>
            <a:r>
              <a:rPr lang="en-US" altLang="zh-TW" sz="3200" b="1" baseline="-25000" dirty="0" smtClean="0">
                <a:cs typeface="Times New Roman" panose="02020603050405020304" pitchFamily="18" charset="0"/>
              </a:rPr>
              <a:t>0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· M</a:t>
            </a:r>
            <a:r>
              <a:rPr lang="en-US" altLang="zh-TW" sz="3200" b="1" baseline="-25000" dirty="0" smtClean="0">
                <a:cs typeface="Times New Roman" panose="02020603050405020304" pitchFamily="18" charset="0"/>
              </a:rPr>
              <a:t>2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·</a:t>
            </a:r>
            <a:r>
              <a:rPr lang="en-US" altLang="zh-TW" sz="3200" b="1" dirty="0">
                <a:cs typeface="Times New Roman" panose="02020603050405020304" pitchFamily="18" charset="0"/>
              </a:rPr>
              <a:t>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baseline="-25000" dirty="0" smtClean="0">
                <a:cs typeface="Times New Roman" panose="02020603050405020304" pitchFamily="18" charset="0"/>
              </a:rPr>
              <a:t>3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·</a:t>
            </a:r>
            <a:r>
              <a:rPr lang="en-US" altLang="zh-TW" sz="3200" b="1" dirty="0">
                <a:cs typeface="Times New Roman" panose="02020603050405020304" pitchFamily="18" charset="0"/>
              </a:rPr>
              <a:t>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baseline="-25000" dirty="0" smtClean="0">
                <a:cs typeface="Times New Roman" panose="02020603050405020304" pitchFamily="18" charset="0"/>
              </a:rPr>
              <a:t>5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·</a:t>
            </a:r>
            <a:r>
              <a:rPr lang="en-US" altLang="zh-TW" sz="3200" b="1" dirty="0">
                <a:cs typeface="Times New Roman" panose="02020603050405020304" pitchFamily="18" charset="0"/>
              </a:rPr>
              <a:t>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baseline="-25000" dirty="0">
                <a:cs typeface="Times New Roman" panose="02020603050405020304" pitchFamily="18" charset="0"/>
              </a:rPr>
              <a:t>6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cs typeface="Times New Roman" panose="02020603050405020304" pitchFamily="18" charset="0"/>
              </a:rPr>
              <a:t>	</a:t>
            </a:r>
            <a:endParaRPr lang="zh-TW" altLang="en-US" sz="32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769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0964"/>
              </p:ext>
            </p:extLst>
          </p:nvPr>
        </p:nvGraphicFramePr>
        <p:xfrm>
          <a:off x="0" y="1359016"/>
          <a:ext cx="4848835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74640790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sz="280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194948" y="1270140"/>
            <a:ext cx="59166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	= ∑(1, 4 , 7)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dirty="0" smtClean="0"/>
              <a:t>F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’	= </a:t>
            </a:r>
            <a:r>
              <a:rPr lang="en-US" altLang="zh-TW" sz="3200" b="1" dirty="0"/>
              <a:t>∑</a:t>
            </a:r>
            <a:r>
              <a:rPr lang="en-US" altLang="zh-TW" sz="3200" b="1" dirty="0" smtClean="0"/>
              <a:t>(0, 2 </a:t>
            </a:r>
            <a:r>
              <a:rPr lang="en-US" altLang="zh-TW" sz="3200" b="1" dirty="0"/>
              <a:t>, </a:t>
            </a:r>
            <a:r>
              <a:rPr lang="en-US" altLang="zh-TW" sz="3200" b="1" dirty="0" smtClean="0"/>
              <a:t>3, 5, 6)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=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0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2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3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5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6</a:t>
            </a:r>
            <a:endParaRPr lang="en-US" altLang="zh-TW" sz="3200" b="1" i="1" baseline="-25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dirty="0"/>
              <a:t>F</a:t>
            </a:r>
            <a:r>
              <a:rPr lang="en-US" altLang="zh-TW" sz="3200" b="1" baseline="-25000" dirty="0"/>
              <a:t>1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	= (</a:t>
            </a:r>
            <a:r>
              <a:rPr lang="en-US" altLang="zh-TW" sz="3200" b="1" i="1" dirty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>
                <a:cs typeface="Times New Roman" panose="02020603050405020304" pitchFamily="18" charset="0"/>
              </a:rPr>
              <a:t>0</a:t>
            </a:r>
            <a:r>
              <a:rPr lang="en-US" altLang="zh-TW" sz="3200" b="1" dirty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>
                <a:cs typeface="Times New Roman" panose="02020603050405020304" pitchFamily="18" charset="0"/>
              </a:rPr>
              <a:t>2</a:t>
            </a:r>
            <a:r>
              <a:rPr lang="en-US" altLang="zh-TW" sz="3200" b="1" dirty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>
                <a:cs typeface="Times New Roman" panose="02020603050405020304" pitchFamily="18" charset="0"/>
              </a:rPr>
              <a:t>3</a:t>
            </a:r>
            <a:r>
              <a:rPr lang="en-US" altLang="zh-TW" sz="3200" b="1" dirty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>
                <a:cs typeface="Times New Roman" panose="02020603050405020304" pitchFamily="18" charset="0"/>
              </a:rPr>
              <a:t>5</a:t>
            </a:r>
            <a:r>
              <a:rPr lang="en-US" altLang="zh-TW" sz="3200" b="1" dirty="0">
                <a:cs typeface="Times New Roman" panose="02020603050405020304" pitchFamily="18" charset="0"/>
              </a:rPr>
              <a:t> + </a:t>
            </a:r>
            <a:r>
              <a:rPr lang="en-US" altLang="zh-TW" sz="3200" b="1" i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i="1" baseline="-25000" dirty="0" smtClean="0">
                <a:cs typeface="Times New Roman" panose="02020603050405020304" pitchFamily="18" charset="0"/>
              </a:rPr>
              <a:t>6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)’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cs typeface="Times New Roman" panose="02020603050405020304" pitchFamily="18" charset="0"/>
              </a:rPr>
              <a:t>	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= M</a:t>
            </a:r>
            <a:r>
              <a:rPr lang="en-US" altLang="zh-TW" sz="3200" b="1" baseline="-25000" dirty="0" smtClean="0">
                <a:cs typeface="Times New Roman" panose="02020603050405020304" pitchFamily="18" charset="0"/>
              </a:rPr>
              <a:t>0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· M</a:t>
            </a:r>
            <a:r>
              <a:rPr lang="en-US" altLang="zh-TW" sz="3200" b="1" baseline="-25000" dirty="0" smtClean="0">
                <a:cs typeface="Times New Roman" panose="02020603050405020304" pitchFamily="18" charset="0"/>
              </a:rPr>
              <a:t>2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·</a:t>
            </a:r>
            <a:r>
              <a:rPr lang="en-US" altLang="zh-TW" sz="3200" b="1" dirty="0">
                <a:cs typeface="Times New Roman" panose="02020603050405020304" pitchFamily="18" charset="0"/>
              </a:rPr>
              <a:t>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baseline="-25000" dirty="0" smtClean="0">
                <a:cs typeface="Times New Roman" panose="02020603050405020304" pitchFamily="18" charset="0"/>
              </a:rPr>
              <a:t>3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·</a:t>
            </a:r>
            <a:r>
              <a:rPr lang="en-US" altLang="zh-TW" sz="3200" b="1" dirty="0">
                <a:cs typeface="Times New Roman" panose="02020603050405020304" pitchFamily="18" charset="0"/>
              </a:rPr>
              <a:t>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baseline="-25000" dirty="0" smtClean="0">
                <a:cs typeface="Times New Roman" panose="02020603050405020304" pitchFamily="18" charset="0"/>
              </a:rPr>
              <a:t>5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·</a:t>
            </a:r>
            <a:r>
              <a:rPr lang="en-US" altLang="zh-TW" sz="3200" b="1" dirty="0">
                <a:cs typeface="Times New Roman" panose="02020603050405020304" pitchFamily="18" charset="0"/>
              </a:rPr>
              <a:t> 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M</a:t>
            </a:r>
            <a:r>
              <a:rPr lang="en-US" altLang="zh-TW" sz="3200" b="1" baseline="-25000" dirty="0">
                <a:cs typeface="Times New Roman" panose="02020603050405020304" pitchFamily="18" charset="0"/>
              </a:rPr>
              <a:t>6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cs typeface="Times New Roman" panose="02020603050405020304" pitchFamily="18" charset="0"/>
              </a:rPr>
              <a:t>	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= 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∏ </a:t>
            </a:r>
            <a:r>
              <a:rPr lang="en-US" altLang="zh-TW" sz="3200" b="1" dirty="0">
                <a:cs typeface="Times New Roman" panose="02020603050405020304" pitchFamily="18" charset="0"/>
              </a:rPr>
              <a:t>(0, 2, 3, 4, 6</a:t>
            </a:r>
            <a:r>
              <a:rPr lang="en-US" altLang="zh-TW" sz="3200" b="1" dirty="0" smtClean="0">
                <a:cs typeface="Times New Roman" panose="02020603050405020304" pitchFamily="18" charset="0"/>
              </a:rPr>
              <a:t>)</a:t>
            </a:r>
            <a:endParaRPr lang="zh-TW" altLang="en-US" sz="32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670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0786" y="1269177"/>
            <a:ext cx="111241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200" dirty="0" smtClean="0"/>
              <a:t>Converter the Boolean function </a:t>
            </a:r>
            <a:r>
              <a:rPr lang="en-US" altLang="zh-TW" sz="3200" i="1" dirty="0" smtClean="0"/>
              <a:t>F</a:t>
            </a:r>
            <a:r>
              <a:rPr lang="en-US" altLang="zh-TW" sz="3200" dirty="0" smtClean="0"/>
              <a:t> = </a:t>
            </a:r>
            <a:r>
              <a:rPr lang="en-US" altLang="zh-TW" sz="3200" i="1" dirty="0" err="1" smtClean="0"/>
              <a:t>xy</a:t>
            </a:r>
            <a:r>
              <a:rPr lang="en-US" altLang="zh-TW" sz="3200" dirty="0" smtClean="0"/>
              <a:t> + </a:t>
            </a:r>
            <a:r>
              <a:rPr lang="en-US" altLang="zh-TW" sz="3200" i="1" dirty="0" err="1" smtClean="0"/>
              <a:t>x</a:t>
            </a:r>
            <a:r>
              <a:rPr lang="en-US" altLang="zh-TW" sz="3200" dirty="0" err="1" smtClean="0">
                <a:sym typeface="Symbol" panose="05050102010706020507" pitchFamily="18" charset="2"/>
              </a:rPr>
              <a:t></a:t>
            </a:r>
            <a:r>
              <a:rPr lang="en-US" altLang="zh-TW" sz="3200" i="1" dirty="0" err="1" smtClean="0"/>
              <a:t>z</a:t>
            </a:r>
            <a:r>
              <a:rPr lang="en-US" altLang="zh-TW" sz="3200" i="1" dirty="0" smtClean="0"/>
              <a:t> to </a:t>
            </a:r>
            <a:r>
              <a:rPr lang="en-US" altLang="zh-TW" sz="3200" b="1" dirty="0" smtClean="0"/>
              <a:t>Canonical Forms.</a:t>
            </a:r>
            <a:r>
              <a:rPr lang="en-US" altLang="zh-TW" sz="3200" i="1" dirty="0" smtClean="0"/>
              <a:t>  </a:t>
            </a:r>
            <a:r>
              <a:rPr lang="en-US" altLang="zh-TW" sz="3200" dirty="0" smtClean="0"/>
              <a:t> 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4250560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0786" y="1269177"/>
            <a:ext cx="111241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200" dirty="0" smtClean="0"/>
              <a:t>Converter the Boolean function </a:t>
            </a:r>
            <a:r>
              <a:rPr lang="en-US" altLang="zh-TW" sz="3200" i="1" dirty="0" smtClean="0"/>
              <a:t>F</a:t>
            </a:r>
            <a:r>
              <a:rPr lang="en-US" altLang="zh-TW" sz="3200" dirty="0" smtClean="0"/>
              <a:t> = </a:t>
            </a:r>
            <a:r>
              <a:rPr lang="en-US" altLang="zh-TW" sz="3200" i="1" dirty="0" err="1" smtClean="0"/>
              <a:t>xy</a:t>
            </a:r>
            <a:r>
              <a:rPr lang="en-US" altLang="zh-TW" sz="3200" dirty="0" smtClean="0"/>
              <a:t> + </a:t>
            </a:r>
            <a:r>
              <a:rPr lang="en-US" altLang="zh-TW" sz="3200" i="1" dirty="0" err="1" smtClean="0"/>
              <a:t>x</a:t>
            </a:r>
            <a:r>
              <a:rPr lang="en-US" altLang="zh-TW" sz="3200" dirty="0" err="1" smtClean="0">
                <a:sym typeface="Symbol" panose="05050102010706020507" pitchFamily="18" charset="2"/>
              </a:rPr>
              <a:t></a:t>
            </a:r>
            <a:r>
              <a:rPr lang="en-US" altLang="zh-TW" sz="3200" i="1" dirty="0" err="1" smtClean="0"/>
              <a:t>z</a:t>
            </a:r>
            <a:r>
              <a:rPr lang="en-US" altLang="zh-TW" sz="3200" i="1" dirty="0" smtClean="0"/>
              <a:t> to </a:t>
            </a:r>
            <a:r>
              <a:rPr lang="en-US" altLang="zh-TW" sz="3200" b="1" dirty="0" smtClean="0"/>
              <a:t>Canonical Forms.</a:t>
            </a:r>
            <a:r>
              <a:rPr lang="en-US" altLang="zh-TW" sz="3200" i="1" dirty="0" smtClean="0"/>
              <a:t>  </a:t>
            </a:r>
            <a:r>
              <a:rPr lang="en-US" altLang="zh-TW" sz="3200" dirty="0" smtClean="0"/>
              <a:t> </a:t>
            </a:r>
            <a:endParaRPr lang="en-US" altLang="zh-TW" sz="32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092987"/>
              </p:ext>
            </p:extLst>
          </p:nvPr>
        </p:nvGraphicFramePr>
        <p:xfrm>
          <a:off x="704675" y="1918602"/>
          <a:ext cx="387906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932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0786" y="1269177"/>
            <a:ext cx="111241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200" dirty="0" smtClean="0"/>
              <a:t>Converter the Boolean function </a:t>
            </a:r>
            <a:r>
              <a:rPr lang="en-US" altLang="zh-TW" sz="3200" i="1" dirty="0" smtClean="0"/>
              <a:t>F</a:t>
            </a:r>
            <a:r>
              <a:rPr lang="en-US" altLang="zh-TW" sz="3200" dirty="0" smtClean="0"/>
              <a:t> = </a:t>
            </a:r>
            <a:r>
              <a:rPr lang="en-US" altLang="zh-TW" sz="3200" i="1" dirty="0" err="1" smtClean="0"/>
              <a:t>xy</a:t>
            </a:r>
            <a:r>
              <a:rPr lang="en-US" altLang="zh-TW" sz="3200" dirty="0" smtClean="0"/>
              <a:t> + </a:t>
            </a:r>
            <a:r>
              <a:rPr lang="en-US" altLang="zh-TW" sz="3200" i="1" dirty="0" err="1" smtClean="0"/>
              <a:t>x</a:t>
            </a:r>
            <a:r>
              <a:rPr lang="en-US" altLang="zh-TW" sz="3200" dirty="0" err="1" smtClean="0">
                <a:sym typeface="Symbol" panose="05050102010706020507" pitchFamily="18" charset="2"/>
              </a:rPr>
              <a:t></a:t>
            </a:r>
            <a:r>
              <a:rPr lang="en-US" altLang="zh-TW" sz="3200" i="1" dirty="0" err="1" smtClean="0"/>
              <a:t>z</a:t>
            </a:r>
            <a:r>
              <a:rPr lang="en-US" altLang="zh-TW" sz="3200" i="1" dirty="0" smtClean="0"/>
              <a:t> to </a:t>
            </a:r>
            <a:r>
              <a:rPr lang="en-US" altLang="zh-TW" sz="3200" b="1" dirty="0" smtClean="0"/>
              <a:t>Canonical Forms.</a:t>
            </a:r>
            <a:r>
              <a:rPr lang="en-US" altLang="zh-TW" sz="3200" i="1" dirty="0" smtClean="0"/>
              <a:t>  </a:t>
            </a:r>
            <a:r>
              <a:rPr lang="en-US" altLang="zh-TW" sz="3200" dirty="0" smtClean="0"/>
              <a:t> </a:t>
            </a:r>
            <a:endParaRPr lang="en-US" altLang="zh-TW" sz="32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848402"/>
              </p:ext>
            </p:extLst>
          </p:nvPr>
        </p:nvGraphicFramePr>
        <p:xfrm>
          <a:off x="704675" y="1918602"/>
          <a:ext cx="387906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cxnSp>
        <p:nvCxnSpPr>
          <p:cNvPr id="5" name="直線接點 4"/>
          <p:cNvCxnSpPr/>
          <p:nvPr/>
        </p:nvCxnSpPr>
        <p:spPr>
          <a:xfrm>
            <a:off x="4583743" y="3296873"/>
            <a:ext cx="1884169" cy="2357307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4583743" y="4388301"/>
            <a:ext cx="1875780" cy="127426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4583743" y="5654180"/>
            <a:ext cx="1884169" cy="36911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4579549" y="5662569"/>
            <a:ext cx="1888363" cy="922789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6694414" y="5370181"/>
            <a:ext cx="17766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err="1" smtClean="0"/>
              <a:t>Minterms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09447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0786" y="1269177"/>
            <a:ext cx="111241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200" dirty="0" smtClean="0"/>
              <a:t>Converter the Boolean function </a:t>
            </a:r>
            <a:r>
              <a:rPr lang="en-US" altLang="zh-TW" sz="3200" i="1" dirty="0" smtClean="0"/>
              <a:t>F</a:t>
            </a:r>
            <a:r>
              <a:rPr lang="en-US" altLang="zh-TW" sz="3200" dirty="0" smtClean="0"/>
              <a:t> = </a:t>
            </a:r>
            <a:r>
              <a:rPr lang="en-US" altLang="zh-TW" sz="3200" i="1" dirty="0" err="1" smtClean="0"/>
              <a:t>xy</a:t>
            </a:r>
            <a:r>
              <a:rPr lang="en-US" altLang="zh-TW" sz="3200" dirty="0" smtClean="0"/>
              <a:t> + </a:t>
            </a:r>
            <a:r>
              <a:rPr lang="en-US" altLang="zh-TW" sz="3200" i="1" dirty="0" err="1" smtClean="0"/>
              <a:t>x</a:t>
            </a:r>
            <a:r>
              <a:rPr lang="en-US" altLang="zh-TW" sz="3200" dirty="0" err="1" smtClean="0">
                <a:sym typeface="Symbol" panose="05050102010706020507" pitchFamily="18" charset="2"/>
              </a:rPr>
              <a:t></a:t>
            </a:r>
            <a:r>
              <a:rPr lang="en-US" altLang="zh-TW" sz="3200" i="1" dirty="0" err="1" smtClean="0"/>
              <a:t>z</a:t>
            </a:r>
            <a:r>
              <a:rPr lang="en-US" altLang="zh-TW" sz="3200" i="1" dirty="0" smtClean="0"/>
              <a:t> to </a:t>
            </a:r>
            <a:r>
              <a:rPr lang="en-US" altLang="zh-TW" sz="3200" b="1" dirty="0" smtClean="0"/>
              <a:t>Canonical Forms.</a:t>
            </a:r>
            <a:r>
              <a:rPr lang="en-US" altLang="zh-TW" sz="3200" i="1" dirty="0" smtClean="0"/>
              <a:t>  </a:t>
            </a:r>
            <a:r>
              <a:rPr lang="en-US" altLang="zh-TW" sz="3200" dirty="0" smtClean="0"/>
              <a:t> </a:t>
            </a:r>
            <a:endParaRPr lang="en-US" altLang="zh-TW" sz="32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878196"/>
              </p:ext>
            </p:extLst>
          </p:nvPr>
        </p:nvGraphicFramePr>
        <p:xfrm>
          <a:off x="704675" y="1918602"/>
          <a:ext cx="387906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cxnSp>
        <p:nvCxnSpPr>
          <p:cNvPr id="5" name="直線接點 4"/>
          <p:cNvCxnSpPr/>
          <p:nvPr/>
        </p:nvCxnSpPr>
        <p:spPr>
          <a:xfrm>
            <a:off x="4583743" y="3296873"/>
            <a:ext cx="1884169" cy="2357307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4583743" y="4388301"/>
            <a:ext cx="1875780" cy="127426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4583743" y="5654180"/>
            <a:ext cx="1884169" cy="36911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4579549" y="5662569"/>
            <a:ext cx="1888363" cy="922789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6694414" y="5370181"/>
            <a:ext cx="17766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err="1" smtClean="0"/>
              <a:t>Minterms</a:t>
            </a:r>
            <a:endParaRPr lang="zh-TW" altLang="en-US" sz="3200" b="1" dirty="0"/>
          </a:p>
        </p:txBody>
      </p:sp>
      <p:sp>
        <p:nvSpPr>
          <p:cNvPr id="26" name="矩形 25"/>
          <p:cNvSpPr/>
          <p:nvPr/>
        </p:nvSpPr>
        <p:spPr>
          <a:xfrm>
            <a:off x="6694414" y="4475526"/>
            <a:ext cx="31566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 = </a:t>
            </a:r>
            <a:r>
              <a:rPr lang="en-US" altLang="zh-TW" sz="3200" b="1" dirty="0"/>
              <a:t>∑(1, </a:t>
            </a:r>
            <a:r>
              <a:rPr lang="en-US" altLang="zh-TW" sz="3200" b="1" dirty="0" smtClean="0"/>
              <a:t>3 </a:t>
            </a:r>
            <a:r>
              <a:rPr lang="en-US" altLang="zh-TW" sz="3200" b="1" dirty="0"/>
              <a:t>, </a:t>
            </a:r>
            <a:r>
              <a:rPr lang="en-US" altLang="zh-TW" sz="3200" b="1" dirty="0" smtClean="0"/>
              <a:t>6, 7</a:t>
            </a:r>
            <a:r>
              <a:rPr lang="en-US" altLang="zh-TW" sz="3200" b="1" dirty="0"/>
              <a:t>)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4062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0786" y="1269177"/>
            <a:ext cx="111241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200" dirty="0" smtClean="0"/>
              <a:t>Converter the Boolean function </a:t>
            </a:r>
            <a:r>
              <a:rPr lang="en-US" altLang="zh-TW" sz="3200" i="1" dirty="0" smtClean="0"/>
              <a:t>F</a:t>
            </a:r>
            <a:r>
              <a:rPr lang="en-US" altLang="zh-TW" sz="3200" dirty="0" smtClean="0"/>
              <a:t> = </a:t>
            </a:r>
            <a:r>
              <a:rPr lang="en-US" altLang="zh-TW" sz="3200" i="1" dirty="0" err="1" smtClean="0"/>
              <a:t>xy</a:t>
            </a:r>
            <a:r>
              <a:rPr lang="en-US" altLang="zh-TW" sz="3200" dirty="0" smtClean="0"/>
              <a:t> + </a:t>
            </a:r>
            <a:r>
              <a:rPr lang="en-US" altLang="zh-TW" sz="3200" i="1" dirty="0" err="1" smtClean="0"/>
              <a:t>x</a:t>
            </a:r>
            <a:r>
              <a:rPr lang="en-US" altLang="zh-TW" sz="3200" dirty="0" err="1" smtClean="0">
                <a:sym typeface="Symbol" panose="05050102010706020507" pitchFamily="18" charset="2"/>
              </a:rPr>
              <a:t></a:t>
            </a:r>
            <a:r>
              <a:rPr lang="en-US" altLang="zh-TW" sz="3200" i="1" dirty="0" err="1" smtClean="0"/>
              <a:t>z</a:t>
            </a:r>
            <a:r>
              <a:rPr lang="en-US" altLang="zh-TW" sz="3200" i="1" dirty="0" smtClean="0"/>
              <a:t> to </a:t>
            </a:r>
            <a:r>
              <a:rPr lang="en-US" altLang="zh-TW" sz="3200" b="1" dirty="0" smtClean="0"/>
              <a:t>Canonical Forms.</a:t>
            </a:r>
            <a:r>
              <a:rPr lang="en-US" altLang="zh-TW" sz="3200" i="1" dirty="0" smtClean="0"/>
              <a:t>  </a:t>
            </a:r>
            <a:r>
              <a:rPr lang="en-US" altLang="zh-TW" sz="3200" dirty="0" smtClean="0"/>
              <a:t> </a:t>
            </a:r>
            <a:endParaRPr lang="en-US" altLang="zh-TW" sz="32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05552"/>
              </p:ext>
            </p:extLst>
          </p:nvPr>
        </p:nvGraphicFramePr>
        <p:xfrm>
          <a:off x="704675" y="1918602"/>
          <a:ext cx="387906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cxnSp>
        <p:nvCxnSpPr>
          <p:cNvPr id="5" name="直線接點 4"/>
          <p:cNvCxnSpPr/>
          <p:nvPr/>
        </p:nvCxnSpPr>
        <p:spPr>
          <a:xfrm>
            <a:off x="4583743" y="3296873"/>
            <a:ext cx="1884169" cy="2357307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4583743" y="4388301"/>
            <a:ext cx="1875780" cy="127426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4583743" y="5654180"/>
            <a:ext cx="1884169" cy="36911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4579549" y="5662569"/>
            <a:ext cx="1888363" cy="922789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6694414" y="5370181"/>
            <a:ext cx="17766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err="1" smtClean="0"/>
              <a:t>Minterms</a:t>
            </a:r>
            <a:endParaRPr lang="zh-TW" altLang="en-US" sz="3200" b="1" dirty="0"/>
          </a:p>
        </p:txBody>
      </p:sp>
      <p:cxnSp>
        <p:nvCxnSpPr>
          <p:cNvPr id="15" name="直線接點 14"/>
          <p:cNvCxnSpPr/>
          <p:nvPr/>
        </p:nvCxnSpPr>
        <p:spPr>
          <a:xfrm>
            <a:off x="4579549" y="2692866"/>
            <a:ext cx="1879974" cy="17615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4579549" y="2869022"/>
            <a:ext cx="1888363" cy="95721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4579549" y="2869022"/>
            <a:ext cx="1879974" cy="207209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4587937" y="2869022"/>
            <a:ext cx="1879975" cy="265093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6694414" y="2576634"/>
            <a:ext cx="1885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err="1" smtClean="0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694414" y="4475526"/>
            <a:ext cx="31566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 = </a:t>
            </a:r>
            <a:r>
              <a:rPr lang="en-US" altLang="zh-TW" sz="3200" b="1" dirty="0"/>
              <a:t>∑(1, </a:t>
            </a:r>
            <a:r>
              <a:rPr lang="en-US" altLang="zh-TW" sz="3200" b="1" dirty="0" smtClean="0"/>
              <a:t>3 </a:t>
            </a:r>
            <a:r>
              <a:rPr lang="en-US" altLang="zh-TW" sz="3200" b="1" dirty="0"/>
              <a:t>, </a:t>
            </a:r>
            <a:r>
              <a:rPr lang="en-US" altLang="zh-TW" sz="3200" b="1" dirty="0" smtClean="0"/>
              <a:t>6, 7</a:t>
            </a:r>
            <a:r>
              <a:rPr lang="en-US" altLang="zh-TW" sz="3200" b="1" dirty="0"/>
              <a:t>)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6626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48041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Derive Boolean function from true table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0786" y="1269177"/>
            <a:ext cx="111241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200" dirty="0" smtClean="0"/>
              <a:t>Converter the Boolean function </a:t>
            </a:r>
            <a:r>
              <a:rPr lang="en-US" altLang="zh-TW" sz="3200" i="1" dirty="0" smtClean="0"/>
              <a:t>F</a:t>
            </a:r>
            <a:r>
              <a:rPr lang="en-US" altLang="zh-TW" sz="3200" dirty="0" smtClean="0"/>
              <a:t> = </a:t>
            </a:r>
            <a:r>
              <a:rPr lang="en-US" altLang="zh-TW" sz="3200" i="1" dirty="0" err="1" smtClean="0"/>
              <a:t>xy</a:t>
            </a:r>
            <a:r>
              <a:rPr lang="en-US" altLang="zh-TW" sz="3200" dirty="0" smtClean="0"/>
              <a:t> + </a:t>
            </a:r>
            <a:r>
              <a:rPr lang="en-US" altLang="zh-TW" sz="3200" i="1" dirty="0" err="1" smtClean="0"/>
              <a:t>x</a:t>
            </a:r>
            <a:r>
              <a:rPr lang="en-US" altLang="zh-TW" sz="3200" dirty="0" err="1" smtClean="0">
                <a:sym typeface="Symbol" panose="05050102010706020507" pitchFamily="18" charset="2"/>
              </a:rPr>
              <a:t></a:t>
            </a:r>
            <a:r>
              <a:rPr lang="en-US" altLang="zh-TW" sz="3200" i="1" dirty="0" err="1" smtClean="0"/>
              <a:t>z</a:t>
            </a:r>
            <a:r>
              <a:rPr lang="en-US" altLang="zh-TW" sz="3200" i="1" dirty="0" smtClean="0"/>
              <a:t> to </a:t>
            </a:r>
            <a:r>
              <a:rPr lang="en-US" altLang="zh-TW" sz="3200" b="1" dirty="0" smtClean="0"/>
              <a:t>Canonical Forms.</a:t>
            </a:r>
            <a:r>
              <a:rPr lang="en-US" altLang="zh-TW" sz="3200" i="1" dirty="0" smtClean="0"/>
              <a:t>  </a:t>
            </a:r>
            <a:r>
              <a:rPr lang="en-US" altLang="zh-TW" sz="3200" dirty="0" smtClean="0"/>
              <a:t> </a:t>
            </a:r>
            <a:endParaRPr lang="en-US" altLang="zh-TW" sz="32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978575"/>
              </p:ext>
            </p:extLst>
          </p:nvPr>
        </p:nvGraphicFramePr>
        <p:xfrm>
          <a:off x="704675" y="1918602"/>
          <a:ext cx="387906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  <p:cxnSp>
        <p:nvCxnSpPr>
          <p:cNvPr id="5" name="直線接點 4"/>
          <p:cNvCxnSpPr/>
          <p:nvPr/>
        </p:nvCxnSpPr>
        <p:spPr>
          <a:xfrm>
            <a:off x="4583743" y="3296873"/>
            <a:ext cx="1884169" cy="2357307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4583743" y="4388301"/>
            <a:ext cx="1875780" cy="127426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4583743" y="5654180"/>
            <a:ext cx="1884169" cy="36911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4579549" y="5662569"/>
            <a:ext cx="1888363" cy="922789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6694414" y="5370181"/>
            <a:ext cx="17766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err="1" smtClean="0"/>
              <a:t>Minterms</a:t>
            </a:r>
            <a:endParaRPr lang="zh-TW" altLang="en-US" sz="3200" b="1" dirty="0"/>
          </a:p>
        </p:txBody>
      </p:sp>
      <p:cxnSp>
        <p:nvCxnSpPr>
          <p:cNvPr id="15" name="直線接點 14"/>
          <p:cNvCxnSpPr/>
          <p:nvPr/>
        </p:nvCxnSpPr>
        <p:spPr>
          <a:xfrm>
            <a:off x="4579549" y="2692866"/>
            <a:ext cx="1879974" cy="17615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4579549" y="2869022"/>
            <a:ext cx="1888363" cy="95721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4579549" y="2869022"/>
            <a:ext cx="1879974" cy="207209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4587937" y="2869022"/>
            <a:ext cx="1879975" cy="265093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6694414" y="2576634"/>
            <a:ext cx="1885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err="1" smtClean="0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694414" y="4475526"/>
            <a:ext cx="31566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/>
              <a:t>F = </a:t>
            </a:r>
            <a:r>
              <a:rPr lang="en-US" altLang="zh-TW" sz="3200" b="1" dirty="0"/>
              <a:t>∑(1, </a:t>
            </a:r>
            <a:r>
              <a:rPr lang="en-US" altLang="zh-TW" sz="3200" b="1" dirty="0" smtClean="0"/>
              <a:t>3 </a:t>
            </a:r>
            <a:r>
              <a:rPr lang="en-US" altLang="zh-TW" sz="3200" b="1" dirty="0"/>
              <a:t>, </a:t>
            </a:r>
            <a:r>
              <a:rPr lang="en-US" altLang="zh-TW" sz="3200" b="1" dirty="0" smtClean="0"/>
              <a:t>6, 7</a:t>
            </a:r>
            <a:r>
              <a:rPr lang="en-US" altLang="zh-TW" sz="3200" b="1" dirty="0"/>
              <a:t>)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6707590" y="3134334"/>
            <a:ext cx="3092513" cy="749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 smtClean="0">
                <a:solidFill>
                  <a:srgbClr val="C00000"/>
                </a:solidFill>
              </a:rPr>
              <a:t>F = </a:t>
            </a:r>
            <a:r>
              <a:rPr lang="en-US" altLang="zh-TW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∏ </a:t>
            </a:r>
            <a:r>
              <a:rPr lang="en-US" altLang="zh-TW" sz="3200" b="1" dirty="0">
                <a:solidFill>
                  <a:srgbClr val="C00000"/>
                </a:solidFill>
                <a:cs typeface="Times New Roman" panose="02020603050405020304" pitchFamily="18" charset="0"/>
              </a:rPr>
              <a:t>(0, 2</a:t>
            </a:r>
            <a:r>
              <a:rPr lang="en-US" altLang="zh-TW" sz="3200" b="1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, </a:t>
            </a:r>
            <a:r>
              <a:rPr lang="en-US" altLang="zh-TW" sz="3200" b="1" dirty="0">
                <a:solidFill>
                  <a:srgbClr val="C00000"/>
                </a:solidFill>
                <a:cs typeface="Times New Roman" panose="02020603050405020304" pitchFamily="18" charset="0"/>
              </a:rPr>
              <a:t>4, </a:t>
            </a:r>
            <a:r>
              <a:rPr lang="en-US" altLang="zh-TW" sz="3200" b="1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5)</a:t>
            </a:r>
            <a:endParaRPr lang="zh-TW" altLang="en-US" sz="3200" b="1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099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25829" y="1930539"/>
            <a:ext cx="986575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4400" dirty="0"/>
              <a:t>Any Boolean function can be expressed as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altLang="zh-TW" sz="4400" dirty="0" smtClean="0"/>
              <a:t> a </a:t>
            </a:r>
            <a:r>
              <a:rPr lang="en-US" altLang="zh-TW" sz="4400" dirty="0"/>
              <a:t>sum of </a:t>
            </a:r>
            <a:r>
              <a:rPr lang="en-US" altLang="zh-TW" sz="4400" dirty="0" err="1"/>
              <a:t>minterms</a:t>
            </a:r>
            <a:endParaRPr lang="en-US" altLang="zh-TW" sz="4400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altLang="zh-TW" sz="4400" dirty="0" smtClean="0"/>
              <a:t> a </a:t>
            </a:r>
            <a:r>
              <a:rPr lang="en-US" altLang="zh-TW" sz="4400" dirty="0"/>
              <a:t>product of </a:t>
            </a:r>
            <a:r>
              <a:rPr lang="en-US" altLang="zh-TW" sz="4400" dirty="0" err="1"/>
              <a:t>maxterms</a:t>
            </a:r>
            <a:endParaRPr lang="en-US" altLang="zh-TW" sz="4400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altLang="zh-TW" sz="4400" dirty="0" smtClean="0"/>
              <a:t> canonical </a:t>
            </a:r>
            <a:r>
              <a:rPr lang="en-US" altLang="zh-TW" sz="4400" dirty="0"/>
              <a:t>form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323282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8810" y="467093"/>
            <a:ext cx="114929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Express 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Boolean </a:t>
            </a:r>
            <a:r>
              <a:rPr lang="en-US" altLang="zh-TW" sz="3200" b="1" dirty="0">
                <a:solidFill>
                  <a:srgbClr val="C00000"/>
                </a:solidFill>
              </a:rPr>
              <a:t>function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F = A + B’C as </a:t>
            </a:r>
            <a:r>
              <a:rPr lang="en-US" altLang="zh-TW" sz="3200" b="1" i="1" dirty="0">
                <a:solidFill>
                  <a:srgbClr val="C00000"/>
                </a:solidFill>
              </a:rPr>
              <a:t>a </a:t>
            </a:r>
            <a:r>
              <a:rPr lang="en-US" altLang="zh-TW" sz="3200" b="1" dirty="0">
                <a:solidFill>
                  <a:srgbClr val="C00000"/>
                </a:solidFill>
              </a:rPr>
              <a:t>sum of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minterms</a:t>
            </a:r>
            <a:endParaRPr lang="en-US" altLang="zh-TW" sz="3200" b="1" dirty="0" smtClean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2455" y="1594356"/>
            <a:ext cx="106456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A + B'C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3146941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8810" y="467093"/>
            <a:ext cx="114929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Express 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Boolean </a:t>
            </a:r>
            <a:r>
              <a:rPr lang="en-US" altLang="zh-TW" sz="3200" b="1" dirty="0">
                <a:solidFill>
                  <a:srgbClr val="C00000"/>
                </a:solidFill>
              </a:rPr>
              <a:t>function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F = A + B’C as </a:t>
            </a:r>
            <a:r>
              <a:rPr lang="en-US" altLang="zh-TW" sz="3200" b="1" i="1" dirty="0">
                <a:solidFill>
                  <a:srgbClr val="C00000"/>
                </a:solidFill>
              </a:rPr>
              <a:t>a </a:t>
            </a:r>
            <a:r>
              <a:rPr lang="en-US" altLang="zh-TW" sz="3200" b="1" dirty="0">
                <a:solidFill>
                  <a:srgbClr val="C00000"/>
                </a:solidFill>
              </a:rPr>
              <a:t>sum of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minterms</a:t>
            </a:r>
            <a:endParaRPr lang="en-US" altLang="zh-TW" sz="3200" b="1" dirty="0" smtClean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2455" y="1594356"/>
            <a:ext cx="106456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A + B'C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</a:t>
            </a:r>
            <a:endParaRPr lang="en-US" altLang="zh-TW" sz="36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214643"/>
              </p:ext>
            </p:extLst>
          </p:nvPr>
        </p:nvGraphicFramePr>
        <p:xfrm>
          <a:off x="7109668" y="1477730"/>
          <a:ext cx="387906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6923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8810" y="467093"/>
            <a:ext cx="114929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Express 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Boolean </a:t>
            </a:r>
            <a:r>
              <a:rPr lang="en-US" altLang="zh-TW" sz="3200" b="1" dirty="0">
                <a:solidFill>
                  <a:srgbClr val="C00000"/>
                </a:solidFill>
              </a:rPr>
              <a:t>function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F = A + B’C as </a:t>
            </a:r>
            <a:r>
              <a:rPr lang="en-US" altLang="zh-TW" sz="3200" b="1" i="1" dirty="0">
                <a:solidFill>
                  <a:srgbClr val="C00000"/>
                </a:solidFill>
              </a:rPr>
              <a:t>a </a:t>
            </a:r>
            <a:r>
              <a:rPr lang="en-US" altLang="zh-TW" sz="3200" b="1" dirty="0">
                <a:solidFill>
                  <a:srgbClr val="C00000"/>
                </a:solidFill>
              </a:rPr>
              <a:t>sum of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minterms</a:t>
            </a:r>
            <a:endParaRPr lang="en-US" altLang="zh-TW" sz="3200" b="1" dirty="0" smtClean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2455" y="1594356"/>
            <a:ext cx="6237213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A + B'C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 ∑ (1, 4, 5, 6, 7)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</a:t>
            </a:r>
            <a:endParaRPr lang="en-US" altLang="zh-TW" sz="36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530725"/>
              </p:ext>
            </p:extLst>
          </p:nvPr>
        </p:nvGraphicFramePr>
        <p:xfrm>
          <a:off x="7109668" y="1477730"/>
          <a:ext cx="3879068" cy="493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67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969767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5488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656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8810" y="467093"/>
            <a:ext cx="114929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Express 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Boolean </a:t>
            </a:r>
            <a:r>
              <a:rPr lang="en-US" altLang="zh-TW" sz="3200" b="1" dirty="0">
                <a:solidFill>
                  <a:srgbClr val="C00000"/>
                </a:solidFill>
              </a:rPr>
              <a:t>function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F = A + B’C as </a:t>
            </a:r>
            <a:r>
              <a:rPr lang="en-US" altLang="zh-TW" sz="3200" b="1" i="1" dirty="0">
                <a:solidFill>
                  <a:srgbClr val="C00000"/>
                </a:solidFill>
              </a:rPr>
              <a:t>a </a:t>
            </a:r>
            <a:r>
              <a:rPr lang="en-US" altLang="zh-TW" sz="3200" b="1" dirty="0">
                <a:solidFill>
                  <a:srgbClr val="C00000"/>
                </a:solidFill>
              </a:rPr>
              <a:t>sum of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minterms</a:t>
            </a:r>
            <a:endParaRPr lang="en-US" altLang="zh-TW" sz="3200" b="1" dirty="0" smtClean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2455" y="1594356"/>
            <a:ext cx="106456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A + B'C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2130909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8810" y="467093"/>
            <a:ext cx="114929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Express 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Boolean </a:t>
            </a:r>
            <a:r>
              <a:rPr lang="en-US" altLang="zh-TW" sz="3200" b="1" dirty="0">
                <a:solidFill>
                  <a:srgbClr val="C00000"/>
                </a:solidFill>
              </a:rPr>
              <a:t>function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F = A + B’C as </a:t>
            </a:r>
            <a:r>
              <a:rPr lang="en-US" altLang="zh-TW" sz="3200" b="1" i="1" dirty="0">
                <a:solidFill>
                  <a:srgbClr val="C00000"/>
                </a:solidFill>
              </a:rPr>
              <a:t>a </a:t>
            </a:r>
            <a:r>
              <a:rPr lang="en-US" altLang="zh-TW" sz="3200" b="1" dirty="0">
                <a:solidFill>
                  <a:srgbClr val="C00000"/>
                </a:solidFill>
              </a:rPr>
              <a:t>sum of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minterms</a:t>
            </a:r>
            <a:endParaRPr lang="en-US" altLang="zh-TW" sz="3200" b="1" dirty="0" smtClean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2455" y="1594356"/>
            <a:ext cx="106456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A + B'C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	A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B + B</a:t>
            </a:r>
            <a:r>
              <a:rPr lang="en-US" altLang="zh-TW" sz="3600" dirty="0"/>
              <a:t>') + B'C						</a:t>
            </a:r>
          </a:p>
        </p:txBody>
      </p:sp>
    </p:spTree>
    <p:extLst>
      <p:ext uri="{BB962C8B-B14F-4D97-AF65-F5344CB8AC3E}">
        <p14:creationId xmlns:p14="http://schemas.microsoft.com/office/powerpoint/2010/main" val="2017775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8810" y="467093"/>
            <a:ext cx="114929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Express 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Boolean </a:t>
            </a:r>
            <a:r>
              <a:rPr lang="en-US" altLang="zh-TW" sz="3200" b="1" dirty="0">
                <a:solidFill>
                  <a:srgbClr val="C00000"/>
                </a:solidFill>
              </a:rPr>
              <a:t>function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F = A + B’C as </a:t>
            </a:r>
            <a:r>
              <a:rPr lang="en-US" altLang="zh-TW" sz="3200" b="1" i="1" dirty="0">
                <a:solidFill>
                  <a:srgbClr val="C00000"/>
                </a:solidFill>
              </a:rPr>
              <a:t>a </a:t>
            </a:r>
            <a:r>
              <a:rPr lang="en-US" altLang="zh-TW" sz="3200" b="1" dirty="0">
                <a:solidFill>
                  <a:srgbClr val="C00000"/>
                </a:solidFill>
              </a:rPr>
              <a:t>sum of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minterms</a:t>
            </a:r>
            <a:endParaRPr lang="en-US" altLang="zh-TW" sz="3200" b="1" dirty="0" smtClean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2455" y="1594356"/>
            <a:ext cx="1064562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A + B'C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	A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B + B</a:t>
            </a:r>
            <a:r>
              <a:rPr lang="en-US" altLang="zh-TW" sz="3600" dirty="0"/>
              <a:t>') + B'C						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	AB + AB</a:t>
            </a:r>
            <a:r>
              <a:rPr lang="en-US" altLang="zh-TW" sz="3600" dirty="0"/>
              <a:t>' + B'C						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4181772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8810" y="467093"/>
            <a:ext cx="114929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Express 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Boolean </a:t>
            </a:r>
            <a:r>
              <a:rPr lang="en-US" altLang="zh-TW" sz="3200" b="1" dirty="0">
                <a:solidFill>
                  <a:srgbClr val="C00000"/>
                </a:solidFill>
              </a:rPr>
              <a:t>function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F = A + B’C as </a:t>
            </a:r>
            <a:r>
              <a:rPr lang="en-US" altLang="zh-TW" sz="3200" b="1" i="1" dirty="0">
                <a:solidFill>
                  <a:srgbClr val="C00000"/>
                </a:solidFill>
              </a:rPr>
              <a:t>a </a:t>
            </a:r>
            <a:r>
              <a:rPr lang="en-US" altLang="zh-TW" sz="3200" b="1" dirty="0">
                <a:solidFill>
                  <a:srgbClr val="C00000"/>
                </a:solidFill>
              </a:rPr>
              <a:t>sum of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minterms</a:t>
            </a:r>
            <a:endParaRPr lang="en-US" altLang="zh-TW" sz="3200" b="1" dirty="0" smtClean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2455" y="1594356"/>
            <a:ext cx="10645629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A + B'C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	A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B + B</a:t>
            </a:r>
            <a:r>
              <a:rPr lang="en-US" altLang="zh-TW" sz="3600" dirty="0"/>
              <a:t>') + B'C						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	AB + AB</a:t>
            </a:r>
            <a:r>
              <a:rPr lang="en-US" altLang="zh-TW" sz="3600" dirty="0"/>
              <a:t>' + B'C						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	AB(C + C’) </a:t>
            </a:r>
            <a:r>
              <a:rPr lang="en-US" altLang="zh-TW" sz="3600" dirty="0"/>
              <a:t>+ </a:t>
            </a:r>
            <a:r>
              <a:rPr lang="en-US" altLang="zh-TW" sz="3600" dirty="0" smtClean="0"/>
              <a:t>AB’(C + C’) </a:t>
            </a:r>
            <a:r>
              <a:rPr lang="en-US" altLang="zh-TW" sz="3600" dirty="0"/>
              <a:t>+ (</a:t>
            </a:r>
            <a:r>
              <a:rPr lang="en-US" altLang="zh-TW" sz="3600" dirty="0" smtClean="0"/>
              <a:t>A + A’)B’C</a:t>
            </a:r>
            <a:r>
              <a:rPr lang="en-US" altLang="zh-TW" sz="3600" dirty="0"/>
              <a:t>		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480541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8810" y="467093"/>
            <a:ext cx="114929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Express 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Boolean </a:t>
            </a:r>
            <a:r>
              <a:rPr lang="en-US" altLang="zh-TW" sz="3200" b="1" dirty="0">
                <a:solidFill>
                  <a:srgbClr val="C00000"/>
                </a:solidFill>
              </a:rPr>
              <a:t>function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F = A + B’C as </a:t>
            </a:r>
            <a:r>
              <a:rPr lang="en-US" altLang="zh-TW" sz="3200" b="1" i="1" dirty="0">
                <a:solidFill>
                  <a:srgbClr val="C00000"/>
                </a:solidFill>
              </a:rPr>
              <a:t>a </a:t>
            </a:r>
            <a:r>
              <a:rPr lang="en-US" altLang="zh-TW" sz="3200" b="1" dirty="0">
                <a:solidFill>
                  <a:srgbClr val="C00000"/>
                </a:solidFill>
              </a:rPr>
              <a:t>sum of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minterms</a:t>
            </a:r>
            <a:endParaRPr lang="en-US" altLang="zh-TW" sz="3200" b="1" dirty="0" smtClean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2455" y="1594356"/>
            <a:ext cx="1064562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A + B'C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	A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B + B</a:t>
            </a:r>
            <a:r>
              <a:rPr lang="en-US" altLang="zh-TW" sz="3600" dirty="0"/>
              <a:t>') + B'C						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	AB + AB</a:t>
            </a:r>
            <a:r>
              <a:rPr lang="en-US" altLang="zh-TW" sz="3600" dirty="0"/>
              <a:t>' + B'C						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	AB(C + C’) </a:t>
            </a:r>
            <a:r>
              <a:rPr lang="en-US" altLang="zh-TW" sz="3600" dirty="0"/>
              <a:t>+ </a:t>
            </a:r>
            <a:r>
              <a:rPr lang="en-US" altLang="zh-TW" sz="3600" dirty="0" smtClean="0"/>
              <a:t>AB’(C + C’) </a:t>
            </a:r>
            <a:r>
              <a:rPr lang="en-US" altLang="zh-TW" sz="3600" dirty="0"/>
              <a:t>+ (</a:t>
            </a:r>
            <a:r>
              <a:rPr lang="en-US" altLang="zh-TW" sz="3600" dirty="0" smtClean="0"/>
              <a:t>A + A’)B’C</a:t>
            </a:r>
            <a:r>
              <a:rPr lang="en-US" altLang="zh-TW" sz="3600" dirty="0"/>
              <a:t>		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	ABC + ABC’ + AB’C + AB’C’ + AB’C + A’B’C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26949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8810" y="467093"/>
            <a:ext cx="114929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Express 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Boolean </a:t>
            </a:r>
            <a:r>
              <a:rPr lang="en-US" altLang="zh-TW" sz="3200" b="1" dirty="0">
                <a:solidFill>
                  <a:srgbClr val="C00000"/>
                </a:solidFill>
              </a:rPr>
              <a:t>function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F = A + B’C as </a:t>
            </a:r>
            <a:r>
              <a:rPr lang="en-US" altLang="zh-TW" sz="3200" b="1" i="1" dirty="0">
                <a:solidFill>
                  <a:srgbClr val="C00000"/>
                </a:solidFill>
              </a:rPr>
              <a:t>a </a:t>
            </a:r>
            <a:r>
              <a:rPr lang="en-US" altLang="zh-TW" sz="3200" b="1" dirty="0">
                <a:solidFill>
                  <a:srgbClr val="C00000"/>
                </a:solidFill>
              </a:rPr>
              <a:t>sum of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minterms</a:t>
            </a:r>
            <a:endParaRPr lang="en-US" altLang="zh-TW" sz="3200" b="1" dirty="0" smtClean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2455" y="1594356"/>
            <a:ext cx="10645629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A + B'C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	A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B + B</a:t>
            </a:r>
            <a:r>
              <a:rPr lang="en-US" altLang="zh-TW" sz="3600" dirty="0"/>
              <a:t>') + B'C						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	AB + AB</a:t>
            </a:r>
            <a:r>
              <a:rPr lang="en-US" altLang="zh-TW" sz="3600" dirty="0"/>
              <a:t>' + B'C						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	AB(C + C’) </a:t>
            </a:r>
            <a:r>
              <a:rPr lang="en-US" altLang="zh-TW" sz="3600" dirty="0"/>
              <a:t>+ </a:t>
            </a:r>
            <a:r>
              <a:rPr lang="en-US" altLang="zh-TW" sz="3600" dirty="0" smtClean="0"/>
              <a:t>AB’(C + C’) </a:t>
            </a:r>
            <a:r>
              <a:rPr lang="en-US" altLang="zh-TW" sz="3600" dirty="0"/>
              <a:t>+ (</a:t>
            </a:r>
            <a:r>
              <a:rPr lang="en-US" altLang="zh-TW" sz="3600" dirty="0" smtClean="0"/>
              <a:t>A + A’)B’C</a:t>
            </a:r>
            <a:r>
              <a:rPr lang="en-US" altLang="zh-TW" sz="3600" dirty="0"/>
              <a:t>		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	ABC + ABC’ + AB’C + AB’C’ + AB’C + A’B’C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</a:t>
            </a:r>
            <a:r>
              <a:rPr lang="en-US" altLang="zh-TW" sz="3600" dirty="0"/>
              <a:t>	ABC + ABC’ + AB’C + AB’C’ + </a:t>
            </a:r>
            <a:r>
              <a:rPr lang="en-US" altLang="zh-TW" sz="3600" strike="sngStrike" dirty="0">
                <a:solidFill>
                  <a:srgbClr val="C00000"/>
                </a:solidFill>
              </a:rPr>
              <a:t>AB’C</a:t>
            </a:r>
            <a:r>
              <a:rPr lang="en-US" altLang="zh-TW" sz="3600" dirty="0"/>
              <a:t> + A’B’C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</a:t>
            </a:r>
            <a:r>
              <a:rPr lang="en-US" altLang="zh-TW" sz="3600" dirty="0"/>
              <a:t> ABC + ABC’ + AB’C + AB’C’ + </a:t>
            </a:r>
            <a:r>
              <a:rPr lang="en-US" altLang="zh-TW" sz="3600" dirty="0" smtClean="0"/>
              <a:t>A’B’C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198213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5818" y="101084"/>
            <a:ext cx="7832785" cy="24960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dirty="0"/>
              <a:t>F	</a:t>
            </a:r>
            <a:r>
              <a:rPr lang="en-US" altLang="zh-TW" sz="3600" dirty="0" smtClean="0"/>
              <a:t>= </a:t>
            </a:r>
            <a:r>
              <a:rPr lang="en-US" altLang="zh-TW" sz="3600" dirty="0"/>
              <a:t>ABC + ABC’ + AB’C + AB’C’ + </a:t>
            </a:r>
            <a:r>
              <a:rPr lang="en-US" altLang="zh-TW" sz="3600" dirty="0" smtClean="0"/>
              <a:t>A’B’C</a:t>
            </a:r>
          </a:p>
          <a:p>
            <a:pPr>
              <a:lnSpc>
                <a:spcPct val="150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m7 + m6 + m5 + m4 + m1</a:t>
            </a:r>
          </a:p>
          <a:p>
            <a:pPr>
              <a:lnSpc>
                <a:spcPct val="150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 ∑(1, 4 , 5 , 6 , 7)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12640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5818" y="101084"/>
            <a:ext cx="7832785" cy="24960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dirty="0"/>
              <a:t>F	</a:t>
            </a:r>
            <a:r>
              <a:rPr lang="en-US" altLang="zh-TW" sz="3600" dirty="0" smtClean="0"/>
              <a:t>= </a:t>
            </a:r>
            <a:r>
              <a:rPr lang="en-US" altLang="zh-TW" sz="3600" dirty="0"/>
              <a:t>ABC + ABC’ + AB’C + AB’C’ + </a:t>
            </a:r>
            <a:r>
              <a:rPr lang="en-US" altLang="zh-TW" sz="3600" dirty="0" smtClean="0"/>
              <a:t>A’B’C</a:t>
            </a:r>
          </a:p>
          <a:p>
            <a:pPr>
              <a:lnSpc>
                <a:spcPct val="150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m7 + m6 + m5 + m4 + m1</a:t>
            </a:r>
          </a:p>
          <a:p>
            <a:pPr>
              <a:lnSpc>
                <a:spcPct val="150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 ∑(1, 4 , 5 , 6 , 7)</a:t>
            </a:r>
            <a:endParaRPr lang="zh-TW" altLang="en-US" sz="36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696111"/>
              </p:ext>
            </p:extLst>
          </p:nvPr>
        </p:nvGraphicFramePr>
        <p:xfrm>
          <a:off x="7296086" y="1224637"/>
          <a:ext cx="4713576" cy="5502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394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178394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181132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175656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749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5818" y="101084"/>
            <a:ext cx="7832785" cy="24960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dirty="0"/>
              <a:t>F	</a:t>
            </a:r>
            <a:r>
              <a:rPr lang="en-US" altLang="zh-TW" sz="3600" dirty="0" smtClean="0"/>
              <a:t>= </a:t>
            </a:r>
            <a:r>
              <a:rPr lang="en-US" altLang="zh-TW" sz="3600" dirty="0"/>
              <a:t>ABC + ABC’ + AB’C + AB’C’ + </a:t>
            </a:r>
            <a:r>
              <a:rPr lang="en-US" altLang="zh-TW" sz="3600" dirty="0" smtClean="0"/>
              <a:t>A’B’C</a:t>
            </a:r>
          </a:p>
          <a:p>
            <a:pPr>
              <a:lnSpc>
                <a:spcPct val="150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m7 + m6 + m5 + m4 + m1</a:t>
            </a:r>
          </a:p>
          <a:p>
            <a:pPr>
              <a:lnSpc>
                <a:spcPct val="150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 ∑(1, 4 , 5 , 6 , 7)</a:t>
            </a:r>
            <a:endParaRPr lang="zh-TW" altLang="en-US" sz="36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269628"/>
              </p:ext>
            </p:extLst>
          </p:nvPr>
        </p:nvGraphicFramePr>
        <p:xfrm>
          <a:off x="7296086" y="1224637"/>
          <a:ext cx="4713576" cy="5502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394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178394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181132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175656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736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5818" y="101084"/>
            <a:ext cx="7832785" cy="24960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dirty="0"/>
              <a:t>F	</a:t>
            </a:r>
            <a:r>
              <a:rPr lang="en-US" altLang="zh-TW" sz="3600" dirty="0" smtClean="0"/>
              <a:t>= </a:t>
            </a:r>
            <a:r>
              <a:rPr lang="en-US" altLang="zh-TW" sz="3600" dirty="0"/>
              <a:t>ABC + ABC’ + AB’C + AB’C’ + </a:t>
            </a:r>
            <a:r>
              <a:rPr lang="en-US" altLang="zh-TW" sz="3600" dirty="0" smtClean="0"/>
              <a:t>A’B’C</a:t>
            </a:r>
          </a:p>
          <a:p>
            <a:pPr>
              <a:lnSpc>
                <a:spcPct val="150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m7 + m6 + m5 + m4 + m1</a:t>
            </a:r>
          </a:p>
          <a:p>
            <a:pPr>
              <a:lnSpc>
                <a:spcPct val="150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 ∑(1, 4 , 5 , 6 , 7)</a:t>
            </a:r>
            <a:endParaRPr lang="zh-TW" altLang="en-US" sz="36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24986"/>
              </p:ext>
            </p:extLst>
          </p:nvPr>
        </p:nvGraphicFramePr>
        <p:xfrm>
          <a:off x="7296086" y="1224637"/>
          <a:ext cx="4713576" cy="5502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394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178394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181132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175656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909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465" y="117707"/>
            <a:ext cx="11960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C00000"/>
                </a:solidFill>
              </a:rPr>
              <a:t>Express the Boolean function 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xy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x’z</a:t>
            </a:r>
            <a:r>
              <a:rPr lang="en-US" altLang="zh-TW" sz="3200" b="1" dirty="0">
                <a:solidFill>
                  <a:srgbClr val="C00000"/>
                </a:solidFill>
              </a:rPr>
              <a:t> as a product of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113" y="959649"/>
            <a:ext cx="903514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/>
              <a:t>x'z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2465077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465" y="117707"/>
            <a:ext cx="11960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C00000"/>
                </a:solidFill>
              </a:rPr>
              <a:t>Express the Boolean function 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xy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x’z</a:t>
            </a:r>
            <a:r>
              <a:rPr lang="en-US" altLang="zh-TW" sz="3200" b="1" dirty="0">
                <a:solidFill>
                  <a:srgbClr val="C00000"/>
                </a:solidFill>
              </a:rPr>
              <a:t> as a product of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113" y="959649"/>
            <a:ext cx="903514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/>
              <a:t>x'z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</a:t>
            </a:r>
            <a:endParaRPr lang="en-US" altLang="zh-TW" sz="36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097453"/>
              </p:ext>
            </p:extLst>
          </p:nvPr>
        </p:nvGraphicFramePr>
        <p:xfrm>
          <a:off x="7296086" y="1224637"/>
          <a:ext cx="4713576" cy="5502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394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178394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181132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175656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550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465" y="117707"/>
            <a:ext cx="11960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C00000"/>
                </a:solidFill>
              </a:rPr>
              <a:t>Express the Boolean function 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xy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x’z</a:t>
            </a:r>
            <a:r>
              <a:rPr lang="en-US" altLang="zh-TW" sz="3200" b="1" dirty="0">
                <a:solidFill>
                  <a:srgbClr val="C00000"/>
                </a:solidFill>
              </a:rPr>
              <a:t> as a product of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113" y="959649"/>
            <a:ext cx="567962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/>
              <a:t>x'z</a:t>
            </a:r>
            <a:r>
              <a:rPr lang="en-US" altLang="zh-TW" sz="3600" i="1" dirty="0"/>
              <a:t>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/>
              <a:t>	</a:t>
            </a:r>
            <a:r>
              <a:rPr lang="en-US" altLang="zh-TW" sz="3600" i="1" dirty="0" smtClean="0"/>
              <a:t>=	</a:t>
            </a:r>
            <a:r>
              <a:rPr lang="en-US" altLang="zh-TW" sz="3600" dirty="0" smtClean="0">
                <a:cs typeface="Times New Roman" panose="02020603050405020304" pitchFamily="18" charset="0"/>
              </a:rPr>
              <a:t>∏ </a:t>
            </a:r>
            <a:r>
              <a:rPr lang="en-US" altLang="zh-TW" sz="3600" dirty="0">
                <a:cs typeface="Times New Roman" panose="02020603050405020304" pitchFamily="18" charset="0"/>
              </a:rPr>
              <a:t>(0, 2, 4, 5)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i="1" dirty="0"/>
              <a:t>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</a:t>
            </a:r>
            <a:endParaRPr lang="en-US" altLang="zh-TW" sz="36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097453"/>
              </p:ext>
            </p:extLst>
          </p:nvPr>
        </p:nvGraphicFramePr>
        <p:xfrm>
          <a:off x="7296086" y="1224637"/>
          <a:ext cx="4713576" cy="5502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394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178394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181132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175656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918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465" y="117707"/>
            <a:ext cx="11960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C00000"/>
                </a:solidFill>
              </a:rPr>
              <a:t>Express the Boolean function 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xy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x’z</a:t>
            </a:r>
            <a:r>
              <a:rPr lang="en-US" altLang="zh-TW" sz="3200" b="1" dirty="0">
                <a:solidFill>
                  <a:srgbClr val="C00000"/>
                </a:solidFill>
              </a:rPr>
              <a:t> as a product of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113" y="959649"/>
            <a:ext cx="9035143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/>
              <a:t>x'z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=	</a:t>
            </a:r>
            <a:r>
              <a:rPr lang="en-US" altLang="zh-TW" sz="3600" dirty="0" smtClean="0"/>
              <a:t>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+ x') 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z</a:t>
            </a:r>
            <a:r>
              <a:rPr lang="en-US" altLang="zh-TW" sz="3600" dirty="0"/>
              <a:t>)			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729469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465" y="117707"/>
            <a:ext cx="11960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C00000"/>
                </a:solidFill>
              </a:rPr>
              <a:t>Express the Boolean function 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xy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x’z</a:t>
            </a:r>
            <a:r>
              <a:rPr lang="en-US" altLang="zh-TW" sz="3200" b="1" dirty="0">
                <a:solidFill>
                  <a:srgbClr val="C00000"/>
                </a:solidFill>
              </a:rPr>
              <a:t> as a product of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113" y="959649"/>
            <a:ext cx="903514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/>
              <a:t>x'z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=	</a:t>
            </a:r>
            <a:r>
              <a:rPr lang="en-US" altLang="zh-TW" sz="3600" dirty="0" smtClean="0"/>
              <a:t>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+ x') 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z</a:t>
            </a:r>
            <a:r>
              <a:rPr lang="en-US" altLang="zh-TW" sz="3600" dirty="0"/>
              <a:t>)			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 + x') (y + x') (x + z) (y + z</a:t>
            </a:r>
            <a:r>
              <a:rPr lang="en-US" altLang="zh-TW" sz="3600" dirty="0"/>
              <a:t>)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2613274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465" y="117707"/>
            <a:ext cx="11960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C00000"/>
                </a:solidFill>
              </a:rPr>
              <a:t>Express the Boolean function 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xy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x’z</a:t>
            </a:r>
            <a:r>
              <a:rPr lang="en-US" altLang="zh-TW" sz="3200" b="1" dirty="0">
                <a:solidFill>
                  <a:srgbClr val="C00000"/>
                </a:solidFill>
              </a:rPr>
              <a:t> as a product of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113" y="959649"/>
            <a:ext cx="903514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/>
              <a:t>x'z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=	</a:t>
            </a:r>
            <a:r>
              <a:rPr lang="en-US" altLang="zh-TW" sz="3600" dirty="0" smtClean="0"/>
              <a:t>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+ x') 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z</a:t>
            </a:r>
            <a:r>
              <a:rPr lang="en-US" altLang="zh-TW" sz="3600" dirty="0"/>
              <a:t>)			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 + x') (y + x') (x + z) (y + z</a:t>
            </a:r>
            <a:r>
              <a:rPr lang="en-US" altLang="zh-TW" sz="3600" dirty="0"/>
              <a:t>)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x‘ + y) (x + z) (y + z</a:t>
            </a:r>
            <a:r>
              <a:rPr lang="en-US" altLang="zh-TW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0475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465" y="117707"/>
            <a:ext cx="11960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C00000"/>
                </a:solidFill>
              </a:rPr>
              <a:t>Express the Boolean function 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xy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x’z</a:t>
            </a:r>
            <a:r>
              <a:rPr lang="en-US" altLang="zh-TW" sz="3200" b="1" dirty="0">
                <a:solidFill>
                  <a:srgbClr val="C00000"/>
                </a:solidFill>
              </a:rPr>
              <a:t> as a product of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113" y="959649"/>
            <a:ext cx="903514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/>
              <a:t>x'z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=	</a:t>
            </a:r>
            <a:r>
              <a:rPr lang="en-US" altLang="zh-TW" sz="3600" dirty="0" smtClean="0"/>
              <a:t>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+ x') 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z</a:t>
            </a:r>
            <a:r>
              <a:rPr lang="en-US" altLang="zh-TW" sz="3600" dirty="0"/>
              <a:t>)			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 + x') (y + x') (x + z) (y + z</a:t>
            </a:r>
            <a:r>
              <a:rPr lang="en-US" altLang="zh-TW" sz="3600" dirty="0"/>
              <a:t>)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b="1" dirty="0">
                <a:solidFill>
                  <a:srgbClr val="C00000"/>
                </a:solidFill>
              </a:rPr>
              <a:t>(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x‘ + y) </a:t>
            </a:r>
            <a:r>
              <a:rPr lang="en-US" altLang="zh-TW" sz="3600" dirty="0" smtClean="0"/>
              <a:t>(x + z) (y + z</a:t>
            </a:r>
            <a:r>
              <a:rPr lang="en-US" altLang="zh-TW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009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37508" y="741399"/>
            <a:ext cx="6095999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b="1" dirty="0" smtClean="0">
                <a:solidFill>
                  <a:srgbClr val="C00000"/>
                </a:solidFill>
              </a:rPr>
              <a:t>x’ + y </a:t>
            </a:r>
          </a:p>
          <a:p>
            <a:pPr lvl="1">
              <a:lnSpc>
                <a:spcPct val="125000"/>
              </a:lnSpc>
            </a:pPr>
            <a:r>
              <a:rPr lang="en-US" altLang="zh-TW" sz="3600" b="1" dirty="0" smtClean="0">
                <a:solidFill>
                  <a:srgbClr val="C00000"/>
                </a:solidFill>
              </a:rPr>
              <a:t>= x’ </a:t>
            </a:r>
            <a:r>
              <a:rPr lang="en-US" altLang="zh-TW" sz="3600" b="1" dirty="0">
                <a:solidFill>
                  <a:srgbClr val="C00000"/>
                </a:solidFill>
              </a:rPr>
              <a:t>+ y +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zz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r>
              <a:rPr lang="en-US" altLang="zh-TW" sz="3600" b="1" dirty="0">
                <a:solidFill>
                  <a:srgbClr val="C00000"/>
                </a:solidFill>
              </a:rPr>
              <a:t>		</a:t>
            </a:r>
            <a:endParaRPr lang="en-US" altLang="zh-TW" sz="3600" b="1" dirty="0" smtClean="0">
              <a:solidFill>
                <a:srgbClr val="C00000"/>
              </a:solidFill>
            </a:endParaRPr>
          </a:p>
          <a:p>
            <a:pPr lvl="1">
              <a:lnSpc>
                <a:spcPct val="125000"/>
              </a:lnSpc>
            </a:pPr>
            <a:r>
              <a:rPr lang="en-US" altLang="zh-TW" sz="3600" b="1" dirty="0" smtClean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</a:rPr>
              <a:t>(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x’ + y + z</a:t>
            </a:r>
            <a:r>
              <a:rPr lang="en-US" altLang="zh-TW" sz="3600" b="1" dirty="0">
                <a:solidFill>
                  <a:srgbClr val="C00000"/>
                </a:solidFill>
              </a:rPr>
              <a:t>)(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x’ + y + z’)</a:t>
            </a:r>
            <a:endParaRPr lang="en-US" altLang="zh-TW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559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465" y="117707"/>
            <a:ext cx="11960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C00000"/>
                </a:solidFill>
              </a:rPr>
              <a:t>Express the Boolean function 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xy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x’z</a:t>
            </a:r>
            <a:r>
              <a:rPr lang="en-US" altLang="zh-TW" sz="3200" b="1" dirty="0">
                <a:solidFill>
                  <a:srgbClr val="C00000"/>
                </a:solidFill>
              </a:rPr>
              <a:t> as a product of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113" y="959649"/>
            <a:ext cx="11533416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 smtClean="0"/>
              <a:t>x’z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=	</a:t>
            </a:r>
            <a:r>
              <a:rPr lang="en-US" altLang="zh-TW" sz="3600" dirty="0" smtClean="0"/>
              <a:t>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+ </a:t>
            </a:r>
            <a:r>
              <a:rPr lang="en-US" altLang="zh-TW" sz="3600" dirty="0" smtClean="0"/>
              <a:t>x’)(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z</a:t>
            </a:r>
            <a:r>
              <a:rPr lang="en-US" altLang="zh-TW" sz="3600" dirty="0"/>
              <a:t>)			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 + x’)(y + x’)(x + z)(y + z</a:t>
            </a:r>
            <a:r>
              <a:rPr lang="en-US" altLang="zh-TW" sz="3600" dirty="0"/>
              <a:t>)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x’ + y)(x + z)(y + z)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 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2888368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465" y="117707"/>
            <a:ext cx="11960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C00000"/>
                </a:solidFill>
              </a:rPr>
              <a:t>Express the Boolean function 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xy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x’z</a:t>
            </a:r>
            <a:r>
              <a:rPr lang="en-US" altLang="zh-TW" sz="3200" b="1" dirty="0">
                <a:solidFill>
                  <a:srgbClr val="C00000"/>
                </a:solidFill>
              </a:rPr>
              <a:t> as a product of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113" y="959649"/>
            <a:ext cx="1153341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 smtClean="0"/>
              <a:t>x’z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=	</a:t>
            </a:r>
            <a:r>
              <a:rPr lang="en-US" altLang="zh-TW" sz="3600" dirty="0" smtClean="0"/>
              <a:t>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+ </a:t>
            </a:r>
            <a:r>
              <a:rPr lang="en-US" altLang="zh-TW" sz="3600" dirty="0" smtClean="0"/>
              <a:t>x’)(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z</a:t>
            </a:r>
            <a:r>
              <a:rPr lang="en-US" altLang="zh-TW" sz="3600" dirty="0"/>
              <a:t>)			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 + x’)(y + x’)(x + z)(y + z</a:t>
            </a:r>
            <a:r>
              <a:rPr lang="en-US" altLang="zh-TW" sz="3600" dirty="0"/>
              <a:t>)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x’ + y)(x + z)(y + z)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x’ </a:t>
            </a:r>
            <a:r>
              <a:rPr lang="en-US" altLang="zh-TW" sz="3600" dirty="0"/>
              <a:t>+ </a:t>
            </a:r>
            <a:r>
              <a:rPr lang="en-US" altLang="zh-TW" sz="3600" dirty="0" smtClean="0"/>
              <a:t>y + </a:t>
            </a:r>
            <a:r>
              <a:rPr lang="en-US" altLang="zh-TW" sz="3600" dirty="0" err="1" smtClean="0"/>
              <a:t>zz</a:t>
            </a:r>
            <a:r>
              <a:rPr lang="en-US" altLang="zh-TW" sz="3600" dirty="0" smtClean="0"/>
              <a:t>’)(</a:t>
            </a:r>
            <a:r>
              <a:rPr lang="en-US" altLang="zh-TW" sz="3600" dirty="0"/>
              <a:t>x + </a:t>
            </a:r>
            <a:r>
              <a:rPr lang="en-US" altLang="zh-TW" sz="3600" dirty="0" err="1" smtClean="0"/>
              <a:t>yy</a:t>
            </a:r>
            <a:r>
              <a:rPr lang="en-US" altLang="zh-TW" sz="3600" dirty="0" smtClean="0"/>
              <a:t>’ + z)(xx’ + y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 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3825105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465" y="117707"/>
            <a:ext cx="11960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C00000"/>
                </a:solidFill>
              </a:rPr>
              <a:t>Express the Boolean function 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xy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x’z</a:t>
            </a:r>
            <a:r>
              <a:rPr lang="en-US" altLang="zh-TW" sz="3200" b="1" dirty="0">
                <a:solidFill>
                  <a:srgbClr val="C00000"/>
                </a:solidFill>
              </a:rPr>
              <a:t> as a product of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113" y="959649"/>
            <a:ext cx="11533416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 smtClean="0"/>
              <a:t>x’z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=	</a:t>
            </a:r>
            <a:r>
              <a:rPr lang="en-US" altLang="zh-TW" sz="3600" dirty="0" smtClean="0"/>
              <a:t>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+ </a:t>
            </a:r>
            <a:r>
              <a:rPr lang="en-US" altLang="zh-TW" sz="3600" dirty="0" smtClean="0"/>
              <a:t>x’)(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z</a:t>
            </a:r>
            <a:r>
              <a:rPr lang="en-US" altLang="zh-TW" sz="3600" dirty="0"/>
              <a:t>)			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 + x’)(y + x’)(x + z)(y + z</a:t>
            </a:r>
            <a:r>
              <a:rPr lang="en-US" altLang="zh-TW" sz="3600" dirty="0"/>
              <a:t>)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x’ + y)(x + z)(y + z)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x’ </a:t>
            </a:r>
            <a:r>
              <a:rPr lang="en-US" altLang="zh-TW" sz="3600" dirty="0"/>
              <a:t>+ </a:t>
            </a:r>
            <a:r>
              <a:rPr lang="en-US" altLang="zh-TW" sz="3600" dirty="0" smtClean="0"/>
              <a:t>y + </a:t>
            </a:r>
            <a:r>
              <a:rPr lang="en-US" altLang="zh-TW" sz="3600" dirty="0" err="1" smtClean="0"/>
              <a:t>zz</a:t>
            </a:r>
            <a:r>
              <a:rPr lang="en-US" altLang="zh-TW" sz="3600" dirty="0" smtClean="0"/>
              <a:t>’)(</a:t>
            </a:r>
            <a:r>
              <a:rPr lang="en-US" altLang="zh-TW" sz="3600" dirty="0"/>
              <a:t>x + </a:t>
            </a:r>
            <a:r>
              <a:rPr lang="en-US" altLang="zh-TW" sz="3600" dirty="0" err="1" smtClean="0"/>
              <a:t>yy</a:t>
            </a:r>
            <a:r>
              <a:rPr lang="en-US" altLang="zh-TW" sz="3600" dirty="0" smtClean="0"/>
              <a:t>’ + z)(xx’ + y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(</a:t>
            </a:r>
            <a:r>
              <a:rPr lang="en-US" altLang="zh-TW" sz="3600" dirty="0"/>
              <a:t>x’ + y + </a:t>
            </a:r>
            <a:r>
              <a:rPr lang="en-US" altLang="zh-TW" sz="3600" dirty="0" smtClean="0"/>
              <a:t>z)(</a:t>
            </a:r>
            <a:r>
              <a:rPr lang="en-US" altLang="zh-TW" sz="3600" dirty="0"/>
              <a:t>x’ + y + </a:t>
            </a:r>
            <a:r>
              <a:rPr lang="en-US" altLang="zh-TW" sz="3600" dirty="0" smtClean="0"/>
              <a:t>z’)(</a:t>
            </a:r>
            <a:r>
              <a:rPr lang="en-US" altLang="zh-TW" sz="3600" dirty="0"/>
              <a:t>x + </a:t>
            </a:r>
            <a:r>
              <a:rPr lang="en-US" altLang="zh-TW" sz="3600" dirty="0" smtClean="0"/>
              <a:t>y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)(</a:t>
            </a:r>
            <a:r>
              <a:rPr lang="en-US" altLang="zh-TW" sz="3600" dirty="0"/>
              <a:t>x + </a:t>
            </a:r>
            <a:r>
              <a:rPr lang="en-US" altLang="zh-TW" sz="3600" dirty="0" smtClean="0"/>
              <a:t>y’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	(x </a:t>
            </a:r>
            <a:r>
              <a:rPr lang="en-US" altLang="zh-TW" sz="3600" dirty="0"/>
              <a:t>+ y + z</a:t>
            </a:r>
            <a:r>
              <a:rPr lang="en-US" altLang="zh-TW" sz="3600" dirty="0" smtClean="0"/>
              <a:t>)(x</a:t>
            </a:r>
            <a:r>
              <a:rPr lang="en-US" altLang="zh-TW" sz="3600" dirty="0"/>
              <a:t>’ + y + z)</a:t>
            </a:r>
          </a:p>
          <a:p>
            <a:pPr lvl="1">
              <a:lnSpc>
                <a:spcPct val="125000"/>
              </a:lnSpc>
            </a:pP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 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4269451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465" y="117707"/>
            <a:ext cx="11960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C00000"/>
                </a:solidFill>
              </a:rPr>
              <a:t>Express the Boolean function 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xy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x’z</a:t>
            </a:r>
            <a:r>
              <a:rPr lang="en-US" altLang="zh-TW" sz="3200" b="1" dirty="0">
                <a:solidFill>
                  <a:srgbClr val="C00000"/>
                </a:solidFill>
              </a:rPr>
              <a:t> as a product of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113" y="959649"/>
            <a:ext cx="11533416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 smtClean="0"/>
              <a:t>x’z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=	</a:t>
            </a:r>
            <a:r>
              <a:rPr lang="en-US" altLang="zh-TW" sz="3600" dirty="0" smtClean="0"/>
              <a:t>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+ </a:t>
            </a:r>
            <a:r>
              <a:rPr lang="en-US" altLang="zh-TW" sz="3600" dirty="0" smtClean="0"/>
              <a:t>x’)(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z</a:t>
            </a:r>
            <a:r>
              <a:rPr lang="en-US" altLang="zh-TW" sz="3600" dirty="0"/>
              <a:t>)			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 + x’)(y + x’)(x + z)(y + z</a:t>
            </a:r>
            <a:r>
              <a:rPr lang="en-US" altLang="zh-TW" sz="3600" dirty="0"/>
              <a:t>)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x’ + y)(x + z)(y + z)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x’ </a:t>
            </a:r>
            <a:r>
              <a:rPr lang="en-US" altLang="zh-TW" sz="3600" dirty="0"/>
              <a:t>+ </a:t>
            </a:r>
            <a:r>
              <a:rPr lang="en-US" altLang="zh-TW" sz="3600" dirty="0" smtClean="0"/>
              <a:t>y + </a:t>
            </a:r>
            <a:r>
              <a:rPr lang="en-US" altLang="zh-TW" sz="3600" dirty="0" err="1" smtClean="0"/>
              <a:t>zz</a:t>
            </a:r>
            <a:r>
              <a:rPr lang="en-US" altLang="zh-TW" sz="3600" dirty="0" smtClean="0"/>
              <a:t>’)(</a:t>
            </a:r>
            <a:r>
              <a:rPr lang="en-US" altLang="zh-TW" sz="3600" dirty="0"/>
              <a:t>x + </a:t>
            </a:r>
            <a:r>
              <a:rPr lang="en-US" altLang="zh-TW" sz="3600" dirty="0" err="1" smtClean="0"/>
              <a:t>yy</a:t>
            </a:r>
            <a:r>
              <a:rPr lang="en-US" altLang="zh-TW" sz="3600" dirty="0" smtClean="0"/>
              <a:t>’ + z)(xx’ + y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(</a:t>
            </a:r>
            <a:r>
              <a:rPr lang="en-US" altLang="zh-TW" sz="3600" dirty="0"/>
              <a:t>x’ + y + </a:t>
            </a:r>
            <a:r>
              <a:rPr lang="en-US" altLang="zh-TW" sz="3600" dirty="0" smtClean="0"/>
              <a:t>z)(</a:t>
            </a:r>
            <a:r>
              <a:rPr lang="en-US" altLang="zh-TW" sz="3600" dirty="0"/>
              <a:t>x’ + y + </a:t>
            </a:r>
            <a:r>
              <a:rPr lang="en-US" altLang="zh-TW" sz="3600" dirty="0" smtClean="0"/>
              <a:t>z’)(</a:t>
            </a:r>
            <a:r>
              <a:rPr lang="en-US" altLang="zh-TW" sz="3600" dirty="0"/>
              <a:t>x + </a:t>
            </a:r>
            <a:r>
              <a:rPr lang="en-US" altLang="zh-TW" sz="3600" dirty="0" smtClean="0"/>
              <a:t>y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)(</a:t>
            </a:r>
            <a:r>
              <a:rPr lang="en-US" altLang="zh-TW" sz="3600" dirty="0"/>
              <a:t>x + </a:t>
            </a:r>
            <a:r>
              <a:rPr lang="en-US" altLang="zh-TW" sz="3600" dirty="0" smtClean="0"/>
              <a:t>y’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	</a:t>
            </a:r>
            <a:r>
              <a:rPr lang="en-US" altLang="zh-TW" sz="3600" strike="sngStrike" dirty="0" smtClean="0">
                <a:solidFill>
                  <a:srgbClr val="C00000"/>
                </a:solidFill>
              </a:rPr>
              <a:t>(x </a:t>
            </a:r>
            <a:r>
              <a:rPr lang="en-US" altLang="zh-TW" sz="3600" strike="sngStrike" dirty="0">
                <a:solidFill>
                  <a:srgbClr val="C00000"/>
                </a:solidFill>
              </a:rPr>
              <a:t>+ y + z</a:t>
            </a:r>
            <a:r>
              <a:rPr lang="en-US" altLang="zh-TW" sz="3600" strike="sngStrike" dirty="0" smtClean="0">
                <a:solidFill>
                  <a:srgbClr val="C00000"/>
                </a:solidFill>
              </a:rPr>
              <a:t>)(x</a:t>
            </a:r>
            <a:r>
              <a:rPr lang="en-US" altLang="zh-TW" sz="3600" strike="sngStrike" dirty="0">
                <a:solidFill>
                  <a:srgbClr val="C00000"/>
                </a:solidFill>
              </a:rPr>
              <a:t>’ + y + z)</a:t>
            </a:r>
          </a:p>
          <a:p>
            <a:pPr lvl="1">
              <a:lnSpc>
                <a:spcPct val="125000"/>
              </a:lnSpc>
            </a:pP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 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2323975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465" y="117707"/>
            <a:ext cx="11960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C00000"/>
                </a:solidFill>
              </a:rPr>
              <a:t>Express the Boolean function 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xy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x’z</a:t>
            </a:r>
            <a:r>
              <a:rPr lang="en-US" altLang="zh-TW" sz="3200" b="1" dirty="0">
                <a:solidFill>
                  <a:srgbClr val="C00000"/>
                </a:solidFill>
              </a:rPr>
              <a:t> as a product of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113" y="959649"/>
            <a:ext cx="11533416" cy="632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 smtClean="0"/>
              <a:t>x’z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=	</a:t>
            </a:r>
            <a:r>
              <a:rPr lang="en-US" altLang="zh-TW" sz="3600" dirty="0" smtClean="0"/>
              <a:t>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+ </a:t>
            </a:r>
            <a:r>
              <a:rPr lang="en-US" altLang="zh-TW" sz="3600" dirty="0" smtClean="0"/>
              <a:t>x’)(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z</a:t>
            </a:r>
            <a:r>
              <a:rPr lang="en-US" altLang="zh-TW" sz="3600" dirty="0"/>
              <a:t>)			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 + x’)(y + x’)(x + z)(y + z</a:t>
            </a:r>
            <a:r>
              <a:rPr lang="en-US" altLang="zh-TW" sz="3600" dirty="0"/>
              <a:t>)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x’ + y)(x + z)(y + z)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x’ </a:t>
            </a:r>
            <a:r>
              <a:rPr lang="en-US" altLang="zh-TW" sz="3600" dirty="0"/>
              <a:t>+ </a:t>
            </a:r>
            <a:r>
              <a:rPr lang="en-US" altLang="zh-TW" sz="3600" dirty="0" smtClean="0"/>
              <a:t>y + </a:t>
            </a:r>
            <a:r>
              <a:rPr lang="en-US" altLang="zh-TW" sz="3600" dirty="0" err="1" smtClean="0"/>
              <a:t>zz</a:t>
            </a:r>
            <a:r>
              <a:rPr lang="en-US" altLang="zh-TW" sz="3600" dirty="0" smtClean="0"/>
              <a:t>’)(</a:t>
            </a:r>
            <a:r>
              <a:rPr lang="en-US" altLang="zh-TW" sz="3600" dirty="0"/>
              <a:t>x + </a:t>
            </a:r>
            <a:r>
              <a:rPr lang="en-US" altLang="zh-TW" sz="3600" dirty="0" err="1" smtClean="0"/>
              <a:t>yy</a:t>
            </a:r>
            <a:r>
              <a:rPr lang="en-US" altLang="zh-TW" sz="3600" dirty="0" smtClean="0"/>
              <a:t>’ + z)(xx’ + y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(</a:t>
            </a:r>
            <a:r>
              <a:rPr lang="en-US" altLang="zh-TW" sz="3600" dirty="0"/>
              <a:t>x’ + y + </a:t>
            </a:r>
            <a:r>
              <a:rPr lang="en-US" altLang="zh-TW" sz="3600" dirty="0" smtClean="0"/>
              <a:t>z)(</a:t>
            </a:r>
            <a:r>
              <a:rPr lang="en-US" altLang="zh-TW" sz="3600" dirty="0"/>
              <a:t>x’ + y + </a:t>
            </a:r>
            <a:r>
              <a:rPr lang="en-US" altLang="zh-TW" sz="3600" dirty="0" smtClean="0"/>
              <a:t>z’)(</a:t>
            </a:r>
            <a:r>
              <a:rPr lang="en-US" altLang="zh-TW" sz="3600" dirty="0"/>
              <a:t>x + </a:t>
            </a:r>
            <a:r>
              <a:rPr lang="en-US" altLang="zh-TW" sz="3600" dirty="0" smtClean="0"/>
              <a:t>y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)(</a:t>
            </a:r>
            <a:r>
              <a:rPr lang="en-US" altLang="zh-TW" sz="3600" dirty="0"/>
              <a:t>x + </a:t>
            </a:r>
            <a:r>
              <a:rPr lang="en-US" altLang="zh-TW" sz="3600" dirty="0" smtClean="0"/>
              <a:t>y’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	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 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2354271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465" y="117707"/>
            <a:ext cx="11960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C00000"/>
                </a:solidFill>
              </a:rPr>
              <a:t>Express the Boolean function 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xy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x’z</a:t>
            </a:r>
            <a:r>
              <a:rPr lang="en-US" altLang="zh-TW" sz="3200" b="1" dirty="0">
                <a:solidFill>
                  <a:srgbClr val="C00000"/>
                </a:solidFill>
              </a:rPr>
              <a:t> as a product of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113" y="959649"/>
            <a:ext cx="11533416" cy="632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 smtClean="0"/>
              <a:t>x’z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=	</a:t>
            </a:r>
            <a:r>
              <a:rPr lang="en-US" altLang="zh-TW" sz="3600" dirty="0" smtClean="0"/>
              <a:t>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+ </a:t>
            </a:r>
            <a:r>
              <a:rPr lang="en-US" altLang="zh-TW" sz="3600" dirty="0" smtClean="0"/>
              <a:t>x’)(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z</a:t>
            </a:r>
            <a:r>
              <a:rPr lang="en-US" altLang="zh-TW" sz="3600" dirty="0"/>
              <a:t>)			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 + x’)(y + x’)(x + z)(y + z</a:t>
            </a:r>
            <a:r>
              <a:rPr lang="en-US" altLang="zh-TW" sz="3600" dirty="0"/>
              <a:t>)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x’ + y)(x + z)(y + z)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x’ </a:t>
            </a:r>
            <a:r>
              <a:rPr lang="en-US" altLang="zh-TW" sz="3600" dirty="0"/>
              <a:t>+ </a:t>
            </a:r>
            <a:r>
              <a:rPr lang="en-US" altLang="zh-TW" sz="3600" dirty="0" smtClean="0"/>
              <a:t>y + </a:t>
            </a:r>
            <a:r>
              <a:rPr lang="en-US" altLang="zh-TW" sz="3600" dirty="0" err="1" smtClean="0"/>
              <a:t>zz</a:t>
            </a:r>
            <a:r>
              <a:rPr lang="en-US" altLang="zh-TW" sz="3600" dirty="0" smtClean="0"/>
              <a:t>’)(</a:t>
            </a:r>
            <a:r>
              <a:rPr lang="en-US" altLang="zh-TW" sz="3600" dirty="0"/>
              <a:t>x + </a:t>
            </a:r>
            <a:r>
              <a:rPr lang="en-US" altLang="zh-TW" sz="3600" dirty="0" err="1" smtClean="0"/>
              <a:t>yy</a:t>
            </a:r>
            <a:r>
              <a:rPr lang="en-US" altLang="zh-TW" sz="3600" dirty="0" smtClean="0"/>
              <a:t>’ + z)(xx’ + y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(</a:t>
            </a:r>
            <a:r>
              <a:rPr lang="en-US" altLang="zh-TW" sz="3600" dirty="0"/>
              <a:t>x’ + y + </a:t>
            </a:r>
            <a:r>
              <a:rPr lang="en-US" altLang="zh-TW" sz="3600" dirty="0" smtClean="0"/>
              <a:t>z)(</a:t>
            </a:r>
            <a:r>
              <a:rPr lang="en-US" altLang="zh-TW" sz="3600" dirty="0"/>
              <a:t>x’ + y + </a:t>
            </a:r>
            <a:r>
              <a:rPr lang="en-US" altLang="zh-TW" sz="3600" dirty="0" smtClean="0"/>
              <a:t>z’)(</a:t>
            </a:r>
            <a:r>
              <a:rPr lang="en-US" altLang="zh-TW" sz="3600" dirty="0"/>
              <a:t>x + </a:t>
            </a:r>
            <a:r>
              <a:rPr lang="en-US" altLang="zh-TW" sz="3600" dirty="0" smtClean="0"/>
              <a:t>y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)(</a:t>
            </a:r>
            <a:r>
              <a:rPr lang="en-US" altLang="zh-TW" sz="3600" dirty="0"/>
              <a:t>x + </a:t>
            </a:r>
            <a:r>
              <a:rPr lang="en-US" altLang="zh-TW" sz="3600" dirty="0" smtClean="0"/>
              <a:t>y’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 M</a:t>
            </a:r>
            <a:r>
              <a:rPr lang="en-US" altLang="zh-TW" sz="3600" baseline="-25000" dirty="0" smtClean="0"/>
              <a:t>4</a:t>
            </a:r>
            <a:r>
              <a:rPr lang="en-US" altLang="zh-TW" sz="3600" dirty="0" smtClean="0"/>
              <a:t> · M</a:t>
            </a:r>
            <a:r>
              <a:rPr lang="en-US" altLang="zh-TW" sz="3600" baseline="-25000" dirty="0" smtClean="0"/>
              <a:t>5</a:t>
            </a:r>
            <a:r>
              <a:rPr lang="en-US" altLang="zh-TW" sz="3600" dirty="0" smtClean="0"/>
              <a:t> · M</a:t>
            </a:r>
            <a:r>
              <a:rPr lang="en-US" altLang="zh-TW" sz="3600" baseline="-25000" dirty="0" smtClean="0"/>
              <a:t>0</a:t>
            </a:r>
            <a:r>
              <a:rPr lang="en-US" altLang="zh-TW" sz="3600" dirty="0" smtClean="0"/>
              <a:t> · M</a:t>
            </a:r>
            <a:r>
              <a:rPr lang="en-US" altLang="zh-TW" sz="3600" baseline="-25000" dirty="0" smtClean="0"/>
              <a:t>2</a:t>
            </a:r>
          </a:p>
          <a:p>
            <a:pPr lvl="1">
              <a:lnSpc>
                <a:spcPct val="125000"/>
              </a:lnSpc>
            </a:pPr>
            <a:r>
              <a:rPr lang="en-US" altLang="zh-TW" sz="3600" baseline="-25000" dirty="0"/>
              <a:t>	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1013986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465" y="117707"/>
            <a:ext cx="119606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C00000"/>
                </a:solidFill>
              </a:rPr>
              <a:t>Express the Boolean function 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xy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x’z</a:t>
            </a:r>
            <a:r>
              <a:rPr lang="en-US" altLang="zh-TW" sz="3200" b="1" dirty="0">
                <a:solidFill>
                  <a:srgbClr val="C00000"/>
                </a:solidFill>
              </a:rPr>
              <a:t> as a product of </a:t>
            </a:r>
            <a:r>
              <a:rPr lang="en-US" altLang="zh-TW" sz="3200" b="1" dirty="0" err="1">
                <a:solidFill>
                  <a:srgbClr val="C00000"/>
                </a:solidFill>
              </a:rPr>
              <a:t>maxterms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113" y="959649"/>
            <a:ext cx="11533416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 smtClean="0"/>
              <a:t>x’z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=	</a:t>
            </a:r>
            <a:r>
              <a:rPr lang="en-US" altLang="zh-TW" sz="3600" dirty="0" smtClean="0"/>
              <a:t>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+ </a:t>
            </a:r>
            <a:r>
              <a:rPr lang="en-US" altLang="zh-TW" sz="3600" dirty="0" smtClean="0"/>
              <a:t>x’)(</a:t>
            </a:r>
            <a:r>
              <a:rPr lang="en-US" altLang="zh-TW" sz="3600" dirty="0" err="1"/>
              <a:t>xy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z</a:t>
            </a:r>
            <a:r>
              <a:rPr lang="en-US" altLang="zh-TW" sz="3600" dirty="0"/>
              <a:t>)			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 + x’)(y + x’)(x + z)(y + z</a:t>
            </a:r>
            <a:r>
              <a:rPr lang="en-US" altLang="zh-TW" sz="3600" dirty="0"/>
              <a:t>)	</a:t>
            </a:r>
            <a:endParaRPr lang="en-US" altLang="zh-TW" sz="3600" dirty="0" smtClean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x’ + y)(x + z)(y + z)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x’ </a:t>
            </a:r>
            <a:r>
              <a:rPr lang="en-US" altLang="zh-TW" sz="3600" dirty="0"/>
              <a:t>+ </a:t>
            </a:r>
            <a:r>
              <a:rPr lang="en-US" altLang="zh-TW" sz="3600" dirty="0" smtClean="0"/>
              <a:t>y + </a:t>
            </a:r>
            <a:r>
              <a:rPr lang="en-US" altLang="zh-TW" sz="3600" dirty="0" err="1" smtClean="0"/>
              <a:t>zz</a:t>
            </a:r>
            <a:r>
              <a:rPr lang="en-US" altLang="zh-TW" sz="3600" dirty="0" smtClean="0"/>
              <a:t>’)(</a:t>
            </a:r>
            <a:r>
              <a:rPr lang="en-US" altLang="zh-TW" sz="3600" dirty="0"/>
              <a:t>x + </a:t>
            </a:r>
            <a:r>
              <a:rPr lang="en-US" altLang="zh-TW" sz="3600" dirty="0" err="1" smtClean="0"/>
              <a:t>yy</a:t>
            </a:r>
            <a:r>
              <a:rPr lang="en-US" altLang="zh-TW" sz="3600" dirty="0" smtClean="0"/>
              <a:t>’ + z)(xx’ + y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	(</a:t>
            </a:r>
            <a:r>
              <a:rPr lang="en-US" altLang="zh-TW" sz="3600" dirty="0"/>
              <a:t>x’ + y + </a:t>
            </a:r>
            <a:r>
              <a:rPr lang="en-US" altLang="zh-TW" sz="3600" dirty="0" smtClean="0"/>
              <a:t>z)(</a:t>
            </a:r>
            <a:r>
              <a:rPr lang="en-US" altLang="zh-TW" sz="3600" dirty="0"/>
              <a:t>x’ + y + </a:t>
            </a:r>
            <a:r>
              <a:rPr lang="en-US" altLang="zh-TW" sz="3600" dirty="0" smtClean="0"/>
              <a:t>z’)(</a:t>
            </a:r>
            <a:r>
              <a:rPr lang="en-US" altLang="zh-TW" sz="3600" dirty="0"/>
              <a:t>x + </a:t>
            </a:r>
            <a:r>
              <a:rPr lang="en-US" altLang="zh-TW" sz="3600" dirty="0" smtClean="0"/>
              <a:t>y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)(</a:t>
            </a:r>
            <a:r>
              <a:rPr lang="en-US" altLang="zh-TW" sz="3600" dirty="0"/>
              <a:t>x + </a:t>
            </a:r>
            <a:r>
              <a:rPr lang="en-US" altLang="zh-TW" sz="3600" dirty="0" smtClean="0"/>
              <a:t>y’ </a:t>
            </a:r>
            <a:r>
              <a:rPr lang="en-US" altLang="zh-TW" sz="3600" dirty="0"/>
              <a:t>+ z</a:t>
            </a:r>
            <a:r>
              <a:rPr lang="en-US" altLang="zh-TW" sz="3600" dirty="0" smtClean="0"/>
              <a:t>)</a:t>
            </a:r>
          </a:p>
          <a:p>
            <a:pPr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 M</a:t>
            </a:r>
            <a:r>
              <a:rPr lang="en-US" altLang="zh-TW" sz="3600" baseline="-25000" dirty="0" smtClean="0"/>
              <a:t>4</a:t>
            </a:r>
            <a:r>
              <a:rPr lang="en-US" altLang="zh-TW" sz="3600" dirty="0" smtClean="0"/>
              <a:t> · M</a:t>
            </a:r>
            <a:r>
              <a:rPr lang="en-US" altLang="zh-TW" sz="3600" baseline="-25000" dirty="0" smtClean="0"/>
              <a:t>5</a:t>
            </a:r>
            <a:r>
              <a:rPr lang="en-US" altLang="zh-TW" sz="3600" dirty="0" smtClean="0"/>
              <a:t> · M</a:t>
            </a:r>
            <a:r>
              <a:rPr lang="en-US" altLang="zh-TW" sz="3600" baseline="-25000" dirty="0" smtClean="0"/>
              <a:t>0</a:t>
            </a:r>
            <a:r>
              <a:rPr lang="en-US" altLang="zh-TW" sz="3600" dirty="0" smtClean="0"/>
              <a:t> · M</a:t>
            </a:r>
            <a:r>
              <a:rPr lang="en-US" altLang="zh-TW" sz="3600" baseline="-25000" dirty="0" smtClean="0"/>
              <a:t>2</a:t>
            </a:r>
          </a:p>
          <a:p>
            <a:pPr lvl="1">
              <a:lnSpc>
                <a:spcPct val="125000"/>
              </a:lnSpc>
            </a:pPr>
            <a:r>
              <a:rPr lang="en-US" altLang="zh-TW" sz="3600" baseline="-25000" dirty="0"/>
              <a:t>	</a:t>
            </a:r>
            <a:r>
              <a:rPr lang="en-US" altLang="zh-TW" sz="3600" dirty="0" smtClean="0"/>
              <a:t>=	</a:t>
            </a:r>
            <a:r>
              <a:rPr lang="en-US" altLang="zh-TW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 smtClean="0">
                <a:cs typeface="Times New Roman" panose="02020603050405020304" pitchFamily="18" charset="0"/>
              </a:rPr>
              <a:t>∏ (0, 2, 4, 5)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 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1272130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0113" y="959649"/>
            <a:ext cx="1153341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 smtClean="0"/>
              <a:t>x’z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</a:t>
            </a:r>
            <a:r>
              <a:rPr lang="en-US" altLang="zh-TW" sz="3600" dirty="0" smtClean="0"/>
              <a:t>=	</a:t>
            </a:r>
            <a:r>
              <a:rPr lang="en-US" altLang="zh-TW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 smtClean="0">
                <a:cs typeface="Times New Roman" panose="02020603050405020304" pitchFamily="18" charset="0"/>
              </a:rPr>
              <a:t>∏ (0, 2, 4, 5)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 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2382215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0113" y="959649"/>
            <a:ext cx="1153341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 smtClean="0"/>
              <a:t>x’z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</a:t>
            </a:r>
            <a:r>
              <a:rPr lang="en-US" altLang="zh-TW" sz="3600" dirty="0" smtClean="0"/>
              <a:t>=	</a:t>
            </a:r>
            <a:r>
              <a:rPr lang="en-US" altLang="zh-TW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 smtClean="0">
                <a:cs typeface="Times New Roman" panose="02020603050405020304" pitchFamily="18" charset="0"/>
              </a:rPr>
              <a:t>∏ (0, 2, 4, 5)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 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endParaRPr lang="en-US" altLang="zh-TW" sz="36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276867"/>
              </p:ext>
            </p:extLst>
          </p:nvPr>
        </p:nvGraphicFramePr>
        <p:xfrm>
          <a:off x="5899993" y="959649"/>
          <a:ext cx="4713576" cy="5502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394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178394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181132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175656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307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0113" y="959649"/>
            <a:ext cx="1153341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 smtClean="0"/>
              <a:t>x’z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</a:t>
            </a:r>
            <a:r>
              <a:rPr lang="en-US" altLang="zh-TW" sz="3600" dirty="0" smtClean="0"/>
              <a:t>=	</a:t>
            </a:r>
            <a:r>
              <a:rPr lang="en-US" altLang="zh-TW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 smtClean="0">
                <a:cs typeface="Times New Roman" panose="02020603050405020304" pitchFamily="18" charset="0"/>
              </a:rPr>
              <a:t>∏ (0, 2, 4, 5)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 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endParaRPr lang="en-US" altLang="zh-TW" sz="36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261583"/>
              </p:ext>
            </p:extLst>
          </p:nvPr>
        </p:nvGraphicFramePr>
        <p:xfrm>
          <a:off x="5899993" y="959649"/>
          <a:ext cx="4713576" cy="5502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394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178394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181132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175656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814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0113" y="959649"/>
            <a:ext cx="1153341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600" dirty="0" smtClean="0"/>
              <a:t>F	=	</a:t>
            </a:r>
            <a:r>
              <a:rPr lang="en-US" altLang="zh-TW" sz="3600" dirty="0" err="1" smtClean="0"/>
              <a:t>xy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+ </a:t>
            </a:r>
            <a:r>
              <a:rPr lang="en-US" altLang="zh-TW" sz="3600" dirty="0" err="1" smtClean="0"/>
              <a:t>x’z</a:t>
            </a:r>
            <a:r>
              <a:rPr lang="en-US" altLang="zh-TW" sz="3600" i="1" dirty="0"/>
              <a:t>							</a:t>
            </a:r>
            <a:endParaRPr lang="en-US" altLang="zh-TW" sz="36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600" i="1" dirty="0" smtClean="0"/>
              <a:t>	</a:t>
            </a:r>
            <a:r>
              <a:rPr lang="en-US" altLang="zh-TW" sz="3600" dirty="0" smtClean="0"/>
              <a:t>=	</a:t>
            </a:r>
            <a:r>
              <a:rPr lang="en-US" altLang="zh-TW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 smtClean="0">
                <a:cs typeface="Times New Roman" panose="02020603050405020304" pitchFamily="18" charset="0"/>
              </a:rPr>
              <a:t>∏ (0, 2, 4, 5)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r>
              <a:rPr lang="en-US" altLang="zh-TW" sz="3600" dirty="0" smtClean="0"/>
              <a:t> </a:t>
            </a:r>
            <a:endParaRPr lang="en-US" altLang="zh-TW" sz="3600" dirty="0"/>
          </a:p>
          <a:p>
            <a:pPr lvl="1">
              <a:lnSpc>
                <a:spcPct val="125000"/>
              </a:lnSpc>
            </a:pPr>
            <a:endParaRPr lang="en-US" altLang="zh-TW" sz="36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562476"/>
              </p:ext>
            </p:extLst>
          </p:nvPr>
        </p:nvGraphicFramePr>
        <p:xfrm>
          <a:off x="5899993" y="959649"/>
          <a:ext cx="4713576" cy="5502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394">
                  <a:extLst>
                    <a:ext uri="{9D8B030D-6E8A-4147-A177-3AD203B41FA5}">
                      <a16:colId xmlns:a16="http://schemas.microsoft.com/office/drawing/2014/main" val="1696362576"/>
                    </a:ext>
                  </a:extLst>
                </a:gridCol>
                <a:gridCol w="1178394">
                  <a:extLst>
                    <a:ext uri="{9D8B030D-6E8A-4147-A177-3AD203B41FA5}">
                      <a16:colId xmlns:a16="http://schemas.microsoft.com/office/drawing/2014/main" val="3022917735"/>
                    </a:ext>
                  </a:extLst>
                </a:gridCol>
                <a:gridCol w="1181132">
                  <a:extLst>
                    <a:ext uri="{9D8B030D-6E8A-4147-A177-3AD203B41FA5}">
                      <a16:colId xmlns:a16="http://schemas.microsoft.com/office/drawing/2014/main" val="3595862229"/>
                    </a:ext>
                  </a:extLst>
                </a:gridCol>
                <a:gridCol w="1175656">
                  <a:extLst>
                    <a:ext uri="{9D8B030D-6E8A-4147-A177-3AD203B41FA5}">
                      <a16:colId xmlns:a16="http://schemas.microsoft.com/office/drawing/2014/main" val="2082997511"/>
                    </a:ext>
                  </a:extLst>
                </a:gridCol>
              </a:tblGrid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7069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1741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2406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2172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039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11636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450615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97387"/>
                  </a:ext>
                </a:extLst>
              </a:tr>
              <a:tr h="6114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589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127D51-1047-4990-8C16-68D758458F74}"/>
              </a:ext>
            </a:extLst>
          </p:cNvPr>
          <p:cNvSpPr txBox="1">
            <a:spLocks noChangeArrowheads="1"/>
          </p:cNvSpPr>
          <p:nvPr/>
        </p:nvSpPr>
        <p:spPr>
          <a:xfrm>
            <a:off x="636814" y="1940379"/>
            <a:ext cx="11307535" cy="35541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r>
              <a:rPr lang="zh-TW" altLang="en-US" sz="3200" dirty="0" smtClean="0"/>
              <a:t>  </a:t>
            </a:r>
            <a:r>
              <a:rPr lang="en-US" altLang="zh-TW" sz="3200" dirty="0" smtClean="0"/>
              <a:t>Canonical forms are seldom used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sz="3200" dirty="0" smtClean="0"/>
              <a:t>  </a:t>
            </a:r>
            <a:r>
              <a:rPr lang="en-US" altLang="zh-TW" sz="3200" dirty="0" smtClean="0"/>
              <a:t>sum of products					</a:t>
            </a:r>
          </a:p>
          <a:p>
            <a:pPr marL="457200" lvl="1" indent="0" algn="ctr">
              <a:buNone/>
            </a:pPr>
            <a:r>
              <a:rPr lang="en-US" altLang="zh-TW" sz="3200" dirty="0" smtClean="0"/>
              <a:t>F</a:t>
            </a:r>
            <a:r>
              <a:rPr lang="en-US" altLang="zh-TW" sz="3200" baseline="-25000" dirty="0" smtClean="0"/>
              <a:t>1 </a:t>
            </a:r>
            <a:r>
              <a:rPr lang="en-US" altLang="zh-TW" sz="3200" dirty="0" smtClean="0"/>
              <a:t>= y‘ + </a:t>
            </a:r>
            <a:r>
              <a:rPr lang="en-US" altLang="zh-TW" sz="3200" dirty="0" err="1" smtClean="0"/>
              <a:t>zy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+ </a:t>
            </a:r>
            <a:r>
              <a:rPr lang="en-US" altLang="zh-TW" sz="3200" dirty="0" err="1" smtClean="0"/>
              <a:t>x'yz</a:t>
            </a:r>
            <a:r>
              <a:rPr lang="en-US" altLang="zh-TW" sz="3200" dirty="0" smtClean="0"/>
              <a:t>'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sz="3200" dirty="0" smtClean="0"/>
              <a:t>  </a:t>
            </a:r>
            <a:r>
              <a:rPr lang="en-US" altLang="zh-TW" sz="3200" dirty="0" smtClean="0"/>
              <a:t>product of sums					</a:t>
            </a:r>
          </a:p>
          <a:p>
            <a:pPr marL="457200" lvl="1" indent="0" algn="ctr">
              <a:buNone/>
            </a:pPr>
            <a:r>
              <a:rPr lang="en-US" altLang="zh-TW" sz="3200" dirty="0" smtClean="0"/>
              <a:t>F</a:t>
            </a:r>
            <a:r>
              <a:rPr lang="en-US" altLang="zh-TW" sz="3200" baseline="-25000" dirty="0" smtClean="0"/>
              <a:t>2</a:t>
            </a:r>
            <a:r>
              <a:rPr lang="en-US" altLang="zh-TW" sz="3200" dirty="0" smtClean="0"/>
              <a:t> = x(y‘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z)(x’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y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z‘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w)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770556"/>
            <a:ext cx="12191999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>
                <a:solidFill>
                  <a:schemeClr val="bg1"/>
                </a:solidFill>
              </a:rPr>
              <a:t>Standard Forms</a:t>
            </a:r>
          </a:p>
        </p:txBody>
      </p:sp>
    </p:spTree>
    <p:extLst>
      <p:ext uri="{BB962C8B-B14F-4D97-AF65-F5344CB8AC3E}">
        <p14:creationId xmlns:p14="http://schemas.microsoft.com/office/powerpoint/2010/main" val="4167412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7E371D1-45C1-42C6-8FE0-9D18B56C2CEC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09" b="20745"/>
          <a:stretch/>
        </p:blipFill>
        <p:spPr>
          <a:xfrm>
            <a:off x="1768225" y="2145254"/>
            <a:ext cx="8655548" cy="468423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-92577" y="1457905"/>
            <a:ext cx="38699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/>
            <a:r>
              <a:rPr lang="en-US" altLang="zh-TW" sz="3200" dirty="0"/>
              <a:t>F</a:t>
            </a:r>
            <a:r>
              <a:rPr lang="en-US" altLang="zh-TW" sz="3200" baseline="-25000" dirty="0"/>
              <a:t>1 </a:t>
            </a:r>
            <a:r>
              <a:rPr lang="en-US" altLang="zh-TW" sz="3200" dirty="0"/>
              <a:t>= </a:t>
            </a:r>
            <a:r>
              <a:rPr lang="en-US" altLang="zh-TW" sz="3200" dirty="0" smtClean="0"/>
              <a:t>y’ </a:t>
            </a:r>
            <a:r>
              <a:rPr lang="en-US" altLang="zh-TW" sz="3200" dirty="0"/>
              <a:t>+ </a:t>
            </a:r>
            <a:r>
              <a:rPr lang="en-US" altLang="zh-TW" sz="3200" dirty="0" err="1"/>
              <a:t>zy</a:t>
            </a:r>
            <a:r>
              <a:rPr lang="zh-TW" altLang="en-US" sz="3200" dirty="0"/>
              <a:t> </a:t>
            </a:r>
            <a:r>
              <a:rPr lang="en-US" altLang="zh-TW" sz="3200" dirty="0"/>
              <a:t>+ </a:t>
            </a:r>
            <a:r>
              <a:rPr lang="en-US" altLang="zh-TW" sz="3200" dirty="0" err="1" smtClean="0"/>
              <a:t>x’yz</a:t>
            </a:r>
            <a:r>
              <a:rPr lang="en-US" altLang="zh-TW" sz="3200" dirty="0" smtClean="0"/>
              <a:t>’</a:t>
            </a:r>
            <a:endParaRPr lang="en-US" altLang="zh-TW" sz="3200" dirty="0"/>
          </a:p>
        </p:txBody>
      </p:sp>
      <p:sp>
        <p:nvSpPr>
          <p:cNvPr id="7" name="矩形 6"/>
          <p:cNvSpPr/>
          <p:nvPr/>
        </p:nvSpPr>
        <p:spPr>
          <a:xfrm>
            <a:off x="1" y="492970"/>
            <a:ext cx="12191999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Two-level implementation</a:t>
            </a:r>
            <a:endParaRPr lang="en-US" altLang="zh-TW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020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57E371D1-45C1-42C6-8FE0-9D18B56C2CEC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99" b="21698"/>
          <a:stretch/>
        </p:blipFill>
        <p:spPr>
          <a:xfrm>
            <a:off x="1999982" y="2220628"/>
            <a:ext cx="8192034" cy="4559753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0" y="476642"/>
            <a:ext cx="12191999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Two-level implementation</a:t>
            </a:r>
            <a:endParaRPr lang="en-US" altLang="zh-TW" sz="4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790" y="1440968"/>
            <a:ext cx="47852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/>
            <a:r>
              <a:rPr lang="en-US" altLang="zh-TW" sz="3200" dirty="0"/>
              <a:t>F</a:t>
            </a:r>
            <a:r>
              <a:rPr lang="en-US" altLang="zh-TW" sz="3200" baseline="-25000" dirty="0"/>
              <a:t>2</a:t>
            </a:r>
            <a:r>
              <a:rPr lang="en-US" altLang="zh-TW" sz="3200" dirty="0"/>
              <a:t> = x(y‘</a:t>
            </a:r>
            <a:r>
              <a:rPr lang="zh-TW" altLang="en-US" sz="3200" dirty="0"/>
              <a:t> </a:t>
            </a:r>
            <a:r>
              <a:rPr lang="en-US" altLang="zh-TW" sz="3200" dirty="0"/>
              <a:t>+</a:t>
            </a:r>
            <a:r>
              <a:rPr lang="zh-TW" altLang="en-US" sz="3200" dirty="0"/>
              <a:t> </a:t>
            </a:r>
            <a:r>
              <a:rPr lang="en-US" altLang="zh-TW" sz="3200" dirty="0"/>
              <a:t>z)(x’</a:t>
            </a:r>
            <a:r>
              <a:rPr lang="zh-TW" altLang="en-US" sz="3200" dirty="0"/>
              <a:t> </a:t>
            </a:r>
            <a:r>
              <a:rPr lang="en-US" altLang="zh-TW" sz="3200" dirty="0"/>
              <a:t>+</a:t>
            </a:r>
            <a:r>
              <a:rPr lang="zh-TW" altLang="en-US" sz="3200" dirty="0"/>
              <a:t> </a:t>
            </a:r>
            <a:r>
              <a:rPr lang="en-US" altLang="zh-TW" sz="3200" dirty="0"/>
              <a:t>y</a:t>
            </a:r>
            <a:r>
              <a:rPr lang="zh-TW" altLang="en-US" sz="3200" dirty="0"/>
              <a:t> </a:t>
            </a:r>
            <a:r>
              <a:rPr lang="en-US" altLang="zh-TW" sz="3200" dirty="0"/>
              <a:t>+</a:t>
            </a:r>
            <a:r>
              <a:rPr lang="zh-TW" altLang="en-US" sz="3200" dirty="0"/>
              <a:t> </a:t>
            </a:r>
            <a:r>
              <a:rPr lang="en-US" altLang="zh-TW" sz="3200" dirty="0" smtClean="0"/>
              <a:t>z)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3908698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1514" y="986819"/>
            <a:ext cx="856161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F</a:t>
            </a:r>
            <a:r>
              <a:rPr lang="en-US" altLang="zh-TW" sz="3200" baseline="-25000" dirty="0"/>
              <a:t>3</a:t>
            </a:r>
            <a:r>
              <a:rPr lang="en-US" altLang="zh-TW" sz="3200" dirty="0"/>
              <a:t> = </a:t>
            </a:r>
            <a:r>
              <a:rPr lang="en-US" altLang="zh-TW" sz="3200" i="1" dirty="0"/>
              <a:t>AB + C</a:t>
            </a:r>
            <a:r>
              <a:rPr lang="en-US" altLang="zh-TW" sz="3200" dirty="0"/>
              <a:t>(</a:t>
            </a:r>
            <a:r>
              <a:rPr lang="en-US" altLang="zh-TW" sz="3200" i="1" dirty="0"/>
              <a:t>D + E</a:t>
            </a:r>
            <a:r>
              <a:rPr lang="en-US" altLang="zh-TW" sz="3200" dirty="0"/>
              <a:t>)</a:t>
            </a:r>
            <a:r>
              <a:rPr lang="en-US" altLang="zh-TW" sz="3200" i="1" dirty="0"/>
              <a:t/>
            </a:r>
            <a:br>
              <a:rPr lang="en-US" altLang="zh-TW" sz="3200" i="1" dirty="0"/>
            </a:br>
            <a:r>
              <a:rPr lang="en-US" altLang="zh-TW" sz="3200" i="1" dirty="0"/>
              <a:t>     </a:t>
            </a:r>
            <a:r>
              <a:rPr lang="de-DE" altLang="zh-TW" sz="3200" dirty="0"/>
              <a:t>= </a:t>
            </a:r>
            <a:r>
              <a:rPr lang="de-DE" altLang="zh-TW" sz="3200" i="1" dirty="0"/>
              <a:t>AB + C</a:t>
            </a:r>
            <a:r>
              <a:rPr lang="de-DE" altLang="zh-TW" sz="3200" dirty="0"/>
              <a:t>(</a:t>
            </a:r>
            <a:r>
              <a:rPr lang="de-DE" altLang="zh-TW" sz="3200" i="1" dirty="0"/>
              <a:t>D + E</a:t>
            </a:r>
            <a:r>
              <a:rPr lang="de-DE" altLang="zh-TW" sz="3200" dirty="0"/>
              <a:t>) =</a:t>
            </a:r>
            <a:r>
              <a:rPr lang="de-DE" altLang="zh-TW" sz="3200" i="1" dirty="0"/>
              <a:t> AB + CD + CE</a:t>
            </a:r>
            <a:endParaRPr lang="zh-TW" altLang="en-US" sz="3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4322B5A-D983-4C59-BF63-AA93733926AD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844800"/>
            <a:ext cx="12223122" cy="40132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7522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770556"/>
            <a:ext cx="12191999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Other Logic Operations</a:t>
            </a:r>
            <a:endParaRPr lang="en-US" altLang="zh-TW" sz="44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86642" y="2477478"/>
            <a:ext cx="87167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/>
              <a:t>2</a:t>
            </a:r>
            <a:r>
              <a:rPr lang="en-US" altLang="zh-TW" sz="3600" baseline="40000" dirty="0"/>
              <a:t>n</a:t>
            </a:r>
            <a:r>
              <a:rPr lang="en-US" altLang="zh-TW" sz="3600" dirty="0"/>
              <a:t> rows in the truth table of n binary variables</a:t>
            </a:r>
          </a:p>
          <a:p>
            <a:pPr marL="571500" indent="-5715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/>
              <a:t>2</a:t>
            </a:r>
            <a:r>
              <a:rPr lang="zh-TW" altLang="en-US" sz="3600" baseline="30000" dirty="0"/>
              <a:t>2</a:t>
            </a:r>
            <a:r>
              <a:rPr lang="en-US" altLang="zh-TW" sz="3600" baseline="60000" dirty="0"/>
              <a:t>n</a:t>
            </a:r>
            <a:r>
              <a:rPr lang="en-US" altLang="zh-TW" sz="3600" dirty="0"/>
              <a:t> functions for n binary variables</a:t>
            </a:r>
          </a:p>
          <a:p>
            <a:pPr marL="571500" indent="-5715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/>
              <a:t>16 </a:t>
            </a:r>
            <a:r>
              <a:rPr lang="en-US" altLang="zh-TW" sz="3600" dirty="0"/>
              <a:t>functions of two binary variables</a:t>
            </a:r>
          </a:p>
        </p:txBody>
      </p:sp>
    </p:spTree>
    <p:extLst>
      <p:ext uri="{BB962C8B-B14F-4D97-AF65-F5344CB8AC3E}">
        <p14:creationId xmlns:p14="http://schemas.microsoft.com/office/powerpoint/2010/main" val="2607032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770556"/>
            <a:ext cx="12191999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 smtClean="0">
                <a:solidFill>
                  <a:schemeClr val="bg1"/>
                </a:solidFill>
              </a:rPr>
              <a:t>Other Logic Operations</a:t>
            </a:r>
            <a:endParaRPr lang="en-US" altLang="zh-TW" sz="4400" b="1" dirty="0">
              <a:solidFill>
                <a:schemeClr val="bg1"/>
              </a:solidFill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1617850" y="3543301"/>
            <a:ext cx="89562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5400" dirty="0" smtClean="0"/>
              <a:t>F(x, y)	= </a:t>
            </a:r>
            <a:r>
              <a:rPr lang="en-US" altLang="zh-TW" sz="5400" dirty="0" err="1" smtClean="0"/>
              <a:t>x’y</a:t>
            </a:r>
            <a:r>
              <a:rPr lang="en-US" altLang="zh-TW" sz="5400" dirty="0" smtClean="0"/>
              <a:t>’ + </a:t>
            </a:r>
            <a:r>
              <a:rPr lang="en-US" altLang="zh-TW" sz="5400" dirty="0" err="1" smtClean="0"/>
              <a:t>x’y</a:t>
            </a:r>
            <a:r>
              <a:rPr lang="en-US" altLang="zh-TW" sz="5400" dirty="0" smtClean="0"/>
              <a:t> + </a:t>
            </a:r>
            <a:r>
              <a:rPr lang="en-US" altLang="zh-TW" sz="5400" dirty="0" err="1" smtClean="0"/>
              <a:t>xy</a:t>
            </a:r>
            <a:r>
              <a:rPr lang="en-US" altLang="zh-TW" sz="5400" dirty="0" smtClean="0"/>
              <a:t>’ + </a:t>
            </a:r>
            <a:r>
              <a:rPr lang="en-US" altLang="zh-TW" sz="5400" dirty="0" err="1" smtClean="0"/>
              <a:t>xy</a:t>
            </a:r>
            <a:r>
              <a:rPr lang="en-US" altLang="zh-TW" sz="5400" dirty="0" smtClean="0"/>
              <a:t>	</a:t>
            </a:r>
            <a:endParaRPr lang="zh-TW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41709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9BB4DCED-59F2-45D0-86E8-FA89F3CFF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374"/>
            <a:ext cx="12166912" cy="3159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1067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C1D7AE0D-E6F9-4D9B-B0E1-5D7471F72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579" y="-47598"/>
            <a:ext cx="9323841" cy="6905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6404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id="{8E64AD8B-91C1-4CD3-ACD9-B0B1FA5BE5A7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55107" y="1"/>
            <a:ext cx="8499691" cy="68580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8406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3B8EFA4-ECF3-4215-A26E-C1ED5765B03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33828" y="0"/>
            <a:ext cx="8190503" cy="68580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7284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小水滴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小水滴</Template>
  <TotalTime>783</TotalTime>
  <Words>6815</Words>
  <Application>Microsoft Office PowerPoint</Application>
  <PresentationFormat>寬螢幕</PresentationFormat>
  <Paragraphs>4244</Paragraphs>
  <Slides>191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191</vt:i4>
      </vt:variant>
    </vt:vector>
  </HeadingPairs>
  <TitlesOfParts>
    <vt:vector size="201" baseType="lpstr">
      <vt:lpstr>新細明體</vt:lpstr>
      <vt:lpstr>Arial</vt:lpstr>
      <vt:lpstr>Berlin Sans FB Demi</vt:lpstr>
      <vt:lpstr>Comic Sans MS</vt:lpstr>
      <vt:lpstr>Forte</vt:lpstr>
      <vt:lpstr>Symbol</vt:lpstr>
      <vt:lpstr>Times New Roman</vt:lpstr>
      <vt:lpstr>Tw Cen MT</vt:lpstr>
      <vt:lpstr>Wingdings</vt:lpstr>
      <vt:lpstr>小水滴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Complement of a Function</vt:lpstr>
      <vt:lpstr>Complement of a Function</vt:lpstr>
      <vt:lpstr>Complement of a Function</vt:lpstr>
      <vt:lpstr>Complement of a Function</vt:lpstr>
      <vt:lpstr>Complement of a Function</vt:lpstr>
      <vt:lpstr>Complement of a Function</vt:lpstr>
      <vt:lpstr>Complement of a Function</vt:lpstr>
      <vt:lpstr>Complement of a Function</vt:lpstr>
      <vt:lpstr>Complement of a Function</vt:lpstr>
      <vt:lpstr>Complement of a Function</vt:lpstr>
      <vt:lpstr>Generalization of DeMorgan's theorem</vt:lpstr>
      <vt:lpstr>Generalization of DeMorgan's theorem</vt:lpstr>
      <vt:lpstr>Generalization of DeMorgan's theorem</vt:lpstr>
      <vt:lpstr>Generalization of DeMorgan's theorem</vt:lpstr>
      <vt:lpstr>Generalization of DeMorgan's theorem</vt:lpstr>
      <vt:lpstr>Generalization of DeMorgan's theorem</vt:lpstr>
      <vt:lpstr>Generalization of DeMorgan's theorem</vt:lpstr>
      <vt:lpstr>Generalization of DeMorgan's theorem</vt:lpstr>
      <vt:lpstr>Canonical and Standard Forms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user</cp:lastModifiedBy>
  <cp:revision>104</cp:revision>
  <dcterms:created xsi:type="dcterms:W3CDTF">2021-10-19T01:03:40Z</dcterms:created>
  <dcterms:modified xsi:type="dcterms:W3CDTF">2022-10-13T07:01:42Z</dcterms:modified>
</cp:coreProperties>
</file>