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sldIdLst>
    <p:sldId id="256" r:id="rId2"/>
    <p:sldId id="258" r:id="rId3"/>
    <p:sldId id="259" r:id="rId4"/>
    <p:sldId id="260" r:id="rId5"/>
    <p:sldId id="263" r:id="rId6"/>
    <p:sldId id="262" r:id="rId7"/>
    <p:sldId id="261" r:id="rId8"/>
    <p:sldId id="264" r:id="rId9"/>
    <p:sldId id="265" r:id="rId10"/>
    <p:sldId id="266" r:id="rId11"/>
    <p:sldId id="268" r:id="rId12"/>
    <p:sldId id="267" r:id="rId13"/>
    <p:sldId id="269" r:id="rId14"/>
    <p:sldId id="271" r:id="rId15"/>
    <p:sldId id="273" r:id="rId16"/>
    <p:sldId id="272" r:id="rId17"/>
    <p:sldId id="275" r:id="rId18"/>
    <p:sldId id="274" r:id="rId19"/>
    <p:sldId id="276" r:id="rId20"/>
    <p:sldId id="277" r:id="rId21"/>
    <p:sldId id="278" r:id="rId22"/>
    <p:sldId id="279" r:id="rId23"/>
    <p:sldId id="280" r:id="rId24"/>
    <p:sldId id="281" r:id="rId25"/>
    <p:sldId id="282" r:id="rId26"/>
    <p:sldId id="283" r:id="rId27"/>
    <p:sldId id="284" r:id="rId28"/>
    <p:sldId id="285" r:id="rId29"/>
    <p:sldId id="286" r:id="rId30"/>
    <p:sldId id="287" r:id="rId31"/>
    <p:sldId id="288" r:id="rId32"/>
    <p:sldId id="289" r:id="rId33"/>
    <p:sldId id="290" r:id="rId34"/>
    <p:sldId id="292" r:id="rId35"/>
    <p:sldId id="293" r:id="rId36"/>
    <p:sldId id="294" r:id="rId37"/>
    <p:sldId id="295" r:id="rId38"/>
    <p:sldId id="291" r:id="rId39"/>
    <p:sldId id="296" r:id="rId40"/>
    <p:sldId id="297" r:id="rId41"/>
    <p:sldId id="298" r:id="rId42"/>
    <p:sldId id="299" r:id="rId43"/>
    <p:sldId id="300" r:id="rId44"/>
    <p:sldId id="301" r:id="rId45"/>
    <p:sldId id="302" r:id="rId46"/>
    <p:sldId id="303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2" r:id="rId56"/>
    <p:sldId id="313" r:id="rId57"/>
    <p:sldId id="314" r:id="rId58"/>
    <p:sldId id="315" r:id="rId59"/>
    <p:sldId id="332" r:id="rId60"/>
    <p:sldId id="333" r:id="rId61"/>
    <p:sldId id="334" r:id="rId62"/>
    <p:sldId id="335" r:id="rId63"/>
    <p:sldId id="336" r:id="rId64"/>
    <p:sldId id="337" r:id="rId65"/>
    <p:sldId id="338" r:id="rId66"/>
    <p:sldId id="339" r:id="rId67"/>
    <p:sldId id="340" r:id="rId68"/>
    <p:sldId id="341" r:id="rId69"/>
    <p:sldId id="342" r:id="rId70"/>
    <p:sldId id="343" r:id="rId71"/>
    <p:sldId id="344" r:id="rId72"/>
    <p:sldId id="345" r:id="rId73"/>
    <p:sldId id="346" r:id="rId74"/>
    <p:sldId id="347" r:id="rId75"/>
    <p:sldId id="348" r:id="rId76"/>
    <p:sldId id="350" r:id="rId77"/>
    <p:sldId id="349" r:id="rId78"/>
    <p:sldId id="351" r:id="rId79"/>
    <p:sldId id="352" r:id="rId80"/>
    <p:sldId id="353" r:id="rId81"/>
    <p:sldId id="354" r:id="rId82"/>
    <p:sldId id="355" r:id="rId83"/>
    <p:sldId id="356" r:id="rId84"/>
    <p:sldId id="357" r:id="rId85"/>
    <p:sldId id="358" r:id="rId86"/>
    <p:sldId id="359" r:id="rId87"/>
    <p:sldId id="360" r:id="rId88"/>
    <p:sldId id="361" r:id="rId89"/>
    <p:sldId id="362" r:id="rId90"/>
    <p:sldId id="363" r:id="rId91"/>
    <p:sldId id="364" r:id="rId92"/>
    <p:sldId id="477" r:id="rId93"/>
    <p:sldId id="478" r:id="rId94"/>
    <p:sldId id="365" r:id="rId95"/>
    <p:sldId id="367" r:id="rId96"/>
    <p:sldId id="368" r:id="rId97"/>
    <p:sldId id="369" r:id="rId98"/>
    <p:sldId id="370" r:id="rId99"/>
    <p:sldId id="371" r:id="rId100"/>
    <p:sldId id="372" r:id="rId101"/>
    <p:sldId id="374" r:id="rId102"/>
    <p:sldId id="375" r:id="rId103"/>
    <p:sldId id="373" r:id="rId104"/>
    <p:sldId id="376" r:id="rId105"/>
    <p:sldId id="377" r:id="rId106"/>
    <p:sldId id="378" r:id="rId107"/>
    <p:sldId id="379" r:id="rId108"/>
    <p:sldId id="380" r:id="rId109"/>
    <p:sldId id="382" r:id="rId110"/>
    <p:sldId id="383" r:id="rId111"/>
    <p:sldId id="384" r:id="rId112"/>
    <p:sldId id="385" r:id="rId113"/>
    <p:sldId id="386" r:id="rId114"/>
    <p:sldId id="387" r:id="rId115"/>
    <p:sldId id="388" r:id="rId116"/>
    <p:sldId id="390" r:id="rId117"/>
    <p:sldId id="391" r:id="rId118"/>
    <p:sldId id="392" r:id="rId119"/>
    <p:sldId id="393" r:id="rId120"/>
    <p:sldId id="394" r:id="rId121"/>
    <p:sldId id="395" r:id="rId122"/>
    <p:sldId id="400" r:id="rId123"/>
    <p:sldId id="397" r:id="rId124"/>
    <p:sldId id="401" r:id="rId125"/>
    <p:sldId id="402" r:id="rId126"/>
    <p:sldId id="403" r:id="rId127"/>
    <p:sldId id="404" r:id="rId128"/>
    <p:sldId id="406" r:id="rId129"/>
    <p:sldId id="407" r:id="rId130"/>
    <p:sldId id="413" r:id="rId131"/>
    <p:sldId id="408" r:id="rId132"/>
    <p:sldId id="409" r:id="rId133"/>
    <p:sldId id="410" r:id="rId134"/>
    <p:sldId id="411" r:id="rId135"/>
    <p:sldId id="412" r:id="rId136"/>
    <p:sldId id="414" r:id="rId137"/>
    <p:sldId id="415" r:id="rId138"/>
    <p:sldId id="416" r:id="rId139"/>
    <p:sldId id="418" r:id="rId140"/>
    <p:sldId id="417" r:id="rId141"/>
    <p:sldId id="420" r:id="rId142"/>
    <p:sldId id="421" r:id="rId143"/>
    <p:sldId id="422" r:id="rId144"/>
    <p:sldId id="423" r:id="rId145"/>
    <p:sldId id="419" r:id="rId146"/>
    <p:sldId id="425" r:id="rId147"/>
    <p:sldId id="426" r:id="rId148"/>
    <p:sldId id="427" r:id="rId149"/>
    <p:sldId id="428" r:id="rId150"/>
    <p:sldId id="429" r:id="rId151"/>
    <p:sldId id="424" r:id="rId152"/>
    <p:sldId id="431" r:id="rId153"/>
    <p:sldId id="432" r:id="rId154"/>
    <p:sldId id="433" r:id="rId155"/>
    <p:sldId id="434" r:id="rId156"/>
    <p:sldId id="435" r:id="rId157"/>
    <p:sldId id="430" r:id="rId158"/>
    <p:sldId id="437" r:id="rId159"/>
    <p:sldId id="436" r:id="rId160"/>
    <p:sldId id="438" r:id="rId161"/>
    <p:sldId id="439" r:id="rId162"/>
    <p:sldId id="440" r:id="rId163"/>
    <p:sldId id="441" r:id="rId164"/>
    <p:sldId id="442" r:id="rId165"/>
    <p:sldId id="443" r:id="rId166"/>
    <p:sldId id="445" r:id="rId167"/>
    <p:sldId id="444" r:id="rId168"/>
    <p:sldId id="446" r:id="rId169"/>
    <p:sldId id="447" r:id="rId170"/>
    <p:sldId id="449" r:id="rId171"/>
    <p:sldId id="448" r:id="rId172"/>
    <p:sldId id="451" r:id="rId173"/>
    <p:sldId id="450" r:id="rId174"/>
    <p:sldId id="453" r:id="rId175"/>
    <p:sldId id="452" r:id="rId176"/>
    <p:sldId id="454" r:id="rId177"/>
    <p:sldId id="455" r:id="rId178"/>
    <p:sldId id="456" r:id="rId179"/>
    <p:sldId id="457" r:id="rId180"/>
    <p:sldId id="458" r:id="rId181"/>
    <p:sldId id="459" r:id="rId182"/>
    <p:sldId id="461" r:id="rId183"/>
    <p:sldId id="462" r:id="rId184"/>
    <p:sldId id="463" r:id="rId185"/>
    <p:sldId id="464" r:id="rId186"/>
    <p:sldId id="465" r:id="rId187"/>
    <p:sldId id="466" r:id="rId188"/>
    <p:sldId id="467" r:id="rId189"/>
    <p:sldId id="468" r:id="rId190"/>
    <p:sldId id="469" r:id="rId191"/>
    <p:sldId id="476" r:id="rId192"/>
    <p:sldId id="470" r:id="rId193"/>
    <p:sldId id="471" r:id="rId194"/>
    <p:sldId id="472" r:id="rId195"/>
    <p:sldId id="473" r:id="rId196"/>
    <p:sldId id="474" r:id="rId197"/>
    <p:sldId id="475" r:id="rId198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7" d="100"/>
          <a:sy n="117" d="100"/>
        </p:scale>
        <p:origin x="29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viewProps" Target="viewProps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theme" Target="theme/theme1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tableStyles" Target="tableStyles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Droplets-HD-Title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751012" y="1300785"/>
            <a:ext cx="8689976" cy="2509213"/>
          </a:xfrm>
        </p:spPr>
        <p:txBody>
          <a:bodyPr anchor="b">
            <a:normAutofit/>
          </a:bodyPr>
          <a:lstStyle>
            <a:lvl1pPr algn="ctr">
              <a:defRPr sz="48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751012" y="3886200"/>
            <a:ext cx="8689976" cy="1371599"/>
          </a:xfrm>
        </p:spPr>
        <p:txBody>
          <a:bodyPr>
            <a:normAutofit/>
          </a:bodyPr>
          <a:lstStyle>
            <a:lvl1pPr marL="0" indent="0" algn="ctr">
              <a:buNone/>
              <a:defRPr sz="22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smtClean="0"/>
              <a:t>按一下以編輯母片副標題樣式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sz="quarter" idx="13"/>
          </p:nvPr>
        </p:nvSpPr>
        <p:spPr>
          <a:xfrm>
            <a:off x="913774" y="2367092"/>
            <a:ext cx="10363826" cy="3424107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2736819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3657457"/>
            <a:ext cx="10351752" cy="1368183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sz="quarter" idx="13"/>
          </p:nvPr>
        </p:nvSpPr>
        <p:spPr>
          <a:xfrm>
            <a:off x="913774" y="2367092"/>
            <a:ext cx="5106026" cy="3424107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13" name="Content Placeholder 3"/>
          <p:cNvSpPr>
            <a:spLocks noGrp="1"/>
          </p:cNvSpPr>
          <p:nvPr>
            <p:ph sz="quarter" idx="14"/>
          </p:nvPr>
        </p:nvSpPr>
        <p:spPr>
          <a:xfrm>
            <a:off x="6172200" y="2367092"/>
            <a:ext cx="5105400" cy="3424107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46328" y="2371018"/>
            <a:ext cx="4873474" cy="679994"/>
          </a:xfrm>
        </p:spPr>
        <p:txBody>
          <a:bodyPr anchor="b">
            <a:noAutofit/>
          </a:bodyPr>
          <a:lstStyle>
            <a:lvl1pPr marL="0" indent="0">
              <a:lnSpc>
                <a:spcPct val="85000"/>
              </a:lnSpc>
              <a:buNone/>
              <a:defRPr sz="26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12" name="Content Placeholder 3"/>
          <p:cNvSpPr>
            <a:spLocks noGrp="1"/>
          </p:cNvSpPr>
          <p:nvPr>
            <p:ph sz="quarter" idx="13"/>
          </p:nvPr>
        </p:nvSpPr>
        <p:spPr>
          <a:xfrm>
            <a:off x="913774" y="3051012"/>
            <a:ext cx="5106027" cy="2740187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96423" y="2371018"/>
            <a:ext cx="4881804" cy="679994"/>
          </a:xfrm>
        </p:spPr>
        <p:txBody>
          <a:bodyPr anchor="b">
            <a:noAutofit/>
          </a:bodyPr>
          <a:lstStyle>
            <a:lvl1pPr marL="0" indent="0">
              <a:lnSpc>
                <a:spcPct val="85000"/>
              </a:lnSpc>
              <a:buNone/>
              <a:defRPr sz="26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13" name="Content Placeholder 5"/>
          <p:cNvSpPr>
            <a:spLocks noGrp="1"/>
          </p:cNvSpPr>
          <p:nvPr>
            <p:ph sz="quarter" idx="14"/>
          </p:nvPr>
        </p:nvSpPr>
        <p:spPr>
          <a:xfrm>
            <a:off x="6172200" y="3051012"/>
            <a:ext cx="5105401" cy="2740187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5" y="609600"/>
            <a:ext cx="3935688" cy="2023252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0" name="Content Placeholder 2"/>
          <p:cNvSpPr>
            <a:spLocks noGrp="1"/>
          </p:cNvSpPr>
          <p:nvPr>
            <p:ph sz="quarter" idx="13"/>
          </p:nvPr>
        </p:nvSpPr>
        <p:spPr>
          <a:xfrm>
            <a:off x="5078062" y="609600"/>
            <a:ext cx="6200163" cy="5181599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2632852"/>
            <a:ext cx="3935689" cy="3158348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609600"/>
            <a:ext cx="5934969" cy="2023254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24803" y="609601"/>
            <a:ext cx="3255358" cy="5181600"/>
          </a:xfrm>
          <a:prstGeom prst="roundRect">
            <a:avLst>
              <a:gd name="adj" fmla="val 4943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TW" altLang="en-US" smtClean="0"/>
              <a:t>按一下圖示以新增圖片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2632852"/>
            <a:ext cx="5934949" cy="3158347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全景圖片 (含標題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4" y="4289374"/>
            <a:ext cx="10364432" cy="81161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84744" y="698261"/>
            <a:ext cx="9822532" cy="3214136"/>
          </a:xfrm>
          <a:prstGeom prst="roundRect">
            <a:avLst>
              <a:gd name="adj" fmla="val 4944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/>
          <a:lstStyle>
            <a:lvl1pPr marL="0" indent="0" algn="ctr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TW" altLang="en-US" smtClean="0"/>
              <a:t>按一下圖示以新增圖片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5108728"/>
            <a:ext cx="10364452" cy="682472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標題與說明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609599"/>
            <a:ext cx="10364452" cy="3427245"/>
          </a:xfrm>
        </p:spPr>
        <p:txBody>
          <a:bodyPr anchor="ctr"/>
          <a:lstStyle>
            <a:lvl1pPr algn="ctr"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5" y="4204821"/>
            <a:ext cx="10364452" cy="1586380"/>
          </a:xfrm>
        </p:spPr>
        <p:txBody>
          <a:bodyPr anchor="ctr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引述 (含標題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6212" y="609600"/>
            <a:ext cx="9302752" cy="299290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3"/>
          </p:nvPr>
        </p:nvSpPr>
        <p:spPr>
          <a:xfrm>
            <a:off x="1720644" y="3610032"/>
            <a:ext cx="8752299" cy="59478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4372796"/>
            <a:ext cx="10364452" cy="1421053"/>
          </a:xfrm>
        </p:spPr>
        <p:txBody>
          <a:bodyPr anchor="ctr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1001488" y="75416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0557558" y="29935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名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5" y="2138721"/>
            <a:ext cx="10364452" cy="2511835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5" y="4662335"/>
            <a:ext cx="10364452" cy="1140644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913774" y="609600"/>
            <a:ext cx="10364452" cy="1605094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913774" y="2367093"/>
            <a:ext cx="3298976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13774" y="2943355"/>
            <a:ext cx="3298976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52389" y="2367093"/>
            <a:ext cx="3291521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441348" y="2943355"/>
            <a:ext cx="3303351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73298" y="2367093"/>
            <a:ext cx="3304928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7973298" y="2943355"/>
            <a:ext cx="3304928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圖片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0" name="Title 1"/>
          <p:cNvSpPr>
            <a:spLocks noGrp="1"/>
          </p:cNvSpPr>
          <p:nvPr>
            <p:ph type="title"/>
          </p:nvPr>
        </p:nvSpPr>
        <p:spPr>
          <a:xfrm>
            <a:off x="913774" y="610772"/>
            <a:ext cx="10364452" cy="1603922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913774" y="4204820"/>
            <a:ext cx="3296409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20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913774" y="2367093"/>
            <a:ext cx="3296409" cy="1524000"/>
          </a:xfrm>
          <a:prstGeom prst="roundRect">
            <a:avLst>
              <a:gd name="adj" fmla="val 9363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zh-TW" altLang="en-US" smtClean="0"/>
              <a:t>按一下圖示以新增圖片</a:t>
            </a:r>
            <a:endParaRPr 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half" idx="18"/>
          </p:nvPr>
        </p:nvSpPr>
        <p:spPr>
          <a:xfrm>
            <a:off x="913774" y="4781082"/>
            <a:ext cx="3296409" cy="101011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2759" y="4204820"/>
            <a:ext cx="3301828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23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4441348" y="2367093"/>
            <a:ext cx="3303352" cy="1524000"/>
          </a:xfrm>
          <a:prstGeom prst="roundRect">
            <a:avLst>
              <a:gd name="adj" fmla="val 8841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zh-TW" altLang="en-US" smtClean="0"/>
              <a:t>按一下圖示以新增圖片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441348" y="4781080"/>
            <a:ext cx="3303352" cy="1010119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73298" y="4204820"/>
            <a:ext cx="3300681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26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973298" y="2367093"/>
            <a:ext cx="3304928" cy="1524000"/>
          </a:xfrm>
          <a:prstGeom prst="roundRect">
            <a:avLst>
              <a:gd name="adj" fmla="val 8841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zh-TW" altLang="en-US" smtClean="0"/>
              <a:t>按一下圖示以新增圖片</a:t>
            </a:r>
            <a:endParaRPr 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half" idx="20"/>
          </p:nvPr>
        </p:nvSpPr>
        <p:spPr>
          <a:xfrm>
            <a:off x="7973173" y="4781078"/>
            <a:ext cx="3305053" cy="1010121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11" name="Vertical Text Placeholder 2"/>
          <p:cNvSpPr>
            <a:spLocks noGrp="1"/>
          </p:cNvSpPr>
          <p:nvPr>
            <p:ph type="body" orient="vert" sz="quarter" idx="13"/>
          </p:nvPr>
        </p:nvSpPr>
        <p:spPr>
          <a:xfrm>
            <a:off x="913775" y="2367093"/>
            <a:ext cx="10364452" cy="3424107"/>
          </a:xfrm>
        </p:spPr>
        <p:txBody>
          <a:bodyPr vert="eaVert"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609601"/>
            <a:ext cx="2553326" cy="5181599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8" name="Vertical Text Placeholder 2"/>
          <p:cNvSpPr>
            <a:spLocks noGrp="1"/>
          </p:cNvSpPr>
          <p:nvPr>
            <p:ph type="body" orient="vert" sz="quarter" idx="13"/>
          </p:nvPr>
        </p:nvSpPr>
        <p:spPr>
          <a:xfrm>
            <a:off x="913775" y="609601"/>
            <a:ext cx="7658724" cy="5181599"/>
          </a:xfrm>
        </p:spPr>
        <p:txBody>
          <a:bodyPr vert="eaVert"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dirty="0"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1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\\DROBO-FS\QuickDrops\JB\PPTX NG\Droplets\LightingOverlay.png"/>
          <p:cNvPicPr>
            <a:picLocks noChangeAspect="1" noChangeArrowheads="1"/>
          </p:cNvPicPr>
          <p:nvPr/>
        </p:nvPicPr>
        <p:blipFill>
          <a:blip r:embed="rId19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"/>
            <a:ext cx="12192003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smtClean="0"/>
              <a:t>按一下以編輯母片標題樣式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5" y="2367093"/>
            <a:ext cx="10364452" cy="34241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678737" y="58832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48A87A34-81AB-432B-8DAE-1953F412C126}" type="datetimeFigureOut">
              <a:rPr lang="en-US" dirty="0"/>
              <a:pPr/>
              <a:t>1/6/2022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13774" y="5883275"/>
            <a:ext cx="667288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14011" y="5883275"/>
            <a:ext cx="7642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6D22F896-40B5-4ADD-8801-0D06FADFA09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60" r:id="rId10"/>
    <p:sldLayoutId id="2147483661" r:id="rId11"/>
    <p:sldLayoutId id="2147483666" r:id="rId12"/>
    <p:sldLayoutId id="2147483663" r:id="rId13"/>
    <p:sldLayoutId id="2147483667" r:id="rId14"/>
    <p:sldLayoutId id="2147483668" r:id="rId15"/>
    <p:sldLayoutId id="2147483658" r:id="rId16"/>
    <p:sldLayoutId id="2147483659" r:id="rId17"/>
  </p:sldLayoutIdLst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3600" kern="1200" cap="all" baseline="0">
          <a:solidFill>
            <a:schemeClr val="tx1"/>
          </a:solidFill>
          <a:effectLst/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Clr>
          <a:schemeClr val="tx1"/>
        </a:buClr>
        <a:buFont typeface="Arial" panose="020B0604020202020204" pitchFamily="34" charset="0"/>
        <a:buChar char="•"/>
        <a:defRPr sz="20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8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6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emf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0" y="1470123"/>
            <a:ext cx="7004957" cy="45061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9">
            <a:extLst>
              <a:ext uri="{FF2B5EF4-FFF2-40B4-BE49-F238E27FC236}">
                <a16:creationId xmlns:a16="http://schemas.microsoft.com/office/drawing/2014/main" id="{64AC71EF-F0F2-4FFF-BE4F-71294A1FB2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271" r="47162"/>
          <a:stretch/>
        </p:blipFill>
        <p:spPr bwMode="auto">
          <a:xfrm>
            <a:off x="7151915" y="952918"/>
            <a:ext cx="5040085" cy="5023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8741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4391162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24174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063774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7142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7477450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09851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7477450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</p:txBody>
      </p:sp>
    </p:spTree>
    <p:extLst>
      <p:ext uri="{BB962C8B-B14F-4D97-AF65-F5344CB8AC3E}">
        <p14:creationId xmlns:p14="http://schemas.microsoft.com/office/powerpoint/2010/main" val="2926101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063774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</p:txBody>
      </p:sp>
    </p:spTree>
    <p:extLst>
      <p:ext uri="{BB962C8B-B14F-4D97-AF65-F5344CB8AC3E}">
        <p14:creationId xmlns:p14="http://schemas.microsoft.com/office/powerpoint/2010/main" val="2419289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063774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545304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722263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838685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782408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40223884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782408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127631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</p:txBody>
      </p:sp>
    </p:spTree>
    <p:extLst>
      <p:ext uri="{BB962C8B-B14F-4D97-AF65-F5344CB8AC3E}">
        <p14:creationId xmlns:p14="http://schemas.microsoft.com/office/powerpoint/2010/main" val="2160589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632097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127631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</p:txBody>
      </p:sp>
    </p:spTree>
    <p:extLst>
      <p:ext uri="{BB962C8B-B14F-4D97-AF65-F5344CB8AC3E}">
        <p14:creationId xmlns:p14="http://schemas.microsoft.com/office/powerpoint/2010/main" val="381262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782408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249402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910194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4144334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558919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617303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137416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257702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1918450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236688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9714285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41851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2841687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25381615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8467431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9580279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7440680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42751208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4284853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536627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0080832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614759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629410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7085230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7761628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2396499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565102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984500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0178769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4066637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380966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685206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0402969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256957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290627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715300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1338553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2349472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339921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2144908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920497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662970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0526115"/>
              </p:ext>
            </p:extLst>
          </p:nvPr>
        </p:nvGraphicFramePr>
        <p:xfrm>
          <a:off x="6310993" y="2176684"/>
          <a:ext cx="5815692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11658185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0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="1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7427" y="84756"/>
            <a:ext cx="546335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JK 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934148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8DB3C4D-BF75-4A6E-9DE7-EB10773E10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4" b="11684"/>
          <a:stretch/>
        </p:blipFill>
        <p:spPr bwMode="auto">
          <a:xfrm>
            <a:off x="65314" y="2816680"/>
            <a:ext cx="6168162" cy="3967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663358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2452980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2414257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542785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751224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4342132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4827047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850187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0818173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11680265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933178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190137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6302423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003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1296359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B</a:t>
            </a:r>
            <a:r>
              <a:rPr lang="en-US" altLang="zh-TW" sz="3200" dirty="0" smtClean="0">
                <a:sym typeface="Symbol" panose="05050102010706020507" pitchFamily="18" charset="2"/>
              </a:rPr>
              <a:t>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38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2797393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Ax</a:t>
            </a:r>
            <a:endParaRPr lang="en-US" altLang="zh-TW" sz="3200" b="1" dirty="0">
              <a:solidFill>
                <a:srgbClr val="C00000"/>
              </a:solidFill>
            </a:endParaRPr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49685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4551002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JA’ + K’A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740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5765840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0042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888812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x’B</a:t>
            </a:r>
            <a:r>
              <a:rPr lang="en-US" altLang="zh-TW" sz="3200" dirty="0" smtClean="0"/>
              <a:t>’ + (A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x)’B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2913768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2933308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b="1" dirty="0" err="1" smtClean="0">
                <a:solidFill>
                  <a:srgbClr val="C00000"/>
                </a:solidFill>
              </a:rPr>
              <a:t>B’x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’</a:t>
            </a:r>
            <a:r>
              <a:rPr lang="en-US" altLang="zh-TW" sz="3200" dirty="0" smtClean="0"/>
              <a:t> + (A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x)’B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165569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042603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B’x</a:t>
            </a:r>
            <a:r>
              <a:rPr lang="en-US" altLang="zh-TW" sz="3200" dirty="0" smtClean="0"/>
              <a:t>’ +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(A 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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x)</a:t>
            </a:r>
            <a:r>
              <a:rPr lang="en-US" altLang="zh-TW" sz="3200" dirty="0" smtClean="0"/>
              <a:t>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784330"/>
              </p:ext>
            </p:extLst>
          </p:nvPr>
        </p:nvGraphicFramePr>
        <p:xfrm>
          <a:off x="9861712" y="2816764"/>
          <a:ext cx="841668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1668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4433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213668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B’x</a:t>
            </a:r>
            <a:r>
              <a:rPr lang="en-US" altLang="zh-TW" sz="3200" dirty="0" smtClean="0"/>
              <a:t>’ +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(A 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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x)’</a:t>
            </a:r>
            <a:r>
              <a:rPr lang="en-US" altLang="zh-TW" sz="3200" dirty="0" smtClean="0"/>
              <a:t>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239946"/>
              </p:ext>
            </p:extLst>
          </p:nvPr>
        </p:nvGraphicFramePr>
        <p:xfrm>
          <a:off x="9861712" y="2816764"/>
          <a:ext cx="841668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1668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  <p:graphicFrame>
        <p:nvGraphicFramePr>
          <p:cNvPr id="14" name="表格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0530178"/>
              </p:ext>
            </p:extLst>
          </p:nvPr>
        </p:nvGraphicFramePr>
        <p:xfrm>
          <a:off x="10703380" y="2816764"/>
          <a:ext cx="1012370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2370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(A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x)’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1780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565980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B’x</a:t>
            </a:r>
            <a:r>
              <a:rPr lang="en-US" altLang="zh-TW" sz="3200" dirty="0" smtClean="0"/>
              <a:t>’ +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(A 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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x)’B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239946"/>
              </p:ext>
            </p:extLst>
          </p:nvPr>
        </p:nvGraphicFramePr>
        <p:xfrm>
          <a:off x="9861712" y="2816764"/>
          <a:ext cx="841668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1668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  <p:graphicFrame>
        <p:nvGraphicFramePr>
          <p:cNvPr id="14" name="表格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1868865"/>
              </p:ext>
            </p:extLst>
          </p:nvPr>
        </p:nvGraphicFramePr>
        <p:xfrm>
          <a:off x="10703380" y="2816764"/>
          <a:ext cx="1012370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2370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(A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x)’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7827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267944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1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B’x</a:t>
            </a:r>
            <a:r>
              <a:rPr lang="en-US" altLang="zh-TW" sz="3200" dirty="0" smtClean="0"/>
              <a:t>’ +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(A </a:t>
            </a:r>
            <a:r>
              <a:rPr lang="en-US" altLang="zh-TW" sz="3200" b="1" dirty="0" smtClean="0">
                <a:solidFill>
                  <a:srgbClr val="C00000"/>
                </a:solidFill>
                <a:sym typeface="Symbol" panose="05050102010706020507" pitchFamily="18" charset="2"/>
              </a:rPr>
              <a:t>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x)’B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239946"/>
              </p:ext>
            </p:extLst>
          </p:nvPr>
        </p:nvGraphicFramePr>
        <p:xfrm>
          <a:off x="9861712" y="2816764"/>
          <a:ext cx="841668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1668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  <p:graphicFrame>
        <p:nvGraphicFramePr>
          <p:cNvPr id="14" name="表格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8097273"/>
              </p:ext>
            </p:extLst>
          </p:nvPr>
        </p:nvGraphicFramePr>
        <p:xfrm>
          <a:off x="10703380" y="2816764"/>
          <a:ext cx="1012370" cy="396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2370">
                  <a:extLst>
                    <a:ext uri="{9D8B030D-6E8A-4147-A177-3AD203B41FA5}">
                      <a16:colId xmlns:a16="http://schemas.microsoft.com/office/drawing/2014/main" val="1084615999"/>
                    </a:ext>
                  </a:extLst>
                </a:gridCol>
              </a:tblGrid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(A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  <a:sym typeface="Symbol" panose="05050102010706020507" pitchFamily="18" charset="2"/>
                        </a:rPr>
                        <a:t> </a:t>
                      </a:r>
                      <a:r>
                        <a:rPr lang="en-US" altLang="zh-TW" sz="1800" dirty="0" smtClean="0">
                          <a:solidFill>
                            <a:schemeClr val="tx1"/>
                          </a:solidFill>
                        </a:rPr>
                        <a:t>x)’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09858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79396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775755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32163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927090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63137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25770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13040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004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6878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109942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6310993" y="172683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equations</a:t>
            </a:r>
          </a:p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B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</a:t>
            </a:r>
            <a:endParaRPr lang="zh-TW" altLang="en-US" sz="3200" dirty="0"/>
          </a:p>
        </p:txBody>
      </p:sp>
      <p:sp>
        <p:nvSpPr>
          <p:cNvPr id="8" name="文字方塊 7"/>
          <p:cNvSpPr txBox="1"/>
          <p:nvPr/>
        </p:nvSpPr>
        <p:spPr>
          <a:xfrm>
            <a:off x="9421586" y="665125"/>
            <a:ext cx="204575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x’</a:t>
            </a:r>
          </a:p>
          <a:p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= 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</a:t>
            </a:r>
            <a:endParaRPr lang="zh-TW" altLang="en-US" sz="3200" dirty="0"/>
          </a:p>
        </p:txBody>
      </p:sp>
      <p:sp>
        <p:nvSpPr>
          <p:cNvPr id="9" name="矩形 8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10" name="矩形 9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Q(t + 1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JQ’ + K’Q</a:t>
            </a:r>
            <a:endParaRPr lang="en-US" altLang="zh-TW" sz="3200" dirty="0"/>
          </a:p>
        </p:txBody>
      </p:sp>
      <p:sp>
        <p:nvSpPr>
          <p:cNvPr id="11" name="矩形 10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JB’ + K’B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80505" y="2481005"/>
            <a:ext cx="448540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BA‘ + 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’)’A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r>
              <a:rPr lang="en-US" altLang="zh-TW" sz="3200" dirty="0"/>
              <a:t>= BA‘ + </a:t>
            </a:r>
            <a:r>
              <a:rPr lang="en-US" altLang="zh-TW" sz="3200" dirty="0" smtClean="0"/>
              <a:t>B’A + Ax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A</a:t>
            </a:r>
            <a:r>
              <a:rPr lang="en-US" altLang="zh-TW" sz="3200" dirty="0" smtClean="0">
                <a:sym typeface="Symbol" panose="05050102010706020507" pitchFamily="18" charset="2"/>
              </a:rPr>
              <a:t>B + Ax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80505" y="4050665"/>
            <a:ext cx="56610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B(t + 1)	= </a:t>
            </a:r>
            <a:r>
              <a:rPr lang="en-US" altLang="zh-TW" sz="3200" dirty="0" err="1" smtClean="0"/>
              <a:t>B’x</a:t>
            </a:r>
            <a:r>
              <a:rPr lang="en-US" altLang="zh-TW" sz="3200" dirty="0" smtClean="0"/>
              <a:t>’ + (A </a:t>
            </a:r>
            <a:r>
              <a:rPr lang="en-US" altLang="zh-TW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/>
              <a:t>x)’B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473880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4960564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4" name="Picture 1">
            <a:extLst>
              <a:ext uri="{FF2B5EF4-FFF2-40B4-BE49-F238E27FC236}">
                <a16:creationId xmlns:a16="http://schemas.microsoft.com/office/drawing/2014/main" id="{992447BD-C478-42BC-B38A-5A597381E4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95" r="1421" b="15308"/>
          <a:stretch/>
        </p:blipFill>
        <p:spPr bwMode="auto">
          <a:xfrm>
            <a:off x="1289958" y="1742343"/>
            <a:ext cx="4188278" cy="48702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61985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722022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4" name="Picture 1">
            <a:extLst>
              <a:ext uri="{FF2B5EF4-FFF2-40B4-BE49-F238E27FC236}">
                <a16:creationId xmlns:a16="http://schemas.microsoft.com/office/drawing/2014/main" id="{992447BD-C478-42BC-B38A-5A597381E4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95" r="1421" b="15308"/>
          <a:stretch/>
        </p:blipFill>
        <p:spPr bwMode="auto">
          <a:xfrm>
            <a:off x="1289958" y="1742343"/>
            <a:ext cx="4188278" cy="48702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37067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7801010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4" name="Picture 1">
            <a:extLst>
              <a:ext uri="{FF2B5EF4-FFF2-40B4-BE49-F238E27FC236}">
                <a16:creationId xmlns:a16="http://schemas.microsoft.com/office/drawing/2014/main" id="{992447BD-C478-42BC-B38A-5A597381E4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95" r="1421" b="15308"/>
          <a:stretch/>
        </p:blipFill>
        <p:spPr bwMode="auto">
          <a:xfrm>
            <a:off x="1289958" y="1742343"/>
            <a:ext cx="4188278" cy="48702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7894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04959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4" name="Picture 1">
            <a:extLst>
              <a:ext uri="{FF2B5EF4-FFF2-40B4-BE49-F238E27FC236}">
                <a16:creationId xmlns:a16="http://schemas.microsoft.com/office/drawing/2014/main" id="{992447BD-C478-42BC-B38A-5A597381E4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95" r="1421" b="15308"/>
          <a:stretch/>
        </p:blipFill>
        <p:spPr bwMode="auto">
          <a:xfrm>
            <a:off x="1289958" y="1742343"/>
            <a:ext cx="4188278" cy="48702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3373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4696808"/>
              </p:ext>
            </p:extLst>
          </p:nvPr>
        </p:nvGraphicFramePr>
        <p:xfrm>
          <a:off x="6310993" y="2176684"/>
          <a:ext cx="3281296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6188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46188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21722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599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4" name="Picture 1">
            <a:extLst>
              <a:ext uri="{FF2B5EF4-FFF2-40B4-BE49-F238E27FC236}">
                <a16:creationId xmlns:a16="http://schemas.microsoft.com/office/drawing/2014/main" id="{992447BD-C478-42BC-B38A-5A597381E4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95" r="1421" b="15308"/>
          <a:stretch/>
        </p:blipFill>
        <p:spPr bwMode="auto">
          <a:xfrm>
            <a:off x="1289958" y="1742343"/>
            <a:ext cx="4188278" cy="48702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38097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矩形 5"/>
          <p:cNvSpPr/>
          <p:nvPr/>
        </p:nvSpPr>
        <p:spPr>
          <a:xfrm>
            <a:off x="5421203" y="2432958"/>
            <a:ext cx="3600450" cy="409847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2F474A5-569E-404A-BB38-60D4B292F44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681"/>
          <a:stretch/>
        </p:blipFill>
        <p:spPr bwMode="auto">
          <a:xfrm>
            <a:off x="5153705" y="2163536"/>
            <a:ext cx="6921274" cy="43678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90720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5358438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8665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5358438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7649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文字方塊 5"/>
          <p:cNvSpPr txBox="1"/>
          <p:nvPr/>
        </p:nvSpPr>
        <p:spPr>
          <a:xfrm>
            <a:off x="7018596" y="60262"/>
            <a:ext cx="369543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Output equation</a:t>
            </a:r>
          </a:p>
          <a:p>
            <a:r>
              <a:rPr lang="en-US" altLang="zh-TW" sz="3200" b="1" dirty="0" smtClean="0"/>
              <a:t>y = AB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1939289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18603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文字方塊 5"/>
          <p:cNvSpPr txBox="1"/>
          <p:nvPr/>
        </p:nvSpPr>
        <p:spPr>
          <a:xfrm>
            <a:off x="7018596" y="60262"/>
            <a:ext cx="369543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Output equation</a:t>
            </a:r>
          </a:p>
          <a:p>
            <a:r>
              <a:rPr lang="en-US" altLang="zh-TW" sz="3200" b="1" dirty="0" smtClean="0"/>
              <a:t>y = AB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358126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0358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文字方塊 5"/>
          <p:cNvSpPr txBox="1"/>
          <p:nvPr/>
        </p:nvSpPr>
        <p:spPr>
          <a:xfrm>
            <a:off x="7018596" y="60262"/>
            <a:ext cx="369543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Output equation</a:t>
            </a:r>
          </a:p>
          <a:p>
            <a:r>
              <a:rPr lang="en-US" altLang="zh-TW" sz="3200" b="1" dirty="0" smtClean="0"/>
              <a:t>y = AB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358126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70047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062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29736181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2604801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23317023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285224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7308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389649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681735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3604352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681735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1154575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641735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776920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641735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4082622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4285501"/>
              </p:ext>
            </p:extLst>
          </p:nvPr>
        </p:nvGraphicFramePr>
        <p:xfrm>
          <a:off x="6270173" y="2160354"/>
          <a:ext cx="558437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4080909134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438989921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 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T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2306550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266991" y="60262"/>
            <a:ext cx="5040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600" b="1" dirty="0">
                <a:solidFill>
                  <a:srgbClr val="C00000"/>
                </a:solidFill>
              </a:rPr>
              <a:t>Analysis with T flip-flops</a:t>
            </a:r>
            <a:endParaRPr lang="zh-TW" altLang="en-US" sz="3600" b="1" dirty="0">
              <a:solidFill>
                <a:srgbClr val="C00000"/>
              </a:solidFill>
            </a:endParaRPr>
          </a:p>
        </p:txBody>
      </p:sp>
      <p:pic>
        <p:nvPicPr>
          <p:cNvPr id="5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451"/>
          <a:stretch/>
        </p:blipFill>
        <p:spPr bwMode="auto">
          <a:xfrm>
            <a:off x="160854" y="899659"/>
            <a:ext cx="8860799" cy="586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804522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</p:spTree>
    <p:extLst>
      <p:ext uri="{BB962C8B-B14F-4D97-AF65-F5344CB8AC3E}">
        <p14:creationId xmlns:p14="http://schemas.microsoft.com/office/powerpoint/2010/main" val="35424715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201337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138383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201337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A(t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TA’ + T’A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954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6125567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A(t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TA’ + T’A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</p:txBody>
      </p:sp>
    </p:spTree>
    <p:extLst>
      <p:ext uri="{BB962C8B-B14F-4D97-AF65-F5344CB8AC3E}">
        <p14:creationId xmlns:p14="http://schemas.microsoft.com/office/powerpoint/2010/main" val="16873499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9857017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A(t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TA’ + T’A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935211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A(t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TA’ + T’A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0739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A(t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TA’ + T’A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93119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TB’ + T’B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9343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TB’ + T’B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r>
              <a:rPr lang="en-US" altLang="zh-TW" sz="3200" dirty="0"/>
              <a:t>A(t + 1)	= </a:t>
            </a:r>
            <a:r>
              <a:rPr lang="en-US" altLang="zh-TW" sz="3200" dirty="0" err="1" smtClean="0"/>
              <a:t>xB</a:t>
            </a:r>
            <a:r>
              <a:rPr lang="en-US" altLang="zh-TW" sz="3200" dirty="0" smtClean="0"/>
              <a:t>’ </a:t>
            </a:r>
            <a:r>
              <a:rPr lang="en-US" altLang="zh-TW" sz="3200" dirty="0"/>
              <a:t>+ </a:t>
            </a:r>
            <a:r>
              <a:rPr lang="en-US" altLang="zh-TW" sz="3200" dirty="0" err="1" smtClean="0"/>
              <a:t>x’B</a:t>
            </a:r>
            <a:endParaRPr lang="en-US" altLang="zh-TW" sz="3200" dirty="0" smtClean="0"/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B</a:t>
            </a:r>
            <a:r>
              <a:rPr lang="zh-TW" altLang="en-US" sz="3200" dirty="0" smtClean="0"/>
              <a:t> </a:t>
            </a:r>
            <a:r>
              <a:rPr lang="zh-TW" altLang="en-US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>
                <a:sym typeface="Symbol" panose="05050102010706020507" pitchFamily="18" charset="2"/>
              </a:rPr>
              <a:t>x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77565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7008204" y="114829"/>
            <a:ext cx="5173404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200" b="1" dirty="0">
                <a:solidFill>
                  <a:srgbClr val="0000FF"/>
                </a:solidFill>
              </a:rPr>
              <a:t>The Flip-Flop input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equations</a:t>
            </a:r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A</a:t>
            </a:r>
            <a:r>
              <a:rPr lang="en-US" altLang="zh-TW" sz="3200" b="1" dirty="0"/>
              <a:t> = </a:t>
            </a:r>
            <a:r>
              <a:rPr lang="en-US" altLang="zh-TW" sz="3200" b="1" dirty="0" err="1" smtClean="0"/>
              <a:t>Bx</a:t>
            </a:r>
            <a:endParaRPr lang="en-US" altLang="zh-TW" sz="3200" b="1" dirty="0" smtClean="0"/>
          </a:p>
          <a:p>
            <a:r>
              <a:rPr lang="en-US" altLang="zh-TW" sz="3200" b="1" dirty="0"/>
              <a:t>T</a:t>
            </a:r>
            <a:r>
              <a:rPr lang="en-US" altLang="zh-TW" sz="3200" b="1" baseline="-25000" dirty="0"/>
              <a:t>B</a:t>
            </a:r>
            <a:r>
              <a:rPr lang="en-US" altLang="zh-TW" sz="3200" b="1" dirty="0"/>
              <a:t> = </a:t>
            </a:r>
            <a:r>
              <a:rPr lang="en-US" altLang="zh-TW" sz="3200" b="1" dirty="0" smtClean="0"/>
              <a:t>x</a:t>
            </a:r>
            <a:endParaRPr lang="en-US" altLang="zh-TW" sz="3200" b="1" dirty="0"/>
          </a:p>
        </p:txBody>
      </p:sp>
      <p:sp>
        <p:nvSpPr>
          <p:cNvPr id="6" name="矩形 5"/>
          <p:cNvSpPr/>
          <p:nvPr/>
        </p:nvSpPr>
        <p:spPr>
          <a:xfrm>
            <a:off x="380505" y="172683"/>
            <a:ext cx="42573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Characteristic Equations</a:t>
            </a:r>
          </a:p>
        </p:txBody>
      </p:sp>
      <p:sp>
        <p:nvSpPr>
          <p:cNvPr id="9" name="矩形 8"/>
          <p:cNvSpPr/>
          <p:nvPr/>
        </p:nvSpPr>
        <p:spPr>
          <a:xfrm>
            <a:off x="380505" y="665125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ct val="0"/>
              </a:spcBef>
            </a:pPr>
            <a:r>
              <a:rPr lang="en-US" altLang="zh-TW" sz="3200" dirty="0" smtClean="0"/>
              <a:t>Q(t + 1) = TQ’+T’Q</a:t>
            </a:r>
            <a:endParaRPr lang="en-US" altLang="zh-TW" sz="3200" dirty="0"/>
          </a:p>
        </p:txBody>
      </p:sp>
      <p:sp>
        <p:nvSpPr>
          <p:cNvPr id="10" name="矩形 9"/>
          <p:cNvSpPr/>
          <p:nvPr/>
        </p:nvSpPr>
        <p:spPr>
          <a:xfrm>
            <a:off x="380505" y="1249900"/>
            <a:ext cx="397328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>
                <a:solidFill>
                  <a:srgbClr val="0000FF"/>
                </a:solidFill>
              </a:rPr>
              <a:t>B(t + 1</a:t>
            </a:r>
            <a:r>
              <a:rPr lang="en-US" altLang="zh-TW" sz="3200" dirty="0">
                <a:solidFill>
                  <a:srgbClr val="0000FF"/>
                </a:solidFill>
              </a:rPr>
              <a:t>) = </a:t>
            </a:r>
            <a:r>
              <a:rPr lang="en-US" altLang="zh-TW" sz="3200" dirty="0" smtClean="0">
                <a:solidFill>
                  <a:srgbClr val="0000FF"/>
                </a:solidFill>
              </a:rPr>
              <a:t>TB’ + T’B</a:t>
            </a:r>
            <a:endParaRPr lang="en-US" altLang="zh-TW" sz="3200" dirty="0">
              <a:solidFill>
                <a:srgbClr val="0000FF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80505" y="2481005"/>
            <a:ext cx="5040581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2"/>
            <a:r>
              <a:rPr lang="en-US" altLang="zh-TW" sz="3200" dirty="0" smtClean="0"/>
              <a:t>A(t + 1)	= </a:t>
            </a:r>
            <a:r>
              <a:rPr lang="en-US" altLang="zh-TW" sz="3200" dirty="0" err="1" smtClean="0"/>
              <a:t>BxA</a:t>
            </a:r>
            <a:r>
              <a:rPr lang="en-US" altLang="zh-TW" sz="3200" dirty="0"/>
              <a:t>’ + </a:t>
            </a:r>
            <a:r>
              <a:rPr lang="en-US" altLang="zh-TW" sz="3200" dirty="0" smtClean="0"/>
              <a:t>(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)’A</a:t>
            </a:r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</a:t>
            </a:r>
            <a:r>
              <a:rPr lang="en-US" altLang="zh-TW" sz="3200" dirty="0" err="1" smtClean="0"/>
              <a:t>A’Bx</a:t>
            </a:r>
            <a:r>
              <a:rPr lang="en-US" altLang="zh-TW" sz="3200" dirty="0" smtClean="0"/>
              <a:t> + AB’ + Ax’</a:t>
            </a:r>
            <a:endParaRPr lang="en-US" altLang="zh-TW" sz="3200" dirty="0"/>
          </a:p>
          <a:p>
            <a:pPr marL="0" lvl="2"/>
            <a:r>
              <a:rPr lang="en-US" altLang="zh-TW" sz="3200" dirty="0"/>
              <a:t>A(t + 1)	= </a:t>
            </a:r>
            <a:r>
              <a:rPr lang="en-US" altLang="zh-TW" sz="3200" dirty="0" err="1" smtClean="0"/>
              <a:t>xB</a:t>
            </a:r>
            <a:r>
              <a:rPr lang="en-US" altLang="zh-TW" sz="3200" dirty="0" smtClean="0"/>
              <a:t>’ </a:t>
            </a:r>
            <a:r>
              <a:rPr lang="en-US" altLang="zh-TW" sz="3200" dirty="0"/>
              <a:t>+ </a:t>
            </a:r>
            <a:r>
              <a:rPr lang="en-US" altLang="zh-TW" sz="3200" dirty="0" err="1" smtClean="0"/>
              <a:t>x’B</a:t>
            </a:r>
            <a:endParaRPr lang="en-US" altLang="zh-TW" sz="3200" dirty="0" smtClean="0"/>
          </a:p>
          <a:p>
            <a:pPr marL="0" lvl="2"/>
            <a:r>
              <a:rPr lang="en-US" altLang="zh-TW" sz="3200" dirty="0"/>
              <a:t>	</a:t>
            </a:r>
            <a:r>
              <a:rPr lang="en-US" altLang="zh-TW" sz="3200" dirty="0" smtClean="0"/>
              <a:t>		= B</a:t>
            </a:r>
            <a:r>
              <a:rPr lang="zh-TW" altLang="en-US" sz="3200" dirty="0" smtClean="0"/>
              <a:t> </a:t>
            </a:r>
            <a:r>
              <a:rPr lang="zh-TW" altLang="en-US" sz="3200" dirty="0" smtClean="0">
                <a:sym typeface="Symbol" panose="05050102010706020507" pitchFamily="18" charset="2"/>
              </a:rPr>
              <a:t> </a:t>
            </a:r>
            <a:r>
              <a:rPr lang="en-US" altLang="zh-TW" sz="3200" dirty="0" smtClean="0">
                <a:sym typeface="Symbol" panose="05050102010706020507" pitchFamily="18" charset="2"/>
              </a:rPr>
              <a:t>x</a:t>
            </a:r>
            <a:endParaRPr lang="en-US" altLang="zh-TW" sz="3200" dirty="0"/>
          </a:p>
        </p:txBody>
      </p:sp>
      <p:sp>
        <p:nvSpPr>
          <p:cNvPr id="12" name="矩形 11"/>
          <p:cNvSpPr/>
          <p:nvPr/>
        </p:nvSpPr>
        <p:spPr>
          <a:xfrm>
            <a:off x="380505" y="1896230"/>
            <a:ext cx="28075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3200" b="1" dirty="0">
                <a:solidFill>
                  <a:srgbClr val="C00000"/>
                </a:solidFill>
              </a:rPr>
              <a:t>State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Equations</a:t>
            </a:r>
            <a:endParaRPr lang="zh-TW" alt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43525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618464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3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55" t="30971" b="17681"/>
          <a:stretch/>
        </p:blipFill>
        <p:spPr bwMode="auto">
          <a:xfrm>
            <a:off x="1428749" y="1975757"/>
            <a:ext cx="3706586" cy="465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39928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0200418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3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55" t="30971" b="17681"/>
          <a:stretch/>
        </p:blipFill>
        <p:spPr bwMode="auto">
          <a:xfrm>
            <a:off x="1428749" y="1975757"/>
            <a:ext cx="3706586" cy="465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4924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378412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3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55" t="30971" b="17681"/>
          <a:stretch/>
        </p:blipFill>
        <p:spPr bwMode="auto">
          <a:xfrm>
            <a:off x="1428749" y="1975757"/>
            <a:ext cx="3706586" cy="465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14108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151161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3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55" t="30971" b="17681"/>
          <a:stretch/>
        </p:blipFill>
        <p:spPr bwMode="auto">
          <a:xfrm>
            <a:off x="1428749" y="1975757"/>
            <a:ext cx="3706586" cy="465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74457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26015"/>
              </p:ext>
            </p:extLst>
          </p:nvPr>
        </p:nvGraphicFramePr>
        <p:xfrm>
          <a:off x="6270173" y="2160354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13" name="Picture 8">
            <a:extLst>
              <a:ext uri="{FF2B5EF4-FFF2-40B4-BE49-F238E27FC236}">
                <a16:creationId xmlns:a16="http://schemas.microsoft.com/office/drawing/2014/main" id="{DACC365B-9ABE-47CD-BD2C-F2B8356C90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55" t="30971" b="17681"/>
          <a:stretch/>
        </p:blipFill>
        <p:spPr bwMode="auto">
          <a:xfrm>
            <a:off x="1428749" y="1975757"/>
            <a:ext cx="3706586" cy="465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936883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09958" y="117413"/>
            <a:ext cx="675005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Mealy and Moore models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sp>
        <p:nvSpPr>
          <p:cNvPr id="5" name="矩形 4"/>
          <p:cNvSpPr/>
          <p:nvPr/>
        </p:nvSpPr>
        <p:spPr>
          <a:xfrm>
            <a:off x="925285" y="1311746"/>
            <a:ext cx="10945586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TW" sz="3200" b="1" dirty="0" smtClean="0"/>
              <a:t>The </a:t>
            </a:r>
            <a:r>
              <a:rPr lang="en-US" altLang="zh-TW" sz="3200" b="1" dirty="0"/>
              <a:t>Mealy model: </a:t>
            </a:r>
            <a:r>
              <a:rPr lang="en-US" altLang="zh-TW" sz="3200" dirty="0"/>
              <a:t>the outputs are functions of both the present state and inputs </a:t>
            </a:r>
            <a:endParaRPr lang="en-US" altLang="zh-TW" sz="3200" dirty="0" smtClean="0"/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200" dirty="0" smtClean="0"/>
              <a:t>The </a:t>
            </a:r>
            <a:r>
              <a:rPr lang="en-US" altLang="zh-TW" sz="3200" dirty="0"/>
              <a:t>outputs may change if the inputs change during the clock pulse </a:t>
            </a:r>
            <a:r>
              <a:rPr lang="en-US" altLang="zh-TW" sz="3200" dirty="0" smtClean="0"/>
              <a:t>period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200" dirty="0" smtClean="0"/>
              <a:t>The </a:t>
            </a:r>
            <a:r>
              <a:rPr lang="en-US" altLang="zh-TW" sz="3200" dirty="0"/>
              <a:t>outputs may have momentary false values unless the inputs are synchronized with the clocks</a:t>
            </a:r>
          </a:p>
          <a:p>
            <a:r>
              <a:rPr lang="en-US" altLang="zh-TW" sz="3200" b="1" dirty="0"/>
              <a:t>The Moore model: </a:t>
            </a:r>
            <a:r>
              <a:rPr lang="en-US" altLang="zh-TW" sz="3200" dirty="0"/>
              <a:t>the outputs are functions of the present state only </a:t>
            </a:r>
            <a:endParaRPr lang="en-US" altLang="zh-TW" sz="3200" dirty="0" smtClean="0"/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200" dirty="0" smtClean="0"/>
              <a:t>The </a:t>
            </a:r>
            <a:r>
              <a:rPr lang="en-US" altLang="zh-TW" sz="3200" dirty="0"/>
              <a:t>outputs are synchronous with the clocks</a:t>
            </a:r>
          </a:p>
        </p:txBody>
      </p:sp>
    </p:spTree>
    <p:extLst>
      <p:ext uri="{BB962C8B-B14F-4D97-AF65-F5344CB8AC3E}">
        <p14:creationId xmlns:p14="http://schemas.microsoft.com/office/powerpoint/2010/main" val="36269681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7">
            <a:extLst>
              <a:ext uri="{FF2B5EF4-FFF2-40B4-BE49-F238E27FC236}">
                <a16:creationId xmlns:a16="http://schemas.microsoft.com/office/drawing/2014/main" id="{56899FD7-35D9-441B-8446-D8F5C09BC70C}"/>
              </a:ext>
            </a:extLst>
          </p:cNvPr>
          <p:cNvPicPr>
            <a:picLocks noGrp="1" noChangeAspect="1" noChangeArrowheads="1"/>
          </p:cNvPicPr>
          <p:nvPr>
            <p:ph idx="4294967295"/>
          </p:nvPr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860"/>
          <a:stretch/>
        </p:blipFill>
        <p:spPr>
          <a:xfrm>
            <a:off x="57288" y="178933"/>
            <a:ext cx="12142855" cy="3209245"/>
          </a:xfrm>
          <a:prstGeom prst="rect">
            <a:avLst/>
          </a:prstGeom>
          <a:noFill/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</p:pic>
      <p:pic>
        <p:nvPicPr>
          <p:cNvPr id="6" name="Picture 2">
            <a:extLst>
              <a:ext uri="{FF2B5EF4-FFF2-40B4-BE49-F238E27FC236}">
                <a16:creationId xmlns:a16="http://schemas.microsoft.com/office/drawing/2014/main" id="{9B6A38EB-F400-45A4-8D66-7C31D039FB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401"/>
          <a:stretch/>
        </p:blipFill>
        <p:spPr bwMode="auto">
          <a:xfrm>
            <a:off x="57288" y="3857626"/>
            <a:ext cx="12100982" cy="2763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9188580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77778" y="150069"/>
            <a:ext cx="465332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Design Procedure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sp>
        <p:nvSpPr>
          <p:cNvPr id="5" name="矩形 4"/>
          <p:cNvSpPr/>
          <p:nvPr/>
        </p:nvSpPr>
        <p:spPr>
          <a:xfrm>
            <a:off x="304799" y="1181118"/>
            <a:ext cx="11484429" cy="50783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the word description of the circuit behavior (a state diagram) 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state reduction if necessary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assign binary values to the states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obtain the binary-coded state table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choose the type of flip-flops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derive the simplified flip-flop input equations and output equations </a:t>
            </a:r>
          </a:p>
          <a:p>
            <a:pPr marL="971550" lvl="1" indent="-514350">
              <a:buFont typeface="+mj-lt"/>
              <a:buAutoNum type="arabicPeriod"/>
            </a:pPr>
            <a:r>
              <a:rPr lang="en-US" altLang="zh-TW" sz="3600" dirty="0"/>
              <a:t>draw the logic diagram</a:t>
            </a:r>
            <a:endParaRPr lang="zh-TW" altLang="en-US" sz="3600" dirty="0"/>
          </a:p>
        </p:txBody>
      </p:sp>
    </p:spTree>
    <p:extLst>
      <p:ext uri="{BB962C8B-B14F-4D97-AF65-F5344CB8AC3E}">
        <p14:creationId xmlns:p14="http://schemas.microsoft.com/office/powerpoint/2010/main" val="3798974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602717" y="1029516"/>
            <a:ext cx="11005456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TW" sz="4000" dirty="0">
                <a:latin typeface="+mj-lt"/>
              </a:rPr>
              <a:t>Suppose we wish to design a circuit that detects a sequence of three or more consecutive</a:t>
            </a:r>
          </a:p>
          <a:p>
            <a:r>
              <a:rPr lang="en-US" altLang="zh-TW" sz="4000" dirty="0">
                <a:latin typeface="+mj-lt"/>
              </a:rPr>
              <a:t>1’s in a string of bits coming through an input </a:t>
            </a:r>
            <a:r>
              <a:rPr lang="en-US" altLang="zh-TW" sz="4000" dirty="0" smtClean="0">
                <a:latin typeface="+mj-lt"/>
              </a:rPr>
              <a:t>line.</a:t>
            </a:r>
            <a:endParaRPr lang="zh-TW" altLang="en-US" sz="4000" dirty="0">
              <a:latin typeface="+mj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72791" y="76591"/>
            <a:ext cx="116653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D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0276215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602717" y="1029516"/>
            <a:ext cx="11005456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TW" sz="4000" dirty="0">
                <a:latin typeface="+mj-lt"/>
              </a:rPr>
              <a:t>Suppose we wish to design a circuit that detects a sequence of three or more consecutive</a:t>
            </a:r>
          </a:p>
          <a:p>
            <a:r>
              <a:rPr lang="en-US" altLang="zh-TW" sz="4000" dirty="0">
                <a:latin typeface="+mj-lt"/>
              </a:rPr>
              <a:t>1’s in a string of bits coming through an input </a:t>
            </a:r>
            <a:r>
              <a:rPr lang="en-US" altLang="zh-TW" sz="4000" dirty="0" smtClean="0">
                <a:latin typeface="+mj-lt"/>
              </a:rPr>
              <a:t>line.</a:t>
            </a:r>
            <a:endParaRPr lang="zh-TW" altLang="en-US" sz="4000" dirty="0">
              <a:latin typeface="+mj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72791" y="76591"/>
            <a:ext cx="116653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D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661139" y="3151992"/>
            <a:ext cx="70663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600" dirty="0" smtClean="0"/>
              <a:t>000011111000110011110111000</a:t>
            </a:r>
            <a:endParaRPr lang="zh-TW" altLang="en-US" sz="3600" dirty="0"/>
          </a:p>
        </p:txBody>
      </p:sp>
      <p:sp>
        <p:nvSpPr>
          <p:cNvPr id="3" name="矩形 2"/>
          <p:cNvSpPr/>
          <p:nvPr/>
        </p:nvSpPr>
        <p:spPr>
          <a:xfrm>
            <a:off x="4000501" y="4079546"/>
            <a:ext cx="1804307" cy="987879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TW" sz="2400" dirty="0" smtClean="0">
                <a:solidFill>
                  <a:schemeClr val="tx1"/>
                </a:solidFill>
              </a:rPr>
              <a:t>Detector</a:t>
            </a:r>
            <a:endParaRPr lang="zh-TW" altLang="en-US" sz="2400" dirty="0">
              <a:solidFill>
                <a:schemeClr val="tx1"/>
              </a:solidFill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4725681" y="5699713"/>
            <a:ext cx="70663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3600" dirty="0" smtClean="0"/>
              <a:t>000000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111</a:t>
            </a:r>
            <a:r>
              <a:rPr lang="en-US" altLang="zh-TW" sz="3600" dirty="0" smtClean="0"/>
              <a:t>000000000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11</a:t>
            </a:r>
            <a:r>
              <a:rPr lang="en-US" altLang="zh-TW" sz="3600" dirty="0" smtClean="0"/>
              <a:t>000</a:t>
            </a:r>
            <a:r>
              <a:rPr lang="en-US" altLang="zh-TW" sz="3600" b="1" dirty="0" smtClean="0">
                <a:solidFill>
                  <a:srgbClr val="C00000"/>
                </a:solidFill>
              </a:rPr>
              <a:t>1</a:t>
            </a:r>
            <a:r>
              <a:rPr lang="en-US" altLang="zh-TW" sz="3600" dirty="0" smtClean="0"/>
              <a:t>000</a:t>
            </a:r>
            <a:endParaRPr lang="zh-TW" altLang="en-US" sz="3600" dirty="0"/>
          </a:p>
        </p:txBody>
      </p:sp>
      <p:sp>
        <p:nvSpPr>
          <p:cNvPr id="7" name="手繪多邊形 6"/>
          <p:cNvSpPr/>
          <p:nvPr/>
        </p:nvSpPr>
        <p:spPr>
          <a:xfrm>
            <a:off x="244802" y="3494314"/>
            <a:ext cx="3739369" cy="1085850"/>
          </a:xfrm>
          <a:custGeom>
            <a:avLst/>
            <a:gdLst>
              <a:gd name="connsiteX0" fmla="*/ 416505 w 3739369"/>
              <a:gd name="connsiteY0" fmla="*/ 0 h 1085850"/>
              <a:gd name="connsiteX1" fmla="*/ 81769 w 3739369"/>
              <a:gd name="connsiteY1" fmla="*/ 416379 h 1085850"/>
              <a:gd name="connsiteX2" fmla="*/ 1763612 w 3739369"/>
              <a:gd name="connsiteY2" fmla="*/ 849086 h 1085850"/>
              <a:gd name="connsiteX3" fmla="*/ 3739369 w 3739369"/>
              <a:gd name="connsiteY3" fmla="*/ 1085850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39369" h="1085850">
                <a:moveTo>
                  <a:pt x="416505" y="0"/>
                </a:moveTo>
                <a:cubicBezTo>
                  <a:pt x="136878" y="137432"/>
                  <a:pt x="-142749" y="274865"/>
                  <a:pt x="81769" y="416379"/>
                </a:cubicBezTo>
                <a:cubicBezTo>
                  <a:pt x="306287" y="557893"/>
                  <a:pt x="1154012" y="737508"/>
                  <a:pt x="1763612" y="849086"/>
                </a:cubicBezTo>
                <a:cubicBezTo>
                  <a:pt x="2373212" y="960664"/>
                  <a:pt x="3056290" y="1023257"/>
                  <a:pt x="3739369" y="1085850"/>
                </a:cubicBezTo>
              </a:path>
            </a:pathLst>
          </a:custGeom>
          <a:noFill/>
          <a:ln w="28575">
            <a:solidFill>
              <a:srgbClr val="0000FF"/>
            </a:solidFill>
            <a:headEnd type="none" w="med" len="med"/>
            <a:tailEnd type="arrow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9" name="手繪多邊形 8"/>
          <p:cNvSpPr/>
          <p:nvPr/>
        </p:nvSpPr>
        <p:spPr>
          <a:xfrm>
            <a:off x="4117872" y="4596493"/>
            <a:ext cx="2601335" cy="1453243"/>
          </a:xfrm>
          <a:custGeom>
            <a:avLst/>
            <a:gdLst>
              <a:gd name="connsiteX0" fmla="*/ 1703264 w 2601335"/>
              <a:gd name="connsiteY0" fmla="*/ 0 h 1453243"/>
              <a:gd name="connsiteX1" fmla="*/ 2601335 w 2601335"/>
              <a:gd name="connsiteY1" fmla="*/ 498021 h 1453243"/>
              <a:gd name="connsiteX2" fmla="*/ 1703264 w 2601335"/>
              <a:gd name="connsiteY2" fmla="*/ 816428 h 1453243"/>
              <a:gd name="connsiteX3" fmla="*/ 45914 w 2601335"/>
              <a:gd name="connsiteY3" fmla="*/ 1020536 h 1453243"/>
              <a:gd name="connsiteX4" fmla="*/ 625578 w 2601335"/>
              <a:gd name="connsiteY4" fmla="*/ 1453243 h 1453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1335" h="1453243">
                <a:moveTo>
                  <a:pt x="1703264" y="0"/>
                </a:moveTo>
                <a:cubicBezTo>
                  <a:pt x="2152299" y="180975"/>
                  <a:pt x="2601335" y="361950"/>
                  <a:pt x="2601335" y="498021"/>
                </a:cubicBezTo>
                <a:cubicBezTo>
                  <a:pt x="2601335" y="634092"/>
                  <a:pt x="2129168" y="729342"/>
                  <a:pt x="1703264" y="816428"/>
                </a:cubicBezTo>
                <a:cubicBezTo>
                  <a:pt x="1277360" y="903514"/>
                  <a:pt x="225528" y="914400"/>
                  <a:pt x="45914" y="1020536"/>
                </a:cubicBezTo>
                <a:cubicBezTo>
                  <a:pt x="-133700" y="1126672"/>
                  <a:pt x="245939" y="1289957"/>
                  <a:pt x="625578" y="1453243"/>
                </a:cubicBezTo>
              </a:path>
            </a:pathLst>
          </a:custGeom>
          <a:noFill/>
          <a:ln w="28575">
            <a:solidFill>
              <a:srgbClr val="0000FF"/>
            </a:solidFill>
            <a:headEnd type="none" w="med" len="med"/>
            <a:tailEnd type="arrow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2751134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272791" y="76591"/>
            <a:ext cx="116653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D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2791" y="1421759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矩形 12"/>
          <p:cNvSpPr/>
          <p:nvPr/>
        </p:nvSpPr>
        <p:spPr>
          <a:xfrm>
            <a:off x="4122964" y="1075568"/>
            <a:ext cx="7992836" cy="56938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altLang="zh-TW" sz="2800" dirty="0"/>
              <a:t>It is derived </a:t>
            </a:r>
            <a:r>
              <a:rPr lang="en-US" altLang="zh-TW" sz="2800" dirty="0" smtClean="0"/>
              <a:t>by starting </a:t>
            </a:r>
            <a:r>
              <a:rPr lang="en-US" altLang="zh-TW" sz="2800" dirty="0"/>
              <a:t>with state </a:t>
            </a:r>
            <a:r>
              <a:rPr lang="en-US" altLang="zh-TW" sz="2800" i="1" dirty="0"/>
              <a:t>S</a:t>
            </a:r>
            <a:r>
              <a:rPr lang="en-US" altLang="zh-TW" sz="2800" dirty="0"/>
              <a:t>0, the reset state. </a:t>
            </a:r>
            <a:endParaRPr lang="en-US" altLang="zh-TW" sz="2800" dirty="0" smtClean="0"/>
          </a:p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altLang="zh-TW" sz="2800" dirty="0" smtClean="0"/>
              <a:t>If </a:t>
            </a:r>
            <a:r>
              <a:rPr lang="en-US" altLang="zh-TW" sz="2800" dirty="0"/>
              <a:t>the input is 0, the circuit stays in </a:t>
            </a:r>
            <a:r>
              <a:rPr lang="en-US" altLang="zh-TW" sz="2800" i="1" dirty="0"/>
              <a:t>S</a:t>
            </a:r>
            <a:r>
              <a:rPr lang="en-US" altLang="zh-TW" sz="2800" dirty="0"/>
              <a:t>0, but if </a:t>
            </a:r>
            <a:r>
              <a:rPr lang="en-US" altLang="zh-TW" sz="2800" dirty="0" smtClean="0"/>
              <a:t>the input </a:t>
            </a:r>
            <a:r>
              <a:rPr lang="en-US" altLang="zh-TW" sz="2800" dirty="0"/>
              <a:t>is 1, it goes to state </a:t>
            </a:r>
            <a:r>
              <a:rPr lang="en-US" altLang="zh-TW" sz="2800" i="1" dirty="0"/>
              <a:t>S</a:t>
            </a:r>
            <a:r>
              <a:rPr lang="en-US" altLang="zh-TW" sz="2800" dirty="0"/>
              <a:t>1 to indicate that a 1 was detected. </a:t>
            </a:r>
            <a:endParaRPr lang="en-US" altLang="zh-TW" sz="2800" dirty="0" smtClean="0"/>
          </a:p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altLang="zh-TW" sz="2800" dirty="0" smtClean="0"/>
              <a:t>If </a:t>
            </a:r>
            <a:r>
              <a:rPr lang="en-US" altLang="zh-TW" sz="2800" dirty="0"/>
              <a:t>the next input is 1, </a:t>
            </a:r>
            <a:r>
              <a:rPr lang="en-US" altLang="zh-TW" sz="2800" dirty="0" smtClean="0"/>
              <a:t>the change </a:t>
            </a:r>
            <a:r>
              <a:rPr lang="en-US" altLang="zh-TW" sz="2800" dirty="0"/>
              <a:t>is to state </a:t>
            </a:r>
            <a:r>
              <a:rPr lang="en-US" altLang="zh-TW" sz="2800" i="1" dirty="0"/>
              <a:t>S</a:t>
            </a:r>
            <a:r>
              <a:rPr lang="en-US" altLang="zh-TW" sz="2800" dirty="0"/>
              <a:t>2 to indicate the arrival of two consecutive 1’s, but if the input is </a:t>
            </a:r>
            <a:r>
              <a:rPr lang="en-US" altLang="zh-TW" sz="2800" dirty="0" smtClean="0"/>
              <a:t>0, the </a:t>
            </a:r>
            <a:r>
              <a:rPr lang="en-US" altLang="zh-TW" sz="2800" dirty="0"/>
              <a:t>state goes back to </a:t>
            </a:r>
            <a:r>
              <a:rPr lang="en-US" altLang="zh-TW" sz="2800" i="1" dirty="0"/>
              <a:t>S</a:t>
            </a:r>
            <a:r>
              <a:rPr lang="en-US" altLang="zh-TW" sz="2800" dirty="0"/>
              <a:t>0. </a:t>
            </a:r>
            <a:endParaRPr lang="en-US" altLang="zh-TW" sz="2800" dirty="0" smtClean="0"/>
          </a:p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altLang="zh-TW" sz="2800" dirty="0" smtClean="0"/>
              <a:t>The </a:t>
            </a:r>
            <a:r>
              <a:rPr lang="en-US" altLang="zh-TW" sz="2800" dirty="0"/>
              <a:t>third consecutive 1 sends the circuit to state </a:t>
            </a:r>
            <a:r>
              <a:rPr lang="en-US" altLang="zh-TW" sz="2800" i="1" dirty="0"/>
              <a:t>S</a:t>
            </a:r>
            <a:r>
              <a:rPr lang="en-US" altLang="zh-TW" sz="2800" dirty="0"/>
              <a:t>3. If </a:t>
            </a:r>
            <a:r>
              <a:rPr lang="en-US" altLang="zh-TW" sz="2800" dirty="0" smtClean="0"/>
              <a:t>more 1’s </a:t>
            </a:r>
            <a:r>
              <a:rPr lang="en-US" altLang="zh-TW" sz="2800" dirty="0"/>
              <a:t>are detected, the circuit stays in </a:t>
            </a:r>
            <a:r>
              <a:rPr lang="en-US" altLang="zh-TW" sz="2800" i="1" dirty="0"/>
              <a:t>S</a:t>
            </a:r>
            <a:r>
              <a:rPr lang="en-US" altLang="zh-TW" sz="2800" dirty="0"/>
              <a:t>3. Any 0 input sends the circuit back to </a:t>
            </a:r>
            <a:r>
              <a:rPr lang="en-US" altLang="zh-TW" sz="2800" i="1" dirty="0"/>
              <a:t>S</a:t>
            </a:r>
            <a:r>
              <a:rPr lang="en-US" altLang="zh-TW" sz="2800" dirty="0"/>
              <a:t>0</a:t>
            </a:r>
            <a:r>
              <a:rPr lang="en-US" altLang="zh-TW" sz="2800" dirty="0" smtClean="0"/>
              <a:t>.</a:t>
            </a:r>
            <a:r>
              <a:rPr lang="en-US" altLang="zh-TW" dirty="0"/>
              <a:t> </a:t>
            </a:r>
            <a:endParaRPr lang="en-US" altLang="zh-TW" dirty="0" smtClean="0"/>
          </a:p>
          <a:p>
            <a:pPr marL="514350" indent="-514350">
              <a:buFont typeface="Wingdings" panose="05000000000000000000" pitchFamily="2" charset="2"/>
              <a:buChar char="Ø"/>
            </a:pPr>
            <a:r>
              <a:rPr lang="en-US" altLang="zh-TW" sz="2800" dirty="0" smtClean="0"/>
              <a:t>The </a:t>
            </a:r>
            <a:r>
              <a:rPr lang="en-US" altLang="zh-TW" sz="2800" dirty="0"/>
              <a:t>circuit stays in </a:t>
            </a:r>
            <a:r>
              <a:rPr lang="en-US" altLang="zh-TW" sz="2800" i="1" dirty="0"/>
              <a:t>S</a:t>
            </a:r>
            <a:r>
              <a:rPr lang="en-US" altLang="zh-TW" sz="2800" dirty="0"/>
              <a:t>3 as long as there are three or more consecutive 1’s received.</a:t>
            </a:r>
            <a:endParaRPr lang="zh-TW" altLang="en-US" sz="2800" dirty="0"/>
          </a:p>
        </p:txBody>
      </p:sp>
    </p:spTree>
    <p:extLst>
      <p:ext uri="{BB962C8B-B14F-4D97-AF65-F5344CB8AC3E}">
        <p14:creationId xmlns:p14="http://schemas.microsoft.com/office/powerpoint/2010/main" val="2580132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652255"/>
              </p:ext>
            </p:extLst>
          </p:nvPr>
        </p:nvGraphicFramePr>
        <p:xfrm>
          <a:off x="6457951" y="1162407"/>
          <a:ext cx="1392700" cy="10809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3007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227067"/>
              </p:ext>
            </p:extLst>
          </p:nvPr>
        </p:nvGraphicFramePr>
        <p:xfrm>
          <a:off x="6457951" y="1162407"/>
          <a:ext cx="2170448" cy="10809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2837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824359"/>
              </p:ext>
            </p:extLst>
          </p:nvPr>
        </p:nvGraphicFramePr>
        <p:xfrm>
          <a:off x="6457951" y="1162407"/>
          <a:ext cx="21704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12223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3471920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3417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956461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31105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37925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64355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163287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82004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211824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2158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5610211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83576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3749060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26172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5845464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62284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620345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1370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518101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pic>
        <p:nvPicPr>
          <p:cNvPr id="5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8245" y="1380937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903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340139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39969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340139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675261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34140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340139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675261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25350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340139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9675261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4886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100384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9378868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6487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100384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9378868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556827" y="1162407"/>
            <a:ext cx="417739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0681915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100384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9378868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092472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5310110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379153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8803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821351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379153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7267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556827" y="3251240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/>
              <a:t>y(A</a:t>
            </a:r>
            <a:r>
              <a:rPr lang="en-US" altLang="zh-TW" sz="3200" dirty="0" smtClean="0"/>
              <a:t>, B, x</a:t>
            </a:r>
            <a:r>
              <a:rPr lang="en-US" altLang="zh-TW" sz="3200" dirty="0"/>
              <a:t>) = S(6</a:t>
            </a:r>
            <a:r>
              <a:rPr lang="en-US" altLang="zh-TW" sz="3200" dirty="0" smtClean="0"/>
              <a:t>, 7</a:t>
            </a:r>
            <a:r>
              <a:rPr lang="en-US" altLang="zh-TW" sz="3200" dirty="0"/>
              <a:t>)</a:t>
            </a:r>
            <a:endParaRPr lang="en-US" altLang="zh-TW" sz="3200" dirty="0"/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8990206"/>
              </p:ext>
            </p:extLst>
          </p:nvPr>
        </p:nvGraphicFramePr>
        <p:xfrm>
          <a:off x="6457951" y="1162407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3108797301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715310050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1952374399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73526145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822609847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44856868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75692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008372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279058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7774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1386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05146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1901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81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9166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7195218"/>
                  </a:ext>
                </a:extLst>
              </a:tr>
            </a:tbl>
          </a:graphicData>
        </a:graphic>
      </p:graphicFrame>
      <p:graphicFrame>
        <p:nvGraphicFramePr>
          <p:cNvPr id="10" name="表格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49371"/>
              </p:ext>
            </p:extLst>
          </p:nvPr>
        </p:nvGraphicFramePr>
        <p:xfrm>
          <a:off x="10776232" y="1162407"/>
          <a:ext cx="1266090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045">
                  <a:extLst>
                    <a:ext uri="{9D8B030D-6E8A-4147-A177-3AD203B41FA5}">
                      <a16:colId xmlns:a16="http://schemas.microsoft.com/office/drawing/2014/main" val="911246152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858760954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</a:t>
                      </a:r>
                      <a:endParaRPr lang="en-US" altLang="zh-TW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206355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D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44179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26536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45229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1649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84762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6635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790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9118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60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7306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556827" y="3251240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/>
              <a:t>y(A</a:t>
            </a:r>
            <a:r>
              <a:rPr lang="en-US" altLang="zh-TW" sz="3200" dirty="0" smtClean="0"/>
              <a:t>, B, x</a:t>
            </a:r>
            <a:r>
              <a:rPr lang="en-US" altLang="zh-TW" sz="3200" dirty="0"/>
              <a:t>)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</a:t>
            </a:r>
            <a:r>
              <a:rPr lang="en-US" altLang="zh-TW" sz="3200" dirty="0"/>
              <a:t>)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1862911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556827" y="1162407"/>
            <a:ext cx="417739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</a:t>
            </a:r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556827" y="3251240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/>
              <a:t>y(A</a:t>
            </a:r>
            <a:r>
              <a:rPr lang="en-US" altLang="zh-TW" sz="3200" dirty="0" smtClean="0"/>
              <a:t>, B, x</a:t>
            </a:r>
            <a:r>
              <a:rPr lang="en-US" altLang="zh-TW" sz="3200" dirty="0"/>
              <a:t>)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</a:t>
            </a:r>
            <a:r>
              <a:rPr lang="en-US" altLang="zh-TW" sz="3200" dirty="0"/>
              <a:t>)</a:t>
            </a:r>
            <a:endParaRPr lang="en-US" altLang="zh-TW" sz="3200" dirty="0"/>
          </a:p>
        </p:txBody>
      </p:sp>
      <p:pic>
        <p:nvPicPr>
          <p:cNvPr id="6" name="Picture 1033">
            <a:extLst>
              <a:ext uri="{FF2B5EF4-FFF2-40B4-BE49-F238E27FC236}">
                <a16:creationId xmlns:a16="http://schemas.microsoft.com/office/drawing/2014/main" id="{665EC687-88F5-4A19-9182-76FFE416BE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5" r="52045" b="15552"/>
          <a:stretch/>
        </p:blipFill>
        <p:spPr bwMode="auto">
          <a:xfrm>
            <a:off x="-8164" y="3965865"/>
            <a:ext cx="4044375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1033">
            <a:extLst>
              <a:ext uri="{FF2B5EF4-FFF2-40B4-BE49-F238E27FC236}">
                <a16:creationId xmlns:a16="http://schemas.microsoft.com/office/drawing/2014/main" id="{665EC687-88F5-4A19-9182-76FFE416BE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829" b="15552"/>
          <a:stretch/>
        </p:blipFill>
        <p:spPr bwMode="auto">
          <a:xfrm>
            <a:off x="4036211" y="3965865"/>
            <a:ext cx="4103582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Picture 1034">
            <a:extLst>
              <a:ext uri="{FF2B5EF4-FFF2-40B4-BE49-F238E27FC236}">
                <a16:creationId xmlns:a16="http://schemas.microsoft.com/office/drawing/2014/main" id="{0DC43D23-5E9B-459A-9BB6-CE7A94BA46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91" r="3367" b="14236"/>
          <a:stretch/>
        </p:blipFill>
        <p:spPr bwMode="auto">
          <a:xfrm>
            <a:off x="8139793" y="3965864"/>
            <a:ext cx="4052207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8325713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556827" y="141905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556827" y="1162407"/>
            <a:ext cx="621136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(3</a:t>
            </a:r>
            <a:r>
              <a:rPr lang="en-US" altLang="zh-TW" sz="3200" dirty="0" smtClean="0"/>
              <a:t>, 5, 7) = Ax + </a:t>
            </a:r>
            <a:r>
              <a:rPr lang="en-US" altLang="zh-TW" sz="3200" dirty="0" err="1" smtClean="0"/>
              <a:t>Bx</a:t>
            </a:r>
            <a:endParaRPr lang="en-US" altLang="zh-TW" sz="3200" dirty="0" smtClean="0"/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(1, 5, 7</a:t>
            </a:r>
            <a:r>
              <a:rPr lang="en-US" altLang="zh-TW" sz="3200" dirty="0" smtClean="0"/>
              <a:t>) = Ax + </a:t>
            </a:r>
            <a:r>
              <a:rPr lang="en-US" altLang="zh-TW" sz="3200" dirty="0" err="1" smtClean="0"/>
              <a:t>B’x</a:t>
            </a:r>
            <a:endParaRPr lang="en-US" altLang="zh-TW" sz="3200" dirty="0"/>
          </a:p>
        </p:txBody>
      </p:sp>
      <p:sp>
        <p:nvSpPr>
          <p:cNvPr id="9" name="矩形 8"/>
          <p:cNvSpPr/>
          <p:nvPr/>
        </p:nvSpPr>
        <p:spPr>
          <a:xfrm>
            <a:off x="556827" y="2329934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556827" y="3251240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/>
              <a:t>y(A</a:t>
            </a:r>
            <a:r>
              <a:rPr lang="en-US" altLang="zh-TW" sz="3200" dirty="0" smtClean="0"/>
              <a:t>, B, x</a:t>
            </a:r>
            <a:r>
              <a:rPr lang="en-US" altLang="zh-TW" sz="3200" dirty="0"/>
              <a:t>)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pic>
        <p:nvPicPr>
          <p:cNvPr id="11" name="Picture 1033">
            <a:extLst>
              <a:ext uri="{FF2B5EF4-FFF2-40B4-BE49-F238E27FC236}">
                <a16:creationId xmlns:a16="http://schemas.microsoft.com/office/drawing/2014/main" id="{665EC687-88F5-4A19-9182-76FFE416BE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5" r="52045" b="15552"/>
          <a:stretch/>
        </p:blipFill>
        <p:spPr bwMode="auto">
          <a:xfrm>
            <a:off x="-8164" y="3965865"/>
            <a:ext cx="4044375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1033">
            <a:extLst>
              <a:ext uri="{FF2B5EF4-FFF2-40B4-BE49-F238E27FC236}">
                <a16:creationId xmlns:a16="http://schemas.microsoft.com/office/drawing/2014/main" id="{665EC687-88F5-4A19-9182-76FFE416BE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829" b="15552"/>
          <a:stretch/>
        </p:blipFill>
        <p:spPr bwMode="auto">
          <a:xfrm>
            <a:off x="4036211" y="3965865"/>
            <a:ext cx="4103582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034">
            <a:extLst>
              <a:ext uri="{FF2B5EF4-FFF2-40B4-BE49-F238E27FC236}">
                <a16:creationId xmlns:a16="http://schemas.microsoft.com/office/drawing/2014/main" id="{0DC43D23-5E9B-459A-9BB6-CE7A94BA46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91" r="3367" b="14236"/>
          <a:stretch/>
        </p:blipFill>
        <p:spPr bwMode="auto">
          <a:xfrm>
            <a:off x="8139793" y="3965864"/>
            <a:ext cx="4052207" cy="2892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2815043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(A, B, x</a:t>
            </a:r>
            <a:r>
              <a:rPr lang="en-US" altLang="zh-TW" sz="3200" b="1" dirty="0">
                <a:solidFill>
                  <a:srgbClr val="0000FF"/>
                </a:solidFill>
              </a:rPr>
              <a:t>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>
                <a:solidFill>
                  <a:srgbClr val="0000FF"/>
                </a:solidFill>
              </a:rPr>
              <a:t>B</a:t>
            </a:r>
            <a:r>
              <a:rPr lang="en-US" altLang="zh-TW" sz="3200" b="1" dirty="0">
                <a:solidFill>
                  <a:srgbClr val="0000FF"/>
                </a:solidFill>
              </a:rPr>
              <a:t>(A ,B,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B’x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y(A, 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AB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643690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(A, B, x</a:t>
            </a:r>
            <a:r>
              <a:rPr lang="en-US" altLang="zh-TW" sz="3200" b="1" dirty="0">
                <a:solidFill>
                  <a:srgbClr val="0000FF"/>
                </a:solidFill>
              </a:rPr>
              <a:t>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>
                <a:solidFill>
                  <a:srgbClr val="0000FF"/>
                </a:solidFill>
              </a:rPr>
              <a:t>B</a:t>
            </a:r>
            <a:r>
              <a:rPr lang="en-US" altLang="zh-TW" sz="3200" b="1" dirty="0">
                <a:solidFill>
                  <a:srgbClr val="0000FF"/>
                </a:solidFill>
              </a:rPr>
              <a:t>(A ,B,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B’x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y(A, 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AB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3A0F0938-FD78-4B2A-938C-C7CA6F4A51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674"/>
          <a:stretch/>
        </p:blipFill>
        <p:spPr bwMode="auto">
          <a:xfrm>
            <a:off x="3413237" y="1"/>
            <a:ext cx="8706686" cy="6841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9046029" y="759279"/>
            <a:ext cx="3073894" cy="5159828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24795266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8">
            <a:extLst>
              <a:ext uri="{FF2B5EF4-FFF2-40B4-BE49-F238E27FC236}">
                <a16:creationId xmlns:a16="http://schemas.microsoft.com/office/drawing/2014/main" id="{3A0F0938-FD78-4B2A-938C-C7CA6F4A51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674"/>
          <a:stretch/>
        </p:blipFill>
        <p:spPr bwMode="auto">
          <a:xfrm>
            <a:off x="3413237" y="1"/>
            <a:ext cx="8706686" cy="6841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矩形 4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C00000"/>
                </a:solidFill>
              </a:rPr>
              <a:t>D</a:t>
            </a:r>
            <a:r>
              <a:rPr lang="en-US" altLang="zh-TW" sz="3200" b="1" baseline="-25000" dirty="0" smtClean="0">
                <a:solidFill>
                  <a:srgbClr val="C00000"/>
                </a:solidFill>
              </a:rPr>
              <a:t>A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(A, B, x</a:t>
            </a:r>
            <a:r>
              <a:rPr lang="en-US" altLang="zh-TW" sz="3200" b="1" dirty="0">
                <a:solidFill>
                  <a:srgbClr val="C00000"/>
                </a:solidFill>
              </a:rPr>
              <a:t>) =</a:t>
            </a:r>
            <a:r>
              <a:rPr lang="en-US" altLang="zh-TW" sz="3200" b="1" dirty="0">
                <a:solidFill>
                  <a:srgbClr val="0000FF"/>
                </a:solidFill>
              </a:rPr>
              <a:t>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C00000"/>
                </a:solidFill>
              </a:rPr>
              <a:t>Bx</a:t>
            </a:r>
            <a:endParaRPr lang="en-US" altLang="zh-TW" sz="3200" b="1" dirty="0" smtClean="0">
              <a:solidFill>
                <a:srgbClr val="C00000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>
                <a:solidFill>
                  <a:srgbClr val="0000FF"/>
                </a:solidFill>
              </a:rPr>
              <a:t>B</a:t>
            </a:r>
            <a:r>
              <a:rPr lang="en-US" altLang="zh-TW" sz="3200" b="1" dirty="0">
                <a:solidFill>
                  <a:srgbClr val="0000FF"/>
                </a:solidFill>
              </a:rPr>
              <a:t>(A ,B,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B’x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y(A, 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AB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6572250" y="367393"/>
            <a:ext cx="2424793" cy="2073728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743531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8">
            <a:extLst>
              <a:ext uri="{FF2B5EF4-FFF2-40B4-BE49-F238E27FC236}">
                <a16:creationId xmlns:a16="http://schemas.microsoft.com/office/drawing/2014/main" id="{3A0F0938-FD78-4B2A-938C-C7CA6F4A51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674"/>
          <a:stretch/>
        </p:blipFill>
        <p:spPr bwMode="auto">
          <a:xfrm>
            <a:off x="3413237" y="1"/>
            <a:ext cx="8706686" cy="6841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矩形 4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(A, B, x</a:t>
            </a:r>
            <a:r>
              <a:rPr lang="en-US" altLang="zh-TW" sz="3200" b="1" dirty="0">
                <a:solidFill>
                  <a:srgbClr val="0000FF"/>
                </a:solidFill>
              </a:rPr>
              <a:t>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C00000"/>
                </a:solidFill>
              </a:rPr>
              <a:t>D</a:t>
            </a:r>
            <a:r>
              <a:rPr lang="en-US" altLang="zh-TW" sz="3200" b="1" baseline="-25000" dirty="0">
                <a:solidFill>
                  <a:srgbClr val="C00000"/>
                </a:solidFill>
              </a:rPr>
              <a:t>B</a:t>
            </a:r>
            <a:r>
              <a:rPr lang="en-US" altLang="zh-TW" sz="3200" b="1" dirty="0">
                <a:solidFill>
                  <a:srgbClr val="C00000"/>
                </a:solidFill>
              </a:rPr>
              <a:t>(A ,B, x) 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C00000"/>
                </a:solidFill>
              </a:rPr>
              <a:t>B’x</a:t>
            </a:r>
            <a:endParaRPr lang="en-US" altLang="zh-TW" sz="3200" b="1" dirty="0" smtClean="0">
              <a:solidFill>
                <a:srgbClr val="C00000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y(A, 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AB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6554183" y="3510643"/>
            <a:ext cx="2424793" cy="1698171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84112248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8">
            <a:extLst>
              <a:ext uri="{FF2B5EF4-FFF2-40B4-BE49-F238E27FC236}">
                <a16:creationId xmlns:a16="http://schemas.microsoft.com/office/drawing/2014/main" id="{3A0F0938-FD78-4B2A-938C-C7CA6F4A51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674"/>
          <a:stretch/>
        </p:blipFill>
        <p:spPr bwMode="auto">
          <a:xfrm>
            <a:off x="3413237" y="1"/>
            <a:ext cx="8706686" cy="6841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矩形 4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(A, B, x</a:t>
            </a:r>
            <a:r>
              <a:rPr lang="en-US" altLang="zh-TW" sz="3200" b="1" dirty="0">
                <a:solidFill>
                  <a:srgbClr val="0000FF"/>
                </a:solidFill>
              </a:rPr>
              <a:t>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0000FF"/>
                </a:solidFill>
              </a:rPr>
              <a:t>D</a:t>
            </a:r>
            <a:r>
              <a:rPr lang="en-US" altLang="zh-TW" sz="3200" b="1" baseline="-25000" dirty="0">
                <a:solidFill>
                  <a:srgbClr val="0000FF"/>
                </a:solidFill>
              </a:rPr>
              <a:t>B</a:t>
            </a:r>
            <a:r>
              <a:rPr lang="en-US" altLang="zh-TW" sz="3200" b="1" dirty="0">
                <a:solidFill>
                  <a:srgbClr val="0000FF"/>
                </a:solidFill>
              </a:rPr>
              <a:t>(A ,B, x) =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Ax +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B’x</a:t>
            </a:r>
            <a:endParaRPr lang="en-US" altLang="zh-TW" sz="3200" b="1" dirty="0" smtClean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b="1" dirty="0">
                <a:solidFill>
                  <a:srgbClr val="C00000"/>
                </a:solidFill>
              </a:rPr>
              <a:t>y(A, B, x) 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AB</a:t>
            </a:r>
            <a:endParaRPr lang="en-US" altLang="zh-TW" sz="3200" b="1" dirty="0">
              <a:solidFill>
                <a:srgbClr val="C00000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6488870" y="6229349"/>
            <a:ext cx="2410202" cy="612321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55316119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8">
            <a:extLst>
              <a:ext uri="{FF2B5EF4-FFF2-40B4-BE49-F238E27FC236}">
                <a16:creationId xmlns:a16="http://schemas.microsoft.com/office/drawing/2014/main" id="{3A0F0938-FD78-4B2A-938C-C7CA6F4A51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674"/>
          <a:stretch/>
        </p:blipFill>
        <p:spPr bwMode="auto">
          <a:xfrm>
            <a:off x="3413237" y="1"/>
            <a:ext cx="8706686" cy="6841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矩形 4"/>
          <p:cNvSpPr/>
          <p:nvPr/>
        </p:nvSpPr>
        <p:spPr>
          <a:xfrm>
            <a:off x="571500" y="179615"/>
            <a:ext cx="4114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D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(A, B, x</a:t>
            </a:r>
            <a:r>
              <a:rPr lang="en-US" altLang="zh-TW" sz="3200" dirty="0"/>
              <a:t>) = </a:t>
            </a:r>
            <a:r>
              <a:rPr lang="en-US" altLang="zh-TW" sz="3200" dirty="0" smtClean="0"/>
              <a:t>Ax + </a:t>
            </a:r>
            <a:r>
              <a:rPr lang="en-US" altLang="zh-TW" sz="3200" dirty="0" err="1" smtClean="0"/>
              <a:t>Bx</a:t>
            </a:r>
            <a:endParaRPr lang="en-US" altLang="zh-TW" sz="3200" dirty="0" smtClean="0"/>
          </a:p>
          <a:p>
            <a:pPr marL="0" lvl="1"/>
            <a:r>
              <a:rPr lang="en-US" altLang="zh-TW" sz="3200" dirty="0"/>
              <a:t>D</a:t>
            </a:r>
            <a:r>
              <a:rPr lang="en-US" altLang="zh-TW" sz="3200" baseline="-25000" dirty="0"/>
              <a:t>B</a:t>
            </a:r>
            <a:r>
              <a:rPr lang="en-US" altLang="zh-TW" sz="3200" dirty="0"/>
              <a:t>(A ,B, x) = </a:t>
            </a:r>
            <a:r>
              <a:rPr lang="en-US" altLang="zh-TW" sz="3200" dirty="0" smtClean="0"/>
              <a:t>Ax + </a:t>
            </a:r>
            <a:r>
              <a:rPr lang="en-US" altLang="zh-TW" sz="3200" dirty="0" err="1" smtClean="0"/>
              <a:t>B’x</a:t>
            </a:r>
            <a:endParaRPr lang="en-US" altLang="zh-TW" sz="3200" dirty="0" smtClean="0"/>
          </a:p>
          <a:p>
            <a:pPr marL="0" lvl="1"/>
            <a:r>
              <a:rPr lang="en-US" altLang="zh-TW" sz="3200" dirty="0"/>
              <a:t>y(A, B, x)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1951027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4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68346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30977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57061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30977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695945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3295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5576635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635253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86677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28438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577047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3502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45629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130699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2071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06262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815072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0/0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0/1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8645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341452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45549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07972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30977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45549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5498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180966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45549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18661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180966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705178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9567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409377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222014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7507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409377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09796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643261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12153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68060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324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12153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490968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5720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12153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571741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2758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12153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678749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31937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312153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92679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1700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245403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9720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068573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10517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4699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7649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2461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8133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6602471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1/1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9336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998156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63014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5898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09179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520551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4784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09179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945944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0579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09179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02820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0/1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0/0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7083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09179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77401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2970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526059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472097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78326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526059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747660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58498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35710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57731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3770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35710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57731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770912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109910" y="0"/>
            <a:ext cx="1208209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400" b="1" dirty="0">
                <a:solidFill>
                  <a:srgbClr val="C00000"/>
                </a:solidFill>
              </a:rPr>
              <a:t>An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design example (Synthesis </a:t>
            </a:r>
            <a:r>
              <a:rPr lang="en-US" altLang="zh-TW" sz="4400" b="1" dirty="0">
                <a:solidFill>
                  <a:srgbClr val="C00000"/>
                </a:solidFill>
              </a:rPr>
              <a:t>using </a:t>
            </a:r>
            <a:r>
              <a:rPr lang="en-US" altLang="zh-TW" sz="4400" b="1" dirty="0" smtClean="0">
                <a:solidFill>
                  <a:srgbClr val="C00000"/>
                </a:solidFill>
              </a:rPr>
              <a:t>J-K flip-flops)</a:t>
            </a:r>
            <a:endParaRPr lang="en-US" altLang="zh-TW" sz="4400" b="1" dirty="0">
              <a:solidFill>
                <a:srgbClr val="C00000"/>
              </a:solidFill>
            </a:endParaRPr>
          </a:p>
        </p:txBody>
      </p:sp>
      <p:pic>
        <p:nvPicPr>
          <p:cNvPr id="6" name="Picture 9">
            <a:extLst>
              <a:ext uri="{FF2B5EF4-FFF2-40B4-BE49-F238E27FC236}">
                <a16:creationId xmlns:a16="http://schemas.microsoft.com/office/drawing/2014/main" id="{9800537F-677F-4929-A01E-FCE2C3205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94" y="1867036"/>
            <a:ext cx="3673513" cy="4389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30977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57731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5927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428384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21078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3733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428384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21078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281099" y="3135085"/>
            <a:ext cx="4841421" cy="383722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254935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368140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210103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281099" y="3135085"/>
            <a:ext cx="4841421" cy="383722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572008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85794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1045673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281099" y="3593195"/>
            <a:ext cx="4841421" cy="383722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25287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068154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025728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281099" y="4058559"/>
            <a:ext cx="4841421" cy="383722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696036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910129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1830381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281099" y="4515759"/>
            <a:ext cx="4841421" cy="383722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24902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859335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2204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13743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212085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3135995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09044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13743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3135995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02952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54810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3593195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128557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54810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897326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3593195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068331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4262387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4058559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05495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9566471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141715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4058559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36996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8457067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4515759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152062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57999" y="199055"/>
            <a:ext cx="41072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Excitation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table</a:t>
            </a:r>
            <a:endParaRPr lang="zh-TW" altLang="en-US" sz="4800" b="1" dirty="0">
              <a:solidFill>
                <a:srgbClr val="C00000"/>
              </a:solidFill>
            </a:endParaRPr>
          </a:p>
        </p:txBody>
      </p:sp>
      <p:pic>
        <p:nvPicPr>
          <p:cNvPr id="5" name="Picture 6">
            <a:extLst>
              <a:ext uri="{FF2B5EF4-FFF2-40B4-BE49-F238E27FC236}">
                <a16:creationId xmlns:a16="http://schemas.microsoft.com/office/drawing/2014/main" id="{01BFB2EA-8CF1-415A-A514-C7C801F7E9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111" r="50784" b="12872"/>
          <a:stretch/>
        </p:blipFill>
        <p:spPr bwMode="auto">
          <a:xfrm>
            <a:off x="178479" y="2383974"/>
            <a:ext cx="5046663" cy="27198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8457067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7824286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7999" y="4515759"/>
            <a:ext cx="4841421" cy="383722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918218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58283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6239360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00305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>
                <a:solidFill>
                  <a:srgbClr val="0000FF"/>
                </a:solidFill>
              </a:rPr>
              <a:t>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(3) + D(4, 5,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  <a:endParaRPr lang="en-US" altLang="zh-TW" sz="3200" dirty="0"/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80812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1995963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5328009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00305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(4, 6) + D(0, 1, 2, 3)</a:t>
            </a:r>
            <a:endParaRPr lang="en-US" altLang="zh-TW" sz="3200" b="1" dirty="0">
              <a:solidFill>
                <a:srgbClr val="0000FF"/>
              </a:solidFill>
            </a:endParaRP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805685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2914062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2041388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00305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  <a:endParaRPr lang="en-US" altLang="zh-TW" sz="3200" dirty="0"/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>
                <a:solidFill>
                  <a:srgbClr val="0000FF"/>
                </a:solidFill>
              </a:rPr>
              <a:t>(1,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36482495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227934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231174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150008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  <a:endParaRPr lang="en-US" altLang="zh-TW" sz="3200" dirty="0"/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(2, 3, 6) + D(0, 1, 4, 5)</a:t>
            </a:r>
            <a:endParaRPr lang="en-US" altLang="zh-TW" sz="3200" b="1" dirty="0">
              <a:solidFill>
                <a:srgbClr val="0000FF"/>
              </a:solidFill>
            </a:endParaRPr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7610025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5104305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00305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  <a:endParaRPr lang="en-US" altLang="zh-TW" sz="3200" dirty="0"/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y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(6, 7) = AB</a:t>
            </a:r>
            <a:endParaRPr lang="en-US" altLang="zh-TW" sz="3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6646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859335"/>
              </p:ext>
            </p:extLst>
          </p:nvPr>
        </p:nvGraphicFramePr>
        <p:xfrm>
          <a:off x="5306785" y="1648506"/>
          <a:ext cx="4318281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6350">
                  <a:extLst>
                    <a:ext uri="{9D8B030D-6E8A-4147-A177-3AD203B41FA5}">
                      <a16:colId xmlns:a16="http://schemas.microsoft.com/office/drawing/2014/main" val="46749685"/>
                    </a:ext>
                  </a:extLst>
                </a:gridCol>
                <a:gridCol w="696350">
                  <a:extLst>
                    <a:ext uri="{9D8B030D-6E8A-4147-A177-3AD203B41FA5}">
                      <a16:colId xmlns:a16="http://schemas.microsoft.com/office/drawing/2014/main" val="2627872761"/>
                    </a:ext>
                  </a:extLst>
                </a:gridCol>
                <a:gridCol w="777748">
                  <a:extLst>
                    <a:ext uri="{9D8B030D-6E8A-4147-A177-3AD203B41FA5}">
                      <a16:colId xmlns:a16="http://schemas.microsoft.com/office/drawing/2014/main" val="4254589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2065475601"/>
                    </a:ext>
                  </a:extLst>
                </a:gridCol>
                <a:gridCol w="633045">
                  <a:extLst>
                    <a:ext uri="{9D8B030D-6E8A-4147-A177-3AD203B41FA5}">
                      <a16:colId xmlns:a16="http://schemas.microsoft.com/office/drawing/2014/main" val="1333666694"/>
                    </a:ext>
                  </a:extLst>
                </a:gridCol>
                <a:gridCol w="881743">
                  <a:extLst>
                    <a:ext uri="{9D8B030D-6E8A-4147-A177-3AD203B41FA5}">
                      <a16:colId xmlns:a16="http://schemas.microsoft.com/office/drawing/2014/main" val="2113139139"/>
                    </a:ext>
                  </a:extLst>
                </a:gridCol>
              </a:tblGrid>
              <a:tr h="440862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Present 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Next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State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Output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24654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y</a:t>
                      </a:r>
                      <a:endParaRPr lang="zh-TW" altLang="en-US" baseline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753372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063983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317290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9023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8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5608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610117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81061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309493"/>
                  </a:ext>
                </a:extLst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667812"/>
              </p:ext>
            </p:extLst>
          </p:nvPr>
        </p:nvGraphicFramePr>
        <p:xfrm>
          <a:off x="9625066" y="1648506"/>
          <a:ext cx="2441748" cy="4607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437">
                  <a:extLst>
                    <a:ext uri="{9D8B030D-6E8A-4147-A177-3AD203B41FA5}">
                      <a16:colId xmlns:a16="http://schemas.microsoft.com/office/drawing/2014/main" val="1047501653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47710616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519109528"/>
                    </a:ext>
                  </a:extLst>
                </a:gridCol>
                <a:gridCol w="610437">
                  <a:extLst>
                    <a:ext uri="{9D8B030D-6E8A-4147-A177-3AD203B41FA5}">
                      <a16:colId xmlns:a16="http://schemas.microsoft.com/office/drawing/2014/main" val="349866105"/>
                    </a:ext>
                  </a:extLst>
                </a:gridCol>
              </a:tblGrid>
              <a:tr h="440862"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Flip-Flop </a:t>
                      </a:r>
                    </a:p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Inputs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2547308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J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aseline="0" dirty="0" smtClean="0">
                          <a:solidFill>
                            <a:schemeClr val="tx1"/>
                          </a:solidFill>
                        </a:rPr>
                        <a:t>K</a:t>
                      </a:r>
                      <a:r>
                        <a:rPr lang="en-US" altLang="zh-TW" baseline="-25000" dirty="0" smtClean="0">
                          <a:solidFill>
                            <a:schemeClr val="tx1"/>
                          </a:solidFill>
                        </a:rPr>
                        <a:t>B</a:t>
                      </a:r>
                      <a:endParaRPr lang="zh-TW" altLang="en-US" baseline="-25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332037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5903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01760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48455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444371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43194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021309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385666"/>
                  </a:ext>
                </a:extLst>
              </a:tr>
              <a:tr h="440862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x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>
                          <a:solidFill>
                            <a:schemeClr val="tx1"/>
                          </a:solidFill>
                        </a:rPr>
                        <a:t>0</a:t>
                      </a:r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5699"/>
                  </a:ext>
                </a:extLst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00305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  <a:endParaRPr lang="en-US" altLang="zh-TW" sz="3200" dirty="0"/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2809623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>
                <a:solidFill>
                  <a:srgbClr val="0000FF"/>
                </a:solidFill>
              </a:rPr>
              <a:t>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(3) + D(4, 5, 6, 7)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913439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7628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>
                <a:solidFill>
                  <a:srgbClr val="0000FF"/>
                </a:solidFill>
              </a:rPr>
              <a:t>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(3) + D(4, 5, 6, 7) = </a:t>
            </a:r>
            <a:r>
              <a:rPr lang="en-US" altLang="zh-TW" sz="3200" b="1" dirty="0" err="1" smtClean="0">
                <a:solidFill>
                  <a:srgbClr val="0000FF"/>
                </a:solidFill>
              </a:rPr>
              <a:t>Bx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913439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733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(4, 6) + D(0, 1, 2, 3)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306378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30386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A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(4, 6) + D(0, 1, 2, 3)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306378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6804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 = x’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>
                <a:solidFill>
                  <a:srgbClr val="0000FF"/>
                </a:solidFill>
              </a:rPr>
              <a:t>(1,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5) + D(2, 3, 6, 7)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881667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表格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163672"/>
              </p:ext>
            </p:extLst>
          </p:nvPr>
        </p:nvGraphicFramePr>
        <p:xfrm>
          <a:off x="7572986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0" name="文字方塊 19"/>
          <p:cNvSpPr txBox="1"/>
          <p:nvPr/>
        </p:nvSpPr>
        <p:spPr>
          <a:xfrm>
            <a:off x="7843332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1" name="文字方塊 20"/>
          <p:cNvSpPr txBox="1"/>
          <p:nvPr/>
        </p:nvSpPr>
        <p:spPr>
          <a:xfrm>
            <a:off x="8028639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2" name="直線接點 21"/>
          <p:cNvCxnSpPr/>
          <p:nvPr/>
        </p:nvCxnSpPr>
        <p:spPr>
          <a:xfrm flipH="1" flipV="1">
            <a:off x="7988445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073871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 = x’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>
                <a:solidFill>
                  <a:srgbClr val="0000FF"/>
                </a:solidFill>
              </a:rPr>
              <a:t>(1, 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5) + D(2, 3, 6, 7) = 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881667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表格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163672"/>
              </p:ext>
            </p:extLst>
          </p:nvPr>
        </p:nvGraphicFramePr>
        <p:xfrm>
          <a:off x="7572986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0" name="文字方塊 19"/>
          <p:cNvSpPr txBox="1"/>
          <p:nvPr/>
        </p:nvSpPr>
        <p:spPr>
          <a:xfrm>
            <a:off x="7843332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1" name="文字方塊 20"/>
          <p:cNvSpPr txBox="1"/>
          <p:nvPr/>
        </p:nvSpPr>
        <p:spPr>
          <a:xfrm>
            <a:off x="8028639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2" name="直線接點 21"/>
          <p:cNvCxnSpPr/>
          <p:nvPr/>
        </p:nvCxnSpPr>
        <p:spPr>
          <a:xfrm flipH="1" flipV="1">
            <a:off x="7988445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24588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5941944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 = x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(2, 3, 6) + D(0, 1, 4, 5)</a:t>
            </a:r>
            <a:endParaRPr lang="en-US" altLang="zh-TW" sz="3200" b="1" dirty="0">
              <a:solidFill>
                <a:srgbClr val="0000FF"/>
              </a:solidFill>
            </a:endParaRPr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881667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表格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9646242"/>
              </p:ext>
            </p:extLst>
          </p:nvPr>
        </p:nvGraphicFramePr>
        <p:xfrm>
          <a:off x="7572986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0" name="文字方塊 19"/>
          <p:cNvSpPr txBox="1"/>
          <p:nvPr/>
        </p:nvSpPr>
        <p:spPr>
          <a:xfrm>
            <a:off x="7843332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1" name="文字方塊 20"/>
          <p:cNvSpPr txBox="1"/>
          <p:nvPr/>
        </p:nvSpPr>
        <p:spPr>
          <a:xfrm>
            <a:off x="8028639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2" name="直線接點 21"/>
          <p:cNvCxnSpPr/>
          <p:nvPr/>
        </p:nvCxnSpPr>
        <p:spPr>
          <a:xfrm flipH="1" flipV="1">
            <a:off x="7988445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" name="表格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68496"/>
              </p:ext>
            </p:extLst>
          </p:nvPr>
        </p:nvGraphicFramePr>
        <p:xfrm>
          <a:off x="3617717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4" name="文字方塊 23"/>
          <p:cNvSpPr txBox="1"/>
          <p:nvPr/>
        </p:nvSpPr>
        <p:spPr>
          <a:xfrm>
            <a:off x="3888063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5" name="文字方塊 24"/>
          <p:cNvSpPr txBox="1"/>
          <p:nvPr/>
        </p:nvSpPr>
        <p:spPr>
          <a:xfrm>
            <a:off x="4073370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6" name="直線接點 25"/>
          <p:cNvCxnSpPr/>
          <p:nvPr/>
        </p:nvCxnSpPr>
        <p:spPr>
          <a:xfrm flipH="1" flipV="1">
            <a:off x="4033176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圓角矩形 5"/>
          <p:cNvSpPr/>
          <p:nvPr/>
        </p:nvSpPr>
        <p:spPr>
          <a:xfrm>
            <a:off x="4392404" y="4797131"/>
            <a:ext cx="3087928" cy="550476"/>
          </a:xfrm>
          <a:prstGeom prst="round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173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7421526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 = x</a:t>
            </a:r>
          </a:p>
          <a:p>
            <a:pPr marL="0" lvl="1"/>
            <a:r>
              <a:rPr lang="en-US" altLang="zh-TW" sz="3200" b="1" dirty="0" smtClean="0">
                <a:solidFill>
                  <a:srgbClr val="0000FF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0000FF"/>
                </a:solidFill>
              </a:rPr>
              <a:t>B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 </a:t>
            </a:r>
            <a:r>
              <a:rPr lang="en-US" altLang="zh-TW" sz="3200" b="1" dirty="0">
                <a:solidFill>
                  <a:srgbClr val="0000FF"/>
                </a:solidFill>
              </a:rPr>
              <a:t>= </a:t>
            </a:r>
            <a:r>
              <a:rPr lang="en-US" altLang="zh-TW" sz="3200" b="1" dirty="0" smtClean="0">
                <a:solidFill>
                  <a:srgbClr val="0000FF"/>
                </a:solidFill>
                <a:latin typeface="Symbol" panose="05050102010706020507" pitchFamily="18" charset="2"/>
              </a:rPr>
              <a:t>S</a:t>
            </a:r>
            <a:r>
              <a:rPr lang="en-US" altLang="zh-TW" sz="3200" b="1" dirty="0" smtClean="0">
                <a:solidFill>
                  <a:srgbClr val="0000FF"/>
                </a:solidFill>
              </a:rPr>
              <a:t>(2, 3, 6) + D(0, 1, 4, 5) = A’ + x’ </a:t>
            </a:r>
            <a:endParaRPr lang="en-US" altLang="zh-TW" sz="3200" b="1" dirty="0">
              <a:solidFill>
                <a:srgbClr val="0000FF"/>
              </a:solidFill>
            </a:endParaRPr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881667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表格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9646242"/>
              </p:ext>
            </p:extLst>
          </p:nvPr>
        </p:nvGraphicFramePr>
        <p:xfrm>
          <a:off x="7572986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0" name="文字方塊 19"/>
          <p:cNvSpPr txBox="1"/>
          <p:nvPr/>
        </p:nvSpPr>
        <p:spPr>
          <a:xfrm>
            <a:off x="7843332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1" name="文字方塊 20"/>
          <p:cNvSpPr txBox="1"/>
          <p:nvPr/>
        </p:nvSpPr>
        <p:spPr>
          <a:xfrm>
            <a:off x="8028639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2" name="直線接點 21"/>
          <p:cNvCxnSpPr/>
          <p:nvPr/>
        </p:nvCxnSpPr>
        <p:spPr>
          <a:xfrm flipH="1" flipV="1">
            <a:off x="7988445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" name="表格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68496"/>
              </p:ext>
            </p:extLst>
          </p:nvPr>
        </p:nvGraphicFramePr>
        <p:xfrm>
          <a:off x="3617717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4" name="文字方塊 23"/>
          <p:cNvSpPr txBox="1"/>
          <p:nvPr/>
        </p:nvSpPr>
        <p:spPr>
          <a:xfrm>
            <a:off x="3888063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5" name="文字方塊 24"/>
          <p:cNvSpPr txBox="1"/>
          <p:nvPr/>
        </p:nvSpPr>
        <p:spPr>
          <a:xfrm>
            <a:off x="4073370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6" name="直線接點 25"/>
          <p:cNvCxnSpPr/>
          <p:nvPr/>
        </p:nvCxnSpPr>
        <p:spPr>
          <a:xfrm flipH="1" flipV="1">
            <a:off x="4033176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圓角矩形 5"/>
          <p:cNvSpPr/>
          <p:nvPr/>
        </p:nvSpPr>
        <p:spPr>
          <a:xfrm>
            <a:off x="4392404" y="4797131"/>
            <a:ext cx="3087928" cy="550476"/>
          </a:xfrm>
          <a:prstGeom prst="round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706400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58806" y="0"/>
            <a:ext cx="74553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flip-flop input equations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8806" y="1020502"/>
            <a:ext cx="7421526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(3) + D(4, 5, 6, 7) 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(4, 6) + D(0, 1, 2, 3)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>
                <a:latin typeface="Symbol" panose="05050102010706020507" pitchFamily="18" charset="2"/>
              </a:rPr>
              <a:t>S</a:t>
            </a:r>
            <a:r>
              <a:rPr lang="en-US" altLang="zh-TW" sz="3200" dirty="0"/>
              <a:t>(1, </a:t>
            </a:r>
            <a:r>
              <a:rPr lang="en-US" altLang="zh-TW" sz="3200" dirty="0" smtClean="0"/>
              <a:t>5) + D(2, 3, 6, 7) = 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(2, 3, 6) + D(0, 1, 4, 5) = A’ + x’ </a:t>
            </a:r>
            <a:endParaRPr lang="en-US" altLang="zh-TW" sz="3200" dirty="0"/>
          </a:p>
          <a:p>
            <a:pPr marL="0" lvl="1"/>
            <a:endParaRPr lang="en-US" altLang="zh-TW" sz="3200" b="1" dirty="0"/>
          </a:p>
        </p:txBody>
      </p:sp>
      <p:sp>
        <p:nvSpPr>
          <p:cNvPr id="13" name="矩形 12"/>
          <p:cNvSpPr/>
          <p:nvPr/>
        </p:nvSpPr>
        <p:spPr>
          <a:xfrm>
            <a:off x="0" y="3241222"/>
            <a:ext cx="53169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4800" b="1" dirty="0">
                <a:solidFill>
                  <a:srgbClr val="C00000"/>
                </a:solidFill>
              </a:rPr>
              <a:t>The </a:t>
            </a:r>
            <a:r>
              <a:rPr lang="en-US" altLang="zh-TW" sz="4800" b="1" dirty="0" smtClean="0">
                <a:solidFill>
                  <a:srgbClr val="C00000"/>
                </a:solidFill>
              </a:rPr>
              <a:t>output equation</a:t>
            </a:r>
            <a:endParaRPr lang="en-US" altLang="zh-TW" sz="4800" b="1" dirty="0">
              <a:solidFill>
                <a:srgbClr val="C00000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0" y="4162528"/>
            <a:ext cx="446555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y </a:t>
            </a:r>
            <a:r>
              <a:rPr lang="en-US" altLang="zh-TW" sz="3200" dirty="0"/>
              <a:t>= </a:t>
            </a:r>
            <a:r>
              <a:rPr lang="en-US" altLang="zh-TW" sz="3200" dirty="0" smtClean="0">
                <a:latin typeface="Symbol" panose="05050102010706020507" pitchFamily="18" charset="2"/>
              </a:rPr>
              <a:t>S</a:t>
            </a:r>
            <a:r>
              <a:rPr lang="en-US" altLang="zh-TW" sz="3200" dirty="0" smtClean="0"/>
              <a:t>(6, 7) = AB</a:t>
            </a:r>
            <a:endParaRPr lang="en-US" altLang="zh-TW" sz="32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779451"/>
              </p:ext>
            </p:extLst>
          </p:nvPr>
        </p:nvGraphicFramePr>
        <p:xfrm>
          <a:off x="7572986" y="204272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3" name="文字方塊 2"/>
          <p:cNvSpPr txBox="1"/>
          <p:nvPr/>
        </p:nvSpPr>
        <p:spPr>
          <a:xfrm>
            <a:off x="7843332" y="445457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0" name="文字方塊 9"/>
          <p:cNvSpPr txBox="1"/>
          <p:nvPr/>
        </p:nvSpPr>
        <p:spPr>
          <a:xfrm>
            <a:off x="8028639" y="140806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5" name="直線接點 4"/>
          <p:cNvCxnSpPr/>
          <p:nvPr/>
        </p:nvCxnSpPr>
        <p:spPr>
          <a:xfrm flipH="1" flipV="1">
            <a:off x="7988445" y="500126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表格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881667"/>
              </p:ext>
            </p:extLst>
          </p:nvPr>
        </p:nvGraphicFramePr>
        <p:xfrm>
          <a:off x="7572986" y="2196051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16" name="文字方塊 15"/>
          <p:cNvSpPr txBox="1"/>
          <p:nvPr/>
        </p:nvSpPr>
        <p:spPr>
          <a:xfrm>
            <a:off x="7843332" y="2437236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17" name="文字方塊 16"/>
          <p:cNvSpPr txBox="1"/>
          <p:nvPr/>
        </p:nvSpPr>
        <p:spPr>
          <a:xfrm>
            <a:off x="8028639" y="2132585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18" name="直線接點 17"/>
          <p:cNvCxnSpPr/>
          <p:nvPr/>
        </p:nvCxnSpPr>
        <p:spPr>
          <a:xfrm flipH="1" flipV="1">
            <a:off x="7988445" y="2491905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表格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9646242"/>
              </p:ext>
            </p:extLst>
          </p:nvPr>
        </p:nvGraphicFramePr>
        <p:xfrm>
          <a:off x="7572986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0" name="文字方塊 19"/>
          <p:cNvSpPr txBox="1"/>
          <p:nvPr/>
        </p:nvSpPr>
        <p:spPr>
          <a:xfrm>
            <a:off x="7843332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1" name="文字方塊 20"/>
          <p:cNvSpPr txBox="1"/>
          <p:nvPr/>
        </p:nvSpPr>
        <p:spPr>
          <a:xfrm>
            <a:off x="8028639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2" name="直線接點 21"/>
          <p:cNvCxnSpPr/>
          <p:nvPr/>
        </p:nvCxnSpPr>
        <p:spPr>
          <a:xfrm flipH="1" flipV="1">
            <a:off x="7988445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" name="表格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68496"/>
              </p:ext>
            </p:extLst>
          </p:nvPr>
        </p:nvGraphicFramePr>
        <p:xfrm>
          <a:off x="3617717" y="4251296"/>
          <a:ext cx="3862615" cy="16324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2523">
                  <a:extLst>
                    <a:ext uri="{9D8B030D-6E8A-4147-A177-3AD203B41FA5}">
                      <a16:colId xmlns:a16="http://schemas.microsoft.com/office/drawing/2014/main" val="1048566006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51736205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3474306802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1914736620"/>
                    </a:ext>
                  </a:extLst>
                </a:gridCol>
                <a:gridCol w="772523">
                  <a:extLst>
                    <a:ext uri="{9D8B030D-6E8A-4147-A177-3AD203B41FA5}">
                      <a16:colId xmlns:a16="http://schemas.microsoft.com/office/drawing/2014/main" val="2072687256"/>
                    </a:ext>
                  </a:extLst>
                </a:gridCol>
              </a:tblGrid>
              <a:tr h="544153">
                <a:tc>
                  <a:txBody>
                    <a:bodyPr/>
                    <a:lstStyle/>
                    <a:p>
                      <a:endParaRPr lang="zh-TW" alt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01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11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0" dirty="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zh-TW" altLang="en-US" sz="2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435345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0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41094"/>
                  </a:ext>
                </a:extLst>
              </a:tr>
              <a:tr h="5441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dirty="0" smtClean="0"/>
                        <a:t>1</a:t>
                      </a:r>
                      <a:endParaRPr lang="zh-TW" altLang="en-US" sz="2000" dirty="0"/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x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 smtClean="0"/>
                        <a:t>1</a:t>
                      </a:r>
                      <a:endParaRPr lang="zh-TW" altLang="en-US" dirty="0"/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91582"/>
                  </a:ext>
                </a:extLst>
              </a:tr>
            </a:tbl>
          </a:graphicData>
        </a:graphic>
      </p:graphicFrame>
      <p:sp>
        <p:nvSpPr>
          <p:cNvPr id="24" name="文字方塊 23"/>
          <p:cNvSpPr txBox="1"/>
          <p:nvPr/>
        </p:nvSpPr>
        <p:spPr>
          <a:xfrm>
            <a:off x="3888063" y="4492481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smtClean="0"/>
              <a:t>A</a:t>
            </a:r>
            <a:endParaRPr lang="zh-TW" altLang="en-US" sz="2400" dirty="0"/>
          </a:p>
        </p:txBody>
      </p:sp>
      <p:sp>
        <p:nvSpPr>
          <p:cNvPr id="25" name="文字方塊 24"/>
          <p:cNvSpPr txBox="1"/>
          <p:nvPr/>
        </p:nvSpPr>
        <p:spPr>
          <a:xfrm>
            <a:off x="4073370" y="4187830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dirty="0" err="1" smtClean="0"/>
              <a:t>Bx</a:t>
            </a:r>
            <a:endParaRPr lang="zh-TW" altLang="en-US" sz="2400" dirty="0"/>
          </a:p>
        </p:txBody>
      </p:sp>
      <p:cxnSp>
        <p:nvCxnSpPr>
          <p:cNvPr id="26" name="直線接點 25"/>
          <p:cNvCxnSpPr/>
          <p:nvPr/>
        </p:nvCxnSpPr>
        <p:spPr>
          <a:xfrm flipH="1" flipV="1">
            <a:off x="4033176" y="4547150"/>
            <a:ext cx="359228" cy="249981"/>
          </a:xfrm>
          <a:prstGeom prst="line">
            <a:avLst/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圓角矩形 5"/>
          <p:cNvSpPr/>
          <p:nvPr/>
        </p:nvSpPr>
        <p:spPr>
          <a:xfrm>
            <a:off x="4392404" y="4797131"/>
            <a:ext cx="3087928" cy="550476"/>
          </a:xfrm>
          <a:prstGeom prst="round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269469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</p:spTree>
    <p:extLst>
      <p:ext uri="{BB962C8B-B14F-4D97-AF65-F5344CB8AC3E}">
        <p14:creationId xmlns:p14="http://schemas.microsoft.com/office/powerpoint/2010/main" val="13640633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384721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8384721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8384721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接點 44"/>
          <p:cNvCxnSpPr/>
          <p:nvPr/>
        </p:nvCxnSpPr>
        <p:spPr>
          <a:xfrm>
            <a:off x="8384721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25" name="直線接點 24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接點 25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接點 29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9961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384721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8384721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8384721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接點 44"/>
          <p:cNvCxnSpPr/>
          <p:nvPr/>
        </p:nvCxnSpPr>
        <p:spPr>
          <a:xfrm>
            <a:off x="8384721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cxnSp>
        <p:nvCxnSpPr>
          <p:cNvPr id="32" name="直線接點 31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接點 32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接點 49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橢圓 51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61691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b="1" dirty="0" smtClean="0">
                <a:solidFill>
                  <a:srgbClr val="C00000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C00000"/>
                </a:solidFill>
              </a:rPr>
              <a:t>A</a:t>
            </a:r>
            <a:r>
              <a:rPr lang="en-US" altLang="zh-TW" sz="3200" b="1" dirty="0">
                <a:solidFill>
                  <a:srgbClr val="C00000"/>
                </a:solidFill>
              </a:rPr>
              <a:t>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= </a:t>
            </a:r>
            <a:r>
              <a:rPr lang="en-US" altLang="zh-TW" sz="3200" b="1" dirty="0" err="1" smtClean="0">
                <a:solidFill>
                  <a:srgbClr val="C00000"/>
                </a:solidFill>
              </a:rPr>
              <a:t>Bx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025492" y="1801194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8384721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8384721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接點 44"/>
          <p:cNvCxnSpPr/>
          <p:nvPr/>
        </p:nvCxnSpPr>
        <p:spPr>
          <a:xfrm>
            <a:off x="8384721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28504" y="1367430"/>
            <a:ext cx="1096988" cy="851200"/>
          </a:xfrm>
          <a:prstGeom prst="rect">
            <a:avLst/>
          </a:prstGeom>
        </p:spPr>
      </p:pic>
      <p:cxnSp>
        <p:nvCxnSpPr>
          <p:cNvPr id="13" name="直線接點 12"/>
          <p:cNvCxnSpPr/>
          <p:nvPr/>
        </p:nvCxnSpPr>
        <p:spPr>
          <a:xfrm flipH="1">
            <a:off x="3322865" y="1571537"/>
            <a:ext cx="374591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字方塊 49"/>
          <p:cNvSpPr txBox="1"/>
          <p:nvPr/>
        </p:nvSpPr>
        <p:spPr>
          <a:xfrm>
            <a:off x="2945311" y="1386871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x</a:t>
            </a:r>
            <a:endParaRPr lang="zh-TW" altLang="en-US" dirty="0"/>
          </a:p>
        </p:txBody>
      </p:sp>
      <p:cxnSp>
        <p:nvCxnSpPr>
          <p:cNvPr id="15" name="直線接點 14"/>
          <p:cNvCxnSpPr/>
          <p:nvPr/>
        </p:nvCxnSpPr>
        <p:spPr>
          <a:xfrm flipV="1">
            <a:off x="9952264" y="2996293"/>
            <a:ext cx="0" cy="48480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接點 16"/>
          <p:cNvCxnSpPr/>
          <p:nvPr/>
        </p:nvCxnSpPr>
        <p:spPr>
          <a:xfrm flipH="1">
            <a:off x="6449786" y="2996293"/>
            <a:ext cx="350247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449786" y="2030674"/>
            <a:ext cx="0" cy="96562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H="1">
            <a:off x="6449786" y="2030674"/>
            <a:ext cx="635327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接點 52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接點 53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接點 54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接點 55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橢圓 56"/>
          <p:cNvSpPr/>
          <p:nvPr/>
        </p:nvSpPr>
        <p:spPr>
          <a:xfrm>
            <a:off x="9901916" y="343338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8" name="橢圓 57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16506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b="1" dirty="0" smtClean="0">
                <a:solidFill>
                  <a:srgbClr val="C00000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C00000"/>
                </a:solidFill>
              </a:rPr>
              <a:t>A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025492" y="1801194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8384721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接點 44"/>
          <p:cNvCxnSpPr/>
          <p:nvPr/>
        </p:nvCxnSpPr>
        <p:spPr>
          <a:xfrm>
            <a:off x="8384721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28504" y="1367430"/>
            <a:ext cx="1096988" cy="851200"/>
          </a:xfrm>
          <a:prstGeom prst="rect">
            <a:avLst/>
          </a:prstGeom>
        </p:spPr>
      </p:pic>
      <p:cxnSp>
        <p:nvCxnSpPr>
          <p:cNvPr id="13" name="直線接點 12"/>
          <p:cNvCxnSpPr/>
          <p:nvPr/>
        </p:nvCxnSpPr>
        <p:spPr>
          <a:xfrm flipH="1">
            <a:off x="3322865" y="1571537"/>
            <a:ext cx="374591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字方塊 49"/>
          <p:cNvSpPr txBox="1"/>
          <p:nvPr/>
        </p:nvSpPr>
        <p:spPr>
          <a:xfrm>
            <a:off x="2945311" y="1386871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x</a:t>
            </a:r>
            <a:endParaRPr lang="zh-TW" altLang="en-US" dirty="0"/>
          </a:p>
        </p:txBody>
      </p:sp>
      <p:cxnSp>
        <p:nvCxnSpPr>
          <p:cNvPr id="15" name="直線接點 14"/>
          <p:cNvCxnSpPr/>
          <p:nvPr/>
        </p:nvCxnSpPr>
        <p:spPr>
          <a:xfrm flipV="1">
            <a:off x="9952264" y="2996293"/>
            <a:ext cx="0" cy="48480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接點 16"/>
          <p:cNvCxnSpPr/>
          <p:nvPr/>
        </p:nvCxnSpPr>
        <p:spPr>
          <a:xfrm flipH="1">
            <a:off x="6449786" y="2996293"/>
            <a:ext cx="350247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449786" y="2030674"/>
            <a:ext cx="0" cy="96562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H="1">
            <a:off x="6449786" y="2030674"/>
            <a:ext cx="635327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圖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78142" y="2139042"/>
            <a:ext cx="884306" cy="604800"/>
          </a:xfrm>
          <a:prstGeom prst="rect">
            <a:avLst/>
          </a:prstGeom>
        </p:spPr>
      </p:pic>
      <p:cxnSp>
        <p:nvCxnSpPr>
          <p:cNvPr id="14" name="直線接點 13"/>
          <p:cNvCxnSpPr/>
          <p:nvPr/>
        </p:nvCxnSpPr>
        <p:spPr>
          <a:xfrm>
            <a:off x="3820886" y="1571537"/>
            <a:ext cx="1" cy="89407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接點 59"/>
          <p:cNvCxnSpPr>
            <a:stCxn id="27" idx="1"/>
          </p:cNvCxnSpPr>
          <p:nvPr/>
        </p:nvCxnSpPr>
        <p:spPr>
          <a:xfrm flipH="1">
            <a:off x="4947559" y="2452398"/>
            <a:ext cx="37963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接點 60"/>
          <p:cNvCxnSpPr/>
          <p:nvPr/>
        </p:nvCxnSpPr>
        <p:spPr>
          <a:xfrm flipH="1">
            <a:off x="3820887" y="2449606"/>
            <a:ext cx="25725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橢圓 63"/>
          <p:cNvSpPr/>
          <p:nvPr/>
        </p:nvSpPr>
        <p:spPr>
          <a:xfrm>
            <a:off x="3773260" y="152255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65" name="直線接點 64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接點 65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接點 66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接點 67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橢圓 68"/>
          <p:cNvSpPr/>
          <p:nvPr/>
        </p:nvSpPr>
        <p:spPr>
          <a:xfrm>
            <a:off x="9901916" y="343338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0" name="橢圓 69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19995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b="1" dirty="0" smtClean="0">
                <a:solidFill>
                  <a:srgbClr val="C00000"/>
                </a:solidFill>
              </a:rPr>
              <a:t>J</a:t>
            </a:r>
            <a:r>
              <a:rPr lang="en-US" altLang="zh-TW" sz="3200" b="1" baseline="-25000" dirty="0" smtClean="0">
                <a:solidFill>
                  <a:srgbClr val="C00000"/>
                </a:solidFill>
              </a:rPr>
              <a:t>B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 </a:t>
            </a:r>
            <a:r>
              <a:rPr lang="en-US" altLang="zh-TW" sz="3200" b="1" dirty="0">
                <a:solidFill>
                  <a:srgbClr val="C00000"/>
                </a:solidFill>
              </a:rPr>
              <a:t>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025492" y="1801194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3820886" y="3481098"/>
            <a:ext cx="492306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接點 44"/>
          <p:cNvCxnSpPr/>
          <p:nvPr/>
        </p:nvCxnSpPr>
        <p:spPr>
          <a:xfrm>
            <a:off x="8384721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28504" y="1367430"/>
            <a:ext cx="1096988" cy="851200"/>
          </a:xfrm>
          <a:prstGeom prst="rect">
            <a:avLst/>
          </a:prstGeom>
        </p:spPr>
      </p:pic>
      <p:cxnSp>
        <p:nvCxnSpPr>
          <p:cNvPr id="13" name="直線接點 12"/>
          <p:cNvCxnSpPr/>
          <p:nvPr/>
        </p:nvCxnSpPr>
        <p:spPr>
          <a:xfrm flipH="1">
            <a:off x="3322865" y="1571537"/>
            <a:ext cx="374591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字方塊 49"/>
          <p:cNvSpPr txBox="1"/>
          <p:nvPr/>
        </p:nvSpPr>
        <p:spPr>
          <a:xfrm>
            <a:off x="2945311" y="1386871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x</a:t>
            </a:r>
            <a:endParaRPr lang="zh-TW" altLang="en-US" dirty="0"/>
          </a:p>
        </p:txBody>
      </p:sp>
      <p:cxnSp>
        <p:nvCxnSpPr>
          <p:cNvPr id="15" name="直線接點 14"/>
          <p:cNvCxnSpPr/>
          <p:nvPr/>
        </p:nvCxnSpPr>
        <p:spPr>
          <a:xfrm flipV="1">
            <a:off x="9952264" y="2996293"/>
            <a:ext cx="0" cy="48480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接點 16"/>
          <p:cNvCxnSpPr/>
          <p:nvPr/>
        </p:nvCxnSpPr>
        <p:spPr>
          <a:xfrm flipH="1">
            <a:off x="6449786" y="2996293"/>
            <a:ext cx="350247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449786" y="2030674"/>
            <a:ext cx="0" cy="96562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H="1">
            <a:off x="6449786" y="2030674"/>
            <a:ext cx="635327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圖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78142" y="2139042"/>
            <a:ext cx="884306" cy="604800"/>
          </a:xfrm>
          <a:prstGeom prst="rect">
            <a:avLst/>
          </a:prstGeom>
        </p:spPr>
      </p:pic>
      <p:cxnSp>
        <p:nvCxnSpPr>
          <p:cNvPr id="14" name="直線接點 13"/>
          <p:cNvCxnSpPr/>
          <p:nvPr/>
        </p:nvCxnSpPr>
        <p:spPr>
          <a:xfrm>
            <a:off x="3820886" y="1571537"/>
            <a:ext cx="0" cy="190956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接點 59"/>
          <p:cNvCxnSpPr>
            <a:stCxn id="27" idx="1"/>
          </p:cNvCxnSpPr>
          <p:nvPr/>
        </p:nvCxnSpPr>
        <p:spPr>
          <a:xfrm flipH="1">
            <a:off x="4947559" y="2452398"/>
            <a:ext cx="37963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接點 60"/>
          <p:cNvCxnSpPr/>
          <p:nvPr/>
        </p:nvCxnSpPr>
        <p:spPr>
          <a:xfrm flipH="1">
            <a:off x="3820887" y="2449606"/>
            <a:ext cx="25725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橢圓 63"/>
          <p:cNvSpPr/>
          <p:nvPr/>
        </p:nvSpPr>
        <p:spPr>
          <a:xfrm>
            <a:off x="3773260" y="152255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3" name="橢圓 52"/>
          <p:cNvSpPr/>
          <p:nvPr/>
        </p:nvSpPr>
        <p:spPr>
          <a:xfrm>
            <a:off x="3773260" y="2404293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54" name="直線接點 53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接點 54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接點 55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接點 56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橢圓 57"/>
          <p:cNvSpPr/>
          <p:nvPr/>
        </p:nvSpPr>
        <p:spPr>
          <a:xfrm>
            <a:off x="9901916" y="343338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9" name="橢圓 58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47571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b="1" dirty="0" smtClean="0">
                <a:solidFill>
                  <a:srgbClr val="C00000"/>
                </a:solidFill>
              </a:rPr>
              <a:t>K</a:t>
            </a:r>
            <a:r>
              <a:rPr lang="en-US" altLang="zh-TW" sz="3200" b="1" baseline="-25000" dirty="0" smtClean="0">
                <a:solidFill>
                  <a:srgbClr val="C00000"/>
                </a:solidFill>
              </a:rPr>
              <a:t>B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 </a:t>
            </a:r>
            <a:r>
              <a:rPr lang="en-US" altLang="zh-TW" sz="3200" b="1" dirty="0">
                <a:solidFill>
                  <a:srgbClr val="C00000"/>
                </a:solidFill>
              </a:rPr>
              <a:t>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A’ + x’ </a:t>
            </a:r>
          </a:p>
          <a:p>
            <a:pPr marL="0" lvl="1"/>
            <a:r>
              <a:rPr lang="en-US" altLang="zh-TW" sz="3200" dirty="0"/>
              <a:t>y = </a:t>
            </a:r>
            <a:r>
              <a:rPr lang="en-US" altLang="zh-TW" sz="3200" dirty="0" smtClean="0"/>
              <a:t>AB</a:t>
            </a:r>
            <a:endParaRPr lang="en-US" altLang="zh-TW" sz="3200" dirty="0"/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025492" y="1801194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3820886" y="3481098"/>
            <a:ext cx="492306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28504" y="1367430"/>
            <a:ext cx="1096988" cy="851200"/>
          </a:xfrm>
          <a:prstGeom prst="rect">
            <a:avLst/>
          </a:prstGeom>
        </p:spPr>
      </p:pic>
      <p:cxnSp>
        <p:nvCxnSpPr>
          <p:cNvPr id="13" name="直線接點 12"/>
          <p:cNvCxnSpPr/>
          <p:nvPr/>
        </p:nvCxnSpPr>
        <p:spPr>
          <a:xfrm flipH="1">
            <a:off x="3322865" y="1571537"/>
            <a:ext cx="374591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字方塊 49"/>
          <p:cNvSpPr txBox="1"/>
          <p:nvPr/>
        </p:nvSpPr>
        <p:spPr>
          <a:xfrm>
            <a:off x="2945311" y="1386871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x</a:t>
            </a:r>
            <a:endParaRPr lang="zh-TW" altLang="en-US" dirty="0"/>
          </a:p>
        </p:txBody>
      </p:sp>
      <p:cxnSp>
        <p:nvCxnSpPr>
          <p:cNvPr id="15" name="直線接點 14"/>
          <p:cNvCxnSpPr/>
          <p:nvPr/>
        </p:nvCxnSpPr>
        <p:spPr>
          <a:xfrm flipV="1">
            <a:off x="9952264" y="2996293"/>
            <a:ext cx="0" cy="48480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接點 16"/>
          <p:cNvCxnSpPr/>
          <p:nvPr/>
        </p:nvCxnSpPr>
        <p:spPr>
          <a:xfrm flipH="1">
            <a:off x="6449786" y="2996293"/>
            <a:ext cx="350247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449786" y="2030674"/>
            <a:ext cx="0" cy="96562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H="1">
            <a:off x="6449786" y="2030674"/>
            <a:ext cx="635327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圖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78142" y="2139042"/>
            <a:ext cx="884306" cy="604800"/>
          </a:xfrm>
          <a:prstGeom prst="rect">
            <a:avLst/>
          </a:prstGeom>
        </p:spPr>
      </p:pic>
      <p:cxnSp>
        <p:nvCxnSpPr>
          <p:cNvPr id="14" name="直線接點 13"/>
          <p:cNvCxnSpPr/>
          <p:nvPr/>
        </p:nvCxnSpPr>
        <p:spPr>
          <a:xfrm>
            <a:off x="3820886" y="1571537"/>
            <a:ext cx="0" cy="190956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接點 59"/>
          <p:cNvCxnSpPr>
            <a:stCxn id="27" idx="1"/>
          </p:cNvCxnSpPr>
          <p:nvPr/>
        </p:nvCxnSpPr>
        <p:spPr>
          <a:xfrm flipH="1">
            <a:off x="4947559" y="2452398"/>
            <a:ext cx="37963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接點 60"/>
          <p:cNvCxnSpPr/>
          <p:nvPr/>
        </p:nvCxnSpPr>
        <p:spPr>
          <a:xfrm flipH="1">
            <a:off x="3820887" y="2449606"/>
            <a:ext cx="25725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橢圓 63"/>
          <p:cNvSpPr/>
          <p:nvPr/>
        </p:nvSpPr>
        <p:spPr>
          <a:xfrm>
            <a:off x="3773260" y="152255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3" name="橢圓 52"/>
          <p:cNvSpPr/>
          <p:nvPr/>
        </p:nvSpPr>
        <p:spPr>
          <a:xfrm>
            <a:off x="3773260" y="2404293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10" name="圖片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3911" y="3725386"/>
            <a:ext cx="1263978" cy="887969"/>
          </a:xfrm>
          <a:prstGeom prst="rect">
            <a:avLst/>
          </a:prstGeom>
        </p:spPr>
      </p:pic>
      <p:cxnSp>
        <p:nvCxnSpPr>
          <p:cNvPr id="55" name="直線接點 54"/>
          <p:cNvCxnSpPr/>
          <p:nvPr/>
        </p:nvCxnSpPr>
        <p:spPr>
          <a:xfrm>
            <a:off x="8022767" y="4153682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線接點 19"/>
          <p:cNvCxnSpPr/>
          <p:nvPr/>
        </p:nvCxnSpPr>
        <p:spPr>
          <a:xfrm>
            <a:off x="5020292" y="4379168"/>
            <a:ext cx="214720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接點 21"/>
          <p:cNvCxnSpPr/>
          <p:nvPr/>
        </p:nvCxnSpPr>
        <p:spPr>
          <a:xfrm flipV="1">
            <a:off x="5020292" y="2449606"/>
            <a:ext cx="0" cy="19295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橢圓 55"/>
          <p:cNvSpPr/>
          <p:nvPr/>
        </p:nvSpPr>
        <p:spPr>
          <a:xfrm>
            <a:off x="4983387" y="2404293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26" name="直線接點 25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接點 56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接點 62"/>
          <p:cNvCxnSpPr/>
          <p:nvPr/>
        </p:nvCxnSpPr>
        <p:spPr>
          <a:xfrm flipV="1">
            <a:off x="5527221" y="1053193"/>
            <a:ext cx="0" cy="286916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線接點 64"/>
          <p:cNvCxnSpPr/>
          <p:nvPr/>
        </p:nvCxnSpPr>
        <p:spPr>
          <a:xfrm flipH="1">
            <a:off x="5527221" y="3922360"/>
            <a:ext cx="164027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接點 67"/>
          <p:cNvCxnSpPr/>
          <p:nvPr/>
        </p:nvCxnSpPr>
        <p:spPr>
          <a:xfrm>
            <a:off x="5527221" y="1036864"/>
            <a:ext cx="442504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接點 69"/>
          <p:cNvCxnSpPr/>
          <p:nvPr/>
        </p:nvCxnSpPr>
        <p:spPr>
          <a:xfrm flipV="1">
            <a:off x="9952264" y="1036864"/>
            <a:ext cx="0" cy="1412743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橢圓 71"/>
          <p:cNvSpPr/>
          <p:nvPr/>
        </p:nvSpPr>
        <p:spPr>
          <a:xfrm>
            <a:off x="9904638" y="241278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74" name="直線接點 73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接點 74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橢圓 75"/>
          <p:cNvSpPr/>
          <p:nvPr/>
        </p:nvSpPr>
        <p:spPr>
          <a:xfrm>
            <a:off x="9901916" y="343338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7" name="橢圓 76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2373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56778" y="0"/>
            <a:ext cx="22108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/>
              <a:t> </a:t>
            </a:r>
            <a:r>
              <a:rPr lang="en-US" altLang="zh-TW" sz="3200" dirty="0" smtClean="0"/>
              <a:t>= </a:t>
            </a:r>
            <a:r>
              <a:rPr lang="en-US" altLang="zh-TW" sz="3200" dirty="0" err="1" smtClean="0"/>
              <a:t>Bx</a:t>
            </a:r>
            <a:r>
              <a:rPr lang="en-US" altLang="zh-TW" sz="3200" dirty="0" smtClean="0"/>
              <a:t> 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A</a:t>
            </a:r>
            <a:r>
              <a:rPr lang="en-US" altLang="zh-TW" sz="3200" dirty="0" smtClean="0"/>
              <a:t> = x’</a:t>
            </a:r>
          </a:p>
          <a:p>
            <a:pPr marL="0" lvl="1"/>
            <a:r>
              <a:rPr lang="en-US" altLang="zh-TW" sz="3200" dirty="0" smtClean="0"/>
              <a:t>J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x</a:t>
            </a:r>
          </a:p>
          <a:p>
            <a:pPr marL="0" lvl="1"/>
            <a:r>
              <a:rPr lang="en-US" altLang="zh-TW" sz="3200" dirty="0" smtClean="0"/>
              <a:t>K</a:t>
            </a:r>
            <a:r>
              <a:rPr lang="en-US" altLang="zh-TW" sz="3200" baseline="-25000" dirty="0" smtClean="0"/>
              <a:t>B</a:t>
            </a:r>
            <a:r>
              <a:rPr lang="en-US" altLang="zh-TW" sz="3200" dirty="0" smtClean="0"/>
              <a:t> </a:t>
            </a:r>
            <a:r>
              <a:rPr lang="en-US" altLang="zh-TW" sz="3200" dirty="0"/>
              <a:t>= </a:t>
            </a:r>
            <a:r>
              <a:rPr lang="en-US" altLang="zh-TW" sz="3200" dirty="0" smtClean="0"/>
              <a:t>A’ + x’ </a:t>
            </a:r>
          </a:p>
          <a:p>
            <a:pPr marL="0" lvl="1"/>
            <a:r>
              <a:rPr lang="en-US" altLang="zh-TW" sz="3200" b="1" dirty="0">
                <a:solidFill>
                  <a:srgbClr val="C00000"/>
                </a:solidFill>
              </a:rPr>
              <a:t>y = </a:t>
            </a:r>
            <a:r>
              <a:rPr lang="en-US" altLang="zh-TW" sz="3200" b="1" dirty="0" smtClean="0">
                <a:solidFill>
                  <a:srgbClr val="C00000"/>
                </a:solidFill>
              </a:rPr>
              <a:t>AB</a:t>
            </a:r>
            <a:endParaRPr lang="en-US" altLang="zh-TW" sz="3200" b="1" dirty="0">
              <a:solidFill>
                <a:srgbClr val="C00000"/>
              </a:solidFill>
            </a:endParaRPr>
          </a:p>
        </p:txBody>
      </p:sp>
      <p:sp>
        <p:nvSpPr>
          <p:cNvPr id="4" name="矩形 3"/>
          <p:cNvSpPr/>
          <p:nvPr/>
        </p:nvSpPr>
        <p:spPr>
          <a:xfrm>
            <a:off x="8743950" y="1608364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" name="文字方塊 6"/>
          <p:cNvSpPr txBox="1"/>
          <p:nvPr/>
        </p:nvSpPr>
        <p:spPr>
          <a:xfrm>
            <a:off x="8743950" y="1608364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27" name="文字方塊 26"/>
          <p:cNvSpPr txBox="1"/>
          <p:nvPr/>
        </p:nvSpPr>
        <p:spPr>
          <a:xfrm>
            <a:off x="8743950" y="2267732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9" name="直線接點 8"/>
          <p:cNvCxnSpPr/>
          <p:nvPr/>
        </p:nvCxnSpPr>
        <p:spPr>
          <a:xfrm>
            <a:off x="8743950" y="2051172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 flipV="1">
            <a:off x="8741225" y="2130096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接點 30"/>
          <p:cNvCxnSpPr/>
          <p:nvPr/>
        </p:nvCxnSpPr>
        <p:spPr>
          <a:xfrm>
            <a:off x="8025492" y="1801194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接點 34"/>
          <p:cNvCxnSpPr/>
          <p:nvPr/>
        </p:nvCxnSpPr>
        <p:spPr>
          <a:xfrm>
            <a:off x="9593035" y="1793030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字方塊 35"/>
          <p:cNvSpPr txBox="1"/>
          <p:nvPr/>
        </p:nvSpPr>
        <p:spPr>
          <a:xfrm>
            <a:off x="10719707" y="1608364"/>
            <a:ext cx="324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 smtClean="0"/>
              <a:t>A</a:t>
            </a:r>
            <a:endParaRPr lang="zh-TW" altLang="en-US" dirty="0"/>
          </a:p>
        </p:txBody>
      </p:sp>
      <p:cxnSp>
        <p:nvCxnSpPr>
          <p:cNvPr id="37" name="直線接點 36"/>
          <p:cNvCxnSpPr/>
          <p:nvPr/>
        </p:nvCxnSpPr>
        <p:spPr>
          <a:xfrm>
            <a:off x="9593035" y="2465614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字方塊 37"/>
          <p:cNvSpPr txBox="1"/>
          <p:nvPr/>
        </p:nvSpPr>
        <p:spPr>
          <a:xfrm>
            <a:off x="10719707" y="2280948"/>
            <a:ext cx="3674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A’</a:t>
            </a:r>
            <a:endParaRPr lang="zh-TW" altLang="en-US" dirty="0"/>
          </a:p>
        </p:txBody>
      </p:sp>
      <p:sp>
        <p:nvSpPr>
          <p:cNvPr id="39" name="矩形 38"/>
          <p:cNvSpPr/>
          <p:nvPr/>
        </p:nvSpPr>
        <p:spPr>
          <a:xfrm>
            <a:off x="8743950" y="3296432"/>
            <a:ext cx="849085" cy="1028700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0" name="文字方塊 39"/>
          <p:cNvSpPr txBox="1"/>
          <p:nvPr/>
        </p:nvSpPr>
        <p:spPr>
          <a:xfrm>
            <a:off x="8743950" y="3296432"/>
            <a:ext cx="272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J</a:t>
            </a:r>
            <a:endParaRPr lang="zh-TW" altLang="en-US" dirty="0"/>
          </a:p>
        </p:txBody>
      </p:sp>
      <p:sp>
        <p:nvSpPr>
          <p:cNvPr id="41" name="文字方塊 40"/>
          <p:cNvSpPr txBox="1"/>
          <p:nvPr/>
        </p:nvSpPr>
        <p:spPr>
          <a:xfrm>
            <a:off x="8743950" y="39558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K</a:t>
            </a:r>
            <a:endParaRPr lang="zh-TW" altLang="en-US" dirty="0"/>
          </a:p>
        </p:txBody>
      </p:sp>
      <p:cxnSp>
        <p:nvCxnSpPr>
          <p:cNvPr id="42" name="直線接點 41"/>
          <p:cNvCxnSpPr/>
          <p:nvPr/>
        </p:nvCxnSpPr>
        <p:spPr>
          <a:xfrm>
            <a:off x="8743950" y="3739240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接點 42"/>
          <p:cNvCxnSpPr/>
          <p:nvPr/>
        </p:nvCxnSpPr>
        <p:spPr>
          <a:xfrm flipV="1">
            <a:off x="8741225" y="3818164"/>
            <a:ext cx="136416" cy="79704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接點 43"/>
          <p:cNvCxnSpPr/>
          <p:nvPr/>
        </p:nvCxnSpPr>
        <p:spPr>
          <a:xfrm>
            <a:off x="3820886" y="3481098"/>
            <a:ext cx="492306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9593035" y="3481098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文字方塊 46"/>
          <p:cNvSpPr txBox="1"/>
          <p:nvPr/>
        </p:nvSpPr>
        <p:spPr>
          <a:xfrm>
            <a:off x="10719707" y="3296432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</a:t>
            </a:r>
            <a:endParaRPr lang="zh-TW" altLang="en-US" dirty="0"/>
          </a:p>
        </p:txBody>
      </p:sp>
      <p:cxnSp>
        <p:nvCxnSpPr>
          <p:cNvPr id="48" name="直線接點 47"/>
          <p:cNvCxnSpPr/>
          <p:nvPr/>
        </p:nvCxnSpPr>
        <p:spPr>
          <a:xfrm>
            <a:off x="9593035" y="4153682"/>
            <a:ext cx="359229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字方塊 48"/>
          <p:cNvSpPr txBox="1"/>
          <p:nvPr/>
        </p:nvSpPr>
        <p:spPr>
          <a:xfrm>
            <a:off x="10719707" y="3969016"/>
            <a:ext cx="351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B’</a:t>
            </a:r>
            <a:endParaRPr lang="zh-TW" altLang="en-US" dirty="0"/>
          </a:p>
        </p:txBody>
      </p:sp>
      <p:cxnSp>
        <p:nvCxnSpPr>
          <p:cNvPr id="3" name="直線接點 2"/>
          <p:cNvCxnSpPr/>
          <p:nvPr/>
        </p:nvCxnSpPr>
        <p:spPr>
          <a:xfrm>
            <a:off x="8553446" y="2130096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8553446" y="3833710"/>
            <a:ext cx="18777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接點 5"/>
          <p:cNvCxnSpPr/>
          <p:nvPr/>
        </p:nvCxnSpPr>
        <p:spPr>
          <a:xfrm>
            <a:off x="8553446" y="2130096"/>
            <a:ext cx="0" cy="333997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字方塊 29"/>
          <p:cNvSpPr txBox="1"/>
          <p:nvPr/>
        </p:nvSpPr>
        <p:spPr>
          <a:xfrm>
            <a:off x="8193030" y="5492609"/>
            <a:ext cx="684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Clock</a:t>
            </a:r>
            <a:endParaRPr lang="zh-TW" altLang="en-US" dirty="0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28504" y="1367430"/>
            <a:ext cx="1096988" cy="851200"/>
          </a:xfrm>
          <a:prstGeom prst="rect">
            <a:avLst/>
          </a:prstGeom>
        </p:spPr>
      </p:pic>
      <p:cxnSp>
        <p:nvCxnSpPr>
          <p:cNvPr id="13" name="直線接點 12"/>
          <p:cNvCxnSpPr/>
          <p:nvPr/>
        </p:nvCxnSpPr>
        <p:spPr>
          <a:xfrm flipH="1">
            <a:off x="3322865" y="1571537"/>
            <a:ext cx="374591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字方塊 49"/>
          <p:cNvSpPr txBox="1"/>
          <p:nvPr/>
        </p:nvSpPr>
        <p:spPr>
          <a:xfrm>
            <a:off x="2945311" y="1386871"/>
            <a:ext cx="300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dirty="0" smtClean="0"/>
              <a:t>x</a:t>
            </a:r>
            <a:endParaRPr lang="zh-TW" altLang="en-US" dirty="0"/>
          </a:p>
        </p:txBody>
      </p:sp>
      <p:cxnSp>
        <p:nvCxnSpPr>
          <p:cNvPr id="15" name="直線接點 14"/>
          <p:cNvCxnSpPr/>
          <p:nvPr/>
        </p:nvCxnSpPr>
        <p:spPr>
          <a:xfrm flipV="1">
            <a:off x="9952264" y="2996293"/>
            <a:ext cx="0" cy="48480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接點 16"/>
          <p:cNvCxnSpPr/>
          <p:nvPr/>
        </p:nvCxnSpPr>
        <p:spPr>
          <a:xfrm flipH="1">
            <a:off x="6449786" y="2996293"/>
            <a:ext cx="350247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449786" y="2030674"/>
            <a:ext cx="0" cy="285156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H="1">
            <a:off x="6449786" y="2030674"/>
            <a:ext cx="635327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圖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78142" y="2139042"/>
            <a:ext cx="884306" cy="604800"/>
          </a:xfrm>
          <a:prstGeom prst="rect">
            <a:avLst/>
          </a:prstGeom>
        </p:spPr>
      </p:pic>
      <p:cxnSp>
        <p:nvCxnSpPr>
          <p:cNvPr id="14" name="直線接點 13"/>
          <p:cNvCxnSpPr/>
          <p:nvPr/>
        </p:nvCxnSpPr>
        <p:spPr>
          <a:xfrm>
            <a:off x="3820886" y="1571537"/>
            <a:ext cx="0" cy="190956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接點 59"/>
          <p:cNvCxnSpPr>
            <a:stCxn id="27" idx="1"/>
          </p:cNvCxnSpPr>
          <p:nvPr/>
        </p:nvCxnSpPr>
        <p:spPr>
          <a:xfrm flipH="1">
            <a:off x="4947559" y="2452398"/>
            <a:ext cx="37963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接點 60"/>
          <p:cNvCxnSpPr/>
          <p:nvPr/>
        </p:nvCxnSpPr>
        <p:spPr>
          <a:xfrm flipH="1">
            <a:off x="3820887" y="2449606"/>
            <a:ext cx="25725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橢圓 63"/>
          <p:cNvSpPr/>
          <p:nvPr/>
        </p:nvSpPr>
        <p:spPr>
          <a:xfrm>
            <a:off x="3773260" y="152255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3" name="橢圓 52"/>
          <p:cNvSpPr/>
          <p:nvPr/>
        </p:nvSpPr>
        <p:spPr>
          <a:xfrm>
            <a:off x="3773260" y="2404293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10" name="圖片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3911" y="3725386"/>
            <a:ext cx="1263978" cy="887969"/>
          </a:xfrm>
          <a:prstGeom prst="rect">
            <a:avLst/>
          </a:prstGeom>
        </p:spPr>
      </p:pic>
      <p:cxnSp>
        <p:nvCxnSpPr>
          <p:cNvPr id="55" name="直線接點 54"/>
          <p:cNvCxnSpPr/>
          <p:nvPr/>
        </p:nvCxnSpPr>
        <p:spPr>
          <a:xfrm>
            <a:off x="8022767" y="4153682"/>
            <a:ext cx="71845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線接點 19"/>
          <p:cNvCxnSpPr/>
          <p:nvPr/>
        </p:nvCxnSpPr>
        <p:spPr>
          <a:xfrm>
            <a:off x="5020292" y="4379168"/>
            <a:ext cx="214720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接點 21"/>
          <p:cNvCxnSpPr/>
          <p:nvPr/>
        </p:nvCxnSpPr>
        <p:spPr>
          <a:xfrm flipV="1">
            <a:off x="5020292" y="2449606"/>
            <a:ext cx="0" cy="19295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橢圓 55"/>
          <p:cNvSpPr/>
          <p:nvPr/>
        </p:nvSpPr>
        <p:spPr>
          <a:xfrm>
            <a:off x="4983387" y="2404293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26" name="直線接點 25"/>
          <p:cNvCxnSpPr/>
          <p:nvPr/>
        </p:nvCxnSpPr>
        <p:spPr>
          <a:xfrm>
            <a:off x="9952264" y="1793030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接點 56"/>
          <p:cNvCxnSpPr/>
          <p:nvPr/>
        </p:nvCxnSpPr>
        <p:spPr>
          <a:xfrm>
            <a:off x="9952264" y="2465614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接點 62"/>
          <p:cNvCxnSpPr/>
          <p:nvPr/>
        </p:nvCxnSpPr>
        <p:spPr>
          <a:xfrm flipV="1">
            <a:off x="5527221" y="1053193"/>
            <a:ext cx="0" cy="286916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線接點 64"/>
          <p:cNvCxnSpPr/>
          <p:nvPr/>
        </p:nvCxnSpPr>
        <p:spPr>
          <a:xfrm flipH="1">
            <a:off x="5527221" y="3922360"/>
            <a:ext cx="164027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接點 67"/>
          <p:cNvCxnSpPr/>
          <p:nvPr/>
        </p:nvCxnSpPr>
        <p:spPr>
          <a:xfrm>
            <a:off x="5527221" y="1053192"/>
            <a:ext cx="442504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接點 69"/>
          <p:cNvCxnSpPr/>
          <p:nvPr/>
        </p:nvCxnSpPr>
        <p:spPr>
          <a:xfrm flipV="1">
            <a:off x="9952264" y="1045028"/>
            <a:ext cx="0" cy="1412743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橢圓 71"/>
          <p:cNvSpPr/>
          <p:nvPr/>
        </p:nvSpPr>
        <p:spPr>
          <a:xfrm>
            <a:off x="9904638" y="2412780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73" name="圖片 7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68784" y="4676552"/>
            <a:ext cx="1096988" cy="851200"/>
          </a:xfrm>
          <a:prstGeom prst="rect">
            <a:avLst/>
          </a:prstGeom>
        </p:spPr>
      </p:pic>
      <p:cxnSp>
        <p:nvCxnSpPr>
          <p:cNvPr id="74" name="直線接點 73"/>
          <p:cNvCxnSpPr/>
          <p:nvPr/>
        </p:nvCxnSpPr>
        <p:spPr>
          <a:xfrm>
            <a:off x="9952264" y="3481098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接點 74"/>
          <p:cNvCxnSpPr/>
          <p:nvPr/>
        </p:nvCxnSpPr>
        <p:spPr>
          <a:xfrm>
            <a:off x="9952264" y="4153682"/>
            <a:ext cx="37555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橢圓 75"/>
          <p:cNvSpPr/>
          <p:nvPr/>
        </p:nvSpPr>
        <p:spPr>
          <a:xfrm>
            <a:off x="9901916" y="343338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7" name="橢圓 76"/>
          <p:cNvSpPr/>
          <p:nvPr/>
        </p:nvSpPr>
        <p:spPr>
          <a:xfrm>
            <a:off x="8511259" y="378472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16" name="直線接點 15"/>
          <p:cNvCxnSpPr/>
          <p:nvPr/>
        </p:nvCxnSpPr>
        <p:spPr>
          <a:xfrm>
            <a:off x="6449786" y="4882243"/>
            <a:ext cx="79193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橢圓 61"/>
          <p:cNvSpPr/>
          <p:nvPr/>
        </p:nvSpPr>
        <p:spPr>
          <a:xfrm>
            <a:off x="6406914" y="2958514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66" name="橢圓 65"/>
          <p:cNvSpPr/>
          <p:nvPr/>
        </p:nvSpPr>
        <p:spPr>
          <a:xfrm>
            <a:off x="10092416" y="1739387"/>
            <a:ext cx="95252" cy="9797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67" name="直線接點 66"/>
          <p:cNvCxnSpPr/>
          <p:nvPr/>
        </p:nvCxnSpPr>
        <p:spPr>
          <a:xfrm flipV="1">
            <a:off x="10140042" y="801447"/>
            <a:ext cx="0" cy="951649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接點 68"/>
          <p:cNvCxnSpPr/>
          <p:nvPr/>
        </p:nvCxnSpPr>
        <p:spPr>
          <a:xfrm>
            <a:off x="5290457" y="801447"/>
            <a:ext cx="484958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接點 70"/>
          <p:cNvCxnSpPr/>
          <p:nvPr/>
        </p:nvCxnSpPr>
        <p:spPr>
          <a:xfrm flipV="1">
            <a:off x="5290457" y="801448"/>
            <a:ext cx="0" cy="4554323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接點 77"/>
          <p:cNvCxnSpPr/>
          <p:nvPr/>
        </p:nvCxnSpPr>
        <p:spPr>
          <a:xfrm>
            <a:off x="5293796" y="5339443"/>
            <a:ext cx="193976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接點 78"/>
          <p:cNvCxnSpPr/>
          <p:nvPr/>
        </p:nvCxnSpPr>
        <p:spPr>
          <a:xfrm>
            <a:off x="8063589" y="5110316"/>
            <a:ext cx="2264232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文字方塊 79"/>
          <p:cNvSpPr txBox="1"/>
          <p:nvPr/>
        </p:nvSpPr>
        <p:spPr>
          <a:xfrm>
            <a:off x="10744513" y="4917486"/>
            <a:ext cx="324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 smtClean="0"/>
              <a:t>y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48324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小水滴">
  <a:themeElements>
    <a:clrScheme name="Droplet">
      <a:dk1>
        <a:sysClr val="windowText" lastClr="000000"/>
      </a:dk1>
      <a:lt1>
        <a:sysClr val="window" lastClr="FFFFFF"/>
      </a:lt1>
      <a:dk2>
        <a:srgbClr val="355071"/>
      </a:dk2>
      <a:lt2>
        <a:srgbClr val="AABED7"/>
      </a:lt2>
      <a:accent1>
        <a:srgbClr val="2FA3EE"/>
      </a:accent1>
      <a:accent2>
        <a:srgbClr val="4BCAAD"/>
      </a:accent2>
      <a:accent3>
        <a:srgbClr val="86C157"/>
      </a:accent3>
      <a:accent4>
        <a:srgbClr val="D99C3F"/>
      </a:accent4>
      <a:accent5>
        <a:srgbClr val="CE6633"/>
      </a:accent5>
      <a:accent6>
        <a:srgbClr val="A35DD1"/>
      </a:accent6>
      <a:hlink>
        <a:srgbClr val="56BCFE"/>
      </a:hlink>
      <a:folHlink>
        <a:srgbClr val="97C5E3"/>
      </a:folHlink>
    </a:clrScheme>
    <a:fontScheme name="Droplet">
      <a:majorFont>
        <a:latin typeface="Tw Cen MT" panose="020B0602020104020603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Tw Cen MT" panose="020B0602020104020603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Droplet">
      <a:fillStyleLst>
        <a:solidFill>
          <a:schemeClr val="phClr"/>
        </a:solidFill>
        <a:solidFill>
          <a:schemeClr val="phClr">
            <a:tint val="69000"/>
            <a:satMod val="105000"/>
            <a:lumMod val="110000"/>
          </a:schemeClr>
        </a:solidFill>
        <a:gradFill rotWithShape="1">
          <a:gsLst>
            <a:gs pos="0">
              <a:schemeClr val="phClr">
                <a:tint val="94000"/>
                <a:satMod val="100000"/>
                <a:lumMod val="108000"/>
              </a:schemeClr>
            </a:gs>
            <a:gs pos="50000">
              <a:schemeClr val="phClr">
                <a:tint val="98000"/>
                <a:shade val="100000"/>
                <a:satMod val="100000"/>
                <a:lumMod val="100000"/>
              </a:schemeClr>
            </a:gs>
            <a:gs pos="100000">
              <a:schemeClr val="phClr">
                <a:shade val="72000"/>
                <a:satMod val="120000"/>
                <a:lumMod val="10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>
              <a:shade val="60000"/>
            </a:schemeClr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28000"/>
              </a:srgbClr>
            </a:outerShdw>
          </a:effectLst>
        </a:effectStyle>
        <a:effectStyle>
          <a:effectLst>
            <a:outerShdw blurRad="63500" dist="25400" dir="5400000" algn="ctr" rotWithShape="0">
              <a:srgbClr val="000000">
                <a:alpha val="69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1200000"/>
            </a:lightRig>
          </a:scene3d>
          <a:sp3d prstMaterial="plastic">
            <a:bevelT w="254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64000"/>
                <a:lumMod val="8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84000"/>
                <a:shade val="100000"/>
                <a:hueMod val="130000"/>
                <a:satMod val="150000"/>
                <a:lumMod val="112000"/>
              </a:schemeClr>
            </a:gs>
            <a:gs pos="100000">
              <a:schemeClr val="phClr">
                <a:shade val="92000"/>
                <a:satMod val="140000"/>
                <a:lumMod val="11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Droplet" id="{8984A317-299A-4E50-B45D-BFC9EDE2337A}" vid="{A633B6A3-9E7F-4C10-9C98-2517A3134361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小水滴</Template>
  <TotalTime>306</TotalTime>
  <Words>15231</Words>
  <Application>Microsoft Office PowerPoint</Application>
  <PresentationFormat>寬螢幕</PresentationFormat>
  <Paragraphs>11363</Paragraphs>
  <Slides>197</Slides>
  <Notes>0</Notes>
  <HiddenSlides>0</HiddenSlides>
  <MMClips>0</MMClips>
  <ScaleCrop>false</ScaleCrop>
  <HeadingPairs>
    <vt:vector size="6" baseType="variant">
      <vt:variant>
        <vt:lpstr>使用字型</vt:lpstr>
      </vt:variant>
      <vt:variant>
        <vt:i4>5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197</vt:i4>
      </vt:variant>
    </vt:vector>
  </HeadingPairs>
  <TitlesOfParts>
    <vt:vector size="203" baseType="lpstr">
      <vt:lpstr>新細明體</vt:lpstr>
      <vt:lpstr>Arial</vt:lpstr>
      <vt:lpstr>Symbol</vt:lpstr>
      <vt:lpstr>Tw Cen MT</vt:lpstr>
      <vt:lpstr>Wingdings</vt:lpstr>
      <vt:lpstr>小水滴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Windows 使用者</dc:creator>
  <cp:lastModifiedBy>Windows 使用者</cp:lastModifiedBy>
  <cp:revision>60</cp:revision>
  <dcterms:created xsi:type="dcterms:W3CDTF">2021-12-30T01:21:26Z</dcterms:created>
  <dcterms:modified xsi:type="dcterms:W3CDTF">2022-01-06T03:53:26Z</dcterms:modified>
</cp:coreProperties>
</file>