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22"/>
  </p:notesMasterIdLst>
  <p:sldIdLst>
    <p:sldId id="256" r:id="rId2"/>
    <p:sldId id="257" r:id="rId3"/>
    <p:sldId id="272" r:id="rId4"/>
    <p:sldId id="286" r:id="rId5"/>
    <p:sldId id="275" r:id="rId6"/>
    <p:sldId id="289" r:id="rId7"/>
    <p:sldId id="273" r:id="rId8"/>
    <p:sldId id="271" r:id="rId9"/>
    <p:sldId id="277" r:id="rId10"/>
    <p:sldId id="278" r:id="rId11"/>
    <p:sldId id="279" r:id="rId12"/>
    <p:sldId id="280" r:id="rId13"/>
    <p:sldId id="281" r:id="rId14"/>
    <p:sldId id="282" r:id="rId15"/>
    <p:sldId id="285" r:id="rId16"/>
    <p:sldId id="283" r:id="rId17"/>
    <p:sldId id="284" r:id="rId18"/>
    <p:sldId id="287" r:id="rId19"/>
    <p:sldId id="288" r:id="rId20"/>
    <p:sldId id="259" r:id="rId2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Hanken Grotesk" panose="02020500000000000000" charset="0"/>
      <p:regular r:id="rId27"/>
      <p:bold r:id="rId28"/>
      <p:italic r:id="rId29"/>
      <p:boldItalic r:id="rId30"/>
    </p:embeddedFont>
    <p:embeddedFont>
      <p:font typeface="Hanken Grotesk SemiBold" panose="02020500000000000000" charset="0"/>
      <p:regular r:id="rId31"/>
      <p:bold r:id="rId32"/>
      <p:italic r:id="rId33"/>
      <p:boldItalic r:id="rId34"/>
    </p:embeddedFont>
    <p:embeddedFont>
      <p:font typeface="Inter" panose="02020500000000000000" charset="0"/>
      <p:regular r:id="rId35"/>
      <p:bold r:id="rId36"/>
    </p:embeddedFont>
    <p:embeddedFont>
      <p:font typeface="Nunito" pitchFamily="2" charset="0"/>
      <p:regular r:id="rId37"/>
      <p:bold r:id="rId38"/>
      <p:italic r:id="rId39"/>
      <p:boldItalic r:id="rId40"/>
    </p:embeddedFont>
    <p:embeddedFont>
      <p:font typeface="PT Sans" panose="020B050302020302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38" y="4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SLIDES_API2810489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SLIDES_API2810489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SLIDES_API28104895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SLIDES_API28104895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9440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59070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59778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1289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43810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52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9613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313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224030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2816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SLIDES_API28104895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SLIDES_API28104895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1029150" y="1563750"/>
            <a:ext cx="5715000" cy="20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Hanken Grotesk"/>
              <a:buNone/>
              <a:defRPr sz="4000"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Font typeface="Hanken Grotesk"/>
              <a:buNone/>
              <a:defRPr sz="4000"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Font typeface="Hanken Grotesk"/>
              <a:buNone/>
              <a:defRPr sz="4000"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Font typeface="Hanken Grotesk"/>
              <a:buNone/>
              <a:defRPr sz="4000"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Font typeface="Hanken Grotesk"/>
              <a:buNone/>
              <a:defRPr sz="4000"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Font typeface="Hanken Grotesk"/>
              <a:buNone/>
              <a:defRPr sz="4000"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Font typeface="Hanken Grotesk"/>
              <a:buNone/>
              <a:defRPr sz="4000"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Font typeface="Hanken Grotesk"/>
              <a:buNone/>
              <a:defRPr sz="4000"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Font typeface="Hanken Grotesk"/>
              <a:buNone/>
              <a:defRPr sz="4000"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43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1"/>
          </p:nvPr>
        </p:nvSpPr>
        <p:spPr>
          <a:xfrm>
            <a:off x="457200" y="1140000"/>
            <a:ext cx="4114800" cy="34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us Light">
  <p:cSld name="CUSTOM_2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ubTitle" idx="1"/>
          </p:nvPr>
        </p:nvSpPr>
        <p:spPr>
          <a:xfrm>
            <a:off x="457200" y="1142050"/>
            <a:ext cx="5519400" cy="44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3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1"/>
          </p:nvPr>
        </p:nvSpPr>
        <p:spPr>
          <a:xfrm>
            <a:off x="457200" y="1140000"/>
            <a:ext cx="8229600" cy="34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ullet-1">
  <p:cSld name="CUSTOM_3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body" idx="1"/>
          </p:nvPr>
        </p:nvSpPr>
        <p:spPr>
          <a:xfrm>
            <a:off x="1373975" y="2361292"/>
            <a:ext cx="5945700" cy="9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2"/>
          </p:nvPr>
        </p:nvSpPr>
        <p:spPr>
          <a:xfrm>
            <a:off x="1373975" y="3582596"/>
            <a:ext cx="5945700" cy="9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3"/>
          </p:nvPr>
        </p:nvSpPr>
        <p:spPr>
          <a:xfrm>
            <a:off x="1373975" y="1140000"/>
            <a:ext cx="5945700" cy="9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/>
          <p:nvPr/>
        </p:nvSpPr>
        <p:spPr>
          <a:xfrm>
            <a:off x="740588" y="1452150"/>
            <a:ext cx="350044" cy="350044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182880" y="95250"/>
                </a:moveTo>
                <a:cubicBezTo>
                  <a:pt x="182880" y="143510"/>
                  <a:pt x="143510" y="182880"/>
                  <a:pt x="95250" y="182880"/>
                </a:cubicBezTo>
                <a:cubicBezTo>
                  <a:pt x="46990" y="182880"/>
                  <a:pt x="8255" y="143510"/>
                  <a:pt x="8255" y="95250"/>
                </a:cubicBezTo>
                <a:cubicBezTo>
                  <a:pt x="8255" y="46990"/>
                  <a:pt x="46990" y="8255"/>
                  <a:pt x="95250" y="8255"/>
                </a:cubicBezTo>
                <a:cubicBezTo>
                  <a:pt x="143510" y="8255"/>
                  <a:pt x="182880" y="46990"/>
                  <a:pt x="182880" y="95250"/>
                </a:cubicBezTo>
                <a:close/>
                <a:moveTo>
                  <a:pt x="95250" y="190500"/>
                </a:moveTo>
                <a:cubicBezTo>
                  <a:pt x="147955" y="190500"/>
                  <a:pt x="190500" y="147955"/>
                  <a:pt x="190500" y="95250"/>
                </a:cubicBezTo>
                <a:cubicBezTo>
                  <a:pt x="190500" y="42545"/>
                  <a:pt x="147955" y="0"/>
                  <a:pt x="95250" y="0"/>
                </a:cubicBezTo>
                <a:cubicBezTo>
                  <a:pt x="42545" y="0"/>
                  <a:pt x="0" y="42545"/>
                  <a:pt x="0" y="95250"/>
                </a:cubicBezTo>
                <a:cubicBezTo>
                  <a:pt x="0" y="147955"/>
                  <a:pt x="42545" y="190500"/>
                  <a:pt x="95250" y="190500"/>
                </a:cubicBezTo>
                <a:close/>
                <a:moveTo>
                  <a:pt x="137160" y="98425"/>
                </a:moveTo>
                <a:lnTo>
                  <a:pt x="141605" y="95250"/>
                </a:lnTo>
                <a:lnTo>
                  <a:pt x="137160" y="92075"/>
                </a:lnTo>
                <a:lnTo>
                  <a:pt x="73660" y="44450"/>
                </a:lnTo>
                <a:cubicBezTo>
                  <a:pt x="71755" y="43180"/>
                  <a:pt x="69850" y="43180"/>
                  <a:pt x="68580" y="45085"/>
                </a:cubicBezTo>
                <a:cubicBezTo>
                  <a:pt x="66675" y="46990"/>
                  <a:pt x="67310" y="49530"/>
                  <a:pt x="69215" y="50800"/>
                </a:cubicBezTo>
                <a:lnTo>
                  <a:pt x="128270" y="95250"/>
                </a:lnTo>
                <a:lnTo>
                  <a:pt x="69215" y="139700"/>
                </a:lnTo>
                <a:cubicBezTo>
                  <a:pt x="67310" y="140970"/>
                  <a:pt x="66675" y="143510"/>
                  <a:pt x="68580" y="145415"/>
                </a:cubicBezTo>
                <a:cubicBezTo>
                  <a:pt x="69850" y="147320"/>
                  <a:pt x="71755" y="147320"/>
                  <a:pt x="73660" y="146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740588" y="2679300"/>
            <a:ext cx="350044" cy="350044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182880" y="95250"/>
                </a:moveTo>
                <a:cubicBezTo>
                  <a:pt x="182880" y="143510"/>
                  <a:pt x="143510" y="182880"/>
                  <a:pt x="95250" y="182880"/>
                </a:cubicBezTo>
                <a:cubicBezTo>
                  <a:pt x="46990" y="182880"/>
                  <a:pt x="8255" y="143510"/>
                  <a:pt x="8255" y="95250"/>
                </a:cubicBezTo>
                <a:cubicBezTo>
                  <a:pt x="8255" y="46990"/>
                  <a:pt x="46990" y="8255"/>
                  <a:pt x="95250" y="8255"/>
                </a:cubicBezTo>
                <a:cubicBezTo>
                  <a:pt x="143510" y="8255"/>
                  <a:pt x="182880" y="46990"/>
                  <a:pt x="182880" y="95250"/>
                </a:cubicBezTo>
                <a:close/>
                <a:moveTo>
                  <a:pt x="95250" y="190500"/>
                </a:moveTo>
                <a:cubicBezTo>
                  <a:pt x="147955" y="190500"/>
                  <a:pt x="190500" y="147955"/>
                  <a:pt x="190500" y="95250"/>
                </a:cubicBezTo>
                <a:cubicBezTo>
                  <a:pt x="190500" y="42545"/>
                  <a:pt x="147955" y="0"/>
                  <a:pt x="95250" y="0"/>
                </a:cubicBezTo>
                <a:cubicBezTo>
                  <a:pt x="42545" y="0"/>
                  <a:pt x="0" y="42545"/>
                  <a:pt x="0" y="95250"/>
                </a:cubicBezTo>
                <a:cubicBezTo>
                  <a:pt x="0" y="147955"/>
                  <a:pt x="42545" y="190500"/>
                  <a:pt x="95250" y="190500"/>
                </a:cubicBezTo>
                <a:close/>
                <a:moveTo>
                  <a:pt x="137160" y="98425"/>
                </a:moveTo>
                <a:lnTo>
                  <a:pt x="141605" y="95250"/>
                </a:lnTo>
                <a:lnTo>
                  <a:pt x="137160" y="92075"/>
                </a:lnTo>
                <a:lnTo>
                  <a:pt x="73660" y="44450"/>
                </a:lnTo>
                <a:cubicBezTo>
                  <a:pt x="71755" y="43180"/>
                  <a:pt x="69850" y="43180"/>
                  <a:pt x="68580" y="45085"/>
                </a:cubicBezTo>
                <a:cubicBezTo>
                  <a:pt x="66675" y="46990"/>
                  <a:pt x="67310" y="49530"/>
                  <a:pt x="69215" y="50800"/>
                </a:cubicBezTo>
                <a:lnTo>
                  <a:pt x="128270" y="95250"/>
                </a:lnTo>
                <a:lnTo>
                  <a:pt x="69215" y="139700"/>
                </a:lnTo>
                <a:cubicBezTo>
                  <a:pt x="67310" y="140970"/>
                  <a:pt x="66675" y="143510"/>
                  <a:pt x="68580" y="145415"/>
                </a:cubicBezTo>
                <a:cubicBezTo>
                  <a:pt x="69850" y="147320"/>
                  <a:pt x="71755" y="147320"/>
                  <a:pt x="73660" y="146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740588" y="3894700"/>
            <a:ext cx="350044" cy="350044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182880" y="95250"/>
                </a:moveTo>
                <a:cubicBezTo>
                  <a:pt x="182880" y="143510"/>
                  <a:pt x="143510" y="182880"/>
                  <a:pt x="95250" y="182880"/>
                </a:cubicBezTo>
                <a:cubicBezTo>
                  <a:pt x="46990" y="182880"/>
                  <a:pt x="8255" y="143510"/>
                  <a:pt x="8255" y="95250"/>
                </a:cubicBezTo>
                <a:cubicBezTo>
                  <a:pt x="8255" y="46990"/>
                  <a:pt x="46990" y="8255"/>
                  <a:pt x="95250" y="8255"/>
                </a:cubicBezTo>
                <a:cubicBezTo>
                  <a:pt x="143510" y="8255"/>
                  <a:pt x="182880" y="46990"/>
                  <a:pt x="182880" y="95250"/>
                </a:cubicBezTo>
                <a:close/>
                <a:moveTo>
                  <a:pt x="95250" y="190500"/>
                </a:moveTo>
                <a:cubicBezTo>
                  <a:pt x="147955" y="190500"/>
                  <a:pt x="190500" y="147955"/>
                  <a:pt x="190500" y="95250"/>
                </a:cubicBezTo>
                <a:cubicBezTo>
                  <a:pt x="190500" y="42545"/>
                  <a:pt x="147955" y="0"/>
                  <a:pt x="95250" y="0"/>
                </a:cubicBezTo>
                <a:cubicBezTo>
                  <a:pt x="42545" y="0"/>
                  <a:pt x="0" y="42545"/>
                  <a:pt x="0" y="95250"/>
                </a:cubicBezTo>
                <a:cubicBezTo>
                  <a:pt x="0" y="147955"/>
                  <a:pt x="42545" y="190500"/>
                  <a:pt x="95250" y="190500"/>
                </a:cubicBezTo>
                <a:close/>
                <a:moveTo>
                  <a:pt x="137160" y="98425"/>
                </a:moveTo>
                <a:lnTo>
                  <a:pt x="141605" y="95250"/>
                </a:lnTo>
                <a:lnTo>
                  <a:pt x="137160" y="92075"/>
                </a:lnTo>
                <a:lnTo>
                  <a:pt x="73660" y="44450"/>
                </a:lnTo>
                <a:cubicBezTo>
                  <a:pt x="71755" y="43180"/>
                  <a:pt x="69850" y="43180"/>
                  <a:pt x="68580" y="45085"/>
                </a:cubicBezTo>
                <a:cubicBezTo>
                  <a:pt x="66675" y="46990"/>
                  <a:pt x="67310" y="49530"/>
                  <a:pt x="69215" y="50800"/>
                </a:cubicBezTo>
                <a:lnTo>
                  <a:pt x="128270" y="95250"/>
                </a:lnTo>
                <a:lnTo>
                  <a:pt x="69215" y="139700"/>
                </a:lnTo>
                <a:cubicBezTo>
                  <a:pt x="67310" y="140970"/>
                  <a:pt x="66675" y="143510"/>
                  <a:pt x="68580" y="145415"/>
                </a:cubicBezTo>
                <a:cubicBezTo>
                  <a:pt x="69850" y="147320"/>
                  <a:pt x="71755" y="147320"/>
                  <a:pt x="73660" y="146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ullet-2">
  <p:cSld name="CUSTOM_3_2_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>
            <a:spLocks noGrp="1"/>
          </p:cNvSpPr>
          <p:nvPr>
            <p:ph type="body" idx="1"/>
          </p:nvPr>
        </p:nvSpPr>
        <p:spPr>
          <a:xfrm>
            <a:off x="457200" y="1607925"/>
            <a:ext cx="2606100" cy="2182200"/>
          </a:xfrm>
          <a:prstGeom prst="rect">
            <a:avLst/>
          </a:prstGeom>
          <a:noFill/>
        </p:spPr>
        <p:txBody>
          <a:bodyPr spcFirstLastPara="1" wrap="square" lIns="137150" tIns="91425" rIns="137150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body" idx="2"/>
          </p:nvPr>
        </p:nvSpPr>
        <p:spPr>
          <a:xfrm>
            <a:off x="3237000" y="1607925"/>
            <a:ext cx="2606100" cy="21822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body" idx="3"/>
          </p:nvPr>
        </p:nvSpPr>
        <p:spPr>
          <a:xfrm>
            <a:off x="6016800" y="1607925"/>
            <a:ext cx="2606100" cy="21822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cxnSp>
        <p:nvCxnSpPr>
          <p:cNvPr id="92" name="Google Shape;92;p21"/>
          <p:cNvCxnSpPr/>
          <p:nvPr/>
        </p:nvCxnSpPr>
        <p:spPr>
          <a:xfrm>
            <a:off x="457200" y="1599075"/>
            <a:ext cx="0" cy="2199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" name="Google Shape;93;p21"/>
          <p:cNvCxnSpPr/>
          <p:nvPr/>
        </p:nvCxnSpPr>
        <p:spPr>
          <a:xfrm>
            <a:off x="3237000" y="1599075"/>
            <a:ext cx="0" cy="2199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94;p21"/>
          <p:cNvCxnSpPr/>
          <p:nvPr/>
        </p:nvCxnSpPr>
        <p:spPr>
          <a:xfrm>
            <a:off x="6016800" y="1599075"/>
            <a:ext cx="0" cy="2199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ullet-6">
  <p:cSld name="CUSTOM_3_2_1_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>
            <a:spLocks noGrp="1"/>
          </p:cNvSpPr>
          <p:nvPr>
            <p:ph type="body" idx="1"/>
          </p:nvPr>
        </p:nvSpPr>
        <p:spPr>
          <a:xfrm>
            <a:off x="457200" y="1607925"/>
            <a:ext cx="2606100" cy="2182200"/>
          </a:xfrm>
          <a:prstGeom prst="rect">
            <a:avLst/>
          </a:prstGeom>
          <a:noFill/>
        </p:spPr>
        <p:txBody>
          <a:bodyPr spcFirstLastPara="1" wrap="square" lIns="137150" tIns="91425" rIns="137150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body" idx="2"/>
          </p:nvPr>
        </p:nvSpPr>
        <p:spPr>
          <a:xfrm>
            <a:off x="3237000" y="1607925"/>
            <a:ext cx="2606100" cy="2182200"/>
          </a:xfrm>
          <a:prstGeom prst="rect">
            <a:avLst/>
          </a:prstGeom>
          <a:noFill/>
        </p:spPr>
        <p:txBody>
          <a:bodyPr spcFirstLastPara="1" wrap="square" lIns="137150" tIns="91425" rIns="137150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body" idx="3"/>
          </p:nvPr>
        </p:nvSpPr>
        <p:spPr>
          <a:xfrm>
            <a:off x="6016800" y="1607925"/>
            <a:ext cx="2606100" cy="2182200"/>
          </a:xfrm>
          <a:prstGeom prst="rect">
            <a:avLst/>
          </a:prstGeom>
          <a:noFill/>
        </p:spPr>
        <p:txBody>
          <a:bodyPr spcFirstLastPara="1" wrap="square" lIns="137150" tIns="91425" rIns="137150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ullet-5">
  <p:cSld name="CUSTOM_3_2_1_1_1">
    <p:bg>
      <p:bgPr>
        <a:solidFill>
          <a:schemeClr val="lt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>
            <a:spLocks noGrp="1"/>
          </p:cNvSpPr>
          <p:nvPr>
            <p:ph type="body" idx="1"/>
          </p:nvPr>
        </p:nvSpPr>
        <p:spPr>
          <a:xfrm>
            <a:off x="457200" y="1834125"/>
            <a:ext cx="2606100" cy="2273100"/>
          </a:xfrm>
          <a:prstGeom prst="rect">
            <a:avLst/>
          </a:prstGeom>
          <a:solidFill>
            <a:srgbClr val="FFFFFF">
              <a:alpha val="20000"/>
            </a:srgb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37150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22" name="Google Shape;122;p25"/>
          <p:cNvSpPr/>
          <p:nvPr/>
        </p:nvSpPr>
        <p:spPr>
          <a:xfrm>
            <a:off x="457204" y="1472400"/>
            <a:ext cx="476700" cy="361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1</a:t>
            </a:r>
            <a:endParaRPr sz="1800" b="1">
              <a:solidFill>
                <a:schemeClr val="lt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3" name="Google Shape;123;p25"/>
          <p:cNvSpPr/>
          <p:nvPr/>
        </p:nvSpPr>
        <p:spPr>
          <a:xfrm>
            <a:off x="3237004" y="1472400"/>
            <a:ext cx="476700" cy="361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2</a:t>
            </a:r>
            <a:endParaRPr sz="1800" b="1">
              <a:solidFill>
                <a:schemeClr val="lt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4" name="Google Shape;124;p25"/>
          <p:cNvSpPr/>
          <p:nvPr/>
        </p:nvSpPr>
        <p:spPr>
          <a:xfrm>
            <a:off x="6016804" y="1472400"/>
            <a:ext cx="476700" cy="361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3</a:t>
            </a:r>
            <a:endParaRPr sz="1800" b="1">
              <a:solidFill>
                <a:schemeClr val="lt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5" name="Google Shape;125;p25"/>
          <p:cNvSpPr txBox="1">
            <a:spLocks noGrp="1"/>
          </p:cNvSpPr>
          <p:nvPr>
            <p:ph type="body" idx="2"/>
          </p:nvPr>
        </p:nvSpPr>
        <p:spPr>
          <a:xfrm>
            <a:off x="3237000" y="1834125"/>
            <a:ext cx="2606100" cy="2273100"/>
          </a:xfrm>
          <a:prstGeom prst="rect">
            <a:avLst/>
          </a:prstGeom>
          <a:solidFill>
            <a:srgbClr val="FFFFFF">
              <a:alpha val="20000"/>
            </a:srgb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37150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body" idx="3"/>
          </p:nvPr>
        </p:nvSpPr>
        <p:spPr>
          <a:xfrm>
            <a:off x="6016800" y="1834125"/>
            <a:ext cx="2606100" cy="2273100"/>
          </a:xfrm>
          <a:prstGeom prst="rect">
            <a:avLst/>
          </a:prstGeom>
          <a:solidFill>
            <a:srgbClr val="FFFFFF">
              <a:alpha val="20000"/>
            </a:srgb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37150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section-1">
  <p:cSld name="CUSTOM_3_2_1_1_1_1">
    <p:bg>
      <p:bgPr>
        <a:solidFill>
          <a:schemeClr val="lt2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/>
          <p:nvPr/>
        </p:nvSpPr>
        <p:spPr>
          <a:xfrm>
            <a:off x="457350" y="1370700"/>
            <a:ext cx="2606100" cy="3201300"/>
          </a:xfrm>
          <a:prstGeom prst="rect">
            <a:avLst/>
          </a:prstGeom>
          <a:solidFill>
            <a:srgbClr val="FFFFFF">
              <a:alpha val="20000"/>
            </a:srgb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018"/>
              <a:buFont typeface="Arial"/>
              <a:buNone/>
            </a:pP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6"/>
          <p:cNvSpPr/>
          <p:nvPr/>
        </p:nvSpPr>
        <p:spPr>
          <a:xfrm>
            <a:off x="3237075" y="1370700"/>
            <a:ext cx="2606100" cy="3201300"/>
          </a:xfrm>
          <a:prstGeom prst="rect">
            <a:avLst/>
          </a:prstGeom>
          <a:solidFill>
            <a:srgbClr val="FFFFFF">
              <a:alpha val="20000"/>
            </a:srgb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accent1"/>
              </a:solidFill>
              <a:latin typeface="Hanken Grotesk SemiBold"/>
              <a:ea typeface="Hanken Grotesk SemiBold"/>
              <a:cs typeface="Hanken Grotesk SemiBold"/>
              <a:sym typeface="Hanken Grotesk SemiBold"/>
            </a:endParaRPr>
          </a:p>
        </p:txBody>
      </p:sp>
      <p:sp>
        <p:nvSpPr>
          <p:cNvPr id="130" name="Google Shape;130;p26"/>
          <p:cNvSpPr/>
          <p:nvPr/>
        </p:nvSpPr>
        <p:spPr>
          <a:xfrm>
            <a:off x="6016800" y="1370700"/>
            <a:ext cx="2606100" cy="3201300"/>
          </a:xfrm>
          <a:prstGeom prst="rect">
            <a:avLst/>
          </a:prstGeom>
          <a:solidFill>
            <a:srgbClr val="FFFFFF">
              <a:alpha val="20000"/>
            </a:srgb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26"/>
          <p:cNvSpPr txBox="1">
            <a:spLocks noGrp="1"/>
          </p:cNvSpPr>
          <p:nvPr>
            <p:ph type="body" idx="1"/>
          </p:nvPr>
        </p:nvSpPr>
        <p:spPr>
          <a:xfrm>
            <a:off x="457200" y="1902000"/>
            <a:ext cx="2606100" cy="26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82875" rIns="137150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body" idx="2"/>
          </p:nvPr>
        </p:nvSpPr>
        <p:spPr>
          <a:xfrm>
            <a:off x="3237075" y="1901900"/>
            <a:ext cx="2606100" cy="26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82875" rIns="137150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body" idx="3"/>
          </p:nvPr>
        </p:nvSpPr>
        <p:spPr>
          <a:xfrm>
            <a:off x="6016800" y="1902000"/>
            <a:ext cx="2606100" cy="26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82875" rIns="137150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subTitle" idx="4"/>
          </p:nvPr>
        </p:nvSpPr>
        <p:spPr>
          <a:xfrm>
            <a:off x="457200" y="1370125"/>
            <a:ext cx="2606100" cy="572700"/>
          </a:xfrm>
          <a:prstGeom prst="rect">
            <a:avLst/>
          </a:prstGeom>
        </p:spPr>
        <p:txBody>
          <a:bodyPr spcFirstLastPara="1" wrap="square" lIns="137150" tIns="182875" rIns="137150" bIns="91425" anchor="t" anchorCtr="0">
            <a:norm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5"/>
          </p:nvPr>
        </p:nvSpPr>
        <p:spPr>
          <a:xfrm>
            <a:off x="3237000" y="1370125"/>
            <a:ext cx="2606100" cy="572700"/>
          </a:xfrm>
          <a:prstGeom prst="rect">
            <a:avLst/>
          </a:prstGeom>
        </p:spPr>
        <p:txBody>
          <a:bodyPr spcFirstLastPara="1" wrap="square" lIns="137150" tIns="182875" rIns="137150" bIns="91425" anchor="t" anchorCtr="0">
            <a:norm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subTitle" idx="6"/>
          </p:nvPr>
        </p:nvSpPr>
        <p:spPr>
          <a:xfrm>
            <a:off x="6016800" y="1370125"/>
            <a:ext cx="2606100" cy="572700"/>
          </a:xfrm>
          <a:prstGeom prst="rect">
            <a:avLst/>
          </a:prstGeom>
        </p:spPr>
        <p:txBody>
          <a:bodyPr spcFirstLastPara="1" wrap="square" lIns="137150" tIns="182875" rIns="137150" bIns="91425" anchor="t" anchorCtr="0">
            <a:norm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section-2">
  <p:cSld name="CUSTOM_3_2_1_1_1_1_1"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body" idx="1"/>
          </p:nvPr>
        </p:nvSpPr>
        <p:spPr>
          <a:xfrm>
            <a:off x="457200" y="2132925"/>
            <a:ext cx="2606100" cy="24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82875" rIns="137150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subTitle" idx="2"/>
          </p:nvPr>
        </p:nvSpPr>
        <p:spPr>
          <a:xfrm>
            <a:off x="457200" y="1477250"/>
            <a:ext cx="2606100" cy="531300"/>
          </a:xfrm>
          <a:prstGeom prst="rect">
            <a:avLst/>
          </a:prstGeom>
        </p:spPr>
        <p:txBody>
          <a:bodyPr spcFirstLastPara="1" wrap="square" lIns="137150" tIns="182875" rIns="137150" bIns="91425" anchor="t" anchorCtr="0">
            <a:norm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3"/>
          </p:nvPr>
        </p:nvSpPr>
        <p:spPr>
          <a:xfrm>
            <a:off x="3268950" y="2132925"/>
            <a:ext cx="2606100" cy="24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82875" rIns="137150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ubTitle" idx="4"/>
          </p:nvPr>
        </p:nvSpPr>
        <p:spPr>
          <a:xfrm>
            <a:off x="3268950" y="1477250"/>
            <a:ext cx="2606100" cy="531300"/>
          </a:xfrm>
          <a:prstGeom prst="rect">
            <a:avLst/>
          </a:prstGeom>
        </p:spPr>
        <p:txBody>
          <a:bodyPr spcFirstLastPara="1" wrap="square" lIns="137150" tIns="182875" rIns="137150" bIns="91425" anchor="t" anchorCtr="0">
            <a:norm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body" idx="5"/>
          </p:nvPr>
        </p:nvSpPr>
        <p:spPr>
          <a:xfrm>
            <a:off x="6080700" y="2132925"/>
            <a:ext cx="2606100" cy="24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82875" rIns="137150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subTitle" idx="6"/>
          </p:nvPr>
        </p:nvSpPr>
        <p:spPr>
          <a:xfrm>
            <a:off x="6080700" y="1477250"/>
            <a:ext cx="2606100" cy="531300"/>
          </a:xfrm>
          <a:prstGeom prst="rect">
            <a:avLst/>
          </a:prstGeom>
        </p:spPr>
        <p:txBody>
          <a:bodyPr spcFirstLastPara="1" wrap="square" lIns="137150" tIns="182875" rIns="137150" bIns="91425" anchor="t" anchorCtr="0">
            <a:norm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section-3">
  <p:cSld name="CUSTOM_3_2_1_1_1_1_1_1"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body" idx="1"/>
          </p:nvPr>
        </p:nvSpPr>
        <p:spPr>
          <a:xfrm>
            <a:off x="2064350" y="1140000"/>
            <a:ext cx="52521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body" idx="2"/>
          </p:nvPr>
        </p:nvSpPr>
        <p:spPr>
          <a:xfrm>
            <a:off x="2064350" y="2361288"/>
            <a:ext cx="52521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subTitle" idx="3"/>
          </p:nvPr>
        </p:nvSpPr>
        <p:spPr>
          <a:xfrm>
            <a:off x="457200" y="1140100"/>
            <a:ext cx="1404000" cy="9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8"/>
          <p:cNvSpPr txBox="1">
            <a:spLocks noGrp="1"/>
          </p:cNvSpPr>
          <p:nvPr>
            <p:ph type="subTitle" idx="4"/>
          </p:nvPr>
        </p:nvSpPr>
        <p:spPr>
          <a:xfrm>
            <a:off x="457200" y="2361338"/>
            <a:ext cx="1404000" cy="9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subTitle" idx="5"/>
          </p:nvPr>
        </p:nvSpPr>
        <p:spPr>
          <a:xfrm>
            <a:off x="457200" y="3582600"/>
            <a:ext cx="1404000" cy="9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body" idx="6"/>
          </p:nvPr>
        </p:nvSpPr>
        <p:spPr>
          <a:xfrm>
            <a:off x="2064350" y="3582588"/>
            <a:ext cx="52521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section-3 1">
  <p:cSld name="CUSTOM_3_2_1_1_1_1_1_1_1">
    <p:bg>
      <p:bgPr>
        <a:solidFill>
          <a:schemeClr val="lt2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>
            <a:spLocks noGrp="1"/>
          </p:cNvSpPr>
          <p:nvPr>
            <p:ph type="title"/>
          </p:nvPr>
        </p:nvSpPr>
        <p:spPr>
          <a:xfrm>
            <a:off x="457200" y="446825"/>
            <a:ext cx="8229600" cy="56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6" name="Google Shape;156;p29"/>
          <p:cNvSpPr/>
          <p:nvPr/>
        </p:nvSpPr>
        <p:spPr>
          <a:xfrm>
            <a:off x="457200" y="1289138"/>
            <a:ext cx="8229600" cy="9861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 cap="flat" cmpd="sng">
            <a:solidFill>
              <a:schemeClr val="lt1">
                <a:alpha val="498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9"/>
          <p:cNvSpPr txBox="1">
            <a:spLocks noGrp="1"/>
          </p:cNvSpPr>
          <p:nvPr>
            <p:ph type="subTitle" idx="1"/>
          </p:nvPr>
        </p:nvSpPr>
        <p:spPr>
          <a:xfrm>
            <a:off x="457200" y="1289150"/>
            <a:ext cx="2142300" cy="9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body" idx="2"/>
          </p:nvPr>
        </p:nvSpPr>
        <p:spPr>
          <a:xfrm>
            <a:off x="2749850" y="1289125"/>
            <a:ext cx="59370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9"/>
          <p:cNvSpPr/>
          <p:nvPr/>
        </p:nvSpPr>
        <p:spPr>
          <a:xfrm>
            <a:off x="457200" y="2397125"/>
            <a:ext cx="8229600" cy="9861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 cap="flat" cmpd="sng">
            <a:solidFill>
              <a:schemeClr val="lt1">
                <a:alpha val="498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9"/>
          <p:cNvSpPr txBox="1">
            <a:spLocks noGrp="1"/>
          </p:cNvSpPr>
          <p:nvPr>
            <p:ph type="subTitle" idx="3"/>
          </p:nvPr>
        </p:nvSpPr>
        <p:spPr>
          <a:xfrm>
            <a:off x="457200" y="2397150"/>
            <a:ext cx="2142300" cy="9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29"/>
          <p:cNvSpPr/>
          <p:nvPr/>
        </p:nvSpPr>
        <p:spPr>
          <a:xfrm>
            <a:off x="457200" y="3505113"/>
            <a:ext cx="8229600" cy="9861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 cap="flat" cmpd="sng">
            <a:solidFill>
              <a:schemeClr val="lt1">
                <a:alpha val="498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9"/>
          <p:cNvSpPr txBox="1">
            <a:spLocks noGrp="1"/>
          </p:cNvSpPr>
          <p:nvPr>
            <p:ph type="body" idx="4"/>
          </p:nvPr>
        </p:nvSpPr>
        <p:spPr>
          <a:xfrm>
            <a:off x="2749800" y="3506400"/>
            <a:ext cx="59370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9"/>
          <p:cNvSpPr txBox="1">
            <a:spLocks noGrp="1"/>
          </p:cNvSpPr>
          <p:nvPr>
            <p:ph type="body" idx="5"/>
          </p:nvPr>
        </p:nvSpPr>
        <p:spPr>
          <a:xfrm>
            <a:off x="2749800" y="2397775"/>
            <a:ext cx="59370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1pPr>
            <a:lvl2pPr marL="914400" lvl="1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2pPr>
            <a:lvl3pPr marL="1371600" lvl="2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3pPr>
            <a:lvl4pPr marL="1828800" lvl="3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4pPr>
            <a:lvl5pPr marL="2286000" lvl="4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5pPr>
            <a:lvl6pPr marL="2743200" lvl="5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6pPr>
            <a:lvl7pPr marL="3200400" lvl="6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7pPr>
            <a:lvl8pPr marL="3657600" lvl="7" indent="-29845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solidFill>
                  <a:schemeClr val="dk1"/>
                </a:solidFill>
              </a:defRPr>
            </a:lvl8pPr>
            <a:lvl9pPr marL="4114800" lvl="8" indent="-29845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Char char="■"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subTitle" idx="6"/>
          </p:nvPr>
        </p:nvSpPr>
        <p:spPr>
          <a:xfrm>
            <a:off x="457200" y="3505150"/>
            <a:ext cx="2142300" cy="9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29"/>
          <p:cNvSpPr/>
          <p:nvPr/>
        </p:nvSpPr>
        <p:spPr>
          <a:xfrm>
            <a:off x="2674650" y="1717900"/>
            <a:ext cx="135000" cy="135300"/>
          </a:xfrm>
          <a:prstGeom prst="ellipse">
            <a:avLst/>
          </a:prstGeom>
          <a:solidFill>
            <a:srgbClr val="F8B4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9"/>
          <p:cNvSpPr/>
          <p:nvPr/>
        </p:nvSpPr>
        <p:spPr>
          <a:xfrm>
            <a:off x="2674650" y="2824850"/>
            <a:ext cx="135000" cy="135300"/>
          </a:xfrm>
          <a:prstGeom prst="ellipse">
            <a:avLst/>
          </a:prstGeom>
          <a:solidFill>
            <a:srgbClr val="F8B4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9"/>
          <p:cNvSpPr/>
          <p:nvPr/>
        </p:nvSpPr>
        <p:spPr>
          <a:xfrm>
            <a:off x="2674650" y="3931750"/>
            <a:ext cx="135000" cy="135300"/>
          </a:xfrm>
          <a:prstGeom prst="ellipse">
            <a:avLst/>
          </a:prstGeom>
          <a:solidFill>
            <a:srgbClr val="F8B4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">
  <p:cSld name="CUSTOM_3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>
            <a:spLocks noGrp="1"/>
          </p:cNvSpPr>
          <p:nvPr>
            <p:ph type="title"/>
          </p:nvPr>
        </p:nvSpPr>
        <p:spPr>
          <a:xfrm>
            <a:off x="457200" y="4462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0"/>
          <p:cNvSpPr txBox="1">
            <a:spLocks noGrp="1"/>
          </p:cNvSpPr>
          <p:nvPr>
            <p:ph type="body" idx="1"/>
          </p:nvPr>
        </p:nvSpPr>
        <p:spPr>
          <a:xfrm>
            <a:off x="457200" y="1834900"/>
            <a:ext cx="3776100" cy="27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30"/>
          <p:cNvSpPr txBox="1">
            <a:spLocks noGrp="1"/>
          </p:cNvSpPr>
          <p:nvPr>
            <p:ph type="body" idx="2"/>
          </p:nvPr>
        </p:nvSpPr>
        <p:spPr>
          <a:xfrm>
            <a:off x="4800400" y="1834900"/>
            <a:ext cx="3776100" cy="27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type="subTitle" idx="3"/>
          </p:nvPr>
        </p:nvSpPr>
        <p:spPr>
          <a:xfrm>
            <a:off x="457200" y="1164900"/>
            <a:ext cx="3776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3" name="Google Shape;173;p30"/>
          <p:cNvSpPr txBox="1">
            <a:spLocks noGrp="1"/>
          </p:cNvSpPr>
          <p:nvPr>
            <p:ph type="subTitle" idx="4"/>
          </p:nvPr>
        </p:nvSpPr>
        <p:spPr>
          <a:xfrm>
            <a:off x="4800400" y="1164900"/>
            <a:ext cx="3776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28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1">
  <p:cSld name="CUSTOM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1"/>
          <p:cNvSpPr txBox="1">
            <a:spLocks noGrp="1"/>
          </p:cNvSpPr>
          <p:nvPr>
            <p:ph type="body" idx="1"/>
          </p:nvPr>
        </p:nvSpPr>
        <p:spPr>
          <a:xfrm>
            <a:off x="457200" y="1140000"/>
            <a:ext cx="4114800" cy="3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31"/>
          <p:cNvSpPr>
            <a:spLocks noGrp="1"/>
          </p:cNvSpPr>
          <p:nvPr>
            <p:ph type="pic" idx="2"/>
          </p:nvPr>
        </p:nvSpPr>
        <p:spPr>
          <a:xfrm>
            <a:off x="4774400" y="1368600"/>
            <a:ext cx="3702300" cy="320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3456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2">
  <p:cSld name="CUSTOM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2"/>
          <p:cNvSpPr txBox="1">
            <a:spLocks noGrp="1"/>
          </p:cNvSpPr>
          <p:nvPr>
            <p:ph type="body" idx="1"/>
          </p:nvPr>
        </p:nvSpPr>
        <p:spPr>
          <a:xfrm>
            <a:off x="4812625" y="1368600"/>
            <a:ext cx="3874200" cy="32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32"/>
          <p:cNvSpPr>
            <a:spLocks noGrp="1"/>
          </p:cNvSpPr>
          <p:nvPr>
            <p:ph type="pic" idx="2"/>
          </p:nvPr>
        </p:nvSpPr>
        <p:spPr>
          <a:xfrm>
            <a:off x="609600" y="1371600"/>
            <a:ext cx="3702300" cy="320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3">
  <p:cSld name="CUSTOM_1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3"/>
          <p:cNvSpPr txBox="1">
            <a:spLocks noGrp="1"/>
          </p:cNvSpPr>
          <p:nvPr>
            <p:ph type="body" idx="1"/>
          </p:nvPr>
        </p:nvSpPr>
        <p:spPr>
          <a:xfrm>
            <a:off x="5334000" y="1418500"/>
            <a:ext cx="3352800" cy="25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33"/>
          <p:cNvSpPr>
            <a:spLocks noGrp="1"/>
          </p:cNvSpPr>
          <p:nvPr>
            <p:ph type="pic" idx="2"/>
          </p:nvPr>
        </p:nvSpPr>
        <p:spPr>
          <a:xfrm>
            <a:off x="609600" y="1371600"/>
            <a:ext cx="4586100" cy="256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3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body" idx="1"/>
          </p:nvPr>
        </p:nvSpPr>
        <p:spPr>
          <a:xfrm>
            <a:off x="457200" y="1834900"/>
            <a:ext cx="3776100" cy="27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body" idx="2"/>
          </p:nvPr>
        </p:nvSpPr>
        <p:spPr>
          <a:xfrm>
            <a:off x="4800400" y="1834900"/>
            <a:ext cx="3776100" cy="27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34"/>
          <p:cNvSpPr txBox="1">
            <a:spLocks noGrp="1"/>
          </p:cNvSpPr>
          <p:nvPr>
            <p:ph type="subTitle" idx="3"/>
          </p:nvPr>
        </p:nvSpPr>
        <p:spPr>
          <a:xfrm>
            <a:off x="457200" y="1164900"/>
            <a:ext cx="3776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91" name="Google Shape;191;p34"/>
          <p:cNvSpPr txBox="1">
            <a:spLocks noGrp="1"/>
          </p:cNvSpPr>
          <p:nvPr>
            <p:ph type="subTitle" idx="4"/>
          </p:nvPr>
        </p:nvSpPr>
        <p:spPr>
          <a:xfrm>
            <a:off x="4800400" y="1164900"/>
            <a:ext cx="3776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28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  <a:defRPr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6" r:id="rId6"/>
    <p:sldLayoutId id="2147483668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7"/>
          <p:cNvSpPr txBox="1">
            <a:spLocks noGrp="1"/>
          </p:cNvSpPr>
          <p:nvPr>
            <p:ph type="ctrTitle"/>
          </p:nvPr>
        </p:nvSpPr>
        <p:spPr>
          <a:xfrm>
            <a:off x="1100550" y="1563750"/>
            <a:ext cx="5715000" cy="20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Introduction to Socket Interface</a:t>
            </a:r>
            <a:endParaRPr/>
          </a:p>
        </p:txBody>
      </p:sp>
      <p:sp>
        <p:nvSpPr>
          <p:cNvPr id="343" name="Google Shape;343;p57"/>
          <p:cNvSpPr txBox="1"/>
          <p:nvPr/>
        </p:nvSpPr>
        <p:spPr>
          <a:xfrm>
            <a:off x="1100550" y="4092775"/>
            <a:ext cx="465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latin typeface="Hanken Grotesk"/>
                <a:ea typeface="Hanken Grotesk"/>
                <a:cs typeface="Hanken Grotesk"/>
                <a:sym typeface="Hanken Grotesk"/>
              </a:rPr>
              <a:t>August 30, 2023</a:t>
            </a:r>
            <a:endParaRPr sz="2000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8"/>
          <p:cNvSpPr txBox="1">
            <a:spLocks noGrp="1"/>
          </p:cNvSpPr>
          <p:nvPr>
            <p:ph type="body" idx="1"/>
          </p:nvPr>
        </p:nvSpPr>
        <p:spPr>
          <a:xfrm>
            <a:off x="457200" y="1017725"/>
            <a:ext cx="4271100" cy="35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sz="1400" dirty="0"/>
              <a:t>Introduction to Socket Interface</a:t>
            </a:r>
            <a:endParaRPr sz="1400" dirty="0"/>
          </a:p>
          <a:p>
            <a:pPr marL="457200" lvl="0" indent="-317500" algn="l" rtl="0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sz="1400" dirty="0"/>
              <a:t>Socket Interface Commands </a:t>
            </a:r>
            <a:endParaRPr lang="en-US" altLang="zh-TW" sz="1400" dirty="0"/>
          </a:p>
          <a:p>
            <a:pPr lvl="1" indent="-3175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l"/>
            </a:pPr>
            <a:endParaRPr lang="en-US" sz="1200" dirty="0"/>
          </a:p>
          <a:p>
            <a:pPr marL="457200" lvl="0" indent="-317500" algn="l" rtl="0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l"/>
            </a:pPr>
            <a:endParaRPr lang="en-US" altLang="zh-TW" sz="1200" dirty="0"/>
          </a:p>
          <a:p>
            <a:pPr marL="457200" lvl="0" indent="-317500" algn="l" rtl="0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SzPts val="1400"/>
              <a:buChar char="•"/>
            </a:pPr>
            <a:endParaRPr lang="en-US" altLang="zh-TW" sz="1200" dirty="0"/>
          </a:p>
          <a:p>
            <a:pPr marL="457200" lvl="0" indent="-317500" algn="l" rtl="0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SzPts val="1400"/>
              <a:buChar char="•"/>
            </a:pPr>
            <a:endParaRPr lang="en-US" altLang="zh-TW" sz="1200" dirty="0"/>
          </a:p>
          <a:p>
            <a:pPr marL="457200" lvl="0" indent="-317500" algn="l" rtl="0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SzPts val="1400"/>
              <a:buChar char="•"/>
            </a:pPr>
            <a:endParaRPr lang="en-US" altLang="zh-TW" sz="1200" dirty="0"/>
          </a:p>
          <a:p>
            <a:pPr marL="457200" lvl="0" indent="-317500" algn="l" rtl="0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SzPts val="1400"/>
              <a:buChar char="•"/>
            </a:pPr>
            <a:endParaRPr lang="en-US" altLang="zh-TW" sz="1200" dirty="0"/>
          </a:p>
          <a:p>
            <a:pPr marL="425450" indent="-285750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l"/>
            </a:pPr>
            <a:endParaRPr lang="en-US" altLang="zh-TW" sz="1400" dirty="0"/>
          </a:p>
          <a:p>
            <a:pPr marL="425450" indent="-285750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l"/>
            </a:pPr>
            <a:endParaRPr lang="en-US" altLang="zh-TW" sz="1400" dirty="0"/>
          </a:p>
          <a:p>
            <a:pPr marL="425450" indent="-285750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sz="1400" dirty="0"/>
              <a:t>Calling sequence to setup a TCP connection</a:t>
            </a:r>
            <a:endParaRPr lang="en-US" altLang="zh-TW" sz="1400" dirty="0"/>
          </a:p>
          <a:p>
            <a:pPr marL="425450" indent="-285750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l"/>
            </a:pPr>
            <a:r>
              <a:rPr lang="en-US" sz="1400" dirty="0"/>
              <a:t>UD</a:t>
            </a:r>
            <a:r>
              <a:rPr lang="en-US" altLang="zh-TW" sz="1400" dirty="0"/>
              <a:t>P</a:t>
            </a:r>
            <a:r>
              <a:rPr lang="zh-TW" altLang="en-US" sz="1400" dirty="0"/>
              <a:t> </a:t>
            </a:r>
            <a:r>
              <a:rPr lang="en-US" altLang="zh-TW" sz="1400" dirty="0"/>
              <a:t>service calling sequence</a:t>
            </a:r>
          </a:p>
          <a:p>
            <a:pPr marL="425450" indent="-285750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SzPts val="1400"/>
              <a:buFont typeface="Wingdings" panose="05000000000000000000" pitchFamily="2" charset="2"/>
              <a:buChar char="l"/>
            </a:pPr>
            <a:r>
              <a:rPr lang="en-US" sz="1400" dirty="0"/>
              <a:t>Configuration of transport services</a:t>
            </a:r>
            <a:endParaRPr sz="1400" dirty="0"/>
          </a:p>
        </p:txBody>
      </p:sp>
      <p:sp>
        <p:nvSpPr>
          <p:cNvPr id="350" name="Google Shape;350;p58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20"/>
              <a:t>Agenda</a:t>
            </a:r>
            <a:endParaRPr sz="252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F9705E11-A0AD-4358-87DB-A8892A641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565817"/>
              </p:ext>
            </p:extLst>
          </p:nvPr>
        </p:nvGraphicFramePr>
        <p:xfrm>
          <a:off x="958609" y="1767375"/>
          <a:ext cx="3006117" cy="1895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716">
                  <a:extLst>
                    <a:ext uri="{9D8B030D-6E8A-4147-A177-3AD203B41FA5}">
                      <a16:colId xmlns:a16="http://schemas.microsoft.com/office/drawing/2014/main" val="842414441"/>
                    </a:ext>
                  </a:extLst>
                </a:gridCol>
                <a:gridCol w="1625401">
                  <a:extLst>
                    <a:ext uri="{9D8B030D-6E8A-4147-A177-3AD203B41FA5}">
                      <a16:colId xmlns:a16="http://schemas.microsoft.com/office/drawing/2014/main" val="1042417408"/>
                    </a:ext>
                  </a:extLst>
                </a:gridCol>
              </a:tblGrid>
              <a:tr h="30898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855289"/>
                  </a:ext>
                </a:extLst>
              </a:tr>
              <a:tr h="3089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dirty="0" err="1"/>
                        <a:t>getsocket</a:t>
                      </a:r>
                      <a:r>
                        <a:rPr lang="en-US" altLang="zh-TW" sz="14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send() or write()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368082"/>
                  </a:ext>
                </a:extLst>
              </a:tr>
              <a:tr h="350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bind()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receive() or read()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746324"/>
                  </a:ext>
                </a:extLst>
              </a:tr>
              <a:tr h="3089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listen()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sendto</a:t>
                      </a:r>
                      <a:r>
                        <a:rPr lang="en-US" altLang="zh-TW" sz="1400" dirty="0"/>
                        <a:t>()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86017"/>
                  </a:ext>
                </a:extLst>
              </a:tr>
              <a:tr h="3089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accept()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recvfrom</a:t>
                      </a:r>
                      <a:r>
                        <a:rPr lang="en-US" altLang="zh-TW" sz="1400" dirty="0"/>
                        <a:t>()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92870"/>
                  </a:ext>
                </a:extLst>
              </a:tr>
              <a:tr h="3089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connect()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1777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標題 15">
            <a:extLst>
              <a:ext uri="{FF2B5EF4-FFF2-40B4-BE49-F238E27FC236}">
                <a16:creationId xmlns:a16="http://schemas.microsoft.com/office/drawing/2014/main" id="{1264EA7B-5A38-449C-8984-08B5B4C3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Socket Interface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FB79396-A0F0-4F5A-92F6-F4D698B19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rmAutofit/>
          </a:bodyPr>
          <a:lstStyle/>
          <a:p>
            <a:pPr marL="265113" indent="-265113"/>
            <a:r>
              <a:rPr lang="en-US" altLang="zh-TW" sz="1600" dirty="0"/>
              <a:t>Socket interface defines the command set that applications can access the services of TCP/IP communication protocol between two endpoints, facilitating seamless exchange of data over a network. </a:t>
            </a:r>
            <a:endParaRPr lang="zh-TW" altLang="en-US" sz="1600" dirty="0"/>
          </a:p>
        </p:txBody>
      </p:sp>
      <p:pic>
        <p:nvPicPr>
          <p:cNvPr id="19" name="圖片版面配置區 18">
            <a:extLst>
              <a:ext uri="{FF2B5EF4-FFF2-40B4-BE49-F238E27FC236}">
                <a16:creationId xmlns:a16="http://schemas.microsoft.com/office/drawing/2014/main" id="{FE7F9C1D-DFC2-4877-8F4C-FC6A0CA6F8C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9191" r="9191"/>
          <a:stretch>
            <a:fillRect/>
          </a:stretch>
        </p:blipFill>
        <p:spPr/>
      </p:pic>
      <p:sp>
        <p:nvSpPr>
          <p:cNvPr id="13" name="文字版面配置區 12">
            <a:extLst>
              <a:ext uri="{FF2B5EF4-FFF2-40B4-BE49-F238E27FC236}">
                <a16:creationId xmlns:a16="http://schemas.microsoft.com/office/drawing/2014/main" id="{AEFE8878-2693-407B-B4EB-0A27717758D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737219" y="1601962"/>
            <a:ext cx="3776662" cy="2733675"/>
          </a:xfrm>
        </p:spPr>
        <p:txBody>
          <a:bodyPr/>
          <a:lstStyle/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159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16567F-398F-4E52-BE9C-45441093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Socket Interface: Architecture Prospective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87C62B9-EB3E-417E-9A64-401887650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140000"/>
            <a:ext cx="3741306" cy="3838139"/>
          </a:xfrm>
          <a:prstGeom prst="rect">
            <a:avLst/>
          </a:prstGeom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FFDC93-F09C-432C-8109-CB6A3EE95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rmAutofit/>
          </a:bodyPr>
          <a:lstStyle/>
          <a:p>
            <a:pPr marL="265113" indent="-265113"/>
            <a:r>
              <a:rPr lang="en-US" altLang="zh-TW" sz="1800" dirty="0"/>
              <a:t>Located between application layer and transport layer.</a:t>
            </a:r>
          </a:p>
          <a:p>
            <a:pPr marL="265113" indent="-265113"/>
            <a:r>
              <a:rPr lang="en-US" altLang="zh-TW" sz="1800" dirty="0"/>
              <a:t>Provide an uniform interface for TCP, UDP and IP protocols.</a:t>
            </a:r>
          </a:p>
          <a:p>
            <a:pPr marL="265113" indent="-265113"/>
            <a:r>
              <a:rPr lang="en-US" altLang="zh-TW" sz="1800" dirty="0"/>
              <a:t>Allow users to select their transport services.</a:t>
            </a:r>
          </a:p>
          <a:p>
            <a:pPr marL="265113" indent="-265113"/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369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FE232E-5442-4826-A041-DBF2B4795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Communication end point: A Socket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B5DF9C-3A2D-488A-AC8B-0C95B5251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68600"/>
            <a:ext cx="4114800" cy="3200400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memory block in the kernel </a:t>
            </a:r>
            <a:r>
              <a:rPr lang="en-US" altLang="zh-TW" sz="1800" dirty="0"/>
              <a:t>to record the communication user profile and the state of current communication.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1800" dirty="0">
                <a:solidFill>
                  <a:srgbClr val="0000FF"/>
                </a:solidFill>
              </a:rPr>
              <a:t>Application process </a:t>
            </a:r>
            <a:r>
              <a:rPr lang="en-US" altLang="zh-TW" sz="1800" dirty="0"/>
              <a:t>refers to </a:t>
            </a:r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socket </a:t>
            </a:r>
            <a:r>
              <a:rPr lang="en-US" altLang="zh-TW" sz="1800" dirty="0"/>
              <a:t>during the communication with its partner.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1800" dirty="0">
                <a:solidFill>
                  <a:srgbClr val="0000FF"/>
                </a:solidFill>
              </a:rPr>
              <a:t>Each socket </a:t>
            </a:r>
            <a:r>
              <a:rPr lang="en-US" altLang="zh-TW" sz="1800" dirty="0"/>
              <a:t>is configured for a certain </a:t>
            </a:r>
            <a:r>
              <a:rPr lang="en-US" altLang="zh-TW" sz="1800" b="1" dirty="0">
                <a:solidFill>
                  <a:srgbClr val="0000FF"/>
                </a:solidFill>
              </a:rPr>
              <a:t>transport service</a:t>
            </a:r>
            <a:r>
              <a:rPr lang="en-US" altLang="zh-TW" sz="1800" dirty="0"/>
              <a:t>.</a:t>
            </a:r>
            <a:endParaRPr lang="zh-TW" altLang="en-US" sz="1800" dirty="0"/>
          </a:p>
        </p:txBody>
      </p:sp>
      <p:pic>
        <p:nvPicPr>
          <p:cNvPr id="6" name="圖片版面配置區 5">
            <a:extLst>
              <a:ext uri="{FF2B5EF4-FFF2-40B4-BE49-F238E27FC236}">
                <a16:creationId xmlns:a16="http://schemas.microsoft.com/office/drawing/2014/main" id="{E45992EB-EF2F-4D43-AC60-5D02047FC5A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9191" r="91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51184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93C066-B5E6-4110-871B-CC27D81D6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98" y="446225"/>
            <a:ext cx="8299402" cy="5727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Configure transport service</a:t>
            </a:r>
            <a:endParaRPr lang="zh-TW" altLang="en-US" dirty="0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91D7B69A-4CAB-4F0F-8197-306831DEF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8" y="1657699"/>
            <a:ext cx="3983880" cy="3425042"/>
          </a:xfrm>
        </p:spPr>
        <p:txBody>
          <a:bodyPr anchor="t">
            <a:normAutofit fontScale="92500"/>
          </a:bodyPr>
          <a:lstStyle/>
          <a:p>
            <a:pPr marL="265113" indent="-265113">
              <a:buNone/>
            </a:pPr>
            <a:r>
              <a:rPr lang="en-US" altLang="zh-TW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an IPv4 socket for TCP </a:t>
            </a:r>
          </a:p>
          <a:p>
            <a:pPr marL="265113" indent="-174625"/>
            <a:r>
              <a:rPr lang="en-US" altLang="zh-TW" sz="1200" dirty="0" err="1"/>
              <a:t>socketfd</a:t>
            </a:r>
            <a:r>
              <a:rPr lang="en-US" altLang="zh-TW" sz="1200" dirty="0"/>
              <a:t> = </a:t>
            </a:r>
            <a:r>
              <a:rPr lang="en-US" altLang="zh-TW" sz="1200" dirty="0" err="1"/>
              <a:t>getsocket</a:t>
            </a:r>
            <a:r>
              <a:rPr lang="en-US" altLang="zh-TW" sz="1200" dirty="0"/>
              <a:t> (AF_INET, SOCK_STREAM, 0);</a:t>
            </a:r>
          </a:p>
          <a:p>
            <a:pPr marL="265113" indent="-265113"/>
            <a:endParaRPr lang="en-US" altLang="zh-TW" sz="1200" dirty="0"/>
          </a:p>
          <a:p>
            <a:pPr marL="265113" indent="-265113">
              <a:buNone/>
            </a:pPr>
            <a:r>
              <a:rPr lang="en-US" altLang="zh-TW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an IPv6 socket for TCP</a:t>
            </a:r>
          </a:p>
          <a:p>
            <a:pPr marL="265113" indent="-174625"/>
            <a:r>
              <a:rPr lang="en-US" altLang="zh-TW" sz="1200" dirty="0" err="1"/>
              <a:t>socketfd</a:t>
            </a:r>
            <a:r>
              <a:rPr lang="en-US" altLang="zh-TW" sz="1200" dirty="0"/>
              <a:t> = </a:t>
            </a:r>
            <a:r>
              <a:rPr lang="en-US" altLang="zh-TW" sz="1200" dirty="0" err="1"/>
              <a:t>getsocket</a:t>
            </a:r>
            <a:r>
              <a:rPr lang="en-US" altLang="zh-TW" sz="1200" dirty="0"/>
              <a:t> (AF_INET6, SOCK_STREAM, 0);</a:t>
            </a:r>
          </a:p>
          <a:p>
            <a:pPr marL="265113" indent="-265113"/>
            <a:endParaRPr lang="en-US" altLang="zh-TW" sz="1200" dirty="0"/>
          </a:p>
          <a:p>
            <a:pPr marL="265113" indent="-265113">
              <a:buNone/>
            </a:pPr>
            <a:r>
              <a:rPr lang="en-US" altLang="zh-TW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an IPv4 socket for UDP </a:t>
            </a:r>
          </a:p>
          <a:p>
            <a:pPr marL="265113" indent="-174625"/>
            <a:r>
              <a:rPr lang="en-US" altLang="zh-TW" sz="1200" dirty="0" err="1"/>
              <a:t>socketfd</a:t>
            </a:r>
            <a:r>
              <a:rPr lang="en-US" altLang="zh-TW" sz="1200" dirty="0"/>
              <a:t> = </a:t>
            </a:r>
            <a:r>
              <a:rPr lang="en-US" altLang="zh-TW" sz="1200" dirty="0" err="1"/>
              <a:t>getsocket</a:t>
            </a:r>
            <a:r>
              <a:rPr lang="en-US" altLang="zh-TW" sz="1200" dirty="0"/>
              <a:t> (AF_INET, SOCK_DGRAM, 0);</a:t>
            </a:r>
          </a:p>
          <a:p>
            <a:pPr marL="265113" indent="-265113"/>
            <a:endParaRPr lang="en-US" altLang="zh-TW" sz="1200" dirty="0"/>
          </a:p>
          <a:p>
            <a:pPr marL="265113" indent="-265113">
              <a:buNone/>
            </a:pPr>
            <a:r>
              <a:rPr lang="en-US" altLang="zh-TW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an IPv6 socket for UDP</a:t>
            </a:r>
            <a:r>
              <a:rPr lang="en-US" altLang="zh-TW" sz="1200" dirty="0">
                <a:solidFill>
                  <a:srgbClr val="0000FF"/>
                </a:solidFill>
              </a:rPr>
              <a:t> </a:t>
            </a:r>
          </a:p>
          <a:p>
            <a:pPr marL="265113" indent="-174625"/>
            <a:r>
              <a:rPr lang="en-US" altLang="zh-TW" sz="1200" dirty="0" err="1"/>
              <a:t>socketfd</a:t>
            </a:r>
            <a:r>
              <a:rPr lang="en-US" altLang="zh-TW" sz="1200" dirty="0"/>
              <a:t> = </a:t>
            </a:r>
            <a:r>
              <a:rPr lang="en-US" altLang="zh-TW" sz="1200" dirty="0" err="1"/>
              <a:t>getsocket</a:t>
            </a:r>
            <a:r>
              <a:rPr lang="en-US" altLang="zh-TW" sz="1200" dirty="0"/>
              <a:t> (AF_INET6, SOCK_DGRAM, 0);</a:t>
            </a:r>
          </a:p>
          <a:p>
            <a:pPr marL="265113" indent="-265113"/>
            <a:endParaRPr lang="en-US" altLang="zh-TW" sz="1200" dirty="0"/>
          </a:p>
          <a:p>
            <a:pPr marL="265113" indent="-265113">
              <a:buNone/>
            </a:pPr>
            <a:r>
              <a:rPr lang="en-US" altLang="zh-TW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 raw socket for sniffing unprocessed Ethernet frames </a:t>
            </a:r>
          </a:p>
          <a:p>
            <a:pPr marL="265113" indent="-174625"/>
            <a:r>
              <a:rPr lang="en-US" altLang="zh-TW" sz="1200" dirty="0" err="1"/>
              <a:t>socketfd</a:t>
            </a:r>
            <a:r>
              <a:rPr lang="en-US" altLang="zh-TW" sz="1200" dirty="0"/>
              <a:t> = </a:t>
            </a:r>
            <a:r>
              <a:rPr lang="en-US" altLang="zh-TW" sz="1200" dirty="0" err="1"/>
              <a:t>getsocket</a:t>
            </a:r>
            <a:r>
              <a:rPr lang="en-US" altLang="zh-TW" sz="1200" dirty="0"/>
              <a:t> (AF_PACKET, SOCK_RAW, </a:t>
            </a:r>
            <a:r>
              <a:rPr lang="en-US" altLang="zh-TW" sz="1200" dirty="0" err="1"/>
              <a:t>htons</a:t>
            </a:r>
            <a:r>
              <a:rPr lang="en-US" altLang="zh-TW" sz="1200" dirty="0"/>
              <a:t> (ETH_P_ALL));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05F0E604-60EB-4DD8-8599-0CEA272C3D8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副標題 9">
            <a:extLst>
              <a:ext uri="{FF2B5EF4-FFF2-40B4-BE49-F238E27FC236}">
                <a16:creationId xmlns:a16="http://schemas.microsoft.com/office/drawing/2014/main" id="{BB1E277D-9E58-4834-945E-14F0395711DF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19669" y="954512"/>
            <a:ext cx="4252332" cy="492799"/>
          </a:xfrm>
        </p:spPr>
        <p:txBody>
          <a:bodyPr>
            <a:normAutofit/>
          </a:bodyPr>
          <a:lstStyle/>
          <a:p>
            <a:pPr marL="90488" indent="0">
              <a:tabLst>
                <a:tab pos="90488" algn="l"/>
              </a:tabLst>
            </a:pPr>
            <a:r>
              <a:rPr lang="en-US" altLang="zh-TW" sz="1400" dirty="0">
                <a:solidFill>
                  <a:srgbClr val="FF0000"/>
                </a:solidFill>
              </a:rPr>
              <a:t>int </a:t>
            </a:r>
            <a:r>
              <a:rPr lang="en-US" altLang="zh-TW" sz="1400" dirty="0" err="1">
                <a:solidFill>
                  <a:srgbClr val="0000FF"/>
                </a:solidFill>
              </a:rPr>
              <a:t>getsocket</a:t>
            </a:r>
            <a:r>
              <a:rPr lang="en-US" altLang="zh-TW" sz="1400" dirty="0">
                <a:solidFill>
                  <a:srgbClr val="FF0000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en-US" altLang="zh-TW" sz="1400" dirty="0">
                <a:solidFill>
                  <a:srgbClr val="00B050"/>
                </a:solidFill>
              </a:rPr>
              <a:t>int</a:t>
            </a:r>
            <a:r>
              <a:rPr lang="en-US" altLang="zh-TW" sz="1400" dirty="0">
                <a:solidFill>
                  <a:srgbClr val="FF0000"/>
                </a:solidFill>
              </a:rPr>
              <a:t> domain</a:t>
            </a:r>
            <a:r>
              <a:rPr lang="en-US" altLang="zh-TW" sz="1400" dirty="0">
                <a:solidFill>
                  <a:srgbClr val="0000FF"/>
                </a:solidFill>
              </a:rPr>
              <a:t>,</a:t>
            </a:r>
            <a:r>
              <a:rPr lang="en-US" altLang="zh-TW" sz="1400" dirty="0">
                <a:solidFill>
                  <a:srgbClr val="FF0000"/>
                </a:solidFill>
              </a:rPr>
              <a:t> </a:t>
            </a:r>
            <a:r>
              <a:rPr lang="en-US" altLang="zh-TW" sz="1400" dirty="0">
                <a:solidFill>
                  <a:srgbClr val="00B050"/>
                </a:solidFill>
              </a:rPr>
              <a:t>int</a:t>
            </a:r>
            <a:r>
              <a:rPr lang="en-US" altLang="zh-TW" sz="1400" dirty="0">
                <a:solidFill>
                  <a:srgbClr val="FF0000"/>
                </a:solidFill>
              </a:rPr>
              <a:t> type</a:t>
            </a:r>
            <a:r>
              <a:rPr lang="en-US" altLang="zh-TW" sz="1400" dirty="0">
                <a:solidFill>
                  <a:srgbClr val="0000FF"/>
                </a:solidFill>
              </a:rPr>
              <a:t>,</a:t>
            </a:r>
            <a:r>
              <a:rPr lang="en-US" altLang="zh-TW" sz="1400" dirty="0">
                <a:solidFill>
                  <a:srgbClr val="FF0000"/>
                </a:solidFill>
              </a:rPr>
              <a:t> </a:t>
            </a:r>
            <a:r>
              <a:rPr lang="en-US" altLang="zh-TW" sz="1400" dirty="0">
                <a:solidFill>
                  <a:srgbClr val="00B050"/>
                </a:solidFill>
              </a:rPr>
              <a:t>int</a:t>
            </a:r>
            <a:r>
              <a:rPr lang="en-US" altLang="zh-TW" sz="1400" dirty="0">
                <a:solidFill>
                  <a:srgbClr val="FF0000"/>
                </a:solidFill>
              </a:rPr>
              <a:t> protocol</a:t>
            </a:r>
            <a:r>
              <a:rPr lang="en-US" altLang="zh-TW" sz="1400" dirty="0">
                <a:solidFill>
                  <a:srgbClr val="0000FF"/>
                </a:solidFill>
              </a:rPr>
              <a:t>);</a:t>
            </a:r>
            <a:endParaRPr lang="zh-TW" altLang="en-US" sz="1400" dirty="0">
              <a:solidFill>
                <a:srgbClr val="0000FF"/>
              </a:solidFill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730D29A-B084-4AC2-8240-85AF11D63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678630"/>
              </p:ext>
            </p:extLst>
          </p:nvPr>
        </p:nvGraphicFramePr>
        <p:xfrm>
          <a:off x="4371278" y="1496555"/>
          <a:ext cx="4732304" cy="3586186"/>
        </p:xfrm>
        <a:graphic>
          <a:graphicData uri="http://schemas.openxmlformats.org/drawingml/2006/table">
            <a:tbl>
              <a:tblPr/>
              <a:tblGrid>
                <a:gridCol w="872495">
                  <a:extLst>
                    <a:ext uri="{9D8B030D-6E8A-4147-A177-3AD203B41FA5}">
                      <a16:colId xmlns:a16="http://schemas.microsoft.com/office/drawing/2014/main" val="143775517"/>
                    </a:ext>
                  </a:extLst>
                </a:gridCol>
                <a:gridCol w="1222681">
                  <a:extLst>
                    <a:ext uri="{9D8B030D-6E8A-4147-A177-3AD203B41FA5}">
                      <a16:colId xmlns:a16="http://schemas.microsoft.com/office/drawing/2014/main" val="2940835560"/>
                    </a:ext>
                  </a:extLst>
                </a:gridCol>
                <a:gridCol w="2637128">
                  <a:extLst>
                    <a:ext uri="{9D8B030D-6E8A-4147-A177-3AD203B41FA5}">
                      <a16:colId xmlns:a16="http://schemas.microsoft.com/office/drawing/2014/main" val="3802615952"/>
                    </a:ext>
                  </a:extLst>
                </a:gridCol>
              </a:tblGrid>
              <a:tr h="2247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dirty="0">
                          <a:effectLst/>
                        </a:rPr>
                        <a:t>Field</a:t>
                      </a:r>
                    </a:p>
                  </a:txBody>
                  <a:tcPr marL="67427" marR="67427" marT="33713" marB="33713" anchor="b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dirty="0">
                          <a:effectLst/>
                        </a:rPr>
                        <a:t>Constant</a:t>
                      </a:r>
                    </a:p>
                  </a:txBody>
                  <a:tcPr marL="67427" marR="67427" marT="33713" marB="33713" anchor="b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dirty="0">
                          <a:effectLst/>
                        </a:rPr>
                        <a:t>Purpose</a:t>
                      </a:r>
                    </a:p>
                  </a:txBody>
                  <a:tcPr marL="67427" marR="67427" marT="33713" marB="33713" anchor="b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191123"/>
                  </a:ext>
                </a:extLst>
              </a:tr>
              <a:tr h="224757">
                <a:tc rowSpan="5">
                  <a:txBody>
                    <a:bodyPr/>
                    <a:lstStyle/>
                    <a:p>
                      <a:pPr fontAlgn="t"/>
                      <a:r>
                        <a:rPr lang="en-US" sz="1200" b="1" dirty="0">
                          <a:effectLst/>
                        </a:rPr>
                        <a:t>domain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AF_INET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/>
                        </a:rPr>
                        <a:t>Use IPv4 addresses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693312"/>
                  </a:ext>
                </a:extLst>
              </a:tr>
              <a:tr h="2247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AF_INET6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Use IPv6 addresses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446169"/>
                  </a:ext>
                </a:extLst>
              </a:tr>
              <a:tr h="2247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AF_LOCAL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/>
                        </a:rPr>
                        <a:t>Unix domain socket for IPC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626748"/>
                  </a:ext>
                </a:extLst>
              </a:tr>
              <a:tr h="38208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AF_NETLINK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da-DK" sz="1100" dirty="0">
                          <a:effectLst/>
                        </a:rPr>
                        <a:t>Netlink socket for kernel messages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680547"/>
                  </a:ext>
                </a:extLst>
              </a:tr>
              <a:tr h="2247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AF_PACKET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/>
                        </a:rPr>
                        <a:t>Raw socket type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549488"/>
                  </a:ext>
                </a:extLst>
              </a:tr>
              <a:tr h="382086">
                <a:tc rowSpan="3">
                  <a:txBody>
                    <a:bodyPr/>
                    <a:lstStyle/>
                    <a:p>
                      <a:pPr fontAlgn="t"/>
                      <a:r>
                        <a:rPr lang="en-US" sz="1200" b="1" dirty="0">
                          <a:effectLst/>
                        </a:rPr>
                        <a:t>type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SOCK_STREAM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/>
                        </a:rPr>
                        <a:t>Byte-stream communication, used for TCP transport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9755"/>
                  </a:ext>
                </a:extLst>
              </a:tr>
              <a:tr h="38208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SOCK_DGRAM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/>
                        </a:rPr>
                        <a:t>Fixed-size messages, used for UDP transport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52503"/>
                  </a:ext>
                </a:extLst>
              </a:tr>
              <a:tr h="38208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SOCK_RAW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/>
                        </a:rPr>
                        <a:t>Raw data that is not processed by transport layer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67161"/>
                  </a:ext>
                </a:extLst>
              </a:tr>
              <a:tr h="382086">
                <a:tc rowSpan="2">
                  <a:txBody>
                    <a:bodyPr/>
                    <a:lstStyle/>
                    <a:p>
                      <a:pPr fontAlgn="t"/>
                      <a:r>
                        <a:rPr lang="en-US" sz="1200" b="1" dirty="0">
                          <a:effectLst/>
                        </a:rPr>
                        <a:t>protocol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IPPROTO_RAW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/>
                        </a:rPr>
                        <a:t>Receive IP datagrams without transport-layer processing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183516"/>
                  </a:ext>
                </a:extLst>
              </a:tr>
              <a:tr h="38208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ETH_P_ALL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/>
                        </a:rPr>
                        <a:t>Receive Ethernet frames without network-layer processing</a:t>
                      </a:r>
                    </a:p>
                  </a:txBody>
                  <a:tcPr marL="67427" marR="67427" marT="33713" marB="33713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540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08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1C3C173-A215-489B-8CAB-A75976F6F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8144" y="1140000"/>
            <a:ext cx="2507650" cy="1431750"/>
          </a:xfrm>
          <a:solidFill>
            <a:schemeClr val="accent6">
              <a:lumMod val="20000"/>
              <a:lumOff val="80000"/>
            </a:schemeClr>
          </a:solidFill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altLang="zh-TW" sz="1400" dirty="0"/>
              <a:t>Create a new socket with the TCP</a:t>
            </a:r>
            <a:r>
              <a:rPr lang="zh-TW" altLang="en-US" sz="1400" dirty="0"/>
              <a:t> </a:t>
            </a:r>
            <a:r>
              <a:rPr lang="en-US" altLang="zh-TW" sz="1400" dirty="0"/>
              <a:t>service (</a:t>
            </a:r>
            <a:r>
              <a:rPr lang="en-US" altLang="zh-TW" sz="1400" dirty="0">
                <a:solidFill>
                  <a:srgbClr val="0000FF"/>
                </a:solidFill>
              </a:rPr>
              <a:t>domain</a:t>
            </a:r>
            <a:r>
              <a:rPr lang="en-US" altLang="zh-TW" sz="1400" dirty="0"/>
              <a:t>, </a:t>
            </a:r>
            <a:r>
              <a:rPr lang="en-US" altLang="zh-TW" sz="1400" dirty="0">
                <a:solidFill>
                  <a:srgbClr val="0000FF"/>
                </a:solidFill>
              </a:rPr>
              <a:t>socket type</a:t>
            </a:r>
            <a:r>
              <a:rPr lang="en-US" altLang="zh-TW" sz="1400" dirty="0"/>
              <a:t>, and </a:t>
            </a:r>
            <a:r>
              <a:rPr lang="en-US" altLang="zh-TW" sz="1400" dirty="0">
                <a:solidFill>
                  <a:srgbClr val="0000FF"/>
                </a:solidFill>
              </a:rPr>
              <a:t>protocol)</a:t>
            </a:r>
            <a:r>
              <a:rPr lang="en-US" altLang="zh-TW" sz="1400" dirty="0"/>
              <a:t>.</a:t>
            </a:r>
            <a:endParaRPr lang="zh-TW" altLang="en-US" sz="1400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E33CA5EB-692B-4522-BEAE-9734ECB50EE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99616" y="2990510"/>
            <a:ext cx="2666178" cy="1431750"/>
          </a:xfrm>
          <a:solidFill>
            <a:schemeClr val="accent6">
              <a:lumMod val="20000"/>
              <a:lumOff val="80000"/>
            </a:schemeClr>
          </a:solidFill>
        </p:spPr>
        <p:txBody>
          <a:bodyPr anchor="t">
            <a:normAutofit/>
          </a:bodyPr>
          <a:lstStyle/>
          <a:p>
            <a:pPr marL="152400" indent="0">
              <a:buNone/>
            </a:pPr>
            <a:r>
              <a:rPr lang="en-US" altLang="zh-TW" sz="1400" dirty="0"/>
              <a:t>Bind the socket to a </a:t>
            </a:r>
            <a:r>
              <a:rPr lang="en-US" altLang="zh-TW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specific address </a:t>
            </a:r>
            <a:r>
              <a:rPr lang="en-US" altLang="zh-TW" sz="1400" dirty="0"/>
              <a:t>and </a:t>
            </a:r>
            <a:r>
              <a:rPr lang="en-US" altLang="zh-TW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</a:t>
            </a:r>
            <a:r>
              <a:rPr lang="en-US" altLang="zh-TW" sz="1400" dirty="0"/>
              <a:t> to enable successful communication.</a:t>
            </a:r>
            <a:endParaRPr lang="zh-TW" altLang="en-US" sz="1400" dirty="0"/>
          </a:p>
        </p:txBody>
      </p:sp>
      <p:sp>
        <p:nvSpPr>
          <p:cNvPr id="8" name="副標題 7">
            <a:extLst>
              <a:ext uri="{FF2B5EF4-FFF2-40B4-BE49-F238E27FC236}">
                <a16:creationId xmlns:a16="http://schemas.microsoft.com/office/drawing/2014/main" id="{CE4F0D84-D14F-4EC2-8CAE-9DE28162997E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57200" y="1140100"/>
            <a:ext cx="1200944" cy="1404760"/>
          </a:xfrm>
          <a:solidFill>
            <a:schemeClr val="accent2"/>
          </a:solidFill>
        </p:spPr>
        <p:txBody>
          <a:bodyPr anchor="t">
            <a:normAutofit/>
          </a:bodyPr>
          <a:lstStyle/>
          <a:p>
            <a:r>
              <a:rPr lang="en-US" altLang="zh-TW" sz="1600" dirty="0"/>
              <a:t>Socket Creation</a:t>
            </a:r>
          </a:p>
          <a:p>
            <a:r>
              <a:rPr lang="en-US" altLang="zh-TW" sz="1600" dirty="0" err="1">
                <a:solidFill>
                  <a:srgbClr val="0000FF"/>
                </a:solidFill>
              </a:rPr>
              <a:t>getsocket</a:t>
            </a:r>
            <a:r>
              <a:rPr lang="en-US" altLang="zh-TW" sz="1600" dirty="0">
                <a:solidFill>
                  <a:srgbClr val="0000FF"/>
                </a:solidFill>
              </a:rPr>
              <a:t>() API </a:t>
            </a:r>
            <a:endParaRPr lang="zh-TW" altLang="en-US" sz="1600" dirty="0">
              <a:solidFill>
                <a:srgbClr val="0000FF"/>
              </a:solidFill>
            </a:endParaRPr>
          </a:p>
        </p:txBody>
      </p:sp>
      <p:sp>
        <p:nvSpPr>
          <p:cNvPr id="9" name="副標題 8">
            <a:extLst>
              <a:ext uri="{FF2B5EF4-FFF2-40B4-BE49-F238E27FC236}">
                <a16:creationId xmlns:a16="http://schemas.microsoft.com/office/drawing/2014/main" id="{8F734CD0-2EBD-45D9-B01A-361281877D5E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57200" y="2990510"/>
            <a:ext cx="1200944" cy="1404760"/>
          </a:xfrm>
          <a:solidFill>
            <a:schemeClr val="accent2"/>
          </a:solidFill>
        </p:spPr>
        <p:txBody>
          <a:bodyPr anchor="t">
            <a:normAutofit/>
          </a:bodyPr>
          <a:lstStyle/>
          <a:p>
            <a:r>
              <a:rPr lang="en-US" altLang="zh-TW" sz="1600" dirty="0"/>
              <a:t>Binding</a:t>
            </a:r>
          </a:p>
          <a:p>
            <a:r>
              <a:rPr lang="en-US" altLang="zh-TW" sz="1600" dirty="0">
                <a:solidFill>
                  <a:srgbClr val="0000FF"/>
                </a:solidFill>
              </a:rPr>
              <a:t>bind() API </a:t>
            </a:r>
            <a:endParaRPr lang="zh-TW" altLang="en-US" sz="1600" dirty="0">
              <a:solidFill>
                <a:srgbClr val="0000FF"/>
              </a:solidFill>
            </a:endParaRPr>
          </a:p>
        </p:txBody>
      </p:sp>
      <p:sp>
        <p:nvSpPr>
          <p:cNvPr id="10" name="副標題 9">
            <a:extLst>
              <a:ext uri="{FF2B5EF4-FFF2-40B4-BE49-F238E27FC236}">
                <a16:creationId xmlns:a16="http://schemas.microsoft.com/office/drawing/2014/main" id="{B87708B7-A405-4400-B578-B968A61D0546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4664738" y="1140100"/>
            <a:ext cx="1404000" cy="1404760"/>
          </a:xfrm>
          <a:solidFill>
            <a:schemeClr val="accent2"/>
          </a:solidFill>
        </p:spPr>
        <p:txBody>
          <a:bodyPr anchor="t">
            <a:normAutofit lnSpcReduction="10000"/>
          </a:bodyPr>
          <a:lstStyle/>
          <a:p>
            <a:r>
              <a:rPr lang="en-US" altLang="zh-TW" sz="1600" dirty="0"/>
              <a:t>Setup Connection (TCP)</a:t>
            </a:r>
          </a:p>
          <a:p>
            <a:r>
              <a:rPr lang="en-US" altLang="zh-TW" sz="1600" dirty="0">
                <a:solidFill>
                  <a:srgbClr val="0000FF"/>
                </a:solidFill>
              </a:rPr>
              <a:t>listen()</a:t>
            </a:r>
          </a:p>
          <a:p>
            <a:r>
              <a:rPr lang="en-US" altLang="zh-TW" sz="1600" dirty="0">
                <a:solidFill>
                  <a:srgbClr val="0000FF"/>
                </a:solidFill>
              </a:rPr>
              <a:t>accept()</a:t>
            </a:r>
            <a:endParaRPr lang="zh-TW" altLang="en-US" sz="1600" dirty="0">
              <a:solidFill>
                <a:srgbClr val="0000FF"/>
              </a:solidFill>
            </a:endParaRP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73E2D99D-03BF-4084-A162-50359AF3D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05" y="357920"/>
            <a:ext cx="8229600" cy="5727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Overview of Socket Commands</a:t>
            </a:r>
            <a:endParaRPr lang="zh-TW" altLang="en-US" dirty="0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43A4A299-2FAD-4FA1-BAC0-2B9DE7F8B724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068738" y="1132427"/>
            <a:ext cx="2497562" cy="1431750"/>
          </a:xfrm>
          <a:solidFill>
            <a:schemeClr val="accent6">
              <a:lumMod val="20000"/>
              <a:lumOff val="80000"/>
            </a:schemeClr>
          </a:solidFill>
        </p:spPr>
        <p:txBody>
          <a:bodyPr anchor="t"/>
          <a:lstStyle/>
          <a:p>
            <a:pPr marL="92075" indent="0">
              <a:buNone/>
            </a:pPr>
            <a:r>
              <a:rPr lang="en-US" altLang="zh-TW" sz="1400" b="1" dirty="0">
                <a:solidFill>
                  <a:srgbClr val="0000FF"/>
                </a:solidFill>
              </a:rPr>
              <a:t>Listen</a:t>
            </a:r>
            <a:r>
              <a:rPr lang="en-US" altLang="zh-TW" sz="1400" dirty="0"/>
              <a:t> for incoming connections and </a:t>
            </a:r>
            <a:r>
              <a:rPr lang="en-US" altLang="zh-TW" sz="1400" b="1" dirty="0">
                <a:solidFill>
                  <a:srgbClr val="0000FF"/>
                </a:solidFill>
              </a:rPr>
              <a:t>accept</a:t>
            </a:r>
            <a:r>
              <a:rPr lang="en-US" altLang="zh-TW" sz="1400" dirty="0"/>
              <a:t> them to establish bi-directional communication.</a:t>
            </a:r>
          </a:p>
          <a:p>
            <a:pPr marL="152400" indent="0">
              <a:buNone/>
            </a:pPr>
            <a:endParaRPr lang="zh-TW" altLang="en-US" dirty="0"/>
          </a:p>
        </p:txBody>
      </p:sp>
      <p:sp>
        <p:nvSpPr>
          <p:cNvPr id="12" name="副標題 9">
            <a:extLst>
              <a:ext uri="{FF2B5EF4-FFF2-40B4-BE49-F238E27FC236}">
                <a16:creationId xmlns:a16="http://schemas.microsoft.com/office/drawing/2014/main" id="{41E7FBA7-B0A5-47B0-AE51-B174F3A45CB3}"/>
              </a:ext>
            </a:extLst>
          </p:cNvPr>
          <p:cNvSpPr txBox="1">
            <a:spLocks/>
          </p:cNvSpPr>
          <p:nvPr/>
        </p:nvSpPr>
        <p:spPr>
          <a:xfrm>
            <a:off x="4664738" y="3024972"/>
            <a:ext cx="1404000" cy="13702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None/>
              <a:defRPr sz="1400" b="0" i="0" u="none" strike="noStrike" cap="none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altLang="zh-TW" sz="1600" dirty="0"/>
              <a:t>Sending and Receiving Data</a:t>
            </a:r>
          </a:p>
          <a:p>
            <a:r>
              <a:rPr lang="en-US" altLang="zh-TW" sz="1600" dirty="0">
                <a:solidFill>
                  <a:srgbClr val="0000FF"/>
                </a:solidFill>
              </a:rPr>
              <a:t>send()</a:t>
            </a:r>
          </a:p>
          <a:p>
            <a:r>
              <a:rPr lang="en-US" altLang="zh-TW" sz="1600" dirty="0">
                <a:solidFill>
                  <a:srgbClr val="0000FF"/>
                </a:solidFill>
              </a:rPr>
              <a:t>write()</a:t>
            </a:r>
            <a:endParaRPr lang="zh-TW" altLang="en-US" sz="1600" dirty="0">
              <a:solidFill>
                <a:srgbClr val="0000FF"/>
              </a:solidFill>
            </a:endParaRPr>
          </a:p>
        </p:txBody>
      </p:sp>
      <p:sp>
        <p:nvSpPr>
          <p:cNvPr id="13" name="文字版面配置區 10">
            <a:extLst>
              <a:ext uri="{FF2B5EF4-FFF2-40B4-BE49-F238E27FC236}">
                <a16:creationId xmlns:a16="http://schemas.microsoft.com/office/drawing/2014/main" id="{EC5BF3A7-61E2-4942-A07B-D10A223F624B}"/>
              </a:ext>
            </a:extLst>
          </p:cNvPr>
          <p:cNvSpPr txBox="1">
            <a:spLocks/>
          </p:cNvSpPr>
          <p:nvPr/>
        </p:nvSpPr>
        <p:spPr>
          <a:xfrm>
            <a:off x="6068738" y="2990510"/>
            <a:ext cx="2578608" cy="14317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•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92075" indent="0">
              <a:buFont typeface="Inter"/>
              <a:buNone/>
            </a:pPr>
            <a:r>
              <a:rPr lang="en-US" altLang="zh-TW" sz="1400" dirty="0"/>
              <a:t>Transmit data over the socket connection between the client and the server.</a:t>
            </a:r>
            <a:endParaRPr lang="zh-TW" altLang="en-US" dirty="0"/>
          </a:p>
        </p:txBody>
      </p:sp>
      <p:sp>
        <p:nvSpPr>
          <p:cNvPr id="2" name="箭號: 向下 1">
            <a:extLst>
              <a:ext uri="{FF2B5EF4-FFF2-40B4-BE49-F238E27FC236}">
                <a16:creationId xmlns:a16="http://schemas.microsoft.com/office/drawing/2014/main" id="{DCBAC16D-B191-403F-AD5D-92ADB7A1054E}"/>
              </a:ext>
            </a:extLst>
          </p:cNvPr>
          <p:cNvSpPr/>
          <p:nvPr/>
        </p:nvSpPr>
        <p:spPr>
          <a:xfrm>
            <a:off x="858559" y="2544860"/>
            <a:ext cx="300641" cy="4186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下 13">
            <a:extLst>
              <a:ext uri="{FF2B5EF4-FFF2-40B4-BE49-F238E27FC236}">
                <a16:creationId xmlns:a16="http://schemas.microsoft.com/office/drawing/2014/main" id="{1883FE87-70D2-4D68-88F2-6632E1FD2B9C}"/>
              </a:ext>
            </a:extLst>
          </p:cNvPr>
          <p:cNvSpPr/>
          <p:nvPr/>
        </p:nvSpPr>
        <p:spPr>
          <a:xfrm rot="13547129">
            <a:off x="4149471" y="2270695"/>
            <a:ext cx="300641" cy="8377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88C90C80-290A-4747-B788-79AD0A5665A5}"/>
              </a:ext>
            </a:extLst>
          </p:cNvPr>
          <p:cNvSpPr/>
          <p:nvPr/>
        </p:nvSpPr>
        <p:spPr>
          <a:xfrm>
            <a:off x="5229054" y="2586995"/>
            <a:ext cx="300641" cy="4186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2266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72188-6979-4265-95A3-FAF1D884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3239"/>
            <a:ext cx="8229600" cy="572700"/>
          </a:xfrm>
        </p:spPr>
        <p:txBody>
          <a:bodyPr>
            <a:normAutofit fontScale="90000"/>
          </a:bodyPr>
          <a:lstStyle/>
          <a:p>
            <a:r>
              <a:rPr lang="en-US" altLang="zh-TW" i="1" dirty="0">
                <a:solidFill>
                  <a:srgbClr val="0000FF"/>
                </a:solidFill>
                <a:latin typeface="Arial" panose="020B0604020202020204" pitchFamily="34" charset="0"/>
                <a:ea typeface="Söhne"/>
              </a:rPr>
              <a:t>get</a:t>
            </a:r>
            <a:r>
              <a:rPr lang="zh-TW" altLang="zh-TW" i="1" dirty="0">
                <a:solidFill>
                  <a:srgbClr val="0000FF"/>
                </a:solidFill>
                <a:latin typeface="Arial" panose="020B0604020202020204" pitchFamily="34" charset="0"/>
                <a:ea typeface="Söhne"/>
              </a:rPr>
              <a:t>socket()</a:t>
            </a:r>
            <a:r>
              <a:rPr lang="en-US" altLang="zh-TW" i="1" dirty="0">
                <a:solidFill>
                  <a:srgbClr val="374151"/>
                </a:solidFill>
                <a:latin typeface="Arial" panose="020B0604020202020204" pitchFamily="34" charset="0"/>
                <a:ea typeface="Söhne"/>
              </a:rPr>
              <a:t>; </a:t>
            </a:r>
            <a:r>
              <a:rPr lang="en-US" altLang="zh-TW" i="1" dirty="0">
                <a:solidFill>
                  <a:srgbClr val="0000FF"/>
                </a:solidFill>
                <a:latin typeface="Arial" panose="020B0604020202020204" pitchFamily="34" charset="0"/>
                <a:ea typeface="Söhne"/>
              </a:rPr>
              <a:t>close(</a:t>
            </a:r>
            <a:r>
              <a:rPr lang="en-US" altLang="zh-TW" i="1" dirty="0" err="1">
                <a:solidFill>
                  <a:srgbClr val="0000FF"/>
                </a:solidFill>
                <a:latin typeface="Arial" panose="020B0604020202020204" pitchFamily="34" charset="0"/>
                <a:ea typeface="Söhne"/>
              </a:rPr>
              <a:t>fd</a:t>
            </a:r>
            <a:r>
              <a:rPr lang="en-US" altLang="zh-TW" i="1" dirty="0">
                <a:solidFill>
                  <a:srgbClr val="0000FF"/>
                </a:solidFill>
                <a:latin typeface="Arial" panose="020B0604020202020204" pitchFamily="34" charset="0"/>
                <a:ea typeface="Söhne"/>
              </a:rPr>
              <a:t>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84B9AC-CD24-4C19-9B03-3D1A514AA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0411" y="1434710"/>
            <a:ext cx="3776100" cy="2862322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Parameters: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1600" b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 Mono"/>
              </a:rPr>
              <a:t>socket_family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Specifies the address family (e.g., </a:t>
            </a:r>
            <a:r>
              <a:rPr kumimoji="0" lang="zh-TW" altLang="zh-TW" sz="14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AF_INET 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for 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" panose="02020500000000000000" charset="0"/>
                <a:ea typeface="Söhne"/>
              </a:rPr>
              <a:t>IPv4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, </a:t>
            </a:r>
            <a:r>
              <a:rPr kumimoji="0" lang="zh-TW" altLang="zh-TW" sz="14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AF_INET6</a:t>
            </a:r>
            <a:r>
              <a:rPr kumimoji="0" lang="zh-TW" altLang="zh-TW" sz="14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Inter" panose="02020500000000000000" charset="0"/>
                <a:ea typeface="Söhne"/>
              </a:rPr>
              <a:t> 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for 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" panose="02020500000000000000" charset="0"/>
                <a:ea typeface="Söhne"/>
              </a:rPr>
              <a:t>IPv6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1600" b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 Mono"/>
              </a:rPr>
              <a:t>socket_type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Specifies the socket type (e.g., </a:t>
            </a:r>
            <a:r>
              <a:rPr kumimoji="0" lang="zh-TW" altLang="zh-TW" sz="14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SOCK_STREAM 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for 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" panose="02020500000000000000" charset="0"/>
                <a:ea typeface="Söhne"/>
              </a:rPr>
              <a:t>TCP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, </a:t>
            </a:r>
            <a:r>
              <a:rPr kumimoji="0" lang="zh-TW" altLang="zh-TW" sz="14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SOCK_DGRAM 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for 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" panose="02020500000000000000" charset="0"/>
                <a:ea typeface="Söhne"/>
              </a:rPr>
              <a:t>UDP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).</a:t>
            </a:r>
            <a:endParaRPr lang="en-US" altLang="zh-TW" sz="1400" dirty="0">
              <a:solidFill>
                <a:srgbClr val="374151"/>
              </a:solidFill>
              <a:latin typeface="Inter" panose="02020500000000000000" charset="0"/>
              <a:ea typeface="Inter" panose="02020500000000000000" charset="0"/>
            </a:endParaRPr>
          </a:p>
          <a:p>
            <a:pPr marL="276225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Inter" panose="02020500000000000000" charset="0"/>
              </a:rPr>
              <a:t>After the call, you get back a </a:t>
            </a:r>
            <a:r>
              <a:rPr kumimoji="0" lang="en-US" altLang="zh-TW" sz="1800" b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Inter" panose="02020500000000000000" charset="0"/>
              </a:rPr>
              <a:t>handle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Inter" panose="02020500000000000000" charset="0"/>
              </a:rPr>
              <a:t> of the socket, or a </a:t>
            </a:r>
            <a:r>
              <a:rPr kumimoji="0" lang="en-US" altLang="zh-TW" sz="1800" b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Inter" panose="02020500000000000000" charset="0"/>
              </a:rPr>
              <a:t>pointer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Inter" panose="02020500000000000000" charset="0"/>
              </a:rPr>
              <a:t> to the memory block.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Inter" panose="02020500000000000000" charset="0"/>
              <a:ea typeface="Söhne"/>
            </a:endParaRP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138213EB-E3C7-4AE3-8873-EB15746B72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00400" y="1540781"/>
            <a:ext cx="3776100" cy="2964311"/>
          </a:xfrm>
          <a:solidFill>
            <a:schemeClr val="bg2">
              <a:lumMod val="50000"/>
            </a:schemeClr>
          </a:solidFill>
        </p:spPr>
        <p:txBody>
          <a:bodyPr>
            <a:normAutofit fontScale="92500"/>
          </a:bodyPr>
          <a:lstStyle/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sys/</a:t>
            </a:r>
            <a:r>
              <a:rPr lang="en-US" altLang="zh-TW" sz="18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types.h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&gt;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sys/</a:t>
            </a:r>
            <a:r>
              <a:rPr lang="en-US" altLang="zh-TW" sz="18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socket.h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&gt;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domain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socket_</a:t>
            </a:r>
            <a:r>
              <a:rPr lang="en-US" altLang="zh-TW" sz="18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</a:rPr>
              <a:t>family</a:t>
            </a:r>
            <a:endParaRPr lang="en-US" altLang="zh-TW" sz="18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type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; //</a:t>
            </a:r>
            <a:r>
              <a:rPr lang="en-US" altLang="zh-TW" sz="18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</a:rPr>
              <a:t>socket_type</a:t>
            </a:r>
            <a:endParaRPr lang="en-US" altLang="zh-TW" sz="1800" b="0" i="0" dirty="0">
              <a:solidFill>
                <a:schemeClr val="accent3">
                  <a:lumMod val="75000"/>
                </a:schemeClr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 </a:t>
            </a:r>
            <a:r>
              <a:rPr lang="en-US" altLang="zh-TW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protocol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</a:rPr>
              <a:t>usually is zero</a:t>
            </a:r>
            <a:endParaRPr lang="en-US" altLang="zh-TW" sz="1800" b="0" i="0" dirty="0">
              <a:solidFill>
                <a:schemeClr val="accent3">
                  <a:lumMod val="75000"/>
                </a:schemeClr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lang="zh-TW" altLang="en-US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// handle to the socket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=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getsocket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altLang="zh-TW" sz="1800" b="0" i="0" dirty="0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domain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type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US" altLang="zh-TW" sz="1800" b="0" i="0" dirty="0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protocol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);</a:t>
            </a:r>
          </a:p>
          <a:p>
            <a:endParaRPr lang="zh-TW" altLang="en-US" sz="1800" dirty="0"/>
          </a:p>
        </p:txBody>
      </p:sp>
      <p:sp>
        <p:nvSpPr>
          <p:cNvPr id="10" name="副標題 9">
            <a:extLst>
              <a:ext uri="{FF2B5EF4-FFF2-40B4-BE49-F238E27FC236}">
                <a16:creationId xmlns:a16="http://schemas.microsoft.com/office/drawing/2014/main" id="{C1C636D6-CED3-4CCA-8C67-6A17D509801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28027" y="755939"/>
            <a:ext cx="4471989" cy="842392"/>
          </a:xfrm>
        </p:spPr>
        <p:txBody>
          <a:bodyPr anchor="t">
            <a:normAutofit fontScale="92500"/>
          </a:bodyPr>
          <a:lstStyle/>
          <a:p>
            <a:pPr marL="377825" indent="-285750">
              <a:buFont typeface="Wingdings" panose="05000000000000000000" pitchFamily="2" charset="2"/>
              <a:buChar char="l"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Function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Creates a new socket.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 Similar to </a:t>
            </a:r>
            <a:r>
              <a:rPr kumimoji="0" lang="en-US" altLang="zh-TW" sz="18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ter" panose="02020500000000000000" charset="0"/>
                <a:ea typeface="Söhne"/>
              </a:rPr>
              <a:t>malloc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 with a data structure</a:t>
            </a:r>
            <a:r>
              <a:rPr kumimoji="0" lang="en-US" altLang="zh-TW" sz="105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.</a:t>
            </a:r>
            <a:endParaRPr kumimoji="0" lang="zh-TW" altLang="zh-TW" sz="105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Inter" panose="02020500000000000000" charset="0"/>
              <a:ea typeface="Söhne"/>
            </a:endParaRPr>
          </a:p>
        </p:txBody>
      </p:sp>
      <p:sp>
        <p:nvSpPr>
          <p:cNvPr id="11" name="副標題 10">
            <a:extLst>
              <a:ext uri="{FF2B5EF4-FFF2-40B4-BE49-F238E27FC236}">
                <a16:creationId xmlns:a16="http://schemas.microsoft.com/office/drawing/2014/main" id="{601BA3D8-2BAD-4BFB-BE3F-7D8BCE2AD77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800400" y="862010"/>
            <a:ext cx="3776100" cy="572700"/>
          </a:xfrm>
        </p:spPr>
        <p:txBody>
          <a:bodyPr/>
          <a:lstStyle/>
          <a:p>
            <a:r>
              <a:rPr lang="en-US" altLang="zh-TW" dirty="0"/>
              <a:t>Example in 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6831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72188-6979-4265-95A3-FAF1D884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3239"/>
            <a:ext cx="8229600" cy="572700"/>
          </a:xfrm>
        </p:spPr>
        <p:txBody>
          <a:bodyPr>
            <a:normAutofit fontScale="90000"/>
          </a:bodyPr>
          <a:lstStyle/>
          <a:p>
            <a:r>
              <a:rPr lang="en-US" altLang="zh-TW" i="1" dirty="0">
                <a:solidFill>
                  <a:srgbClr val="0000FF"/>
                </a:solidFill>
                <a:latin typeface="Inter" panose="02020500000000000000" charset="0"/>
                <a:ea typeface="Söhne"/>
              </a:rPr>
              <a:t>bind()</a:t>
            </a:r>
            <a:endParaRPr lang="zh-TW" altLang="en-US" i="1" dirty="0">
              <a:solidFill>
                <a:srgbClr val="0000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84B9AC-CD24-4C19-9B03-3D1A514AA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00" y="1784134"/>
            <a:ext cx="3776100" cy="2477601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Parameters:</a:t>
            </a:r>
          </a:p>
          <a:p>
            <a:pPr marL="265113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TW" sz="2000" b="1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address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A tuple containing the 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" panose="02020500000000000000" charset="0"/>
                <a:ea typeface="Söhne"/>
              </a:rPr>
              <a:t>IP address 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and 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" panose="02020500000000000000" charset="0"/>
                <a:ea typeface="Söhne"/>
              </a:rPr>
              <a:t>port number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.</a:t>
            </a:r>
          </a:p>
          <a:p>
            <a:pPr marL="276225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lang="en-US" altLang="zh-TW" sz="2000" dirty="0">
                <a:solidFill>
                  <a:srgbClr val="374151"/>
                </a:solidFill>
                <a:latin typeface="Inter" panose="02020500000000000000" charset="0"/>
                <a:ea typeface="Inter" panose="02020500000000000000" charset="0"/>
              </a:rPr>
              <a:t>You refer to 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Inter" panose="02020500000000000000" charset="0"/>
              </a:rPr>
              <a:t>a </a:t>
            </a:r>
            <a:r>
              <a:rPr kumimoji="0" lang="en-US" altLang="zh-TW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Inter" panose="02020500000000000000" charset="0"/>
              </a:rPr>
              <a:t>socket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Inter" panose="02020500000000000000" charset="0"/>
              </a:rPr>
              <a:t>, and fill up the data structure with your </a:t>
            </a:r>
            <a:r>
              <a:rPr kumimoji="0" lang="en-US" altLang="zh-TW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Inter" panose="02020500000000000000" charset="0"/>
              </a:rPr>
              <a:t>IP@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Inter" panose="02020500000000000000" charset="0"/>
              </a:rPr>
              <a:t> and </a:t>
            </a:r>
            <a:r>
              <a:rPr kumimoji="0" lang="en-US" altLang="zh-TW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Inter" panose="02020500000000000000" charset="0"/>
              </a:rPr>
              <a:t>Port#</a:t>
            </a:r>
            <a:endParaRPr kumimoji="0" lang="zh-TW" altLang="zh-TW" sz="2000" b="1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 panose="02020500000000000000" charset="0"/>
              <a:ea typeface="Söhne"/>
            </a:endParaRP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138213EB-E3C7-4AE3-8873-EB15746B72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00400" y="1540781"/>
            <a:ext cx="3776100" cy="2964311"/>
          </a:xfrm>
          <a:solidFill>
            <a:schemeClr val="bg2">
              <a:lumMod val="50000"/>
            </a:schemeClr>
          </a:solidFill>
        </p:spPr>
        <p:txBody>
          <a:bodyPr>
            <a:normAutofit lnSpcReduction="10000"/>
          </a:bodyPr>
          <a:lstStyle/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sys/</a:t>
            </a:r>
            <a:r>
              <a:rPr lang="en-US" altLang="zh-TW" sz="18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types.h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&gt;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netinet</a:t>
            </a:r>
            <a:r>
              <a:rPr lang="en-US" altLang="zh-TW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in.h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&gt;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;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struct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sockaddr_in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*</a:t>
            </a:r>
            <a:r>
              <a:rPr lang="en-US" altLang="zh-TW" sz="1800" b="0" i="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</a:rPr>
              <a:t>addressp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</a:rPr>
              <a:t>addrlen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</a:t>
            </a:r>
          </a:p>
          <a:p>
            <a:pPr marL="139700" indent="0"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</a:rPr>
              <a:t>status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 //</a:t>
            </a:r>
            <a:r>
              <a:rPr lang="en-US" altLang="zh-TW" sz="1800" dirty="0">
                <a:solidFill>
                  <a:srgbClr val="00B0F0"/>
                </a:solidFill>
                <a:latin typeface="Times New Roman" panose="02020603050405020304" pitchFamily="18" charset="0"/>
              </a:rPr>
              <a:t> success or fail</a:t>
            </a:r>
            <a:endParaRPr lang="en-US" altLang="zh-TW" sz="1800" b="0" i="0" dirty="0">
              <a:solidFill>
                <a:srgbClr val="FFC00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endParaRPr lang="en-US" altLang="zh-TW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</a:rPr>
              <a:t>status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=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bind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addressp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addrlen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);</a:t>
            </a:r>
          </a:p>
          <a:p>
            <a:endParaRPr lang="zh-TW" altLang="en-US" sz="1800" dirty="0"/>
          </a:p>
        </p:txBody>
      </p:sp>
      <p:sp>
        <p:nvSpPr>
          <p:cNvPr id="10" name="副標題 9">
            <a:extLst>
              <a:ext uri="{FF2B5EF4-FFF2-40B4-BE49-F238E27FC236}">
                <a16:creationId xmlns:a16="http://schemas.microsoft.com/office/drawing/2014/main" id="{C1C636D6-CED3-4CCA-8C67-6A17D509801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28027" y="755938"/>
            <a:ext cx="4471989" cy="1028195"/>
          </a:xfrm>
        </p:spPr>
        <p:txBody>
          <a:bodyPr anchor="t">
            <a:normAutofit/>
          </a:bodyPr>
          <a:lstStyle/>
          <a:p>
            <a:pPr marL="377825" indent="-285750">
              <a:buFont typeface="Wingdings" panose="05000000000000000000" pitchFamily="2" charset="2"/>
              <a:buChar char="l"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Function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Binds a socket to a specific network address (IP address and port number).</a:t>
            </a:r>
            <a:endParaRPr kumimoji="0" lang="zh-TW" altLang="zh-TW" sz="105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Inter" panose="02020500000000000000" charset="0"/>
              <a:ea typeface="Söhne"/>
            </a:endParaRPr>
          </a:p>
        </p:txBody>
      </p:sp>
      <p:sp>
        <p:nvSpPr>
          <p:cNvPr id="11" name="副標題 10">
            <a:extLst>
              <a:ext uri="{FF2B5EF4-FFF2-40B4-BE49-F238E27FC236}">
                <a16:creationId xmlns:a16="http://schemas.microsoft.com/office/drawing/2014/main" id="{601BA3D8-2BAD-4BFB-BE3F-7D8BCE2AD77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800400" y="862010"/>
            <a:ext cx="3776100" cy="572700"/>
          </a:xfrm>
        </p:spPr>
        <p:txBody>
          <a:bodyPr/>
          <a:lstStyle/>
          <a:p>
            <a:r>
              <a:rPr lang="en-US" altLang="zh-TW" dirty="0"/>
              <a:t>Example in 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150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72188-6979-4265-95A3-FAF1D884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3239"/>
            <a:ext cx="8229600" cy="572700"/>
          </a:xfrm>
        </p:spPr>
        <p:txBody>
          <a:bodyPr>
            <a:normAutofit fontScale="90000"/>
          </a:bodyPr>
          <a:lstStyle/>
          <a:p>
            <a:r>
              <a:rPr lang="en-US" altLang="zh-TW" i="1" dirty="0">
                <a:solidFill>
                  <a:srgbClr val="0000FF"/>
                </a:solidFill>
                <a:latin typeface="Inter" panose="02020500000000000000" charset="0"/>
                <a:ea typeface="Söhne"/>
              </a:rPr>
              <a:t>listen()</a:t>
            </a:r>
            <a:endParaRPr lang="zh-TW" altLang="en-US" i="1" dirty="0">
              <a:solidFill>
                <a:srgbClr val="0000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84B9AC-CD24-4C19-9B03-3D1A514AA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6163" y="1837374"/>
            <a:ext cx="3776100" cy="1477328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Parameters:</a:t>
            </a:r>
          </a:p>
          <a:p>
            <a:pPr marL="265113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TW" sz="2000" b="1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backlog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Specifies the maximum number of queued connections.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138213EB-E3C7-4AE3-8873-EB15746B72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00400" y="1540781"/>
            <a:ext cx="3776100" cy="2964311"/>
          </a:xfrm>
          <a:solidFill>
            <a:schemeClr val="bg2">
              <a:lumMod val="50000"/>
            </a:schemeClr>
          </a:solidFill>
        </p:spPr>
        <p:txBody>
          <a:bodyPr>
            <a:normAutofit/>
          </a:bodyPr>
          <a:lstStyle/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sys/</a:t>
            </a:r>
            <a:r>
              <a:rPr lang="en-US" altLang="zh-TW" sz="18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types.h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&gt;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netinet</a:t>
            </a:r>
            <a:r>
              <a:rPr lang="en-US" altLang="zh-TW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in.h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&gt;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qlen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b="0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backlog</a:t>
            </a:r>
            <a:endParaRPr lang="en-US" altLang="zh-TW" sz="1800" b="0" i="0" dirty="0">
              <a:solidFill>
                <a:srgbClr val="00B05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 </a:t>
            </a:r>
            <a:r>
              <a:rPr lang="en-US" altLang="zh-TW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status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b="0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success or fail</a:t>
            </a:r>
            <a:endParaRPr lang="en-US" altLang="zh-TW" sz="1800" b="0" i="0" dirty="0">
              <a:solidFill>
                <a:srgbClr val="FFC00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139700" indent="0" algn="l">
              <a:spcAft>
                <a:spcPts val="0"/>
              </a:spcAft>
              <a:buNone/>
            </a:pPr>
            <a:endParaRPr lang="en-US" altLang="zh-TW" sz="1800" b="0" i="0" dirty="0">
              <a:solidFill>
                <a:srgbClr val="00B05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status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=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listen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qlen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);</a:t>
            </a:r>
            <a:endParaRPr lang="zh-TW" altLang="en-US" sz="1800" dirty="0">
              <a:solidFill>
                <a:srgbClr val="FFC000"/>
              </a:solidFill>
            </a:endParaRPr>
          </a:p>
        </p:txBody>
      </p:sp>
      <p:sp>
        <p:nvSpPr>
          <p:cNvPr id="10" name="副標題 9">
            <a:extLst>
              <a:ext uri="{FF2B5EF4-FFF2-40B4-BE49-F238E27FC236}">
                <a16:creationId xmlns:a16="http://schemas.microsoft.com/office/drawing/2014/main" id="{C1C636D6-CED3-4CCA-8C67-6A17D509801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28027" y="755938"/>
            <a:ext cx="4572373" cy="1072861"/>
          </a:xfrm>
        </p:spPr>
        <p:txBody>
          <a:bodyPr anchor="t">
            <a:normAutofit lnSpcReduction="10000"/>
          </a:bodyPr>
          <a:lstStyle/>
          <a:p>
            <a:pPr marL="377825" indent="-195263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kumimoji="0" lang="en-US" altLang="zh-TW" sz="1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Function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Puts the socket into listening mode, allowing it to accept incoming connections.</a:t>
            </a:r>
            <a:endParaRPr kumimoji="0" lang="zh-TW" altLang="zh-TW" sz="10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Inter" panose="02020500000000000000" charset="0"/>
              <a:ea typeface="Söhne"/>
            </a:endParaRPr>
          </a:p>
        </p:txBody>
      </p:sp>
      <p:sp>
        <p:nvSpPr>
          <p:cNvPr id="11" name="副標題 10">
            <a:extLst>
              <a:ext uri="{FF2B5EF4-FFF2-40B4-BE49-F238E27FC236}">
                <a16:creationId xmlns:a16="http://schemas.microsoft.com/office/drawing/2014/main" id="{601BA3D8-2BAD-4BFB-BE3F-7D8BCE2AD77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800400" y="862010"/>
            <a:ext cx="3776100" cy="572700"/>
          </a:xfrm>
        </p:spPr>
        <p:txBody>
          <a:bodyPr/>
          <a:lstStyle/>
          <a:p>
            <a:r>
              <a:rPr lang="en-US" altLang="zh-TW" dirty="0"/>
              <a:t>Example in 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795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72188-6979-4265-95A3-FAF1D884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3239"/>
            <a:ext cx="8229600" cy="572700"/>
          </a:xfrm>
        </p:spPr>
        <p:txBody>
          <a:bodyPr>
            <a:normAutofit fontScale="90000"/>
          </a:bodyPr>
          <a:lstStyle/>
          <a:p>
            <a:r>
              <a:rPr lang="en-US" altLang="zh-TW" i="1" dirty="0">
                <a:solidFill>
                  <a:srgbClr val="0000FF"/>
                </a:solidFill>
                <a:latin typeface="Inter" panose="02020500000000000000" charset="0"/>
                <a:ea typeface="Söhne"/>
              </a:rPr>
              <a:t>accept()</a:t>
            </a:r>
            <a:endParaRPr lang="zh-TW" altLang="en-US" i="1" dirty="0">
              <a:solidFill>
                <a:srgbClr val="0000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84B9AC-CD24-4C19-9B03-3D1A514AA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00" y="1851718"/>
            <a:ext cx="3776100" cy="3247043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Parameters:</a:t>
            </a:r>
          </a:p>
          <a:p>
            <a:pPr marL="608013" indent="-34290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1800" b="1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peeradr</a:t>
            </a:r>
            <a:r>
              <a:rPr kumimoji="0" lang="en-US" altLang="zh-TW" sz="1800" b="1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</a:t>
            </a:r>
            <a:r>
              <a:rPr kumimoji="0" lang="en-US" altLang="zh-TW" sz="180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 the client address</a:t>
            </a:r>
          </a:p>
          <a:p>
            <a:pPr marL="608013" indent="-34290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1800" b="1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Peeradrlen</a:t>
            </a:r>
            <a:r>
              <a:rPr kumimoji="0" lang="en-US" altLang="zh-TW" sz="1800" b="1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</a:t>
            </a:r>
            <a:r>
              <a:rPr kumimoji="0" lang="en-US" altLang="zh-TW" sz="180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Length of </a:t>
            </a:r>
            <a:r>
              <a:rPr lang="en-US" altLang="zh-TW" sz="1800" dirty="0">
                <a:solidFill>
                  <a:srgbClr val="374151"/>
                </a:solidFill>
                <a:latin typeface="Inter" panose="02020500000000000000" charset="0"/>
                <a:ea typeface="Söhne"/>
              </a:rPr>
              <a:t>peer@</a:t>
            </a:r>
          </a:p>
          <a:p>
            <a:pPr marL="357188" indent="-357188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lang="en-US" altLang="zh-TW" sz="1800" dirty="0">
                <a:solidFill>
                  <a:srgbClr val="374151"/>
                </a:solidFill>
                <a:latin typeface="Inter" panose="02020500000000000000" charset="0"/>
                <a:ea typeface="Söhne"/>
              </a:rPr>
              <a:t>When a connection is setup, a new socket </a:t>
            </a:r>
            <a:r>
              <a:rPr lang="en-US" altLang="zh-TW" sz="1800" b="1" dirty="0" err="1">
                <a:solidFill>
                  <a:srgbClr val="0000FF"/>
                </a:solidFill>
                <a:latin typeface="Inter" panose="02020500000000000000" charset="0"/>
                <a:ea typeface="Söhne"/>
              </a:rPr>
              <a:t>newfd</a:t>
            </a:r>
            <a:r>
              <a:rPr lang="en-US" altLang="zh-TW" sz="1800" dirty="0">
                <a:solidFill>
                  <a:srgbClr val="374151"/>
                </a:solidFill>
                <a:latin typeface="Inter" panose="02020500000000000000" charset="0"/>
                <a:ea typeface="Söhne"/>
              </a:rPr>
              <a:t> is created for the client. </a:t>
            </a:r>
          </a:p>
          <a:p>
            <a:pPr marL="357188" indent="-357188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lang="en-US" altLang="zh-TW" sz="1800" dirty="0">
                <a:solidFill>
                  <a:srgbClr val="374151"/>
                </a:solidFill>
                <a:latin typeface="Inter" panose="02020500000000000000" charset="0"/>
                <a:ea typeface="Söhne"/>
              </a:rPr>
              <a:t>The server process (or demon) continues to wait for requests from other clients.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138213EB-E3C7-4AE3-8873-EB15746B72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00400" y="1540781"/>
            <a:ext cx="3776100" cy="2964311"/>
          </a:xfrm>
          <a:solidFill>
            <a:schemeClr val="bg2">
              <a:lumMod val="50000"/>
            </a:schemeClr>
          </a:solidFill>
        </p:spPr>
        <p:txBody>
          <a:bodyPr>
            <a:normAutofit fontScale="92500" lnSpcReduction="20000"/>
          </a:bodyPr>
          <a:lstStyle/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sys/</a:t>
            </a:r>
            <a:r>
              <a:rPr lang="en-US" altLang="zh-TW" sz="18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types.h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&gt;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netinet</a:t>
            </a:r>
            <a:r>
              <a:rPr lang="en-US" altLang="zh-TW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in.h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&gt;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struct </a:t>
            </a:r>
            <a:r>
              <a:rPr lang="en-US" altLang="zh-TW" sz="1800" b="0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sockaddr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*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peeradr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dirty="0">
                <a:solidFill>
                  <a:srgbClr val="00B0F0"/>
                </a:solidFill>
                <a:latin typeface="Times New Roman" panose="02020603050405020304" pitchFamily="18" charset="0"/>
              </a:rPr>
              <a:t>@</a:t>
            </a:r>
            <a:r>
              <a:rPr lang="zh-TW" altLang="en-US" sz="1800" dirty="0">
                <a:solidFill>
                  <a:srgbClr val="00B0F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00B0F0"/>
                </a:solidFill>
                <a:latin typeface="Times New Roman" panose="02020603050405020304" pitchFamily="18" charset="0"/>
              </a:rPr>
              <a:t>of peer</a:t>
            </a:r>
            <a:endParaRPr lang="en-US" altLang="zh-TW" sz="1800" b="0" i="0" dirty="0">
              <a:solidFill>
                <a:srgbClr val="FFC00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peeradrlen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b="0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length of @</a:t>
            </a:r>
            <a:endParaRPr lang="en-US" altLang="zh-TW" sz="1800" b="0" i="0" dirty="0">
              <a:solidFill>
                <a:srgbClr val="FFC00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endParaRPr lang="en-US" altLang="zh-TW" sz="1800" b="0" i="0" dirty="0">
              <a:solidFill>
                <a:srgbClr val="00B05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newfd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b="0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</a:rPr>
              <a:t>handle of </a:t>
            </a:r>
            <a:r>
              <a:rPr lang="en-US" altLang="zh-TW" sz="1800" b="0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a new socket if created.</a:t>
            </a:r>
            <a:endParaRPr lang="en-US" altLang="zh-TW" sz="1800" b="0" i="0" dirty="0">
              <a:solidFill>
                <a:srgbClr val="00B05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endParaRPr lang="en-US" altLang="zh-TW" sz="1800" b="0" i="0" dirty="0">
              <a:solidFill>
                <a:srgbClr val="00B05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newfd</a:t>
            </a:r>
            <a:r>
              <a:rPr lang="en-US" altLang="zh-TW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=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accept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peeradr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&amp;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peeradrlen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);</a:t>
            </a:r>
            <a:endParaRPr lang="zh-TW" altLang="en-US" sz="1800" dirty="0">
              <a:solidFill>
                <a:srgbClr val="FFC000"/>
              </a:solidFill>
            </a:endParaRPr>
          </a:p>
        </p:txBody>
      </p:sp>
      <p:sp>
        <p:nvSpPr>
          <p:cNvPr id="10" name="副標題 9">
            <a:extLst>
              <a:ext uri="{FF2B5EF4-FFF2-40B4-BE49-F238E27FC236}">
                <a16:creationId xmlns:a16="http://schemas.microsoft.com/office/drawing/2014/main" id="{C1C636D6-CED3-4CCA-8C67-6A17D509801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28027" y="755938"/>
            <a:ext cx="4572373" cy="1584926"/>
          </a:xfrm>
        </p:spPr>
        <p:txBody>
          <a:bodyPr anchor="t">
            <a:normAutofit/>
          </a:bodyPr>
          <a:lstStyle/>
          <a:p>
            <a:pPr marL="377825" indent="-195263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kumimoji="0" lang="en-US" altLang="zh-TW" sz="1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Function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Accepts an incoming connection, returning a new socket object for communication with the client.</a:t>
            </a:r>
            <a:endParaRPr kumimoji="0" lang="zh-TW" altLang="zh-TW" sz="10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Inter" panose="02020500000000000000" charset="0"/>
              <a:ea typeface="Söhne"/>
            </a:endParaRPr>
          </a:p>
        </p:txBody>
      </p:sp>
      <p:sp>
        <p:nvSpPr>
          <p:cNvPr id="11" name="副標題 10">
            <a:extLst>
              <a:ext uri="{FF2B5EF4-FFF2-40B4-BE49-F238E27FC236}">
                <a16:creationId xmlns:a16="http://schemas.microsoft.com/office/drawing/2014/main" id="{601BA3D8-2BAD-4BFB-BE3F-7D8BCE2AD77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800400" y="862010"/>
            <a:ext cx="3776100" cy="572700"/>
          </a:xfrm>
        </p:spPr>
        <p:txBody>
          <a:bodyPr/>
          <a:lstStyle/>
          <a:p>
            <a:r>
              <a:rPr lang="en-US" altLang="zh-TW" dirty="0"/>
              <a:t>Example in 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540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72188-6979-4265-95A3-FAF1D884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3239"/>
            <a:ext cx="8229600" cy="572700"/>
          </a:xfrm>
        </p:spPr>
        <p:txBody>
          <a:bodyPr>
            <a:normAutofit fontScale="90000"/>
          </a:bodyPr>
          <a:lstStyle/>
          <a:p>
            <a:r>
              <a:rPr lang="en-US" altLang="zh-TW" i="1" dirty="0">
                <a:solidFill>
                  <a:srgbClr val="0000FF"/>
                </a:solidFill>
                <a:latin typeface="Inter" panose="02020500000000000000" charset="0"/>
                <a:ea typeface="Söhne"/>
              </a:rPr>
              <a:t>accept()</a:t>
            </a:r>
            <a:endParaRPr lang="zh-TW" altLang="en-US" i="1" dirty="0">
              <a:solidFill>
                <a:srgbClr val="0000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84B9AC-CD24-4C19-9B03-3D1A514AA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74646"/>
            <a:ext cx="5238750" cy="477054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lang="en-US" altLang="zh-TW" sz="2000" b="1" i="1" dirty="0" err="1">
                <a:solidFill>
                  <a:srgbClr val="374151"/>
                </a:solidFill>
                <a:latin typeface="Inter" panose="02020500000000000000" charset="0"/>
                <a:ea typeface="Söhne"/>
              </a:rPr>
              <a:t>newfd</a:t>
            </a:r>
            <a:r>
              <a:rPr lang="en-US" altLang="zh-TW" sz="2000" dirty="0">
                <a:solidFill>
                  <a:srgbClr val="374151"/>
                </a:solidFill>
                <a:latin typeface="Inter" panose="02020500000000000000" charset="0"/>
                <a:ea typeface="Söhne"/>
              </a:rPr>
              <a:t>  points to any available port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138213EB-E3C7-4AE3-8873-EB15746B72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8780" y="1389734"/>
            <a:ext cx="5824356" cy="572700"/>
          </a:xfrm>
          <a:solidFill>
            <a:schemeClr val="bg2">
              <a:lumMod val="50000"/>
            </a:schemeClr>
          </a:solidFill>
        </p:spPr>
        <p:txBody>
          <a:bodyPr>
            <a:normAutofit/>
          </a:bodyPr>
          <a:lstStyle/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newfd</a:t>
            </a:r>
            <a:r>
              <a:rPr lang="en-US" altLang="zh-TW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=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accept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peeradr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&amp;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peeradrlen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);</a:t>
            </a:r>
            <a:endParaRPr lang="zh-TW" altLang="en-US" sz="1800" dirty="0">
              <a:solidFill>
                <a:srgbClr val="FFC00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0CADD8-91A7-41C8-AAA3-2FEE60E60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80" y="2355185"/>
            <a:ext cx="5824356" cy="260507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1468343-455D-46A0-89D7-B8D0C1CB5F5F}"/>
              </a:ext>
            </a:extLst>
          </p:cNvPr>
          <p:cNvSpPr txBox="1"/>
          <p:nvPr/>
        </p:nvSpPr>
        <p:spPr>
          <a:xfrm>
            <a:off x="4221583" y="3349946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err="1">
                <a:solidFill>
                  <a:srgbClr val="0000FF"/>
                </a:solidFill>
              </a:rPr>
              <a:t>newfd</a:t>
            </a:r>
            <a:endParaRPr lang="zh-TW" altLang="en-US" b="1" i="1" dirty="0">
              <a:solidFill>
                <a:srgbClr val="0000FF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CD4B17C-6A53-4EAA-8169-7B59292552D7}"/>
              </a:ext>
            </a:extLst>
          </p:cNvPr>
          <p:cNvSpPr txBox="1"/>
          <p:nvPr/>
        </p:nvSpPr>
        <p:spPr>
          <a:xfrm>
            <a:off x="4266187" y="4806372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err="1">
                <a:solidFill>
                  <a:srgbClr val="0000FF"/>
                </a:solidFill>
              </a:rPr>
              <a:t>newfd</a:t>
            </a:r>
            <a:endParaRPr lang="zh-TW" altLang="en-US" b="1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248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72188-6979-4265-95A3-FAF1D884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3239"/>
            <a:ext cx="8229600" cy="572700"/>
          </a:xfrm>
        </p:spPr>
        <p:txBody>
          <a:bodyPr>
            <a:normAutofit fontScale="90000"/>
          </a:bodyPr>
          <a:lstStyle/>
          <a:p>
            <a:r>
              <a:rPr lang="en-US" altLang="zh-TW" i="1" dirty="0">
                <a:solidFill>
                  <a:srgbClr val="0000FF"/>
                </a:solidFill>
                <a:latin typeface="Inter" panose="02020500000000000000" charset="0"/>
                <a:ea typeface="Söhne"/>
              </a:rPr>
              <a:t>connect()</a:t>
            </a:r>
            <a:endParaRPr lang="zh-TW" altLang="en-US" i="1" dirty="0">
              <a:solidFill>
                <a:srgbClr val="0000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84B9AC-CD24-4C19-9B03-3D1A514AA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55714"/>
            <a:ext cx="3776100" cy="1354217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Parameters:</a:t>
            </a:r>
          </a:p>
          <a:p>
            <a:pPr marL="608013" indent="-34290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1800" b="1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address: </a:t>
            </a:r>
            <a:r>
              <a:rPr kumimoji="0" lang="en-US" altLang="zh-TW" sz="180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A tuple containing the remote server's IP address and port number.</a:t>
            </a:r>
            <a:endParaRPr lang="en-US" altLang="zh-TW" sz="1800" dirty="0">
              <a:solidFill>
                <a:srgbClr val="374151"/>
              </a:solidFill>
              <a:latin typeface="Inter" panose="02020500000000000000" charset="0"/>
              <a:ea typeface="Söhne"/>
            </a:endParaRP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138213EB-E3C7-4AE3-8873-EB15746B72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00399" y="1540781"/>
            <a:ext cx="4001573" cy="3163842"/>
          </a:xfrm>
          <a:solidFill>
            <a:schemeClr val="bg2">
              <a:lumMod val="50000"/>
            </a:schemeClr>
          </a:solidFill>
        </p:spPr>
        <p:txBody>
          <a:bodyPr>
            <a:normAutofit lnSpcReduction="10000"/>
          </a:bodyPr>
          <a:lstStyle/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sys/</a:t>
            </a:r>
            <a:r>
              <a:rPr lang="en-US" altLang="zh-TW" sz="18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types.h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&gt;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netinet</a:t>
            </a:r>
            <a:r>
              <a:rPr lang="en-US" altLang="zh-TW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in.h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&gt;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struct </a:t>
            </a:r>
            <a:r>
              <a:rPr lang="en-US" altLang="zh-TW" sz="1800" b="0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sockaddr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*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peeradr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dirty="0">
                <a:solidFill>
                  <a:srgbClr val="00B0F0"/>
                </a:solidFill>
                <a:latin typeface="Times New Roman" panose="02020603050405020304" pitchFamily="18" charset="0"/>
              </a:rPr>
              <a:t>@</a:t>
            </a:r>
            <a:r>
              <a:rPr lang="zh-TW" altLang="en-US" sz="1800" dirty="0">
                <a:solidFill>
                  <a:srgbClr val="00B0F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00B0F0"/>
                </a:solidFill>
                <a:latin typeface="Times New Roman" panose="02020603050405020304" pitchFamily="18" charset="0"/>
              </a:rPr>
              <a:t>of server</a:t>
            </a:r>
            <a:endParaRPr lang="en-US" altLang="zh-TW" sz="1800" b="0" i="0" dirty="0">
              <a:solidFill>
                <a:srgbClr val="FFC00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peeradrlen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b="0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length of @</a:t>
            </a:r>
            <a:endParaRPr lang="en-US" altLang="zh-TW" sz="1800" b="0" i="0" dirty="0">
              <a:solidFill>
                <a:srgbClr val="FFC00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endParaRPr lang="en-US" altLang="zh-TW" sz="1800" b="0" i="0" dirty="0">
              <a:solidFill>
                <a:srgbClr val="00B05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 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status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dirty="0">
                <a:solidFill>
                  <a:srgbClr val="00B0F0"/>
                </a:solidFill>
                <a:latin typeface="Times New Roman" panose="02020603050405020304" pitchFamily="18" charset="0"/>
              </a:rPr>
              <a:t>check if the connection is setup successfully</a:t>
            </a:r>
            <a:r>
              <a:rPr lang="en-US" altLang="zh-TW" sz="1800" b="0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en-US" altLang="zh-TW" sz="1800" b="0" i="0" dirty="0">
              <a:solidFill>
                <a:srgbClr val="00B05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endParaRPr lang="en-US" altLang="zh-TW" sz="1800" b="0" i="0" dirty="0">
              <a:solidFill>
                <a:srgbClr val="00B05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connect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peeradr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&amp;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peeradrlen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);</a:t>
            </a:r>
            <a:endParaRPr lang="zh-TW" altLang="en-US" sz="1800" dirty="0">
              <a:solidFill>
                <a:srgbClr val="FFC000"/>
              </a:solidFill>
            </a:endParaRPr>
          </a:p>
        </p:txBody>
      </p:sp>
      <p:sp>
        <p:nvSpPr>
          <p:cNvPr id="10" name="副標題 9">
            <a:extLst>
              <a:ext uri="{FF2B5EF4-FFF2-40B4-BE49-F238E27FC236}">
                <a16:creationId xmlns:a16="http://schemas.microsoft.com/office/drawing/2014/main" id="{C1C636D6-CED3-4CCA-8C67-6A17D509801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28027" y="755938"/>
            <a:ext cx="4572373" cy="1584926"/>
          </a:xfrm>
        </p:spPr>
        <p:txBody>
          <a:bodyPr anchor="t">
            <a:normAutofit/>
          </a:bodyPr>
          <a:lstStyle/>
          <a:p>
            <a:pPr marL="377825" indent="-195263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kumimoji="0" lang="en-US" altLang="zh-TW" sz="1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Function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Initiates a connection to a remote server.</a:t>
            </a:r>
            <a:endParaRPr kumimoji="0" lang="zh-TW" altLang="zh-TW" sz="10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Inter" panose="02020500000000000000" charset="0"/>
              <a:ea typeface="Söhne"/>
            </a:endParaRPr>
          </a:p>
        </p:txBody>
      </p:sp>
      <p:sp>
        <p:nvSpPr>
          <p:cNvPr id="11" name="副標題 10">
            <a:extLst>
              <a:ext uri="{FF2B5EF4-FFF2-40B4-BE49-F238E27FC236}">
                <a16:creationId xmlns:a16="http://schemas.microsoft.com/office/drawing/2014/main" id="{601BA3D8-2BAD-4BFB-BE3F-7D8BCE2AD77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800400" y="862010"/>
            <a:ext cx="3776100" cy="572700"/>
          </a:xfrm>
        </p:spPr>
        <p:txBody>
          <a:bodyPr/>
          <a:lstStyle/>
          <a:p>
            <a:r>
              <a:rPr lang="en-US" altLang="zh-TW" dirty="0"/>
              <a:t>Example in 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2475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72188-6979-4265-95A3-FAF1D884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3239"/>
            <a:ext cx="8229600" cy="572700"/>
          </a:xfrm>
        </p:spPr>
        <p:txBody>
          <a:bodyPr>
            <a:normAutofit fontScale="90000"/>
          </a:bodyPr>
          <a:lstStyle/>
          <a:p>
            <a:r>
              <a:rPr lang="en-US" altLang="zh-TW" i="1" dirty="0">
                <a:solidFill>
                  <a:srgbClr val="0000FF"/>
                </a:solidFill>
                <a:latin typeface="Inter" panose="02020500000000000000" charset="0"/>
                <a:ea typeface="Söhne"/>
              </a:rPr>
              <a:t>send() </a:t>
            </a:r>
            <a:r>
              <a:rPr lang="en-US" altLang="zh-TW" i="1" dirty="0">
                <a:solidFill>
                  <a:srgbClr val="374151"/>
                </a:solidFill>
                <a:latin typeface="Inter" panose="02020500000000000000" charset="0"/>
                <a:ea typeface="Söhne"/>
              </a:rPr>
              <a:t>or </a:t>
            </a:r>
            <a:r>
              <a:rPr lang="en-US" altLang="zh-TW" i="1" dirty="0">
                <a:solidFill>
                  <a:srgbClr val="0000FF"/>
                </a:solidFill>
                <a:latin typeface="Inter" panose="02020500000000000000" charset="0"/>
                <a:ea typeface="Söhne"/>
              </a:rPr>
              <a:t>write()</a:t>
            </a:r>
            <a:endParaRPr lang="zh-TW" altLang="en-US" i="1" dirty="0">
              <a:solidFill>
                <a:srgbClr val="0000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84B9AC-CD24-4C19-9B03-3D1A514AA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033141"/>
            <a:ext cx="3776100" cy="1077218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1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Parameters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</a:t>
            </a:r>
          </a:p>
          <a:p>
            <a:pPr marL="265113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TW" sz="1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data: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 The data to be sent as bytes.</a:t>
            </a:r>
            <a:endParaRPr lang="en-US" altLang="zh-TW" sz="1800" dirty="0">
              <a:solidFill>
                <a:srgbClr val="374151"/>
              </a:solidFill>
              <a:latin typeface="Inter" panose="02020500000000000000" charset="0"/>
              <a:ea typeface="Söhne"/>
            </a:endParaRP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138213EB-E3C7-4AE3-8873-EB15746B72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00400" y="1540781"/>
            <a:ext cx="3886400" cy="2964311"/>
          </a:xfrm>
          <a:solidFill>
            <a:schemeClr val="bg2">
              <a:lumMod val="50000"/>
            </a:schemeClr>
          </a:solidFill>
        </p:spPr>
        <p:txBody>
          <a:bodyPr>
            <a:normAutofit/>
          </a:bodyPr>
          <a:lstStyle/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sys/</a:t>
            </a:r>
            <a:r>
              <a:rPr lang="en-US" altLang="zh-TW" sz="18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socket.h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&gt;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altLang="zh-TW" sz="1800" b="0" i="0" dirty="0">
              <a:solidFill>
                <a:srgbClr val="00B05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nbytes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b="0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</a:rPr>
              <a:t>length of data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char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*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b="0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</a:rPr>
              <a:t>address of data to be sent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ndata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# of bytes actually sent</a:t>
            </a:r>
            <a:endParaRPr lang="en-US" altLang="zh-TW" sz="1800" b="0" i="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endParaRPr lang="en-US" altLang="zh-TW" sz="1800" b="0" i="0" dirty="0">
              <a:solidFill>
                <a:srgbClr val="00B05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ndata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= 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write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nbytes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);</a:t>
            </a:r>
            <a:endParaRPr lang="zh-TW" altLang="en-US" sz="1800" dirty="0">
              <a:solidFill>
                <a:srgbClr val="FFC000"/>
              </a:solidFill>
            </a:endParaRPr>
          </a:p>
        </p:txBody>
      </p:sp>
      <p:sp>
        <p:nvSpPr>
          <p:cNvPr id="10" name="副標題 9">
            <a:extLst>
              <a:ext uri="{FF2B5EF4-FFF2-40B4-BE49-F238E27FC236}">
                <a16:creationId xmlns:a16="http://schemas.microsoft.com/office/drawing/2014/main" id="{C1C636D6-CED3-4CCA-8C67-6A17D509801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28027" y="755938"/>
            <a:ext cx="4572373" cy="990566"/>
          </a:xfrm>
        </p:spPr>
        <p:txBody>
          <a:bodyPr anchor="t">
            <a:normAutofit/>
          </a:bodyPr>
          <a:lstStyle/>
          <a:p>
            <a:pPr marL="377825" indent="-195263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Function: Sends data over the socket.</a:t>
            </a:r>
            <a:endParaRPr kumimoji="0" lang="zh-TW" altLang="zh-TW" sz="10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Inter" panose="02020500000000000000" charset="0"/>
              <a:ea typeface="Söhne"/>
            </a:endParaRPr>
          </a:p>
        </p:txBody>
      </p:sp>
      <p:sp>
        <p:nvSpPr>
          <p:cNvPr id="11" name="副標題 10">
            <a:extLst>
              <a:ext uri="{FF2B5EF4-FFF2-40B4-BE49-F238E27FC236}">
                <a16:creationId xmlns:a16="http://schemas.microsoft.com/office/drawing/2014/main" id="{601BA3D8-2BAD-4BFB-BE3F-7D8BCE2AD77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800400" y="862010"/>
            <a:ext cx="3776100" cy="572700"/>
          </a:xfrm>
        </p:spPr>
        <p:txBody>
          <a:bodyPr/>
          <a:lstStyle/>
          <a:p>
            <a:r>
              <a:rPr lang="en-US" altLang="zh-TW" dirty="0"/>
              <a:t>Example in 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2989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72188-6979-4265-95A3-FAF1D884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3239"/>
            <a:ext cx="8229600" cy="572700"/>
          </a:xfrm>
        </p:spPr>
        <p:txBody>
          <a:bodyPr>
            <a:normAutofit fontScale="90000"/>
          </a:bodyPr>
          <a:lstStyle/>
          <a:p>
            <a:r>
              <a:rPr lang="en-US" altLang="zh-TW" i="1" dirty="0">
                <a:solidFill>
                  <a:srgbClr val="0000FF"/>
                </a:solidFill>
                <a:latin typeface="Inter" panose="02020500000000000000" charset="0"/>
                <a:ea typeface="Söhne"/>
              </a:rPr>
              <a:t>read() </a:t>
            </a:r>
            <a:r>
              <a:rPr lang="en-US" altLang="zh-TW" i="1" dirty="0">
                <a:solidFill>
                  <a:srgbClr val="374151"/>
                </a:solidFill>
                <a:latin typeface="Inter" panose="02020500000000000000" charset="0"/>
                <a:ea typeface="Söhne"/>
              </a:rPr>
              <a:t>or </a:t>
            </a:r>
            <a:r>
              <a:rPr lang="en-US" altLang="zh-TW" i="1" dirty="0">
                <a:solidFill>
                  <a:srgbClr val="0000FF"/>
                </a:solidFill>
                <a:latin typeface="Inter" panose="02020500000000000000" charset="0"/>
                <a:ea typeface="Söhne"/>
              </a:rPr>
              <a:t>receive()</a:t>
            </a:r>
            <a:endParaRPr lang="zh-TW" altLang="en-US" i="1" dirty="0">
              <a:solidFill>
                <a:srgbClr val="0000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84B9AC-CD24-4C19-9B03-3D1A514AA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00" y="1647325"/>
            <a:ext cx="3776100" cy="1077218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Parameters:</a:t>
            </a:r>
          </a:p>
          <a:p>
            <a:pPr marL="608013" indent="-34290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1800" b="1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data:</a:t>
            </a:r>
            <a:r>
              <a:rPr kumimoji="0" lang="en-US" altLang="zh-TW" sz="1800" b="1" i="1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 </a:t>
            </a:r>
            <a:r>
              <a:rPr kumimoji="0" lang="en-US" altLang="zh-TW" sz="1800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The amount of data to receive in bytes.</a:t>
            </a:r>
            <a:endParaRPr lang="en-US" altLang="zh-TW" sz="1800" dirty="0">
              <a:solidFill>
                <a:srgbClr val="374151"/>
              </a:solidFill>
              <a:latin typeface="Inter" panose="02020500000000000000" charset="0"/>
              <a:ea typeface="Söhne"/>
            </a:endParaRP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138213EB-E3C7-4AE3-8873-EB15746B72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00399" y="1540781"/>
            <a:ext cx="3945731" cy="3184782"/>
          </a:xfrm>
          <a:solidFill>
            <a:schemeClr val="bg2">
              <a:lumMod val="50000"/>
            </a:schemeClr>
          </a:solidFill>
        </p:spPr>
        <p:txBody>
          <a:bodyPr>
            <a:normAutofit/>
          </a:bodyPr>
          <a:lstStyle/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#include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&lt;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sys/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socket.h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&gt;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int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 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fd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8B484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 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Inter"/>
              <a:sym typeface="Inter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int 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nbytes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 //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length of data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anose="02020603050405020304" pitchFamily="18" charset="0"/>
              <a:ea typeface="Inter"/>
              <a:sym typeface="Inter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char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*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buf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 //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address of data received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anose="02020603050405020304" pitchFamily="18" charset="0"/>
              <a:ea typeface="Inter"/>
              <a:sym typeface="Inter"/>
            </a:endParaRPr>
          </a:p>
          <a:p>
            <a:pPr marL="139700" lvl="0" indent="0">
              <a:buClr>
                <a:srgbClr val="0254DB"/>
              </a:buClr>
              <a:buNone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int 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ndata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 // </a:t>
            </a:r>
            <a:r>
              <a:rPr lang="en-US" altLang="zh-TW" sz="1800" dirty="0">
                <a:solidFill>
                  <a:srgbClr val="00B0F0"/>
                </a:solidFill>
                <a:latin typeface="Times New Roman" panose="02020603050405020304" pitchFamily="18" charset="0"/>
              </a:rPr>
              <a:t>length of data received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anose="02020603050405020304" pitchFamily="18" charset="0"/>
              <a:ea typeface="Inter"/>
              <a:sym typeface="Inter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Inter"/>
              <a:sym typeface="Inter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ndata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=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read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(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fd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,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 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buf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,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 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nbytes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);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Inter"/>
              <a:sym typeface="Inter"/>
            </a:endParaRPr>
          </a:p>
        </p:txBody>
      </p:sp>
      <p:sp>
        <p:nvSpPr>
          <p:cNvPr id="10" name="副標題 9">
            <a:extLst>
              <a:ext uri="{FF2B5EF4-FFF2-40B4-BE49-F238E27FC236}">
                <a16:creationId xmlns:a16="http://schemas.microsoft.com/office/drawing/2014/main" id="{C1C636D6-CED3-4CCA-8C67-6A17D509801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28027" y="755938"/>
            <a:ext cx="4572373" cy="1584926"/>
          </a:xfrm>
        </p:spPr>
        <p:txBody>
          <a:bodyPr anchor="t">
            <a:normAutofit/>
          </a:bodyPr>
          <a:lstStyle/>
          <a:p>
            <a:pPr marL="377825" indent="-195263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kumimoji="0" lang="en-US" altLang="zh-TW" sz="1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Function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Receives data from the socket.</a:t>
            </a:r>
            <a:endParaRPr kumimoji="0" lang="zh-TW" altLang="zh-TW" sz="10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Inter" panose="02020500000000000000" charset="0"/>
              <a:ea typeface="Söhne"/>
            </a:endParaRPr>
          </a:p>
        </p:txBody>
      </p:sp>
      <p:sp>
        <p:nvSpPr>
          <p:cNvPr id="11" name="副標題 10">
            <a:extLst>
              <a:ext uri="{FF2B5EF4-FFF2-40B4-BE49-F238E27FC236}">
                <a16:creationId xmlns:a16="http://schemas.microsoft.com/office/drawing/2014/main" id="{601BA3D8-2BAD-4BFB-BE3F-7D8BCE2AD77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800400" y="862010"/>
            <a:ext cx="3776100" cy="572700"/>
          </a:xfrm>
        </p:spPr>
        <p:txBody>
          <a:bodyPr/>
          <a:lstStyle/>
          <a:p>
            <a:r>
              <a:rPr lang="en-US" altLang="zh-TW" dirty="0"/>
              <a:t>Example in 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6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72188-6979-4265-95A3-FAF1D884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3239"/>
            <a:ext cx="8229600" cy="572700"/>
          </a:xfrm>
        </p:spPr>
        <p:txBody>
          <a:bodyPr>
            <a:normAutofit fontScale="90000"/>
          </a:bodyPr>
          <a:lstStyle/>
          <a:p>
            <a:r>
              <a:rPr lang="en-US" altLang="zh-TW" i="1" dirty="0" err="1">
                <a:solidFill>
                  <a:srgbClr val="0000FF"/>
                </a:solidFill>
                <a:latin typeface="Inter" panose="02020500000000000000" charset="0"/>
                <a:ea typeface="Söhne"/>
              </a:rPr>
              <a:t>sendto</a:t>
            </a:r>
            <a:r>
              <a:rPr lang="en-US" altLang="zh-TW" i="1" dirty="0">
                <a:solidFill>
                  <a:srgbClr val="0000FF"/>
                </a:solidFill>
                <a:latin typeface="Inter" panose="02020500000000000000" charset="0"/>
                <a:ea typeface="Söhne"/>
              </a:rPr>
              <a:t>()</a:t>
            </a:r>
            <a:endParaRPr lang="zh-TW" altLang="en-US" i="1" dirty="0">
              <a:solidFill>
                <a:srgbClr val="0000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84B9AC-CD24-4C19-9B03-3D1A514AA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01" y="1792224"/>
            <a:ext cx="3776100" cy="170816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Parameters:</a:t>
            </a:r>
          </a:p>
          <a:p>
            <a:pPr marL="265113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TW" sz="1800" b="1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data</a:t>
            </a:r>
            <a:r>
              <a:rPr kumimoji="0" lang="en-US" altLang="zh-TW" sz="1800" b="1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</a:t>
            </a:r>
            <a:r>
              <a:rPr kumimoji="0" lang="en-US" altLang="zh-TW" sz="1800" b="1" i="1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 </a:t>
            </a:r>
            <a:r>
              <a:rPr kumimoji="0" lang="en-US" altLang="zh-TW" sz="180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The data to be sent as bytes.</a:t>
            </a:r>
          </a:p>
          <a:p>
            <a:pPr marL="265113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zh-TW" sz="1800" b="1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address</a:t>
            </a:r>
            <a:r>
              <a:rPr kumimoji="0" lang="en-US" altLang="zh-TW" sz="1800" b="1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</a:t>
            </a:r>
            <a:r>
              <a:rPr kumimoji="0" lang="en-US" altLang="zh-TW" sz="180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The destination address (IP address and port).</a:t>
            </a:r>
            <a:endParaRPr lang="en-US" altLang="zh-TW" sz="1800" dirty="0">
              <a:solidFill>
                <a:srgbClr val="374151"/>
              </a:solidFill>
              <a:latin typeface="Inter" panose="02020500000000000000" charset="0"/>
              <a:ea typeface="Söhne"/>
            </a:endParaRP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138213EB-E3C7-4AE3-8873-EB15746B72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00399" y="1540781"/>
            <a:ext cx="4115573" cy="3310425"/>
          </a:xfrm>
          <a:solidFill>
            <a:schemeClr val="bg2">
              <a:lumMod val="50000"/>
            </a:schemeClr>
          </a:solidFill>
        </p:spPr>
        <p:txBody>
          <a:bodyPr>
            <a:normAutofit fontScale="85000" lnSpcReduction="10000"/>
          </a:bodyPr>
          <a:lstStyle/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sys/</a:t>
            </a:r>
            <a:r>
              <a:rPr lang="en-US" altLang="zh-TW" sz="18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types.h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&gt;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netinet</a:t>
            </a:r>
            <a:r>
              <a:rPr lang="en-US" altLang="zh-TW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in.h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&gt;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int 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nbytes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 //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length of data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anose="02020603050405020304" pitchFamily="18" charset="0"/>
              <a:ea typeface="Inter"/>
              <a:sym typeface="Inter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char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*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buf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 //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address of data received</a:t>
            </a: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anose="02020603050405020304" pitchFamily="18" charset="0"/>
              <a:ea typeface="Inter"/>
              <a:sym typeface="Inter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int </a:t>
            </a:r>
            <a:r>
              <a:rPr kumimoji="0" lang="en-US" altLang="zh-TW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ndata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 //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data size sent successfully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 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flages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 // 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usually set to zero</a:t>
            </a:r>
            <a:endParaRPr lang="en-US" altLang="zh-TW" sz="1800" b="0" i="0" dirty="0">
              <a:solidFill>
                <a:srgbClr val="FFC000"/>
              </a:solidFill>
              <a:effectLst/>
              <a:latin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int </a:t>
            </a:r>
            <a:r>
              <a:rPr lang="en-US" altLang="zh-TW" sz="1800" b="0" i="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</a:rPr>
              <a:t>tosdlen</a:t>
            </a:r>
            <a:r>
              <a:rPr lang="en-US" altLang="zh-TW" sz="1800" dirty="0">
                <a:solidFill>
                  <a:srgbClr val="FFC000"/>
                </a:solidFill>
                <a:latin typeface="Times New Roman" panose="02020603050405020304" pitchFamily="18" charset="0"/>
              </a:rPr>
              <a:t>; // </a:t>
            </a:r>
            <a:r>
              <a:rPr lang="en-US" altLang="zh-TW" sz="1800" dirty="0">
                <a:solidFill>
                  <a:srgbClr val="00B0F0"/>
                </a:solidFill>
                <a:latin typeface="Times New Roman" panose="02020603050405020304" pitchFamily="18" charset="0"/>
              </a:rPr>
              <a:t>length of destination @</a:t>
            </a:r>
            <a:endParaRPr lang="en-US" altLang="zh-TW" sz="1800" dirty="0">
              <a:solidFill>
                <a:srgbClr val="FFC000"/>
              </a:solidFill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endParaRPr lang="en-US" altLang="zh-TW" sz="1800" b="0" i="0" dirty="0">
              <a:solidFill>
                <a:srgbClr val="FFC00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struct </a:t>
            </a:r>
            <a:r>
              <a:rPr lang="en-US" altLang="zh-TW" sz="1800" b="0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sockaddr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*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tosd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; // </a:t>
            </a:r>
            <a:r>
              <a:rPr lang="en-US" altLang="zh-TW" sz="1800" dirty="0">
                <a:solidFill>
                  <a:srgbClr val="00B0F0"/>
                </a:solidFill>
                <a:latin typeface="Times New Roman" panose="02020603050405020304" pitchFamily="18" charset="0"/>
              </a:rPr>
              <a:t>destination @</a:t>
            </a:r>
            <a:endParaRPr lang="en-US" altLang="zh-TW" sz="1800" b="0" i="0" dirty="0">
              <a:solidFill>
                <a:srgbClr val="FFC00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endParaRPr lang="en-US" altLang="zh-TW" sz="1800" b="0" i="0" dirty="0">
              <a:solidFill>
                <a:srgbClr val="00B05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ndata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=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sendto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fd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nbytes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flages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tosd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tosdlen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);</a:t>
            </a:r>
            <a:endParaRPr lang="zh-TW" altLang="en-US" sz="1800" dirty="0">
              <a:solidFill>
                <a:srgbClr val="FFC000"/>
              </a:solidFill>
            </a:endParaRPr>
          </a:p>
        </p:txBody>
      </p:sp>
      <p:sp>
        <p:nvSpPr>
          <p:cNvPr id="10" name="副標題 9">
            <a:extLst>
              <a:ext uri="{FF2B5EF4-FFF2-40B4-BE49-F238E27FC236}">
                <a16:creationId xmlns:a16="http://schemas.microsoft.com/office/drawing/2014/main" id="{C1C636D6-CED3-4CCA-8C67-6A17D509801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28027" y="755938"/>
            <a:ext cx="4572373" cy="1584926"/>
          </a:xfrm>
        </p:spPr>
        <p:txBody>
          <a:bodyPr anchor="t">
            <a:normAutofit/>
          </a:bodyPr>
          <a:lstStyle/>
          <a:p>
            <a:pPr marL="377825" indent="-195263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kumimoji="0" lang="en-US" altLang="zh-TW" sz="1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Function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Sends data to a specific destination address using </a:t>
            </a:r>
            <a:r>
              <a:rPr kumimoji="0" lang="en-US" altLang="zh-TW" sz="1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UDP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.</a:t>
            </a:r>
            <a:endParaRPr kumimoji="0" lang="zh-TW" altLang="zh-TW" sz="10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Inter" panose="02020500000000000000" charset="0"/>
              <a:ea typeface="Söhne"/>
            </a:endParaRPr>
          </a:p>
        </p:txBody>
      </p:sp>
      <p:sp>
        <p:nvSpPr>
          <p:cNvPr id="11" name="副標題 10">
            <a:extLst>
              <a:ext uri="{FF2B5EF4-FFF2-40B4-BE49-F238E27FC236}">
                <a16:creationId xmlns:a16="http://schemas.microsoft.com/office/drawing/2014/main" id="{601BA3D8-2BAD-4BFB-BE3F-7D8BCE2AD77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800400" y="862010"/>
            <a:ext cx="3776100" cy="572700"/>
          </a:xfrm>
        </p:spPr>
        <p:txBody>
          <a:bodyPr/>
          <a:lstStyle/>
          <a:p>
            <a:r>
              <a:rPr lang="en-US" altLang="zh-TW" dirty="0"/>
              <a:t>Example in 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321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72188-6979-4265-95A3-FAF1D884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3239"/>
            <a:ext cx="8229600" cy="572700"/>
          </a:xfrm>
        </p:spPr>
        <p:txBody>
          <a:bodyPr>
            <a:normAutofit fontScale="90000"/>
          </a:bodyPr>
          <a:lstStyle/>
          <a:p>
            <a:r>
              <a:rPr lang="en-US" altLang="zh-TW" i="1" dirty="0" err="1">
                <a:solidFill>
                  <a:srgbClr val="0000FF"/>
                </a:solidFill>
                <a:latin typeface="Inter" panose="02020500000000000000" charset="0"/>
                <a:ea typeface="Söhne"/>
              </a:rPr>
              <a:t>recvfrom</a:t>
            </a:r>
            <a:r>
              <a:rPr lang="en-US" altLang="zh-TW" i="1" dirty="0">
                <a:solidFill>
                  <a:srgbClr val="0000FF"/>
                </a:solidFill>
                <a:latin typeface="Inter" panose="02020500000000000000" charset="0"/>
                <a:ea typeface="Söhne"/>
              </a:rPr>
              <a:t>()</a:t>
            </a:r>
            <a:endParaRPr lang="zh-TW" altLang="en-US" i="1" dirty="0">
              <a:solidFill>
                <a:srgbClr val="0000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84B9AC-CD24-4C19-9B03-3D1A514AA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25419"/>
            <a:ext cx="3776100" cy="1077218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Parameters:</a:t>
            </a:r>
          </a:p>
          <a:p>
            <a:pPr marL="608013" indent="-34290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</a:pPr>
            <a:r>
              <a:rPr kumimoji="0" lang="en-US" altLang="zh-TW" sz="1800" b="1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data:</a:t>
            </a:r>
            <a:r>
              <a:rPr kumimoji="0" lang="en-US" altLang="zh-TW" sz="1800" b="1" i="1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 </a:t>
            </a:r>
            <a:r>
              <a:rPr kumimoji="0" lang="en-US" altLang="zh-TW" sz="180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The data received in bytes.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138213EB-E3C7-4AE3-8873-EB15746B72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00400" y="1540781"/>
            <a:ext cx="4050434" cy="3275524"/>
          </a:xfrm>
          <a:solidFill>
            <a:schemeClr val="bg2">
              <a:lumMod val="50000"/>
            </a:schemeClr>
          </a:solidFill>
        </p:spPr>
        <p:txBody>
          <a:bodyPr>
            <a:normAutofit fontScale="92500" lnSpcReduction="10000"/>
          </a:bodyPr>
          <a:lstStyle/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sys/</a:t>
            </a:r>
            <a:r>
              <a:rPr lang="en-US" altLang="zh-TW" sz="18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</a:rPr>
              <a:t>types.h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&gt;</a:t>
            </a: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#include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&lt;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netinet</a:t>
            </a:r>
            <a:r>
              <a:rPr lang="en-US" altLang="zh-TW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US" altLang="zh-TW" sz="18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in.h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&gt;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int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fd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8B484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 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int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nbytes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 //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size of buffer reserved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anose="02020603050405020304" pitchFamily="18" charset="0"/>
              <a:ea typeface="Inter"/>
              <a:sym typeface="Inter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char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*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buf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 //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address of data received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anose="02020603050405020304" pitchFamily="18" charset="0"/>
              <a:ea typeface="Inter"/>
              <a:sym typeface="Inter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int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ndata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 //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# of bytes received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int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flages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 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//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usually set to zero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anose="02020603050405020304" pitchFamily="18" charset="0"/>
              <a:ea typeface="Inter"/>
              <a:sym typeface="Inter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int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fsocklen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 //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length of source @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54DB"/>
              </a:buClr>
              <a:buSzPts val="1400"/>
              <a:buFont typeface="Inter"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struct 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sockaddr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*</a:t>
            </a:r>
            <a:r>
              <a:rPr kumimoji="0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fromsock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; //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Inter"/>
                <a:sym typeface="Inter"/>
              </a:rPr>
              <a:t>source @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anose="02020603050405020304" pitchFamily="18" charset="0"/>
              <a:ea typeface="Inter"/>
              <a:sym typeface="Inter"/>
            </a:endParaRPr>
          </a:p>
          <a:p>
            <a:pPr marL="139700" indent="0" algn="l">
              <a:spcAft>
                <a:spcPts val="0"/>
              </a:spcAft>
              <a:buNone/>
            </a:pPr>
            <a:endParaRPr lang="en-US" altLang="zh-TW" sz="1800" b="0" i="0" dirty="0">
              <a:solidFill>
                <a:srgbClr val="00B050"/>
              </a:solidFill>
              <a:effectLst/>
              <a:latin typeface="Times New Roman" panose="02020603050405020304" pitchFamily="18" charset="0"/>
            </a:endParaRPr>
          </a:p>
          <a:p>
            <a:pPr marL="139700" indent="0" algn="l">
              <a:spcAft>
                <a:spcPts val="0"/>
              </a:spcAft>
              <a:buNone/>
            </a:pPr>
            <a:r>
              <a:rPr lang="en-US" altLang="zh-TW" sz="1800" b="0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ndata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=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recvfrom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sd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buff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nbytes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flags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fromsock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altLang="zh-TW" sz="1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TW" sz="1800" b="0" i="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fsocklen</a:t>
            </a:r>
            <a:r>
              <a:rPr lang="en-US" altLang="zh-TW" sz="1800" b="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</a:rPr>
              <a:t>);</a:t>
            </a:r>
          </a:p>
        </p:txBody>
      </p:sp>
      <p:sp>
        <p:nvSpPr>
          <p:cNvPr id="10" name="副標題 9">
            <a:extLst>
              <a:ext uri="{FF2B5EF4-FFF2-40B4-BE49-F238E27FC236}">
                <a16:creationId xmlns:a16="http://schemas.microsoft.com/office/drawing/2014/main" id="{C1C636D6-CED3-4CCA-8C67-6A17D509801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28027" y="755938"/>
            <a:ext cx="4572373" cy="1584926"/>
          </a:xfrm>
        </p:spPr>
        <p:txBody>
          <a:bodyPr anchor="t">
            <a:normAutofit/>
          </a:bodyPr>
          <a:lstStyle/>
          <a:p>
            <a:pPr marL="377825" indent="-195263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kumimoji="0" lang="en-US" altLang="zh-TW" sz="1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Function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: Receives data from a specific source address using </a:t>
            </a:r>
            <a:r>
              <a:rPr kumimoji="0" lang="en-US" altLang="zh-TW" sz="1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20500000000000000" charset="0"/>
                <a:ea typeface="Söhne"/>
              </a:rPr>
              <a:t>UDP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Inter" panose="02020500000000000000" charset="0"/>
                <a:ea typeface="Söhne"/>
              </a:rPr>
              <a:t>.</a:t>
            </a:r>
            <a:endParaRPr kumimoji="0" lang="zh-TW" altLang="zh-TW" sz="10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Inter" panose="02020500000000000000" charset="0"/>
              <a:ea typeface="Söhne"/>
            </a:endParaRPr>
          </a:p>
        </p:txBody>
      </p:sp>
      <p:sp>
        <p:nvSpPr>
          <p:cNvPr id="11" name="副標題 10">
            <a:extLst>
              <a:ext uri="{FF2B5EF4-FFF2-40B4-BE49-F238E27FC236}">
                <a16:creationId xmlns:a16="http://schemas.microsoft.com/office/drawing/2014/main" id="{601BA3D8-2BAD-4BFB-BE3F-7D8BCE2AD77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800400" y="862010"/>
            <a:ext cx="3776100" cy="572700"/>
          </a:xfrm>
        </p:spPr>
        <p:txBody>
          <a:bodyPr/>
          <a:lstStyle/>
          <a:p>
            <a:r>
              <a:rPr lang="en-US" altLang="zh-TW" dirty="0"/>
              <a:t>Example in 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884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062468-B199-4CB9-BF4F-04C96C606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Overview of Socket command calling sequence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84ACDB-6745-4F5D-BB87-10D615EED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834900"/>
            <a:ext cx="3886401" cy="299313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Demon server instance </a:t>
            </a:r>
            <a:r>
              <a:rPr lang="en-US" altLang="zh-TW" sz="1600" dirty="0"/>
              <a:t>is outstanding there await for service request.</a:t>
            </a:r>
          </a:p>
          <a:p>
            <a:r>
              <a:rPr lang="en-US" altLang="zh-TW" sz="1600" dirty="0"/>
              <a:t>Once a connection request is granted, </a:t>
            </a:r>
            <a:r>
              <a:rPr lang="en-US" altLang="zh-TW" sz="1600" b="1" dirty="0">
                <a:solidFill>
                  <a:srgbClr val="0066FF"/>
                </a:solidFill>
              </a:rPr>
              <a:t>a new process is created along with a new socket for the connection.</a:t>
            </a:r>
          </a:p>
          <a:p>
            <a:r>
              <a:rPr lang="en-US" altLang="zh-TW" sz="1600" dirty="0"/>
              <a:t>The new server process takes over the service to the client.</a:t>
            </a:r>
          </a:p>
          <a:p>
            <a:r>
              <a:rPr lang="en-US" altLang="zh-TW" sz="1600" dirty="0"/>
              <a:t>The demon process goes back and wait for new connection requests.</a:t>
            </a:r>
          </a:p>
          <a:p>
            <a:endParaRPr lang="zh-TW" altLang="en-US" sz="1600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B01F9B1-D670-4F71-968A-9A35E2DAC41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C1D060BC-0A5F-4970-902A-C1A8DC2E40A5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</a:rPr>
              <a:t>Connection services on TCP</a:t>
            </a:r>
            <a:r>
              <a:rPr lang="zh-TW" altLang="en-US" sz="2000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FFE3A5FD-5A1B-4308-801F-B600778A6938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7125F5D-4346-4D83-B3E4-EB77E2616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164900"/>
            <a:ext cx="4782312" cy="397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24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062468-B199-4CB9-BF4F-04C96C606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Overview of Socket command calling sequence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84ACDB-6745-4F5D-BB87-10D615EED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sz="1600" dirty="0"/>
              <a:t>Server instance is outstanding there await for service request.</a:t>
            </a:r>
          </a:p>
          <a:p>
            <a:r>
              <a:rPr lang="en-US" altLang="zh-TW" sz="1600" dirty="0"/>
              <a:t>The data requests from all UDP clients are all served by the UDP server instance.</a:t>
            </a:r>
          </a:p>
          <a:p>
            <a:r>
              <a:rPr lang="en-US" altLang="zh-TW" sz="1600" dirty="0"/>
              <a:t>The service work must be simple.</a:t>
            </a:r>
          </a:p>
          <a:p>
            <a:endParaRPr lang="zh-TW" altLang="en-US" sz="1600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B01F9B1-D670-4F71-968A-9A35E2DAC41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C1D060BC-0A5F-4970-902A-C1A8DC2E40A5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>
            <a:normAutofit/>
          </a:bodyPr>
          <a:lstStyle/>
          <a:p>
            <a:r>
              <a:rPr lang="en-US" altLang="zh-TW" sz="1800" dirty="0">
                <a:solidFill>
                  <a:srgbClr val="0000FF"/>
                </a:solidFill>
              </a:rPr>
              <a:t>Connection services on UDP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FFE3A5FD-5A1B-4308-801F-B600778A6938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422D49F-AD8E-487F-A2D0-EF9BC6F07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017" y="1118938"/>
            <a:ext cx="4350249" cy="402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97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294A440-FF82-48C7-9F30-9B97B7383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2800" b="1" kern="12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Working with Datagram Sockets</a:t>
            </a:r>
            <a:br>
              <a:rPr lang="en-US" altLang="zh-TW" sz="2800" kern="1200" dirty="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</a:br>
            <a:endParaRPr lang="zh-TW" altLang="en-US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EC6D12DB-0989-4401-9F8D-B9548C20A2E8}"/>
              </a:ext>
            </a:extLst>
          </p:cNvPr>
          <p:cNvSpPr/>
          <p:nvPr/>
        </p:nvSpPr>
        <p:spPr>
          <a:xfrm>
            <a:off x="778335" y="-959572"/>
            <a:ext cx="7477601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468"/>
              </a:lnSpc>
              <a:buClrTx/>
              <a:buFontTx/>
              <a:buNone/>
            </a:pPr>
            <a:endParaRPr lang="en-US" sz="3600" kern="120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1C2E3A94-F021-4883-A1A7-34F3E6345C6F}"/>
              </a:ext>
            </a:extLst>
          </p:cNvPr>
          <p:cNvSpPr/>
          <p:nvPr/>
        </p:nvSpPr>
        <p:spPr>
          <a:xfrm>
            <a:off x="778335" y="1137190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F2B42D"/>
            </a:solidFill>
            <a:prstDash val="solid"/>
          </a:ln>
        </p:spPr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ACCDEBC2-3B09-4054-95C2-8AE49B6996FB}"/>
              </a:ext>
            </a:extLst>
          </p:cNvPr>
          <p:cNvSpPr/>
          <p:nvPr/>
        </p:nvSpPr>
        <p:spPr>
          <a:xfrm>
            <a:off x="929188" y="1178862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3281"/>
              </a:lnSpc>
              <a:buClrTx/>
              <a:buFontTx/>
              <a:buNone/>
            </a:pPr>
            <a:r>
              <a:rPr lang="en-US" sz="2624" b="1" kern="1200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262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A6996D13-E613-4E90-87A4-398B839C8DE3}"/>
              </a:ext>
            </a:extLst>
          </p:cNvPr>
          <p:cNvSpPr/>
          <p:nvPr/>
        </p:nvSpPr>
        <p:spPr>
          <a:xfrm>
            <a:off x="1500449" y="1213509"/>
            <a:ext cx="253746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734"/>
              </a:lnSpc>
              <a:buClrTx/>
              <a:buFontTx/>
              <a:buNone/>
            </a:pPr>
            <a:r>
              <a:rPr lang="en-US" sz="2187" b="1" kern="1200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Defined Boundaries</a:t>
            </a:r>
            <a:endParaRPr lang="en-US" sz="2187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C3C64C0A-90EE-4785-A3D1-90FA62C9AA3E}"/>
              </a:ext>
            </a:extLst>
          </p:cNvPr>
          <p:cNvSpPr/>
          <p:nvPr/>
        </p:nvSpPr>
        <p:spPr>
          <a:xfrm>
            <a:off x="1500389" y="1693626"/>
            <a:ext cx="2905601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799"/>
              </a:lnSpc>
              <a:buClrTx/>
              <a:buFontTx/>
              <a:buNone/>
            </a:pPr>
            <a:r>
              <a:rPr lang="en-US" sz="1750" kern="1200" dirty="0">
                <a:solidFill>
                  <a:schemeClr val="tx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Send and receive data in chunks with set boundaries, with each datagram packet containing information on the destination address.</a:t>
            </a:r>
            <a:endParaRPr lang="en-US" sz="1750" kern="120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D513A101-3160-4CBB-8398-AA4B89104A16}"/>
              </a:ext>
            </a:extLst>
          </p:cNvPr>
          <p:cNvSpPr/>
          <p:nvPr/>
        </p:nvSpPr>
        <p:spPr>
          <a:xfrm>
            <a:off x="4628221" y="1137190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D7425E"/>
            </a:solidFill>
            <a:prstDash val="solid"/>
          </a:ln>
        </p:spPr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495B4424-52BF-47EA-9F5F-CB66AC673757}"/>
              </a:ext>
            </a:extLst>
          </p:cNvPr>
          <p:cNvSpPr/>
          <p:nvPr/>
        </p:nvSpPr>
        <p:spPr>
          <a:xfrm>
            <a:off x="4779073" y="1178862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3281"/>
              </a:lnSpc>
              <a:buClrTx/>
              <a:buFontTx/>
              <a:buNone/>
            </a:pPr>
            <a:r>
              <a:rPr lang="en-US" sz="2624" b="1" kern="1200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262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3D13B08E-08E7-47E4-9C60-162FDBF69771}"/>
              </a:ext>
            </a:extLst>
          </p:cNvPr>
          <p:cNvSpPr/>
          <p:nvPr/>
        </p:nvSpPr>
        <p:spPr>
          <a:xfrm>
            <a:off x="5350335" y="1213509"/>
            <a:ext cx="243840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734"/>
              </a:lnSpc>
              <a:buClrTx/>
              <a:buFontTx/>
              <a:buNone/>
            </a:pPr>
            <a:r>
              <a:rPr lang="en-US" sz="2187" b="1" kern="1200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Setup Required</a:t>
            </a:r>
            <a:endParaRPr lang="en-US" sz="2187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26801336-2898-460D-A055-195AA9140C09}"/>
              </a:ext>
            </a:extLst>
          </p:cNvPr>
          <p:cNvSpPr/>
          <p:nvPr/>
        </p:nvSpPr>
        <p:spPr>
          <a:xfrm>
            <a:off x="5350335" y="1693626"/>
            <a:ext cx="2905601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799"/>
              </a:lnSpc>
              <a:buClrTx/>
              <a:buFontTx/>
              <a:buNone/>
            </a:pPr>
            <a:r>
              <a:rPr lang="en-US" sz="1750" kern="1200" dirty="0">
                <a:solidFill>
                  <a:schemeClr val="tx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connection required since there's no listening socket. Both sender and receiver can start communication right away.</a:t>
            </a:r>
            <a:endParaRPr lang="en-US" sz="1750" kern="120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017D4837-C6FB-4160-A1C7-D06432333150}"/>
              </a:ext>
            </a:extLst>
          </p:cNvPr>
          <p:cNvSpPr/>
          <p:nvPr/>
        </p:nvSpPr>
        <p:spPr>
          <a:xfrm>
            <a:off x="778335" y="3754469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DD785E"/>
            </a:solidFill>
            <a:prstDash val="solid"/>
          </a:ln>
        </p:spPr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FB886447-5F1C-4532-B8CF-FB089C983DBD}"/>
              </a:ext>
            </a:extLst>
          </p:cNvPr>
          <p:cNvSpPr/>
          <p:nvPr/>
        </p:nvSpPr>
        <p:spPr>
          <a:xfrm>
            <a:off x="929188" y="3796141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3281"/>
              </a:lnSpc>
              <a:buClrTx/>
              <a:buFontTx/>
              <a:buNone/>
            </a:pPr>
            <a:r>
              <a:rPr lang="en-US" sz="2624" b="1" kern="1200" dirty="0">
                <a:solidFill>
                  <a:srgbClr val="DD78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262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5C9E6874-FE20-498F-8306-044881EE78A6}"/>
              </a:ext>
            </a:extLst>
          </p:cNvPr>
          <p:cNvSpPr/>
          <p:nvPr/>
        </p:nvSpPr>
        <p:spPr>
          <a:xfrm>
            <a:off x="1500449" y="3830788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734"/>
              </a:lnSpc>
              <a:buClrTx/>
              <a:buFontTx/>
              <a:buNone/>
            </a:pPr>
            <a:r>
              <a:rPr lang="en-US" sz="2187" b="1" kern="1200" dirty="0">
                <a:solidFill>
                  <a:srgbClr val="DD78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Less Overhead</a:t>
            </a:r>
            <a:endParaRPr lang="en-US" sz="2187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1F6E303A-C3A8-4838-BFAD-22F5C3B4AE9C}"/>
              </a:ext>
            </a:extLst>
          </p:cNvPr>
          <p:cNvSpPr/>
          <p:nvPr/>
        </p:nvSpPr>
        <p:spPr>
          <a:xfrm>
            <a:off x="1500449" y="4254412"/>
            <a:ext cx="6755487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799"/>
              </a:lnSpc>
              <a:buClrTx/>
              <a:buFontTx/>
              <a:buNone/>
            </a:pPr>
            <a:r>
              <a:rPr lang="en-US" sz="1750" kern="1200" dirty="0">
                <a:solidFill>
                  <a:schemeClr val="tx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Lighter payload as port number and IP address are included in the packet, reducing overall overhead.</a:t>
            </a:r>
            <a:endParaRPr lang="en-US" sz="1750" kern="120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us Light">
  <a:themeElements>
    <a:clrScheme name="Custom">
      <a:dk1>
        <a:srgbClr val="000000"/>
      </a:dk1>
      <a:lt1>
        <a:srgbClr val="FFFFFF"/>
      </a:lt1>
      <a:dk2>
        <a:srgbClr val="636B61"/>
      </a:dk2>
      <a:lt2>
        <a:srgbClr val="FFFFFF"/>
      </a:lt2>
      <a:accent1>
        <a:srgbClr val="0254DB"/>
      </a:accent1>
      <a:accent2>
        <a:srgbClr val="B5D6B2"/>
      </a:accent2>
      <a:accent3>
        <a:srgbClr val="F8B484"/>
      </a:accent3>
      <a:accent4>
        <a:srgbClr val="A54657"/>
      </a:accent4>
      <a:accent5>
        <a:srgbClr val="B5D6B2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1621</Words>
  <Application>Microsoft Office PowerPoint</Application>
  <PresentationFormat>如螢幕大小 (16:9)</PresentationFormat>
  <Paragraphs>251</Paragraphs>
  <Slides>20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30" baseType="lpstr">
      <vt:lpstr>Wingdings</vt:lpstr>
      <vt:lpstr>Hanken Grotesk SemiBold</vt:lpstr>
      <vt:lpstr>Hanken Grotesk</vt:lpstr>
      <vt:lpstr>Inter</vt:lpstr>
      <vt:lpstr>Arial</vt:lpstr>
      <vt:lpstr>Times New Roman</vt:lpstr>
      <vt:lpstr>PT Sans</vt:lpstr>
      <vt:lpstr>Nunito</vt:lpstr>
      <vt:lpstr>Calibri</vt:lpstr>
      <vt:lpstr>Plus Light</vt:lpstr>
      <vt:lpstr>Introduction to Socket Interface</vt:lpstr>
      <vt:lpstr>Agenda</vt:lpstr>
      <vt:lpstr>Socket Interface</vt:lpstr>
      <vt:lpstr>Socket Interface: Architecture Prospective</vt:lpstr>
      <vt:lpstr>Communication end point: A Socket</vt:lpstr>
      <vt:lpstr>Configure transport service</vt:lpstr>
      <vt:lpstr>Overview of Socket Commands</vt:lpstr>
      <vt:lpstr>getsocket(); close(fd)</vt:lpstr>
      <vt:lpstr>bind()</vt:lpstr>
      <vt:lpstr>listen()</vt:lpstr>
      <vt:lpstr>accept()</vt:lpstr>
      <vt:lpstr>accept()</vt:lpstr>
      <vt:lpstr>connect()</vt:lpstr>
      <vt:lpstr>send() or write()</vt:lpstr>
      <vt:lpstr>read() or receive()</vt:lpstr>
      <vt:lpstr>sendto()</vt:lpstr>
      <vt:lpstr>recvfrom()</vt:lpstr>
      <vt:lpstr>Overview of Socket command calling sequence</vt:lpstr>
      <vt:lpstr>Overview of Socket command calling sequence</vt:lpstr>
      <vt:lpstr>Working with Datagram Sockets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Socket Interface</dc:title>
  <dc:creator>YZU</dc:creator>
  <cp:lastModifiedBy>鍾添曜</cp:lastModifiedBy>
  <cp:revision>44</cp:revision>
  <dcterms:modified xsi:type="dcterms:W3CDTF">2025-09-11T11:37:33Z</dcterms:modified>
</cp:coreProperties>
</file>