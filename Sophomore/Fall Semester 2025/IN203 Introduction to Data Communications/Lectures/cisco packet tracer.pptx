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75" r:id="rId3"/>
    <p:sldId id="276" r:id="rId4"/>
    <p:sldId id="277" r:id="rId5"/>
    <p:sldId id="257" r:id="rId6"/>
    <p:sldId id="258" r:id="rId7"/>
    <p:sldId id="260" r:id="rId8"/>
    <p:sldId id="261" r:id="rId9"/>
    <p:sldId id="262" r:id="rId10"/>
    <p:sldId id="259" r:id="rId11"/>
    <p:sldId id="263" r:id="rId12"/>
    <p:sldId id="264" r:id="rId13"/>
    <p:sldId id="266" r:id="rId14"/>
    <p:sldId id="267" r:id="rId15"/>
    <p:sldId id="279" r:id="rId16"/>
    <p:sldId id="280" r:id="rId17"/>
    <p:sldId id="272" r:id="rId18"/>
    <p:sldId id="265" r:id="rId19"/>
    <p:sldId id="268" r:id="rId20"/>
    <p:sldId id="269" r:id="rId21"/>
    <p:sldId id="274" r:id="rId22"/>
    <p:sldId id="270" r:id="rId23"/>
    <p:sldId id="271" r:id="rId24"/>
    <p:sldId id="281" r:id="rId25"/>
    <p:sldId id="282" r:id="rId26"/>
    <p:sldId id="283" r:id="rId27"/>
    <p:sldId id="284" r:id="rId28"/>
    <p:sldId id="278" r:id="rId2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756" y="108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9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BA5BB2-A775-41B2-B2C6-EE4D6DF981C9}" type="datetimeFigureOut">
              <a:rPr lang="zh-TW" altLang="en-US" smtClean="0"/>
              <a:t>2024/10/7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103DBC-D59D-4CB7-A229-DD888A6A59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613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103DBC-D59D-4CB7-A229-DD888A6A5946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77065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103DBC-D59D-4CB7-A229-DD888A6A5946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08175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103DBC-D59D-4CB7-A229-DD888A6A5946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27255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103DBC-D59D-4CB7-A229-DD888A6A5946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57054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103DBC-D59D-4CB7-A229-DD888A6A5946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61663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103DBC-D59D-4CB7-A229-DD888A6A5946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06714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103DBC-D59D-4CB7-A229-DD888A6A5946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60801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103DBC-D59D-4CB7-A229-DD888A6A5946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07657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103DBC-D59D-4CB7-A229-DD888A6A5946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08177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103DBC-D59D-4CB7-A229-DD888A6A5946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70863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103DBC-D59D-4CB7-A229-DD888A6A5946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59961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103DBC-D59D-4CB7-A229-DD888A6A5946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82200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103DBC-D59D-4CB7-A229-DD888A6A5946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04394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103DBC-D59D-4CB7-A229-DD888A6A5946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13392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103DBC-D59D-4CB7-A229-DD888A6A5946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99892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9E4087-64C2-4754-AD07-361B898691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8EB2C9C-72E4-4FA4-8EF5-2813957018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D54706B-91E5-44EC-9877-C06589120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6D6E5-BC6B-4067-8B4F-06C3AD518D73}" type="datetimeFigureOut">
              <a:rPr lang="zh-TW" altLang="en-US" smtClean="0"/>
              <a:t>2024/10/7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940D71E-EA37-4F4C-B0AC-1F81A997B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5326D04-B9B0-4554-8136-C74A8A57A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72D2F-A1C8-4D99-B768-01736B1B76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4669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0ABBDB-7556-49C8-AD19-25946C01A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FF8ECD2-3ADD-4D9C-BEFE-BFCA2A486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B62E4C7-B73B-40E6-96E2-59DE81E6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6D6E5-BC6B-4067-8B4F-06C3AD518D73}" type="datetimeFigureOut">
              <a:rPr lang="zh-TW" altLang="en-US" smtClean="0"/>
              <a:t>2024/10/7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28F6481-9029-4005-AB16-4048EE455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FDD1AEA-401F-4D42-B0FA-0EFC38290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72D2F-A1C8-4D99-B768-01736B1B76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4918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2CAF0A-4DC3-4648-A666-197F65D2B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E46DE7E-3723-495A-A8A1-71E1168D29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86A4F84-DB9B-4C55-A1D7-6740354FF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6D6E5-BC6B-4067-8B4F-06C3AD518D73}" type="datetimeFigureOut">
              <a:rPr lang="zh-TW" altLang="en-US" smtClean="0"/>
              <a:t>2024/10/7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298C9EA-77F2-490E-9266-57956D661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12A2A86-C21E-4C93-AF7D-29CCBE5E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72D2F-A1C8-4D99-B768-01736B1B76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1771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93D2A0-A972-4427-9631-B1440D437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6CBC8F0-B796-4494-9824-46F0519EEC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DF38B80-DCA9-42E5-9B5A-849CABAB4F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E597873-29DB-47EB-A85A-749996502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6D6E5-BC6B-4067-8B4F-06C3AD518D73}" type="datetimeFigureOut">
              <a:rPr lang="zh-TW" altLang="en-US" smtClean="0"/>
              <a:t>2024/10/7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F702CE5-E671-446E-818E-A28E98A09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B7A64A7-C1CB-4164-8F04-E2153F9A4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72D2F-A1C8-4D99-B768-01736B1B76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9063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15545B-DA14-4E26-9CEE-4314BBC65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C7F6835-2950-41A5-8CE8-340D8A649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CBA39ED-7661-4F38-9C93-18768327B0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4154CEA-25C3-4C2A-9FF5-52976677A0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61AC0B93-E86D-43F4-A16F-D05A98FCA8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85AA33D-6A88-4610-A805-E3EDCBF37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6D6E5-BC6B-4067-8B4F-06C3AD518D73}" type="datetimeFigureOut">
              <a:rPr lang="zh-TW" altLang="en-US" smtClean="0"/>
              <a:t>2024/10/7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11CA558-379C-49CA-9E9E-F962CDE42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4E94225-564D-4CCB-89A0-8A39D5DF1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72D2F-A1C8-4D99-B768-01736B1B76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6887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791C67-D83F-433B-8C1D-D54FF30A4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9041EC7-28F4-4DB6-9FD6-ED26EF71C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6D6E5-BC6B-4067-8B4F-06C3AD518D73}" type="datetimeFigureOut">
              <a:rPr lang="zh-TW" altLang="en-US" smtClean="0"/>
              <a:t>2024/10/7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F0C9729-3612-4FD2-8A2D-4F3F87130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CB27956-FF0A-4559-B360-DACE85BE9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72D2F-A1C8-4D99-B768-01736B1B76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2092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7378293-798C-4BC6-B407-C23CD4D9A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6D6E5-BC6B-4067-8B4F-06C3AD518D73}" type="datetimeFigureOut">
              <a:rPr lang="zh-TW" altLang="en-US" smtClean="0"/>
              <a:t>2024/10/7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4DA8CA3-E5C2-4ABA-B48E-35A0D9585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6BFC527-2F80-4E73-A7F1-B8FA4C6AB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72D2F-A1C8-4D99-B768-01736B1B76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01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A62E6E-910A-43F1-BC58-4AC2DD748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4446480-6F88-4DCB-8787-F0EB990F9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24EA7AF-922E-4362-BFE5-F3029CC867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2A60E2D-6B15-489F-A2E9-C16E812DD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6D6E5-BC6B-4067-8B4F-06C3AD518D73}" type="datetimeFigureOut">
              <a:rPr lang="zh-TW" altLang="en-US" smtClean="0"/>
              <a:t>2024/10/7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36AC9CD-B5FA-4997-BFFE-004602995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44B3E29-060B-4CF3-8A9D-172B6DB31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72D2F-A1C8-4D99-B768-01736B1B76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9341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2595EC-3BCD-4DDB-A421-4A7D0C32E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5E2685F6-44E9-4108-83CE-65214CB2C3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5DF11AF-ABBD-4415-931F-8063AACF19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B0C9D68-1EE8-4212-9BA4-86177A54C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6D6E5-BC6B-4067-8B4F-06C3AD518D73}" type="datetimeFigureOut">
              <a:rPr lang="zh-TW" altLang="en-US" smtClean="0"/>
              <a:t>2024/10/7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9B7326E-1BCB-4F19-B675-92A4EFFD7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EAC947E-27D6-4EF1-B740-C1EB4DF41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72D2F-A1C8-4D99-B768-01736B1B76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4731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E5F983-14B1-4230-8113-709092337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99E4A35-32A9-4084-9E30-7E54E9AA10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C64F168-2AA7-4927-B2A3-B361DD2BB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6D6E5-BC6B-4067-8B4F-06C3AD518D73}" type="datetimeFigureOut">
              <a:rPr lang="zh-TW" altLang="en-US" smtClean="0"/>
              <a:t>2024/10/7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CFC4D4A-3B76-4E56-B54C-6833BF012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7774D17-69FF-471E-AA6D-9216FCF44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72D2F-A1C8-4D99-B768-01736B1B76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0755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5886CB40-8924-4E74-ACF3-E6D3A4CFBB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5032436-9060-46CA-AD2F-25BAE0F8A9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0B6E812-8710-4025-A879-43EF24EB5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6D6E5-BC6B-4067-8B4F-06C3AD518D73}" type="datetimeFigureOut">
              <a:rPr lang="zh-TW" altLang="en-US" smtClean="0"/>
              <a:t>2024/10/7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4B0F3A5-E467-4CC8-89D2-B05FB85F7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5F0669C-FF3B-48BB-8673-6EE83D231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72D2F-A1C8-4D99-B768-01736B1B76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1678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37C549C-80C8-40D1-9084-CBD9543E1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C4CFF30-3690-4CD9-A2D9-49AD6A920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60D0AFF-C75C-4CB6-AC57-134BD9052E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D6D6E5-BC6B-4067-8B4F-06C3AD518D73}" type="datetimeFigureOut">
              <a:rPr lang="zh-TW" altLang="en-US" smtClean="0"/>
              <a:t>2024/10/7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1C68524-4435-4C68-BC34-CCA0F67C7F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E719E6-CD59-4EDC-86C4-FD4061EBC1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D72D2F-A1C8-4D99-B768-01736B1B76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0678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skillsforall.com/course/getting-started-cisco-packet-tracer?courseLang=en-US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F68485-1458-4F03-AD0D-907FF6803E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F8CF160-4CE4-48BC-9E44-682FC3A569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4B21969-CE93-4782-8453-E9B7772C5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0" y="695325"/>
            <a:ext cx="9715500" cy="546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177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E58E80-6D0B-4A49-8F6E-4430409BA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What is Cisco Packet Tracer?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8A1592F-2FD2-4188-AF29-889AE5EF4E0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/>
              <a:t>Cisco Packet Tracer is a network simulation tool used to design, configure, and troubleshoot networks.</a:t>
            </a:r>
          </a:p>
          <a:p>
            <a:r>
              <a:rPr lang="en-US" altLang="zh-TW" dirty="0"/>
              <a:t>It provides users with a cost-effective and safe way to experiment with different network designs and configurations.</a:t>
            </a:r>
          </a:p>
          <a:p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B7926509-E735-4BBB-BBF5-411C9D55068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075221"/>
            <a:ext cx="5181600" cy="3852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701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ACE4FE-4393-444E-8777-6E0F202CE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Features of Cisco Packet Tracer</a:t>
            </a:r>
            <a:endParaRPr lang="zh-TW" alt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7A9D4757-C8F8-4C92-91F9-8A82C228D6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2140056"/>
              </p:ext>
            </p:extLst>
          </p:nvPr>
        </p:nvGraphicFramePr>
        <p:xfrm>
          <a:off x="838200" y="1591631"/>
          <a:ext cx="8915402" cy="52663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6418">
                  <a:extLst>
                    <a:ext uri="{9D8B030D-6E8A-4147-A177-3AD203B41FA5}">
                      <a16:colId xmlns:a16="http://schemas.microsoft.com/office/drawing/2014/main" val="3595716571"/>
                    </a:ext>
                  </a:extLst>
                </a:gridCol>
                <a:gridCol w="5938984">
                  <a:extLst>
                    <a:ext uri="{9D8B030D-6E8A-4147-A177-3AD203B41FA5}">
                      <a16:colId xmlns:a16="http://schemas.microsoft.com/office/drawing/2014/main" val="611492049"/>
                    </a:ext>
                  </a:extLst>
                </a:gridCol>
              </a:tblGrid>
              <a:tr h="441544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348220"/>
                  </a:ext>
                </a:extLst>
              </a:tr>
              <a:tr h="1415359">
                <a:tc>
                  <a:txBody>
                    <a:bodyPr/>
                    <a:lstStyle/>
                    <a:p>
                      <a:r>
                        <a:rPr kumimoji="0" lang="en-US" altLang="zh-TW" sz="2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Simulation of network devices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Provide simulation for a wide range of network devices, including routers, switches, and servers</a:t>
                      </a:r>
                      <a:endParaRPr lang="zh-TW" altLang="en-US" sz="2400" dirty="0"/>
                    </a:p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7962536"/>
                  </a:ext>
                </a:extLst>
              </a:tr>
              <a:tr h="1415359">
                <a:tc>
                  <a:txBody>
                    <a:bodyPr/>
                    <a:lstStyle/>
                    <a:p>
                      <a:r>
                        <a:rPr kumimoji="0" lang="en-US" altLang="zh-TW" sz="2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Creation of network topologies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Allow users to create custom network topologies by using various network devices and connecting them together.</a:t>
                      </a:r>
                    </a:p>
                    <a:p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1683626"/>
                  </a:ext>
                </a:extLst>
              </a:tr>
              <a:tr h="18073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Configuration and troubleshooting of networks</a:t>
                      </a:r>
                    </a:p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Provide a real-life environment to configure and troubleshoot networks, allowing users to practice real-world scenarios.</a:t>
                      </a:r>
                    </a:p>
                    <a:p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169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7610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3615D3C2-B5B1-40CB-956C-86E146311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Getting Started with Cisco Packet Tracer</a:t>
            </a:r>
            <a:endParaRPr lang="zh-TW" altLang="en-US" b="1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E5CB8D9-245E-46C7-87CD-A56771D42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229436" cy="1639888"/>
          </a:xfrm>
        </p:spPr>
        <p:txBody>
          <a:bodyPr/>
          <a:lstStyle/>
          <a:p>
            <a:r>
              <a:rPr lang="en-US" altLang="zh-TW" dirty="0"/>
              <a:t>Download and practice along with the tutorial material.</a:t>
            </a:r>
            <a:endParaRPr lang="en-US" altLang="zh-TW" dirty="0">
              <a:hlinkClick r:id="rId2"/>
            </a:endParaRPr>
          </a:p>
          <a:p>
            <a:r>
              <a:rPr lang="en-US" altLang="zh-TW" dirty="0">
                <a:hlinkClick r:id="rId2"/>
              </a:rPr>
              <a:t>https://skillsforall.com/course/getting-started-cisco-packet-tracer?courseLang=en-US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2079230-0571-40D8-B830-2532ACF58B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525" y="3327021"/>
            <a:ext cx="7546109" cy="3322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692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430C48B4-9304-48C5-A67C-5B28BB411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968" y="0"/>
            <a:ext cx="9072063" cy="685800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DE50F1EA-0253-427F-B7D5-10FB5F563605}"/>
              </a:ext>
            </a:extLst>
          </p:cNvPr>
          <p:cNvSpPr/>
          <p:nvPr/>
        </p:nvSpPr>
        <p:spPr>
          <a:xfrm>
            <a:off x="1559968" y="969818"/>
            <a:ext cx="2032977" cy="304800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41C06C7-ECF5-4E10-8104-618B6F606DA7}"/>
              </a:ext>
            </a:extLst>
          </p:cNvPr>
          <p:cNvSpPr txBox="1"/>
          <p:nvPr/>
        </p:nvSpPr>
        <p:spPr>
          <a:xfrm>
            <a:off x="267854" y="812953"/>
            <a:ext cx="10826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Network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Topology 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View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1066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0FC7A71D-BA9E-4AEE-A5E6-00BDB916E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596" y="0"/>
            <a:ext cx="9093436" cy="685800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DE50F1EA-0253-427F-B7D5-10FB5F563605}"/>
              </a:ext>
            </a:extLst>
          </p:cNvPr>
          <p:cNvSpPr/>
          <p:nvPr/>
        </p:nvSpPr>
        <p:spPr>
          <a:xfrm>
            <a:off x="1559968" y="969818"/>
            <a:ext cx="2032977" cy="304800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41C06C7-ECF5-4E10-8104-618B6F606DA7}"/>
              </a:ext>
            </a:extLst>
          </p:cNvPr>
          <p:cNvSpPr txBox="1"/>
          <p:nvPr/>
        </p:nvSpPr>
        <p:spPr>
          <a:xfrm>
            <a:off x="267854" y="812953"/>
            <a:ext cx="10826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Network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Topology 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View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8502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430C48B4-9304-48C5-A67C-5B28BB411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968" y="0"/>
            <a:ext cx="9072063" cy="685800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D77604D4-45A2-4F63-B38D-BAAFE7C34933}"/>
              </a:ext>
            </a:extLst>
          </p:cNvPr>
          <p:cNvSpPr/>
          <p:nvPr/>
        </p:nvSpPr>
        <p:spPr>
          <a:xfrm>
            <a:off x="1559968" y="1274618"/>
            <a:ext cx="8886359" cy="4322618"/>
          </a:xfrm>
          <a:prstGeom prst="rect">
            <a:avLst/>
          </a:prstGeom>
          <a:noFill/>
          <a:ln w="38100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83B9326-F467-41AE-A2CF-01E1E4D39EC4}"/>
              </a:ext>
            </a:extLst>
          </p:cNvPr>
          <p:cNvSpPr txBox="1"/>
          <p:nvPr/>
        </p:nvSpPr>
        <p:spPr>
          <a:xfrm>
            <a:off x="267854" y="2327717"/>
            <a:ext cx="9700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0000FF"/>
                </a:solidFill>
              </a:rPr>
              <a:t>Working</a:t>
            </a:r>
          </a:p>
          <a:p>
            <a:r>
              <a:rPr lang="en-US" altLang="zh-TW" dirty="0">
                <a:solidFill>
                  <a:srgbClr val="0000FF"/>
                </a:solidFill>
              </a:rPr>
              <a:t>Area</a:t>
            </a:r>
            <a:endParaRPr lang="zh-TW" alt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789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CE371023-FDAA-4262-B490-226C23CA22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969" y="0"/>
            <a:ext cx="9074647" cy="6858000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B41C06C7-ECF5-4E10-8104-618B6F606DA7}"/>
              </a:ext>
            </a:extLst>
          </p:cNvPr>
          <p:cNvSpPr txBox="1"/>
          <p:nvPr/>
        </p:nvSpPr>
        <p:spPr>
          <a:xfrm>
            <a:off x="558600" y="5514095"/>
            <a:ext cx="9940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Network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devices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AE24845-EC64-4870-9E68-202CB8043B08}"/>
              </a:ext>
            </a:extLst>
          </p:cNvPr>
          <p:cNvSpPr/>
          <p:nvPr/>
        </p:nvSpPr>
        <p:spPr>
          <a:xfrm>
            <a:off x="1555093" y="5975927"/>
            <a:ext cx="314036" cy="350982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4B4FE60-7398-405E-9020-28997973AF34}"/>
              </a:ext>
            </a:extLst>
          </p:cNvPr>
          <p:cNvSpPr txBox="1"/>
          <p:nvPr/>
        </p:nvSpPr>
        <p:spPr>
          <a:xfrm>
            <a:off x="270604" y="6399855"/>
            <a:ext cx="1271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0000FF"/>
                </a:solidFill>
              </a:rPr>
              <a:t>Switch type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EDC80C9-7BCF-4747-BE7F-C7AB4E5AF825}"/>
              </a:ext>
            </a:extLst>
          </p:cNvPr>
          <p:cNvSpPr/>
          <p:nvPr/>
        </p:nvSpPr>
        <p:spPr>
          <a:xfrm>
            <a:off x="3298359" y="5975927"/>
            <a:ext cx="3977512" cy="350982"/>
          </a:xfrm>
          <a:prstGeom prst="rect">
            <a:avLst/>
          </a:prstGeom>
          <a:noFill/>
          <a:ln w="38100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7A225E8-4D58-465D-BE7E-D995BF0D5932}"/>
              </a:ext>
            </a:extLst>
          </p:cNvPr>
          <p:cNvSpPr/>
          <p:nvPr/>
        </p:nvSpPr>
        <p:spPr>
          <a:xfrm>
            <a:off x="1869129" y="6437759"/>
            <a:ext cx="314036" cy="350982"/>
          </a:xfrm>
          <a:prstGeom prst="rect">
            <a:avLst/>
          </a:prstGeom>
          <a:noFill/>
          <a:ln w="38100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6246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" grpId="0" animBg="1"/>
      <p:bldP spid="6" grpId="0"/>
      <p:bldP spid="8" grpId="0" animBg="1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9D1169DF-4F14-4F19-A6DA-515B6BF4FE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8860" y="-3576"/>
            <a:ext cx="9069485" cy="6858000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B41C06C7-ECF5-4E10-8104-618B6F606DA7}"/>
              </a:ext>
            </a:extLst>
          </p:cNvPr>
          <p:cNvSpPr txBox="1"/>
          <p:nvPr/>
        </p:nvSpPr>
        <p:spPr>
          <a:xfrm>
            <a:off x="607167" y="5538526"/>
            <a:ext cx="8904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End</a:t>
            </a:r>
          </a:p>
          <a:p>
            <a:r>
              <a:rPr lang="en-US" altLang="zh-TW" b="1" dirty="0">
                <a:solidFill>
                  <a:srgbClr val="FF0000"/>
                </a:solidFill>
              </a:rPr>
              <a:t>devices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AE24845-EC64-4870-9E68-202CB8043B08}"/>
              </a:ext>
            </a:extLst>
          </p:cNvPr>
          <p:cNvSpPr/>
          <p:nvPr/>
        </p:nvSpPr>
        <p:spPr>
          <a:xfrm>
            <a:off x="1864445" y="5955284"/>
            <a:ext cx="314036" cy="350982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4B4FE60-7398-405E-9020-28997973AF34}"/>
              </a:ext>
            </a:extLst>
          </p:cNvPr>
          <p:cNvSpPr txBox="1"/>
          <p:nvPr/>
        </p:nvSpPr>
        <p:spPr>
          <a:xfrm>
            <a:off x="285536" y="6248223"/>
            <a:ext cx="12330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</a:rPr>
              <a:t>Computing</a:t>
            </a:r>
          </a:p>
          <a:p>
            <a:r>
              <a:rPr lang="en-US" altLang="zh-TW" b="1" dirty="0">
                <a:solidFill>
                  <a:srgbClr val="0000FF"/>
                </a:solidFill>
              </a:rPr>
              <a:t>Devices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EDC80C9-7BCF-4747-BE7F-C7AB4E5AF825}"/>
              </a:ext>
            </a:extLst>
          </p:cNvPr>
          <p:cNvSpPr/>
          <p:nvPr/>
        </p:nvSpPr>
        <p:spPr>
          <a:xfrm>
            <a:off x="3308190" y="5920684"/>
            <a:ext cx="4016841" cy="350982"/>
          </a:xfrm>
          <a:prstGeom prst="rect">
            <a:avLst/>
          </a:prstGeom>
          <a:noFill/>
          <a:ln w="38100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7A225E8-4D58-465D-BE7E-D995BF0D5932}"/>
              </a:ext>
            </a:extLst>
          </p:cNvPr>
          <p:cNvSpPr/>
          <p:nvPr/>
        </p:nvSpPr>
        <p:spPr>
          <a:xfrm>
            <a:off x="1568860" y="6395898"/>
            <a:ext cx="314036" cy="350982"/>
          </a:xfrm>
          <a:prstGeom prst="rect">
            <a:avLst/>
          </a:prstGeom>
          <a:noFill/>
          <a:ln w="38100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327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" grpId="0" animBg="1"/>
      <p:bldP spid="6" grpId="0"/>
      <p:bldP spid="8" grpId="0" animBg="1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430C48B4-9304-48C5-A67C-5B28BB411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968" y="0"/>
            <a:ext cx="9072063" cy="685800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DE50F1EA-0253-427F-B7D5-10FB5F563605}"/>
              </a:ext>
            </a:extLst>
          </p:cNvPr>
          <p:cNvSpPr/>
          <p:nvPr/>
        </p:nvSpPr>
        <p:spPr>
          <a:xfrm>
            <a:off x="1559969" y="5975927"/>
            <a:ext cx="1681996" cy="350982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41C06C7-ECF5-4E10-8104-618B6F606DA7}"/>
              </a:ext>
            </a:extLst>
          </p:cNvPr>
          <p:cNvSpPr txBox="1"/>
          <p:nvPr/>
        </p:nvSpPr>
        <p:spPr>
          <a:xfrm>
            <a:off x="655258" y="5505240"/>
            <a:ext cx="8118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Device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Types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AE24845-EC64-4870-9E68-202CB8043B08}"/>
              </a:ext>
            </a:extLst>
          </p:cNvPr>
          <p:cNvSpPr/>
          <p:nvPr/>
        </p:nvSpPr>
        <p:spPr>
          <a:xfrm>
            <a:off x="2429164" y="5975927"/>
            <a:ext cx="314036" cy="757382"/>
          </a:xfrm>
          <a:prstGeom prst="rect">
            <a:avLst/>
          </a:prstGeom>
          <a:noFill/>
          <a:ln w="38100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4B4FE60-7398-405E-9020-28997973AF34}"/>
              </a:ext>
            </a:extLst>
          </p:cNvPr>
          <p:cNvSpPr txBox="1"/>
          <p:nvPr/>
        </p:nvSpPr>
        <p:spPr>
          <a:xfrm>
            <a:off x="253276" y="6154049"/>
            <a:ext cx="12602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0000FF"/>
                </a:solidFill>
              </a:rPr>
              <a:t>Connection</a:t>
            </a:r>
          </a:p>
          <a:p>
            <a:r>
              <a:rPr lang="en-US" altLang="zh-TW" dirty="0">
                <a:solidFill>
                  <a:srgbClr val="0000FF"/>
                </a:solidFill>
              </a:rPr>
              <a:t>Types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EDC80C9-7BCF-4747-BE7F-C7AB4E5AF825}"/>
              </a:ext>
            </a:extLst>
          </p:cNvPr>
          <p:cNvSpPr/>
          <p:nvPr/>
        </p:nvSpPr>
        <p:spPr>
          <a:xfrm>
            <a:off x="3298359" y="5975927"/>
            <a:ext cx="3977512" cy="350982"/>
          </a:xfrm>
          <a:prstGeom prst="rect">
            <a:avLst/>
          </a:prstGeom>
          <a:noFill/>
          <a:ln w="38100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069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2" grpId="0" animBg="1"/>
      <p:bldP spid="6" grpId="0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9D1169DF-4F14-4F19-A6DA-515B6BF4FE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8860" y="0"/>
            <a:ext cx="9069485" cy="6858000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B41C06C7-ECF5-4E10-8104-618B6F606DA7}"/>
              </a:ext>
            </a:extLst>
          </p:cNvPr>
          <p:cNvSpPr txBox="1"/>
          <p:nvPr/>
        </p:nvSpPr>
        <p:spPr>
          <a:xfrm>
            <a:off x="558006" y="377874"/>
            <a:ext cx="841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Editing</a:t>
            </a:r>
          </a:p>
          <a:p>
            <a:r>
              <a:rPr lang="en-US" altLang="zh-TW" b="1" dirty="0">
                <a:solidFill>
                  <a:srgbClr val="FF0000"/>
                </a:solidFill>
              </a:rPr>
              <a:t>Tools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AE24845-EC64-4870-9E68-202CB8043B08}"/>
              </a:ext>
            </a:extLst>
          </p:cNvPr>
          <p:cNvSpPr/>
          <p:nvPr/>
        </p:nvSpPr>
        <p:spPr>
          <a:xfrm>
            <a:off x="5177915" y="2091207"/>
            <a:ext cx="731271" cy="350982"/>
          </a:xfrm>
          <a:prstGeom prst="rect">
            <a:avLst/>
          </a:prstGeom>
          <a:noFill/>
          <a:ln w="38100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0000FF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4B4FE60-7398-405E-9020-28997973AF34}"/>
              </a:ext>
            </a:extLst>
          </p:cNvPr>
          <p:cNvSpPr txBox="1"/>
          <p:nvPr/>
        </p:nvSpPr>
        <p:spPr>
          <a:xfrm>
            <a:off x="224902" y="1472883"/>
            <a:ext cx="1174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</a:rPr>
              <a:t>Comment 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EDC80C9-7BCF-4747-BE7F-C7AB4E5AF825}"/>
              </a:ext>
            </a:extLst>
          </p:cNvPr>
          <p:cNvSpPr/>
          <p:nvPr/>
        </p:nvSpPr>
        <p:spPr>
          <a:xfrm>
            <a:off x="1568861" y="670258"/>
            <a:ext cx="3012972" cy="350982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408920B5-DF35-4C47-BDD0-CC04898A3578}"/>
              </a:ext>
            </a:extLst>
          </p:cNvPr>
          <p:cNvCxnSpPr>
            <a:stCxn id="6" idx="3"/>
          </p:cNvCxnSpPr>
          <p:nvPr/>
        </p:nvCxnSpPr>
        <p:spPr>
          <a:xfrm flipV="1">
            <a:off x="1399711" y="845749"/>
            <a:ext cx="1294328" cy="81180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4880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" grpId="0" animBg="1"/>
      <p:bldP spid="6" grpId="0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30156DDC-BED8-4012-936C-E4B4E0C9EE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492" y="0"/>
            <a:ext cx="9074647" cy="6858000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B41C06C7-ECF5-4E10-8104-618B6F606DA7}"/>
              </a:ext>
            </a:extLst>
          </p:cNvPr>
          <p:cNvSpPr txBox="1"/>
          <p:nvPr/>
        </p:nvSpPr>
        <p:spPr>
          <a:xfrm>
            <a:off x="558006" y="377874"/>
            <a:ext cx="841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Editing</a:t>
            </a:r>
          </a:p>
          <a:p>
            <a:r>
              <a:rPr lang="en-US" altLang="zh-TW" b="1" dirty="0">
                <a:solidFill>
                  <a:srgbClr val="FF0000"/>
                </a:solidFill>
              </a:rPr>
              <a:t>Tools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4B4FE60-7398-405E-9020-28997973AF34}"/>
              </a:ext>
            </a:extLst>
          </p:cNvPr>
          <p:cNvSpPr txBox="1"/>
          <p:nvPr/>
        </p:nvSpPr>
        <p:spPr>
          <a:xfrm>
            <a:off x="1719405" y="1691498"/>
            <a:ext cx="1328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</a:rPr>
              <a:t>Packet Unit 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EDC80C9-7BCF-4747-BE7F-C7AB4E5AF825}"/>
              </a:ext>
            </a:extLst>
          </p:cNvPr>
          <p:cNvSpPr/>
          <p:nvPr/>
        </p:nvSpPr>
        <p:spPr>
          <a:xfrm>
            <a:off x="1568861" y="670258"/>
            <a:ext cx="3012972" cy="350982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408920B5-DF35-4C47-BDD0-CC04898A3578}"/>
              </a:ext>
            </a:extLst>
          </p:cNvPr>
          <p:cNvCxnSpPr>
            <a:cxnSpLocks/>
          </p:cNvCxnSpPr>
          <p:nvPr/>
        </p:nvCxnSpPr>
        <p:spPr>
          <a:xfrm flipV="1">
            <a:off x="2756563" y="924757"/>
            <a:ext cx="1294328" cy="81180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A054297A-58F7-4046-B24E-F96583C50D7A}"/>
              </a:ext>
            </a:extLst>
          </p:cNvPr>
          <p:cNvSpPr/>
          <p:nvPr/>
        </p:nvSpPr>
        <p:spPr>
          <a:xfrm>
            <a:off x="3146323" y="4247535"/>
            <a:ext cx="462116" cy="255640"/>
          </a:xfrm>
          <a:prstGeom prst="rect">
            <a:avLst/>
          </a:prstGeom>
          <a:noFill/>
          <a:ln w="38100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2055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8357B9F0-68D6-41AB-94CE-4CF36EC7C8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432" y="0"/>
            <a:ext cx="9577136" cy="6858000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B41C06C7-ECF5-4E10-8104-618B6F606DA7}"/>
              </a:ext>
            </a:extLst>
          </p:cNvPr>
          <p:cNvSpPr txBox="1"/>
          <p:nvPr/>
        </p:nvSpPr>
        <p:spPr>
          <a:xfrm>
            <a:off x="10215974" y="3942735"/>
            <a:ext cx="971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Desktop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4B4FE60-7398-405E-9020-28997973AF34}"/>
              </a:ext>
            </a:extLst>
          </p:cNvPr>
          <p:cNvSpPr txBox="1"/>
          <p:nvPr/>
        </p:nvSpPr>
        <p:spPr>
          <a:xfrm>
            <a:off x="6312310" y="366020"/>
            <a:ext cx="1752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</a:rPr>
              <a:t>End device Tools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EDC80C9-7BCF-4747-BE7F-C7AB4E5AF825}"/>
              </a:ext>
            </a:extLst>
          </p:cNvPr>
          <p:cNvSpPr/>
          <p:nvPr/>
        </p:nvSpPr>
        <p:spPr>
          <a:xfrm>
            <a:off x="4522839" y="1101213"/>
            <a:ext cx="5604387" cy="5683044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408920B5-DF35-4C47-BDD0-CC04898A3578}"/>
              </a:ext>
            </a:extLst>
          </p:cNvPr>
          <p:cNvCxnSpPr>
            <a:cxnSpLocks/>
          </p:cNvCxnSpPr>
          <p:nvPr/>
        </p:nvCxnSpPr>
        <p:spPr>
          <a:xfrm flipH="1">
            <a:off x="6312310" y="731722"/>
            <a:ext cx="324722" cy="591496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A054297A-58F7-4046-B24E-F96583C50D7A}"/>
              </a:ext>
            </a:extLst>
          </p:cNvPr>
          <p:cNvSpPr/>
          <p:nvPr/>
        </p:nvSpPr>
        <p:spPr>
          <a:xfrm>
            <a:off x="4847304" y="1777308"/>
            <a:ext cx="786580" cy="788909"/>
          </a:xfrm>
          <a:prstGeom prst="rect">
            <a:avLst/>
          </a:prstGeom>
          <a:noFill/>
          <a:ln w="38100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98FBBB7-E80C-4331-9315-BA3B44678BE8}"/>
              </a:ext>
            </a:extLst>
          </p:cNvPr>
          <p:cNvSpPr/>
          <p:nvPr/>
        </p:nvSpPr>
        <p:spPr>
          <a:xfrm>
            <a:off x="5624047" y="1474835"/>
            <a:ext cx="471953" cy="147488"/>
          </a:xfrm>
          <a:prstGeom prst="rect">
            <a:avLst/>
          </a:prstGeom>
          <a:noFill/>
          <a:ln w="38100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9506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6" grpId="0"/>
      <p:bldP spid="8" grpId="0" animBg="1"/>
      <p:bldP spid="9" grpId="0" animBg="1"/>
      <p:bldP spid="1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9CA07F34-7F36-4016-B824-1ABCE8C126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026" y="0"/>
            <a:ext cx="9565948" cy="6858000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B41C06C7-ECF5-4E10-8104-618B6F606DA7}"/>
              </a:ext>
            </a:extLst>
          </p:cNvPr>
          <p:cNvSpPr txBox="1"/>
          <p:nvPr/>
        </p:nvSpPr>
        <p:spPr>
          <a:xfrm>
            <a:off x="9860722" y="2120286"/>
            <a:ext cx="14591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End device</a:t>
            </a:r>
          </a:p>
          <a:p>
            <a:r>
              <a:rPr lang="en-US" altLang="zh-TW" b="1" dirty="0">
                <a:solidFill>
                  <a:srgbClr val="FF0000"/>
                </a:solidFill>
              </a:rPr>
              <a:t>configuration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4B4FE60-7398-405E-9020-28997973AF34}"/>
              </a:ext>
            </a:extLst>
          </p:cNvPr>
          <p:cNvSpPr txBox="1"/>
          <p:nvPr/>
        </p:nvSpPr>
        <p:spPr>
          <a:xfrm>
            <a:off x="6312310" y="366020"/>
            <a:ext cx="1752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</a:rPr>
              <a:t>End device Tools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EDC80C9-7BCF-4747-BE7F-C7AB4E5AF825}"/>
              </a:ext>
            </a:extLst>
          </p:cNvPr>
          <p:cNvSpPr/>
          <p:nvPr/>
        </p:nvSpPr>
        <p:spPr>
          <a:xfrm>
            <a:off x="3923072" y="1120717"/>
            <a:ext cx="5604387" cy="5683044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408920B5-DF35-4C47-BDD0-CC04898A3578}"/>
              </a:ext>
            </a:extLst>
          </p:cNvPr>
          <p:cNvCxnSpPr>
            <a:cxnSpLocks/>
          </p:cNvCxnSpPr>
          <p:nvPr/>
        </p:nvCxnSpPr>
        <p:spPr>
          <a:xfrm flipH="1">
            <a:off x="6312310" y="731722"/>
            <a:ext cx="324722" cy="591496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A054297A-58F7-4046-B24E-F96583C50D7A}"/>
              </a:ext>
            </a:extLst>
          </p:cNvPr>
          <p:cNvSpPr/>
          <p:nvPr/>
        </p:nvSpPr>
        <p:spPr>
          <a:xfrm>
            <a:off x="5915559" y="2544226"/>
            <a:ext cx="3411793" cy="444782"/>
          </a:xfrm>
          <a:prstGeom prst="rect">
            <a:avLst/>
          </a:prstGeom>
          <a:noFill/>
          <a:ln w="38100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98FBBB7-E80C-4331-9315-BA3B44678BE8}"/>
              </a:ext>
            </a:extLst>
          </p:cNvPr>
          <p:cNvSpPr/>
          <p:nvPr/>
        </p:nvSpPr>
        <p:spPr>
          <a:xfrm>
            <a:off x="5004617" y="1435510"/>
            <a:ext cx="471953" cy="221045"/>
          </a:xfrm>
          <a:prstGeom prst="rect">
            <a:avLst/>
          </a:prstGeom>
          <a:noFill/>
          <a:ln w="38100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6A74193-11CA-4386-8FB7-FE30CCD204A2}"/>
              </a:ext>
            </a:extLst>
          </p:cNvPr>
          <p:cNvSpPr/>
          <p:nvPr/>
        </p:nvSpPr>
        <p:spPr>
          <a:xfrm>
            <a:off x="5915558" y="2989007"/>
            <a:ext cx="3411793" cy="222391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0721691-4EE3-449E-9837-FBB6D94D792C}"/>
              </a:ext>
            </a:extLst>
          </p:cNvPr>
          <p:cNvSpPr/>
          <p:nvPr/>
        </p:nvSpPr>
        <p:spPr>
          <a:xfrm>
            <a:off x="5915558" y="3222396"/>
            <a:ext cx="3411793" cy="222391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7142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6" grpId="0"/>
      <p:bldP spid="8" grpId="0" animBg="1"/>
      <p:bldP spid="9" grpId="0" animBg="1"/>
      <p:bldP spid="17" grpId="0" animBg="1"/>
      <p:bldP spid="12" grpId="0" animBg="1"/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8357B9F0-68D6-41AB-94CE-4CF36EC7C8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432" y="0"/>
            <a:ext cx="9577136" cy="6858000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B41C06C7-ECF5-4E10-8104-618B6F606DA7}"/>
              </a:ext>
            </a:extLst>
          </p:cNvPr>
          <p:cNvSpPr txBox="1"/>
          <p:nvPr/>
        </p:nvSpPr>
        <p:spPr>
          <a:xfrm>
            <a:off x="10215974" y="3942735"/>
            <a:ext cx="971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Desktop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4B4FE60-7398-405E-9020-28997973AF34}"/>
              </a:ext>
            </a:extLst>
          </p:cNvPr>
          <p:cNvSpPr txBox="1"/>
          <p:nvPr/>
        </p:nvSpPr>
        <p:spPr>
          <a:xfrm>
            <a:off x="6312310" y="366020"/>
            <a:ext cx="2681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</a:rPr>
              <a:t>Issue commands like in PC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EDC80C9-7BCF-4747-BE7F-C7AB4E5AF825}"/>
              </a:ext>
            </a:extLst>
          </p:cNvPr>
          <p:cNvSpPr/>
          <p:nvPr/>
        </p:nvSpPr>
        <p:spPr>
          <a:xfrm>
            <a:off x="4522839" y="1101213"/>
            <a:ext cx="5604387" cy="5683044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408920B5-DF35-4C47-BDD0-CC04898A3578}"/>
              </a:ext>
            </a:extLst>
          </p:cNvPr>
          <p:cNvCxnSpPr>
            <a:cxnSpLocks/>
          </p:cNvCxnSpPr>
          <p:nvPr/>
        </p:nvCxnSpPr>
        <p:spPr>
          <a:xfrm>
            <a:off x="6637032" y="731722"/>
            <a:ext cx="1427424" cy="890601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A054297A-58F7-4046-B24E-F96583C50D7A}"/>
              </a:ext>
            </a:extLst>
          </p:cNvPr>
          <p:cNvSpPr/>
          <p:nvPr/>
        </p:nvSpPr>
        <p:spPr>
          <a:xfrm>
            <a:off x="7904540" y="1758836"/>
            <a:ext cx="786580" cy="864291"/>
          </a:xfrm>
          <a:prstGeom prst="rect">
            <a:avLst/>
          </a:prstGeom>
          <a:noFill/>
          <a:ln w="38100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98FBBB7-E80C-4331-9315-BA3B44678BE8}"/>
              </a:ext>
            </a:extLst>
          </p:cNvPr>
          <p:cNvSpPr/>
          <p:nvPr/>
        </p:nvSpPr>
        <p:spPr>
          <a:xfrm>
            <a:off x="5624047" y="1474835"/>
            <a:ext cx="471953" cy="147488"/>
          </a:xfrm>
          <a:prstGeom prst="rect">
            <a:avLst/>
          </a:prstGeom>
          <a:noFill/>
          <a:ln w="38100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6240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6" grpId="0"/>
      <p:bldP spid="8" grpId="0" animBg="1"/>
      <p:bldP spid="9" grpId="0" animBg="1"/>
      <p:bldP spid="1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416B9F7B-7BEB-464E-B46A-D3C5C7EE5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397" y="0"/>
            <a:ext cx="11373205" cy="68580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74B4FE60-7398-405E-9020-28997973AF34}"/>
              </a:ext>
            </a:extLst>
          </p:cNvPr>
          <p:cNvSpPr txBox="1"/>
          <p:nvPr/>
        </p:nvSpPr>
        <p:spPr>
          <a:xfrm>
            <a:off x="6312310" y="366020"/>
            <a:ext cx="1702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</a:rPr>
              <a:t>Command PING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EDC80C9-7BCF-4747-BE7F-C7AB4E5AF825}"/>
              </a:ext>
            </a:extLst>
          </p:cNvPr>
          <p:cNvSpPr/>
          <p:nvPr/>
        </p:nvSpPr>
        <p:spPr>
          <a:xfrm>
            <a:off x="5585618" y="366020"/>
            <a:ext cx="5922891" cy="5683044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408920B5-DF35-4C47-BDD0-CC04898A3578}"/>
              </a:ext>
            </a:extLst>
          </p:cNvPr>
          <p:cNvCxnSpPr>
            <a:cxnSpLocks/>
          </p:cNvCxnSpPr>
          <p:nvPr/>
        </p:nvCxnSpPr>
        <p:spPr>
          <a:xfrm flipH="1">
            <a:off x="6312310" y="731722"/>
            <a:ext cx="324722" cy="591496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1792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DB2F58AB-726A-4755-AC56-D4AC8B384E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5014" y="0"/>
            <a:ext cx="9581972" cy="6858000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B41C06C7-ECF5-4E10-8104-618B6F606DA7}"/>
              </a:ext>
            </a:extLst>
          </p:cNvPr>
          <p:cNvSpPr txBox="1"/>
          <p:nvPr/>
        </p:nvSpPr>
        <p:spPr>
          <a:xfrm>
            <a:off x="5896705" y="4296696"/>
            <a:ext cx="141942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dirty="0">
                <a:solidFill>
                  <a:srgbClr val="FF0000"/>
                </a:solidFill>
              </a:rPr>
              <a:t>Power off</a:t>
            </a:r>
          </a:p>
          <a:p>
            <a:r>
              <a:rPr lang="en-US" altLang="zh-TW" sz="1600" b="1" dirty="0">
                <a:solidFill>
                  <a:srgbClr val="FF0000"/>
                </a:solidFill>
              </a:rPr>
              <a:t>Before replace</a:t>
            </a:r>
          </a:p>
          <a:p>
            <a:r>
              <a:rPr lang="en-US" altLang="zh-TW" sz="1600" b="1" dirty="0">
                <a:solidFill>
                  <a:srgbClr val="FF0000"/>
                </a:solidFill>
              </a:rPr>
              <a:t>WPC300N</a:t>
            </a:r>
            <a:endParaRPr lang="zh-TW" altLang="en-US" sz="1600" b="1" dirty="0">
              <a:solidFill>
                <a:srgbClr val="FF0000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4B4FE60-7398-405E-9020-28997973AF34}"/>
              </a:ext>
            </a:extLst>
          </p:cNvPr>
          <p:cNvSpPr txBox="1"/>
          <p:nvPr/>
        </p:nvSpPr>
        <p:spPr>
          <a:xfrm>
            <a:off x="2653084" y="1533210"/>
            <a:ext cx="1781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</a:rPr>
              <a:t>Wireless module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EDC80C9-7BCF-4747-BE7F-C7AB4E5AF825}"/>
              </a:ext>
            </a:extLst>
          </p:cNvPr>
          <p:cNvSpPr/>
          <p:nvPr/>
        </p:nvSpPr>
        <p:spPr>
          <a:xfrm>
            <a:off x="7187381" y="4050890"/>
            <a:ext cx="678425" cy="312391"/>
          </a:xfrm>
          <a:prstGeom prst="rect">
            <a:avLst/>
          </a:prstGeom>
          <a:noFill/>
          <a:ln w="38100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408920B5-DF35-4C47-BDD0-CC04898A3578}"/>
              </a:ext>
            </a:extLst>
          </p:cNvPr>
          <p:cNvCxnSpPr>
            <a:cxnSpLocks/>
            <a:endCxn id="17" idx="1"/>
          </p:cNvCxnSpPr>
          <p:nvPr/>
        </p:nvCxnSpPr>
        <p:spPr>
          <a:xfrm flipV="1">
            <a:off x="4328245" y="1743024"/>
            <a:ext cx="273093" cy="2202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498FBBB7-E80C-4331-9315-BA3B44678BE8}"/>
              </a:ext>
            </a:extLst>
          </p:cNvPr>
          <p:cNvSpPr/>
          <p:nvPr/>
        </p:nvSpPr>
        <p:spPr>
          <a:xfrm>
            <a:off x="4601338" y="1686745"/>
            <a:ext cx="1093007" cy="112557"/>
          </a:xfrm>
          <a:prstGeom prst="rect">
            <a:avLst/>
          </a:prstGeom>
          <a:noFill/>
          <a:ln w="38100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0721691-4EE3-449E-9837-FBB6D94D792C}"/>
              </a:ext>
            </a:extLst>
          </p:cNvPr>
          <p:cNvSpPr/>
          <p:nvPr/>
        </p:nvSpPr>
        <p:spPr>
          <a:xfrm>
            <a:off x="6204155" y="4050890"/>
            <a:ext cx="265471" cy="245806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788D802-8499-4F69-8353-98220439A97F}"/>
              </a:ext>
            </a:extLst>
          </p:cNvPr>
          <p:cNvSpPr txBox="1"/>
          <p:nvPr/>
        </p:nvSpPr>
        <p:spPr>
          <a:xfrm>
            <a:off x="6777076" y="3003848"/>
            <a:ext cx="19680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</a:rPr>
              <a:t>Default is Ethernet</a:t>
            </a:r>
          </a:p>
          <a:p>
            <a:r>
              <a:rPr lang="en-US" altLang="zh-TW" b="1" dirty="0" err="1">
                <a:solidFill>
                  <a:srgbClr val="0000FF"/>
                </a:solidFill>
              </a:rPr>
              <a:t>UnPlug</a:t>
            </a:r>
            <a:r>
              <a:rPr lang="en-US" altLang="zh-TW" b="1" dirty="0">
                <a:solidFill>
                  <a:srgbClr val="0000FF"/>
                </a:solidFill>
              </a:rPr>
              <a:t> Ethernet &amp;</a:t>
            </a:r>
          </a:p>
          <a:p>
            <a:r>
              <a:rPr lang="en-US" altLang="zh-TW" b="1" dirty="0">
                <a:solidFill>
                  <a:srgbClr val="0000FF"/>
                </a:solidFill>
              </a:rPr>
              <a:t>Plug WPC300N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EC6B995-E116-481F-9BB8-5EC46630F258}"/>
              </a:ext>
            </a:extLst>
          </p:cNvPr>
          <p:cNvSpPr/>
          <p:nvPr/>
        </p:nvSpPr>
        <p:spPr>
          <a:xfrm>
            <a:off x="4513006" y="1179870"/>
            <a:ext cx="530942" cy="234799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C000"/>
              </a:solidFill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6D7B0CEF-C10E-4DDE-8A41-56327A206094}"/>
              </a:ext>
            </a:extLst>
          </p:cNvPr>
          <p:cNvSpPr txBox="1"/>
          <p:nvPr/>
        </p:nvSpPr>
        <p:spPr>
          <a:xfrm>
            <a:off x="4381296" y="631697"/>
            <a:ext cx="1536190" cy="58477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1600" b="1" dirty="0">
                <a:solidFill>
                  <a:srgbClr val="FF0000"/>
                </a:solidFill>
              </a:rPr>
              <a:t>Choose Physical</a:t>
            </a:r>
          </a:p>
          <a:p>
            <a:r>
              <a:rPr lang="en-US" altLang="zh-TW" sz="1600" b="1" dirty="0">
                <a:solidFill>
                  <a:srgbClr val="FF0000"/>
                </a:solidFill>
              </a:rPr>
              <a:t>For </a:t>
            </a:r>
            <a:r>
              <a:rPr lang="en-US" altLang="zh-TW" sz="1600" b="1" dirty="0" err="1">
                <a:solidFill>
                  <a:srgbClr val="FF0000"/>
                </a:solidFill>
              </a:rPr>
              <a:t>LapTop</a:t>
            </a:r>
            <a:endParaRPr lang="zh-TW" altLang="en-US" sz="1600" b="1" dirty="0">
              <a:solidFill>
                <a:srgbClr val="FF0000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D7A851E-99D8-4FE5-8894-7E1CA8F53E52}"/>
              </a:ext>
            </a:extLst>
          </p:cNvPr>
          <p:cNvSpPr/>
          <p:nvPr/>
        </p:nvSpPr>
        <p:spPr>
          <a:xfrm>
            <a:off x="3363973" y="5976674"/>
            <a:ext cx="265471" cy="245806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0349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6" grpId="0"/>
      <p:bldP spid="8" grpId="0" animBg="1"/>
      <p:bldP spid="17" grpId="0" animBg="1"/>
      <p:bldP spid="13" grpId="0" animBg="1"/>
      <p:bldP spid="14" grpId="0"/>
      <p:bldP spid="15" grpId="0" animBg="1"/>
      <p:bldP spid="18" grpId="0" animBg="1"/>
      <p:bldP spid="1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圖片 14">
            <a:extLst>
              <a:ext uri="{FF2B5EF4-FFF2-40B4-BE49-F238E27FC236}">
                <a16:creationId xmlns:a16="http://schemas.microsoft.com/office/drawing/2014/main" id="{A2A4461B-815C-4002-948A-BC4213AE10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432" y="0"/>
            <a:ext cx="9577136" cy="6858000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B41C06C7-ECF5-4E10-8104-618B6F606DA7}"/>
              </a:ext>
            </a:extLst>
          </p:cNvPr>
          <p:cNvSpPr txBox="1"/>
          <p:nvPr/>
        </p:nvSpPr>
        <p:spPr>
          <a:xfrm>
            <a:off x="10717419" y="3254827"/>
            <a:ext cx="14859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Port</a:t>
            </a:r>
          </a:p>
          <a:p>
            <a:r>
              <a:rPr lang="en-US" altLang="zh-TW" b="1" dirty="0">
                <a:solidFill>
                  <a:srgbClr val="FF0000"/>
                </a:solidFill>
              </a:rPr>
              <a:t>Configuration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4B4FE60-7398-405E-9020-28997973AF34}"/>
              </a:ext>
            </a:extLst>
          </p:cNvPr>
          <p:cNvSpPr txBox="1"/>
          <p:nvPr/>
        </p:nvSpPr>
        <p:spPr>
          <a:xfrm>
            <a:off x="6312310" y="258769"/>
            <a:ext cx="2185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</a:rPr>
              <a:t>Router Configuration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EDC80C9-7BCF-4747-BE7F-C7AB4E5AF825}"/>
              </a:ext>
            </a:extLst>
          </p:cNvPr>
          <p:cNvSpPr/>
          <p:nvPr/>
        </p:nvSpPr>
        <p:spPr>
          <a:xfrm>
            <a:off x="5712541" y="954909"/>
            <a:ext cx="5004619" cy="5701530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408920B5-DF35-4C47-BDD0-CC04898A3578}"/>
              </a:ext>
            </a:extLst>
          </p:cNvPr>
          <p:cNvCxnSpPr>
            <a:cxnSpLocks/>
          </p:cNvCxnSpPr>
          <p:nvPr/>
        </p:nvCxnSpPr>
        <p:spPr>
          <a:xfrm flipH="1">
            <a:off x="6577523" y="656652"/>
            <a:ext cx="324722" cy="591496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A054297A-58F7-4046-B24E-F96583C50D7A}"/>
              </a:ext>
            </a:extLst>
          </p:cNvPr>
          <p:cNvSpPr/>
          <p:nvPr/>
        </p:nvSpPr>
        <p:spPr>
          <a:xfrm>
            <a:off x="6312310" y="1315194"/>
            <a:ext cx="393290" cy="231211"/>
          </a:xfrm>
          <a:prstGeom prst="rect">
            <a:avLst/>
          </a:prstGeom>
          <a:noFill/>
          <a:ln w="38100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98FBBB7-E80C-4331-9315-BA3B44678BE8}"/>
              </a:ext>
            </a:extLst>
          </p:cNvPr>
          <p:cNvSpPr/>
          <p:nvPr/>
        </p:nvSpPr>
        <p:spPr>
          <a:xfrm>
            <a:off x="5899355" y="2713703"/>
            <a:ext cx="1002890" cy="145308"/>
          </a:xfrm>
          <a:prstGeom prst="rect">
            <a:avLst/>
          </a:prstGeom>
          <a:noFill/>
          <a:ln w="38100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1211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6" grpId="0"/>
      <p:bldP spid="8" grpId="0" animBg="1"/>
      <p:bldP spid="9" grpId="0" animBg="1"/>
      <p:bldP spid="1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11FF528B-D5B8-4032-B580-ECC82C5019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026" y="0"/>
            <a:ext cx="9565948" cy="6858000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B41C06C7-ECF5-4E10-8104-618B6F606DA7}"/>
              </a:ext>
            </a:extLst>
          </p:cNvPr>
          <p:cNvSpPr txBox="1"/>
          <p:nvPr/>
        </p:nvSpPr>
        <p:spPr>
          <a:xfrm>
            <a:off x="10677833" y="2554646"/>
            <a:ext cx="14591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Port IP@</a:t>
            </a:r>
          </a:p>
          <a:p>
            <a:r>
              <a:rPr lang="en-US" altLang="zh-TW" b="1" dirty="0">
                <a:solidFill>
                  <a:srgbClr val="FF0000"/>
                </a:solidFill>
              </a:rPr>
              <a:t>configuration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4B4FE60-7398-405E-9020-28997973AF34}"/>
              </a:ext>
            </a:extLst>
          </p:cNvPr>
          <p:cNvSpPr txBox="1"/>
          <p:nvPr/>
        </p:nvSpPr>
        <p:spPr>
          <a:xfrm>
            <a:off x="6312310" y="366020"/>
            <a:ext cx="1943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</a:rPr>
              <a:t>Port Configuration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EDC80C9-7BCF-4747-BE7F-C7AB4E5AF825}"/>
              </a:ext>
            </a:extLst>
          </p:cNvPr>
          <p:cNvSpPr/>
          <p:nvPr/>
        </p:nvSpPr>
        <p:spPr>
          <a:xfrm>
            <a:off x="5702710" y="1027470"/>
            <a:ext cx="4975123" cy="5683044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408920B5-DF35-4C47-BDD0-CC04898A3578}"/>
              </a:ext>
            </a:extLst>
          </p:cNvPr>
          <p:cNvCxnSpPr>
            <a:cxnSpLocks/>
          </p:cNvCxnSpPr>
          <p:nvPr/>
        </p:nvCxnSpPr>
        <p:spPr>
          <a:xfrm flipH="1">
            <a:off x="6508955" y="731722"/>
            <a:ext cx="128077" cy="595633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A054297A-58F7-4046-B24E-F96583C50D7A}"/>
              </a:ext>
            </a:extLst>
          </p:cNvPr>
          <p:cNvSpPr/>
          <p:nvPr/>
        </p:nvSpPr>
        <p:spPr>
          <a:xfrm>
            <a:off x="8790039" y="2696889"/>
            <a:ext cx="1612490" cy="361846"/>
          </a:xfrm>
          <a:prstGeom prst="rect">
            <a:avLst/>
          </a:prstGeom>
          <a:noFill/>
          <a:ln w="38100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98FBBB7-E80C-4331-9315-BA3B44678BE8}"/>
              </a:ext>
            </a:extLst>
          </p:cNvPr>
          <p:cNvSpPr/>
          <p:nvPr/>
        </p:nvSpPr>
        <p:spPr>
          <a:xfrm>
            <a:off x="6272978" y="1313747"/>
            <a:ext cx="471953" cy="221045"/>
          </a:xfrm>
          <a:prstGeom prst="rect">
            <a:avLst/>
          </a:prstGeom>
          <a:noFill/>
          <a:ln w="38100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6A74193-11CA-4386-8FB7-FE30CCD204A2}"/>
              </a:ext>
            </a:extLst>
          </p:cNvPr>
          <p:cNvSpPr/>
          <p:nvPr/>
        </p:nvSpPr>
        <p:spPr>
          <a:xfrm>
            <a:off x="5915559" y="2549404"/>
            <a:ext cx="947358" cy="147485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0721691-4EE3-449E-9837-FBB6D94D792C}"/>
              </a:ext>
            </a:extLst>
          </p:cNvPr>
          <p:cNvSpPr/>
          <p:nvPr/>
        </p:nvSpPr>
        <p:spPr>
          <a:xfrm>
            <a:off x="5897724" y="2694432"/>
            <a:ext cx="965194" cy="147486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5A191D3-0127-4941-99C8-DE4893420345}"/>
              </a:ext>
            </a:extLst>
          </p:cNvPr>
          <p:cNvSpPr/>
          <p:nvPr/>
        </p:nvSpPr>
        <p:spPr>
          <a:xfrm>
            <a:off x="10127226" y="1720644"/>
            <a:ext cx="363794" cy="287079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6511340-3F3E-46D4-9825-8CCF2F81006C}"/>
              </a:ext>
            </a:extLst>
          </p:cNvPr>
          <p:cNvSpPr txBox="1"/>
          <p:nvPr/>
        </p:nvSpPr>
        <p:spPr>
          <a:xfrm>
            <a:off x="10656749" y="1534792"/>
            <a:ext cx="14487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Turn the port</a:t>
            </a:r>
          </a:p>
          <a:p>
            <a:r>
              <a:rPr lang="en-US" altLang="zh-TW" b="1" dirty="0">
                <a:solidFill>
                  <a:srgbClr val="FF0000"/>
                </a:solidFill>
              </a:rPr>
              <a:t>On 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1648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6" grpId="0"/>
      <p:bldP spid="8" grpId="0" animBg="1"/>
      <p:bldP spid="9" grpId="0" animBg="1"/>
      <p:bldP spid="17" grpId="0" animBg="1"/>
      <p:bldP spid="12" grpId="0" animBg="1"/>
      <p:bldP spid="13" grpId="0" animBg="1"/>
      <p:bldP spid="14" grpId="0" animBg="1"/>
      <p:bldP spid="1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FCD4C5BA-2672-4686-96E6-38BA9CB89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421" y="0"/>
            <a:ext cx="9585158" cy="68580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74B4FE60-7398-405E-9020-28997973AF34}"/>
              </a:ext>
            </a:extLst>
          </p:cNvPr>
          <p:cNvSpPr txBox="1"/>
          <p:nvPr/>
        </p:nvSpPr>
        <p:spPr>
          <a:xfrm>
            <a:off x="6312310" y="366020"/>
            <a:ext cx="2253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</a:rPr>
              <a:t>Routing configuration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EDC80C9-7BCF-4747-BE7F-C7AB4E5AF825}"/>
              </a:ext>
            </a:extLst>
          </p:cNvPr>
          <p:cNvSpPr/>
          <p:nvPr/>
        </p:nvSpPr>
        <p:spPr>
          <a:xfrm>
            <a:off x="9085005" y="2553537"/>
            <a:ext cx="1219201" cy="163193"/>
          </a:xfrm>
          <a:prstGeom prst="rect">
            <a:avLst/>
          </a:prstGeom>
          <a:noFill/>
          <a:ln w="38100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408920B5-DF35-4C47-BDD0-CC04898A3578}"/>
              </a:ext>
            </a:extLst>
          </p:cNvPr>
          <p:cNvCxnSpPr>
            <a:cxnSpLocks/>
          </p:cNvCxnSpPr>
          <p:nvPr/>
        </p:nvCxnSpPr>
        <p:spPr>
          <a:xfrm flipH="1">
            <a:off x="6508955" y="731722"/>
            <a:ext cx="128077" cy="595633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498FBBB7-E80C-4331-9315-BA3B44678BE8}"/>
              </a:ext>
            </a:extLst>
          </p:cNvPr>
          <p:cNvSpPr/>
          <p:nvPr/>
        </p:nvSpPr>
        <p:spPr>
          <a:xfrm>
            <a:off x="6272978" y="1313747"/>
            <a:ext cx="471953" cy="221045"/>
          </a:xfrm>
          <a:prstGeom prst="rect">
            <a:avLst/>
          </a:prstGeom>
          <a:noFill/>
          <a:ln w="38100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6A74193-11CA-4386-8FB7-FE30CCD204A2}"/>
              </a:ext>
            </a:extLst>
          </p:cNvPr>
          <p:cNvSpPr/>
          <p:nvPr/>
        </p:nvSpPr>
        <p:spPr>
          <a:xfrm>
            <a:off x="5915559" y="1917290"/>
            <a:ext cx="947358" cy="221045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AAA275A-093B-4479-9508-877074DD861E}"/>
              </a:ext>
            </a:extLst>
          </p:cNvPr>
          <p:cNvSpPr/>
          <p:nvPr/>
        </p:nvSpPr>
        <p:spPr>
          <a:xfrm>
            <a:off x="7551173" y="1903966"/>
            <a:ext cx="2753033" cy="357453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B88EAFD-D7A7-4407-864C-F482495E8CB6}"/>
              </a:ext>
            </a:extLst>
          </p:cNvPr>
          <p:cNvSpPr txBox="1"/>
          <p:nvPr/>
        </p:nvSpPr>
        <p:spPr>
          <a:xfrm>
            <a:off x="7906255" y="1424269"/>
            <a:ext cx="2080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accent6">
                    <a:lumMod val="75000"/>
                  </a:schemeClr>
                </a:solidFill>
              </a:rPr>
              <a:t>Destination address</a:t>
            </a:r>
            <a:endParaRPr lang="zh-TW" alt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65705BD-5D55-4D18-846F-F86F8E240623}"/>
              </a:ext>
            </a:extLst>
          </p:cNvPr>
          <p:cNvSpPr/>
          <p:nvPr/>
        </p:nvSpPr>
        <p:spPr>
          <a:xfrm>
            <a:off x="7551173" y="2261419"/>
            <a:ext cx="2753033" cy="292118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1D62ACBB-D53B-4013-AFB6-28717D279BBD}"/>
              </a:ext>
            </a:extLst>
          </p:cNvPr>
          <p:cNvSpPr txBox="1"/>
          <p:nvPr/>
        </p:nvSpPr>
        <p:spPr>
          <a:xfrm>
            <a:off x="7583055" y="2541658"/>
            <a:ext cx="1501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accent4">
                    <a:lumMod val="75000"/>
                  </a:schemeClr>
                </a:solidFill>
              </a:rPr>
              <a:t>Next hop IP@</a:t>
            </a:r>
            <a:endParaRPr lang="zh-TW" altLang="en-US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5" name="箭號: 向下 14">
            <a:extLst>
              <a:ext uri="{FF2B5EF4-FFF2-40B4-BE49-F238E27FC236}">
                <a16:creationId xmlns:a16="http://schemas.microsoft.com/office/drawing/2014/main" id="{5AEC5651-AB9B-4D92-B2C3-B999502971C7}"/>
              </a:ext>
            </a:extLst>
          </p:cNvPr>
          <p:cNvSpPr/>
          <p:nvPr/>
        </p:nvSpPr>
        <p:spPr>
          <a:xfrm rot="2552325">
            <a:off x="8883548" y="2723069"/>
            <a:ext cx="197233" cy="3693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CE3AEAC-9532-4C1B-8D0E-C670758E8940}"/>
              </a:ext>
            </a:extLst>
          </p:cNvPr>
          <p:cNvSpPr/>
          <p:nvPr/>
        </p:nvSpPr>
        <p:spPr>
          <a:xfrm>
            <a:off x="7157884" y="2907735"/>
            <a:ext cx="3146322" cy="1585607"/>
          </a:xfrm>
          <a:prstGeom prst="rect">
            <a:avLst/>
          </a:prstGeom>
          <a:noFill/>
          <a:ln w="38100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91C9E18C-66BF-4194-AE2A-6AA0B588E389}"/>
              </a:ext>
            </a:extLst>
          </p:cNvPr>
          <p:cNvSpPr txBox="1"/>
          <p:nvPr/>
        </p:nvSpPr>
        <p:spPr>
          <a:xfrm>
            <a:off x="7677728" y="3366534"/>
            <a:ext cx="1484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accent4">
                    <a:lumMod val="75000"/>
                  </a:schemeClr>
                </a:solidFill>
              </a:rPr>
              <a:t>Routing Table</a:t>
            </a:r>
            <a:endParaRPr lang="zh-TW" altLang="en-US" b="1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7441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17" grpId="0" animBg="1"/>
      <p:bldP spid="12" grpId="0" animBg="1"/>
      <p:bldP spid="7" grpId="0" animBg="1"/>
      <p:bldP spid="10" grpId="0"/>
      <p:bldP spid="14" grpId="0" animBg="1"/>
      <p:bldP spid="16" grpId="0"/>
      <p:bldP spid="1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A3A3D819-5128-4848-AF16-5DF35050C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2608" y="0"/>
            <a:ext cx="9546784" cy="68580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74B4FE60-7398-405E-9020-28997973AF34}"/>
              </a:ext>
            </a:extLst>
          </p:cNvPr>
          <p:cNvSpPr txBox="1"/>
          <p:nvPr/>
        </p:nvSpPr>
        <p:spPr>
          <a:xfrm>
            <a:off x="2133600" y="2379937"/>
            <a:ext cx="18816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</a:rPr>
              <a:t>All links are green</a:t>
            </a:r>
          </a:p>
          <a:p>
            <a:r>
              <a:rPr lang="en-US" altLang="zh-TW" b="1" dirty="0">
                <a:solidFill>
                  <a:srgbClr val="0000FF"/>
                </a:solidFill>
              </a:rPr>
              <a:t>When they work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408920B5-DF35-4C47-BDD0-CC04898A3578}"/>
              </a:ext>
            </a:extLst>
          </p:cNvPr>
          <p:cNvCxnSpPr>
            <a:cxnSpLocks/>
          </p:cNvCxnSpPr>
          <p:nvPr/>
        </p:nvCxnSpPr>
        <p:spPr>
          <a:xfrm>
            <a:off x="3569369" y="3026268"/>
            <a:ext cx="216050" cy="552674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2284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311395AB-7E7A-4664-B6C0-60B88138AF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7002" y="0"/>
            <a:ext cx="9597996" cy="68580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74B4FE60-7398-405E-9020-28997973AF34}"/>
              </a:ext>
            </a:extLst>
          </p:cNvPr>
          <p:cNvSpPr txBox="1"/>
          <p:nvPr/>
        </p:nvSpPr>
        <p:spPr>
          <a:xfrm>
            <a:off x="9092528" y="6057082"/>
            <a:ext cx="121167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Simulation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EDC80C9-7BCF-4747-BE7F-C7AB4E5AF825}"/>
              </a:ext>
            </a:extLst>
          </p:cNvPr>
          <p:cNvSpPr/>
          <p:nvPr/>
        </p:nvSpPr>
        <p:spPr>
          <a:xfrm>
            <a:off x="9714271" y="5407323"/>
            <a:ext cx="1109353" cy="292118"/>
          </a:xfrm>
          <a:prstGeom prst="rect">
            <a:avLst/>
          </a:prstGeom>
          <a:noFill/>
          <a:ln w="38100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6A74193-11CA-4386-8FB7-FE30CCD204A2}"/>
              </a:ext>
            </a:extLst>
          </p:cNvPr>
          <p:cNvSpPr/>
          <p:nvPr/>
        </p:nvSpPr>
        <p:spPr>
          <a:xfrm>
            <a:off x="8554066" y="1224784"/>
            <a:ext cx="2340932" cy="4477926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AAA275A-093B-4479-9508-877074DD861E}"/>
              </a:ext>
            </a:extLst>
          </p:cNvPr>
          <p:cNvSpPr/>
          <p:nvPr/>
        </p:nvSpPr>
        <p:spPr>
          <a:xfrm>
            <a:off x="9209639" y="3852266"/>
            <a:ext cx="1094567" cy="357453"/>
          </a:xfrm>
          <a:prstGeom prst="rect">
            <a:avLst/>
          </a:prstGeom>
          <a:noFill/>
          <a:ln w="38100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B88EAFD-D7A7-4407-864C-F482495E8CB6}"/>
              </a:ext>
            </a:extLst>
          </p:cNvPr>
          <p:cNvSpPr txBox="1"/>
          <p:nvPr/>
        </p:nvSpPr>
        <p:spPr>
          <a:xfrm>
            <a:off x="7020967" y="3834114"/>
            <a:ext cx="21067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FFC000"/>
                </a:solidFill>
              </a:rPr>
              <a:t>Simulation playback</a:t>
            </a:r>
            <a:endParaRPr lang="zh-TW" altLang="en-US" b="1" dirty="0">
              <a:solidFill>
                <a:srgbClr val="FFC000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65705BD-5D55-4D18-846F-F86F8E240623}"/>
              </a:ext>
            </a:extLst>
          </p:cNvPr>
          <p:cNvSpPr/>
          <p:nvPr/>
        </p:nvSpPr>
        <p:spPr>
          <a:xfrm>
            <a:off x="8579913" y="1610496"/>
            <a:ext cx="2243712" cy="292118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1D62ACBB-D53B-4013-AFB6-28717D279BBD}"/>
              </a:ext>
            </a:extLst>
          </p:cNvPr>
          <p:cNvSpPr txBox="1"/>
          <p:nvPr/>
        </p:nvSpPr>
        <p:spPr>
          <a:xfrm>
            <a:off x="8624676" y="2040276"/>
            <a:ext cx="806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accent4">
                    <a:lumMod val="75000"/>
                  </a:schemeClr>
                </a:solidFill>
              </a:rPr>
              <a:t>Events</a:t>
            </a:r>
            <a:endParaRPr lang="zh-TW" altLang="en-US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CE3AEAC-9532-4C1B-8D0E-C670758E8940}"/>
              </a:ext>
            </a:extLst>
          </p:cNvPr>
          <p:cNvSpPr/>
          <p:nvPr/>
        </p:nvSpPr>
        <p:spPr>
          <a:xfrm>
            <a:off x="8604915" y="5404054"/>
            <a:ext cx="1109353" cy="248323"/>
          </a:xfrm>
          <a:prstGeom prst="rect">
            <a:avLst/>
          </a:prstGeom>
          <a:noFill/>
          <a:ln w="3810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流程圖: 結束點 8">
            <a:extLst>
              <a:ext uri="{FF2B5EF4-FFF2-40B4-BE49-F238E27FC236}">
                <a16:creationId xmlns:a16="http://schemas.microsoft.com/office/drawing/2014/main" id="{B96EC8BC-972E-4969-B4CC-CF3FE64F7207}"/>
              </a:ext>
            </a:extLst>
          </p:cNvPr>
          <p:cNvSpPr/>
          <p:nvPr/>
        </p:nvSpPr>
        <p:spPr>
          <a:xfrm>
            <a:off x="9986440" y="5702710"/>
            <a:ext cx="908558" cy="292118"/>
          </a:xfrm>
          <a:prstGeom prst="flowChartTerminator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流程圖: 結束點 18">
            <a:extLst>
              <a:ext uri="{FF2B5EF4-FFF2-40B4-BE49-F238E27FC236}">
                <a16:creationId xmlns:a16="http://schemas.microsoft.com/office/drawing/2014/main" id="{415F521B-5A5E-4F8F-AD86-6BC77C81160D}"/>
              </a:ext>
            </a:extLst>
          </p:cNvPr>
          <p:cNvSpPr/>
          <p:nvPr/>
        </p:nvSpPr>
        <p:spPr>
          <a:xfrm>
            <a:off x="8624676" y="5702710"/>
            <a:ext cx="613994" cy="292118"/>
          </a:xfrm>
          <a:prstGeom prst="flowChartTerminator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217F0CA-8C02-4A5D-A1B2-C442A6C1C4EF}"/>
              </a:ext>
            </a:extLst>
          </p:cNvPr>
          <p:cNvSpPr txBox="1"/>
          <p:nvPr/>
        </p:nvSpPr>
        <p:spPr>
          <a:xfrm>
            <a:off x="7147238" y="5307753"/>
            <a:ext cx="1381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00B050"/>
                </a:solidFill>
              </a:rPr>
              <a:t>Filter setting</a:t>
            </a:r>
            <a:endParaRPr lang="zh-TW" altLang="en-US" b="1" dirty="0">
              <a:solidFill>
                <a:srgbClr val="00B050"/>
              </a:solidFill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C5BDA794-26BE-484B-9B77-DC75A0333731}"/>
              </a:ext>
            </a:extLst>
          </p:cNvPr>
          <p:cNvSpPr/>
          <p:nvPr/>
        </p:nvSpPr>
        <p:spPr>
          <a:xfrm>
            <a:off x="8554066" y="4365523"/>
            <a:ext cx="2340932" cy="1032258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3799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12" grpId="0" animBg="1"/>
      <p:bldP spid="7" grpId="0" animBg="1"/>
      <p:bldP spid="10" grpId="0"/>
      <p:bldP spid="14" grpId="0" animBg="1"/>
      <p:bldP spid="16" grpId="0"/>
      <p:bldP spid="18" grpId="0" animBg="1"/>
      <p:bldP spid="9" grpId="0" animBg="1"/>
      <p:bldP spid="19" grpId="0" animBg="1"/>
      <p:bldP spid="20" grpId="0"/>
      <p:bldP spid="1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75C9D58-824E-4583-BF4A-FE1002246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168" y="0"/>
            <a:ext cx="9538782" cy="6858000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B41C06C7-ECF5-4E10-8104-618B6F606DA7}"/>
              </a:ext>
            </a:extLst>
          </p:cNvPr>
          <p:cNvSpPr txBox="1"/>
          <p:nvPr/>
        </p:nvSpPr>
        <p:spPr>
          <a:xfrm>
            <a:off x="8288592" y="3105834"/>
            <a:ext cx="8803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00B050"/>
                </a:solidFill>
              </a:rPr>
              <a:t>IP</a:t>
            </a:r>
          </a:p>
          <a:p>
            <a:r>
              <a:rPr lang="en-US" altLang="zh-TW" b="1" dirty="0">
                <a:solidFill>
                  <a:srgbClr val="00B050"/>
                </a:solidFill>
              </a:rPr>
              <a:t>Header</a:t>
            </a:r>
            <a:endParaRPr lang="zh-TW" altLang="en-US" b="1" dirty="0">
              <a:solidFill>
                <a:srgbClr val="00B050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4B4FE60-7398-405E-9020-28997973AF34}"/>
              </a:ext>
            </a:extLst>
          </p:cNvPr>
          <p:cNvSpPr txBox="1"/>
          <p:nvPr/>
        </p:nvSpPr>
        <p:spPr>
          <a:xfrm>
            <a:off x="5002993" y="1263178"/>
            <a:ext cx="1312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</a:rPr>
              <a:t>PDU format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EDC80C9-7BCF-4747-BE7F-C7AB4E5AF825}"/>
              </a:ext>
            </a:extLst>
          </p:cNvPr>
          <p:cNvSpPr/>
          <p:nvPr/>
        </p:nvSpPr>
        <p:spPr>
          <a:xfrm>
            <a:off x="4355690" y="1799302"/>
            <a:ext cx="4434349" cy="4461387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408920B5-DF35-4C47-BDD0-CC04898A3578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5549497" y="1632510"/>
            <a:ext cx="109702" cy="297816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A054297A-58F7-4046-B24E-F96583C50D7A}"/>
              </a:ext>
            </a:extLst>
          </p:cNvPr>
          <p:cNvSpPr/>
          <p:nvPr/>
        </p:nvSpPr>
        <p:spPr>
          <a:xfrm>
            <a:off x="4442548" y="4572000"/>
            <a:ext cx="3846044" cy="934065"/>
          </a:xfrm>
          <a:prstGeom prst="rect">
            <a:avLst/>
          </a:prstGeom>
          <a:noFill/>
          <a:ln w="38100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98FBBB7-E80C-4331-9315-BA3B44678BE8}"/>
              </a:ext>
            </a:extLst>
          </p:cNvPr>
          <p:cNvSpPr/>
          <p:nvPr/>
        </p:nvSpPr>
        <p:spPr>
          <a:xfrm>
            <a:off x="5002993" y="1908916"/>
            <a:ext cx="1093007" cy="306903"/>
          </a:xfrm>
          <a:prstGeom prst="rect">
            <a:avLst/>
          </a:prstGeom>
          <a:noFill/>
          <a:ln w="38100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6A74193-11CA-4386-8FB7-FE30CCD204A2}"/>
              </a:ext>
            </a:extLst>
          </p:cNvPr>
          <p:cNvSpPr/>
          <p:nvPr/>
        </p:nvSpPr>
        <p:spPr>
          <a:xfrm>
            <a:off x="2743200" y="4257368"/>
            <a:ext cx="530942" cy="245806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0721691-4EE3-449E-9837-FBB6D94D792C}"/>
              </a:ext>
            </a:extLst>
          </p:cNvPr>
          <p:cNvSpPr/>
          <p:nvPr/>
        </p:nvSpPr>
        <p:spPr>
          <a:xfrm>
            <a:off x="4442548" y="2494896"/>
            <a:ext cx="3846045" cy="2077104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788D802-8499-4F69-8353-98220439A97F}"/>
              </a:ext>
            </a:extLst>
          </p:cNvPr>
          <p:cNvSpPr txBox="1"/>
          <p:nvPr/>
        </p:nvSpPr>
        <p:spPr>
          <a:xfrm>
            <a:off x="8293888" y="4780719"/>
            <a:ext cx="8803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</a:rPr>
              <a:t>ICMP</a:t>
            </a:r>
          </a:p>
          <a:p>
            <a:r>
              <a:rPr lang="en-US" altLang="zh-TW" b="1" dirty="0">
                <a:solidFill>
                  <a:srgbClr val="0000FF"/>
                </a:solidFill>
              </a:rPr>
              <a:t>Header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48525FE-23B8-430C-A4BB-FC853CC5B061}"/>
              </a:ext>
            </a:extLst>
          </p:cNvPr>
          <p:cNvSpPr txBox="1"/>
          <p:nvPr/>
        </p:nvSpPr>
        <p:spPr>
          <a:xfrm>
            <a:off x="2387216" y="4729925"/>
            <a:ext cx="1398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</a:rPr>
              <a:t>Click on PDU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2003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6" grpId="0"/>
      <p:bldP spid="8" grpId="0" animBg="1"/>
      <p:bldP spid="9" grpId="0" animBg="1"/>
      <p:bldP spid="17" grpId="0" animBg="1"/>
      <p:bldP spid="12" grpId="0" animBg="1"/>
      <p:bldP spid="13" grpId="0" animBg="1"/>
      <p:bldP spid="14" grpId="0"/>
      <p:bldP spid="1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B28C16-4B09-4D57-A56D-40F549AD0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Gentium Book Basic"/>
              </a:rPr>
              <a:t>Configure a </a:t>
            </a:r>
            <a:r>
              <a:rPr lang="en-US" altLang="zh-TW" b="1" i="1" dirty="0">
                <a:latin typeface="Gentium Book Basic"/>
              </a:rPr>
              <a:t>default gateway</a:t>
            </a:r>
            <a:r>
              <a:rPr lang="zh-TW" altLang="en-US" b="1" i="1" dirty="0">
                <a:latin typeface="Gentium Book Basic"/>
              </a:rPr>
              <a:t> </a:t>
            </a:r>
            <a:r>
              <a:rPr lang="en-US" altLang="zh-TW" dirty="0">
                <a:latin typeface="Gentium Book Basic"/>
              </a:rPr>
              <a:t>using interface fa0/0 for our LAN with command mode.</a:t>
            </a:r>
            <a:endParaRPr lang="zh-TW" altLang="en-US" dirty="0">
              <a:latin typeface="Gentium Book Basic"/>
            </a:endParaRPr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D9DFC48B-C750-4F02-9621-D6C906149A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2721691"/>
              </p:ext>
            </p:extLst>
          </p:nvPr>
        </p:nvGraphicFramePr>
        <p:xfrm>
          <a:off x="969818" y="1825625"/>
          <a:ext cx="8636000" cy="449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36000">
                  <a:extLst>
                    <a:ext uri="{9D8B030D-6E8A-4147-A177-3AD203B41FA5}">
                      <a16:colId xmlns:a16="http://schemas.microsoft.com/office/drawing/2014/main" val="4080478114"/>
                    </a:ext>
                  </a:extLst>
                </a:gridCol>
              </a:tblGrid>
              <a:tr h="551532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693664"/>
                  </a:ext>
                </a:extLst>
              </a:tr>
              <a:tr h="3940516"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Router&gt;</a:t>
                      </a:r>
                      <a:r>
                        <a:rPr kumimoji="0" lang="en-US" altLang="zh-TW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enable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Router#</a:t>
                      </a:r>
                      <a:r>
                        <a:rPr kumimoji="0" lang="en-US" altLang="zh-TW" sz="2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config</a:t>
                      </a:r>
                      <a:r>
                        <a:rPr kumimoji="0" lang="en-US" altLang="zh-TW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terminal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Router(config)#</a:t>
                      </a:r>
                      <a:r>
                        <a:rPr kumimoji="0" lang="en-US" altLang="zh-TW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int fa0/0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Router(config-if)#</a:t>
                      </a:r>
                      <a:r>
                        <a:rPr kumimoji="0" lang="en-US" altLang="zh-TW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ip add 192.168.1.1 255.255.255.0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Router(config-if)#</a:t>
                      </a:r>
                      <a:r>
                        <a:rPr kumimoji="0" lang="en-US" altLang="zh-TW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no shutdown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Router(config-if)#</a:t>
                      </a:r>
                      <a:r>
                        <a:rPr kumimoji="0" lang="en-US" altLang="zh-TW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exit</a:t>
                      </a:r>
                    </a:p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84554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61128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B28C16-4B09-4D57-A56D-40F549AD0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Gentium Book Basic"/>
              </a:rPr>
              <a:t>Configure </a:t>
            </a:r>
            <a:r>
              <a:rPr lang="en-US" altLang="zh-TW" b="1" i="1" dirty="0">
                <a:latin typeface="Gentium Book Basic"/>
              </a:rPr>
              <a:t>DHCP </a:t>
            </a:r>
            <a:r>
              <a:rPr lang="en-US" altLang="zh-TW" dirty="0">
                <a:latin typeface="Gentium Book Basic"/>
              </a:rPr>
              <a:t>server on the Router</a:t>
            </a:r>
            <a:endParaRPr lang="zh-TW" altLang="en-US" dirty="0">
              <a:latin typeface="Gentium Book Basic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C74B718-0311-48B1-9B88-D05952008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In the server we will define a DHCP pool of IP addresses to be assigned to hosts, a Default gateway  for the LAN and a DNS Server.</a:t>
            </a:r>
          </a:p>
          <a:p>
            <a:endParaRPr lang="zh-TW" altLang="en-US" dirty="0"/>
          </a:p>
        </p:txBody>
      </p:sp>
      <p:graphicFrame>
        <p:nvGraphicFramePr>
          <p:cNvPr id="4" name="表格 5">
            <a:extLst>
              <a:ext uri="{FF2B5EF4-FFF2-40B4-BE49-F238E27FC236}">
                <a16:creationId xmlns:a16="http://schemas.microsoft.com/office/drawing/2014/main" id="{462A3A0F-124A-4735-99BE-71E11DF926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1161979"/>
              </p:ext>
            </p:extLst>
          </p:nvPr>
        </p:nvGraphicFramePr>
        <p:xfrm>
          <a:off x="1099127" y="2703080"/>
          <a:ext cx="9393382" cy="3882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93382">
                  <a:extLst>
                    <a:ext uri="{9D8B030D-6E8A-4147-A177-3AD203B41FA5}">
                      <a16:colId xmlns:a16="http://schemas.microsoft.com/office/drawing/2014/main" val="4080478114"/>
                    </a:ext>
                  </a:extLst>
                </a:gridCol>
              </a:tblGrid>
              <a:tr h="476686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693664"/>
                  </a:ext>
                </a:extLst>
              </a:tr>
              <a:tr h="3405762"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Router(config)#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Router(config)#</a:t>
                      </a:r>
                      <a:r>
                        <a:rPr kumimoji="0" lang="en-US" altLang="zh-TW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ip </a:t>
                      </a:r>
                      <a:r>
                        <a:rPr kumimoji="0" lang="en-US" altLang="zh-TW" sz="2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dhcp</a:t>
                      </a:r>
                      <a:r>
                        <a:rPr kumimoji="0" lang="en-US" altLang="zh-TW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pool </a:t>
                      </a:r>
                      <a:r>
                        <a:rPr kumimoji="0" lang="en-US" altLang="zh-TW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MY_LAN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Router(</a:t>
                      </a:r>
                      <a:r>
                        <a:rPr kumimoji="0" lang="en-US" altLang="zh-TW" sz="2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dhcp</a:t>
                      </a:r>
                      <a:r>
                        <a:rPr kumimoji="0" lang="en-US" altLang="zh-TW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-config)#</a:t>
                      </a:r>
                      <a:r>
                        <a:rPr kumimoji="0" lang="en-US" altLang="zh-TW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network</a:t>
                      </a:r>
                      <a:r>
                        <a:rPr kumimoji="0" lang="en-US" altLang="zh-TW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192.168.1.0 255.255.255.0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Router(</a:t>
                      </a:r>
                      <a:r>
                        <a:rPr kumimoji="0" lang="en-US" altLang="zh-TW" sz="2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dhcp</a:t>
                      </a:r>
                      <a:r>
                        <a:rPr kumimoji="0" lang="en-US" altLang="zh-TW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-config)#</a:t>
                      </a:r>
                      <a:r>
                        <a:rPr kumimoji="0" lang="en-US" altLang="zh-TW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default-router</a:t>
                      </a:r>
                      <a:r>
                        <a:rPr kumimoji="0" lang="en-US" altLang="zh-TW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192.168.1.1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Router(</a:t>
                      </a:r>
                      <a:r>
                        <a:rPr kumimoji="0" lang="en-US" altLang="zh-TW" sz="2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dhcp</a:t>
                      </a:r>
                      <a:r>
                        <a:rPr kumimoji="0" lang="en-US" altLang="zh-TW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-config)#</a:t>
                      </a:r>
                      <a:r>
                        <a:rPr kumimoji="0" lang="en-US" altLang="zh-TW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dns-server</a:t>
                      </a:r>
                      <a:r>
                        <a:rPr kumimoji="0" lang="en-US" altLang="zh-TW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192.168.1.10</a:t>
                      </a:r>
                    </a:p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84554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99435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711906-CB53-4ACF-AF48-D693D1FF4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Gentium Book Basic"/>
              </a:rPr>
              <a:t>Reserve addresses that are statically assigned to key hosts</a:t>
            </a:r>
            <a:endParaRPr lang="zh-TW" altLang="en-US" dirty="0">
              <a:latin typeface="Gentium Book Basic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1C0A8D4-3838-4078-BC04-808C008D1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/>
              <a:t>Use </a:t>
            </a:r>
            <a:r>
              <a:rPr lang="en-US" altLang="zh-TW" sz="3200" dirty="0" err="1">
                <a:solidFill>
                  <a:srgbClr val="0000FF"/>
                </a:solidFill>
              </a:rPr>
              <a:t>ip</a:t>
            </a:r>
            <a:r>
              <a:rPr lang="en-US" altLang="zh-TW" sz="3200" dirty="0">
                <a:solidFill>
                  <a:srgbClr val="0000FF"/>
                </a:solidFill>
              </a:rPr>
              <a:t> </a:t>
            </a:r>
            <a:r>
              <a:rPr lang="en-US" altLang="zh-TW" sz="3200" dirty="0" err="1">
                <a:solidFill>
                  <a:srgbClr val="0000FF"/>
                </a:solidFill>
              </a:rPr>
              <a:t>dhcp</a:t>
            </a:r>
            <a:r>
              <a:rPr lang="en-US" altLang="zh-TW" sz="3200" dirty="0">
                <a:solidFill>
                  <a:srgbClr val="0000FF"/>
                </a:solidFill>
              </a:rPr>
              <a:t> excluded-address </a:t>
            </a:r>
            <a:r>
              <a:rPr lang="en-US" altLang="zh-TW" sz="3200" dirty="0"/>
              <a:t>command</a:t>
            </a:r>
          </a:p>
          <a:p>
            <a:r>
              <a:rPr lang="en-US" altLang="zh-TW" sz="3200" dirty="0"/>
              <a:t>So add the above command under the global configuration mode.</a:t>
            </a:r>
          </a:p>
        </p:txBody>
      </p:sp>
      <p:graphicFrame>
        <p:nvGraphicFramePr>
          <p:cNvPr id="4" name="表格 5">
            <a:extLst>
              <a:ext uri="{FF2B5EF4-FFF2-40B4-BE49-F238E27FC236}">
                <a16:creationId xmlns:a16="http://schemas.microsoft.com/office/drawing/2014/main" id="{383E47ED-2E10-41DE-A547-1FD8EA82D2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8515647"/>
              </p:ext>
            </p:extLst>
          </p:nvPr>
        </p:nvGraphicFramePr>
        <p:xfrm>
          <a:off x="1043708" y="3429000"/>
          <a:ext cx="9393382" cy="23812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93382">
                  <a:extLst>
                    <a:ext uri="{9D8B030D-6E8A-4147-A177-3AD203B41FA5}">
                      <a16:colId xmlns:a16="http://schemas.microsoft.com/office/drawing/2014/main" val="4080478114"/>
                    </a:ext>
                  </a:extLst>
                </a:gridCol>
              </a:tblGrid>
              <a:tr h="282092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693664"/>
                  </a:ext>
                </a:extLst>
              </a:tr>
              <a:tr h="2015453"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zh-TW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Router(config)#</a:t>
                      </a:r>
                      <a:r>
                        <a:rPr kumimoji="0" lang="en-US" altLang="zh-TW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ip </a:t>
                      </a:r>
                      <a:r>
                        <a:rPr kumimoji="0" lang="en-US" altLang="zh-TW" sz="3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dhcp</a:t>
                      </a:r>
                      <a:r>
                        <a:rPr kumimoji="0" lang="en-US" altLang="zh-TW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excluded-address </a:t>
                      </a:r>
                      <a:r>
                        <a:rPr kumimoji="0" lang="en-US" altLang="zh-TW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192.168.1.1 192.168.1.10</a:t>
                      </a:r>
                      <a:endParaRPr kumimoji="0" lang="zh-TW" alt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84554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05859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A7053F-B585-4AA6-8A88-EA94D6C8C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solidFill>
                  <a:srgbClr val="333333"/>
                </a:solidFill>
                <a:latin typeface="Gentium Book Basic"/>
              </a:rPr>
              <a:t>Enable </a:t>
            </a:r>
            <a:r>
              <a:rPr lang="en-US" altLang="zh-TW" b="1" dirty="0">
                <a:solidFill>
                  <a:srgbClr val="333333"/>
                </a:solidFill>
                <a:latin typeface="Gentium Book Basic"/>
              </a:rPr>
              <a:t>DHCP</a:t>
            </a:r>
            <a:r>
              <a:rPr lang="en-US" altLang="zh-TW" dirty="0">
                <a:solidFill>
                  <a:srgbClr val="333333"/>
                </a:solidFill>
                <a:latin typeface="Gentium Book Basic"/>
              </a:rPr>
              <a:t> in every PC on their </a:t>
            </a:r>
            <a:r>
              <a:rPr lang="en-US" altLang="zh-TW" b="1" dirty="0">
                <a:solidFill>
                  <a:srgbClr val="3366FF"/>
                </a:solidFill>
                <a:latin typeface="Gentium Book Basic"/>
              </a:rPr>
              <a:t>IP configuration</a:t>
            </a:r>
            <a:r>
              <a:rPr lang="en-US" altLang="zh-TW" dirty="0">
                <a:solidFill>
                  <a:srgbClr val="333333"/>
                </a:solidFill>
                <a:latin typeface="Gentium Book Basic"/>
              </a:rPr>
              <a:t> tabs</a:t>
            </a:r>
            <a:endParaRPr lang="zh-TW" altLang="en-US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D93D770E-254A-4660-8954-8C358858E3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8363" y="1853334"/>
            <a:ext cx="6758060" cy="500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5663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545A56-F837-42AC-A151-8D0D068F2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List of things to remind</a:t>
            </a:r>
            <a:endParaRPr lang="zh-TW" altLang="en-US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A7FEE90-0078-44EC-9202-49F0B9385E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/>
              <a:t>In the static mode, all IP addresses and routing table must be configured manually. No DHCP server is needed.</a:t>
            </a:r>
          </a:p>
          <a:p>
            <a:r>
              <a:rPr lang="en-US" altLang="zh-TW" dirty="0"/>
              <a:t>In the dynamic mode, a DHCP server must be configured in a router or deployed separately.  </a:t>
            </a:r>
          </a:p>
          <a:p>
            <a:r>
              <a:rPr lang="en-US" altLang="zh-TW" dirty="0"/>
              <a:t>Ping among end devices to check if all your setting is correct.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58AB2603-F345-4AF1-B9A0-1FE9278F524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69384" y="1825625"/>
            <a:ext cx="498723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213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845</TotalTime>
  <Words>480</Words>
  <Application>Microsoft Office PowerPoint</Application>
  <PresentationFormat>寬螢幕</PresentationFormat>
  <Paragraphs>117</Paragraphs>
  <Slides>28</Slides>
  <Notes>15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28</vt:i4>
      </vt:variant>
    </vt:vector>
  </HeadingPairs>
  <TitlesOfParts>
    <vt:vector size="33" baseType="lpstr">
      <vt:lpstr>Gentium Book Basic</vt:lpstr>
      <vt:lpstr>Arial</vt:lpstr>
      <vt:lpstr>Calibri</vt:lpstr>
      <vt:lpstr>Calibri Light</vt:lpstr>
      <vt:lpstr>Office 佈景主題</vt:lpstr>
      <vt:lpstr>PowerPoint 簡報</vt:lpstr>
      <vt:lpstr>What is Cisco Packet Tracer?</vt:lpstr>
      <vt:lpstr>Features of Cisco Packet Tracer</vt:lpstr>
      <vt:lpstr>Getting Started with Cisco Packet Tracer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Configure a default gateway using interface fa0/0 for our LAN with command mode.</vt:lpstr>
      <vt:lpstr>Configure DHCP server on the Router</vt:lpstr>
      <vt:lpstr>Reserve addresses that are statically assigned to key hosts</vt:lpstr>
      <vt:lpstr>Enable DHCP in every PC on their IP configuration tabs</vt:lpstr>
      <vt:lpstr>List of things to remind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鍾添曜</dc:creator>
  <cp:lastModifiedBy>鍾添曜</cp:lastModifiedBy>
  <cp:revision>25</cp:revision>
  <dcterms:created xsi:type="dcterms:W3CDTF">2023-10-02T04:52:42Z</dcterms:created>
  <dcterms:modified xsi:type="dcterms:W3CDTF">2024-10-07T09:24:19Z</dcterms:modified>
</cp:coreProperties>
</file>