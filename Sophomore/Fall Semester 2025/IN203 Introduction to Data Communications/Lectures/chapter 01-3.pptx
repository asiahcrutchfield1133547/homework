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6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72" r:id="rId10"/>
    <p:sldId id="274" r:id="rId11"/>
    <p:sldId id="286" r:id="rId12"/>
    <p:sldId id="275" r:id="rId13"/>
    <p:sldId id="266" r:id="rId14"/>
    <p:sldId id="256" r:id="rId15"/>
    <p:sldId id="261" r:id="rId16"/>
    <p:sldId id="262" r:id="rId17"/>
    <p:sldId id="263" r:id="rId18"/>
    <p:sldId id="264" r:id="rId19"/>
    <p:sldId id="267" r:id="rId20"/>
    <p:sldId id="265" r:id="rId21"/>
    <p:sldId id="268" r:id="rId22"/>
    <p:sldId id="269" r:id="rId23"/>
    <p:sldId id="270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800BD-83C1-4884-932E-0A9EFE71DDCD}" type="datetimeFigureOut">
              <a:rPr lang="zh-TW" altLang="en-US" smtClean="0"/>
              <a:t>2025/9/5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ACA02-D685-4108-BAC7-E1E9E41153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13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/>
              <a:t>1.#</a:t>
            </a: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843550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/>
              <a:t>1.#</a:t>
            </a: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25628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1" name="Text Box 3"/>
          <p:cNvSpPr txBox="1">
            <a:spLocks noChangeArrowheads="1"/>
          </p:cNvSpPr>
          <p:nvPr/>
        </p:nvSpPr>
        <p:spPr bwMode="auto">
          <a:xfrm>
            <a:off x="2178251" y="1965325"/>
            <a:ext cx="796884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en-US" sz="6000" i="1" dirty="0">
                <a:solidFill>
                  <a:srgbClr val="6AF4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Overview of </a:t>
            </a:r>
            <a:br>
              <a:rPr lang="en-US" altLang="en-US" sz="6000" i="1" dirty="0">
                <a:solidFill>
                  <a:srgbClr val="6AF4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6000" i="1" dirty="0">
                <a:solidFill>
                  <a:srgbClr val="6AF4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Communications </a:t>
            </a:r>
            <a:br>
              <a:rPr lang="en-US" altLang="en-US" sz="6000" i="1" dirty="0">
                <a:solidFill>
                  <a:srgbClr val="6AF4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6000" i="1" dirty="0">
                <a:solidFill>
                  <a:srgbClr val="6AF4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br>
              <a:rPr lang="en-US" altLang="en-US" sz="6000" i="1" dirty="0">
                <a:solidFill>
                  <a:srgbClr val="6AF4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6000" i="1" dirty="0">
                <a:solidFill>
                  <a:srgbClr val="6AF4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Networking</a:t>
            </a:r>
          </a:p>
        </p:txBody>
      </p:sp>
      <p:sp>
        <p:nvSpPr>
          <p:cNvPr id="9219" name="Line 4"/>
          <p:cNvSpPr>
            <a:spLocks noChangeShapeType="1"/>
          </p:cNvSpPr>
          <p:nvPr/>
        </p:nvSpPr>
        <p:spPr bwMode="auto">
          <a:xfrm>
            <a:off x="1828800" y="6172200"/>
            <a:ext cx="861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20" name="Line 5"/>
          <p:cNvSpPr>
            <a:spLocks noChangeShapeType="1"/>
          </p:cNvSpPr>
          <p:nvPr/>
        </p:nvSpPr>
        <p:spPr bwMode="auto">
          <a:xfrm>
            <a:off x="1790700" y="304800"/>
            <a:ext cx="86106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9221" name="Group 6"/>
          <p:cNvGrpSpPr>
            <a:grpSpLocks/>
          </p:cNvGrpSpPr>
          <p:nvPr/>
        </p:nvGrpSpPr>
        <p:grpSpPr bwMode="auto">
          <a:xfrm>
            <a:off x="1790700" y="457200"/>
            <a:ext cx="1246188" cy="1371600"/>
            <a:chOff x="144" y="288"/>
            <a:chExt cx="785" cy="864"/>
          </a:xfrm>
        </p:grpSpPr>
        <p:sp>
          <p:nvSpPr>
            <p:cNvPr id="9223" name="Rectangle 7"/>
            <p:cNvSpPr>
              <a:spLocks noChangeArrowheads="1"/>
            </p:cNvSpPr>
            <p:nvPr/>
          </p:nvSpPr>
          <p:spPr bwMode="auto">
            <a:xfrm>
              <a:off x="589" y="288"/>
              <a:ext cx="28" cy="5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24" name="Rectangle 8"/>
            <p:cNvSpPr>
              <a:spLocks noChangeArrowheads="1"/>
            </p:cNvSpPr>
            <p:nvPr/>
          </p:nvSpPr>
          <p:spPr bwMode="auto">
            <a:xfrm>
              <a:off x="526" y="288"/>
              <a:ext cx="28" cy="47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25" name="Rectangle 9"/>
            <p:cNvSpPr>
              <a:spLocks noChangeArrowheads="1"/>
            </p:cNvSpPr>
            <p:nvPr/>
          </p:nvSpPr>
          <p:spPr bwMode="auto">
            <a:xfrm>
              <a:off x="462" y="288"/>
              <a:ext cx="28" cy="40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26" name="Rectangle 10"/>
            <p:cNvSpPr>
              <a:spLocks noChangeArrowheads="1"/>
            </p:cNvSpPr>
            <p:nvPr/>
          </p:nvSpPr>
          <p:spPr bwMode="auto">
            <a:xfrm>
              <a:off x="398" y="288"/>
              <a:ext cx="28" cy="3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27" name="Rectangle 11"/>
            <p:cNvSpPr>
              <a:spLocks noChangeArrowheads="1"/>
            </p:cNvSpPr>
            <p:nvPr/>
          </p:nvSpPr>
          <p:spPr bwMode="auto">
            <a:xfrm>
              <a:off x="335" y="288"/>
              <a:ext cx="28" cy="2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28" name="Rectangle 12"/>
            <p:cNvSpPr>
              <a:spLocks noChangeArrowheads="1"/>
            </p:cNvSpPr>
            <p:nvPr/>
          </p:nvSpPr>
          <p:spPr bwMode="auto">
            <a:xfrm>
              <a:off x="271" y="288"/>
              <a:ext cx="28" cy="19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29" name="Rectangle 13"/>
            <p:cNvSpPr>
              <a:spLocks noChangeArrowheads="1"/>
            </p:cNvSpPr>
            <p:nvPr/>
          </p:nvSpPr>
          <p:spPr bwMode="auto">
            <a:xfrm>
              <a:off x="207" y="288"/>
              <a:ext cx="29" cy="1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30" name="Rectangle 14"/>
            <p:cNvSpPr>
              <a:spLocks noChangeArrowheads="1"/>
            </p:cNvSpPr>
            <p:nvPr/>
          </p:nvSpPr>
          <p:spPr bwMode="auto">
            <a:xfrm>
              <a:off x="144" y="288"/>
              <a:ext cx="28" cy="6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31" name="Rectangle 15"/>
            <p:cNvSpPr>
              <a:spLocks noChangeArrowheads="1"/>
            </p:cNvSpPr>
            <p:nvPr/>
          </p:nvSpPr>
          <p:spPr bwMode="auto">
            <a:xfrm>
              <a:off x="653" y="288"/>
              <a:ext cx="26" cy="5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32" name="Rectangle 16"/>
            <p:cNvSpPr>
              <a:spLocks noChangeArrowheads="1"/>
            </p:cNvSpPr>
            <p:nvPr/>
          </p:nvSpPr>
          <p:spPr bwMode="auto">
            <a:xfrm>
              <a:off x="715" y="288"/>
              <a:ext cx="26" cy="66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33" name="Rectangle 17"/>
            <p:cNvSpPr>
              <a:spLocks noChangeArrowheads="1"/>
            </p:cNvSpPr>
            <p:nvPr/>
          </p:nvSpPr>
          <p:spPr bwMode="auto">
            <a:xfrm>
              <a:off x="776" y="288"/>
              <a:ext cx="27" cy="7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34" name="Rectangle 18"/>
            <p:cNvSpPr>
              <a:spLocks noChangeArrowheads="1"/>
            </p:cNvSpPr>
            <p:nvPr/>
          </p:nvSpPr>
          <p:spPr bwMode="auto">
            <a:xfrm>
              <a:off x="839" y="288"/>
              <a:ext cx="28" cy="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9235" name="Rectangle 19"/>
            <p:cNvSpPr>
              <a:spLocks noChangeArrowheads="1"/>
            </p:cNvSpPr>
            <p:nvPr/>
          </p:nvSpPr>
          <p:spPr bwMode="auto">
            <a:xfrm>
              <a:off x="902" y="288"/>
              <a:ext cx="27" cy="8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</p:grpSp>
      <p:sp>
        <p:nvSpPr>
          <p:cNvPr id="319508" name="Text Box 20"/>
          <p:cNvSpPr txBox="1">
            <a:spLocks noChangeArrowheads="1"/>
          </p:cNvSpPr>
          <p:nvPr/>
        </p:nvSpPr>
        <p:spPr bwMode="auto">
          <a:xfrm>
            <a:off x="3276600" y="533401"/>
            <a:ext cx="2489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6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MS Mincho" pitchFamily="49" charset="-128"/>
                <a:ea typeface="新細明體" charset="-120"/>
              </a:rPr>
              <a:t>PART 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510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246" name="Rectangle 7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247" name="Rectangle 8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248" name="Rectangle 9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1024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71600"/>
            <a:ext cx="8216900" cy="480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0" name="Text Box 13"/>
          <p:cNvSpPr txBox="1">
            <a:spLocks noChangeArrowheads="1"/>
          </p:cNvSpPr>
          <p:nvPr/>
        </p:nvSpPr>
        <p:spPr bwMode="auto">
          <a:xfrm>
            <a:off x="2803526" y="-9525"/>
            <a:ext cx="17266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zh-TW" sz="2800">
                <a:latin typeface="+mn-lt"/>
                <a:ea typeface="新細明體" panose="02020500000000000000" pitchFamily="18" charset="-120"/>
              </a:rPr>
              <a:t>Overview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5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7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67" name="Rectangle 1028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68" name="Rectangle 1029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69" name="Rectangle 1030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70" name="Rectangle 1031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71" name="Rectangle 1032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72" name="Rectangle 1033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273" name="Rectangle 103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Types</a:t>
            </a:r>
            <a:endParaRPr lang="zh-TW" altLang="en-US" b="1" i="1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1274" name="Rectangle 103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0" y="1066800"/>
            <a:ext cx="8229600" cy="1676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altLang="zh-TW" sz="32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Distinguish one type of network </a:t>
            </a:r>
            <a:r>
              <a:rPr lang="en-US" altLang="zh-TW" sz="32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from another by 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size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geographical coverage </a:t>
            </a:r>
            <a:r>
              <a:rPr lang="en-US" altLang="zh-TW" sz="32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and </a:t>
            </a:r>
            <a:r>
              <a:rPr lang="en-US" altLang="zh-TW" sz="32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ownership</a:t>
            </a:r>
          </a:p>
          <a:p>
            <a:pPr lvl="1" eaLnBrk="1" hangingPunct="1"/>
            <a:r>
              <a:rPr lang="en-US" altLang="zh-TW" sz="2800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Local area network (LAN)</a:t>
            </a:r>
          </a:p>
          <a:p>
            <a:pPr lvl="1" eaLnBrk="1" hangingPunct="1"/>
            <a:r>
              <a:rPr lang="en-US" altLang="zh-TW" sz="2800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Wide area network (WAN)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39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94" name="Rectangle 7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96" name="Rectangle 9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29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Area Network</a:t>
            </a:r>
            <a:br>
              <a:rPr lang="en-US" altLang="en-US" sz="3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sz="3200" b="1" i="1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2298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0" y="838200"/>
            <a:ext cx="7848600" cy="518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TW" sz="28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Private</a:t>
            </a:r>
            <a:r>
              <a:rPr lang="en-US" altLang="zh-TW" sz="28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owned</a:t>
            </a:r>
          </a:p>
          <a:p>
            <a:pPr eaLnBrk="1" hangingPunct="1"/>
            <a:r>
              <a:rPr lang="en-US" altLang="zh-TW" sz="28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Link the devices in a single office, building, or campus.</a:t>
            </a:r>
          </a:p>
          <a:p>
            <a:pPr eaLnBrk="1" hangingPunct="1"/>
            <a:r>
              <a:rPr lang="en-US" altLang="zh-TW" sz="28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Physical distance is limited to </a:t>
            </a:r>
            <a:r>
              <a:rPr lang="en-US" altLang="zh-TW" sz="28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few kilometers</a:t>
            </a:r>
            <a:r>
              <a:rPr lang="en-US" altLang="zh-TW" sz="28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zh-TW" sz="28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Allow resources, such as printer and servers, to be shared between personal computers.</a:t>
            </a:r>
          </a:p>
          <a:p>
            <a:pPr eaLnBrk="1" hangingPunct="1"/>
            <a:r>
              <a:rPr lang="en-US" altLang="zh-TW" sz="28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LANs are distinguished from one another by </a:t>
            </a:r>
            <a:r>
              <a:rPr lang="en-US" altLang="zh-TW" sz="28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transmission media </a:t>
            </a:r>
            <a:r>
              <a:rPr lang="en-US" altLang="zh-TW" sz="28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and </a:t>
            </a:r>
            <a:r>
              <a:rPr lang="en-US" altLang="zh-TW" sz="28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topology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45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2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Area Network</a:t>
            </a:r>
            <a:br>
              <a:rPr lang="en-US" altLang="en-US" sz="3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sz="3200" b="1" i="1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3322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0" y="1112840"/>
            <a:ext cx="7848600" cy="49069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Each host in a LAN has an identifier, an address, that </a:t>
            </a:r>
            <a:r>
              <a:rPr lang="en-US" altLang="zh-TW" sz="36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uniquely defines the host </a:t>
            </a:r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in the LAN.</a:t>
            </a:r>
          </a:p>
          <a:p>
            <a:pPr eaLnBrk="1" hangingPunct="1"/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packet sent by a host to another host carries both </a:t>
            </a:r>
            <a:r>
              <a:rPr lang="en-US" altLang="zh-TW" sz="36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the </a:t>
            </a:r>
            <a:r>
              <a:rPr lang="en-US" altLang="zh-TW" sz="36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source</a:t>
            </a:r>
            <a:r>
              <a:rPr lang="en-US" altLang="zh-TW" sz="36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host’s and the </a:t>
            </a:r>
            <a:r>
              <a:rPr lang="en-US" altLang="zh-TW" sz="36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destination</a:t>
            </a:r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host’s address.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15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1981200" y="609601"/>
            <a:ext cx="8229600" cy="4525963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altLang="zh-TW" sz="28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In previous LAN, all hosts in a network were connected through </a:t>
            </a:r>
            <a:r>
              <a:rPr lang="en-US" altLang="zh-TW" sz="2800" b="1" dirty="0">
                <a:solidFill>
                  <a:srgbClr val="FFFF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a common cable</a:t>
            </a:r>
            <a:r>
              <a:rPr lang="en-US" altLang="zh-TW" sz="28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: a packet sent from one host to another was </a:t>
            </a:r>
            <a:r>
              <a:rPr lang="en-US" altLang="zh-TW" sz="2800" b="1" dirty="0">
                <a:solidFill>
                  <a:srgbClr val="FFFF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received by all other hosts</a:t>
            </a:r>
            <a:r>
              <a:rPr lang="en-US" altLang="zh-TW" sz="28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.</a:t>
            </a:r>
          </a:p>
          <a:p>
            <a:pPr lvl="1">
              <a:defRPr/>
            </a:pPr>
            <a:r>
              <a:rPr lang="en-US" altLang="zh-TW" sz="24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The </a:t>
            </a:r>
            <a:r>
              <a:rPr lang="en-US" altLang="zh-TW" sz="2400" b="1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intended recipient </a:t>
            </a:r>
            <a:r>
              <a:rPr lang="en-US" altLang="zh-TW" sz="24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keep the packet; the others </a:t>
            </a:r>
            <a:r>
              <a:rPr lang="en-US" altLang="zh-TW" sz="2400" b="1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drop</a:t>
            </a:r>
            <a:r>
              <a:rPr lang="en-US" altLang="zh-TW" sz="24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the packet. </a:t>
            </a:r>
            <a:endParaRPr lang="zh-TW" altLang="en-US" sz="240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191000"/>
            <a:ext cx="57912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810000"/>
            <a:ext cx="1765300" cy="200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73" name="直線單箭頭接點 9"/>
          <p:cNvCxnSpPr>
            <a:cxnSpLocks noChangeShapeType="1"/>
          </p:cNvCxnSpPr>
          <p:nvPr/>
        </p:nvCxnSpPr>
        <p:spPr bwMode="auto">
          <a:xfrm>
            <a:off x="3810000" y="4953000"/>
            <a:ext cx="0" cy="457200"/>
          </a:xfrm>
          <a:prstGeom prst="straightConnector1">
            <a:avLst/>
          </a:prstGeom>
          <a:noFill/>
          <a:ln w="38100" algn="ctr">
            <a:solidFill>
              <a:srgbClr val="00CC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4" name="直線單箭頭接點 11"/>
          <p:cNvCxnSpPr>
            <a:cxnSpLocks noChangeShapeType="1"/>
          </p:cNvCxnSpPr>
          <p:nvPr/>
        </p:nvCxnSpPr>
        <p:spPr bwMode="auto">
          <a:xfrm>
            <a:off x="2743200" y="5410200"/>
            <a:ext cx="3352800" cy="0"/>
          </a:xfrm>
          <a:prstGeom prst="straightConnector1">
            <a:avLst/>
          </a:prstGeom>
          <a:noFill/>
          <a:ln w="38100" algn="ctr">
            <a:solidFill>
              <a:srgbClr val="00CC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40679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57400" y="457201"/>
            <a:ext cx="8229600" cy="4525963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altLang="zh-TW" sz="28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Today, most LANs use a smart connecting switch, which is able to </a:t>
            </a:r>
            <a:r>
              <a:rPr lang="en-US" altLang="zh-TW" sz="2800" b="1" dirty="0">
                <a:solidFill>
                  <a:srgbClr val="FFFF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recognize the destination address</a:t>
            </a:r>
            <a:r>
              <a:rPr lang="en-US" altLang="zh-TW" sz="28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of the packet and guide the packet to its destination </a:t>
            </a:r>
            <a:r>
              <a:rPr lang="en-US" altLang="zh-TW" sz="2800" b="1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without</a:t>
            </a:r>
            <a:r>
              <a:rPr lang="en-US" altLang="zh-TW" sz="2800" dirty="0">
                <a:solidFill>
                  <a:srgbClr val="FFFF00"/>
                </a:solidFill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latin typeface="Arial" panose="020B0604020202020204" pitchFamily="34" charset="0"/>
                <a:ea typeface="新細明體" pitchFamily="18" charset="-120"/>
                <a:cs typeface="Arial" panose="020B0604020202020204" pitchFamily="34" charset="0"/>
              </a:rPr>
              <a:t>sending it to all other hosts.</a:t>
            </a:r>
            <a:endParaRPr lang="zh-TW" altLang="en-US" sz="2800" dirty="0">
              <a:latin typeface="Arial" panose="020B0604020202020204" pitchFamily="34" charset="0"/>
              <a:ea typeface="新細明體" pitchFamily="18" charset="-120"/>
              <a:cs typeface="Arial" panose="020B0604020202020204" pitchFamily="34" charset="0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3429000"/>
            <a:ext cx="5067300" cy="3130550"/>
          </a:xfrm>
          <a:prstGeom prst="rect">
            <a:avLst/>
          </a:prstGeom>
          <a:noFill/>
          <a:ln>
            <a:noFill/>
          </a:ln>
          <a:effectLst>
            <a:softEdge rad="31750"/>
          </a:effectLst>
        </p:spPr>
      </p:pic>
      <p:cxnSp>
        <p:nvCxnSpPr>
          <p:cNvPr id="8196" name="直線單箭頭接點 5"/>
          <p:cNvCxnSpPr>
            <a:cxnSpLocks noChangeShapeType="1"/>
          </p:cNvCxnSpPr>
          <p:nvPr/>
        </p:nvCxnSpPr>
        <p:spPr bwMode="auto">
          <a:xfrm flipH="1">
            <a:off x="3352800" y="4495800"/>
            <a:ext cx="838200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7" name="直線單箭頭接點 7"/>
          <p:cNvCxnSpPr>
            <a:cxnSpLocks noChangeShapeType="1"/>
          </p:cNvCxnSpPr>
          <p:nvPr/>
        </p:nvCxnSpPr>
        <p:spPr bwMode="auto">
          <a:xfrm>
            <a:off x="4038600" y="5029200"/>
            <a:ext cx="1295400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8" name="直線單箭頭接點 8"/>
          <p:cNvCxnSpPr>
            <a:cxnSpLocks noChangeShapeType="1"/>
          </p:cNvCxnSpPr>
          <p:nvPr/>
        </p:nvCxnSpPr>
        <p:spPr bwMode="auto">
          <a:xfrm flipH="1">
            <a:off x="5334000" y="4648200"/>
            <a:ext cx="838200" cy="0"/>
          </a:xfrm>
          <a:prstGeom prst="straightConnector1">
            <a:avLst/>
          </a:prstGeom>
          <a:noFill/>
          <a:ln w="38100" algn="ctr">
            <a:solidFill>
              <a:srgbClr val="00CC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99" name="直線單箭頭接點 9"/>
          <p:cNvCxnSpPr>
            <a:cxnSpLocks noChangeShapeType="1"/>
          </p:cNvCxnSpPr>
          <p:nvPr/>
        </p:nvCxnSpPr>
        <p:spPr bwMode="auto">
          <a:xfrm>
            <a:off x="5867400" y="4876800"/>
            <a:ext cx="1295400" cy="0"/>
          </a:xfrm>
          <a:prstGeom prst="straightConnector1">
            <a:avLst/>
          </a:prstGeom>
          <a:noFill/>
          <a:ln w="38100" algn="ctr">
            <a:solidFill>
              <a:srgbClr val="00CC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11450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390" name="Rectangle 7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1639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8" y="3865564"/>
            <a:ext cx="8272462" cy="299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36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Wide Area Network</a:t>
            </a:r>
            <a:br>
              <a:rPr lang="en-US" altLang="en-US" sz="36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sz="3600" b="1" i="1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6395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09800" y="879475"/>
            <a:ext cx="8229600" cy="4256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WAN can span a large geographic areas that may comprise </a:t>
            </a:r>
            <a:r>
              <a:rPr lang="en-US" altLang="zh-TW" sz="24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town</a:t>
            </a:r>
            <a:r>
              <a:rPr lang="en-US" altLang="zh-TW" sz="24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zh-TW" sz="24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country</a:t>
            </a:r>
            <a:r>
              <a:rPr lang="en-US" altLang="zh-TW" sz="2400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zh-TW" sz="24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continent</a:t>
            </a:r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or even the </a:t>
            </a:r>
            <a:r>
              <a:rPr lang="en-US" altLang="zh-TW" sz="24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whole world</a:t>
            </a:r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.</a:t>
            </a:r>
          </a:p>
          <a:p>
            <a:pPr eaLnBrk="1" hangingPunct="1"/>
            <a:r>
              <a:rPr lang="en-US" altLang="zh-TW" sz="24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A WAN can be </a:t>
            </a:r>
          </a:p>
          <a:p>
            <a:pPr lvl="1" eaLnBrk="1" hangingPunct="1"/>
            <a:r>
              <a:rPr lang="en-US" altLang="zh-TW" sz="20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Switched WAN</a:t>
            </a: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:</a:t>
            </a:r>
            <a:r>
              <a:rPr lang="zh-TW" altLang="en-US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Backbone that connects </a:t>
            </a:r>
            <a:r>
              <a:rPr lang="en-US" altLang="zh-TW" sz="2000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Internet</a:t>
            </a: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or</a:t>
            </a:r>
          </a:p>
          <a:p>
            <a:pPr lvl="1" eaLnBrk="1" hangingPunct="1"/>
            <a:r>
              <a:rPr lang="en-US" altLang="zh-TW" sz="2000" b="1" dirty="0">
                <a:solidFill>
                  <a:srgbClr val="FFFF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Point-to-point WAN</a:t>
            </a: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: A dial-up line that connects a home computer to Internet.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5784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Wide Area Network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3795" y="1732449"/>
            <a:ext cx="9709381" cy="4058751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WAN interconnects connecting devices such as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routers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,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switches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and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modem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.</a:t>
            </a:r>
          </a:p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WAN is normally created and run by communication companies and leased by an organization that uses it. </a:t>
            </a:r>
          </a:p>
          <a:p>
            <a:endParaRPr lang="zh-TW" altLang="en-US" sz="32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750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3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Two forms of </a:t>
            </a:r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WANs</a:t>
            </a:r>
            <a:br>
              <a:rPr lang="en-US" altLang="zh-TW" sz="3600" i="1" dirty="0">
                <a:ea typeface="新細明體" panose="02020500000000000000" pitchFamily="18" charset="-120"/>
              </a:rPr>
            </a:br>
            <a:endParaRPr lang="zh-TW" altLang="en-US" sz="3600" dirty="0">
              <a:ea typeface="新細明體" panose="02020500000000000000" pitchFamily="18" charset="-120"/>
            </a:endParaRPr>
          </a:p>
        </p:txBody>
      </p:sp>
      <p:sp>
        <p:nvSpPr>
          <p:cNvPr id="12291" name="內容版面配置區 14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The simplest: A point-to-point WAN</a:t>
            </a:r>
          </a:p>
          <a:p>
            <a:pPr lvl="1"/>
            <a:r>
              <a:rPr lang="en-US" altLang="zh-TW" sz="28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network that connects two devices through a transmission media.</a:t>
            </a:r>
            <a:endParaRPr lang="zh-TW" altLang="en-US" sz="28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2292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b="0">
                <a:latin typeface="Tahoma" panose="020B0604030504040204" pitchFamily="34" charset="0"/>
              </a:rPr>
              <a:t>1.</a:t>
            </a:r>
            <a:fld id="{5B6DAA2C-DF51-4716-BBFC-FCB8AF0729E2}" type="slidenum">
              <a:rPr lang="en-US" altLang="zh-TW" b="0" smtClean="0">
                <a:latin typeface="Tahoma" panose="020B0604030504040204" pitchFamily="34" charset="0"/>
              </a:rPr>
              <a:pPr algn="l"/>
              <a:t>10</a:t>
            </a:fld>
            <a:endParaRPr lang="en-US" altLang="zh-TW" b="0">
              <a:latin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530" y="3761824"/>
            <a:ext cx="7654925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530" y="5082382"/>
            <a:ext cx="31115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6606055" y="5181600"/>
            <a:ext cx="3200400" cy="46196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i="1" dirty="0">
                <a:solidFill>
                  <a:schemeClr val="tx2"/>
                </a:solidFill>
                <a:ea typeface="新細明體" pitchFamily="18" charset="-120"/>
              </a:rPr>
              <a:t>A point-to-point WAN</a:t>
            </a:r>
            <a:endParaRPr lang="zh-TW" altLang="en-US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627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39" name="Rectangle 8"/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40" name="Rectangle 9"/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kumimoji="1" lang="zh-TW" altLang="en-US" sz="2400" b="0"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844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6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 to point WAN</a:t>
            </a:r>
            <a:endParaRPr lang="zh-TW" altLang="en-US" sz="3600" b="1" i="1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8442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09800" y="1052513"/>
            <a:ext cx="8229600" cy="4083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TW" sz="28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Normally  a line leased from a telephone or cable TV provider that connect home computer or a small LAN to an Internet service provider (ISP).</a:t>
            </a:r>
          </a:p>
        </p:txBody>
      </p:sp>
      <p:pic>
        <p:nvPicPr>
          <p:cNvPr id="1844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4" y="3429000"/>
            <a:ext cx="7545387" cy="156210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59938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3"/>
          <p:cNvSpPr>
            <a:spLocks noGrp="1"/>
          </p:cNvSpPr>
          <p:nvPr>
            <p:ph type="title"/>
          </p:nvPr>
        </p:nvSpPr>
        <p:spPr bwMode="auto">
          <a:xfrm>
            <a:off x="1290918" y="274638"/>
            <a:ext cx="8919882" cy="868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Two forms of WANs</a:t>
            </a:r>
            <a:br>
              <a:rPr lang="en-US" altLang="zh-TW" i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</a:b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4339" name="內容版面配置區 14"/>
          <p:cNvSpPr>
            <a:spLocks noGrp="1"/>
          </p:cNvSpPr>
          <p:nvPr>
            <p:ph idx="1"/>
          </p:nvPr>
        </p:nvSpPr>
        <p:spPr bwMode="auto">
          <a:xfrm>
            <a:off x="1290918" y="1143001"/>
            <a:ext cx="8919882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switched WAN</a:t>
            </a:r>
          </a:p>
          <a:p>
            <a:pPr lvl="1"/>
            <a:r>
              <a:rPr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Is used in the </a:t>
            </a:r>
            <a:r>
              <a:rPr lang="en-US" altLang="zh-TW" sz="2800" b="1" u="sng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backbone</a:t>
            </a:r>
            <a:r>
              <a:rPr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of global communication today.</a:t>
            </a:r>
          </a:p>
          <a:p>
            <a:pPr lvl="1"/>
            <a:r>
              <a:rPr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Several point-to-point WANs that are connected by </a:t>
            </a:r>
            <a:r>
              <a:rPr lang="en-US" altLang="zh-TW" sz="28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switches</a:t>
            </a:r>
            <a:endParaRPr lang="zh-TW" altLang="en-US" sz="2800" b="1" dirty="0">
              <a:solidFill>
                <a:srgbClr val="FFFF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4340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r>
              <a:rPr lang="en-US" altLang="zh-TW" b="0">
                <a:latin typeface="Tahoma" panose="020B0604030504040204" pitchFamily="34" charset="0"/>
              </a:rPr>
              <a:t>1.</a:t>
            </a:r>
            <a:fld id="{1F5FC7DA-3429-4C09-A88A-0E97EB39CAFF}" type="slidenum">
              <a:rPr lang="en-US" altLang="zh-TW" b="0" smtClean="0">
                <a:latin typeface="Tahoma" panose="020B0604030504040204" pitchFamily="34" charset="0"/>
              </a:rPr>
              <a:pPr algn="l"/>
              <a:t>12</a:t>
            </a:fld>
            <a:endParaRPr lang="en-US" altLang="zh-TW" b="0">
              <a:latin typeface="Tahoma" panose="020B0604030504040204" pitchFamily="34" charset="0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803" y="3863975"/>
            <a:ext cx="5544350" cy="2778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262" y="4549216"/>
            <a:ext cx="239553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7772400" y="3863975"/>
            <a:ext cx="2438400" cy="461963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i="1" dirty="0">
                <a:solidFill>
                  <a:schemeClr val="tx2"/>
                </a:solidFill>
                <a:ea typeface="新細明體" pitchFamily="18" charset="-120"/>
              </a:rPr>
              <a:t>A switched WAN </a:t>
            </a:r>
            <a:endParaRPr lang="zh-TW" altLang="en-US" sz="24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57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 bwMode="auto">
          <a:xfrm>
            <a:off x="1864659" y="154735"/>
            <a:ext cx="9644946" cy="9133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Put together: An internet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1267" name="內容版面配置區 2"/>
          <p:cNvSpPr>
            <a:spLocks noGrp="1"/>
          </p:cNvSpPr>
          <p:nvPr>
            <p:ph idx="1"/>
          </p:nvPr>
        </p:nvSpPr>
        <p:spPr bwMode="auto">
          <a:xfrm>
            <a:off x="1864659" y="1068108"/>
            <a:ext cx="8229600" cy="4525963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An internet is </a:t>
            </a:r>
            <a:r>
              <a:rPr lang="en-US" altLang="zh-TW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switched network </a:t>
            </a:r>
            <a:r>
              <a:rPr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 which a switch connects at least two links together.</a:t>
            </a:r>
            <a:endParaRPr lang="zh-TW" altLang="en-US" sz="28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1" y="5282543"/>
            <a:ext cx="2720975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4215744"/>
            <a:ext cx="19589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453744"/>
            <a:ext cx="14478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1" y="4520543"/>
            <a:ext cx="1781175" cy="130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463143"/>
            <a:ext cx="8461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767944"/>
            <a:ext cx="4383088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776" y="2278993"/>
            <a:ext cx="2773363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線單箭頭接點 10"/>
          <p:cNvCxnSpPr/>
          <p:nvPr/>
        </p:nvCxnSpPr>
        <p:spPr>
          <a:xfrm flipH="1" flipV="1">
            <a:off x="8237538" y="5910747"/>
            <a:ext cx="473914" cy="426744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 flipV="1">
            <a:off x="6082835" y="6166331"/>
            <a:ext cx="2653365" cy="217925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8794377" y="6153423"/>
            <a:ext cx="3198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Broadcasting Network</a:t>
            </a:r>
            <a:endParaRPr lang="zh-TW" altLang="en-US" sz="2400" dirty="0">
              <a:solidFill>
                <a:srgbClr val="FFFF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7405500" y="3204321"/>
            <a:ext cx="1814699" cy="1497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>
            <a:off x="4569356" y="3382167"/>
            <a:ext cx="4650843" cy="139097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9237617" y="2733444"/>
            <a:ext cx="1503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Switching</a:t>
            </a:r>
          </a:p>
          <a:p>
            <a:r>
              <a:rPr lang="en-US" altLang="zh-TW" sz="24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Network</a:t>
            </a:r>
            <a:endParaRPr lang="zh-TW" altLang="en-US" sz="2400" dirty="0">
              <a:solidFill>
                <a:srgbClr val="FFFF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cxnSp>
        <p:nvCxnSpPr>
          <p:cNvPr id="33" name="直線單箭頭接點 32"/>
          <p:cNvCxnSpPr/>
          <p:nvPr/>
        </p:nvCxnSpPr>
        <p:spPr>
          <a:xfrm flipH="1">
            <a:off x="8716591" y="3483906"/>
            <a:ext cx="521026" cy="67562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25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Switching Network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82" y="3747426"/>
            <a:ext cx="6266890" cy="272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4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98891" y="525351"/>
            <a:ext cx="4843203" cy="1054699"/>
          </a:xfrm>
          <a:solidFill>
            <a:srgbClr val="7030A0"/>
          </a:solidFill>
        </p:spPr>
        <p:txBody>
          <a:bodyPr/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Switching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3795" y="1732449"/>
            <a:ext cx="9807993" cy="4058751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Any type signal or data element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directing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or Switching toward a particular hardware address or hardware pieces.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525351"/>
            <a:ext cx="1585097" cy="10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22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Example (1): Circuit switching network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590" y="1732449"/>
            <a:ext cx="6076950" cy="4562475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 flipH="1">
            <a:off x="5961529" y="2967318"/>
            <a:ext cx="1757083" cy="233082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 flipH="1">
            <a:off x="6651812" y="3119718"/>
            <a:ext cx="1219201" cy="76200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7792550" y="2738735"/>
            <a:ext cx="2069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Call switching</a:t>
            </a:r>
            <a:endParaRPr lang="zh-TW" altLang="en-US" sz="2400" b="1" dirty="0">
              <a:solidFill>
                <a:srgbClr val="FF00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3295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Example (2): Packet switching network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816" y="2654392"/>
            <a:ext cx="8391585" cy="2706501"/>
          </a:xfrm>
          <a:prstGeom prst="rect">
            <a:avLst/>
          </a:prstGeom>
        </p:spPr>
      </p:pic>
      <p:cxnSp>
        <p:nvCxnSpPr>
          <p:cNvPr id="5" name="直線單箭頭接點 4"/>
          <p:cNvCxnSpPr/>
          <p:nvPr/>
        </p:nvCxnSpPr>
        <p:spPr>
          <a:xfrm flipH="1">
            <a:off x="4957482" y="3119718"/>
            <a:ext cx="593892" cy="374286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6911788" y="3119718"/>
            <a:ext cx="528918" cy="374286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5100158" y="2658053"/>
            <a:ext cx="2444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packet switching</a:t>
            </a:r>
            <a:endParaRPr lang="zh-TW" altLang="en-US" sz="2400" b="1" dirty="0">
              <a:solidFill>
                <a:srgbClr val="FF00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6848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Network Switch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9459" name="內容版面配置區 2"/>
          <p:cNvSpPr>
            <a:spLocks noGrp="1"/>
          </p:cNvSpPr>
          <p:nvPr>
            <p:ph idx="1"/>
          </p:nvPr>
        </p:nvSpPr>
        <p:spPr bwMode="auto">
          <a:xfrm>
            <a:off x="837239" y="1417220"/>
            <a:ext cx="11178678" cy="40587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switch needs to </a:t>
            </a:r>
            <a:r>
              <a:rPr lang="en-US" altLang="zh-TW" sz="36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forward</a:t>
            </a:r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data from a </a:t>
            </a:r>
            <a:r>
              <a:rPr lang="en-US" altLang="zh-TW" sz="36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link</a:t>
            </a:r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to another </a:t>
            </a:r>
            <a:r>
              <a:rPr lang="en-US" altLang="zh-TW" sz="36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link</a:t>
            </a:r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so that the data is closer to destination.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423" y="2847975"/>
            <a:ext cx="853440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70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74260" y="609600"/>
            <a:ext cx="6096000" cy="970450"/>
          </a:xfrm>
          <a:solidFill>
            <a:srgbClr val="7030A0"/>
          </a:solidFill>
        </p:spPr>
        <p:txBody>
          <a:bodyPr/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Switching network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network that connects switches to direct signal or data from one end point to another end point attached to the network. </a:t>
            </a:r>
            <a:endParaRPr lang="zh-TW" altLang="en-US" sz="36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79" y="609599"/>
            <a:ext cx="1458481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99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Two types of switching networks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sz="36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Circuit</a:t>
            </a:r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-switched network</a:t>
            </a:r>
          </a:p>
          <a:p>
            <a:pPr lvl="1"/>
            <a:r>
              <a:rPr lang="en-US" altLang="zh-TW" sz="36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Packet</a:t>
            </a:r>
            <a:r>
              <a:rPr lang="en-US" altLang="zh-TW" sz="36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-switched network</a:t>
            </a:r>
            <a:endParaRPr lang="zh-TW" altLang="en-US" sz="36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endParaRPr lang="zh-TW" altLang="en-US" sz="32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4198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74260" y="609600"/>
            <a:ext cx="7144869" cy="970450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Circuit-switched network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dedicated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connection called a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circuit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is always available between the two end systems.</a:t>
            </a:r>
          </a:p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Switches can setup a circuit between a pair of users or inactivate it.</a:t>
            </a:r>
          </a:p>
          <a:p>
            <a:endParaRPr lang="zh-TW" altLang="en-US" sz="32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79" y="609599"/>
            <a:ext cx="1458481" cy="970451"/>
          </a:xfrm>
          <a:prstGeom prst="rect">
            <a:avLst/>
          </a:prstGeom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932" y="4343400"/>
            <a:ext cx="253365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557" y="5438775"/>
            <a:ext cx="357187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07" y="4267200"/>
            <a:ext cx="2435225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532" y="5791200"/>
            <a:ext cx="25225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7"/>
          <p:cNvSpPr txBox="1">
            <a:spLocks noChangeArrowheads="1"/>
          </p:cNvSpPr>
          <p:nvPr/>
        </p:nvSpPr>
        <p:spPr bwMode="auto">
          <a:xfrm>
            <a:off x="4141670" y="4709147"/>
            <a:ext cx="2818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FFFF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The capacity is shared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FFFF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by 4 phones.</a:t>
            </a:r>
            <a:endParaRPr lang="zh-TW" altLang="en-US" dirty="0">
              <a:solidFill>
                <a:srgbClr val="FFFF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055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20471" y="609600"/>
            <a:ext cx="6687670" cy="970450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Packet-switched network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3794" y="1732449"/>
            <a:ext cx="11038719" cy="4058751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Communication between two ends is done in blocks of </a:t>
            </a:r>
            <a:r>
              <a:rPr lang="en-US" altLang="zh-TW" sz="32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data</a:t>
            </a:r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called </a:t>
            </a:r>
            <a:r>
              <a:rPr lang="en-US" altLang="zh-TW" sz="32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packets</a:t>
            </a:r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.</a:t>
            </a:r>
          </a:p>
          <a:p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packet is </a:t>
            </a:r>
            <a:r>
              <a:rPr lang="en-US" altLang="zh-TW" sz="32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stored</a:t>
            </a:r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2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and forwarded </a:t>
            </a:r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 each switch.</a:t>
            </a:r>
          </a:p>
          <a:p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 packet is an entity that can be </a:t>
            </a:r>
            <a:r>
              <a:rPr lang="en-US" altLang="zh-TW" sz="3200" b="1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processed independently</a:t>
            </a:r>
            <a:r>
              <a:rPr lang="en-US" altLang="zh-TW" sz="32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.</a:t>
            </a:r>
          </a:p>
          <a:p>
            <a:endParaRPr lang="zh-TW" altLang="en-US" sz="32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01" y="609600"/>
            <a:ext cx="1457070" cy="96934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936" y="4559261"/>
            <a:ext cx="2421442" cy="2083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315" y="4665760"/>
            <a:ext cx="2052592" cy="1806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119" y="5546920"/>
            <a:ext cx="36718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919" y="6118420"/>
            <a:ext cx="2471738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971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20471" y="609600"/>
            <a:ext cx="6687670" cy="970450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Queue</a:t>
            </a:r>
            <a:endParaRPr lang="zh-TW" altLang="en-US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A queue</a:t>
            </a:r>
            <a:r>
              <a:rPr lang="zh-TW" altLang="en-US" sz="36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600" b="1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is a block of memory structured to store packets being transmitted.</a:t>
            </a:r>
          </a:p>
          <a:p>
            <a:endParaRPr lang="zh-TW" altLang="en-US" sz="3600" b="1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01" y="609600"/>
            <a:ext cx="1457070" cy="96934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875" y="4442020"/>
            <a:ext cx="2693988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519" y="4442020"/>
            <a:ext cx="2633663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119" y="5546920"/>
            <a:ext cx="36718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322" y="5943599"/>
            <a:ext cx="2471738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234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Use of a switching network.</a:t>
            </a:r>
            <a:endParaRPr lang="zh-TW" altLang="en-US" sz="4400" dirty="0">
              <a:solidFill>
                <a:srgbClr val="FFFF00"/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1308847" y="1732449"/>
            <a:ext cx="9421906" cy="4058751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In a switching network, switches work together to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find a path 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between end points.</a:t>
            </a:r>
          </a:p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Switching network </a:t>
            </a:r>
            <a:r>
              <a:rPr lang="en-US" altLang="zh-TW" sz="3200" dirty="0">
                <a:solidFill>
                  <a:srgbClr val="FFFF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does not do data broadcasting </a:t>
            </a:r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and is more efficient.</a:t>
            </a:r>
          </a:p>
          <a:p>
            <a:r>
              <a:rPr lang="en-US" altLang="zh-TW" sz="32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All WANs are a switching network.</a:t>
            </a:r>
          </a:p>
          <a:p>
            <a:endParaRPr lang="zh-TW" altLang="en-US" sz="3200" dirty="0"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5802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石板</Template>
  <TotalTime>371</TotalTime>
  <Words>657</Words>
  <Application>Microsoft Office PowerPoint</Application>
  <PresentationFormat>寬螢幕</PresentationFormat>
  <Paragraphs>76</Paragraphs>
  <Slides>24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3" baseType="lpstr">
      <vt:lpstr>Arial Unicode MS</vt:lpstr>
      <vt:lpstr>MS Mincho</vt:lpstr>
      <vt:lpstr>Arial</vt:lpstr>
      <vt:lpstr>Calibri</vt:lpstr>
      <vt:lpstr>Calisto MT</vt:lpstr>
      <vt:lpstr>Tahoma</vt:lpstr>
      <vt:lpstr>Times New Roman</vt:lpstr>
      <vt:lpstr>Wingdings 2</vt:lpstr>
      <vt:lpstr>石板</vt:lpstr>
      <vt:lpstr>PowerPoint 簡報</vt:lpstr>
      <vt:lpstr>PowerPoint 簡報</vt:lpstr>
      <vt:lpstr>Network Types</vt:lpstr>
      <vt:lpstr>Local Area Network </vt:lpstr>
      <vt:lpstr>Local Area Network </vt:lpstr>
      <vt:lpstr>PowerPoint 簡報</vt:lpstr>
      <vt:lpstr>PowerPoint 簡報</vt:lpstr>
      <vt:lpstr>Wide Area Network </vt:lpstr>
      <vt:lpstr>Wide Area Network</vt:lpstr>
      <vt:lpstr>Two forms of WANs </vt:lpstr>
      <vt:lpstr>Point to point WAN</vt:lpstr>
      <vt:lpstr>Two forms of WANs </vt:lpstr>
      <vt:lpstr>Put together: An internet</vt:lpstr>
      <vt:lpstr>Switching Network</vt:lpstr>
      <vt:lpstr>Switching</vt:lpstr>
      <vt:lpstr>Example (1): Circuit switching network</vt:lpstr>
      <vt:lpstr>Example (2): Packet switching network</vt:lpstr>
      <vt:lpstr>Network Switch</vt:lpstr>
      <vt:lpstr>Switching network</vt:lpstr>
      <vt:lpstr>Two types of switching networks</vt:lpstr>
      <vt:lpstr>Circuit-switched network</vt:lpstr>
      <vt:lpstr>Packet-switched network</vt:lpstr>
      <vt:lpstr>Queue</vt:lpstr>
      <vt:lpstr>Use of a switching network.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csdchung</dc:creator>
  <cp:lastModifiedBy>鍾添曜</cp:lastModifiedBy>
  <cp:revision>23</cp:revision>
  <dcterms:created xsi:type="dcterms:W3CDTF">2019-09-09T05:39:08Z</dcterms:created>
  <dcterms:modified xsi:type="dcterms:W3CDTF">2025-09-05T02:31:19Z</dcterms:modified>
</cp:coreProperties>
</file>