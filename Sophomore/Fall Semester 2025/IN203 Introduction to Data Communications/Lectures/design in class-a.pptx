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59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A892-2D6A-4E5F-8E4B-46D132E8CB64}" type="datetimeFigureOut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0867-283D-4036-AB6F-5605B84E4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8805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A892-2D6A-4E5F-8E4B-46D132E8CB64}" type="datetimeFigureOut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0867-283D-4036-AB6F-5605B84E4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8748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A892-2D6A-4E5F-8E4B-46D132E8CB64}" type="datetimeFigureOut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0867-283D-4036-AB6F-5605B84E4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78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A892-2D6A-4E5F-8E4B-46D132E8CB64}" type="datetimeFigureOut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0867-283D-4036-AB6F-5605B84E4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080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A892-2D6A-4E5F-8E4B-46D132E8CB64}" type="datetimeFigureOut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0867-283D-4036-AB6F-5605B84E4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7563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A892-2D6A-4E5F-8E4B-46D132E8CB64}" type="datetimeFigureOut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0867-283D-4036-AB6F-5605B84E4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1757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A892-2D6A-4E5F-8E4B-46D132E8CB64}" type="datetimeFigureOut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0867-283D-4036-AB6F-5605B84E4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3841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A892-2D6A-4E5F-8E4B-46D132E8CB64}" type="datetimeFigureOut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0867-283D-4036-AB6F-5605B84E4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362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A892-2D6A-4E5F-8E4B-46D132E8CB64}" type="datetimeFigureOut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0867-283D-4036-AB6F-5605B84E4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5147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A892-2D6A-4E5F-8E4B-46D132E8CB64}" type="datetimeFigureOut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0867-283D-4036-AB6F-5605B84E4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00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A892-2D6A-4E5F-8E4B-46D132E8CB64}" type="datetimeFigureOut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0867-283D-4036-AB6F-5605B84E4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3755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A892-2D6A-4E5F-8E4B-46D132E8CB64}" type="datetimeFigureOut">
              <a:rPr lang="zh-TW" altLang="en-US" smtClean="0"/>
              <a:t>2024/10/4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E0867-283D-4036-AB6F-5605B84E4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64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Design in class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970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1618" y="24624"/>
            <a:ext cx="10515600" cy="1325563"/>
          </a:xfrm>
        </p:spPr>
        <p:txBody>
          <a:bodyPr/>
          <a:lstStyle/>
          <a:p>
            <a:r>
              <a:rPr lang="en-US" altLang="zh-TW" dirty="0"/>
              <a:t>Network design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5588" y="1136556"/>
            <a:ext cx="714038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We have three subnets, each subnet has devices</a:t>
            </a:r>
          </a:p>
          <a:p>
            <a:pPr lvl="1"/>
            <a:r>
              <a:rPr lang="en-US" altLang="zh-TW" dirty="0"/>
              <a:t>Subnet A: 12 PCs</a:t>
            </a:r>
          </a:p>
          <a:p>
            <a:pPr lvl="1"/>
            <a:r>
              <a:rPr lang="en-US" altLang="zh-TW" dirty="0"/>
              <a:t>Subnet B: 25 PCs</a:t>
            </a:r>
          </a:p>
          <a:p>
            <a:pPr lvl="1"/>
            <a:r>
              <a:rPr lang="en-US" altLang="zh-TW" dirty="0"/>
              <a:t>Subnet C: 56 PCs</a:t>
            </a:r>
          </a:p>
          <a:p>
            <a:r>
              <a:rPr lang="en-US" altLang="zh-TW" dirty="0"/>
              <a:t>The IP addresses for the three subnets must share addresses in the range of 140.138.143.128~140.138.143.255</a:t>
            </a:r>
          </a:p>
          <a:p>
            <a:pPr marL="806450" indent="-447675">
              <a:buFont typeface="+mj-lt"/>
              <a:buAutoNum type="alphaUcPeriod"/>
            </a:pPr>
            <a:r>
              <a:rPr lang="en-US" altLang="zh-TW" dirty="0"/>
              <a:t>Define the mask for each subnet, </a:t>
            </a:r>
          </a:p>
          <a:p>
            <a:pPr marL="806450" indent="-447675">
              <a:buFont typeface="+mj-lt"/>
              <a:buAutoNum type="alphaUcPeriod"/>
            </a:pPr>
            <a:r>
              <a:rPr lang="en-US" altLang="zh-TW" dirty="0"/>
              <a:t>Specify the </a:t>
            </a:r>
            <a:r>
              <a:rPr lang="en-US" altLang="zh-TW" dirty="0" err="1"/>
              <a:t>netID</a:t>
            </a:r>
            <a:r>
              <a:rPr lang="en-US" altLang="zh-TW" dirty="0"/>
              <a:t> for each subnet,</a:t>
            </a:r>
          </a:p>
          <a:p>
            <a:pPr marL="806450" indent="-447675">
              <a:buFont typeface="+mj-lt"/>
              <a:buAutoNum type="alphaUcPeriod"/>
            </a:pPr>
            <a:r>
              <a:rPr lang="en-US" altLang="zh-TW" dirty="0"/>
              <a:t>Give the range of host addresses in each subnet. (</a:t>
            </a:r>
            <a:r>
              <a:rPr lang="zh-TW" altLang="en-US" b="1" dirty="0">
                <a:solidFill>
                  <a:srgbClr val="FF0000"/>
                </a:solidFill>
              </a:rPr>
              <a:t>每區網的</a:t>
            </a:r>
            <a:r>
              <a:rPr lang="en-US" altLang="zh-TW" b="1" dirty="0">
                <a:solidFill>
                  <a:srgbClr val="FF0000"/>
                </a:solidFill>
              </a:rPr>
              <a:t>host@</a:t>
            </a:r>
            <a:r>
              <a:rPr lang="zh-TW" altLang="en-US" b="1" dirty="0">
                <a:solidFill>
                  <a:srgbClr val="FF0000"/>
                </a:solidFill>
              </a:rPr>
              <a:t>不能重疊</a:t>
            </a:r>
            <a:r>
              <a:rPr lang="en-US" altLang="zh-TW" dirty="0"/>
              <a:t>)</a:t>
            </a:r>
          </a:p>
          <a:p>
            <a:pPr marL="806450" indent="-447675">
              <a:buFont typeface="+mj-lt"/>
              <a:buAutoNum type="alphaUcPeriod"/>
            </a:pPr>
            <a:r>
              <a:rPr lang="en-US" altLang="zh-TW" dirty="0"/>
              <a:t>The serving gateway of each subnet</a:t>
            </a:r>
            <a:endParaRPr lang="zh-TW" altLang="en-US" dirty="0"/>
          </a:p>
        </p:txBody>
      </p:sp>
      <p:sp>
        <p:nvSpPr>
          <p:cNvPr id="4" name="流程圖: 或 3"/>
          <p:cNvSpPr/>
          <p:nvPr/>
        </p:nvSpPr>
        <p:spPr>
          <a:xfrm rot="2353077">
            <a:off x="8064269" y="1765869"/>
            <a:ext cx="1004047" cy="1039906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雲朵形 4"/>
          <p:cNvSpPr/>
          <p:nvPr/>
        </p:nvSpPr>
        <p:spPr>
          <a:xfrm>
            <a:off x="8238565" y="250192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A</a:t>
            </a:r>
            <a:endParaRPr lang="zh-TW" altLang="en-US" dirty="0"/>
          </a:p>
        </p:txBody>
      </p:sp>
      <p:sp>
        <p:nvSpPr>
          <p:cNvPr id="6" name="雲朵形 5"/>
          <p:cNvSpPr/>
          <p:nvPr/>
        </p:nvSpPr>
        <p:spPr>
          <a:xfrm>
            <a:off x="9948324" y="1380386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B</a:t>
            </a:r>
            <a:endParaRPr lang="zh-TW" altLang="en-US" dirty="0"/>
          </a:p>
        </p:txBody>
      </p:sp>
      <p:sp>
        <p:nvSpPr>
          <p:cNvPr id="7" name="雲朵形 6"/>
          <p:cNvSpPr/>
          <p:nvPr/>
        </p:nvSpPr>
        <p:spPr>
          <a:xfrm>
            <a:off x="9458798" y="3008447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C</a:t>
            </a:r>
            <a:endParaRPr lang="zh-TW" altLang="en-US" dirty="0"/>
          </a:p>
        </p:txBody>
      </p:sp>
      <p:cxnSp>
        <p:nvCxnSpPr>
          <p:cNvPr id="9" name="直線接點 8"/>
          <p:cNvCxnSpPr>
            <a:stCxn id="4" idx="1"/>
            <a:endCxn id="5" idx="1"/>
          </p:cNvCxnSpPr>
          <p:nvPr/>
        </p:nvCxnSpPr>
        <p:spPr>
          <a:xfrm flipV="1">
            <a:off x="8523732" y="1154664"/>
            <a:ext cx="503727" cy="6218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6" idx="2"/>
            <a:endCxn id="4" idx="7"/>
          </p:cNvCxnSpPr>
          <p:nvPr/>
        </p:nvCxnSpPr>
        <p:spPr>
          <a:xfrm flipH="1">
            <a:off x="9073778" y="1833104"/>
            <a:ext cx="879440" cy="3923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4" idx="6"/>
            <a:endCxn id="7" idx="2"/>
          </p:cNvCxnSpPr>
          <p:nvPr/>
        </p:nvCxnSpPr>
        <p:spPr>
          <a:xfrm>
            <a:off x="8955233" y="2603237"/>
            <a:ext cx="508459" cy="8579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endCxn id="4" idx="3"/>
          </p:cNvCxnSpPr>
          <p:nvPr/>
        </p:nvCxnSpPr>
        <p:spPr>
          <a:xfrm flipV="1">
            <a:off x="7109012" y="2346220"/>
            <a:ext cx="949795" cy="383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665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0106CB-0636-472B-AB36-651421C4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573"/>
            <a:ext cx="10515600" cy="1325563"/>
          </a:xfrm>
        </p:spPr>
        <p:txBody>
          <a:bodyPr/>
          <a:lstStyle/>
          <a:p>
            <a:r>
              <a:rPr lang="en-US" altLang="zh-TW" dirty="0"/>
              <a:t>Both designs can meet the requirement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6BB190B-4768-4FB7-BD76-B33439DAB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074" y="1530557"/>
            <a:ext cx="5181600" cy="4351338"/>
          </a:xfrm>
        </p:spPr>
        <p:txBody>
          <a:bodyPr/>
          <a:lstStyle/>
          <a:p>
            <a:r>
              <a:rPr lang="en-US" altLang="zh-TW" dirty="0"/>
              <a:t>Design 1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215C7FDF-850D-4BC2-BBC7-8076F8F0C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9233" y="1530557"/>
            <a:ext cx="5181600" cy="4351338"/>
          </a:xfrm>
        </p:spPr>
        <p:txBody>
          <a:bodyPr/>
          <a:lstStyle/>
          <a:p>
            <a:r>
              <a:rPr lang="en-US" altLang="zh-TW" dirty="0"/>
              <a:t>Design 2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097240-D550-4591-879D-7CBFB6002BDE}"/>
              </a:ext>
            </a:extLst>
          </p:cNvPr>
          <p:cNvSpPr/>
          <p:nvPr/>
        </p:nvSpPr>
        <p:spPr>
          <a:xfrm>
            <a:off x="6820994" y="4865922"/>
            <a:ext cx="1445623" cy="14390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64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342700-A440-48F0-881A-E7D127BD4350}"/>
              </a:ext>
            </a:extLst>
          </p:cNvPr>
          <p:cNvSpPr/>
          <p:nvPr/>
        </p:nvSpPr>
        <p:spPr>
          <a:xfrm>
            <a:off x="8292743" y="5582202"/>
            <a:ext cx="1608913" cy="7228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32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67B9B4-5FD2-453A-9CC9-5749FD9F7F39}"/>
              </a:ext>
            </a:extLst>
          </p:cNvPr>
          <p:cNvSpPr/>
          <p:nvPr/>
        </p:nvSpPr>
        <p:spPr>
          <a:xfrm>
            <a:off x="9901656" y="5582202"/>
            <a:ext cx="1428205" cy="72281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32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F2E54B-7DA2-4975-92FB-E7F8E184A92B}"/>
              </a:ext>
            </a:extLst>
          </p:cNvPr>
          <p:cNvSpPr/>
          <p:nvPr/>
        </p:nvSpPr>
        <p:spPr>
          <a:xfrm>
            <a:off x="1062446" y="4865924"/>
            <a:ext cx="1428205" cy="14390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64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1B99CF-BC60-4ECB-9483-CE337EDC974C}"/>
              </a:ext>
            </a:extLst>
          </p:cNvPr>
          <p:cNvSpPr/>
          <p:nvPr/>
        </p:nvSpPr>
        <p:spPr>
          <a:xfrm>
            <a:off x="2490650" y="5582204"/>
            <a:ext cx="1428205" cy="72281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32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BDE150-A788-48B1-B3CF-E32C0AA1DC59}"/>
              </a:ext>
            </a:extLst>
          </p:cNvPr>
          <p:cNvSpPr/>
          <p:nvPr/>
        </p:nvSpPr>
        <p:spPr>
          <a:xfrm>
            <a:off x="3918855" y="5935683"/>
            <a:ext cx="1428204" cy="36933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16</a:t>
            </a:r>
            <a:endParaRPr lang="zh-TW" altLang="en-US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1E51746C-FE4E-45B6-A421-7D97ED90271F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776549" y="3429000"/>
            <a:ext cx="0" cy="1436924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B8A4DFE-3150-47CB-91E3-7EC94FD1056A}"/>
              </a:ext>
            </a:extLst>
          </p:cNvPr>
          <p:cNvCxnSpPr>
            <a:cxnSpLocks/>
          </p:cNvCxnSpPr>
          <p:nvPr/>
        </p:nvCxnSpPr>
        <p:spPr>
          <a:xfrm>
            <a:off x="1776549" y="3429000"/>
            <a:ext cx="214230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2A4BD8EF-0363-47DF-99C4-8DC5DEAECCC3}"/>
              </a:ext>
            </a:extLst>
          </p:cNvPr>
          <p:cNvCxnSpPr>
            <a:cxnSpLocks/>
          </p:cNvCxnSpPr>
          <p:nvPr/>
        </p:nvCxnSpPr>
        <p:spPr>
          <a:xfrm>
            <a:off x="3918855" y="3429001"/>
            <a:ext cx="0" cy="1436922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9B53FAB-9BA8-4A2D-BA28-28EA08BC7348}"/>
              </a:ext>
            </a:extLst>
          </p:cNvPr>
          <p:cNvCxnSpPr>
            <a:cxnSpLocks/>
          </p:cNvCxnSpPr>
          <p:nvPr/>
        </p:nvCxnSpPr>
        <p:spPr>
          <a:xfrm>
            <a:off x="3209109" y="4865922"/>
            <a:ext cx="0" cy="72934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81955BB1-8472-452F-99E2-E9FB992FCB99}"/>
              </a:ext>
            </a:extLst>
          </p:cNvPr>
          <p:cNvCxnSpPr>
            <a:cxnSpLocks/>
          </p:cNvCxnSpPr>
          <p:nvPr/>
        </p:nvCxnSpPr>
        <p:spPr>
          <a:xfrm>
            <a:off x="5347059" y="4865922"/>
            <a:ext cx="0" cy="72934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9934BE83-968C-4B72-BBB5-91C5C2850919}"/>
              </a:ext>
            </a:extLst>
          </p:cNvPr>
          <p:cNvCxnSpPr>
            <a:cxnSpLocks/>
          </p:cNvCxnSpPr>
          <p:nvPr/>
        </p:nvCxnSpPr>
        <p:spPr>
          <a:xfrm flipH="1">
            <a:off x="3209109" y="4865922"/>
            <a:ext cx="213795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D66E90D1-EF25-4B59-B5EE-57B237435CDF}"/>
              </a:ext>
            </a:extLst>
          </p:cNvPr>
          <p:cNvCxnSpPr>
            <a:cxnSpLocks/>
          </p:cNvCxnSpPr>
          <p:nvPr/>
        </p:nvCxnSpPr>
        <p:spPr>
          <a:xfrm>
            <a:off x="2865118" y="2725783"/>
            <a:ext cx="0" cy="703217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8A46D6F6-EF38-403C-A8BF-BA1225CE7263}"/>
              </a:ext>
            </a:extLst>
          </p:cNvPr>
          <p:cNvCxnSpPr>
            <a:cxnSpLocks/>
          </p:cNvCxnSpPr>
          <p:nvPr/>
        </p:nvCxnSpPr>
        <p:spPr>
          <a:xfrm>
            <a:off x="4632957" y="5595267"/>
            <a:ext cx="4355" cy="353789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DDD55F47-7D51-4BD5-AFE1-F00F6E39C83C}"/>
              </a:ext>
            </a:extLst>
          </p:cNvPr>
          <p:cNvCxnSpPr>
            <a:cxnSpLocks/>
          </p:cNvCxnSpPr>
          <p:nvPr/>
        </p:nvCxnSpPr>
        <p:spPr>
          <a:xfrm flipH="1">
            <a:off x="4632957" y="5595267"/>
            <a:ext cx="1044209" cy="0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7C7DFD25-1983-4FA2-82FA-32CC6ED555EC}"/>
              </a:ext>
            </a:extLst>
          </p:cNvPr>
          <p:cNvSpPr txBox="1"/>
          <p:nvPr/>
        </p:nvSpPr>
        <p:spPr>
          <a:xfrm>
            <a:off x="4327898" y="5641129"/>
            <a:ext cx="84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      </a:t>
            </a: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FECCF098-AADD-4A01-A1E7-4E359BBD7855}"/>
              </a:ext>
            </a:extLst>
          </p:cNvPr>
          <p:cNvSpPr txBox="1"/>
          <p:nvPr/>
        </p:nvSpPr>
        <p:spPr>
          <a:xfrm>
            <a:off x="1418409" y="2107895"/>
            <a:ext cx="44043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140.138.143.128 or </a:t>
            </a:r>
          </a:p>
          <a:p>
            <a:r>
              <a:rPr lang="en-US" altLang="zh-TW" dirty="0"/>
              <a:t>140.138.143.1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en-US" altLang="zh-TW" dirty="0"/>
              <a:t>000000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2C91DE5D-23F7-4702-8AEC-6D7727E4B195}"/>
              </a:ext>
            </a:extLst>
          </p:cNvPr>
          <p:cNvSpPr txBox="1"/>
          <p:nvPr/>
        </p:nvSpPr>
        <p:spPr>
          <a:xfrm>
            <a:off x="1695023" y="3645088"/>
            <a:ext cx="1245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u="sng" dirty="0"/>
              <a:t>1</a:t>
            </a:r>
            <a:r>
              <a:rPr lang="en-US" altLang="zh-TW" u="sng" dirty="0">
                <a:solidFill>
                  <a:srgbClr val="FF0000"/>
                </a:solidFill>
              </a:rPr>
              <a:t>0</a:t>
            </a:r>
            <a:r>
              <a:rPr lang="en-US" altLang="zh-TW" dirty="0">
                <a:solidFill>
                  <a:srgbClr val="0000FF"/>
                </a:solidFill>
              </a:rPr>
              <a:t>000000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7239CADB-ACDE-460E-A6AB-E7A3CD7AF78A}"/>
              </a:ext>
            </a:extLst>
          </p:cNvPr>
          <p:cNvSpPr txBox="1"/>
          <p:nvPr/>
        </p:nvSpPr>
        <p:spPr>
          <a:xfrm>
            <a:off x="3888169" y="3590203"/>
            <a:ext cx="1245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en-US" altLang="zh-TW" dirty="0"/>
              <a:t>000000</a:t>
            </a:r>
            <a:endParaRPr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935C3EBD-6501-4306-9E32-139BB98559D9}"/>
              </a:ext>
            </a:extLst>
          </p:cNvPr>
          <p:cNvSpPr txBox="1"/>
          <p:nvPr/>
        </p:nvSpPr>
        <p:spPr>
          <a:xfrm>
            <a:off x="3209109" y="4907429"/>
            <a:ext cx="1245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u="sng" dirty="0"/>
              <a:t>1</a:t>
            </a:r>
            <a:r>
              <a:rPr lang="en-US" altLang="zh-TW" u="sng" dirty="0">
                <a:solidFill>
                  <a:srgbClr val="FF0000"/>
                </a:solidFill>
              </a:rPr>
              <a:t>1</a:t>
            </a:r>
            <a:r>
              <a:rPr lang="en-US" altLang="zh-TW" u="sng" dirty="0">
                <a:solidFill>
                  <a:srgbClr val="00B050"/>
                </a:solidFill>
              </a:rPr>
              <a:t>0</a:t>
            </a:r>
            <a:r>
              <a:rPr lang="en-US" altLang="zh-TW" dirty="0">
                <a:solidFill>
                  <a:srgbClr val="0000FF"/>
                </a:solidFill>
              </a:rPr>
              <a:t>00000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D3A02FD-D8B5-4366-AD5A-32B40FC9C5F1}"/>
              </a:ext>
            </a:extLst>
          </p:cNvPr>
          <p:cNvSpPr txBox="1"/>
          <p:nvPr/>
        </p:nvSpPr>
        <p:spPr>
          <a:xfrm>
            <a:off x="5280223" y="4899192"/>
            <a:ext cx="1245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en-US" altLang="zh-TW" dirty="0"/>
              <a:t>00000</a:t>
            </a:r>
            <a:endParaRPr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07C6D04F-9BF4-4B02-A93A-F233AE2DBA54}"/>
              </a:ext>
            </a:extLst>
          </p:cNvPr>
          <p:cNvSpPr txBox="1"/>
          <p:nvPr/>
        </p:nvSpPr>
        <p:spPr>
          <a:xfrm>
            <a:off x="4601830" y="5537282"/>
            <a:ext cx="1245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u="sng" dirty="0"/>
              <a:t>1</a:t>
            </a:r>
            <a:r>
              <a:rPr lang="en-US" altLang="zh-TW" u="sng" dirty="0">
                <a:solidFill>
                  <a:srgbClr val="FF0000"/>
                </a:solidFill>
              </a:rPr>
              <a:t>1</a:t>
            </a:r>
            <a:r>
              <a:rPr lang="en-US" altLang="zh-TW" u="sng" dirty="0">
                <a:solidFill>
                  <a:srgbClr val="00B050"/>
                </a:solidFill>
              </a:rPr>
              <a:t>1</a:t>
            </a:r>
            <a:r>
              <a:rPr lang="en-US" altLang="zh-TW" u="sng" dirty="0"/>
              <a:t>0</a:t>
            </a:r>
            <a:r>
              <a:rPr lang="en-US" altLang="zh-TW" dirty="0">
                <a:solidFill>
                  <a:srgbClr val="0000FF"/>
                </a:solidFill>
              </a:rPr>
              <a:t>0000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FFF91B37-38BF-4D7C-8CC2-643F007C7971}"/>
              </a:ext>
            </a:extLst>
          </p:cNvPr>
          <p:cNvCxnSpPr>
            <a:cxnSpLocks/>
          </p:cNvCxnSpPr>
          <p:nvPr/>
        </p:nvCxnSpPr>
        <p:spPr>
          <a:xfrm>
            <a:off x="7545984" y="3442059"/>
            <a:ext cx="0" cy="1436924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A5504184-D303-44A7-87AA-7B7CE787BF36}"/>
              </a:ext>
            </a:extLst>
          </p:cNvPr>
          <p:cNvCxnSpPr>
            <a:cxnSpLocks/>
          </p:cNvCxnSpPr>
          <p:nvPr/>
        </p:nvCxnSpPr>
        <p:spPr>
          <a:xfrm>
            <a:off x="7545984" y="3442059"/>
            <a:ext cx="214230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8D325157-4E0F-42E6-85DE-73CC31A89134}"/>
              </a:ext>
            </a:extLst>
          </p:cNvPr>
          <p:cNvCxnSpPr>
            <a:cxnSpLocks/>
          </p:cNvCxnSpPr>
          <p:nvPr/>
        </p:nvCxnSpPr>
        <p:spPr>
          <a:xfrm>
            <a:off x="9688290" y="3442060"/>
            <a:ext cx="0" cy="1436922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FB5E1064-678A-4498-9668-71D38B356550}"/>
              </a:ext>
            </a:extLst>
          </p:cNvPr>
          <p:cNvCxnSpPr>
            <a:cxnSpLocks/>
          </p:cNvCxnSpPr>
          <p:nvPr/>
        </p:nvCxnSpPr>
        <p:spPr>
          <a:xfrm>
            <a:off x="8978544" y="4878981"/>
            <a:ext cx="0" cy="72934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6EA780EC-D333-4BB3-B273-DFE369667521}"/>
              </a:ext>
            </a:extLst>
          </p:cNvPr>
          <p:cNvCxnSpPr>
            <a:cxnSpLocks/>
          </p:cNvCxnSpPr>
          <p:nvPr/>
        </p:nvCxnSpPr>
        <p:spPr>
          <a:xfrm>
            <a:off x="10450286" y="4852857"/>
            <a:ext cx="0" cy="72934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C2A3B731-01A0-4924-B322-0F1ECF59D71F}"/>
              </a:ext>
            </a:extLst>
          </p:cNvPr>
          <p:cNvCxnSpPr>
            <a:cxnSpLocks/>
          </p:cNvCxnSpPr>
          <p:nvPr/>
        </p:nvCxnSpPr>
        <p:spPr>
          <a:xfrm flipH="1">
            <a:off x="8978544" y="4865922"/>
            <a:ext cx="1471742" cy="1305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65EA48D4-9AEA-427A-B7FB-959D5838F478}"/>
              </a:ext>
            </a:extLst>
          </p:cNvPr>
          <p:cNvCxnSpPr>
            <a:cxnSpLocks/>
          </p:cNvCxnSpPr>
          <p:nvPr/>
        </p:nvCxnSpPr>
        <p:spPr>
          <a:xfrm>
            <a:off x="8634553" y="2738842"/>
            <a:ext cx="0" cy="703217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74CDE738-7F96-4843-9AF3-E99D8CD230B5}"/>
              </a:ext>
            </a:extLst>
          </p:cNvPr>
          <p:cNvSpPr txBox="1"/>
          <p:nvPr/>
        </p:nvSpPr>
        <p:spPr>
          <a:xfrm>
            <a:off x="7187844" y="2120954"/>
            <a:ext cx="44043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140.138.143.128 or </a:t>
            </a:r>
          </a:p>
          <a:p>
            <a:r>
              <a:rPr lang="en-US" altLang="zh-TW" dirty="0"/>
              <a:t>140.138.143.1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en-US" altLang="zh-TW" dirty="0"/>
              <a:t>000000</a:t>
            </a:r>
            <a:endParaRPr lang="zh-TW" altLang="en-US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8D389A75-3777-47D8-B1FE-EA8B2FA70137}"/>
              </a:ext>
            </a:extLst>
          </p:cNvPr>
          <p:cNvSpPr txBox="1"/>
          <p:nvPr/>
        </p:nvSpPr>
        <p:spPr>
          <a:xfrm>
            <a:off x="7464458" y="3658147"/>
            <a:ext cx="1245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u="sng" dirty="0"/>
              <a:t>1</a:t>
            </a:r>
            <a:r>
              <a:rPr lang="en-US" altLang="zh-TW" u="sng" dirty="0">
                <a:solidFill>
                  <a:srgbClr val="FF0000"/>
                </a:solidFill>
              </a:rPr>
              <a:t>0</a:t>
            </a:r>
            <a:r>
              <a:rPr lang="en-US" altLang="zh-TW" dirty="0">
                <a:solidFill>
                  <a:srgbClr val="0000FF"/>
                </a:solidFill>
              </a:rPr>
              <a:t>000000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2531D15F-525F-4CE4-8D7C-B239A2AFFDA3}"/>
              </a:ext>
            </a:extLst>
          </p:cNvPr>
          <p:cNvSpPr txBox="1"/>
          <p:nvPr/>
        </p:nvSpPr>
        <p:spPr>
          <a:xfrm>
            <a:off x="9657604" y="3603262"/>
            <a:ext cx="1245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en-US" altLang="zh-TW" dirty="0"/>
              <a:t>000000</a:t>
            </a:r>
            <a:endParaRPr lang="zh-TW" altLang="en-US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7F6B7206-91AE-46B7-8D0C-580C49366F19}"/>
              </a:ext>
            </a:extLst>
          </p:cNvPr>
          <p:cNvSpPr txBox="1"/>
          <p:nvPr/>
        </p:nvSpPr>
        <p:spPr>
          <a:xfrm>
            <a:off x="8978544" y="4920488"/>
            <a:ext cx="1245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u="sng" dirty="0"/>
              <a:t>1</a:t>
            </a:r>
            <a:r>
              <a:rPr lang="en-US" altLang="zh-TW" u="sng" dirty="0">
                <a:solidFill>
                  <a:srgbClr val="FF0000"/>
                </a:solidFill>
              </a:rPr>
              <a:t>1</a:t>
            </a:r>
            <a:r>
              <a:rPr lang="en-US" altLang="zh-TW" u="sng" dirty="0">
                <a:solidFill>
                  <a:srgbClr val="00B050"/>
                </a:solidFill>
              </a:rPr>
              <a:t>0</a:t>
            </a:r>
            <a:r>
              <a:rPr lang="en-US" altLang="zh-TW" dirty="0">
                <a:solidFill>
                  <a:srgbClr val="0000FF"/>
                </a:solidFill>
              </a:rPr>
              <a:t>00000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DE837240-DAED-4BD1-B661-2720A7703976}"/>
              </a:ext>
            </a:extLst>
          </p:cNvPr>
          <p:cNvSpPr txBox="1"/>
          <p:nvPr/>
        </p:nvSpPr>
        <p:spPr>
          <a:xfrm>
            <a:off x="10443754" y="4892046"/>
            <a:ext cx="1245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u="sng" dirty="0"/>
              <a:t>1</a:t>
            </a:r>
            <a:r>
              <a:rPr lang="en-US" altLang="zh-TW" u="sng" dirty="0">
                <a:solidFill>
                  <a:srgbClr val="FF0000"/>
                </a:solidFill>
              </a:rPr>
              <a:t>1</a:t>
            </a:r>
            <a:r>
              <a:rPr lang="en-US" altLang="zh-TW" u="sng" dirty="0">
                <a:solidFill>
                  <a:srgbClr val="00B050"/>
                </a:solidFill>
              </a:rPr>
              <a:t>1</a:t>
            </a:r>
            <a:r>
              <a:rPr lang="en-US" altLang="zh-TW" dirty="0">
                <a:solidFill>
                  <a:srgbClr val="0000FF"/>
                </a:solidFill>
              </a:rPr>
              <a:t>00000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069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Design1-1 mask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Subnet A: 12 PCs</a:t>
            </a:r>
            <a:r>
              <a:rPr lang="zh-TW" altLang="en-US" dirty="0"/>
              <a:t> 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  </a:t>
            </a:r>
            <a:r>
              <a:rPr lang="en-US" altLang="zh-TW" dirty="0">
                <a:sym typeface="Wingdings" panose="05000000000000000000" pitchFamily="2" charset="2"/>
              </a:rPr>
              <a:t>host id: 4 bits</a:t>
            </a:r>
            <a:endParaRPr lang="en-US" altLang="zh-TW" dirty="0"/>
          </a:p>
          <a:p>
            <a:r>
              <a:rPr lang="en-US" altLang="zh-TW" dirty="0"/>
              <a:t>Subnet B: 25 PCs  </a:t>
            </a:r>
            <a:r>
              <a:rPr lang="en-US" altLang="zh-TW" dirty="0">
                <a:sym typeface="Wingdings" panose="05000000000000000000" pitchFamily="2" charset="2"/>
              </a:rPr>
              <a:t>   host id: 5 bits</a:t>
            </a:r>
            <a:endParaRPr lang="en-US" altLang="zh-TW" dirty="0"/>
          </a:p>
          <a:p>
            <a:r>
              <a:rPr lang="en-US" altLang="zh-TW" dirty="0"/>
              <a:t>Subnet C: 56 PCs  </a:t>
            </a:r>
            <a:r>
              <a:rPr lang="en-US" altLang="zh-TW" dirty="0">
                <a:sym typeface="Wingdings" panose="05000000000000000000" pitchFamily="2" charset="2"/>
              </a:rPr>
              <a:t>   host id: 6 bits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Network address = </a:t>
            </a:r>
            <a:r>
              <a:rPr lang="en-US" altLang="zh-TW" dirty="0" err="1">
                <a:sym typeface="Wingdings" panose="05000000000000000000" pitchFamily="2" charset="2"/>
              </a:rPr>
              <a:t>netid.hosted</a:t>
            </a:r>
            <a:endParaRPr lang="en-US" altLang="zh-TW" dirty="0">
              <a:sym typeface="Wingdings" panose="05000000000000000000" pitchFamily="2" charset="2"/>
            </a:endParaRP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A: </a:t>
            </a:r>
            <a:r>
              <a:rPr lang="en-US" altLang="zh-TW" dirty="0" err="1">
                <a:sym typeface="Wingdings" panose="05000000000000000000" pitchFamily="2" charset="2"/>
              </a:rPr>
              <a:t>netid</a:t>
            </a:r>
            <a:r>
              <a:rPr lang="en-US" altLang="zh-TW" dirty="0">
                <a:sym typeface="Wingdings" panose="05000000000000000000" pitchFamily="2" charset="2"/>
              </a:rPr>
              <a:t>  28 bits; </a:t>
            </a:r>
            <a:r>
              <a:rPr lang="en-US" altLang="zh-TW" dirty="0" err="1">
                <a:sym typeface="Wingdings" panose="05000000000000000000" pitchFamily="2" charset="2"/>
              </a:rPr>
              <a:t>hostid</a:t>
            </a:r>
            <a:r>
              <a:rPr lang="en-US" altLang="zh-TW" dirty="0">
                <a:sym typeface="Wingdings" panose="05000000000000000000" pitchFamily="2" charset="2"/>
              </a:rPr>
              <a:t> 4 bits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       Mask: 255.255.255.240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B: </a:t>
            </a:r>
            <a:r>
              <a:rPr lang="en-US" altLang="zh-TW" dirty="0" err="1">
                <a:sym typeface="Wingdings" panose="05000000000000000000" pitchFamily="2" charset="2"/>
              </a:rPr>
              <a:t>netid</a:t>
            </a:r>
            <a:r>
              <a:rPr lang="en-US" altLang="zh-TW" dirty="0">
                <a:sym typeface="Wingdings" panose="05000000000000000000" pitchFamily="2" charset="2"/>
              </a:rPr>
              <a:t>  27 bits; </a:t>
            </a:r>
            <a:r>
              <a:rPr lang="en-US" altLang="zh-TW" dirty="0" err="1">
                <a:sym typeface="Wingdings" panose="05000000000000000000" pitchFamily="2" charset="2"/>
              </a:rPr>
              <a:t>hostid</a:t>
            </a:r>
            <a:r>
              <a:rPr lang="en-US" altLang="zh-TW" dirty="0">
                <a:sym typeface="Wingdings" panose="05000000000000000000" pitchFamily="2" charset="2"/>
              </a:rPr>
              <a:t> 5 bits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       Mask: 255.255.255.224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C: </a:t>
            </a:r>
            <a:r>
              <a:rPr lang="en-US" altLang="zh-TW" dirty="0" err="1">
                <a:sym typeface="Wingdings" panose="05000000000000000000" pitchFamily="2" charset="2"/>
              </a:rPr>
              <a:t>netid</a:t>
            </a:r>
            <a:r>
              <a:rPr lang="en-US" altLang="zh-TW" dirty="0">
                <a:sym typeface="Wingdings" panose="05000000000000000000" pitchFamily="2" charset="2"/>
              </a:rPr>
              <a:t>  26 bits; </a:t>
            </a:r>
            <a:r>
              <a:rPr lang="en-US" altLang="zh-TW" dirty="0" err="1">
                <a:sym typeface="Wingdings" panose="05000000000000000000" pitchFamily="2" charset="2"/>
              </a:rPr>
              <a:t>hostid</a:t>
            </a:r>
            <a:r>
              <a:rPr lang="en-US" altLang="zh-TW" dirty="0">
                <a:sym typeface="Wingdings" panose="05000000000000000000" pitchFamily="2" charset="2"/>
              </a:rPr>
              <a:t> 6 bits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       Mask: 255.255.255.192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流程圖: 或 3"/>
          <p:cNvSpPr/>
          <p:nvPr/>
        </p:nvSpPr>
        <p:spPr>
          <a:xfrm rot="2353077">
            <a:off x="8064269" y="1765869"/>
            <a:ext cx="1004047" cy="1039906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雲朵形 4"/>
          <p:cNvSpPr/>
          <p:nvPr/>
        </p:nvSpPr>
        <p:spPr>
          <a:xfrm>
            <a:off x="8238565" y="250192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A</a:t>
            </a:r>
            <a:endParaRPr lang="zh-TW" altLang="en-US" dirty="0"/>
          </a:p>
        </p:txBody>
      </p:sp>
      <p:sp>
        <p:nvSpPr>
          <p:cNvPr id="6" name="雲朵形 5"/>
          <p:cNvSpPr/>
          <p:nvPr/>
        </p:nvSpPr>
        <p:spPr>
          <a:xfrm>
            <a:off x="9948324" y="1380386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B</a:t>
            </a:r>
            <a:endParaRPr lang="zh-TW" altLang="en-US" dirty="0"/>
          </a:p>
        </p:txBody>
      </p:sp>
      <p:sp>
        <p:nvSpPr>
          <p:cNvPr id="7" name="雲朵形 6"/>
          <p:cNvSpPr/>
          <p:nvPr/>
        </p:nvSpPr>
        <p:spPr>
          <a:xfrm>
            <a:off x="9458798" y="3008447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C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4" idx="1"/>
            <a:endCxn id="5" idx="1"/>
          </p:cNvCxnSpPr>
          <p:nvPr/>
        </p:nvCxnSpPr>
        <p:spPr>
          <a:xfrm flipV="1">
            <a:off x="8523732" y="1154664"/>
            <a:ext cx="503727" cy="6218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6" idx="2"/>
            <a:endCxn id="4" idx="7"/>
          </p:cNvCxnSpPr>
          <p:nvPr/>
        </p:nvCxnSpPr>
        <p:spPr>
          <a:xfrm flipH="1">
            <a:off x="9073778" y="1833104"/>
            <a:ext cx="879440" cy="3923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>
            <a:stCxn id="4" idx="6"/>
            <a:endCxn id="7" idx="2"/>
          </p:cNvCxnSpPr>
          <p:nvPr/>
        </p:nvCxnSpPr>
        <p:spPr>
          <a:xfrm>
            <a:off x="8955233" y="2603237"/>
            <a:ext cx="508459" cy="8579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endCxn id="4" idx="3"/>
          </p:cNvCxnSpPr>
          <p:nvPr/>
        </p:nvCxnSpPr>
        <p:spPr>
          <a:xfrm flipV="1">
            <a:off x="7109012" y="2346220"/>
            <a:ext cx="949795" cy="383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28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Design1-2 </a:t>
            </a:r>
            <a:r>
              <a:rPr lang="en-US" altLang="zh-TW" dirty="0" err="1"/>
              <a:t>netid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42823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Subnet A: 12 PCs</a:t>
            </a:r>
            <a:r>
              <a:rPr lang="zh-TW" altLang="en-US" dirty="0"/>
              <a:t> 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  </a:t>
            </a:r>
            <a:r>
              <a:rPr lang="en-US" altLang="zh-TW" dirty="0">
                <a:sym typeface="Wingdings" panose="05000000000000000000" pitchFamily="2" charset="2"/>
              </a:rPr>
              <a:t>host id: 4 bits</a:t>
            </a:r>
            <a:endParaRPr lang="en-US" altLang="zh-TW" dirty="0"/>
          </a:p>
          <a:p>
            <a:r>
              <a:rPr lang="en-US" altLang="zh-TW" dirty="0"/>
              <a:t>Subnet B: 25 PCs  </a:t>
            </a:r>
            <a:r>
              <a:rPr lang="en-US" altLang="zh-TW" dirty="0">
                <a:sym typeface="Wingdings" panose="05000000000000000000" pitchFamily="2" charset="2"/>
              </a:rPr>
              <a:t>   host id: 5 bits</a:t>
            </a:r>
            <a:endParaRPr lang="en-US" altLang="zh-TW" dirty="0"/>
          </a:p>
          <a:p>
            <a:r>
              <a:rPr lang="en-US" altLang="zh-TW" dirty="0"/>
              <a:t>Subnet C: 56 PCs  </a:t>
            </a:r>
            <a:r>
              <a:rPr lang="en-US" altLang="zh-TW" dirty="0">
                <a:sym typeface="Wingdings" panose="05000000000000000000" pitchFamily="2" charset="2"/>
              </a:rPr>
              <a:t>   host id: 6 bits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Network address = </a:t>
            </a:r>
            <a:r>
              <a:rPr lang="en-US" altLang="zh-TW" dirty="0" err="1">
                <a:sym typeface="Wingdings" panose="05000000000000000000" pitchFamily="2" charset="2"/>
              </a:rPr>
              <a:t>netid.hostid</a:t>
            </a:r>
            <a:endParaRPr lang="en-US" altLang="zh-TW" dirty="0">
              <a:sym typeface="Wingdings" panose="05000000000000000000" pitchFamily="2" charset="2"/>
            </a:endParaRP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A: Mask: 255.255.255.240  140.138.143.224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B: Mask: 255.255.255.224  140.138.143.192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C:Mask: 255.255.255.192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140.138.143.128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流程圖: 或 3"/>
          <p:cNvSpPr/>
          <p:nvPr/>
        </p:nvSpPr>
        <p:spPr>
          <a:xfrm rot="2353077">
            <a:off x="8064269" y="1765869"/>
            <a:ext cx="1004047" cy="1039906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雲朵形 4"/>
          <p:cNvSpPr/>
          <p:nvPr/>
        </p:nvSpPr>
        <p:spPr>
          <a:xfrm>
            <a:off x="8238565" y="250192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A</a:t>
            </a:r>
            <a:endParaRPr lang="zh-TW" altLang="en-US" dirty="0"/>
          </a:p>
        </p:txBody>
      </p:sp>
      <p:sp>
        <p:nvSpPr>
          <p:cNvPr id="6" name="雲朵形 5"/>
          <p:cNvSpPr/>
          <p:nvPr/>
        </p:nvSpPr>
        <p:spPr>
          <a:xfrm>
            <a:off x="9948324" y="1380386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B</a:t>
            </a:r>
            <a:endParaRPr lang="zh-TW" altLang="en-US" dirty="0"/>
          </a:p>
        </p:txBody>
      </p:sp>
      <p:sp>
        <p:nvSpPr>
          <p:cNvPr id="7" name="雲朵形 6"/>
          <p:cNvSpPr/>
          <p:nvPr/>
        </p:nvSpPr>
        <p:spPr>
          <a:xfrm>
            <a:off x="9458798" y="3008447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C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4" idx="1"/>
            <a:endCxn id="5" idx="1"/>
          </p:cNvCxnSpPr>
          <p:nvPr/>
        </p:nvCxnSpPr>
        <p:spPr>
          <a:xfrm flipV="1">
            <a:off x="8523732" y="1154664"/>
            <a:ext cx="503727" cy="6218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6" idx="2"/>
            <a:endCxn id="4" idx="7"/>
          </p:cNvCxnSpPr>
          <p:nvPr/>
        </p:nvCxnSpPr>
        <p:spPr>
          <a:xfrm flipH="1">
            <a:off x="9073778" y="1833104"/>
            <a:ext cx="879440" cy="3923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>
            <a:stCxn id="4" idx="6"/>
            <a:endCxn id="7" idx="2"/>
          </p:cNvCxnSpPr>
          <p:nvPr/>
        </p:nvCxnSpPr>
        <p:spPr>
          <a:xfrm>
            <a:off x="8955233" y="2603237"/>
            <a:ext cx="508459" cy="8579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endCxn id="4" idx="3"/>
          </p:cNvCxnSpPr>
          <p:nvPr/>
        </p:nvCxnSpPr>
        <p:spPr>
          <a:xfrm flipV="1">
            <a:off x="7109012" y="2346220"/>
            <a:ext cx="949795" cy="383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7922090" y="3991351"/>
            <a:ext cx="25747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10xxxxxx</a:t>
            </a:r>
            <a:endParaRPr lang="zh-TW" altLang="en-US" sz="2000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137404" y="2305839"/>
            <a:ext cx="2542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140.138.143.110xxxxx</a:t>
            </a:r>
            <a:endParaRPr lang="zh-TW" altLang="en-US" sz="2000" b="1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297061" y="1174250"/>
            <a:ext cx="2611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140.138.143.1110xxxx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70730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Design1-3 Host address range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428238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altLang="zh-TW" dirty="0"/>
              <a:t>Subnet A: 12 PCs</a:t>
            </a:r>
            <a:r>
              <a:rPr lang="zh-TW" altLang="en-US" dirty="0"/>
              <a:t> 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  </a:t>
            </a:r>
            <a:r>
              <a:rPr lang="en-US" altLang="zh-TW" dirty="0">
                <a:sym typeface="Wingdings" panose="05000000000000000000" pitchFamily="2" charset="2"/>
              </a:rPr>
              <a:t>host id: 4 bits</a:t>
            </a:r>
            <a:endParaRPr lang="en-US" altLang="zh-TW" dirty="0"/>
          </a:p>
          <a:p>
            <a:r>
              <a:rPr lang="en-US" altLang="zh-TW" dirty="0"/>
              <a:t>Subnet B: 25 PCs  </a:t>
            </a:r>
            <a:r>
              <a:rPr lang="en-US" altLang="zh-TW" dirty="0">
                <a:sym typeface="Wingdings" panose="05000000000000000000" pitchFamily="2" charset="2"/>
              </a:rPr>
              <a:t>   host id: 5 bits</a:t>
            </a:r>
            <a:endParaRPr lang="en-US" altLang="zh-TW" dirty="0"/>
          </a:p>
          <a:p>
            <a:r>
              <a:rPr lang="en-US" altLang="zh-TW" dirty="0"/>
              <a:t>Subnet C: 56 PCs  </a:t>
            </a:r>
            <a:r>
              <a:rPr lang="en-US" altLang="zh-TW" dirty="0">
                <a:sym typeface="Wingdings" panose="05000000000000000000" pitchFamily="2" charset="2"/>
              </a:rPr>
              <a:t>   host id: 6 bits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Network address = </a:t>
            </a:r>
            <a:r>
              <a:rPr lang="en-US" altLang="zh-TW" dirty="0" err="1">
                <a:sym typeface="Wingdings" panose="05000000000000000000" pitchFamily="2" charset="2"/>
              </a:rPr>
              <a:t>netid.hostid</a:t>
            </a:r>
            <a:endParaRPr lang="en-US" altLang="zh-TW" dirty="0">
              <a:sym typeface="Wingdings" panose="05000000000000000000" pitchFamily="2" charset="2"/>
            </a:endParaRP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A: Mask: 255.255.255.240 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 address range: 140.138.143.225~140.138.143.238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B: Mask: 255.255.255.224  140.138.143.193~ 140.138.143.222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C:Mask: 255.255.255.192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140.138.143.129~ 140.138.143.190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流程圖: 或 3"/>
          <p:cNvSpPr/>
          <p:nvPr/>
        </p:nvSpPr>
        <p:spPr>
          <a:xfrm rot="2353077">
            <a:off x="8064269" y="1765869"/>
            <a:ext cx="1004047" cy="1039906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雲朵形 4"/>
          <p:cNvSpPr/>
          <p:nvPr/>
        </p:nvSpPr>
        <p:spPr>
          <a:xfrm>
            <a:off x="8238565" y="250192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A</a:t>
            </a:r>
            <a:endParaRPr lang="zh-TW" altLang="en-US" dirty="0"/>
          </a:p>
        </p:txBody>
      </p:sp>
      <p:sp>
        <p:nvSpPr>
          <p:cNvPr id="6" name="雲朵形 5"/>
          <p:cNvSpPr/>
          <p:nvPr/>
        </p:nvSpPr>
        <p:spPr>
          <a:xfrm>
            <a:off x="9948324" y="1380386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B</a:t>
            </a:r>
            <a:endParaRPr lang="zh-TW" altLang="en-US" dirty="0"/>
          </a:p>
        </p:txBody>
      </p:sp>
      <p:sp>
        <p:nvSpPr>
          <p:cNvPr id="7" name="雲朵形 6"/>
          <p:cNvSpPr/>
          <p:nvPr/>
        </p:nvSpPr>
        <p:spPr>
          <a:xfrm>
            <a:off x="9458798" y="3008447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C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4" idx="1"/>
            <a:endCxn id="5" idx="1"/>
          </p:cNvCxnSpPr>
          <p:nvPr/>
        </p:nvCxnSpPr>
        <p:spPr>
          <a:xfrm flipV="1">
            <a:off x="8523732" y="1154664"/>
            <a:ext cx="503727" cy="6218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6" idx="2"/>
            <a:endCxn id="4" idx="7"/>
          </p:cNvCxnSpPr>
          <p:nvPr/>
        </p:nvCxnSpPr>
        <p:spPr>
          <a:xfrm flipH="1">
            <a:off x="9073778" y="1833104"/>
            <a:ext cx="879440" cy="3923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>
            <a:stCxn id="4" idx="6"/>
            <a:endCxn id="7" idx="2"/>
          </p:cNvCxnSpPr>
          <p:nvPr/>
        </p:nvCxnSpPr>
        <p:spPr>
          <a:xfrm>
            <a:off x="8955233" y="2603237"/>
            <a:ext cx="508459" cy="8579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endCxn id="4" idx="3"/>
          </p:cNvCxnSpPr>
          <p:nvPr/>
        </p:nvCxnSpPr>
        <p:spPr>
          <a:xfrm flipV="1">
            <a:off x="7109012" y="2346220"/>
            <a:ext cx="949795" cy="383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7922090" y="3991351"/>
            <a:ext cx="25747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10xxxxxx</a:t>
            </a:r>
            <a:endParaRPr lang="zh-TW" altLang="en-US" sz="2000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137404" y="2305839"/>
            <a:ext cx="2542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140.138.143.110xxxxx</a:t>
            </a:r>
            <a:endParaRPr lang="zh-TW" altLang="en-US" sz="2000" b="1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297061" y="1174250"/>
            <a:ext cx="2611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140.138.143.1110xxxx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77326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Design1-4 serving router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42823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Subnet A: 12 PCs</a:t>
            </a:r>
            <a:r>
              <a:rPr lang="zh-TW" altLang="en-US" dirty="0"/>
              <a:t> 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  </a:t>
            </a:r>
            <a:r>
              <a:rPr lang="en-US" altLang="zh-TW" dirty="0">
                <a:sym typeface="Wingdings" panose="05000000000000000000" pitchFamily="2" charset="2"/>
              </a:rPr>
              <a:t>host id: 4 bits</a:t>
            </a:r>
            <a:endParaRPr lang="en-US" altLang="zh-TW" dirty="0"/>
          </a:p>
          <a:p>
            <a:r>
              <a:rPr lang="en-US" altLang="zh-TW" dirty="0"/>
              <a:t>Subnet B: 25 PCs  </a:t>
            </a:r>
            <a:r>
              <a:rPr lang="en-US" altLang="zh-TW" dirty="0">
                <a:sym typeface="Wingdings" panose="05000000000000000000" pitchFamily="2" charset="2"/>
              </a:rPr>
              <a:t>   host id: 5 bits</a:t>
            </a:r>
            <a:endParaRPr lang="en-US" altLang="zh-TW" dirty="0"/>
          </a:p>
          <a:p>
            <a:r>
              <a:rPr lang="en-US" altLang="zh-TW" dirty="0"/>
              <a:t>Subnet C: 56 PCs  </a:t>
            </a:r>
            <a:r>
              <a:rPr lang="en-US" altLang="zh-TW" dirty="0">
                <a:sym typeface="Wingdings" panose="05000000000000000000" pitchFamily="2" charset="2"/>
              </a:rPr>
              <a:t>   host id: 6 bits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Network address = </a:t>
            </a:r>
            <a:r>
              <a:rPr lang="en-US" altLang="zh-TW" dirty="0" err="1">
                <a:sym typeface="Wingdings" panose="05000000000000000000" pitchFamily="2" charset="2"/>
              </a:rPr>
              <a:t>netid.hostid</a:t>
            </a:r>
            <a:endParaRPr lang="en-US" altLang="zh-TW" dirty="0">
              <a:sym typeface="Wingdings" panose="05000000000000000000" pitchFamily="2" charset="2"/>
            </a:endParaRP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A: Mask: 255.255.255.240  140.138.143.225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 address range: 140.138.143.225~140.138.143.238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(B) Subnet B: Mask: 255.255.255.224  140.138.143.193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140.138.143.193~ 140.138.143.222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(C) Subnet C:Mask: 255.255.255.192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140.138.143.129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      140.138.143.129~ 140.138.143.190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流程圖: 或 3"/>
          <p:cNvSpPr/>
          <p:nvPr/>
        </p:nvSpPr>
        <p:spPr>
          <a:xfrm rot="2353077">
            <a:off x="8064269" y="1765869"/>
            <a:ext cx="1004047" cy="1039906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雲朵形 4"/>
          <p:cNvSpPr/>
          <p:nvPr/>
        </p:nvSpPr>
        <p:spPr>
          <a:xfrm>
            <a:off x="8238565" y="250192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A</a:t>
            </a:r>
            <a:endParaRPr lang="zh-TW" altLang="en-US" dirty="0"/>
          </a:p>
        </p:txBody>
      </p:sp>
      <p:sp>
        <p:nvSpPr>
          <p:cNvPr id="6" name="雲朵形 5"/>
          <p:cNvSpPr/>
          <p:nvPr/>
        </p:nvSpPr>
        <p:spPr>
          <a:xfrm>
            <a:off x="9948324" y="1380386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B</a:t>
            </a:r>
            <a:endParaRPr lang="zh-TW" altLang="en-US" dirty="0"/>
          </a:p>
        </p:txBody>
      </p:sp>
      <p:sp>
        <p:nvSpPr>
          <p:cNvPr id="7" name="雲朵形 6"/>
          <p:cNvSpPr/>
          <p:nvPr/>
        </p:nvSpPr>
        <p:spPr>
          <a:xfrm>
            <a:off x="9458798" y="3008447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C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4" idx="1"/>
            <a:endCxn id="5" idx="1"/>
          </p:cNvCxnSpPr>
          <p:nvPr/>
        </p:nvCxnSpPr>
        <p:spPr>
          <a:xfrm flipV="1">
            <a:off x="8523732" y="1154664"/>
            <a:ext cx="503727" cy="6218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6" idx="2"/>
            <a:endCxn id="4" idx="7"/>
          </p:cNvCxnSpPr>
          <p:nvPr/>
        </p:nvCxnSpPr>
        <p:spPr>
          <a:xfrm flipH="1">
            <a:off x="9073778" y="1833104"/>
            <a:ext cx="879440" cy="3923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>
            <a:stCxn id="4" idx="6"/>
            <a:endCxn id="7" idx="2"/>
          </p:cNvCxnSpPr>
          <p:nvPr/>
        </p:nvCxnSpPr>
        <p:spPr>
          <a:xfrm>
            <a:off x="8955233" y="2603237"/>
            <a:ext cx="508459" cy="8579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endCxn id="4" idx="3"/>
          </p:cNvCxnSpPr>
          <p:nvPr/>
        </p:nvCxnSpPr>
        <p:spPr>
          <a:xfrm flipV="1">
            <a:off x="7109012" y="2346220"/>
            <a:ext cx="949795" cy="383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9027459" y="4038806"/>
            <a:ext cx="25747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10xxxxxx</a:t>
            </a:r>
            <a:endParaRPr lang="zh-TW" altLang="en-US" sz="2000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137404" y="2305839"/>
            <a:ext cx="2542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140.138.143.110xxxxx</a:t>
            </a:r>
            <a:endParaRPr lang="zh-TW" altLang="en-US" sz="2000" b="1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297061" y="1174250"/>
            <a:ext cx="2611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140.138.143.1110xxxx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26992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Design2-1 mask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Subnet A: 12 PCs</a:t>
            </a:r>
            <a:r>
              <a:rPr lang="zh-TW" altLang="en-US" dirty="0"/>
              <a:t> 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  </a:t>
            </a:r>
            <a:r>
              <a:rPr lang="en-US" altLang="zh-TW" dirty="0">
                <a:sym typeface="Wingdings" panose="05000000000000000000" pitchFamily="2" charset="2"/>
              </a:rPr>
              <a:t>host id: 5 bits</a:t>
            </a:r>
            <a:endParaRPr lang="en-US" altLang="zh-TW" dirty="0"/>
          </a:p>
          <a:p>
            <a:r>
              <a:rPr lang="en-US" altLang="zh-TW" dirty="0"/>
              <a:t>Subnet B: 25 PCs  </a:t>
            </a:r>
            <a:r>
              <a:rPr lang="en-US" altLang="zh-TW" dirty="0">
                <a:sym typeface="Wingdings" panose="05000000000000000000" pitchFamily="2" charset="2"/>
              </a:rPr>
              <a:t>   host id: 5 bits</a:t>
            </a:r>
            <a:endParaRPr lang="en-US" altLang="zh-TW" dirty="0"/>
          </a:p>
          <a:p>
            <a:r>
              <a:rPr lang="en-US" altLang="zh-TW" dirty="0"/>
              <a:t>Subnet C: 56 PCs  </a:t>
            </a:r>
            <a:r>
              <a:rPr lang="en-US" altLang="zh-TW" dirty="0">
                <a:sym typeface="Wingdings" panose="05000000000000000000" pitchFamily="2" charset="2"/>
              </a:rPr>
              <a:t>   host id: 6 bits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Network address = </a:t>
            </a:r>
            <a:r>
              <a:rPr lang="en-US" altLang="zh-TW" dirty="0" err="1">
                <a:sym typeface="Wingdings" panose="05000000000000000000" pitchFamily="2" charset="2"/>
              </a:rPr>
              <a:t>netid.hosted</a:t>
            </a:r>
            <a:endParaRPr lang="en-US" altLang="zh-TW" dirty="0">
              <a:sym typeface="Wingdings" panose="05000000000000000000" pitchFamily="2" charset="2"/>
            </a:endParaRP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A: </a:t>
            </a:r>
            <a:r>
              <a:rPr lang="en-US" altLang="zh-TW" dirty="0" err="1">
                <a:sym typeface="Wingdings" panose="05000000000000000000" pitchFamily="2" charset="2"/>
              </a:rPr>
              <a:t>netid</a:t>
            </a:r>
            <a:r>
              <a:rPr lang="en-US" altLang="zh-TW" dirty="0">
                <a:sym typeface="Wingdings" panose="05000000000000000000" pitchFamily="2" charset="2"/>
              </a:rPr>
              <a:t>  27 bits; </a:t>
            </a:r>
            <a:r>
              <a:rPr lang="en-US" altLang="zh-TW" dirty="0" err="1">
                <a:sym typeface="Wingdings" panose="05000000000000000000" pitchFamily="2" charset="2"/>
              </a:rPr>
              <a:t>hostid</a:t>
            </a:r>
            <a:r>
              <a:rPr lang="en-US" altLang="zh-TW" dirty="0">
                <a:sym typeface="Wingdings" panose="05000000000000000000" pitchFamily="2" charset="2"/>
              </a:rPr>
              <a:t> 5 bits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       Mask: 255.255.255.224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B: </a:t>
            </a:r>
            <a:r>
              <a:rPr lang="en-US" altLang="zh-TW" dirty="0" err="1">
                <a:sym typeface="Wingdings" panose="05000000000000000000" pitchFamily="2" charset="2"/>
              </a:rPr>
              <a:t>netid</a:t>
            </a:r>
            <a:r>
              <a:rPr lang="en-US" altLang="zh-TW" dirty="0">
                <a:sym typeface="Wingdings" panose="05000000000000000000" pitchFamily="2" charset="2"/>
              </a:rPr>
              <a:t>  27 bits; </a:t>
            </a:r>
            <a:r>
              <a:rPr lang="en-US" altLang="zh-TW" dirty="0" err="1">
                <a:sym typeface="Wingdings" panose="05000000000000000000" pitchFamily="2" charset="2"/>
              </a:rPr>
              <a:t>hostid</a:t>
            </a:r>
            <a:r>
              <a:rPr lang="en-US" altLang="zh-TW" dirty="0">
                <a:sym typeface="Wingdings" panose="05000000000000000000" pitchFamily="2" charset="2"/>
              </a:rPr>
              <a:t> 5 bits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       Mask: 255.255.255.224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C: </a:t>
            </a:r>
            <a:r>
              <a:rPr lang="en-US" altLang="zh-TW" dirty="0" err="1">
                <a:sym typeface="Wingdings" panose="05000000000000000000" pitchFamily="2" charset="2"/>
              </a:rPr>
              <a:t>netid</a:t>
            </a:r>
            <a:r>
              <a:rPr lang="en-US" altLang="zh-TW" dirty="0">
                <a:sym typeface="Wingdings" panose="05000000000000000000" pitchFamily="2" charset="2"/>
              </a:rPr>
              <a:t>  26 bits; </a:t>
            </a:r>
            <a:r>
              <a:rPr lang="en-US" altLang="zh-TW" dirty="0" err="1">
                <a:sym typeface="Wingdings" panose="05000000000000000000" pitchFamily="2" charset="2"/>
              </a:rPr>
              <a:t>hostid</a:t>
            </a:r>
            <a:r>
              <a:rPr lang="en-US" altLang="zh-TW" dirty="0">
                <a:sym typeface="Wingdings" panose="05000000000000000000" pitchFamily="2" charset="2"/>
              </a:rPr>
              <a:t> 6 bits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       Mask: 255.255.255.192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流程圖: 或 3"/>
          <p:cNvSpPr/>
          <p:nvPr/>
        </p:nvSpPr>
        <p:spPr>
          <a:xfrm rot="2353077">
            <a:off x="8064269" y="1765869"/>
            <a:ext cx="1004047" cy="1039906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雲朵形 4"/>
          <p:cNvSpPr/>
          <p:nvPr/>
        </p:nvSpPr>
        <p:spPr>
          <a:xfrm>
            <a:off x="8238565" y="250192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A</a:t>
            </a:r>
            <a:endParaRPr lang="zh-TW" altLang="en-US" dirty="0"/>
          </a:p>
        </p:txBody>
      </p:sp>
      <p:sp>
        <p:nvSpPr>
          <p:cNvPr id="6" name="雲朵形 5"/>
          <p:cNvSpPr/>
          <p:nvPr/>
        </p:nvSpPr>
        <p:spPr>
          <a:xfrm>
            <a:off x="9948324" y="1380386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B</a:t>
            </a:r>
            <a:endParaRPr lang="zh-TW" altLang="en-US" dirty="0"/>
          </a:p>
        </p:txBody>
      </p:sp>
      <p:sp>
        <p:nvSpPr>
          <p:cNvPr id="7" name="雲朵形 6"/>
          <p:cNvSpPr/>
          <p:nvPr/>
        </p:nvSpPr>
        <p:spPr>
          <a:xfrm>
            <a:off x="9458798" y="3008447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C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4" idx="1"/>
            <a:endCxn id="5" idx="1"/>
          </p:cNvCxnSpPr>
          <p:nvPr/>
        </p:nvCxnSpPr>
        <p:spPr>
          <a:xfrm flipV="1">
            <a:off x="8523732" y="1154664"/>
            <a:ext cx="503727" cy="6218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6" idx="2"/>
            <a:endCxn id="4" idx="7"/>
          </p:cNvCxnSpPr>
          <p:nvPr/>
        </p:nvCxnSpPr>
        <p:spPr>
          <a:xfrm flipH="1">
            <a:off x="9073778" y="1833104"/>
            <a:ext cx="879440" cy="3923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>
            <a:stCxn id="4" idx="6"/>
            <a:endCxn id="7" idx="2"/>
          </p:cNvCxnSpPr>
          <p:nvPr/>
        </p:nvCxnSpPr>
        <p:spPr>
          <a:xfrm>
            <a:off x="8955233" y="2603237"/>
            <a:ext cx="508459" cy="8579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endCxn id="4" idx="3"/>
          </p:cNvCxnSpPr>
          <p:nvPr/>
        </p:nvCxnSpPr>
        <p:spPr>
          <a:xfrm flipV="1">
            <a:off x="7109012" y="2346220"/>
            <a:ext cx="949795" cy="383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759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Design2-2 </a:t>
            </a:r>
            <a:r>
              <a:rPr lang="en-US" altLang="zh-TW" dirty="0" err="1"/>
              <a:t>netid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42823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Subnet A: 12 PCs</a:t>
            </a:r>
            <a:r>
              <a:rPr lang="zh-TW" altLang="en-US" dirty="0"/>
              <a:t> 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  </a:t>
            </a:r>
            <a:r>
              <a:rPr lang="en-US" altLang="zh-TW" dirty="0">
                <a:sym typeface="Wingdings" panose="05000000000000000000" pitchFamily="2" charset="2"/>
              </a:rPr>
              <a:t>host id: 5 bits</a:t>
            </a:r>
            <a:endParaRPr lang="en-US" altLang="zh-TW" dirty="0"/>
          </a:p>
          <a:p>
            <a:r>
              <a:rPr lang="en-US" altLang="zh-TW" dirty="0"/>
              <a:t>Subnet B: 25 PCs  </a:t>
            </a:r>
            <a:r>
              <a:rPr lang="en-US" altLang="zh-TW" dirty="0">
                <a:sym typeface="Wingdings" panose="05000000000000000000" pitchFamily="2" charset="2"/>
              </a:rPr>
              <a:t>   host id: 5 bits</a:t>
            </a:r>
            <a:endParaRPr lang="en-US" altLang="zh-TW" dirty="0"/>
          </a:p>
          <a:p>
            <a:r>
              <a:rPr lang="en-US" altLang="zh-TW" dirty="0"/>
              <a:t>Subnet C: 56 PCs  </a:t>
            </a:r>
            <a:r>
              <a:rPr lang="en-US" altLang="zh-TW" dirty="0">
                <a:sym typeface="Wingdings" panose="05000000000000000000" pitchFamily="2" charset="2"/>
              </a:rPr>
              <a:t>   host id: 6 bits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Network address = </a:t>
            </a:r>
            <a:r>
              <a:rPr lang="en-US" altLang="zh-TW" dirty="0" err="1">
                <a:sym typeface="Wingdings" panose="05000000000000000000" pitchFamily="2" charset="2"/>
              </a:rPr>
              <a:t>netid.hostid</a:t>
            </a:r>
            <a:endParaRPr lang="en-US" altLang="zh-TW" dirty="0">
              <a:sym typeface="Wingdings" panose="05000000000000000000" pitchFamily="2" charset="2"/>
            </a:endParaRP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A: Mask: 255.255.255.224  140.138.143.224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B: Mask: 255.255.255.224  140.138.143.192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C:Mask: 255.255.255.192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140.138.143.128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流程圖: 或 3"/>
          <p:cNvSpPr/>
          <p:nvPr/>
        </p:nvSpPr>
        <p:spPr>
          <a:xfrm rot="2353077">
            <a:off x="8064269" y="1765869"/>
            <a:ext cx="1004047" cy="1039906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雲朵形 4"/>
          <p:cNvSpPr/>
          <p:nvPr/>
        </p:nvSpPr>
        <p:spPr>
          <a:xfrm>
            <a:off x="8238565" y="250192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A</a:t>
            </a:r>
            <a:endParaRPr lang="zh-TW" altLang="en-US" dirty="0"/>
          </a:p>
        </p:txBody>
      </p:sp>
      <p:sp>
        <p:nvSpPr>
          <p:cNvPr id="6" name="雲朵形 5"/>
          <p:cNvSpPr/>
          <p:nvPr/>
        </p:nvSpPr>
        <p:spPr>
          <a:xfrm>
            <a:off x="9948324" y="1380386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B</a:t>
            </a:r>
            <a:endParaRPr lang="zh-TW" altLang="en-US" dirty="0"/>
          </a:p>
        </p:txBody>
      </p:sp>
      <p:sp>
        <p:nvSpPr>
          <p:cNvPr id="7" name="雲朵形 6"/>
          <p:cNvSpPr/>
          <p:nvPr/>
        </p:nvSpPr>
        <p:spPr>
          <a:xfrm>
            <a:off x="9458798" y="3008447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C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4" idx="1"/>
            <a:endCxn id="5" idx="1"/>
          </p:cNvCxnSpPr>
          <p:nvPr/>
        </p:nvCxnSpPr>
        <p:spPr>
          <a:xfrm flipV="1">
            <a:off x="8523732" y="1154664"/>
            <a:ext cx="503727" cy="6218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6" idx="2"/>
            <a:endCxn id="4" idx="7"/>
          </p:cNvCxnSpPr>
          <p:nvPr/>
        </p:nvCxnSpPr>
        <p:spPr>
          <a:xfrm flipH="1">
            <a:off x="9073778" y="1833104"/>
            <a:ext cx="879440" cy="3923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>
            <a:stCxn id="4" idx="6"/>
            <a:endCxn id="7" idx="2"/>
          </p:cNvCxnSpPr>
          <p:nvPr/>
        </p:nvCxnSpPr>
        <p:spPr>
          <a:xfrm>
            <a:off x="8955233" y="2603237"/>
            <a:ext cx="508459" cy="8579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endCxn id="4" idx="3"/>
          </p:cNvCxnSpPr>
          <p:nvPr/>
        </p:nvCxnSpPr>
        <p:spPr>
          <a:xfrm flipV="1">
            <a:off x="7109012" y="2346220"/>
            <a:ext cx="949795" cy="383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7922090" y="3991351"/>
            <a:ext cx="25747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10xxxxxx</a:t>
            </a:r>
            <a:endParaRPr lang="zh-TW" altLang="en-US" sz="2000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137404" y="2305839"/>
            <a:ext cx="2542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140.138.143.110xxxxx</a:t>
            </a:r>
            <a:endParaRPr lang="zh-TW" altLang="en-US" sz="2000" b="1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297061" y="1174250"/>
            <a:ext cx="2611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140.138.143.111xxxxx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1215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Design2-3 Host address range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428238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altLang="zh-TW" dirty="0"/>
              <a:t>Subnet A: 12 PCs</a:t>
            </a:r>
            <a:r>
              <a:rPr lang="zh-TW" altLang="en-US" dirty="0"/>
              <a:t> 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  </a:t>
            </a:r>
            <a:r>
              <a:rPr lang="en-US" altLang="zh-TW" dirty="0">
                <a:sym typeface="Wingdings" panose="05000000000000000000" pitchFamily="2" charset="2"/>
              </a:rPr>
              <a:t>host id: 5 bits</a:t>
            </a:r>
            <a:endParaRPr lang="en-US" altLang="zh-TW" dirty="0"/>
          </a:p>
          <a:p>
            <a:r>
              <a:rPr lang="en-US" altLang="zh-TW" dirty="0"/>
              <a:t>Subnet B: 25 PCs  </a:t>
            </a:r>
            <a:r>
              <a:rPr lang="en-US" altLang="zh-TW" dirty="0">
                <a:sym typeface="Wingdings" panose="05000000000000000000" pitchFamily="2" charset="2"/>
              </a:rPr>
              <a:t>   host id: 5 bits</a:t>
            </a:r>
            <a:endParaRPr lang="en-US" altLang="zh-TW" dirty="0"/>
          </a:p>
          <a:p>
            <a:r>
              <a:rPr lang="en-US" altLang="zh-TW" dirty="0"/>
              <a:t>Subnet C: 56 PCs  </a:t>
            </a:r>
            <a:r>
              <a:rPr lang="en-US" altLang="zh-TW" dirty="0">
                <a:sym typeface="Wingdings" panose="05000000000000000000" pitchFamily="2" charset="2"/>
              </a:rPr>
              <a:t>   host id: 6 bits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Network address = </a:t>
            </a:r>
            <a:r>
              <a:rPr lang="en-US" altLang="zh-TW" dirty="0" err="1">
                <a:sym typeface="Wingdings" panose="05000000000000000000" pitchFamily="2" charset="2"/>
              </a:rPr>
              <a:t>netid.hostid</a:t>
            </a:r>
            <a:endParaRPr lang="en-US" altLang="zh-TW" dirty="0">
              <a:sym typeface="Wingdings" panose="05000000000000000000" pitchFamily="2" charset="2"/>
            </a:endParaRP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A: Mask: 255.255.255.224 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 address range: 140.138.143.225~140.138.143.254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B: Mask: 255.255.255.224  140.138.143.193~ 140.138.143.222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C:Mask: 255.255.255.192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140.138.143.129~ 140.138.143.190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流程圖: 或 3"/>
          <p:cNvSpPr/>
          <p:nvPr/>
        </p:nvSpPr>
        <p:spPr>
          <a:xfrm rot="2353077">
            <a:off x="8064269" y="1765869"/>
            <a:ext cx="1004047" cy="1039906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雲朵形 4"/>
          <p:cNvSpPr/>
          <p:nvPr/>
        </p:nvSpPr>
        <p:spPr>
          <a:xfrm>
            <a:off x="8238565" y="250192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A</a:t>
            </a:r>
            <a:endParaRPr lang="zh-TW" altLang="en-US" dirty="0"/>
          </a:p>
        </p:txBody>
      </p:sp>
      <p:sp>
        <p:nvSpPr>
          <p:cNvPr id="6" name="雲朵形 5"/>
          <p:cNvSpPr/>
          <p:nvPr/>
        </p:nvSpPr>
        <p:spPr>
          <a:xfrm>
            <a:off x="9948324" y="1380386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B</a:t>
            </a:r>
            <a:endParaRPr lang="zh-TW" altLang="en-US" dirty="0"/>
          </a:p>
        </p:txBody>
      </p:sp>
      <p:sp>
        <p:nvSpPr>
          <p:cNvPr id="7" name="雲朵形 6"/>
          <p:cNvSpPr/>
          <p:nvPr/>
        </p:nvSpPr>
        <p:spPr>
          <a:xfrm>
            <a:off x="9458798" y="3008447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C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4" idx="1"/>
            <a:endCxn id="5" idx="1"/>
          </p:cNvCxnSpPr>
          <p:nvPr/>
        </p:nvCxnSpPr>
        <p:spPr>
          <a:xfrm flipV="1">
            <a:off x="8523732" y="1154664"/>
            <a:ext cx="503727" cy="6218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6" idx="2"/>
            <a:endCxn id="4" idx="7"/>
          </p:cNvCxnSpPr>
          <p:nvPr/>
        </p:nvCxnSpPr>
        <p:spPr>
          <a:xfrm flipH="1">
            <a:off x="9073778" y="1833104"/>
            <a:ext cx="879440" cy="3923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>
            <a:stCxn id="4" idx="6"/>
            <a:endCxn id="7" idx="2"/>
          </p:cNvCxnSpPr>
          <p:nvPr/>
        </p:nvCxnSpPr>
        <p:spPr>
          <a:xfrm>
            <a:off x="8955233" y="2603237"/>
            <a:ext cx="508459" cy="8579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endCxn id="4" idx="3"/>
          </p:cNvCxnSpPr>
          <p:nvPr/>
        </p:nvCxnSpPr>
        <p:spPr>
          <a:xfrm flipV="1">
            <a:off x="7109012" y="2346220"/>
            <a:ext cx="949795" cy="383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7922090" y="3991351"/>
            <a:ext cx="25747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10xxxxxx</a:t>
            </a:r>
            <a:endParaRPr lang="zh-TW" altLang="en-US" sz="2000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137404" y="2305839"/>
            <a:ext cx="2542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140.138.143.110xxxxx</a:t>
            </a:r>
            <a:endParaRPr lang="zh-TW" altLang="en-US" sz="2000" b="1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297061" y="1174250"/>
            <a:ext cx="2611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140.138.143.111xxxxx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84808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Design2-4 Serving router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42823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Subnet A: 12 PCs</a:t>
            </a:r>
            <a:r>
              <a:rPr lang="zh-TW" altLang="en-US" dirty="0"/>
              <a:t> 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  </a:t>
            </a:r>
            <a:r>
              <a:rPr lang="en-US" altLang="zh-TW" dirty="0">
                <a:sym typeface="Wingdings" panose="05000000000000000000" pitchFamily="2" charset="2"/>
              </a:rPr>
              <a:t>host id: 5 bits</a:t>
            </a:r>
            <a:endParaRPr lang="en-US" altLang="zh-TW" dirty="0"/>
          </a:p>
          <a:p>
            <a:r>
              <a:rPr lang="en-US" altLang="zh-TW" dirty="0"/>
              <a:t>Subnet B: 25 PCs  </a:t>
            </a:r>
            <a:r>
              <a:rPr lang="en-US" altLang="zh-TW" dirty="0">
                <a:sym typeface="Wingdings" panose="05000000000000000000" pitchFamily="2" charset="2"/>
              </a:rPr>
              <a:t>   host id: 5 bits</a:t>
            </a:r>
            <a:endParaRPr lang="en-US" altLang="zh-TW" dirty="0"/>
          </a:p>
          <a:p>
            <a:r>
              <a:rPr lang="en-US" altLang="zh-TW" dirty="0"/>
              <a:t>Subnet C: 56 PCs  </a:t>
            </a:r>
            <a:r>
              <a:rPr lang="en-US" altLang="zh-TW" dirty="0">
                <a:sym typeface="Wingdings" panose="05000000000000000000" pitchFamily="2" charset="2"/>
              </a:rPr>
              <a:t>   host id: 6 bits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Network address = </a:t>
            </a:r>
            <a:r>
              <a:rPr lang="en-US" altLang="zh-TW" dirty="0" err="1">
                <a:sym typeface="Wingdings" panose="05000000000000000000" pitchFamily="2" charset="2"/>
              </a:rPr>
              <a:t>netid.hostid</a:t>
            </a:r>
            <a:endParaRPr lang="en-US" altLang="zh-TW" dirty="0">
              <a:sym typeface="Wingdings" panose="05000000000000000000" pitchFamily="2" charset="2"/>
            </a:endParaRP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A: Mask: 255.255.255.224 140.138.143.225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B: Mask: 255.255.255.224  140.138.143.193 </a:t>
            </a:r>
          </a:p>
          <a:p>
            <a:pPr marL="514350" indent="-514350">
              <a:buAutoNum type="alphaUcParenBoth"/>
            </a:pPr>
            <a:r>
              <a:rPr lang="en-US" altLang="zh-TW" dirty="0">
                <a:sym typeface="Wingdings" panose="05000000000000000000" pitchFamily="2" charset="2"/>
              </a:rPr>
              <a:t>Subnet C:Mask: 255.255.255.192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140.138.143.129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流程圖: 或 3"/>
          <p:cNvSpPr/>
          <p:nvPr/>
        </p:nvSpPr>
        <p:spPr>
          <a:xfrm rot="2353077">
            <a:off x="8064269" y="1765869"/>
            <a:ext cx="1004047" cy="1039906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雲朵形 4"/>
          <p:cNvSpPr/>
          <p:nvPr/>
        </p:nvSpPr>
        <p:spPr>
          <a:xfrm>
            <a:off x="8238565" y="250192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A</a:t>
            </a:r>
            <a:endParaRPr lang="zh-TW" altLang="en-US" dirty="0"/>
          </a:p>
        </p:txBody>
      </p:sp>
      <p:sp>
        <p:nvSpPr>
          <p:cNvPr id="6" name="雲朵形 5"/>
          <p:cNvSpPr/>
          <p:nvPr/>
        </p:nvSpPr>
        <p:spPr>
          <a:xfrm>
            <a:off x="9948324" y="1380386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B</a:t>
            </a:r>
            <a:endParaRPr lang="zh-TW" altLang="en-US" dirty="0"/>
          </a:p>
        </p:txBody>
      </p:sp>
      <p:sp>
        <p:nvSpPr>
          <p:cNvPr id="7" name="雲朵形 6"/>
          <p:cNvSpPr/>
          <p:nvPr/>
        </p:nvSpPr>
        <p:spPr>
          <a:xfrm>
            <a:off x="9458798" y="3008447"/>
            <a:ext cx="1577788" cy="9054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Subnet C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4" idx="1"/>
            <a:endCxn id="5" idx="1"/>
          </p:cNvCxnSpPr>
          <p:nvPr/>
        </p:nvCxnSpPr>
        <p:spPr>
          <a:xfrm flipV="1">
            <a:off x="8523732" y="1154664"/>
            <a:ext cx="503727" cy="6218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6" idx="2"/>
            <a:endCxn id="4" idx="7"/>
          </p:cNvCxnSpPr>
          <p:nvPr/>
        </p:nvCxnSpPr>
        <p:spPr>
          <a:xfrm flipH="1">
            <a:off x="9073778" y="1833104"/>
            <a:ext cx="879440" cy="3923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>
            <a:stCxn id="4" idx="6"/>
            <a:endCxn id="7" idx="2"/>
          </p:cNvCxnSpPr>
          <p:nvPr/>
        </p:nvCxnSpPr>
        <p:spPr>
          <a:xfrm>
            <a:off x="8955233" y="2603237"/>
            <a:ext cx="508459" cy="8579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endCxn id="4" idx="3"/>
          </p:cNvCxnSpPr>
          <p:nvPr/>
        </p:nvCxnSpPr>
        <p:spPr>
          <a:xfrm flipV="1">
            <a:off x="7109012" y="2346220"/>
            <a:ext cx="949795" cy="383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7922090" y="3991351"/>
            <a:ext cx="25747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10xxxxxx</a:t>
            </a:r>
            <a:endParaRPr lang="zh-TW" altLang="en-US" sz="2000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137404" y="2305839"/>
            <a:ext cx="2542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140.138.143.110xxxxx</a:t>
            </a:r>
            <a:endParaRPr lang="zh-TW" altLang="en-US" sz="2000" b="1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297061" y="1174250"/>
            <a:ext cx="2611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140.138.143.111xxxxx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24989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3664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796</Words>
  <Application>Microsoft Office PowerPoint</Application>
  <PresentationFormat>寬螢幕</PresentationFormat>
  <Paragraphs>154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佈景主題</vt:lpstr>
      <vt:lpstr>Design in class</vt:lpstr>
      <vt:lpstr>Network design</vt:lpstr>
      <vt:lpstr>Both designs can meet the requirement</vt:lpstr>
      <vt:lpstr>Design1-1 mask</vt:lpstr>
      <vt:lpstr>Design1-2 netid</vt:lpstr>
      <vt:lpstr>Design1-3 Host address range</vt:lpstr>
      <vt:lpstr>Design1-4 serving router</vt:lpstr>
      <vt:lpstr>Design2-1 mask</vt:lpstr>
      <vt:lpstr>Design2-2 netid</vt:lpstr>
      <vt:lpstr>Design2-3 Host address range</vt:lpstr>
      <vt:lpstr>Design2-4 Serving router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in class</dc:title>
  <dc:creator>csdchung</dc:creator>
  <cp:lastModifiedBy>鍾添曜</cp:lastModifiedBy>
  <cp:revision>13</cp:revision>
  <dcterms:created xsi:type="dcterms:W3CDTF">2019-12-03T09:22:24Z</dcterms:created>
  <dcterms:modified xsi:type="dcterms:W3CDTF">2024-10-04T05:37:41Z</dcterms:modified>
</cp:coreProperties>
</file>